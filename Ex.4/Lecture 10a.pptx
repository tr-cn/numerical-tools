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34" r:id="rId3"/>
    <p:sldId id="257" r:id="rId4"/>
    <p:sldId id="258" r:id="rId5"/>
    <p:sldId id="348" r:id="rId6"/>
    <p:sldId id="259" r:id="rId7"/>
    <p:sldId id="260" r:id="rId8"/>
    <p:sldId id="261" r:id="rId9"/>
    <p:sldId id="270" r:id="rId10"/>
    <p:sldId id="373" r:id="rId11"/>
    <p:sldId id="365" r:id="rId12"/>
    <p:sldId id="271" r:id="rId13"/>
    <p:sldId id="350" r:id="rId14"/>
    <p:sldId id="366" r:id="rId15"/>
    <p:sldId id="264" r:id="rId16"/>
    <p:sldId id="262" r:id="rId17"/>
    <p:sldId id="265" r:id="rId18"/>
    <p:sldId id="266" r:id="rId19"/>
    <p:sldId id="267" r:id="rId20"/>
    <p:sldId id="272" r:id="rId21"/>
    <p:sldId id="286" r:id="rId22"/>
    <p:sldId id="277" r:id="rId23"/>
    <p:sldId id="278" r:id="rId24"/>
    <p:sldId id="367" r:id="rId25"/>
    <p:sldId id="327" r:id="rId26"/>
    <p:sldId id="328" r:id="rId27"/>
    <p:sldId id="329" r:id="rId28"/>
    <p:sldId id="368" r:id="rId29"/>
    <p:sldId id="351" r:id="rId30"/>
    <p:sldId id="280" r:id="rId31"/>
    <p:sldId id="281" r:id="rId32"/>
    <p:sldId id="330" r:id="rId33"/>
    <p:sldId id="282" r:id="rId34"/>
    <p:sldId id="352" r:id="rId35"/>
    <p:sldId id="283" r:id="rId36"/>
    <p:sldId id="353" r:id="rId37"/>
    <p:sldId id="284" r:id="rId38"/>
    <p:sldId id="285" r:id="rId39"/>
    <p:sldId id="354" r:id="rId40"/>
    <p:sldId id="369" r:id="rId41"/>
    <p:sldId id="370" r:id="rId42"/>
    <p:sldId id="355" r:id="rId43"/>
    <p:sldId id="288" r:id="rId44"/>
    <p:sldId id="356" r:id="rId45"/>
    <p:sldId id="287" r:id="rId46"/>
    <p:sldId id="371" r:id="rId47"/>
    <p:sldId id="372" r:id="rId48"/>
    <p:sldId id="357" r:id="rId49"/>
    <p:sldId id="290" r:id="rId50"/>
    <p:sldId id="289" r:id="rId51"/>
    <p:sldId id="291" r:id="rId52"/>
    <p:sldId id="331" r:id="rId53"/>
    <p:sldId id="332" r:id="rId54"/>
    <p:sldId id="292" r:id="rId55"/>
    <p:sldId id="335" r:id="rId56"/>
    <p:sldId id="293" r:id="rId57"/>
    <p:sldId id="294" r:id="rId58"/>
    <p:sldId id="337" r:id="rId59"/>
    <p:sldId id="295" r:id="rId60"/>
    <p:sldId id="338" r:id="rId61"/>
    <p:sldId id="375" r:id="rId62"/>
    <p:sldId id="374" r:id="rId63"/>
    <p:sldId id="296" r:id="rId64"/>
    <p:sldId id="339" r:id="rId65"/>
    <p:sldId id="297" r:id="rId66"/>
    <p:sldId id="298" r:id="rId67"/>
    <p:sldId id="340" r:id="rId68"/>
    <p:sldId id="300" r:id="rId69"/>
    <p:sldId id="358" r:id="rId70"/>
    <p:sldId id="341" r:id="rId71"/>
    <p:sldId id="342" r:id="rId72"/>
    <p:sldId id="302" r:id="rId73"/>
    <p:sldId id="304" r:id="rId74"/>
    <p:sldId id="305" r:id="rId75"/>
    <p:sldId id="306" r:id="rId76"/>
    <p:sldId id="307" r:id="rId77"/>
    <p:sldId id="336" r:id="rId78"/>
    <p:sldId id="308" r:id="rId79"/>
    <p:sldId id="309" r:id="rId80"/>
    <p:sldId id="359" r:id="rId81"/>
    <p:sldId id="310" r:id="rId82"/>
    <p:sldId id="311" r:id="rId83"/>
    <p:sldId id="312" r:id="rId84"/>
    <p:sldId id="313" r:id="rId85"/>
    <p:sldId id="314" r:id="rId86"/>
    <p:sldId id="315" r:id="rId87"/>
    <p:sldId id="317" r:id="rId88"/>
    <p:sldId id="316" r:id="rId89"/>
    <p:sldId id="343" r:id="rId90"/>
    <p:sldId id="318" r:id="rId91"/>
    <p:sldId id="320" r:id="rId92"/>
    <p:sldId id="344" r:id="rId93"/>
    <p:sldId id="345" r:id="rId94"/>
    <p:sldId id="346" r:id="rId95"/>
    <p:sldId id="321" r:id="rId96"/>
    <p:sldId id="323" r:id="rId97"/>
    <p:sldId id="322" r:id="rId98"/>
    <p:sldId id="347" r:id="rId99"/>
    <p:sldId id="324" r:id="rId100"/>
    <p:sldId id="325" r:id="rId101"/>
    <p:sldId id="326" r:id="rId102"/>
    <p:sldId id="360" r:id="rId103"/>
    <p:sldId id="361" r:id="rId104"/>
    <p:sldId id="362" r:id="rId105"/>
    <p:sldId id="364" r:id="rId10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39"/>
    <p:restoredTop sz="94647"/>
  </p:normalViewPr>
  <p:slideViewPr>
    <p:cSldViewPr snapToGrid="0" snapToObjects="1">
      <p:cViewPr varScale="1">
        <p:scale>
          <a:sx n="98" d="100"/>
          <a:sy n="98" d="100"/>
        </p:scale>
        <p:origin x="232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388D9-585B-0F4C-BF4D-939D8504A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5F0A6-1E06-E740-AB48-712DEE5EB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0E5E6-DDDA-0B41-AC65-8F3488A79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D043-9965-2647-8B1F-2F7C94C73AE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530A2-55C2-A043-8F29-65BCE7B84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FDB0B-8556-3A40-BFB2-2E8B014C7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144D-8BED-E04A-B172-DE236F25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3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51288-50DB-2A47-99EC-2CA0CDF7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E32D1-D3D6-7042-A9F3-81116983C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767EE-75E8-A749-B6DA-6F84C8319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D043-9965-2647-8B1F-2F7C94C73AE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FB21C-49AE-9141-8523-338577EF2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DC287-BC92-0941-9A0D-AB73E39D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144D-8BED-E04A-B172-DE236F25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25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0CCDA-0E68-CA4D-BAB3-2270EF9F6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532CE-094F-4448-97ED-57D519E0E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AB42B-6A7C-8247-9543-E08E66F02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D043-9965-2647-8B1F-2F7C94C73AE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178E9-A6CD-EF4C-B7EC-6C2DA2F4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AEBDC-4075-6640-9207-5EF96911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144D-8BED-E04A-B172-DE236F25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7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03C35-7BA5-3E4B-A24B-1F21B3470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3690C-043F-0E48-864C-29C687162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8520C-1977-B041-911D-D5585E4DD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967DB-1164-AE45-B666-B6D3E2E5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D043-9965-2647-8B1F-2F7C94C73AE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BCEB3-2910-0E4D-B6F6-5462F63B7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F0BC9-8028-CB4F-85E8-C29AF0E3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144D-8BED-E04A-B172-DE236F25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73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7CBE-AC21-174F-9E80-733733157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4818-AB19-424E-9120-24D377013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015BD-B4F3-C044-AE2B-098C14348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CF964-D1E0-9244-A225-847C6DF15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FE8B5-9DE0-4747-9EA7-C6FF8C9C7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671AE4-841F-5C4F-9FD9-D5A84087F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D043-9965-2647-8B1F-2F7C94C73AE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FD0D6-84DA-464D-9742-01C86A5A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B9EA37-330D-A849-9CA3-83162DE57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144D-8BED-E04A-B172-DE236F25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80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7EFC-9F57-BE47-ADBF-A91EA2CD7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0DE31-4F14-214C-B164-1AAF088B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D043-9965-2647-8B1F-2F7C94C73AE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7DE78-9C2F-8748-8FEA-DDC5C6FB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06549-FDE5-FB4F-8F7D-FE70ECE0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144D-8BED-E04A-B172-DE236F25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90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D39537-76CA-B449-B3D4-A3D63AA8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D043-9965-2647-8B1F-2F7C94C73AE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3DAF0-7BC7-DB47-AAFC-EBCAA46F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5FE4F-BF7F-2D4C-B637-0173299E4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144D-8BED-E04A-B172-DE236F25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32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EB76-FD76-A84B-8A0F-2D8B3CD13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0FD52-1BF7-3145-9B58-C4F16361E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9F759-2F84-F446-94AA-BE885F90E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4B794-89BA-4940-839C-96CAFF6B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D043-9965-2647-8B1F-2F7C94C73AE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0BE55-CF5D-B749-AD27-12D545C4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05265-DC72-8D49-B3F8-EED59751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144D-8BED-E04A-B172-DE236F25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37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4CE4-7DF3-834F-B2C5-B00A4E455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4BEC69-80E9-E042-9A92-6FEC529E0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B59D8-163D-F54C-808C-AAA4ECF3A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18DE9-ECDF-B842-AD31-72BCB880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D043-9965-2647-8B1F-2F7C94C73AE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18467-9395-0349-97CA-FA58BDD69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FF7C8-4247-3C48-A804-8E084B9D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144D-8BED-E04A-B172-DE236F25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F6CF-1391-594E-B421-247E682D6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8CD79-2525-6640-B7C4-06A54F16D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F54B2-C9F3-7545-A385-E6DE6BBC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D043-9965-2647-8B1F-2F7C94C73AE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62E9B-4428-8F4A-8D7C-C2F14621C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CFD52-BE38-A84E-8ABD-6F1E6A56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144D-8BED-E04A-B172-DE236F25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08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3E957D-2B0B-DC41-BF65-8C4E981C2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7C1DB-88C1-E34C-8617-47C16D82D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6B168-0D89-8E4A-881A-96C4D872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D043-9965-2647-8B1F-2F7C94C73AE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D98B4-05FF-544F-9702-B128D6E8A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0351-8FB0-9D42-8A79-A1DE3A9B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144D-8BED-E04A-B172-DE236F25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02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340B82-8396-DB4A-9F4B-F65AB00B8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756ED-947C-064A-AADE-2AB08D8C2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A9E20-C53A-4A49-A612-3D233E273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7D043-9965-2647-8B1F-2F7C94C73AE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56CCC-0F0C-574E-AF9E-37737E94E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C456C-73D3-FD4E-8334-47392E4E1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3144D-8BED-E04A-B172-DE236F25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1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omerbr@tauex.tau.ac.i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treamlines,_streaklines,_and_pathline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en.wikipedia.org/wiki/Streamlines,_streaklines,_and_pathline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2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5" Type="http://schemas.openxmlformats.org/officeDocument/2006/relationships/image" Target="../media/image470.png"/><Relationship Id="rId4" Type="http://schemas.openxmlformats.org/officeDocument/2006/relationships/image" Target="../media/image46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gif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69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0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30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F071-0408-7D43-8096-FFCFA46930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defTabSz="91440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Lecture 10:</a:t>
            </a:r>
            <a:br>
              <a:rPr lang="en-US" dirty="0"/>
            </a:br>
            <a:r>
              <a:rPr lang="en-US" dirty="0"/>
              <a:t>Fluid dynamics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1A26D-D196-A74C-9590-BCAF458F60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Omer Bromberg</a:t>
            </a:r>
          </a:p>
          <a:p>
            <a:r>
              <a:rPr lang="en-US" dirty="0">
                <a:hlinkClick r:id="rId2"/>
              </a:rPr>
              <a:t>omerbr@tauex.tau.ac.il</a:t>
            </a:r>
            <a:endParaRPr lang="en-US" dirty="0"/>
          </a:p>
          <a:p>
            <a:endParaRPr lang="en-US" dirty="0"/>
          </a:p>
          <a:p>
            <a:r>
              <a:rPr lang="en-US" dirty="0"/>
              <a:t>Winter 2023/4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AD39E0-90B3-5F49-BC22-914364F6EACC}"/>
              </a:ext>
            </a:extLst>
          </p:cNvPr>
          <p:cNvSpPr/>
          <p:nvPr/>
        </p:nvSpPr>
        <p:spPr>
          <a:xfrm>
            <a:off x="0" y="6488668"/>
            <a:ext cx="7301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Based on chapters from Advanced classical physics course by Amir Levinson </a:t>
            </a:r>
          </a:p>
        </p:txBody>
      </p:sp>
    </p:spTree>
    <p:extLst>
      <p:ext uri="{BB962C8B-B14F-4D97-AF65-F5344CB8AC3E}">
        <p14:creationId xmlns:p14="http://schemas.microsoft.com/office/powerpoint/2010/main" val="3740771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F071-0408-7D43-8096-FFCFA46930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defTabSz="91440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Part I : The fluid equations</a:t>
            </a:r>
          </a:p>
        </p:txBody>
      </p:sp>
    </p:spTree>
    <p:extLst>
      <p:ext uri="{BB962C8B-B14F-4D97-AF65-F5344CB8AC3E}">
        <p14:creationId xmlns:p14="http://schemas.microsoft.com/office/powerpoint/2010/main" val="224829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55C2D-FBCF-6144-A0FC-39DED03DE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Definition of a fluid: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C49ED-D130-684E-8A74-1A8ABF5AF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8024"/>
            <a:ext cx="10515600" cy="2832847"/>
          </a:xfrm>
        </p:spPr>
        <p:txBody>
          <a:bodyPr/>
          <a:lstStyle/>
          <a:p>
            <a:r>
              <a:rPr lang="en-US" dirty="0">
                <a:effectLst/>
              </a:rPr>
              <a:t>This is unlike solids who resist shear forces and when applied with a constant shear they </a:t>
            </a:r>
            <a:r>
              <a:rPr lang="en-US" altLang="en-US" dirty="0"/>
              <a:t>stop deforming at some fixed strain angle.</a:t>
            </a:r>
          </a:p>
          <a:p>
            <a:r>
              <a:rPr lang="en-US" dirty="0">
                <a:effectLst/>
              </a:rPr>
              <a:t>On microscale a fluid is a collection of particles that move together. </a:t>
            </a:r>
          </a:p>
          <a:p>
            <a:r>
              <a:rPr lang="en-US" dirty="0"/>
              <a:t>On macroscale fluids can be approximated by continuous fields. 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Their dynamics can be described by a collection of continuous equations, as long as the scales are large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E1AE6F-88D6-7948-894E-FE3357FB8405}"/>
              </a:ext>
            </a:extLst>
          </p:cNvPr>
          <p:cNvSpPr/>
          <p:nvPr/>
        </p:nvSpPr>
        <p:spPr>
          <a:xfrm>
            <a:off x="1255058" y="1313356"/>
            <a:ext cx="9681883" cy="95410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Fluid: A liquid or gas or other material that continuously deforms under the influence of shear or stress.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65767D-3E12-7845-B360-D21BC580683F}"/>
              </a:ext>
            </a:extLst>
          </p:cNvPr>
          <p:cNvSpPr txBox="1"/>
          <p:nvPr/>
        </p:nvSpPr>
        <p:spPr>
          <a:xfrm>
            <a:off x="2294964" y="5692589"/>
            <a:ext cx="8196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Hydrodynamic scales ≫ range of intermolecular forces </a:t>
            </a:r>
            <a:endParaRPr lang="en-US" sz="2800" dirty="0">
              <a:solidFill>
                <a:srgbClr val="0070C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0348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4C1F9-A171-A44A-AADC-C39B37111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Paths of flows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BBC8A6-6E78-4345-8ED2-7B5CEF5BFD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58247"/>
                <a:ext cx="7593106" cy="549975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motion of a fluid is described by a velocity field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can define various types of motion paths in this field.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u="sng" dirty="0"/>
                  <a:t>Streamlines:</a:t>
                </a:r>
                <a:r>
                  <a:rPr lang="en-US" dirty="0"/>
                  <a:t> a family of curves that are parallel to the instantaneous velocity vector field.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u="sng" dirty="0" err="1">
                    <a:solidFill>
                      <a:srgbClr val="FF0000"/>
                    </a:solidFill>
                  </a:rPr>
                  <a:t>Pathline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:</a:t>
                </a:r>
                <a:r>
                  <a:rPr lang="en-US" dirty="0"/>
                  <a:t> the trajectory that an individual fluid element follows over time. The direction of the path is determined by the streamlines of the fluid at each moment in time.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u="sng" dirty="0" err="1">
                    <a:solidFill>
                      <a:srgbClr val="0070C0"/>
                    </a:solidFill>
                  </a:rPr>
                  <a:t>Streakline</a:t>
                </a:r>
                <a:r>
                  <a:rPr lang="en-US" b="1" u="sng" dirty="0">
                    <a:solidFill>
                      <a:srgbClr val="0070C0"/>
                    </a:solidFill>
                  </a:rPr>
                  <a:t>:</a:t>
                </a:r>
                <a:r>
                  <a:rPr lang="en-US" dirty="0"/>
                  <a:t>  collection of points of all the fluid elements that have passed continuously through a particular spatial point in the past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BBC8A6-6E78-4345-8ED2-7B5CEF5BFD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58247"/>
                <a:ext cx="7593106" cy="5499753"/>
              </a:xfrm>
              <a:blipFill>
                <a:blip r:embed="rId2"/>
                <a:stretch>
                  <a:fillRect l="-1672" t="-2304" r="-1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7FAEAC7-6A49-B44A-A39E-4EBDA0425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473" y="1505137"/>
            <a:ext cx="4727436" cy="4859804"/>
          </a:xfrm>
          <a:prstGeom prst="rect">
            <a:avLst/>
          </a:prstGeom>
        </p:spPr>
      </p:pic>
      <p:sp>
        <p:nvSpPr>
          <p:cNvPr id="6" name="TextBox 5">
            <a:hlinkClick r:id="rId4"/>
            <a:extLst>
              <a:ext uri="{FF2B5EF4-FFF2-40B4-BE49-F238E27FC236}">
                <a16:creationId xmlns:a16="http://schemas.microsoft.com/office/drawing/2014/main" id="{BD04C69E-6261-6048-9452-4E248B5C1E8C}"/>
              </a:ext>
            </a:extLst>
          </p:cNvPr>
          <p:cNvSpPr txBox="1"/>
          <p:nvPr/>
        </p:nvSpPr>
        <p:spPr>
          <a:xfrm>
            <a:off x="7593106" y="6327165"/>
            <a:ext cx="16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From Wikipedia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25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4C1F9-A171-A44A-AADC-C39B37111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Paths of flows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BBC8A6-6E78-4345-8ED2-7B5CEF5BFD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58247"/>
                <a:ext cx="7593106" cy="549975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motion of a fluid is described by a velocity field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can define various types of motion paths in this field.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u="sng" dirty="0"/>
                  <a:t>Streamlines:</a:t>
                </a:r>
                <a:r>
                  <a:rPr lang="en-US" dirty="0"/>
                  <a:t> a family of curves that are parallel to the instantaneous velocity vector field.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u="sng" dirty="0" err="1">
                    <a:solidFill>
                      <a:srgbClr val="FF0000"/>
                    </a:solidFill>
                  </a:rPr>
                  <a:t>Pathline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:</a:t>
                </a:r>
                <a:r>
                  <a:rPr lang="en-US" dirty="0"/>
                  <a:t> the trajectory that an individual fluid element follows over time. The direction of the path is determined by the streamlines of the fluid at each moment in time.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u="sng" dirty="0" err="1">
                    <a:solidFill>
                      <a:srgbClr val="0070C0"/>
                    </a:solidFill>
                  </a:rPr>
                  <a:t>Streakline</a:t>
                </a:r>
                <a:r>
                  <a:rPr lang="en-US" b="1" u="sng" dirty="0">
                    <a:solidFill>
                      <a:srgbClr val="0070C0"/>
                    </a:solidFill>
                  </a:rPr>
                  <a:t>:</a:t>
                </a:r>
                <a:r>
                  <a:rPr lang="en-US" dirty="0"/>
                  <a:t>  collection of points of all the fluid elements that have passed continuously through a particular spatial point in the past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BBC8A6-6E78-4345-8ED2-7B5CEF5BFD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58247"/>
                <a:ext cx="7593106" cy="5499753"/>
              </a:xfrm>
              <a:blipFill>
                <a:blip r:embed="rId2"/>
                <a:stretch>
                  <a:fillRect l="-1672" t="-2304" r="-1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7FAEAC7-6A49-B44A-A39E-4EBDA0425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473" y="1505137"/>
            <a:ext cx="4727436" cy="4859804"/>
          </a:xfrm>
          <a:prstGeom prst="rect">
            <a:avLst/>
          </a:prstGeom>
        </p:spPr>
      </p:pic>
      <p:sp>
        <p:nvSpPr>
          <p:cNvPr id="6" name="TextBox 5">
            <a:hlinkClick r:id="rId4"/>
            <a:extLst>
              <a:ext uri="{FF2B5EF4-FFF2-40B4-BE49-F238E27FC236}">
                <a16:creationId xmlns:a16="http://schemas.microsoft.com/office/drawing/2014/main" id="{BD04C69E-6261-6048-9452-4E248B5C1E8C}"/>
              </a:ext>
            </a:extLst>
          </p:cNvPr>
          <p:cNvSpPr txBox="1"/>
          <p:nvPr/>
        </p:nvSpPr>
        <p:spPr>
          <a:xfrm>
            <a:off x="7593106" y="6327165"/>
            <a:ext cx="16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From Wikipedia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1C3AAE-B548-F348-96F0-C857E10F4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463" y="1498489"/>
            <a:ext cx="5049753" cy="489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79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6A33D-2D31-AA44-BF1B-58A70728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Types of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98B94-E964-364F-A104-98D1D3BEE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r>
              <a:rPr lang="en-US" b="1" dirty="0"/>
              <a:t>Steady flow: </a:t>
            </a:r>
            <a:r>
              <a:rPr lang="en-US" dirty="0"/>
              <a:t>A flow in which all conditions at any point remain constant in time.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In such a flow streamlines, </a:t>
            </a:r>
            <a:r>
              <a:rPr lang="en-US" dirty="0" err="1">
                <a:solidFill>
                  <a:srgbClr val="FF0000"/>
                </a:solidFill>
              </a:rPr>
              <a:t>streaklines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dirty="0" err="1">
                <a:solidFill>
                  <a:srgbClr val="FF0000"/>
                </a:solidFill>
              </a:rPr>
              <a:t>pathlines</a:t>
            </a:r>
            <a:r>
              <a:rPr lang="en-US" dirty="0">
                <a:solidFill>
                  <a:srgbClr val="FF0000"/>
                </a:solidFill>
              </a:rPr>
              <a:t> coincide </a:t>
            </a:r>
            <a:endParaRPr lang="en-US" dirty="0">
              <a:solidFill>
                <a:srgbClr val="FF0000"/>
              </a:solidFill>
              <a:effectLst/>
            </a:endParaRPr>
          </a:p>
          <a:p>
            <a:r>
              <a:rPr lang="en-US" b="1" dirty="0"/>
              <a:t>Unsteady flow: </a:t>
            </a:r>
            <a:r>
              <a:rPr lang="en-US" dirty="0"/>
              <a:t>A time dependent flow </a:t>
            </a:r>
            <a:endParaRPr lang="en-US" dirty="0">
              <a:effectLst/>
            </a:endParaRPr>
          </a:p>
          <a:p>
            <a:r>
              <a:rPr lang="en-US" b="1" dirty="0"/>
              <a:t>Laminar flow: </a:t>
            </a:r>
            <a:r>
              <a:rPr lang="en-US" dirty="0"/>
              <a:t>Characterized by smooth or regular paths of particles in layers, with little or no mixing between layers.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Can be steady or unsteady </a:t>
            </a:r>
            <a:endParaRPr lang="en-US" dirty="0">
              <a:solidFill>
                <a:srgbClr val="FF0000"/>
              </a:solidFill>
              <a:effectLst/>
            </a:endParaRPr>
          </a:p>
          <a:p>
            <a:r>
              <a:rPr lang="en-US" b="1" dirty="0"/>
              <a:t>Turbulent flow: </a:t>
            </a:r>
            <a:r>
              <a:rPr lang="en-US" dirty="0"/>
              <a:t>Chaotic changes in fluid variables (and flow pattern). </a:t>
            </a:r>
            <a:r>
              <a:rPr lang="en-US" dirty="0">
                <a:solidFill>
                  <a:srgbClr val="FF0000"/>
                </a:solidFill>
              </a:rPr>
              <a:t>Always unsteady </a:t>
            </a:r>
            <a:endParaRPr lang="en-US" dirty="0">
              <a:solidFill>
                <a:srgbClr val="FF0000"/>
              </a:solidFill>
              <a:effectLst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DEBCF-A764-D24C-92AF-D6AA1BDDC8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52" b="1540"/>
          <a:stretch/>
        </p:blipFill>
        <p:spPr>
          <a:xfrm>
            <a:off x="5851089" y="5252884"/>
            <a:ext cx="3492833" cy="16051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103DCC-1091-4843-9F9B-BD0F3FAD63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692"/>
          <a:stretch/>
        </p:blipFill>
        <p:spPr>
          <a:xfrm>
            <a:off x="2358256" y="5252884"/>
            <a:ext cx="3492833" cy="160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93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63EBF-BCC1-7649-A067-80980467E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Eulerian versus </a:t>
            </a:r>
            <a:r>
              <a:rPr lang="en-US" dirty="0" err="1"/>
              <a:t>Lagrangian</a:t>
            </a:r>
            <a:r>
              <a:rPr lang="en-US" dirty="0"/>
              <a:t> approach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A30204-36D5-7745-AB43-850D322B56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9976" y="1331352"/>
                <a:ext cx="11093824" cy="5526647"/>
              </a:xfrm>
            </p:spPr>
            <p:txBody>
              <a:bodyPr/>
              <a:lstStyle/>
              <a:p>
                <a:r>
                  <a:rPr lang="en-US" b="1" dirty="0"/>
                  <a:t>Eulerian: </a:t>
                </a:r>
                <a:r>
                  <a:rPr lang="en-US" dirty="0"/>
                  <a:t>Fluid variables are treated as fields (e.g.,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etc.). Values at a given location at different times correspond to different fluid elements. </a:t>
                </a:r>
                <a:endParaRPr lang="en-US" dirty="0">
                  <a:effectLst/>
                </a:endParaRPr>
              </a:p>
              <a:p>
                <a:r>
                  <a:rPr lang="en-US" b="1" dirty="0" err="1"/>
                  <a:t>Lagrangian</a:t>
                </a:r>
                <a:r>
                  <a:rPr lang="en-US" b="1" dirty="0"/>
                  <a:t>: </a:t>
                </a:r>
                <a:r>
                  <a:rPr lang="en-US" dirty="0"/>
                  <a:t>Changes in the variables of a small fluid element are computed along its </a:t>
                </a:r>
                <a:r>
                  <a:rPr lang="en-US" dirty="0" err="1"/>
                  <a:t>pathline</a:t>
                </a:r>
                <a:r>
                  <a:rPr lang="en-US" dirty="0"/>
                  <a:t>. The velocity of the fluid element is given by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𝐯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𝐫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   while density and pressure by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dirty="0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dirty="0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effectLst/>
                  </a:rPr>
                  <a:t>.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:endParaRPr lang="en-US" dirty="0">
                  <a:effectLst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A30204-36D5-7745-AB43-850D322B56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9976" y="1331352"/>
                <a:ext cx="11093824" cy="5526647"/>
              </a:xfrm>
              <a:blipFill>
                <a:blip r:embed="rId2"/>
                <a:stretch>
                  <a:fillRect l="-800" t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5" name="Picture 1" descr="page6image3892704">
            <a:extLst>
              <a:ext uri="{FF2B5EF4-FFF2-40B4-BE49-F238E27FC236}">
                <a16:creationId xmlns:a16="http://schemas.microsoft.com/office/drawing/2014/main" id="{142834BA-4257-E349-B425-16B7EFAF0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141" y="4805081"/>
            <a:ext cx="6376489" cy="205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705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A32A-8BC8-B442-A448-A41ADCF35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Conservative derivative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A9AA4-99CB-BF47-823B-69AE0B85A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3412" y="1642187"/>
                <a:ext cx="10950388" cy="439993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denotes some fluid variable (density, entropy, etc.).</a:t>
                </a:r>
              </a:p>
              <a:p>
                <a:r>
                  <a:rPr lang="en-US" dirty="0"/>
                  <a:t>Along the </a:t>
                </a:r>
                <a:r>
                  <a:rPr lang="en-US" dirty="0" err="1"/>
                  <a:t>pathline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and the variation is </a:t>
                </a:r>
                <a:endParaRPr lang="en-US" dirty="0">
                  <a:effectLst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Similarly the variation of velocity is</a:t>
                </a:r>
                <a:br>
                  <a:rPr lang="en-US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A9AA4-99CB-BF47-823B-69AE0B85A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3412" y="1642187"/>
                <a:ext cx="10950388" cy="4399931"/>
              </a:xfrm>
              <a:blipFill>
                <a:blip r:embed="rId2"/>
                <a:stretch>
                  <a:fillRect l="-927" t="-2299" r="-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F1925AA-6655-E346-AC6A-EBE4CCFF73B1}"/>
              </a:ext>
            </a:extLst>
          </p:cNvPr>
          <p:cNvSpPr/>
          <p:nvPr/>
        </p:nvSpPr>
        <p:spPr>
          <a:xfrm>
            <a:off x="2060647" y="1004049"/>
            <a:ext cx="77502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MSS12"/>
              </a:rPr>
              <a:t>What is the relation between the two descriptions? </a:t>
            </a:r>
            <a:endParaRPr lang="en-US" sz="2800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CD7ED6-E514-7C46-8E94-BA68653CF2D1}"/>
                  </a:ext>
                </a:extLst>
              </p:cNvPr>
              <p:cNvSpPr txBox="1"/>
              <p:nvPr/>
            </p:nvSpPr>
            <p:spPr>
              <a:xfrm>
                <a:off x="1283041" y="6042119"/>
                <a:ext cx="9430723" cy="52322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The operator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𝛁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is called the convective derivative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CD7ED6-E514-7C46-8E94-BA68653CF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041" y="6042119"/>
                <a:ext cx="9430723" cy="523220"/>
              </a:xfrm>
              <a:prstGeom prst="rect">
                <a:avLst/>
              </a:prstGeom>
              <a:blipFill>
                <a:blip r:embed="rId3"/>
                <a:stretch>
                  <a:fillRect l="-1208" t="-11628" b="-2558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14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5846FE-E2C9-7243-907C-757663C079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1694" y="1325562"/>
                <a:ext cx="8940126" cy="6213756"/>
              </a:xfrm>
            </p:spPr>
            <p:txBody>
              <a:bodyPr/>
              <a:lstStyle/>
              <a:p>
                <a:r>
                  <a:rPr lang="en-US" dirty="0"/>
                  <a:t>The total mass contained in a volume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mass flux across an infinitesimal surface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he-IL" dirty="0"/>
                  <a:t>: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en-US" dirty="0">
                    <a:effectLst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1" i="0" smtClean="0">
                        <a:effectLst/>
                        <a:latin typeface="Cambria Math" panose="02040503050406030204" pitchFamily="18" charset="0"/>
                      </a:rPr>
                      <m:t>𝐬</m:t>
                    </m:r>
                    <m:r>
                      <a:rPr lang="en-US" b="1" i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𝑑𝑠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effectLst/>
                                <a:latin typeface="Cambria Math" panose="02040503050406030204" pitchFamily="18" charset="0"/>
                              </a:rPr>
                              <m:t>𝐧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.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effectLst/>
                  </a:rPr>
                  <a:t>The total change of a mass in a volume is equal to the    total mass flowing out of the volume: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𝑑𝑀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1" i="0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dirty="0">
                  <a:effectLst/>
                </a:endParaRPr>
              </a:p>
              <a:p>
                <a:pPr>
                  <a:spcBef>
                    <a:spcPts val="400"/>
                  </a:spcBef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5846FE-E2C9-7243-907C-757663C079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1694" y="1325562"/>
                <a:ext cx="8940126" cy="6213756"/>
              </a:xfrm>
              <a:blipFill>
                <a:blip r:embed="rId2"/>
                <a:stretch>
                  <a:fillRect l="-1135" t="-22403" b="-7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D8F5C8A-CBFF-824F-99E1-888913945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769" y="1584243"/>
            <a:ext cx="3194649" cy="28697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CAD14F-FF33-8B45-B241-AD1A1BFE5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Mass conservation (Eulerian description)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354D31-07F0-B04A-AFB3-35B7318AB798}"/>
                  </a:ext>
                </a:extLst>
              </p:cNvPr>
              <p:cNvSpPr/>
              <p:nvPr/>
            </p:nvSpPr>
            <p:spPr>
              <a:xfrm>
                <a:off x="4596348" y="2397865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354D31-07F0-B04A-AFB3-35B7318A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348" y="2397865"/>
                <a:ext cx="41081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3CFBDA9-84DA-2746-B8BE-918193F937EF}"/>
                  </a:ext>
                </a:extLst>
              </p:cNvPr>
              <p:cNvSpPr/>
              <p:nvPr/>
            </p:nvSpPr>
            <p:spPr>
              <a:xfrm>
                <a:off x="2204650" y="5189674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3CFBDA9-84DA-2746-B8BE-918193F937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650" y="5189674"/>
                <a:ext cx="41081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CD5105F-BA47-B14D-B08A-2712D72438C9}"/>
                  </a:ext>
                </a:extLst>
              </p:cNvPr>
              <p:cNvSpPr/>
              <p:nvPr/>
            </p:nvSpPr>
            <p:spPr>
              <a:xfrm>
                <a:off x="6924422" y="5189674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>
                  <a:solidFill>
                    <a:srgbClr val="4472C4"/>
                  </a:solidFill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CD5105F-BA47-B14D-B08A-2712D72438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422" y="5189674"/>
                <a:ext cx="41081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22FE5A-EC39-4C46-9C5E-5A3387B63685}"/>
                  </a:ext>
                </a:extLst>
              </p:cNvPr>
              <p:cNvSpPr/>
              <p:nvPr/>
            </p:nvSpPr>
            <p:spPr>
              <a:xfrm>
                <a:off x="4731139" y="5189674"/>
                <a:ext cx="383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22FE5A-EC39-4C46-9C5E-5A3387B63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139" y="5189674"/>
                <a:ext cx="38363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90E1EC-D414-3942-BAC3-0005AAFFE074}"/>
                  </a:ext>
                </a:extLst>
              </p:cNvPr>
              <p:cNvSpPr txBox="1"/>
              <p:nvPr/>
            </p:nvSpPr>
            <p:spPr>
              <a:xfrm>
                <a:off x="10609006" y="1469714"/>
                <a:ext cx="513281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𝐬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90E1EC-D414-3942-BAC3-0005AAFFE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006" y="1469714"/>
                <a:ext cx="51328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1AEF0AAE-5872-EB47-88E6-0D76508FAA08}"/>
              </a:ext>
            </a:extLst>
          </p:cNvPr>
          <p:cNvSpPr/>
          <p:nvPr/>
        </p:nvSpPr>
        <p:spPr>
          <a:xfrm>
            <a:off x="11690555" y="2251587"/>
            <a:ext cx="268863" cy="323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6DE1E4-21CF-5E47-A187-ECB76D7C6FF7}"/>
                  </a:ext>
                </a:extLst>
              </p:cNvPr>
              <p:cNvSpPr txBox="1"/>
              <p:nvPr/>
            </p:nvSpPr>
            <p:spPr>
              <a:xfrm>
                <a:off x="11573068" y="2268762"/>
                <a:ext cx="5405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𝐯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6DE1E4-21CF-5E47-A187-ECB76D7C6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3068" y="2268762"/>
                <a:ext cx="540533" cy="400110"/>
              </a:xfrm>
              <a:prstGeom prst="rect">
                <a:avLst/>
              </a:prstGeom>
              <a:blipFill>
                <a:blip r:embed="rId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CF037842-72B4-D749-89E8-D8ADFE06239A}"/>
              </a:ext>
            </a:extLst>
          </p:cNvPr>
          <p:cNvSpPr/>
          <p:nvPr/>
        </p:nvSpPr>
        <p:spPr>
          <a:xfrm>
            <a:off x="8764769" y="4375355"/>
            <a:ext cx="920005" cy="127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65F743-94BF-B146-B5C4-7AA47F98BFFA}"/>
              </a:ext>
            </a:extLst>
          </p:cNvPr>
          <p:cNvCxnSpPr>
            <a:cxnSpLocks/>
          </p:cNvCxnSpPr>
          <p:nvPr/>
        </p:nvCxnSpPr>
        <p:spPr>
          <a:xfrm flipH="1" flipV="1">
            <a:off x="6301408" y="5112774"/>
            <a:ext cx="1584063" cy="943897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967FD46-140C-674F-8727-7B3F4ED40ACF}"/>
              </a:ext>
            </a:extLst>
          </p:cNvPr>
          <p:cNvSpPr txBox="1"/>
          <p:nvPr/>
        </p:nvSpPr>
        <p:spPr>
          <a:xfrm>
            <a:off x="7885471" y="5825838"/>
            <a:ext cx="2258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4472C4"/>
                </a:solidFill>
              </a:rPr>
              <a:t>Gauss’s theorem</a:t>
            </a:r>
          </a:p>
        </p:txBody>
      </p:sp>
    </p:spTree>
    <p:extLst>
      <p:ext uri="{BB962C8B-B14F-4D97-AF65-F5344CB8AC3E}">
        <p14:creationId xmlns:p14="http://schemas.microsoft.com/office/powerpoint/2010/main" val="1877539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5846FE-E2C9-7243-907C-757663C079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1694" y="1325562"/>
                <a:ext cx="8940126" cy="6213756"/>
              </a:xfrm>
            </p:spPr>
            <p:txBody>
              <a:bodyPr/>
              <a:lstStyle/>
              <a:p>
                <a:r>
                  <a:rPr lang="en-US" dirty="0"/>
                  <a:t>The total mass contained in a volume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mass flux across an infinitesimal surface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he-IL" dirty="0"/>
                  <a:t>: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en-US" dirty="0">
                    <a:effectLst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1" i="0" smtClean="0">
                        <a:effectLst/>
                        <a:latin typeface="Cambria Math" panose="02040503050406030204" pitchFamily="18" charset="0"/>
                      </a:rPr>
                      <m:t>𝐬</m:t>
                    </m:r>
                    <m:r>
                      <a:rPr lang="en-US" b="1" i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𝑑𝑠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effectLst/>
                                <a:latin typeface="Cambria Math" panose="02040503050406030204" pitchFamily="18" charset="0"/>
                              </a:rPr>
                              <m:t>𝐧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.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effectLst/>
                  </a:rPr>
                  <a:t>The total change of a mass in a volume is equal to the    total mass flowing out of the volume: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𝑑𝑀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1" i="0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dirty="0">
                  <a:effectLst/>
                </a:endParaRPr>
              </a:p>
              <a:p>
                <a:pPr>
                  <a:spcBef>
                    <a:spcPts val="400"/>
                  </a:spcBef>
                </a:pPr>
                <a:r>
                  <a:rPr lang="en-US" dirty="0"/>
                  <a:t>Since the volume is fixed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𝑑𝑀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5846FE-E2C9-7243-907C-757663C079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1694" y="1325562"/>
                <a:ext cx="8940126" cy="6213756"/>
              </a:xfrm>
              <a:blipFill>
                <a:blip r:embed="rId2"/>
                <a:stretch>
                  <a:fillRect l="-1135" t="-22403" b="-31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D8F5C8A-CBFF-824F-99E1-888913945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769" y="1584243"/>
            <a:ext cx="3194649" cy="28697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CAD14F-FF33-8B45-B241-AD1A1BFE5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Mass conservation (Eulerian description)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354D31-07F0-B04A-AFB3-35B7318AB798}"/>
                  </a:ext>
                </a:extLst>
              </p:cNvPr>
              <p:cNvSpPr/>
              <p:nvPr/>
            </p:nvSpPr>
            <p:spPr>
              <a:xfrm>
                <a:off x="4596348" y="2397865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354D31-07F0-B04A-AFB3-35B7318A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348" y="2397865"/>
                <a:ext cx="41081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3CFBDA9-84DA-2746-B8BE-918193F937EF}"/>
                  </a:ext>
                </a:extLst>
              </p:cNvPr>
              <p:cNvSpPr/>
              <p:nvPr/>
            </p:nvSpPr>
            <p:spPr>
              <a:xfrm>
                <a:off x="2204650" y="5189674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3CFBDA9-84DA-2746-B8BE-918193F937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650" y="5189674"/>
                <a:ext cx="41081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CD5105F-BA47-B14D-B08A-2712D72438C9}"/>
                  </a:ext>
                </a:extLst>
              </p:cNvPr>
              <p:cNvSpPr/>
              <p:nvPr/>
            </p:nvSpPr>
            <p:spPr>
              <a:xfrm>
                <a:off x="6924422" y="5189674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>
                  <a:solidFill>
                    <a:srgbClr val="4472C4"/>
                  </a:solidFill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CD5105F-BA47-B14D-B08A-2712D72438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422" y="5189674"/>
                <a:ext cx="41081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22FE5A-EC39-4C46-9C5E-5A3387B63685}"/>
                  </a:ext>
                </a:extLst>
              </p:cNvPr>
              <p:cNvSpPr/>
              <p:nvPr/>
            </p:nvSpPr>
            <p:spPr>
              <a:xfrm>
                <a:off x="4731139" y="5189674"/>
                <a:ext cx="383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22FE5A-EC39-4C46-9C5E-5A3387B63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139" y="5189674"/>
                <a:ext cx="38363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90E1EC-D414-3942-BAC3-0005AAFFE074}"/>
                  </a:ext>
                </a:extLst>
              </p:cNvPr>
              <p:cNvSpPr txBox="1"/>
              <p:nvPr/>
            </p:nvSpPr>
            <p:spPr>
              <a:xfrm>
                <a:off x="10609006" y="1469714"/>
                <a:ext cx="513281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𝐬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90E1EC-D414-3942-BAC3-0005AAFFE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006" y="1469714"/>
                <a:ext cx="51328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1AEF0AAE-5872-EB47-88E6-0D76508FAA08}"/>
              </a:ext>
            </a:extLst>
          </p:cNvPr>
          <p:cNvSpPr/>
          <p:nvPr/>
        </p:nvSpPr>
        <p:spPr>
          <a:xfrm>
            <a:off x="11690555" y="2251587"/>
            <a:ext cx="268863" cy="323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6DE1E4-21CF-5E47-A187-ECB76D7C6FF7}"/>
                  </a:ext>
                </a:extLst>
              </p:cNvPr>
              <p:cNvSpPr txBox="1"/>
              <p:nvPr/>
            </p:nvSpPr>
            <p:spPr>
              <a:xfrm>
                <a:off x="11573068" y="2268762"/>
                <a:ext cx="5405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𝐯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6DE1E4-21CF-5E47-A187-ECB76D7C6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3068" y="2268762"/>
                <a:ext cx="540533" cy="400110"/>
              </a:xfrm>
              <a:prstGeom prst="rect">
                <a:avLst/>
              </a:prstGeom>
              <a:blipFill>
                <a:blip r:embed="rId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CF037842-72B4-D749-89E8-D8ADFE06239A}"/>
              </a:ext>
            </a:extLst>
          </p:cNvPr>
          <p:cNvSpPr/>
          <p:nvPr/>
        </p:nvSpPr>
        <p:spPr>
          <a:xfrm>
            <a:off x="8764769" y="4375355"/>
            <a:ext cx="920005" cy="127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65F743-94BF-B146-B5C4-7AA47F98BFFA}"/>
              </a:ext>
            </a:extLst>
          </p:cNvPr>
          <p:cNvCxnSpPr>
            <a:cxnSpLocks/>
          </p:cNvCxnSpPr>
          <p:nvPr/>
        </p:nvCxnSpPr>
        <p:spPr>
          <a:xfrm flipH="1" flipV="1">
            <a:off x="6301408" y="5112774"/>
            <a:ext cx="1584063" cy="943897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967FD46-140C-674F-8727-7B3F4ED40ACF}"/>
              </a:ext>
            </a:extLst>
          </p:cNvPr>
          <p:cNvSpPr txBox="1"/>
          <p:nvPr/>
        </p:nvSpPr>
        <p:spPr>
          <a:xfrm>
            <a:off x="7885471" y="5825838"/>
            <a:ext cx="2258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4472C4"/>
                </a:solidFill>
              </a:rPr>
              <a:t>Gauss’s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AEF08A7-A623-1347-B4D9-12703C211387}"/>
                  </a:ext>
                </a:extLst>
              </p:cNvPr>
              <p:cNvSpPr/>
              <p:nvPr/>
            </p:nvSpPr>
            <p:spPr>
              <a:xfrm>
                <a:off x="3399270" y="6571106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AEF08A7-A623-1347-B4D9-12703C211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270" y="6571106"/>
                <a:ext cx="410817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BFC57C8-8723-F145-BF30-2B4503A4027D}"/>
                  </a:ext>
                </a:extLst>
              </p:cNvPr>
              <p:cNvSpPr/>
              <p:nvPr/>
            </p:nvSpPr>
            <p:spPr>
              <a:xfrm>
                <a:off x="5606612" y="6571106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>
                  <a:solidFill>
                    <a:srgbClr val="4472C4"/>
                  </a:solidFill>
                </a:endParaRPr>
              </a:p>
            </p:txBody>
          </p:sp>
        </mc:Choice>
        <mc:Fallback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BFC57C8-8723-F145-BF30-2B4503A40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612" y="6571106"/>
                <a:ext cx="410817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539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5846FE-E2C9-7243-907C-757663C079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1694" y="1325562"/>
                <a:ext cx="8940126" cy="6213756"/>
              </a:xfrm>
            </p:spPr>
            <p:txBody>
              <a:bodyPr/>
              <a:lstStyle/>
              <a:p>
                <a:r>
                  <a:rPr lang="en-US" dirty="0"/>
                  <a:t>We thus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Or</a:t>
                </a: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This is called the continuity equation.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5846FE-E2C9-7243-907C-757663C079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1694" y="1325562"/>
                <a:ext cx="8940126" cy="6213756"/>
              </a:xfrm>
              <a:blipFill>
                <a:blip r:embed="rId2"/>
                <a:stretch>
                  <a:fillRect l="-1135" t="-2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D8F5C8A-CBFF-824F-99E1-888913945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769" y="1584243"/>
            <a:ext cx="3194649" cy="28697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CAD14F-FF33-8B45-B241-AD1A1BFE5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Mass conservation (Eulerian description)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354D31-07F0-B04A-AFB3-35B7318AB798}"/>
                  </a:ext>
                </a:extLst>
              </p:cNvPr>
              <p:cNvSpPr/>
              <p:nvPr/>
            </p:nvSpPr>
            <p:spPr>
              <a:xfrm>
                <a:off x="2410058" y="2413199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354D31-07F0-B04A-AFB3-35B7318A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058" y="2413199"/>
                <a:ext cx="41081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90E1EC-D414-3942-BAC3-0005AAFFE074}"/>
                  </a:ext>
                </a:extLst>
              </p:cNvPr>
              <p:cNvSpPr txBox="1"/>
              <p:nvPr/>
            </p:nvSpPr>
            <p:spPr>
              <a:xfrm>
                <a:off x="10609006" y="1469714"/>
                <a:ext cx="513281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𝐬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90E1EC-D414-3942-BAC3-0005AAFFE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006" y="1469714"/>
                <a:ext cx="51328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1AEF0AAE-5872-EB47-88E6-0D76508FAA08}"/>
              </a:ext>
            </a:extLst>
          </p:cNvPr>
          <p:cNvSpPr/>
          <p:nvPr/>
        </p:nvSpPr>
        <p:spPr>
          <a:xfrm>
            <a:off x="11690555" y="2251587"/>
            <a:ext cx="268863" cy="323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6DE1E4-21CF-5E47-A187-ECB76D7C6FF7}"/>
                  </a:ext>
                </a:extLst>
              </p:cNvPr>
              <p:cNvSpPr txBox="1"/>
              <p:nvPr/>
            </p:nvSpPr>
            <p:spPr>
              <a:xfrm>
                <a:off x="11573068" y="2268762"/>
                <a:ext cx="5405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𝐯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6DE1E4-21CF-5E47-A187-ECB76D7C6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3068" y="2268762"/>
                <a:ext cx="540533" cy="400110"/>
              </a:xfrm>
              <a:prstGeom prst="rect">
                <a:avLst/>
              </a:prstGeom>
              <a:blipFill>
                <a:blip r:embed="rId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CF037842-72B4-D749-89E8-D8ADFE06239A}"/>
              </a:ext>
            </a:extLst>
          </p:cNvPr>
          <p:cNvSpPr/>
          <p:nvPr/>
        </p:nvSpPr>
        <p:spPr>
          <a:xfrm>
            <a:off x="8764769" y="4375355"/>
            <a:ext cx="920005" cy="127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AB5935A-D8C2-E145-98DB-C29408D9B824}"/>
                  </a:ext>
                </a:extLst>
              </p:cNvPr>
              <p:cNvSpPr/>
              <p:nvPr/>
            </p:nvSpPr>
            <p:spPr>
              <a:xfrm>
                <a:off x="5382004" y="2413199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AB5935A-D8C2-E145-98DB-C29408D9B8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004" y="2413199"/>
                <a:ext cx="41081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511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08C1-F11E-7246-A1BD-71358FAB1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Mass conservation (</a:t>
            </a:r>
            <a:r>
              <a:rPr lang="en-US" dirty="0" err="1"/>
              <a:t>Lagrangian</a:t>
            </a:r>
            <a:r>
              <a:rPr lang="en-US" dirty="0"/>
              <a:t> approach</a:t>
            </a:r>
            <a:r>
              <a:rPr lang="en-US" dirty="0">
                <a:effectLst/>
              </a:rPr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573CD-FA88-E840-800F-53482D496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ln>
                <a:noFill/>
              </a:ln>
            </p:spPr>
            <p:txBody>
              <a:bodyPr/>
              <a:lstStyle/>
              <a:p>
                <a:r>
                  <a:rPr lang="en-US" dirty="0"/>
                  <a:t>Mass of an infinitesimal fluid element of volume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r>
                  <a:rPr lang="en-US" dirty="0"/>
                  <a:t>The volume and density can change along </a:t>
                </a:r>
                <a:r>
                  <a:rPr lang="en-US" dirty="0" err="1"/>
                  <a:t>pathlines</a:t>
                </a:r>
                <a:r>
                  <a:rPr lang="en-US" dirty="0"/>
                  <a:t>, but mass must be conserved: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r>
                  <a:rPr lang="en-US" dirty="0"/>
                  <a:t>The change in volume :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1" i="0" smtClean="0">
                              <a:effectLst/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0" smtClean="0">
                              <a:effectLst/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</m:nary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0" smtClean="0">
                              <a:effectLst/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b="0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573CD-FA88-E840-800F-53482D496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 b="-162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F075EA1-9A38-7043-9158-F9B4BAC46B49}"/>
                  </a:ext>
                </a:extLst>
              </p:cNvPr>
              <p:cNvSpPr/>
              <p:nvPr/>
            </p:nvSpPr>
            <p:spPr>
              <a:xfrm>
                <a:off x="4571985" y="4888733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F075EA1-9A38-7043-9158-F9B4BAC46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85" y="4888733"/>
                <a:ext cx="410817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F3E6866-B2C9-CA41-9E72-EFC3FC9F2C71}"/>
                  </a:ext>
                </a:extLst>
              </p:cNvPr>
              <p:cNvSpPr/>
              <p:nvPr/>
            </p:nvSpPr>
            <p:spPr>
              <a:xfrm>
                <a:off x="5813682" y="4888733"/>
                <a:ext cx="383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F3E6866-B2C9-CA41-9E72-EFC3FC9F2C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82" y="4888733"/>
                <a:ext cx="38363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AAEF567-1731-D048-BFFD-65D9BB91034D}"/>
                  </a:ext>
                </a:extLst>
              </p:cNvPr>
              <p:cNvSpPr/>
              <p:nvPr/>
            </p:nvSpPr>
            <p:spPr>
              <a:xfrm>
                <a:off x="7467585" y="4888733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AAEF567-1731-D048-BFFD-65D9BB9103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585" y="4888733"/>
                <a:ext cx="410817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CE2BDB4-AE68-CF4C-9179-89D6D6656506}"/>
              </a:ext>
            </a:extLst>
          </p:cNvPr>
          <p:cNvSpPr/>
          <p:nvPr/>
        </p:nvSpPr>
        <p:spPr>
          <a:xfrm>
            <a:off x="78658" y="3913239"/>
            <a:ext cx="11275142" cy="2944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0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08C1-F11E-7246-A1BD-71358FAB1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Mass conservation (</a:t>
            </a:r>
            <a:r>
              <a:rPr lang="en-US" dirty="0" err="1"/>
              <a:t>Lagrangian</a:t>
            </a:r>
            <a:r>
              <a:rPr lang="en-US" dirty="0"/>
              <a:t> approach</a:t>
            </a:r>
            <a:r>
              <a:rPr lang="en-US" dirty="0">
                <a:effectLst/>
              </a:rPr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573CD-FA88-E840-800F-53482D496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ln>
                <a:noFill/>
              </a:ln>
            </p:spPr>
            <p:txBody>
              <a:bodyPr/>
              <a:lstStyle/>
              <a:p>
                <a:r>
                  <a:rPr lang="en-US" dirty="0"/>
                  <a:t>Mass of an infinitesimal fluid element of volume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r>
                  <a:rPr lang="en-US" dirty="0"/>
                  <a:t>The volume and density can change along </a:t>
                </a:r>
                <a:r>
                  <a:rPr lang="en-US" dirty="0" err="1"/>
                  <a:t>pathlines</a:t>
                </a:r>
                <a:r>
                  <a:rPr lang="en-US" dirty="0"/>
                  <a:t>, but mass must be conserved: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r>
                  <a:rPr lang="en-US" dirty="0"/>
                  <a:t>The change in volume :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0" smtClean="0">
                              <a:effectLst/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b="0" dirty="0">
                  <a:effectLst/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  <a:effectLst/>
                  </a:rPr>
                  <a:t>Ex 1: </a:t>
                </a:r>
                <a:r>
                  <a:rPr lang="en-US" dirty="0">
                    <a:solidFill>
                      <a:srgbClr val="FF0000"/>
                    </a:solidFill>
                  </a:rPr>
                  <a:t>Prove this identity</a:t>
                </a:r>
                <a:endParaRPr lang="en-US" dirty="0">
                  <a:solidFill>
                    <a:srgbClr val="FF0000"/>
                  </a:solidFill>
                  <a:effectLst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573CD-FA88-E840-800F-53482D496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 b="-162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AAEF567-1731-D048-BFFD-65D9BB91034D}"/>
                  </a:ext>
                </a:extLst>
              </p:cNvPr>
              <p:cNvSpPr/>
              <p:nvPr/>
            </p:nvSpPr>
            <p:spPr>
              <a:xfrm>
                <a:off x="5890591" y="4869069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AAEF567-1731-D048-BFFD-65D9BB9103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591" y="4869069"/>
                <a:ext cx="410817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8691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08C1-F11E-7246-A1BD-71358FAB1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Mass conservation (</a:t>
            </a:r>
            <a:r>
              <a:rPr lang="en-US" dirty="0" err="1"/>
              <a:t>Lagrangian</a:t>
            </a:r>
            <a:r>
              <a:rPr lang="en-US" dirty="0"/>
              <a:t> approach</a:t>
            </a:r>
            <a:r>
              <a:rPr lang="en-US" dirty="0">
                <a:effectLst/>
              </a:rPr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573CD-FA88-E840-800F-53482D496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ln>
                <a:noFill/>
              </a:ln>
            </p:spPr>
            <p:txBody>
              <a:bodyPr/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Proof: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For a general function </a:t>
                </a:r>
                <a:endParaRPr lang="en-US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b="0" dirty="0">
                  <a:solidFill>
                    <a:srgbClr val="FF0000"/>
                  </a:solidFill>
                  <a:effectLst/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  <a:effectLst/>
                  </a:rPr>
                  <a:t>Taking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effectLst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1⋅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rgbClr val="FF0000"/>
                  </a:solidFill>
                  <a:effectLst/>
                </a:endParaRPr>
              </a:p>
              <a:p>
                <a:r>
                  <a:rPr lang="en-US" dirty="0">
                    <a:effectLst/>
                  </a:rPr>
                  <a:t>For an infinite volume: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0" smtClean="0">
                          <a:effectLst/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573CD-FA88-E840-800F-53482D496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247" b="-73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F075EA1-9A38-7043-9158-F9B4BAC46B49}"/>
                  </a:ext>
                </a:extLst>
              </p:cNvPr>
              <p:cNvSpPr/>
              <p:nvPr/>
            </p:nvSpPr>
            <p:spPr>
              <a:xfrm>
                <a:off x="3599348" y="4488623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F075EA1-9A38-7043-9158-F9B4BAC46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348" y="4488623"/>
                <a:ext cx="410817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AAEF567-1731-D048-BFFD-65D9BB91034D}"/>
                  </a:ext>
                </a:extLst>
              </p:cNvPr>
              <p:cNvSpPr/>
              <p:nvPr/>
            </p:nvSpPr>
            <p:spPr>
              <a:xfrm>
                <a:off x="8431147" y="4488623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AAEF567-1731-D048-BFFD-65D9BB9103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147" y="4488623"/>
                <a:ext cx="41081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D5FA012-DC93-3947-8ABD-A81064A153D9}"/>
                  </a:ext>
                </a:extLst>
              </p:cNvPr>
              <p:cNvSpPr/>
              <p:nvPr/>
            </p:nvSpPr>
            <p:spPr>
              <a:xfrm>
                <a:off x="5274365" y="4488623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D5FA012-DC93-3947-8ABD-A81064A153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365" y="4488623"/>
                <a:ext cx="410817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6F4CD4E-1C27-354F-AAB5-EB97C8D3C3C9}"/>
                  </a:ext>
                </a:extLst>
              </p:cNvPr>
              <p:cNvSpPr/>
              <p:nvPr/>
            </p:nvSpPr>
            <p:spPr>
              <a:xfrm>
                <a:off x="4119074" y="2907093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6F4CD4E-1C27-354F-AAB5-EB97C8D3C3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074" y="2907093"/>
                <a:ext cx="41081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68F8752-E340-D84A-8716-3EA04CD0A4C9}"/>
                  </a:ext>
                </a:extLst>
              </p:cNvPr>
              <p:cNvSpPr/>
              <p:nvPr/>
            </p:nvSpPr>
            <p:spPr>
              <a:xfrm>
                <a:off x="5594680" y="2919467"/>
                <a:ext cx="4108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68F8752-E340-D84A-8716-3EA04CD0A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680" y="2919467"/>
                <a:ext cx="41081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9916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08C1-F11E-7246-A1BD-71358FAB1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Mass conservation (</a:t>
            </a:r>
            <a:r>
              <a:rPr lang="en-US" dirty="0" err="1"/>
              <a:t>Lagrangian</a:t>
            </a:r>
            <a:r>
              <a:rPr lang="en-US" dirty="0"/>
              <a:t> approach</a:t>
            </a:r>
            <a:r>
              <a:rPr lang="en-US" dirty="0">
                <a:effectLst/>
              </a:rPr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573CD-FA88-E840-800F-53482D496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ln>
                <a:noFill/>
              </a:ln>
            </p:spPr>
            <p:txBody>
              <a:bodyPr/>
              <a:lstStyle/>
              <a:p>
                <a:r>
                  <a:rPr lang="en-US" dirty="0"/>
                  <a:t>Mass of an infinitesimal fluid element of volume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r>
                  <a:rPr lang="en-US" dirty="0"/>
                  <a:t>The volume and density can change along </a:t>
                </a:r>
                <a:r>
                  <a:rPr lang="en-US" dirty="0" err="1"/>
                  <a:t>pathlines</a:t>
                </a:r>
                <a:r>
                  <a:rPr lang="en-US" dirty="0"/>
                  <a:t>, but mass must be conserved: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r>
                  <a:rPr lang="en-US" dirty="0"/>
                  <a:t>The change in an infinite volume :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b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   thus</a:t>
                </a:r>
                <a:r>
                  <a:rPr lang="en-US" dirty="0">
                    <a:effectLst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𝜕𝜌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0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𝜕𝜌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573CD-FA88-E840-800F-53482D496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4906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D3F55C-1BCF-BC45-BCBE-9CA8035F12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31"/>
          <a:stretch/>
        </p:blipFill>
        <p:spPr>
          <a:xfrm>
            <a:off x="8727133" y="2191263"/>
            <a:ext cx="3464867" cy="22510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8A0282-86C8-044C-9A31-E035B6FCE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Dynamics of an ideal fluid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736AD-3B08-9647-8628-7EAB89E722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9271" y="2562719"/>
                <a:ext cx="9155833" cy="3748434"/>
              </a:xfrm>
            </p:spPr>
            <p:txBody>
              <a:bodyPr/>
              <a:lstStyle/>
              <a:p>
                <a:r>
                  <a:rPr lang="en-US" dirty="0"/>
                  <a:t>Ideal fluids are characterized by the following variables: density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l-GR" dirty="0"/>
                  <a:t>, </a:t>
                </a:r>
                <a:r>
                  <a:rPr lang="en-US" dirty="0"/>
                  <a:t>pressure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, and velocity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They satisfy 5 equations: 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Continuity equation </a:t>
                </a:r>
              </a:p>
              <a:p>
                <a:pPr lvl="1"/>
                <a:r>
                  <a:rPr lang="en-US" dirty="0"/>
                  <a:t>Momentum equations (3 equations)</a:t>
                </a:r>
              </a:p>
              <a:p>
                <a:pPr lvl="1"/>
                <a:r>
                  <a:rPr lang="en-US" dirty="0"/>
                  <a:t>energy equation </a:t>
                </a:r>
                <a:endParaRPr lang="en-US" dirty="0">
                  <a:effectLst/>
                </a:endParaRPr>
              </a:p>
              <a:p>
                <a:pPr lvl="1"/>
                <a:endParaRPr lang="en-US" dirty="0">
                  <a:effectLst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736AD-3B08-9647-8628-7EAB89E72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271" y="2562719"/>
                <a:ext cx="9155833" cy="3748434"/>
              </a:xfrm>
              <a:blipFill>
                <a:blip r:embed="rId3"/>
                <a:stretch>
                  <a:fillRect l="-1247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94CBC4C-3356-D043-B06E-BC1A03CE62AF}"/>
              </a:ext>
            </a:extLst>
          </p:cNvPr>
          <p:cNvSpPr txBox="1"/>
          <p:nvPr/>
        </p:nvSpPr>
        <p:spPr>
          <a:xfrm>
            <a:off x="439271" y="1237156"/>
            <a:ext cx="10977282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Ideal fluid</a:t>
            </a:r>
            <a:r>
              <a:rPr lang="en-US" sz="2800" dirty="0">
                <a:solidFill>
                  <a:srgbClr val="FF0000"/>
                </a:solidFill>
              </a:rPr>
              <a:t>: A fluid that has no shear stresses, viscosity or energy exchange (heat conduction or radiative cooing) with its surroundings </a:t>
            </a:r>
            <a:endParaRPr lang="en-US" sz="2800" dirty="0">
              <a:solidFill>
                <a:srgbClr val="FF0000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4366E-A516-EC47-8FD4-776DB66C99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116" r="6359"/>
          <a:stretch/>
        </p:blipFill>
        <p:spPr>
          <a:xfrm>
            <a:off x="8845419" y="4606959"/>
            <a:ext cx="3346581" cy="225104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C3B984C-EC4B-F343-AF90-770BCE26DE77}"/>
              </a:ext>
            </a:extLst>
          </p:cNvPr>
          <p:cNvSpPr/>
          <p:nvPr/>
        </p:nvSpPr>
        <p:spPr>
          <a:xfrm>
            <a:off x="11075437" y="2957804"/>
            <a:ext cx="1116563" cy="373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4108BA-A5EA-554B-966A-AF23B55D70ED}"/>
              </a:ext>
            </a:extLst>
          </p:cNvPr>
          <p:cNvSpPr/>
          <p:nvPr/>
        </p:nvSpPr>
        <p:spPr>
          <a:xfrm>
            <a:off x="11416553" y="5405742"/>
            <a:ext cx="775446" cy="373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C9741-F255-6B4E-A8DD-022826036CB8}"/>
              </a:ext>
            </a:extLst>
          </p:cNvPr>
          <p:cNvSpPr/>
          <p:nvPr/>
        </p:nvSpPr>
        <p:spPr>
          <a:xfrm>
            <a:off x="9497556" y="6397964"/>
            <a:ext cx="1260639" cy="373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3E543D-067F-B340-AC9A-99CCDA3270E7}"/>
              </a:ext>
            </a:extLst>
          </p:cNvPr>
          <p:cNvSpPr/>
          <p:nvPr/>
        </p:nvSpPr>
        <p:spPr>
          <a:xfrm>
            <a:off x="9497555" y="3964794"/>
            <a:ext cx="1260639" cy="373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537E27-44B1-F94D-8868-43E52156ECAE}"/>
              </a:ext>
            </a:extLst>
          </p:cNvPr>
          <p:cNvSpPr txBox="1"/>
          <p:nvPr/>
        </p:nvSpPr>
        <p:spPr>
          <a:xfrm>
            <a:off x="9497555" y="3959184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Ideal fluid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354607-754B-E74E-AB27-CF641217FAFD}"/>
              </a:ext>
            </a:extLst>
          </p:cNvPr>
          <p:cNvSpPr txBox="1"/>
          <p:nvPr/>
        </p:nvSpPr>
        <p:spPr>
          <a:xfrm>
            <a:off x="9497555" y="6397964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 fluid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03BE1F-11B7-CB41-A5BC-49CFE975314A}"/>
              </a:ext>
            </a:extLst>
          </p:cNvPr>
          <p:cNvSpPr txBox="1"/>
          <p:nvPr/>
        </p:nvSpPr>
        <p:spPr>
          <a:xfrm>
            <a:off x="10955550" y="2881595"/>
            <a:ext cx="796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flow </a:t>
            </a:r>
          </a:p>
          <a:p>
            <a:pPr algn="ctr"/>
            <a:r>
              <a:rPr lang="en-US" dirty="0"/>
              <a:t>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6F1EB-C8CA-684C-80F1-E1D22F61F9F4}"/>
              </a:ext>
            </a:extLst>
          </p:cNvPr>
          <p:cNvSpPr txBox="1"/>
          <p:nvPr/>
        </p:nvSpPr>
        <p:spPr>
          <a:xfrm>
            <a:off x="11353800" y="5370938"/>
            <a:ext cx="796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flow </a:t>
            </a:r>
          </a:p>
          <a:p>
            <a:pPr algn="ctr"/>
            <a:r>
              <a:rPr lang="en-US" dirty="0"/>
              <a:t>profile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F7AC5-6179-3E4D-A448-1A11325C04AF}"/>
              </a:ext>
            </a:extLst>
          </p:cNvPr>
          <p:cNvSpPr txBox="1"/>
          <p:nvPr/>
        </p:nvSpPr>
        <p:spPr>
          <a:xfrm>
            <a:off x="630451" y="3866851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3431528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17D2D-BC26-4F43-9A87-0365DB5C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Euler equation (momentum conservation)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64A814-B8AF-3440-AE97-72493FF81D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719606"/>
                <a:ext cx="8180294" cy="4392706"/>
              </a:xfrm>
            </p:spPr>
            <p:txBody>
              <a:bodyPr/>
              <a:lstStyle/>
              <a:p>
                <a:r>
                  <a:rPr lang="en-US" dirty="0"/>
                  <a:t>Pressure force: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𝑝𝑑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≈−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Gravitational force: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Newton’s second law: </a:t>
                </a: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we get the Euler equation: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64A814-B8AF-3440-AE97-72493FF81D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19606"/>
                <a:ext cx="8180294" cy="4392706"/>
              </a:xfrm>
              <a:blipFill>
                <a:blip r:embed="rId2"/>
                <a:stretch>
                  <a:fillRect l="-1242" t="-3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99F21AA-23F1-A94B-AE2A-930C4ECD38B6}"/>
                  </a:ext>
                </a:extLst>
              </p:cNvPr>
              <p:cNvSpPr/>
              <p:nvPr/>
            </p:nvSpPr>
            <p:spPr>
              <a:xfrm>
                <a:off x="3657983" y="2810403"/>
                <a:ext cx="56310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99F21AA-23F1-A94B-AE2A-930C4ECD3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983" y="2810403"/>
                <a:ext cx="56310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1731343-911F-4B4A-81AB-8EEACA53D30D}"/>
                  </a:ext>
                </a:extLst>
              </p:cNvPr>
              <p:cNvSpPr/>
              <p:nvPr/>
            </p:nvSpPr>
            <p:spPr>
              <a:xfrm>
                <a:off x="1924995" y="2810403"/>
                <a:ext cx="52629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1731343-911F-4B4A-81AB-8EEACA53D3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995" y="2810403"/>
                <a:ext cx="52629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49" name="Picture 1" descr="page11image3820352">
            <a:extLst>
              <a:ext uri="{FF2B5EF4-FFF2-40B4-BE49-F238E27FC236}">
                <a16:creationId xmlns:a16="http://schemas.microsoft.com/office/drawing/2014/main" id="{65416694-7A60-5643-8119-31CA789D6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440" y="2922495"/>
            <a:ext cx="3939544" cy="277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9BAEB9-E60F-1E42-BAEE-C5E9FA72095C}"/>
                  </a:ext>
                </a:extLst>
              </p:cNvPr>
              <p:cNvSpPr txBox="1"/>
              <p:nvPr/>
            </p:nvSpPr>
            <p:spPr>
              <a:xfrm>
                <a:off x="2158008" y="5873500"/>
                <a:ext cx="8150757" cy="9845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9BAEB9-E60F-1E42-BAEE-C5E9FA720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008" y="5873500"/>
                <a:ext cx="8150757" cy="984500"/>
              </a:xfrm>
              <a:prstGeom prst="rect">
                <a:avLst/>
              </a:prstGeom>
              <a:blipFill>
                <a:blip r:embed="rId6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447468-3B76-134C-82E1-650A69677BD9}"/>
                  </a:ext>
                </a:extLst>
              </p:cNvPr>
              <p:cNvSpPr txBox="1"/>
              <p:nvPr/>
            </p:nvSpPr>
            <p:spPr>
              <a:xfrm>
                <a:off x="1538031" y="1196386"/>
                <a:ext cx="87707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0070C0"/>
                    </a:solidFill>
                  </a:rPr>
                  <a:t>In </a:t>
                </a:r>
                <a:r>
                  <a:rPr lang="en-US" sz="2800" dirty="0" err="1">
                    <a:solidFill>
                      <a:srgbClr val="0070C0"/>
                    </a:solidFill>
                  </a:rPr>
                  <a:t>Lagrangian</a:t>
                </a:r>
                <a:r>
                  <a:rPr lang="en-US" sz="2800" dirty="0">
                    <a:solidFill>
                      <a:srgbClr val="0070C0"/>
                    </a:solidFill>
                  </a:rPr>
                  <a:t> form: 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70C0"/>
                    </a:solidFill>
                  </a:rPr>
                  <a:t>= net force acting on an element </a:t>
                </a:r>
                <a:endParaRPr lang="en-US" sz="280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447468-3B76-134C-82E1-650A69677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031" y="1196386"/>
                <a:ext cx="8770734" cy="523220"/>
              </a:xfrm>
              <a:prstGeom prst="rect">
                <a:avLst/>
              </a:prstGeom>
              <a:blipFill>
                <a:blip r:embed="rId7"/>
                <a:stretch>
                  <a:fillRect l="-1445" t="-952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4040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5BC6C-847C-744D-8244-34C8C9D81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Energy conservation (</a:t>
            </a:r>
            <a:r>
              <a:rPr lang="en-US" dirty="0" err="1"/>
              <a:t>Lagrangian</a:t>
            </a:r>
            <a:r>
              <a:rPr lang="en-US" dirty="0"/>
              <a:t> approach)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14375-4AA2-EE4D-B647-B34E9B28A5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5563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The energy components of a fluid element of mass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are: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Bulk kinetic energy: </a:t>
                </a:r>
                <a:r>
                  <a:rPr lang="en-US" dirty="0"/>
                  <a:t>The kinetic energy associated with the bulk motion of the element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b="1" dirty="0"/>
                  <a:t>Internal energy: </a:t>
                </a:r>
                <a:r>
                  <a:rPr lang="en-US" dirty="0"/>
                  <a:t>We denote the energy per unit mass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          The total internal energy is 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14375-4AA2-EE4D-B647-B34E9B28A5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5563"/>
                <a:ext cx="10515600" cy="4351338"/>
              </a:xfrm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03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B1C8-CDC4-D242-86CA-09A7BA013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</a:t>
            </a:r>
            <a:r>
              <a:rPr lang="en-US" dirty="0" err="1"/>
              <a:t>Lagrangian</a:t>
            </a:r>
            <a:r>
              <a:rPr lang="en-US" dirty="0"/>
              <a:t> approach)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F6A1BD-7024-4E4D-92A1-099412D1E7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5563"/>
                <a:ext cx="10515600" cy="458071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work done by forces: </a:t>
                </a:r>
                <a:endParaRPr lang="en-US" dirty="0">
                  <a:effectLst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𝑝𝑑𝑉</m:t>
                    </m:r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u="sng" dirty="0"/>
                  <a:t>work</a:t>
                </a:r>
                <a:r>
                  <a:rPr lang="en-US" dirty="0"/>
                  <a:t>: Work per unit time done by surface forces exerted on the fluid element by the pressure of the external fluid.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1" i="0" smtClean="0">
                              <a:effectLst/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0" smtClean="0">
                              <a:effectLst/>
                              <a:latin typeface="Cambria Math" panose="02040503050406030204" pitchFamily="18" charset="0"/>
                            </a:rPr>
                            <m:t>𝐬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1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𝐯</m:t>
                                  </m:r>
                                </m:e>
                              </m:d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≈−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⋅(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b="1" u="sng" dirty="0"/>
                  <a:t>Work by a gravitational field: </a:t>
                </a:r>
                <a:endParaRPr lang="en-US" b="1" u="sng" dirty="0">
                  <a:effectLst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16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1" i="0" smtClean="0">
                          <a:effectLst/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1" i="0" smtClean="0">
                          <a:effectLst/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1" i="0" smtClean="0">
                          <a:effectLst/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1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F6A1BD-7024-4E4D-92A1-099412D1E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5563"/>
                <a:ext cx="10515600" cy="4580715"/>
              </a:xfrm>
              <a:blipFill>
                <a:blip r:embed="rId2"/>
                <a:stretch>
                  <a:fillRect l="-1086" t="-11326" b="-4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F9B020-B1DB-5C48-B9EC-3294489435F2}"/>
              </a:ext>
            </a:extLst>
          </p:cNvPr>
          <p:cNvSpPr/>
          <p:nvPr/>
        </p:nvSpPr>
        <p:spPr>
          <a:xfrm>
            <a:off x="978732" y="1819835"/>
            <a:ext cx="276327" cy="457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697B44-6C67-1E4A-9458-3A9D90A30F11}"/>
              </a:ext>
            </a:extLst>
          </p:cNvPr>
          <p:cNvSpPr txBox="1"/>
          <p:nvPr/>
        </p:nvSpPr>
        <p:spPr>
          <a:xfrm>
            <a:off x="838200" y="1819835"/>
            <a:ext cx="458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F5F9FD6-07DE-C04F-BCFD-56353221102C}"/>
                  </a:ext>
                </a:extLst>
              </p:cNvPr>
              <p:cNvSpPr/>
              <p:nvPr/>
            </p:nvSpPr>
            <p:spPr>
              <a:xfrm>
                <a:off x="5745624" y="3237523"/>
                <a:ext cx="56310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F5F9FD6-07DE-C04F-BCFD-563532211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624" y="3237523"/>
                <a:ext cx="56310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8AEECAE-6CC3-8B42-A821-8C08A0391D08}"/>
                  </a:ext>
                </a:extLst>
              </p:cNvPr>
              <p:cNvSpPr/>
              <p:nvPr/>
            </p:nvSpPr>
            <p:spPr>
              <a:xfrm>
                <a:off x="3609493" y="3237523"/>
                <a:ext cx="52629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8AEECAE-6CC3-8B42-A821-8C08A0391D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493" y="3237523"/>
                <a:ext cx="52629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8B10F8-7D5A-564E-9B1E-8642EAAFFD3F}"/>
                  </a:ext>
                </a:extLst>
              </p:cNvPr>
              <p:cNvSpPr txBox="1"/>
              <p:nvPr/>
            </p:nvSpPr>
            <p:spPr>
              <a:xfrm>
                <a:off x="630817" y="5983411"/>
                <a:ext cx="9569479" cy="496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*We consider only static gravitational fields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el-GR" sz="2400" dirty="0">
                    <a:solidFill>
                      <a:srgbClr val="FF0000"/>
                    </a:solidFill>
                  </a:rPr>
                  <a:t>, </a:t>
                </a:r>
                <a:r>
                  <a:rPr lang="en-US" sz="2400" dirty="0">
                    <a:solidFill>
                      <a:srgbClr val="FF0000"/>
                    </a:solidFill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l-GR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l-GR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0 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8B10F8-7D5A-564E-9B1E-8642EAAFF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17" y="5983411"/>
                <a:ext cx="9569479" cy="496546"/>
              </a:xfrm>
              <a:prstGeom prst="rect">
                <a:avLst/>
              </a:prstGeom>
              <a:blipFill>
                <a:blip r:embed="rId5"/>
                <a:stretch>
                  <a:fillRect l="-928" t="-5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032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99D1-2A2F-ED4E-AFB7-015F4FD9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</a:t>
            </a:r>
            <a:r>
              <a:rPr lang="en-US" dirty="0" err="1"/>
              <a:t>Lagrangian</a:t>
            </a:r>
            <a:r>
              <a:rPr lang="en-US" dirty="0"/>
              <a:t> approach)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927" y="1340316"/>
                <a:ext cx="11709918" cy="5517683"/>
              </a:xfrm>
            </p:spPr>
            <p:txBody>
              <a:bodyPr/>
              <a:lstStyle/>
              <a:p>
                <a:r>
                  <a:rPr lang="en-US" dirty="0"/>
                  <a:t>Conservation of energy implies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/>
                  <a:t>   giving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927" y="1340316"/>
                <a:ext cx="11709918" cy="5517683"/>
              </a:xfrm>
              <a:blipFill>
                <a:blip r:embed="rId2"/>
                <a:stretch>
                  <a:fillRect l="-867" t="-1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3D098F2-1E70-2843-9669-C649D71E224A}"/>
              </a:ext>
            </a:extLst>
          </p:cNvPr>
          <p:cNvCxnSpPr>
            <a:cxnSpLocks/>
          </p:cNvCxnSpPr>
          <p:nvPr/>
        </p:nvCxnSpPr>
        <p:spPr>
          <a:xfrm flipH="1">
            <a:off x="6105832" y="2674374"/>
            <a:ext cx="2861187" cy="688258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E253CD-1732-C14B-919A-09F063031019}"/>
              </a:ext>
            </a:extLst>
          </p:cNvPr>
          <p:cNvCxnSpPr>
            <a:cxnSpLocks/>
          </p:cNvCxnSpPr>
          <p:nvPr/>
        </p:nvCxnSpPr>
        <p:spPr>
          <a:xfrm>
            <a:off x="2959510" y="2546555"/>
            <a:ext cx="1759974" cy="658761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4FBFE3-4689-164B-AA2A-2063DC03A7A2}"/>
              </a:ext>
            </a:extLst>
          </p:cNvPr>
          <p:cNvCxnSpPr>
            <a:cxnSpLocks/>
          </p:cNvCxnSpPr>
          <p:nvPr/>
        </p:nvCxnSpPr>
        <p:spPr>
          <a:xfrm>
            <a:off x="7098891" y="2477729"/>
            <a:ext cx="648928" cy="8849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921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99D1-2A2F-ED4E-AFB7-015F4FD9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</a:t>
            </a:r>
            <a:r>
              <a:rPr lang="en-US" dirty="0" err="1"/>
              <a:t>Lagrangian</a:t>
            </a:r>
            <a:r>
              <a:rPr lang="en-US" dirty="0"/>
              <a:t> approach)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927" y="1340316"/>
                <a:ext cx="11709918" cy="5517683"/>
              </a:xfrm>
            </p:spPr>
            <p:txBody>
              <a:bodyPr/>
              <a:lstStyle/>
              <a:p>
                <a:r>
                  <a:rPr lang="en-US" dirty="0"/>
                  <a:t>Conservation of energy implies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1" i="0" smtClean="0">
                          <a:effectLst/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)−</m:t>
                      </m:r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/>
                  <a:t>   giving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effectLst/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r>
                  <a:rPr lang="en-US" dirty="0"/>
                  <a:t>Opening the brackets and rearranging terms: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927" y="1340316"/>
                <a:ext cx="11709918" cy="5517683"/>
              </a:xfrm>
              <a:blipFill>
                <a:blip r:embed="rId2"/>
                <a:stretch>
                  <a:fillRect l="-867" t="-1839" r="-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877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99D1-2A2F-ED4E-AFB7-015F4FD9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</a:t>
            </a:r>
            <a:r>
              <a:rPr lang="en-US" dirty="0" err="1"/>
              <a:t>Lagrangian</a:t>
            </a:r>
            <a:r>
              <a:rPr lang="en-US" dirty="0"/>
              <a:t> approach)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041" y="911103"/>
                <a:ext cx="11709918" cy="5816263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Projection of the momentum equation 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041" y="911103"/>
                <a:ext cx="11709918" cy="5816263"/>
              </a:xfrm>
              <a:blipFill>
                <a:blip r:embed="rId2"/>
                <a:stretch>
                  <a:fillRect l="-867" r="-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736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99D1-2A2F-ED4E-AFB7-015F4FD9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</a:t>
            </a:r>
            <a:r>
              <a:rPr lang="en-US" dirty="0" err="1"/>
              <a:t>Lagrangian</a:t>
            </a:r>
            <a:r>
              <a:rPr lang="en-US" dirty="0"/>
              <a:t> approach)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Projection of the momentum equation on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  <a:blipFill>
                <a:blip r:embed="rId2"/>
                <a:stretch>
                  <a:fillRect l="-867" r="-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66E8557-B6FE-3540-84EC-E864C9FFFE5B}"/>
              </a:ext>
            </a:extLst>
          </p:cNvPr>
          <p:cNvSpPr/>
          <p:nvPr/>
        </p:nvSpPr>
        <p:spPr>
          <a:xfrm>
            <a:off x="6064898" y="3242839"/>
            <a:ext cx="3090676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FA74EC-66D3-6741-BF37-FBA7C084F9A7}"/>
              </a:ext>
            </a:extLst>
          </p:cNvPr>
          <p:cNvSpPr/>
          <p:nvPr/>
        </p:nvSpPr>
        <p:spPr>
          <a:xfrm>
            <a:off x="6736702" y="1325563"/>
            <a:ext cx="1232789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3FC62F-DD47-4E4B-B185-0E7E09FF19B8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7296540" y="2344135"/>
            <a:ext cx="313696" cy="8987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748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99D1-2A2F-ED4E-AFB7-015F4FD9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</a:t>
            </a:r>
            <a:r>
              <a:rPr lang="en-US" dirty="0" err="1"/>
              <a:t>Lagrangian</a:t>
            </a:r>
            <a:r>
              <a:rPr lang="en-US" dirty="0"/>
              <a:t> approach)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Projection of the momentum equation on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  <a:blipFill>
                <a:blip r:embed="rId2"/>
                <a:stretch>
                  <a:fillRect l="-867" r="-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66E8557-B6FE-3540-84EC-E864C9FFFE5B}"/>
              </a:ext>
            </a:extLst>
          </p:cNvPr>
          <p:cNvSpPr/>
          <p:nvPr/>
        </p:nvSpPr>
        <p:spPr>
          <a:xfrm>
            <a:off x="6064898" y="3242839"/>
            <a:ext cx="3090676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FA74EC-66D3-6741-BF37-FBA7C084F9A7}"/>
              </a:ext>
            </a:extLst>
          </p:cNvPr>
          <p:cNvSpPr/>
          <p:nvPr/>
        </p:nvSpPr>
        <p:spPr>
          <a:xfrm>
            <a:off x="6736702" y="1325563"/>
            <a:ext cx="1232789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3FC62F-DD47-4E4B-B185-0E7E09FF19B8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7296540" y="2344135"/>
            <a:ext cx="313696" cy="8987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D82510-33DD-2A43-93A7-EB307EF6BE5A}"/>
              </a:ext>
            </a:extLst>
          </p:cNvPr>
          <p:cNvCxnSpPr>
            <a:cxnSpLocks/>
          </p:cNvCxnSpPr>
          <p:nvPr/>
        </p:nvCxnSpPr>
        <p:spPr>
          <a:xfrm flipH="1" flipV="1">
            <a:off x="8918483" y="1548883"/>
            <a:ext cx="1195901" cy="61177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8B7789-398C-8E49-B0BE-9377A3C67B6F}"/>
              </a:ext>
            </a:extLst>
          </p:cNvPr>
          <p:cNvCxnSpPr>
            <a:cxnSpLocks/>
          </p:cNvCxnSpPr>
          <p:nvPr/>
        </p:nvCxnSpPr>
        <p:spPr>
          <a:xfrm flipH="1" flipV="1">
            <a:off x="6218307" y="3405952"/>
            <a:ext cx="1218766" cy="68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059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99D1-2A2F-ED4E-AFB7-015F4FD9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</a:t>
            </a:r>
            <a:r>
              <a:rPr lang="en-US" dirty="0" err="1"/>
              <a:t>Lagrangian</a:t>
            </a:r>
            <a:r>
              <a:rPr lang="en-US" dirty="0"/>
              <a:t> approach)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Projection of the momentum equation on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>
                  <a:effectLst/>
                </a:endParaRPr>
              </a:p>
              <a:p>
                <a:r>
                  <a:rPr lang="en-US" dirty="0"/>
                  <a:t>Use the fact that 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 ⟹</m:t>
                        </m:r>
                      </m:den>
                    </m:f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  <a:blipFill>
                <a:blip r:embed="rId2"/>
                <a:stretch>
                  <a:fillRect l="-867" r="-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66E8557-B6FE-3540-84EC-E864C9FFFE5B}"/>
              </a:ext>
            </a:extLst>
          </p:cNvPr>
          <p:cNvSpPr/>
          <p:nvPr/>
        </p:nvSpPr>
        <p:spPr>
          <a:xfrm>
            <a:off x="6064898" y="3242839"/>
            <a:ext cx="3090676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FA74EC-66D3-6741-BF37-FBA7C084F9A7}"/>
              </a:ext>
            </a:extLst>
          </p:cNvPr>
          <p:cNvSpPr/>
          <p:nvPr/>
        </p:nvSpPr>
        <p:spPr>
          <a:xfrm>
            <a:off x="6736702" y="1325563"/>
            <a:ext cx="1232789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3FC62F-DD47-4E4B-B185-0E7E09FF19B8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7296540" y="2344135"/>
            <a:ext cx="313696" cy="8987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7AB93D-AD44-0E4D-8C00-544BD5B8AB4C}"/>
              </a:ext>
            </a:extLst>
          </p:cNvPr>
          <p:cNvCxnSpPr/>
          <p:nvPr/>
        </p:nvCxnSpPr>
        <p:spPr>
          <a:xfrm flipV="1">
            <a:off x="5673012" y="1548882"/>
            <a:ext cx="391886" cy="68113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60309D-FB8C-1645-8D0A-CD8517A08C67}"/>
              </a:ext>
            </a:extLst>
          </p:cNvPr>
          <p:cNvCxnSpPr>
            <a:cxnSpLocks/>
          </p:cNvCxnSpPr>
          <p:nvPr/>
        </p:nvCxnSpPr>
        <p:spPr>
          <a:xfrm flipV="1">
            <a:off x="7969491" y="3458949"/>
            <a:ext cx="1090533" cy="63283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CB33AF-8B79-4844-AFD7-F10E295A5004}"/>
              </a:ext>
            </a:extLst>
          </p:cNvPr>
          <p:cNvCxnSpPr>
            <a:cxnSpLocks/>
          </p:cNvCxnSpPr>
          <p:nvPr/>
        </p:nvCxnSpPr>
        <p:spPr>
          <a:xfrm flipH="1" flipV="1">
            <a:off x="8918483" y="1548883"/>
            <a:ext cx="1195901" cy="61177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5303DF-0331-494A-AADA-7088646AE459}"/>
              </a:ext>
            </a:extLst>
          </p:cNvPr>
          <p:cNvCxnSpPr>
            <a:cxnSpLocks/>
          </p:cNvCxnSpPr>
          <p:nvPr/>
        </p:nvCxnSpPr>
        <p:spPr>
          <a:xfrm flipH="1" flipV="1">
            <a:off x="6218307" y="3405952"/>
            <a:ext cx="1218766" cy="68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04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99D1-2A2F-ED4E-AFB7-015F4FD9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</a:t>
            </a:r>
            <a:r>
              <a:rPr lang="en-US" dirty="0" err="1"/>
              <a:t>Lagrangian</a:t>
            </a:r>
            <a:r>
              <a:rPr lang="en-US" dirty="0"/>
              <a:t> approach)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Projection of the momentum equation on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>
                  <a:effectLst/>
                </a:endParaRPr>
              </a:p>
              <a:p>
                <a:r>
                  <a:rPr lang="en-US" dirty="0"/>
                  <a:t>Use the fact that 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 ⟹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  <a:blipFill>
                <a:blip r:embed="rId2"/>
                <a:stretch>
                  <a:fillRect l="-867" r="-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66E8557-B6FE-3540-84EC-E864C9FFFE5B}"/>
              </a:ext>
            </a:extLst>
          </p:cNvPr>
          <p:cNvSpPr/>
          <p:nvPr/>
        </p:nvSpPr>
        <p:spPr>
          <a:xfrm>
            <a:off x="6064898" y="3242839"/>
            <a:ext cx="3090676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FA74EC-66D3-6741-BF37-FBA7C084F9A7}"/>
              </a:ext>
            </a:extLst>
          </p:cNvPr>
          <p:cNvSpPr/>
          <p:nvPr/>
        </p:nvSpPr>
        <p:spPr>
          <a:xfrm>
            <a:off x="6736702" y="1325563"/>
            <a:ext cx="1232789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3FC62F-DD47-4E4B-B185-0E7E09FF19B8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7296540" y="2344135"/>
            <a:ext cx="313696" cy="8987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F8333E-5686-1148-B3EE-BE1EAC86C713}"/>
              </a:ext>
            </a:extLst>
          </p:cNvPr>
          <p:cNvCxnSpPr/>
          <p:nvPr/>
        </p:nvCxnSpPr>
        <p:spPr>
          <a:xfrm flipV="1">
            <a:off x="5673012" y="1548882"/>
            <a:ext cx="391886" cy="68113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6F9EFE-6A53-1C42-BA19-B82EFF6B75EA}"/>
              </a:ext>
            </a:extLst>
          </p:cNvPr>
          <p:cNvCxnSpPr>
            <a:cxnSpLocks/>
          </p:cNvCxnSpPr>
          <p:nvPr/>
        </p:nvCxnSpPr>
        <p:spPr>
          <a:xfrm flipV="1">
            <a:off x="7969491" y="3458949"/>
            <a:ext cx="1090533" cy="63283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F081A5-2561-B14D-AB75-1FB6B634B3F9}"/>
              </a:ext>
            </a:extLst>
          </p:cNvPr>
          <p:cNvCxnSpPr>
            <a:cxnSpLocks/>
          </p:cNvCxnSpPr>
          <p:nvPr/>
        </p:nvCxnSpPr>
        <p:spPr>
          <a:xfrm>
            <a:off x="329184" y="1518433"/>
            <a:ext cx="3157328" cy="64222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43DBE8-AE54-5148-A564-3E97D53B7FB0}"/>
              </a:ext>
            </a:extLst>
          </p:cNvPr>
          <p:cNvCxnSpPr>
            <a:cxnSpLocks/>
          </p:cNvCxnSpPr>
          <p:nvPr/>
        </p:nvCxnSpPr>
        <p:spPr>
          <a:xfrm flipH="1" flipV="1">
            <a:off x="8918483" y="1548883"/>
            <a:ext cx="1195901" cy="61177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58BCF5-2DAA-994B-BA21-7394926D3F94}"/>
              </a:ext>
            </a:extLst>
          </p:cNvPr>
          <p:cNvCxnSpPr>
            <a:cxnSpLocks/>
          </p:cNvCxnSpPr>
          <p:nvPr/>
        </p:nvCxnSpPr>
        <p:spPr>
          <a:xfrm flipH="1" flipV="1">
            <a:off x="6218307" y="3405952"/>
            <a:ext cx="1218766" cy="68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375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99D1-2A2F-ED4E-AFB7-015F4FD9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</a:t>
            </a:r>
            <a:r>
              <a:rPr lang="en-US" dirty="0" err="1"/>
              <a:t>Lagrangian</a:t>
            </a:r>
            <a:r>
              <a:rPr lang="en-US" dirty="0"/>
              <a:t> approach)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Projection of the momentum equation on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>
                  <a:effectLst/>
                </a:endParaRPr>
              </a:p>
              <a:p>
                <a:r>
                  <a:rPr lang="en-US" dirty="0"/>
                  <a:t>Use the fact that 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 ⟹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  <a:blipFill>
                <a:blip r:embed="rId2"/>
                <a:stretch>
                  <a:fillRect l="-866" r="-108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66E8557-B6FE-3540-84EC-E864C9FFFE5B}"/>
              </a:ext>
            </a:extLst>
          </p:cNvPr>
          <p:cNvSpPr/>
          <p:nvPr/>
        </p:nvSpPr>
        <p:spPr>
          <a:xfrm>
            <a:off x="6064898" y="3242839"/>
            <a:ext cx="3090676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FA74EC-66D3-6741-BF37-FBA7C084F9A7}"/>
              </a:ext>
            </a:extLst>
          </p:cNvPr>
          <p:cNvSpPr/>
          <p:nvPr/>
        </p:nvSpPr>
        <p:spPr>
          <a:xfrm>
            <a:off x="6736702" y="1325563"/>
            <a:ext cx="1232789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3FC62F-DD47-4E4B-B185-0E7E09FF19B8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7296540" y="2344135"/>
            <a:ext cx="313696" cy="8987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F8333E-5686-1148-B3EE-BE1EAC86C713}"/>
              </a:ext>
            </a:extLst>
          </p:cNvPr>
          <p:cNvCxnSpPr/>
          <p:nvPr/>
        </p:nvCxnSpPr>
        <p:spPr>
          <a:xfrm flipV="1">
            <a:off x="5673012" y="1548882"/>
            <a:ext cx="391886" cy="68113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6F9EFE-6A53-1C42-BA19-B82EFF6B75EA}"/>
              </a:ext>
            </a:extLst>
          </p:cNvPr>
          <p:cNvCxnSpPr>
            <a:cxnSpLocks/>
          </p:cNvCxnSpPr>
          <p:nvPr/>
        </p:nvCxnSpPr>
        <p:spPr>
          <a:xfrm flipV="1">
            <a:off x="7969491" y="3458949"/>
            <a:ext cx="1090533" cy="63283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F081A5-2561-B14D-AB75-1FB6B634B3F9}"/>
              </a:ext>
            </a:extLst>
          </p:cNvPr>
          <p:cNvCxnSpPr>
            <a:cxnSpLocks/>
          </p:cNvCxnSpPr>
          <p:nvPr/>
        </p:nvCxnSpPr>
        <p:spPr>
          <a:xfrm>
            <a:off x="329184" y="1518433"/>
            <a:ext cx="3157328" cy="64222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43DBE8-AE54-5148-A564-3E97D53B7FB0}"/>
              </a:ext>
            </a:extLst>
          </p:cNvPr>
          <p:cNvCxnSpPr>
            <a:cxnSpLocks/>
          </p:cNvCxnSpPr>
          <p:nvPr/>
        </p:nvCxnSpPr>
        <p:spPr>
          <a:xfrm flipH="1" flipV="1">
            <a:off x="8918483" y="1548883"/>
            <a:ext cx="1195901" cy="61177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58BCF5-2DAA-994B-BA21-7394926D3F94}"/>
              </a:ext>
            </a:extLst>
          </p:cNvPr>
          <p:cNvCxnSpPr>
            <a:cxnSpLocks/>
          </p:cNvCxnSpPr>
          <p:nvPr/>
        </p:nvCxnSpPr>
        <p:spPr>
          <a:xfrm flipH="1" flipV="1">
            <a:off x="6218307" y="3405952"/>
            <a:ext cx="1218766" cy="68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5A438AC-375C-D043-A28E-BC5D09F80855}"/>
              </a:ext>
            </a:extLst>
          </p:cNvPr>
          <p:cNvSpPr/>
          <p:nvPr/>
        </p:nvSpPr>
        <p:spPr>
          <a:xfrm>
            <a:off x="7659396" y="4945626"/>
            <a:ext cx="1449788" cy="963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77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99D1-2A2F-ED4E-AFB7-015F4FD9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</a:t>
            </a:r>
            <a:r>
              <a:rPr lang="en-US" dirty="0" err="1"/>
              <a:t>Lagrangian</a:t>
            </a:r>
            <a:r>
              <a:rPr lang="en-US" dirty="0"/>
              <a:t> approach)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Projection of the momentum equation on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>
                  <a:effectLst/>
                </a:endParaRPr>
              </a:p>
              <a:p>
                <a:r>
                  <a:rPr lang="en-US" dirty="0"/>
                  <a:t>Use the fact that 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 ⟹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  <a:blipFill>
                <a:blip r:embed="rId2"/>
                <a:stretch>
                  <a:fillRect l="-866" r="-108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66E8557-B6FE-3540-84EC-E864C9FFFE5B}"/>
              </a:ext>
            </a:extLst>
          </p:cNvPr>
          <p:cNvSpPr/>
          <p:nvPr/>
        </p:nvSpPr>
        <p:spPr>
          <a:xfrm>
            <a:off x="6064898" y="3242839"/>
            <a:ext cx="3090676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FA74EC-66D3-6741-BF37-FBA7C084F9A7}"/>
              </a:ext>
            </a:extLst>
          </p:cNvPr>
          <p:cNvSpPr/>
          <p:nvPr/>
        </p:nvSpPr>
        <p:spPr>
          <a:xfrm>
            <a:off x="6736702" y="1325563"/>
            <a:ext cx="1232789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3FC62F-DD47-4E4B-B185-0E7E09FF19B8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7296540" y="2344135"/>
            <a:ext cx="313696" cy="8987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C1A42C-CC20-DE4A-90F0-E5121DBF246D}"/>
                  </a:ext>
                </a:extLst>
              </p:cNvPr>
              <p:cNvSpPr txBox="1"/>
              <p:nvPr/>
            </p:nvSpPr>
            <p:spPr>
              <a:xfrm>
                <a:off x="3997202" y="6014522"/>
                <a:ext cx="5479000" cy="858377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f>
                        <m:f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C1A42C-CC20-DE4A-90F0-E5121DBF2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202" y="6014522"/>
                <a:ext cx="5479000" cy="858377"/>
              </a:xfrm>
              <a:prstGeom prst="rect">
                <a:avLst/>
              </a:prstGeom>
              <a:blipFill>
                <a:blip r:embed="rId3"/>
                <a:stretch>
                  <a:fillRect b="-4286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52769E-BA5F-8544-8EDD-3E790877DD1C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6736702" y="5594555"/>
            <a:ext cx="1232789" cy="4199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F8333E-5686-1148-B3EE-BE1EAC86C713}"/>
              </a:ext>
            </a:extLst>
          </p:cNvPr>
          <p:cNvCxnSpPr/>
          <p:nvPr/>
        </p:nvCxnSpPr>
        <p:spPr>
          <a:xfrm flipV="1">
            <a:off x="5673012" y="1548882"/>
            <a:ext cx="391886" cy="68113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6F9EFE-6A53-1C42-BA19-B82EFF6B75EA}"/>
              </a:ext>
            </a:extLst>
          </p:cNvPr>
          <p:cNvCxnSpPr>
            <a:cxnSpLocks/>
          </p:cNvCxnSpPr>
          <p:nvPr/>
        </p:nvCxnSpPr>
        <p:spPr>
          <a:xfrm flipV="1">
            <a:off x="7969491" y="3458949"/>
            <a:ext cx="1090533" cy="63283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F081A5-2561-B14D-AB75-1FB6B634B3F9}"/>
              </a:ext>
            </a:extLst>
          </p:cNvPr>
          <p:cNvCxnSpPr>
            <a:cxnSpLocks/>
          </p:cNvCxnSpPr>
          <p:nvPr/>
        </p:nvCxnSpPr>
        <p:spPr>
          <a:xfrm>
            <a:off x="329184" y="1518433"/>
            <a:ext cx="3157328" cy="64222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43DBE8-AE54-5148-A564-3E97D53B7FB0}"/>
              </a:ext>
            </a:extLst>
          </p:cNvPr>
          <p:cNvCxnSpPr>
            <a:cxnSpLocks/>
          </p:cNvCxnSpPr>
          <p:nvPr/>
        </p:nvCxnSpPr>
        <p:spPr>
          <a:xfrm flipH="1" flipV="1">
            <a:off x="8918483" y="1548883"/>
            <a:ext cx="1195901" cy="61177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58BCF5-2DAA-994B-BA21-7394926D3F94}"/>
              </a:ext>
            </a:extLst>
          </p:cNvPr>
          <p:cNvCxnSpPr>
            <a:cxnSpLocks/>
          </p:cNvCxnSpPr>
          <p:nvPr/>
        </p:nvCxnSpPr>
        <p:spPr>
          <a:xfrm flipH="1" flipV="1">
            <a:off x="6218307" y="3405952"/>
            <a:ext cx="1218766" cy="68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088E39F-6799-7A4D-9A85-815B1FDE278D}"/>
              </a:ext>
            </a:extLst>
          </p:cNvPr>
          <p:cNvSpPr txBox="1"/>
          <p:nvPr/>
        </p:nvSpPr>
        <p:spPr>
          <a:xfrm>
            <a:off x="2236288" y="6014522"/>
            <a:ext cx="1478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Continuity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</a:rPr>
              <a:t>equation:</a:t>
            </a:r>
          </a:p>
        </p:txBody>
      </p:sp>
    </p:spTree>
    <p:extLst>
      <p:ext uri="{BB962C8B-B14F-4D97-AF65-F5344CB8AC3E}">
        <p14:creationId xmlns:p14="http://schemas.microsoft.com/office/powerpoint/2010/main" val="1871732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99D1-2A2F-ED4E-AFB7-015F4FD9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</a:t>
            </a:r>
            <a:r>
              <a:rPr lang="en-US" dirty="0" err="1"/>
              <a:t>Lagrangian</a:t>
            </a:r>
            <a:r>
              <a:rPr lang="en-US" dirty="0"/>
              <a:t> approach)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Projection of the momentum equation on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>
                  <a:effectLst/>
                </a:endParaRPr>
              </a:p>
              <a:p>
                <a:r>
                  <a:rPr lang="en-US" dirty="0"/>
                  <a:t>Use the fact that 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 ⟹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F9D0B-0A80-2747-AC93-CA9F589C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041" y="911103"/>
                <a:ext cx="11709918" cy="5946897"/>
              </a:xfrm>
              <a:blipFill>
                <a:blip r:embed="rId2"/>
                <a:stretch>
                  <a:fillRect l="-867" r="-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66E8557-B6FE-3540-84EC-E864C9FFFE5B}"/>
              </a:ext>
            </a:extLst>
          </p:cNvPr>
          <p:cNvSpPr/>
          <p:nvPr/>
        </p:nvSpPr>
        <p:spPr>
          <a:xfrm>
            <a:off x="3135086" y="4935793"/>
            <a:ext cx="5841766" cy="9774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658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758C-0789-AD43-A5DC-C838324B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(Eulerian approach)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233" y="1341049"/>
                <a:ext cx="11616612" cy="4351338"/>
              </a:xfrm>
            </p:spPr>
            <p:txBody>
              <a:bodyPr/>
              <a:lstStyle/>
              <a:p>
                <a:r>
                  <a:rPr lang="en-US" dirty="0"/>
                  <a:t>Lets denote the total energy density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We have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𝑑𝑈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233" y="1341049"/>
                <a:ext cx="11616612" cy="4351338"/>
              </a:xfrm>
              <a:blipFill>
                <a:blip r:embed="rId2"/>
                <a:stretch>
                  <a:fillRect l="-873" t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DB20670-980D-7C43-9077-313C4C2EDA77}"/>
              </a:ext>
            </a:extLst>
          </p:cNvPr>
          <p:cNvSpPr/>
          <p:nvPr/>
        </p:nvSpPr>
        <p:spPr>
          <a:xfrm>
            <a:off x="5262465" y="1856792"/>
            <a:ext cx="6531429" cy="942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05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758C-0789-AD43-A5DC-C838324B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(Eulerian approach)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233" y="1341049"/>
                <a:ext cx="11616612" cy="4351338"/>
              </a:xfrm>
            </p:spPr>
            <p:txBody>
              <a:bodyPr/>
              <a:lstStyle/>
              <a:p>
                <a:r>
                  <a:rPr lang="en-US" dirty="0"/>
                  <a:t>Lets denote the total energy density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We have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𝑑𝑈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233" y="1341049"/>
                <a:ext cx="11616612" cy="4351338"/>
              </a:xfrm>
              <a:blipFill>
                <a:blip r:embed="rId2"/>
                <a:stretch>
                  <a:fillRect l="-873" t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141966-757A-5B4B-964D-9BAED7518DF7}"/>
                  </a:ext>
                </a:extLst>
              </p:cNvPr>
              <p:cNvSpPr txBox="1"/>
              <p:nvPr/>
            </p:nvSpPr>
            <p:spPr>
              <a:xfrm>
                <a:off x="5198766" y="3143834"/>
                <a:ext cx="2074094" cy="6199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141966-757A-5B4B-964D-9BAED7518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766" y="3143834"/>
                <a:ext cx="2074094" cy="619913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c 5">
            <a:extLst>
              <a:ext uri="{FF2B5EF4-FFF2-40B4-BE49-F238E27FC236}">
                <a16:creationId xmlns:a16="http://schemas.microsoft.com/office/drawing/2014/main" id="{EA7AFB7B-65F1-E745-822F-297AB70051AC}"/>
              </a:ext>
            </a:extLst>
          </p:cNvPr>
          <p:cNvSpPr/>
          <p:nvPr/>
        </p:nvSpPr>
        <p:spPr>
          <a:xfrm>
            <a:off x="4775572" y="1744827"/>
            <a:ext cx="2920482" cy="1399007"/>
          </a:xfrm>
          <a:prstGeom prst="arc">
            <a:avLst>
              <a:gd name="adj1" fmla="val 21559098"/>
              <a:gd name="adj2" fmla="val 10179364"/>
            </a:avLst>
          </a:prstGeom>
          <a:ln w="19050">
            <a:solidFill>
              <a:srgbClr val="FF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A68FA-579B-EE49-91E9-02379A3BE6E6}"/>
              </a:ext>
            </a:extLst>
          </p:cNvPr>
          <p:cNvSpPr/>
          <p:nvPr/>
        </p:nvSpPr>
        <p:spPr>
          <a:xfrm>
            <a:off x="8360229" y="1866124"/>
            <a:ext cx="3461657" cy="100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290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758C-0789-AD43-A5DC-C838324B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(Eulerian approach)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233" y="1341049"/>
                <a:ext cx="11616612" cy="4351338"/>
              </a:xfrm>
            </p:spPr>
            <p:txBody>
              <a:bodyPr/>
              <a:lstStyle/>
              <a:p>
                <a:r>
                  <a:rPr lang="en-US" dirty="0"/>
                  <a:t>Lets denote the total energy density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We have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𝑑𝑈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233" y="1341049"/>
                <a:ext cx="11616612" cy="4351338"/>
              </a:xfrm>
              <a:blipFill>
                <a:blip r:embed="rId2"/>
                <a:stretch>
                  <a:fillRect l="-873" t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141966-757A-5B4B-964D-9BAED7518DF7}"/>
                  </a:ext>
                </a:extLst>
              </p:cNvPr>
              <p:cNvSpPr txBox="1"/>
              <p:nvPr/>
            </p:nvSpPr>
            <p:spPr>
              <a:xfrm>
                <a:off x="7494948" y="3131911"/>
                <a:ext cx="2195024" cy="61901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141966-757A-5B4B-964D-9BAED7518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4948" y="3131911"/>
                <a:ext cx="2195024" cy="619016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c 5">
            <a:extLst>
              <a:ext uri="{FF2B5EF4-FFF2-40B4-BE49-F238E27FC236}">
                <a16:creationId xmlns:a16="http://schemas.microsoft.com/office/drawing/2014/main" id="{EA7AFB7B-65F1-E745-822F-297AB70051AC}"/>
              </a:ext>
            </a:extLst>
          </p:cNvPr>
          <p:cNvSpPr/>
          <p:nvPr/>
        </p:nvSpPr>
        <p:spPr>
          <a:xfrm>
            <a:off x="6585712" y="2184831"/>
            <a:ext cx="3687292" cy="931594"/>
          </a:xfrm>
          <a:prstGeom prst="arc">
            <a:avLst>
              <a:gd name="adj1" fmla="val 21559098"/>
              <a:gd name="adj2" fmla="val 10760198"/>
            </a:avLst>
          </a:prstGeom>
          <a:ln w="19050">
            <a:solidFill>
              <a:srgbClr val="FF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77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758C-0789-AD43-A5DC-C838324B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(Eulerian approach)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233" y="1341048"/>
                <a:ext cx="11616612" cy="59461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Lets denote the total energy density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We have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𝑑𝑈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On the other hand we showed before: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Combining the two gives: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233" y="1341048"/>
                <a:ext cx="11616612" cy="5946160"/>
              </a:xfrm>
              <a:blipFill>
                <a:blip r:embed="rId2"/>
                <a:stretch>
                  <a:fillRect l="-873" t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0694143-7848-0C47-8C94-0C76B982B90C}"/>
              </a:ext>
            </a:extLst>
          </p:cNvPr>
          <p:cNvSpPr/>
          <p:nvPr/>
        </p:nvSpPr>
        <p:spPr>
          <a:xfrm>
            <a:off x="345233" y="4286865"/>
            <a:ext cx="10529244" cy="2202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7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758C-0789-AD43-A5DC-C838324B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(Eulerian approach)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233" y="1341048"/>
                <a:ext cx="11616612" cy="59461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Lets denote the total energy density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We have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𝑑𝑈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On the other hand we showed before: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Combining the two gives: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233" y="1341048"/>
                <a:ext cx="11616612" cy="5946160"/>
              </a:xfrm>
              <a:blipFill>
                <a:blip r:embed="rId2"/>
                <a:stretch>
                  <a:fillRect l="-873" t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89A500F6-17C4-A44E-A176-CE1A259C94CF}"/>
              </a:ext>
            </a:extLst>
          </p:cNvPr>
          <p:cNvSpPr/>
          <p:nvPr/>
        </p:nvSpPr>
        <p:spPr>
          <a:xfrm>
            <a:off x="8098971" y="3205517"/>
            <a:ext cx="2017656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48437B-30E3-7C43-9F96-E32ACB2FBB45}"/>
              </a:ext>
            </a:extLst>
          </p:cNvPr>
          <p:cNvSpPr/>
          <p:nvPr/>
        </p:nvSpPr>
        <p:spPr>
          <a:xfrm>
            <a:off x="8717901" y="1838550"/>
            <a:ext cx="3038669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3753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758C-0789-AD43-A5DC-C838324B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(Eulerian approach)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233" y="1341048"/>
                <a:ext cx="11616612" cy="594616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Combining the two gives: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Last, we define the enthalpy of a fluid element: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li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is the enthalpy per unit mass (specific enthalpy)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we get the energy equation: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233" y="1341048"/>
                <a:ext cx="11616612" cy="5946160"/>
              </a:xfrm>
              <a:blipFill>
                <a:blip r:embed="rId2"/>
                <a:stretch>
                  <a:fillRect l="-873" t="-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5D7E6ED-17CB-B842-88FF-7AED842B5B14}"/>
              </a:ext>
            </a:extLst>
          </p:cNvPr>
          <p:cNvSpPr/>
          <p:nvPr/>
        </p:nvSpPr>
        <p:spPr>
          <a:xfrm>
            <a:off x="216310" y="4227871"/>
            <a:ext cx="10844980" cy="235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56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758C-0789-AD43-A5DC-C838324B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Energy conservation (Eulerian approach)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233" y="1341048"/>
                <a:ext cx="11616612" cy="594616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Combining the two gives: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Last, we define the enthalpy of a fluid element: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li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is the enthalpy per unit mass (specific enthalpy)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we get the energy equation: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6BC6-5E7E-7547-86A1-FFF0B2370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233" y="1341048"/>
                <a:ext cx="11616612" cy="5946160"/>
              </a:xfrm>
              <a:blipFill>
                <a:blip r:embed="rId2"/>
                <a:stretch>
                  <a:fillRect l="-873" t="-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68F2C99E-B224-3648-96E2-6CD016F50417}"/>
              </a:ext>
            </a:extLst>
          </p:cNvPr>
          <p:cNvSpPr/>
          <p:nvPr/>
        </p:nvSpPr>
        <p:spPr>
          <a:xfrm rot="16200000">
            <a:off x="3905796" y="5029199"/>
            <a:ext cx="346165" cy="2423162"/>
          </a:xfrm>
          <a:prstGeom prst="leftBrace">
            <a:avLst>
              <a:gd name="adj1" fmla="val 83806"/>
              <a:gd name="adj2" fmla="val 50000"/>
            </a:avLst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CD901A-6C12-9F40-9093-9E4D0667DB84}"/>
                  </a:ext>
                </a:extLst>
              </p:cNvPr>
              <p:cNvSpPr txBox="1"/>
              <p:nvPr/>
            </p:nvSpPr>
            <p:spPr>
              <a:xfrm>
                <a:off x="3843269" y="6429348"/>
                <a:ext cx="4712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sz="2400" dirty="0">
                  <a:solidFill>
                    <a:srgbClr val="4472C4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CD901A-6C12-9F40-9093-9E4D0667D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269" y="6429348"/>
                <a:ext cx="47121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DE28E726-F52D-8A47-8878-047F338195BD}"/>
              </a:ext>
            </a:extLst>
          </p:cNvPr>
          <p:cNvSpPr/>
          <p:nvPr/>
        </p:nvSpPr>
        <p:spPr>
          <a:xfrm rot="16200000">
            <a:off x="7712451" y="4956187"/>
            <a:ext cx="346165" cy="2569183"/>
          </a:xfrm>
          <a:prstGeom prst="leftBrace">
            <a:avLst>
              <a:gd name="adj1" fmla="val 83806"/>
              <a:gd name="adj2" fmla="val 50000"/>
            </a:avLst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E0D97-9598-154A-A430-7CA9E5E7A23D}"/>
                  </a:ext>
                </a:extLst>
              </p:cNvPr>
              <p:cNvSpPr txBox="1"/>
              <p:nvPr/>
            </p:nvSpPr>
            <p:spPr>
              <a:xfrm>
                <a:off x="6840504" y="6388869"/>
                <a:ext cx="20900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4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</m:oMath>
                  </m:oMathPara>
                </a14:m>
                <a:endParaRPr lang="en-US" sz="2400" dirty="0">
                  <a:solidFill>
                    <a:srgbClr val="4472C4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E0D97-9598-154A-A430-7CA9E5E7A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504" y="6388869"/>
                <a:ext cx="2090058" cy="461665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4229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239D898-9160-5246-BFB5-429B224FD352}"/>
              </a:ext>
            </a:extLst>
          </p:cNvPr>
          <p:cNvSpPr/>
          <p:nvPr/>
        </p:nvSpPr>
        <p:spPr>
          <a:xfrm>
            <a:off x="559837" y="1134324"/>
            <a:ext cx="10217020" cy="5645020"/>
          </a:xfrm>
          <a:prstGeom prst="roundRect">
            <a:avLst/>
          </a:prstGeom>
          <a:solidFill>
            <a:srgbClr val="4472C4">
              <a:alpha val="2666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389B2-7B12-0D4B-9F3B-4FDA1B101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Summary of the fluid equations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1F2A7-E16E-1945-AC76-F3848C657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9709"/>
                <a:ext cx="10515600" cy="549829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Continuity equation (mass conservation):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Euler equation (momentum conservation):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Energy conservation:</a:t>
                </a:r>
                <a:br>
                  <a:rPr lang="en-US" dirty="0"/>
                </a:b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1F2A7-E16E-1945-AC76-F3848C657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9709"/>
                <a:ext cx="10515600" cy="5498291"/>
              </a:xfrm>
              <a:blipFill>
                <a:blip r:embed="rId2"/>
                <a:stretch>
                  <a:fillRect l="-965" t="-1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783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6BDA-FBE1-EB4A-97BE-A1ACAC4F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Entropy conservation and equation of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976" y="2099387"/>
                <a:ext cx="11961844" cy="4758613"/>
              </a:xfrm>
            </p:spPr>
            <p:txBody>
              <a:bodyPr/>
              <a:lstStyle/>
              <a:p>
                <a:r>
                  <a:rPr lang="en-US" dirty="0"/>
                  <a:t>Lets look at the energy equation in the Lagrange form: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Recall the continuity equation: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thus obtain: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976" y="2099387"/>
                <a:ext cx="11961844" cy="4758613"/>
              </a:xfrm>
              <a:blipFill>
                <a:blip r:embed="rId2"/>
                <a:stretch>
                  <a:fillRect l="-743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6626AF3-4CD0-D541-82C9-896FDEBCEBDA}"/>
              </a:ext>
            </a:extLst>
          </p:cNvPr>
          <p:cNvSpPr/>
          <p:nvPr/>
        </p:nvSpPr>
        <p:spPr>
          <a:xfrm>
            <a:off x="83976" y="1297525"/>
            <a:ext cx="119618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Are the fluid equations consistent with the 2’nd law of thermodynamics?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41883A-293B-C448-8AA6-59C374A17C9E}"/>
              </a:ext>
            </a:extLst>
          </p:cNvPr>
          <p:cNvSpPr/>
          <p:nvPr/>
        </p:nvSpPr>
        <p:spPr>
          <a:xfrm>
            <a:off x="83976" y="3470787"/>
            <a:ext cx="11409934" cy="3116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20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6BDA-FBE1-EB4A-97BE-A1ACAC4F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Entropy conservation and equation of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976" y="2099387"/>
                <a:ext cx="11961844" cy="4758613"/>
              </a:xfrm>
            </p:spPr>
            <p:txBody>
              <a:bodyPr/>
              <a:lstStyle/>
              <a:p>
                <a:r>
                  <a:rPr lang="en-US" dirty="0"/>
                  <a:t>Lets look at the energy equation in the Lagrange form: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Recall the continuity equation: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thus obtain: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976" y="2099387"/>
                <a:ext cx="11961844" cy="4758613"/>
              </a:xfrm>
              <a:blipFill>
                <a:blip r:embed="rId2"/>
                <a:stretch>
                  <a:fillRect l="-743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6626AF3-4CD0-D541-82C9-896FDEBCEBDA}"/>
              </a:ext>
            </a:extLst>
          </p:cNvPr>
          <p:cNvSpPr/>
          <p:nvPr/>
        </p:nvSpPr>
        <p:spPr>
          <a:xfrm>
            <a:off x="83976" y="1297525"/>
            <a:ext cx="119618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Are the fluid equations consistent with the 2’nd law of thermodynamics?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AA9F9-FE95-2D4D-A85F-56D0C5D468C9}"/>
              </a:ext>
            </a:extLst>
          </p:cNvPr>
          <p:cNvSpPr/>
          <p:nvPr/>
        </p:nvSpPr>
        <p:spPr>
          <a:xfrm>
            <a:off x="83976" y="4866967"/>
            <a:ext cx="11409934" cy="1720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2D71DE-B006-8746-8F7E-B6EDFCA97397}"/>
              </a:ext>
            </a:extLst>
          </p:cNvPr>
          <p:cNvSpPr/>
          <p:nvPr/>
        </p:nvSpPr>
        <p:spPr>
          <a:xfrm>
            <a:off x="5830528" y="3867324"/>
            <a:ext cx="5523271" cy="1720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920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6BDA-FBE1-EB4A-97BE-A1ACAC4F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Entropy conservation and equation of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976" y="2099387"/>
                <a:ext cx="11961844" cy="4758613"/>
              </a:xfrm>
            </p:spPr>
            <p:txBody>
              <a:bodyPr/>
              <a:lstStyle/>
              <a:p>
                <a:r>
                  <a:rPr lang="en-US" dirty="0"/>
                  <a:t>Lets look at the energy equation in the Lagrange form: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Recall the continuity equation: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thus obtain: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976" y="2099387"/>
                <a:ext cx="11961844" cy="4758613"/>
              </a:xfrm>
              <a:blipFill>
                <a:blip r:embed="rId2"/>
                <a:stretch>
                  <a:fillRect l="-743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6626AF3-4CD0-D541-82C9-896FDEBCEBDA}"/>
              </a:ext>
            </a:extLst>
          </p:cNvPr>
          <p:cNvSpPr/>
          <p:nvPr/>
        </p:nvSpPr>
        <p:spPr>
          <a:xfrm>
            <a:off x="83976" y="1297525"/>
            <a:ext cx="119618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Are the fluid equations consistent with the 2’nd law of thermodynamics?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AA9F9-FE95-2D4D-A85F-56D0C5D468C9}"/>
              </a:ext>
            </a:extLst>
          </p:cNvPr>
          <p:cNvSpPr/>
          <p:nvPr/>
        </p:nvSpPr>
        <p:spPr>
          <a:xfrm>
            <a:off x="83976" y="4866967"/>
            <a:ext cx="11409934" cy="1720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12CD18-EEF0-B24D-A51A-844D6FDE9C5B}"/>
                  </a:ext>
                </a:extLst>
              </p:cNvPr>
              <p:cNvSpPr txBox="1"/>
              <p:nvPr/>
            </p:nvSpPr>
            <p:spPr>
              <a:xfrm>
                <a:off x="4919530" y="5393896"/>
                <a:ext cx="1864485" cy="666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12CD18-EEF0-B24D-A51A-844D6FDE9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530" y="5393896"/>
                <a:ext cx="1864485" cy="666786"/>
              </a:xfrm>
              <a:prstGeom prst="rect">
                <a:avLst/>
              </a:prstGeom>
              <a:blipFill>
                <a:blip r:embed="rId3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c 6">
            <a:extLst>
              <a:ext uri="{FF2B5EF4-FFF2-40B4-BE49-F238E27FC236}">
                <a16:creationId xmlns:a16="http://schemas.microsoft.com/office/drawing/2014/main" id="{ECC76053-882A-954A-9138-4B804C66503D}"/>
              </a:ext>
            </a:extLst>
          </p:cNvPr>
          <p:cNvSpPr/>
          <p:nvPr/>
        </p:nvSpPr>
        <p:spPr>
          <a:xfrm>
            <a:off x="4801301" y="4331813"/>
            <a:ext cx="2100944" cy="915842"/>
          </a:xfrm>
          <a:prstGeom prst="arc">
            <a:avLst>
              <a:gd name="adj1" fmla="val 21559098"/>
              <a:gd name="adj2" fmla="val 10838052"/>
            </a:avLst>
          </a:prstGeom>
          <a:ln w="19050">
            <a:solidFill>
              <a:srgbClr val="FF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71AA10-9205-E34B-833C-28179D2CD373}"/>
              </a:ext>
            </a:extLst>
          </p:cNvPr>
          <p:cNvSpPr/>
          <p:nvPr/>
        </p:nvSpPr>
        <p:spPr>
          <a:xfrm>
            <a:off x="7492181" y="3867324"/>
            <a:ext cx="3861618" cy="1720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1371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6BDA-FBE1-EB4A-97BE-A1ACAC4F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Entropy conservation and equation of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976" y="2099387"/>
                <a:ext cx="11961844" cy="4758613"/>
              </a:xfrm>
            </p:spPr>
            <p:txBody>
              <a:bodyPr/>
              <a:lstStyle/>
              <a:p>
                <a:r>
                  <a:rPr lang="en-US" dirty="0"/>
                  <a:t>Lets look at the energy equation in the Lagrange form: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Recall the continuity equation: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thus obtain: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976" y="2099387"/>
                <a:ext cx="11961844" cy="4758613"/>
              </a:xfrm>
              <a:blipFill>
                <a:blip r:embed="rId2"/>
                <a:stretch>
                  <a:fillRect l="-743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6626AF3-4CD0-D541-82C9-896FDEBCEBDA}"/>
              </a:ext>
            </a:extLst>
          </p:cNvPr>
          <p:cNvSpPr/>
          <p:nvPr/>
        </p:nvSpPr>
        <p:spPr>
          <a:xfrm>
            <a:off x="83976" y="1297525"/>
            <a:ext cx="119618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Are the fluid equations consistent with the 2’nd law of thermodynamics?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AA9F9-FE95-2D4D-A85F-56D0C5D468C9}"/>
              </a:ext>
            </a:extLst>
          </p:cNvPr>
          <p:cNvSpPr/>
          <p:nvPr/>
        </p:nvSpPr>
        <p:spPr>
          <a:xfrm>
            <a:off x="83976" y="4866967"/>
            <a:ext cx="11409934" cy="1720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1214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6BDA-FBE1-EB4A-97BE-A1ACAC4F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Entropy conservation and equation of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976" y="2099387"/>
                <a:ext cx="11961844" cy="4758613"/>
              </a:xfrm>
            </p:spPr>
            <p:txBody>
              <a:bodyPr/>
              <a:lstStyle/>
              <a:p>
                <a:r>
                  <a:rPr lang="en-US" dirty="0"/>
                  <a:t>Lets look at the energy equation in the Lagrange form: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Recall the continuity equation: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r>
                  <a:rPr lang="en-US" dirty="0"/>
                  <a:t>We thus obtain: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976" y="2099387"/>
                <a:ext cx="11961844" cy="4758613"/>
              </a:xfrm>
              <a:blipFill>
                <a:blip r:embed="rId2"/>
                <a:stretch>
                  <a:fillRect l="-743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6626AF3-4CD0-D541-82C9-896FDEBCEBDA}"/>
              </a:ext>
            </a:extLst>
          </p:cNvPr>
          <p:cNvSpPr/>
          <p:nvPr/>
        </p:nvSpPr>
        <p:spPr>
          <a:xfrm>
            <a:off x="83976" y="1297525"/>
            <a:ext cx="119618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Are the fluid equations consistent with the 2’nd law of thermodynamics?</a:t>
            </a:r>
          </a:p>
        </p:txBody>
      </p:sp>
    </p:spTree>
    <p:extLst>
      <p:ext uri="{BB962C8B-B14F-4D97-AF65-F5344CB8AC3E}">
        <p14:creationId xmlns:p14="http://schemas.microsoft.com/office/powerpoint/2010/main" val="28777643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6BDA-FBE1-EB4A-97BE-A1ACAC4F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Entropy conservation and equation of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second law of thermodynamics states: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𝑑𝐻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𝑑𝑝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𝑇𝑑𝑆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r>
                  <a:rPr lang="en-US" dirty="0"/>
                  <a:t>Divide both sides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we get the change over time along a </a:t>
                </a:r>
                <a:r>
                  <a:rPr lang="en-US" dirty="0" err="1"/>
                  <a:t>pathline</a:t>
                </a:r>
                <a:r>
                  <a:rPr lang="en-US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the entropy per unit mass of a fluid element.</a:t>
                </a:r>
              </a:p>
              <a:p>
                <a:r>
                  <a:rPr lang="en-US" dirty="0"/>
                  <a:t>Looking at the top equation we get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  <a:blipFill>
                <a:blip r:embed="rId2"/>
                <a:stretch>
                  <a:fillRect l="-848" t="-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06854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6BDA-FBE1-EB4A-97BE-A1ACAC4F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Entropy conservation and equation of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</p:spPr>
            <p:txBody>
              <a:bodyPr/>
              <a:lstStyle/>
              <a:p>
                <a:r>
                  <a:rPr lang="en-US" dirty="0"/>
                  <a:t>Looking at the top equation we get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Since mass is conserved 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the total entropy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also conserved. </a:t>
                </a:r>
              </a:p>
              <a:p>
                <a:r>
                  <a:rPr lang="en-US" dirty="0"/>
                  <a:t>Consistent with the underlying assumption in the derivation of the energy equation of no heat exchange between the fluid element and its surroundings. </a:t>
                </a:r>
              </a:p>
              <a:p>
                <a:r>
                  <a:rPr lang="en-US" dirty="0"/>
                  <a:t>To get the Eulerian form of the entropy equation we write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  <a:blipFill>
                <a:blip r:embed="rId2"/>
                <a:stretch>
                  <a:fillRect l="-848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8C31227-18E6-7E40-92F1-C2823586B42F}"/>
                  </a:ext>
                </a:extLst>
              </p:cNvPr>
              <p:cNvSpPr/>
              <p:nvPr/>
            </p:nvSpPr>
            <p:spPr>
              <a:xfrm>
                <a:off x="4137866" y="5857275"/>
                <a:ext cx="3329951" cy="9285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8C31227-18E6-7E40-92F1-C2823586B4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866" y="5857275"/>
                <a:ext cx="3329951" cy="928524"/>
              </a:xfrm>
              <a:prstGeom prst="rect">
                <a:avLst/>
              </a:prstGeom>
              <a:blipFill>
                <a:blip r:embed="rId3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7CD4DB4-B900-BB4D-85B8-1E8B6BB98309}"/>
              </a:ext>
            </a:extLst>
          </p:cNvPr>
          <p:cNvSpPr txBox="1"/>
          <p:nvPr/>
        </p:nvSpPr>
        <p:spPr>
          <a:xfrm>
            <a:off x="2006082" y="6139468"/>
            <a:ext cx="1432636" cy="70788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entropy per</a:t>
            </a:r>
          </a:p>
          <a:p>
            <a:r>
              <a:rPr lang="en-US" sz="2000" dirty="0">
                <a:solidFill>
                  <a:srgbClr val="00B050"/>
                </a:solidFill>
              </a:rPr>
              <a:t>unit volume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6C618E-3421-4746-A1FB-C5B3AE898B80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438718" y="6251510"/>
            <a:ext cx="1095960" cy="241901"/>
          </a:xfrm>
          <a:prstGeom prst="straightConnector1">
            <a:avLst/>
          </a:prstGeom>
          <a:ln w="19050">
            <a:solidFill>
              <a:srgbClr val="00B05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C9E512D-7AB7-184B-8DEA-BEDBFB6E3A4C}"/>
              </a:ext>
            </a:extLst>
          </p:cNvPr>
          <p:cNvSpPr/>
          <p:nvPr/>
        </p:nvSpPr>
        <p:spPr>
          <a:xfrm>
            <a:off x="115078" y="4286865"/>
            <a:ext cx="11722961" cy="25711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917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6BDA-FBE1-EB4A-97BE-A1ACAC4F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Entropy conservation and equation of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</p:spPr>
            <p:txBody>
              <a:bodyPr/>
              <a:lstStyle/>
              <a:p>
                <a:r>
                  <a:rPr lang="en-US" dirty="0"/>
                  <a:t>Looking at the top equation we get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Since mass is conserved 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the total entropy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also conserved. </a:t>
                </a:r>
              </a:p>
              <a:p>
                <a:r>
                  <a:rPr lang="en-US" dirty="0"/>
                  <a:t>Consistent with the underlying assumption in the derivation of the energy equation of no heat exchange between the fluid element and its surroundings. </a:t>
                </a:r>
              </a:p>
              <a:p>
                <a:r>
                  <a:rPr lang="en-US" dirty="0"/>
                  <a:t>To get the Eulerian form of the entropy equation we write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  <a:blipFill>
                <a:blip r:embed="rId2"/>
                <a:stretch>
                  <a:fillRect l="-848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99FF87F-4D8D-BC44-8614-93223570B863}"/>
              </a:ext>
            </a:extLst>
          </p:cNvPr>
          <p:cNvSpPr/>
          <p:nvPr/>
        </p:nvSpPr>
        <p:spPr>
          <a:xfrm>
            <a:off x="7728155" y="4778477"/>
            <a:ext cx="3716593" cy="11405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582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6BDA-FBE1-EB4A-97BE-A1ACAC4F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Entropy conservation and equation of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Looking at the top equation we get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Since mass is conserved 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the total entropy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also conserved. </a:t>
                </a:r>
              </a:p>
              <a:p>
                <a:r>
                  <a:rPr lang="en-US" dirty="0"/>
                  <a:t>Consistent with the underlying assumption in the derivation of the energy equation of no heat exchange between the fluid element and its surroundings. </a:t>
                </a:r>
              </a:p>
              <a:p>
                <a:r>
                  <a:rPr lang="en-US" dirty="0"/>
                  <a:t>To get the Eulerian form of the entropy equation we write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  <a:blipFill>
                <a:blip r:embed="rId2"/>
                <a:stretch>
                  <a:fillRect l="-848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7D1E0A-68C7-E341-908D-85E78CEA6F1E}"/>
                  </a:ext>
                </a:extLst>
              </p:cNvPr>
              <p:cNvSpPr txBox="1"/>
              <p:nvPr/>
            </p:nvSpPr>
            <p:spPr>
              <a:xfrm>
                <a:off x="6830184" y="6060966"/>
                <a:ext cx="2074094" cy="61991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7D1E0A-68C7-E341-908D-85E78CEA6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184" y="6060966"/>
                <a:ext cx="2074094" cy="619913"/>
              </a:xfrm>
              <a:prstGeom prst="rect">
                <a:avLst/>
              </a:prstGeom>
              <a:blipFill>
                <a:blip r:embed="rId3"/>
                <a:stretch>
                  <a:fillRect b="-1923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07D1EA-47A2-6748-9450-FA217302B370}"/>
                  </a:ext>
                </a:extLst>
              </p:cNvPr>
              <p:cNvSpPr txBox="1"/>
              <p:nvPr/>
            </p:nvSpPr>
            <p:spPr>
              <a:xfrm>
                <a:off x="3609201" y="6060966"/>
                <a:ext cx="3001334" cy="629852"/>
              </a:xfrm>
              <a:prstGeom prst="rect">
                <a:avLst/>
              </a:prstGeom>
              <a:noFill/>
              <a:ln w="19050">
                <a:solidFill>
                  <a:srgbClr val="4472C4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07D1EA-47A2-6748-9450-FA217302B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201" y="6060966"/>
                <a:ext cx="3001334" cy="629852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  <a:ln w="1905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E37FA903-0260-5342-B69B-1B31DD6E93EF}"/>
              </a:ext>
            </a:extLst>
          </p:cNvPr>
          <p:cNvSpPr/>
          <p:nvPr/>
        </p:nvSpPr>
        <p:spPr>
          <a:xfrm>
            <a:off x="3609201" y="6038807"/>
            <a:ext cx="3001334" cy="7061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EB3ECC-D44D-3F40-9B8D-20ED312C7FB0}"/>
              </a:ext>
            </a:extLst>
          </p:cNvPr>
          <p:cNvCxnSpPr>
            <a:cxnSpLocks/>
          </p:cNvCxnSpPr>
          <p:nvPr/>
        </p:nvCxnSpPr>
        <p:spPr>
          <a:xfrm flipH="1">
            <a:off x="5122606" y="5417574"/>
            <a:ext cx="68826" cy="6212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B70FCD-9CFB-FF41-AC10-C1598F677AB6}"/>
              </a:ext>
            </a:extLst>
          </p:cNvPr>
          <p:cNvCxnSpPr>
            <a:cxnSpLocks/>
          </p:cNvCxnSpPr>
          <p:nvPr/>
        </p:nvCxnSpPr>
        <p:spPr>
          <a:xfrm>
            <a:off x="7669161" y="5417574"/>
            <a:ext cx="78659" cy="6311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8158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6BDA-FBE1-EB4A-97BE-A1ACAC4F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Entropy conservation and equation of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</p:spPr>
            <p:txBody>
              <a:bodyPr/>
              <a:lstStyle/>
              <a:p>
                <a:r>
                  <a:rPr lang="en-US" dirty="0"/>
                  <a:t>Looking at the top equation we get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Since mass is conserved 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the total entropy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also conserved. </a:t>
                </a:r>
              </a:p>
              <a:p>
                <a:r>
                  <a:rPr lang="en-US" dirty="0"/>
                  <a:t>Consistent with the underlying assumption in the derivation of the energy equation of no heat exchange between the fluid element and its surroundings. </a:t>
                </a:r>
              </a:p>
              <a:p>
                <a:r>
                  <a:rPr lang="en-US" dirty="0"/>
                  <a:t>To get the Eulerian form of the entropy equation we write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  <a:blipFill>
                <a:blip r:embed="rId2"/>
                <a:stretch>
                  <a:fillRect l="-848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8C31227-18E6-7E40-92F1-C2823586B42F}"/>
                  </a:ext>
                </a:extLst>
              </p:cNvPr>
              <p:cNvSpPr/>
              <p:nvPr/>
            </p:nvSpPr>
            <p:spPr>
              <a:xfrm>
                <a:off x="4137866" y="5857275"/>
                <a:ext cx="3329951" cy="9285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8C31227-18E6-7E40-92F1-C2823586B4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866" y="5857275"/>
                <a:ext cx="3329951" cy="928524"/>
              </a:xfrm>
              <a:prstGeom prst="rect">
                <a:avLst/>
              </a:prstGeom>
              <a:blipFill>
                <a:blip r:embed="rId3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7CD4DB4-B900-BB4D-85B8-1E8B6BB98309}"/>
              </a:ext>
            </a:extLst>
          </p:cNvPr>
          <p:cNvSpPr txBox="1"/>
          <p:nvPr/>
        </p:nvSpPr>
        <p:spPr>
          <a:xfrm>
            <a:off x="2006082" y="6139468"/>
            <a:ext cx="1432636" cy="70788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entropy per</a:t>
            </a:r>
          </a:p>
          <a:p>
            <a:r>
              <a:rPr lang="en-US" sz="2000" dirty="0">
                <a:solidFill>
                  <a:srgbClr val="00B050"/>
                </a:solidFill>
              </a:rPr>
              <a:t>unit volume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6C618E-3421-4746-A1FB-C5B3AE898B80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438718" y="6292645"/>
            <a:ext cx="798985" cy="200766"/>
          </a:xfrm>
          <a:prstGeom prst="straightConnector1">
            <a:avLst/>
          </a:prstGeom>
          <a:ln w="19050">
            <a:solidFill>
              <a:srgbClr val="00B05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9595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6BDA-FBE1-EB4A-97BE-A1ACAC4F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Entropy conservation and equation of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</p:spPr>
            <p:txBody>
              <a:bodyPr/>
              <a:lstStyle/>
              <a:p>
                <a:r>
                  <a:rPr lang="en-US" dirty="0"/>
                  <a:t>Since the entropy equation is derived from the energy and momentum equations , it can be used instead of the energy equation. </a:t>
                </a:r>
              </a:p>
              <a:p>
                <a:r>
                  <a:rPr lang="en-US" dirty="0"/>
                  <a:t>Practically it is sufficient to solve the continuity and Euler equations with an additional relation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For an ideal gas with an adiabatic index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/>
                  <a:t>, the quantity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conserved.</a:t>
                </a:r>
              </a:p>
              <a:p>
                <a:r>
                  <a:rPr lang="en-US" dirty="0"/>
                  <a:t>Taking a fluid element of volume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we get that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𝐶𝑜𝑛𝑠𝑡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   and since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we immediately get the adiabatic relation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  <a:blipFill>
                <a:blip r:embed="rId2"/>
                <a:stretch>
                  <a:fillRect l="-848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28782D-EA77-AD41-8D50-8261E52D7531}"/>
                  </a:ext>
                </a:extLst>
              </p:cNvPr>
              <p:cNvSpPr txBox="1"/>
              <p:nvPr/>
            </p:nvSpPr>
            <p:spPr>
              <a:xfrm>
                <a:off x="1052804" y="5994689"/>
                <a:ext cx="9499909" cy="83753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00B050"/>
                    </a:solidFill>
                  </a:rPr>
                  <a:t>The fluid dynamics is now described by the continuity and Euler equations, </a:t>
                </a:r>
              </a:p>
              <a:p>
                <a:pPr algn="ctr"/>
                <a:r>
                  <a:rPr lang="en-US" sz="2400" dirty="0">
                    <a:solidFill>
                      <a:srgbClr val="00B050"/>
                    </a:solidFill>
                  </a:rPr>
                  <a:t>and the relation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400" i="1" dirty="0" err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  <m:r>
                      <a:rPr lang="el-GR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. </a:t>
                </a:r>
                <a:endParaRPr lang="en-US" sz="2400" dirty="0">
                  <a:solidFill>
                    <a:srgbClr val="00B05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28782D-EA77-AD41-8D50-8261E52D7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04" y="5994689"/>
                <a:ext cx="9499909" cy="837537"/>
              </a:xfrm>
              <a:prstGeom prst="rect">
                <a:avLst/>
              </a:prstGeom>
              <a:blipFill>
                <a:blip r:embed="rId3"/>
                <a:stretch>
                  <a:fillRect l="-933" t="-4412" r="-800" b="-13235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1C80C08-DA2B-C04A-9CC9-6BC518EC8CAE}"/>
              </a:ext>
            </a:extLst>
          </p:cNvPr>
          <p:cNvSpPr/>
          <p:nvPr/>
        </p:nvSpPr>
        <p:spPr>
          <a:xfrm>
            <a:off x="115078" y="3097161"/>
            <a:ext cx="11791787" cy="3735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259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6BDA-FBE1-EB4A-97BE-A1ACAC4F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Entropy conservation and equation of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</p:spPr>
            <p:txBody>
              <a:bodyPr/>
              <a:lstStyle/>
              <a:p>
                <a:r>
                  <a:rPr lang="en-US" dirty="0"/>
                  <a:t>Since the entropy equation is derived from the energy and momentum equations , it can be used instead of the energy equation. </a:t>
                </a:r>
              </a:p>
              <a:p>
                <a:r>
                  <a:rPr lang="en-US" dirty="0"/>
                  <a:t>Practically it is sufficient to solve the continuity and Euler equations with an additional relation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For an ideal gas with an adiabatic index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/>
                  <a:t>, the quantity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conserved.</a:t>
                </a:r>
              </a:p>
              <a:p>
                <a:r>
                  <a:rPr lang="en-US" dirty="0"/>
                  <a:t>Taking a fluid element of volume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we get that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𝐶𝑜𝑛𝑠𝑡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   and since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we immediately get the adiabatic relation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A229-0F18-944B-B95F-64B0E08E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078" y="1325563"/>
                <a:ext cx="11961844" cy="5532437"/>
              </a:xfrm>
              <a:blipFill>
                <a:blip r:embed="rId2"/>
                <a:stretch>
                  <a:fillRect l="-848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28782D-EA77-AD41-8D50-8261E52D7531}"/>
                  </a:ext>
                </a:extLst>
              </p:cNvPr>
              <p:cNvSpPr txBox="1"/>
              <p:nvPr/>
            </p:nvSpPr>
            <p:spPr>
              <a:xfrm>
                <a:off x="1052804" y="5994689"/>
                <a:ext cx="9499909" cy="83753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00B050"/>
                    </a:solidFill>
                  </a:rPr>
                  <a:t>The fluid dynamics is now described by the continuity and Euler equations, </a:t>
                </a:r>
              </a:p>
              <a:p>
                <a:pPr algn="ctr"/>
                <a:r>
                  <a:rPr lang="en-US" sz="2400" dirty="0">
                    <a:solidFill>
                      <a:srgbClr val="00B050"/>
                    </a:solidFill>
                  </a:rPr>
                  <a:t>and the relation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400" i="1" dirty="0" err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  <m:r>
                      <a:rPr lang="el-GR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. </a:t>
                </a:r>
                <a:endParaRPr lang="en-US" sz="2400" dirty="0">
                  <a:solidFill>
                    <a:srgbClr val="00B05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28782D-EA77-AD41-8D50-8261E52D7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04" y="5994689"/>
                <a:ext cx="9499909" cy="837537"/>
              </a:xfrm>
              <a:prstGeom prst="rect">
                <a:avLst/>
              </a:prstGeom>
              <a:blipFill>
                <a:blip r:embed="rId3"/>
                <a:stretch>
                  <a:fillRect l="-933" t="-4412" r="-800" b="-13235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0478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55F3-7AFB-3D4B-BA27-C3FB3DC5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Bernoulli’s theorem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532C3-06C8-C24A-9001-2B9E23F4E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7763"/>
            <a:ext cx="8248261" cy="528232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The continuity equation in a steady state reduces to:</a:t>
            </a:r>
          </a:p>
          <a:p>
            <a:pPr>
              <a:lnSpc>
                <a:spcPct val="200000"/>
              </a:lnSpc>
            </a:pPr>
            <a:r>
              <a:rPr lang="en-US" dirty="0"/>
              <a:t>The energy equation reduces to:</a:t>
            </a:r>
          </a:p>
          <a:p>
            <a:pPr>
              <a:lnSpc>
                <a:spcPct val="200000"/>
              </a:lnSpc>
            </a:pPr>
            <a:r>
              <a:rPr lang="en-US" dirty="0"/>
              <a:t>From these we obtain :</a:t>
            </a:r>
          </a:p>
          <a:p>
            <a:pPr>
              <a:lnSpc>
                <a:spcPct val="150000"/>
              </a:lnSpc>
            </a:pPr>
            <a:r>
              <a:rPr lang="en-US" dirty="0"/>
              <a:t>Conclusion, the Bernoulli number,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is conserved along streamlines.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0DE0C59-ADA9-3643-A62C-E1D8283A0013}"/>
                  </a:ext>
                </a:extLst>
              </p:cNvPr>
              <p:cNvSpPr/>
              <p:nvPr/>
            </p:nvSpPr>
            <p:spPr>
              <a:xfrm>
                <a:off x="273698" y="1204734"/>
                <a:ext cx="1164460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70C0"/>
                    </a:solidFill>
                  </a:rPr>
                  <a:t>A variant energy conservation law that applies to steady, ideal flows,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8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0DE0C59-ADA9-3643-A62C-E1D8283A0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98" y="1204734"/>
                <a:ext cx="11644604" cy="523220"/>
              </a:xfrm>
              <a:prstGeom prst="rect">
                <a:avLst/>
              </a:prstGeom>
              <a:blipFill>
                <a:blip r:embed="rId2"/>
                <a:stretch>
                  <a:fillRect l="-1091" t="-126190" b="-190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0A5C999-A68B-5043-9887-60F29C6FCEA2}"/>
                  </a:ext>
                </a:extLst>
              </p:cNvPr>
              <p:cNvSpPr/>
              <p:nvPr/>
            </p:nvSpPr>
            <p:spPr>
              <a:xfrm>
                <a:off x="8758989" y="1934235"/>
                <a:ext cx="21001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0A5C999-A68B-5043-9887-60F29C6FC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9" y="1934235"/>
                <a:ext cx="2100127" cy="523220"/>
              </a:xfrm>
              <a:prstGeom prst="rect">
                <a:avLst/>
              </a:prstGeom>
              <a:blipFill>
                <a:blip r:embed="rId3"/>
                <a:stretch>
                  <a:fillRect l="-1205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6EEACB3-2342-9349-A73A-24A55802D760}"/>
                  </a:ext>
                </a:extLst>
              </p:cNvPr>
              <p:cNvSpPr/>
              <p:nvPr/>
            </p:nvSpPr>
            <p:spPr>
              <a:xfrm>
                <a:off x="6593882" y="2745120"/>
                <a:ext cx="4293227" cy="774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𝐯</m:t>
                        </m:r>
                        <m:d>
                          <m:d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6EEACB3-2342-9349-A73A-24A55802D7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882" y="2745120"/>
                <a:ext cx="4293227" cy="774892"/>
              </a:xfrm>
              <a:prstGeom prst="rect">
                <a:avLst/>
              </a:prstGeom>
              <a:blipFill>
                <a:blip r:embed="rId4"/>
                <a:stretch>
                  <a:fillRect l="-590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FE1F150-F927-6D43-9C54-D0B413372619}"/>
                  </a:ext>
                </a:extLst>
              </p:cNvPr>
              <p:cNvSpPr/>
              <p:nvPr/>
            </p:nvSpPr>
            <p:spPr>
              <a:xfrm>
                <a:off x="4124130" y="3739652"/>
                <a:ext cx="6781472" cy="774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smtClean="0">
                        <a:latin typeface="Cambria Math" panose="02040503050406030204" pitchFamily="18" charset="0"/>
                      </a:rPr>
                      <m:t>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FE1F150-F927-6D43-9C54-D0B4133726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130" y="3739652"/>
                <a:ext cx="6781472" cy="774892"/>
              </a:xfrm>
              <a:prstGeom prst="rect">
                <a:avLst/>
              </a:prstGeom>
              <a:blipFill>
                <a:blip r:embed="rId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DD6C557-8269-DA40-8D29-320B24FBF358}"/>
                  </a:ext>
                </a:extLst>
              </p:cNvPr>
              <p:cNvSpPr/>
              <p:nvPr/>
            </p:nvSpPr>
            <p:spPr>
              <a:xfrm>
                <a:off x="3945413" y="5248864"/>
                <a:ext cx="2879378" cy="954107"/>
              </a:xfrm>
              <a:prstGeom prst="rect">
                <a:avLst/>
              </a:prstGeom>
              <a:ln w="19050">
                <a:solidFill>
                  <a:srgbClr val="00B05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DD6C557-8269-DA40-8D29-320B24FBF3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413" y="5248864"/>
                <a:ext cx="2879378" cy="954107"/>
              </a:xfrm>
              <a:prstGeom prst="rect">
                <a:avLst/>
              </a:prstGeom>
              <a:blipFill>
                <a:blip r:embed="rId6"/>
                <a:stretch>
                  <a:fillRect b="-5128"/>
                </a:stretch>
              </a:blipFill>
              <a:ln w="190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5703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6322-9B29-CB4B-8D57-FE1126BA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stress tensor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012F5B-96D4-C847-9D18-BE63C536E9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79526"/>
                <a:ext cx="11353800" cy="5793078"/>
              </a:xfrm>
            </p:spPr>
            <p:txBody>
              <a:bodyPr/>
              <a:lstStyle/>
              <a:p>
                <a:r>
                  <a:rPr lang="en-US" dirty="0"/>
                  <a:t>We can write the momentum equation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012F5B-96D4-C847-9D18-BE63C536E9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79526"/>
                <a:ext cx="11353800" cy="5793078"/>
              </a:xfrm>
              <a:blipFill>
                <a:blip r:embed="rId2"/>
                <a:stretch>
                  <a:fillRect l="-895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6078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6322-9B29-CB4B-8D57-FE1126BA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stress tensor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012F5B-96D4-C847-9D18-BE63C536E9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79526"/>
                <a:ext cx="11353800" cy="5793078"/>
              </a:xfrm>
            </p:spPr>
            <p:txBody>
              <a:bodyPr/>
              <a:lstStyle/>
              <a:p>
                <a:r>
                  <a:rPr lang="en-US" dirty="0"/>
                  <a:t>We can write the momentum equation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   adding the continuity equation 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   we obtain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012F5B-96D4-C847-9D18-BE63C536E9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79526"/>
                <a:ext cx="11353800" cy="5793078"/>
              </a:xfrm>
              <a:blipFill>
                <a:blip r:embed="rId2"/>
                <a:stretch>
                  <a:fillRect l="-895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5745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6322-9B29-CB4B-8D57-FE1126BA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stress tensor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012F5B-96D4-C847-9D18-BE63C536E9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79526"/>
                <a:ext cx="11353800" cy="5793078"/>
              </a:xfrm>
            </p:spPr>
            <p:txBody>
              <a:bodyPr/>
              <a:lstStyle/>
              <a:p>
                <a:r>
                  <a:rPr lang="en-US" dirty="0"/>
                  <a:t>We can write the momentum equation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   adding the continuity equation 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   we obtain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Using Einstein’s notation we get for each vector component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012F5B-96D4-C847-9D18-BE63C536E9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79526"/>
                <a:ext cx="11353800" cy="5793078"/>
              </a:xfrm>
              <a:blipFill>
                <a:blip r:embed="rId2"/>
                <a:stretch>
                  <a:fillRect l="-895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1259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6322-9B29-CB4B-8D57-FE1126BA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stress tensor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012F5B-96D4-C847-9D18-BE63C536E9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79526"/>
                <a:ext cx="11353800" cy="5793078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This can be written as: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  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dirty="0"/>
                  <a:t> is the stress energy tensor defined as: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012F5B-96D4-C847-9D18-BE63C536E9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79526"/>
                <a:ext cx="11353800" cy="5793078"/>
              </a:xfrm>
              <a:blipFill>
                <a:blip r:embed="rId2"/>
                <a:stretch>
                  <a:fillRect l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9882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F071-0408-7D43-8096-FFCFA46930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defTabSz="91440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Part II : Sound waves</a:t>
            </a:r>
          </a:p>
        </p:txBody>
      </p:sp>
    </p:spTree>
    <p:extLst>
      <p:ext uri="{BB962C8B-B14F-4D97-AF65-F5344CB8AC3E}">
        <p14:creationId xmlns:p14="http://schemas.microsoft.com/office/powerpoint/2010/main" val="31985437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7C369-76E0-6642-9E70-1F24BF57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Sound waves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595A7F-BEFD-C94B-8655-5F9E79D43A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2127379"/>
                <a:ext cx="7856376" cy="493589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b="1" dirty="0"/>
                  <a:t>Linear waves: </a:t>
                </a:r>
                <a:r>
                  <a:rPr lang="en-US" dirty="0"/>
                  <a:t>Uniform initial state: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  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𝐯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We can transform to a frame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Add small perturbations: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𝛿𝜌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595A7F-BEFD-C94B-8655-5F9E79D43A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127379"/>
                <a:ext cx="7856376" cy="4935893"/>
              </a:xfrm>
              <a:blipFill>
                <a:blip r:embed="rId2"/>
                <a:stretch>
                  <a:fillRect l="-1292" t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2ABE2BE-DFF5-DA44-A598-6A033FC7C368}"/>
              </a:ext>
            </a:extLst>
          </p:cNvPr>
          <p:cNvSpPr/>
          <p:nvPr/>
        </p:nvSpPr>
        <p:spPr>
          <a:xfrm>
            <a:off x="0" y="1447725"/>
            <a:ext cx="7856376" cy="461665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MSS12"/>
              </a:rPr>
              <a:t>Longitudinal compression waves that propagate in the fluid </a:t>
            </a:r>
            <a:endParaRPr lang="en-US" sz="2400" dirty="0"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DE550B-7D41-E148-83B7-9EA33EE54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722" y="2263953"/>
            <a:ext cx="4974527" cy="376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225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0515600" cy="5532437"/>
              </a:xfrm>
            </p:spPr>
            <p:txBody>
              <a:bodyPr/>
              <a:lstStyle/>
              <a:p>
                <a:r>
                  <a:rPr lang="en-US" dirty="0"/>
                  <a:t>Substitute in the fluid equations:</a:t>
                </a:r>
              </a:p>
              <a:p>
                <a:pPr lvl="1"/>
                <a:r>
                  <a:rPr lang="en-US" dirty="0"/>
                  <a:t>Continuity: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0515600" cy="5532437"/>
              </a:xfrm>
              <a:blipFill>
                <a:blip r:embed="rId2"/>
                <a:stretch>
                  <a:fillRect l="-966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01291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0515600" cy="5532437"/>
              </a:xfrm>
            </p:spPr>
            <p:txBody>
              <a:bodyPr/>
              <a:lstStyle/>
              <a:p>
                <a:r>
                  <a:rPr lang="en-US" dirty="0"/>
                  <a:t>Substitute in the fluid equations:</a:t>
                </a:r>
              </a:p>
              <a:p>
                <a:pPr lvl="1"/>
                <a:r>
                  <a:rPr lang="en-US" dirty="0"/>
                  <a:t>Continuity: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𝛿𝜌𝛿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0515600" cy="5532437"/>
              </a:xfrm>
              <a:blipFill>
                <a:blip r:embed="rId2"/>
                <a:stretch>
                  <a:fillRect l="-966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2386529-FBB3-BC44-A9FF-2B39B3258DF6}"/>
              </a:ext>
            </a:extLst>
          </p:cNvPr>
          <p:cNvGrpSpPr/>
          <p:nvPr/>
        </p:nvGrpSpPr>
        <p:grpSpPr>
          <a:xfrm>
            <a:off x="6214186" y="4422718"/>
            <a:ext cx="1556004" cy="1333172"/>
            <a:chOff x="6214186" y="4422718"/>
            <a:chExt cx="1556004" cy="1333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454DEC-8958-3345-AFBE-9AC5B02CD565}"/>
                </a:ext>
              </a:extLst>
            </p:cNvPr>
            <p:cNvSpPr txBox="1"/>
            <p:nvPr/>
          </p:nvSpPr>
          <p:spPr>
            <a:xfrm>
              <a:off x="6214187" y="5355780"/>
              <a:ext cx="15560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second order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45BA12E-92F7-0C45-AF7C-087665880C9B}"/>
                </a:ext>
              </a:extLst>
            </p:cNvPr>
            <p:cNvCxnSpPr/>
            <p:nvPr/>
          </p:nvCxnSpPr>
          <p:spPr>
            <a:xfrm flipV="1">
              <a:off x="6214186" y="4422718"/>
              <a:ext cx="1556003" cy="7184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Left Brace 20">
              <a:extLst>
                <a:ext uri="{FF2B5EF4-FFF2-40B4-BE49-F238E27FC236}">
                  <a16:creationId xmlns:a16="http://schemas.microsoft.com/office/drawing/2014/main" id="{FFF189B9-788E-2F4A-B208-2359A2C4FBBD}"/>
                </a:ext>
              </a:extLst>
            </p:cNvPr>
            <p:cNvSpPr/>
            <p:nvPr/>
          </p:nvSpPr>
          <p:spPr>
            <a:xfrm rot="16200000">
              <a:off x="6924618" y="4510207"/>
              <a:ext cx="135140" cy="1556003"/>
            </a:xfrm>
            <a:prstGeom prst="leftBrace">
              <a:avLst>
                <a:gd name="adj1" fmla="val 51590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4995E06-6F6D-4C44-965C-ABEADCF45FE8}"/>
              </a:ext>
            </a:extLst>
          </p:cNvPr>
          <p:cNvGrpSpPr/>
          <p:nvPr/>
        </p:nvGrpSpPr>
        <p:grpSpPr>
          <a:xfrm>
            <a:off x="1779878" y="4422718"/>
            <a:ext cx="1084656" cy="1265602"/>
            <a:chOff x="1779878" y="4422718"/>
            <a:chExt cx="1084656" cy="126560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7AB4E0-9F40-7841-A1FC-1FD8CBF2FBC5}"/>
                </a:ext>
              </a:extLst>
            </p:cNvPr>
            <p:cNvSpPr txBox="1"/>
            <p:nvPr/>
          </p:nvSpPr>
          <p:spPr>
            <a:xfrm>
              <a:off x="1779878" y="5288210"/>
              <a:ext cx="10846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constant</a:t>
              </a:r>
            </a:p>
          </p:txBody>
        </p:sp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D9780181-5829-5F41-B247-C19121695D50}"/>
                </a:ext>
              </a:extLst>
            </p:cNvPr>
            <p:cNvSpPr/>
            <p:nvPr/>
          </p:nvSpPr>
          <p:spPr>
            <a:xfrm rot="16200000">
              <a:off x="2205780" y="4911664"/>
              <a:ext cx="135142" cy="753092"/>
            </a:xfrm>
            <a:prstGeom prst="leftBrace">
              <a:avLst>
                <a:gd name="adj1" fmla="val 51590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D1EB757-0FB7-6946-9113-B590AE0B5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2772" y="4422718"/>
              <a:ext cx="737125" cy="7184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254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0515600" cy="5532437"/>
              </a:xfrm>
            </p:spPr>
            <p:txBody>
              <a:bodyPr/>
              <a:lstStyle/>
              <a:p>
                <a:r>
                  <a:rPr lang="en-US" dirty="0"/>
                  <a:t>Substitute in the fluid equations:</a:t>
                </a:r>
              </a:p>
              <a:p>
                <a:pPr lvl="1"/>
                <a:r>
                  <a:rPr lang="en-US" dirty="0"/>
                  <a:t>Euler: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0515600" cy="5532437"/>
              </a:xfrm>
              <a:blipFill>
                <a:blip r:embed="rId2"/>
                <a:stretch>
                  <a:fillRect l="-966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4559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0515600" cy="5532437"/>
              </a:xfrm>
            </p:spPr>
            <p:txBody>
              <a:bodyPr/>
              <a:lstStyle/>
              <a:p>
                <a:r>
                  <a:rPr lang="en-US" dirty="0"/>
                  <a:t>Substitute in the fluid equations:</a:t>
                </a:r>
              </a:p>
              <a:p>
                <a:pPr lvl="1"/>
                <a:r>
                  <a:rPr lang="en-US" dirty="0"/>
                  <a:t>Euler: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0515600" cy="5532437"/>
              </a:xfrm>
              <a:blipFill>
                <a:blip r:embed="rId2"/>
                <a:stretch>
                  <a:fillRect l="-966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015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0515600" cy="5532437"/>
              </a:xfrm>
            </p:spPr>
            <p:txBody>
              <a:bodyPr/>
              <a:lstStyle/>
              <a:p>
                <a:r>
                  <a:rPr lang="en-US" dirty="0"/>
                  <a:t>Substitute in the fluid equations:</a:t>
                </a:r>
              </a:p>
              <a:p>
                <a:pPr lvl="1"/>
                <a:r>
                  <a:rPr lang="en-US" dirty="0"/>
                  <a:t>Euler: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𝛿𝜌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0515600" cy="5532437"/>
              </a:xfrm>
              <a:blipFill>
                <a:blip r:embed="rId2"/>
                <a:stretch>
                  <a:fillRect l="-966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c 3">
            <a:extLst>
              <a:ext uri="{FF2B5EF4-FFF2-40B4-BE49-F238E27FC236}">
                <a16:creationId xmlns:a16="http://schemas.microsoft.com/office/drawing/2014/main" id="{08A35581-0206-824C-8027-31C1C060A46F}"/>
              </a:ext>
            </a:extLst>
          </p:cNvPr>
          <p:cNvSpPr/>
          <p:nvPr/>
        </p:nvSpPr>
        <p:spPr>
          <a:xfrm>
            <a:off x="6376957" y="3825944"/>
            <a:ext cx="569768" cy="867125"/>
          </a:xfrm>
          <a:prstGeom prst="arc">
            <a:avLst>
              <a:gd name="adj1" fmla="val 17299583"/>
              <a:gd name="adj2" fmla="val 3976682"/>
            </a:avLst>
          </a:prstGeom>
          <a:ln w="28575">
            <a:solidFill>
              <a:srgbClr val="4472C4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7B694-FAA5-1E4F-BD17-EFAF90627C80}"/>
              </a:ext>
            </a:extLst>
          </p:cNvPr>
          <p:cNvSpPr txBox="1"/>
          <p:nvPr/>
        </p:nvSpPr>
        <p:spPr>
          <a:xfrm>
            <a:off x="6946725" y="4028673"/>
            <a:ext cx="932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4472C4"/>
                </a:solidFill>
              </a:rPr>
              <a:t>Taylor</a:t>
            </a:r>
          </a:p>
        </p:txBody>
      </p:sp>
    </p:spTree>
    <p:extLst>
      <p:ext uri="{BB962C8B-B14F-4D97-AF65-F5344CB8AC3E}">
        <p14:creationId xmlns:p14="http://schemas.microsoft.com/office/powerpoint/2010/main" val="34098629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0515600" cy="5532437"/>
              </a:xfrm>
            </p:spPr>
            <p:txBody>
              <a:bodyPr/>
              <a:lstStyle/>
              <a:p>
                <a:r>
                  <a:rPr lang="en-US" dirty="0"/>
                  <a:t>Substitute in the fluid equations:</a:t>
                </a:r>
              </a:p>
              <a:p>
                <a:pPr lvl="1"/>
                <a:r>
                  <a:rPr lang="en-US" dirty="0"/>
                  <a:t>Euler: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0515600" cy="5532437"/>
              </a:xfrm>
              <a:blipFill>
                <a:blip r:embed="rId2"/>
                <a:stretch>
                  <a:fillRect l="-966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D5C3D886-02D4-2148-AC24-39D653C67A51}"/>
              </a:ext>
            </a:extLst>
          </p:cNvPr>
          <p:cNvGrpSpPr/>
          <p:nvPr/>
        </p:nvGrpSpPr>
        <p:grpSpPr>
          <a:xfrm>
            <a:off x="5627352" y="4521058"/>
            <a:ext cx="1613711" cy="1595410"/>
            <a:chOff x="5627352" y="3728578"/>
            <a:chExt cx="1613711" cy="15954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7AB4E0-9F40-7841-A1FC-1FD8CBF2FBC5}"/>
                </a:ext>
              </a:extLst>
            </p:cNvPr>
            <p:cNvSpPr txBox="1"/>
            <p:nvPr/>
          </p:nvSpPr>
          <p:spPr>
            <a:xfrm>
              <a:off x="5627352" y="4923878"/>
              <a:ext cx="16137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second order </a:t>
              </a:r>
            </a:p>
          </p:txBody>
        </p:sp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D9780181-5829-5F41-B247-C19121695D50}"/>
                </a:ext>
              </a:extLst>
            </p:cNvPr>
            <p:cNvSpPr/>
            <p:nvPr/>
          </p:nvSpPr>
          <p:spPr>
            <a:xfrm rot="16200000">
              <a:off x="6620256" y="4565620"/>
              <a:ext cx="106631" cy="609885"/>
            </a:xfrm>
            <a:prstGeom prst="leftBrace">
              <a:avLst>
                <a:gd name="adj1" fmla="val 51590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D1EB757-0FB7-6946-9113-B590AE0B5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4208" y="3728578"/>
              <a:ext cx="544306" cy="10363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B32A16-4CBA-9E46-A47E-8D33701D803F}"/>
              </a:ext>
            </a:extLst>
          </p:cNvPr>
          <p:cNvGrpSpPr/>
          <p:nvPr/>
        </p:nvGrpSpPr>
        <p:grpSpPr>
          <a:xfrm>
            <a:off x="2935881" y="4680006"/>
            <a:ext cx="1563901" cy="1436462"/>
            <a:chOff x="2935881" y="3887526"/>
            <a:chExt cx="1563901" cy="143646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454DEC-8958-3345-AFBE-9AC5B02CD565}"/>
                </a:ext>
              </a:extLst>
            </p:cNvPr>
            <p:cNvSpPr txBox="1"/>
            <p:nvPr/>
          </p:nvSpPr>
          <p:spPr>
            <a:xfrm>
              <a:off x="2943779" y="4923878"/>
              <a:ext cx="15560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second order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9373FF6-3194-E849-BE11-25886902D574}"/>
                </a:ext>
              </a:extLst>
            </p:cNvPr>
            <p:cNvCxnSpPr/>
            <p:nvPr/>
          </p:nvCxnSpPr>
          <p:spPr>
            <a:xfrm flipV="1">
              <a:off x="2935883" y="3887526"/>
              <a:ext cx="1556003" cy="7184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Left Brace 14">
              <a:extLst>
                <a:ext uri="{FF2B5EF4-FFF2-40B4-BE49-F238E27FC236}">
                  <a16:creationId xmlns:a16="http://schemas.microsoft.com/office/drawing/2014/main" id="{174B03FF-9CDE-C742-9E71-E5833EDB2BC8}"/>
                </a:ext>
              </a:extLst>
            </p:cNvPr>
            <p:cNvSpPr/>
            <p:nvPr/>
          </p:nvSpPr>
          <p:spPr>
            <a:xfrm rot="16200000">
              <a:off x="3646313" y="4078306"/>
              <a:ext cx="135140" cy="1556003"/>
            </a:xfrm>
            <a:prstGeom prst="leftBrace">
              <a:avLst>
                <a:gd name="adj1" fmla="val 51590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38CC69-FE7B-684F-9FC0-B5CDF386B7FE}"/>
              </a:ext>
            </a:extLst>
          </p:cNvPr>
          <p:cNvGrpSpPr/>
          <p:nvPr/>
        </p:nvGrpSpPr>
        <p:grpSpPr>
          <a:xfrm>
            <a:off x="7241063" y="4785982"/>
            <a:ext cx="1084656" cy="1330486"/>
            <a:chOff x="7241063" y="3993502"/>
            <a:chExt cx="1084656" cy="133048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45BA12E-92F7-0C45-AF7C-087665880C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400" y="3993502"/>
              <a:ext cx="518653" cy="61248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Left Brace 20">
              <a:extLst>
                <a:ext uri="{FF2B5EF4-FFF2-40B4-BE49-F238E27FC236}">
                  <a16:creationId xmlns:a16="http://schemas.microsoft.com/office/drawing/2014/main" id="{FFF189B9-788E-2F4A-B208-2359A2C4FBBD}"/>
                </a:ext>
              </a:extLst>
            </p:cNvPr>
            <p:cNvSpPr/>
            <p:nvPr/>
          </p:nvSpPr>
          <p:spPr>
            <a:xfrm rot="16200000">
              <a:off x="7568589" y="4673413"/>
              <a:ext cx="109646" cy="391288"/>
            </a:xfrm>
            <a:prstGeom prst="leftBrace">
              <a:avLst>
                <a:gd name="adj1" fmla="val 51590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420794-93AA-3F48-8B4F-AF73FBAE2971}"/>
                </a:ext>
              </a:extLst>
            </p:cNvPr>
            <p:cNvSpPr txBox="1"/>
            <p:nvPr/>
          </p:nvSpPr>
          <p:spPr>
            <a:xfrm>
              <a:off x="7241063" y="4923878"/>
              <a:ext cx="10846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constant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932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The fluid equations for the disturbances: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35320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The fluid equations for the disturbances: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Adding the adiabatic relation,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𝛿𝜌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A37A497F-7982-B249-9B97-4B85083329EC}"/>
              </a:ext>
            </a:extLst>
          </p:cNvPr>
          <p:cNvGrpSpPr/>
          <p:nvPr/>
        </p:nvGrpSpPr>
        <p:grpSpPr>
          <a:xfrm>
            <a:off x="4682895" y="5532611"/>
            <a:ext cx="766557" cy="829626"/>
            <a:chOff x="3841647" y="5532611"/>
            <a:chExt cx="766557" cy="82962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C36141C-7B75-804D-8904-2F0F58F29E76}"/>
                </a:ext>
              </a:extLst>
            </p:cNvPr>
            <p:cNvSpPr txBox="1"/>
            <p:nvPr/>
          </p:nvSpPr>
          <p:spPr>
            <a:xfrm>
              <a:off x="3841647" y="5654351"/>
              <a:ext cx="76655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initial</a:t>
              </a:r>
            </a:p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state</a:t>
              </a:r>
            </a:p>
          </p:txBody>
        </p:sp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8D8A9C24-0099-6847-930E-C3E81884162B}"/>
                </a:ext>
              </a:extLst>
            </p:cNvPr>
            <p:cNvSpPr/>
            <p:nvPr/>
          </p:nvSpPr>
          <p:spPr>
            <a:xfrm rot="16200000">
              <a:off x="4129791" y="5361428"/>
              <a:ext cx="121740" cy="464105"/>
            </a:xfrm>
            <a:prstGeom prst="leftBrace">
              <a:avLst>
                <a:gd name="adj1" fmla="val 51590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5FE2F1-04FE-EC4F-97E6-38D5D29E5453}"/>
              </a:ext>
            </a:extLst>
          </p:cNvPr>
          <p:cNvGrpSpPr/>
          <p:nvPr/>
        </p:nvGrpSpPr>
        <p:grpSpPr>
          <a:xfrm>
            <a:off x="5634944" y="5530833"/>
            <a:ext cx="1803050" cy="831404"/>
            <a:chOff x="4793696" y="5530833"/>
            <a:chExt cx="1803050" cy="831404"/>
          </a:xfrm>
        </p:grpSpPr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249C96A5-9742-5C40-8399-1E74D789DC21}"/>
                </a:ext>
              </a:extLst>
            </p:cNvPr>
            <p:cNvSpPr/>
            <p:nvPr/>
          </p:nvSpPr>
          <p:spPr>
            <a:xfrm rot="16200000">
              <a:off x="5633462" y="4691067"/>
              <a:ext cx="123517" cy="1803050"/>
            </a:xfrm>
            <a:prstGeom prst="leftBrace">
              <a:avLst>
                <a:gd name="adj1" fmla="val 51590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5C4322E-EA45-8546-8025-8EFD63D514D7}"/>
                </a:ext>
              </a:extLst>
            </p:cNvPr>
            <p:cNvSpPr txBox="1"/>
            <p:nvPr/>
          </p:nvSpPr>
          <p:spPr>
            <a:xfrm>
              <a:off x="5102589" y="5654351"/>
              <a:ext cx="118526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disturbed</a:t>
              </a:r>
            </a:p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state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6360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The fluid equations for the disturbances: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Adding the adiabatic relation,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𝛿𝜌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 b="-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62217D9-0B2B-A647-99A7-E8AC6037CE04}"/>
              </a:ext>
            </a:extLst>
          </p:cNvPr>
          <p:cNvSpPr txBox="1"/>
          <p:nvPr/>
        </p:nvSpPr>
        <p:spPr>
          <a:xfrm>
            <a:off x="111301" y="6064536"/>
            <a:ext cx="1014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Taylor: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33412C-177E-8C4E-AF7C-B564BEDBE5A7}"/>
              </a:ext>
            </a:extLst>
          </p:cNvPr>
          <p:cNvSpPr/>
          <p:nvPr/>
        </p:nvSpPr>
        <p:spPr>
          <a:xfrm>
            <a:off x="5751871" y="5761703"/>
            <a:ext cx="5309419" cy="1096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265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The fluid equations for the disturbances: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Adding the adiabatic relation,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𝛿𝜌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 b="-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218C8D04-481D-C241-83F7-B704C370FAE8}"/>
              </a:ext>
            </a:extLst>
          </p:cNvPr>
          <p:cNvSpPr txBox="1"/>
          <p:nvPr/>
        </p:nvSpPr>
        <p:spPr>
          <a:xfrm>
            <a:off x="111301" y="6064536"/>
            <a:ext cx="1014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Taylor:</a:t>
            </a:r>
          </a:p>
        </p:txBody>
      </p:sp>
    </p:spTree>
    <p:extLst>
      <p:ext uri="{BB962C8B-B14F-4D97-AF65-F5344CB8AC3E}">
        <p14:creationId xmlns:p14="http://schemas.microsoft.com/office/powerpoint/2010/main" val="35659503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The fluid equations for the disturbances: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Adding the adiabatic relation,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𝛿𝜌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sup>
                          </m:sSubSup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 b="-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993BC12-8F06-8D47-ABB9-EBC63A61D3FA}"/>
                  </a:ext>
                </a:extLst>
              </p:cNvPr>
              <p:cNvSpPr/>
              <p:nvPr/>
            </p:nvSpPr>
            <p:spPr>
              <a:xfrm>
                <a:off x="9142327" y="4301321"/>
                <a:ext cx="2137765" cy="9730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𝛿𝜌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993BC12-8F06-8D47-ABB9-EBC63A61D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327" y="4301321"/>
                <a:ext cx="2137765" cy="973023"/>
              </a:xfrm>
              <a:prstGeom prst="rect">
                <a:avLst/>
              </a:prstGeom>
              <a:blipFill>
                <a:blip r:embed="rId3"/>
                <a:stretch>
                  <a:fillRect l="-1786" r="-595"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1BEFC4-1067-B941-920D-CAC893E4B61C}"/>
                  </a:ext>
                </a:extLst>
              </p:cNvPr>
              <p:cNvSpPr txBox="1"/>
              <p:nvPr/>
            </p:nvSpPr>
            <p:spPr>
              <a:xfrm>
                <a:off x="7622415" y="4623011"/>
                <a:ext cx="689612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1BEFC4-1067-B941-920D-CAC893E4B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415" y="4623011"/>
                <a:ext cx="6896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A06827-6C9B-1549-B75F-48D6024AC893}"/>
                  </a:ext>
                </a:extLst>
              </p:cNvPr>
              <p:cNvSpPr txBox="1"/>
              <p:nvPr/>
            </p:nvSpPr>
            <p:spPr>
              <a:xfrm rot="19270888">
                <a:off x="8797521" y="5244724"/>
                <a:ext cx="689612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A06827-6C9B-1549-B75F-48D6024AC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70888">
                <a:off x="8797521" y="5244724"/>
                <a:ext cx="68961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1C220A-2652-624E-B950-C37DB618027E}"/>
              </a:ext>
            </a:extLst>
          </p:cNvPr>
          <p:cNvCxnSpPr/>
          <p:nvPr/>
        </p:nvCxnSpPr>
        <p:spPr>
          <a:xfrm>
            <a:off x="7482549" y="6578077"/>
            <a:ext cx="53253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8BA5E1-C593-1E40-9089-2CE375A830C2}"/>
              </a:ext>
            </a:extLst>
          </p:cNvPr>
          <p:cNvCxnSpPr/>
          <p:nvPr/>
        </p:nvCxnSpPr>
        <p:spPr>
          <a:xfrm>
            <a:off x="9218915" y="5149342"/>
            <a:ext cx="53253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499E72-ED6A-5B42-835F-1B482C05090B}"/>
              </a:ext>
            </a:extLst>
          </p:cNvPr>
          <p:cNvCxnSpPr>
            <a:cxnSpLocks/>
          </p:cNvCxnSpPr>
          <p:nvPr/>
        </p:nvCxnSpPr>
        <p:spPr>
          <a:xfrm>
            <a:off x="10201740" y="5371135"/>
            <a:ext cx="103232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01C3C7-C437-2944-8183-D0227FA654FC}"/>
              </a:ext>
            </a:extLst>
          </p:cNvPr>
          <p:cNvCxnSpPr>
            <a:cxnSpLocks/>
          </p:cNvCxnSpPr>
          <p:nvPr/>
        </p:nvCxnSpPr>
        <p:spPr>
          <a:xfrm>
            <a:off x="8353329" y="6764506"/>
            <a:ext cx="103232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E2ED49-6A27-B543-8BD6-F62A167AFF48}"/>
              </a:ext>
            </a:extLst>
          </p:cNvPr>
          <p:cNvCxnSpPr>
            <a:cxnSpLocks/>
          </p:cNvCxnSpPr>
          <p:nvPr/>
        </p:nvCxnSpPr>
        <p:spPr>
          <a:xfrm flipV="1">
            <a:off x="9735049" y="5738327"/>
            <a:ext cx="1164282" cy="10261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1766299-BFE9-AC49-8B9A-8A9E20058219}"/>
              </a:ext>
            </a:extLst>
          </p:cNvPr>
          <p:cNvSpPr/>
          <p:nvPr/>
        </p:nvSpPr>
        <p:spPr>
          <a:xfrm>
            <a:off x="6125544" y="5802103"/>
            <a:ext cx="1007605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75AA97-5098-DE48-B807-157C59C14AE3}"/>
              </a:ext>
            </a:extLst>
          </p:cNvPr>
          <p:cNvSpPr/>
          <p:nvPr/>
        </p:nvSpPr>
        <p:spPr>
          <a:xfrm>
            <a:off x="1202141" y="5802103"/>
            <a:ext cx="503803" cy="1018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8C8D04-481D-C241-83F7-B704C370FAE8}"/>
              </a:ext>
            </a:extLst>
          </p:cNvPr>
          <p:cNvSpPr txBox="1"/>
          <p:nvPr/>
        </p:nvSpPr>
        <p:spPr>
          <a:xfrm>
            <a:off x="111301" y="6064536"/>
            <a:ext cx="1014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Taylor: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5BACF7-33A5-6D44-BC34-2932E338B2D0}"/>
              </a:ext>
            </a:extLst>
          </p:cNvPr>
          <p:cNvCxnSpPr>
            <a:cxnSpLocks/>
          </p:cNvCxnSpPr>
          <p:nvPr/>
        </p:nvCxnSpPr>
        <p:spPr>
          <a:xfrm>
            <a:off x="8353329" y="6835336"/>
            <a:ext cx="103232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C8353B-0516-5B4F-AFED-B013BF5017FB}"/>
              </a:ext>
            </a:extLst>
          </p:cNvPr>
          <p:cNvCxnSpPr>
            <a:cxnSpLocks/>
          </p:cNvCxnSpPr>
          <p:nvPr/>
        </p:nvCxnSpPr>
        <p:spPr>
          <a:xfrm>
            <a:off x="10201740" y="5451900"/>
            <a:ext cx="103232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ADB9CC-413F-3A4B-A747-70CC92A50913}"/>
              </a:ext>
            </a:extLst>
          </p:cNvPr>
          <p:cNvCxnSpPr>
            <a:cxnSpLocks/>
          </p:cNvCxnSpPr>
          <p:nvPr/>
        </p:nvCxnSpPr>
        <p:spPr>
          <a:xfrm flipV="1">
            <a:off x="6662906" y="5802102"/>
            <a:ext cx="397754" cy="9620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2290E8-08FE-4C4C-A4CB-C12C3C8C999B}"/>
              </a:ext>
            </a:extLst>
          </p:cNvPr>
          <p:cNvCxnSpPr>
            <a:cxnSpLocks/>
          </p:cNvCxnSpPr>
          <p:nvPr/>
        </p:nvCxnSpPr>
        <p:spPr>
          <a:xfrm flipV="1">
            <a:off x="1236726" y="5830342"/>
            <a:ext cx="397754" cy="9620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4716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Differentiating again in </a:t>
                </a:r>
                <a:r>
                  <a:rPr lang="en-US" dirty="0">
                    <a:solidFill>
                      <a:srgbClr val="FF0000"/>
                    </a:solidFill>
                  </a:rPr>
                  <a:t>time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0327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Differentiating again in </a:t>
                </a:r>
                <a:r>
                  <a:rPr lang="en-US" dirty="0">
                    <a:solidFill>
                      <a:srgbClr val="FF0000"/>
                    </a:solidFill>
                  </a:rPr>
                  <a:t>time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3744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Differentiating again in time and in </a:t>
                </a:r>
                <a:r>
                  <a:rPr lang="en-US" dirty="0">
                    <a:solidFill>
                      <a:srgbClr val="4472C4"/>
                    </a:solidFill>
                  </a:rPr>
                  <a:t>space</a:t>
                </a:r>
                <a:r>
                  <a:rPr lang="en-US" dirty="0"/>
                  <a:t>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b="0" i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37953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Differentiating again in time and in space: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Multiplying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subtracting: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567C5F-0DAB-2A44-9141-9372911FD2C5}"/>
                  </a:ext>
                </a:extLst>
              </p:cNvPr>
              <p:cNvSpPr txBox="1"/>
              <p:nvPr/>
            </p:nvSpPr>
            <p:spPr>
              <a:xfrm>
                <a:off x="3433665" y="2621902"/>
                <a:ext cx="58381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567C5F-0DAB-2A44-9141-9372911FD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665" y="2621902"/>
                <a:ext cx="58381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28F5A5-87E7-B04E-8430-6046F5E14B1D}"/>
                  </a:ext>
                </a:extLst>
              </p:cNvPr>
              <p:cNvSpPr txBox="1"/>
              <p:nvPr/>
            </p:nvSpPr>
            <p:spPr>
              <a:xfrm>
                <a:off x="3725572" y="3032449"/>
                <a:ext cx="6241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28F5A5-87E7-B04E-8430-6046F5E14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572" y="3032449"/>
                <a:ext cx="624145" cy="523220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B5B5F3-B836-2A45-A90A-3F574C5CC7BA}"/>
              </a:ext>
            </a:extLst>
          </p:cNvPr>
          <p:cNvCxnSpPr>
            <a:cxnSpLocks/>
          </p:cNvCxnSpPr>
          <p:nvPr/>
        </p:nvCxnSpPr>
        <p:spPr>
          <a:xfrm flipV="1">
            <a:off x="5781368" y="2914289"/>
            <a:ext cx="314632" cy="95962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4113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Differentiating again in time and in space: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Multiplying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subtracting 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567C5F-0DAB-2A44-9141-9372911FD2C5}"/>
                  </a:ext>
                </a:extLst>
              </p:cNvPr>
              <p:cNvSpPr txBox="1"/>
              <p:nvPr/>
            </p:nvSpPr>
            <p:spPr>
              <a:xfrm>
                <a:off x="3433665" y="2621902"/>
                <a:ext cx="58381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567C5F-0DAB-2A44-9141-9372911FD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665" y="2621902"/>
                <a:ext cx="58381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9F53830-FE6A-654E-85D0-C47CD41E8192}"/>
              </a:ext>
            </a:extLst>
          </p:cNvPr>
          <p:cNvSpPr/>
          <p:nvPr/>
        </p:nvSpPr>
        <p:spPr>
          <a:xfrm>
            <a:off x="5701004" y="2845837"/>
            <a:ext cx="447869" cy="10543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28F5A5-87E7-B04E-8430-6046F5E14B1D}"/>
                  </a:ext>
                </a:extLst>
              </p:cNvPr>
              <p:cNvSpPr txBox="1"/>
              <p:nvPr/>
            </p:nvSpPr>
            <p:spPr>
              <a:xfrm>
                <a:off x="3725572" y="3032449"/>
                <a:ext cx="6241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28F5A5-87E7-B04E-8430-6046F5E14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572" y="3032449"/>
                <a:ext cx="624145" cy="523220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81AEAD-CBD4-074C-AA81-F6C30C043E46}"/>
              </a:ext>
            </a:extLst>
          </p:cNvPr>
          <p:cNvCxnSpPr>
            <a:cxnSpLocks/>
          </p:cNvCxnSpPr>
          <p:nvPr/>
        </p:nvCxnSpPr>
        <p:spPr>
          <a:xfrm>
            <a:off x="3725572" y="3785332"/>
            <a:ext cx="164284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1D9E8B-8D84-C34B-B1A0-BBE4A2E4CC09}"/>
              </a:ext>
            </a:extLst>
          </p:cNvPr>
          <p:cNvCxnSpPr>
            <a:cxnSpLocks/>
          </p:cNvCxnSpPr>
          <p:nvPr/>
        </p:nvCxnSpPr>
        <p:spPr>
          <a:xfrm>
            <a:off x="5460966" y="2621902"/>
            <a:ext cx="19132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9938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Differentiating again in time and in space: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Multiplying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subtracting 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567C5F-0DAB-2A44-9141-9372911FD2C5}"/>
                  </a:ext>
                </a:extLst>
              </p:cNvPr>
              <p:cNvSpPr txBox="1"/>
              <p:nvPr/>
            </p:nvSpPr>
            <p:spPr>
              <a:xfrm>
                <a:off x="3433665" y="2621902"/>
                <a:ext cx="58381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567C5F-0DAB-2A44-9141-9372911FD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665" y="2621902"/>
                <a:ext cx="58381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9F53830-FE6A-654E-85D0-C47CD41E8192}"/>
              </a:ext>
            </a:extLst>
          </p:cNvPr>
          <p:cNvSpPr/>
          <p:nvPr/>
        </p:nvSpPr>
        <p:spPr>
          <a:xfrm>
            <a:off x="5701004" y="2845837"/>
            <a:ext cx="447869" cy="10543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28F5A5-87E7-B04E-8430-6046F5E14B1D}"/>
                  </a:ext>
                </a:extLst>
              </p:cNvPr>
              <p:cNvSpPr txBox="1"/>
              <p:nvPr/>
            </p:nvSpPr>
            <p:spPr>
              <a:xfrm>
                <a:off x="3725572" y="3032449"/>
                <a:ext cx="6241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28F5A5-87E7-B04E-8430-6046F5E14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572" y="3032449"/>
                <a:ext cx="624145" cy="523220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8E0F15C-F92F-2D4F-A8A4-32F1594B44AE}"/>
                  </a:ext>
                </a:extLst>
              </p:cNvPr>
              <p:cNvSpPr/>
              <p:nvPr/>
            </p:nvSpPr>
            <p:spPr>
              <a:xfrm>
                <a:off x="7531526" y="6010894"/>
                <a:ext cx="1580946" cy="721416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𝛿𝜌</m:t>
                      </m:r>
                    </m:oMath>
                  </m:oMathPara>
                </a14:m>
                <a:endParaRPr 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8E0F15C-F92F-2D4F-A8A4-32F1594B44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26" y="6010894"/>
                <a:ext cx="1580946" cy="721416"/>
              </a:xfrm>
              <a:prstGeom prst="rect">
                <a:avLst/>
              </a:prstGeom>
              <a:blipFill>
                <a:blip r:embed="rId5"/>
                <a:stretch>
                  <a:fillRect b="-1695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2B0887-08AE-2A4B-B06F-B152AF68E8FA}"/>
              </a:ext>
            </a:extLst>
          </p:cNvPr>
          <p:cNvCxnSpPr/>
          <p:nvPr/>
        </p:nvCxnSpPr>
        <p:spPr>
          <a:xfrm flipH="1" flipV="1">
            <a:off x="6754368" y="5669280"/>
            <a:ext cx="755904" cy="329184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1761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Differentiating again in time and in space: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Multiplying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subtracting 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567C5F-0DAB-2A44-9141-9372911FD2C5}"/>
                  </a:ext>
                </a:extLst>
              </p:cNvPr>
              <p:cNvSpPr txBox="1"/>
              <p:nvPr/>
            </p:nvSpPr>
            <p:spPr>
              <a:xfrm>
                <a:off x="3433665" y="2621902"/>
                <a:ext cx="58381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567C5F-0DAB-2A44-9141-9372911FD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665" y="2621902"/>
                <a:ext cx="58381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9F53830-FE6A-654E-85D0-C47CD41E8192}"/>
              </a:ext>
            </a:extLst>
          </p:cNvPr>
          <p:cNvSpPr/>
          <p:nvPr/>
        </p:nvSpPr>
        <p:spPr>
          <a:xfrm>
            <a:off x="5701004" y="2845837"/>
            <a:ext cx="447869" cy="10543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28F5A5-87E7-B04E-8430-6046F5E14B1D}"/>
                  </a:ext>
                </a:extLst>
              </p:cNvPr>
              <p:cNvSpPr txBox="1"/>
              <p:nvPr/>
            </p:nvSpPr>
            <p:spPr>
              <a:xfrm>
                <a:off x="3725572" y="3032449"/>
                <a:ext cx="6241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28F5A5-87E7-B04E-8430-6046F5E14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572" y="3032449"/>
                <a:ext cx="624145" cy="523220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01204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277-F23B-1B4C-A50B-8773BC31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wave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Define the sound speed: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dirty="0"/>
                  <a:t> and obtain the sound wave equation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𝛿𝜌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𝛿𝜌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606E39-DDEB-8E48-BD1C-65EAC145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5049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9B3C-AD8A-274A-93D2-DE673F0C1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Mach number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A5E098-AA1C-FE45-8BE1-268EACF9B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8964"/>
                <a:ext cx="10515600" cy="3115500"/>
              </a:xfrm>
            </p:spPr>
            <p:txBody>
              <a:bodyPr/>
              <a:lstStyle/>
              <a:p>
                <a:r>
                  <a:rPr lang="en-US" dirty="0"/>
                  <a:t>Sound waves propagate at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relative to the local fluid frame. </a:t>
                </a:r>
              </a:p>
              <a:p>
                <a:r>
                  <a:rPr lang="en-US" b="1" dirty="0"/>
                  <a:t>Mach number</a:t>
                </a:r>
                <a:r>
                  <a:rPr lang="en-US" dirty="0"/>
                  <a:t>: The ratio between flow velocity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effectLst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There are two distinct regimes of fluid motion: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A5E098-AA1C-FE45-8BE1-268EACF9B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8964"/>
                <a:ext cx="10515600" cy="3115500"/>
              </a:xfrm>
              <a:blipFill>
                <a:blip r:embed="rId2"/>
                <a:stretch>
                  <a:fillRect l="-965" t="-3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DB1BF8-68F8-B44F-A3C4-2C6CD346EDC3}"/>
                  </a:ext>
                </a:extLst>
              </p:cNvPr>
              <p:cNvSpPr txBox="1"/>
              <p:nvPr/>
            </p:nvSpPr>
            <p:spPr>
              <a:xfrm>
                <a:off x="1616808" y="4474464"/>
                <a:ext cx="7741795" cy="2123658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800" b="1" dirty="0"/>
                  <a:t>Subsonic flows: </a:t>
                </a:r>
                <a:r>
                  <a:rPr lang="en-US" sz="2800" dirty="0"/>
                  <a:t>have a small Mach number,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sz="2800" dirty="0"/>
              </a:p>
              <a:p>
                <a:pPr>
                  <a:spcAft>
                    <a:spcPts val="1200"/>
                  </a:spcAft>
                </a:pPr>
                <a:r>
                  <a:rPr lang="en-US" sz="2800" b="1" dirty="0"/>
                  <a:t>Supersonic flows: </a:t>
                </a:r>
                <a:r>
                  <a:rPr lang="en-US" sz="2800" dirty="0"/>
                  <a:t>have a Mach number,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800" dirty="0"/>
              </a:p>
              <a:p>
                <a:r>
                  <a:rPr lang="en-US" sz="2800" b="1" dirty="0"/>
                  <a:t>Transonic flows: </a:t>
                </a:r>
                <a:r>
                  <a:rPr lang="en-US" sz="2800" dirty="0"/>
                  <a:t>transition from subsonic regime to </a:t>
                </a:r>
              </a:p>
              <a:p>
                <a:r>
                  <a:rPr lang="en-US" sz="2800" dirty="0"/>
                  <a:t>                               supersonic regime or vice versa.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DB1BF8-68F8-B44F-A3C4-2C6CD346E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808" y="4474464"/>
                <a:ext cx="7741795" cy="2123658"/>
              </a:xfrm>
              <a:prstGeom prst="rect">
                <a:avLst/>
              </a:prstGeom>
              <a:blipFill>
                <a:blip r:embed="rId3"/>
                <a:stretch>
                  <a:fillRect l="-1305" t="-1754" r="-816" b="-5848"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8690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F071-0408-7D43-8096-FFCFA46930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III : Characteristics &amp; Riemann invariants </a:t>
            </a:r>
          </a:p>
        </p:txBody>
      </p:sp>
    </p:spTree>
    <p:extLst>
      <p:ext uri="{BB962C8B-B14F-4D97-AF65-F5344CB8AC3E}">
        <p14:creationId xmlns:p14="http://schemas.microsoft.com/office/powerpoint/2010/main" val="11592655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452F-0B42-174E-A8E6-BD40B232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Characteristics and Riemann invariants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6B2EC-37FD-6F4E-9FC7-5DE4FAE3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66" y="1325563"/>
            <a:ext cx="12345956" cy="51778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We presented characteristics in the context of the Burger’s equation. </a:t>
            </a:r>
          </a:p>
          <a:p>
            <a:pPr>
              <a:lnSpc>
                <a:spcPct val="150000"/>
              </a:lnSpc>
            </a:pPr>
            <a:r>
              <a:rPr lang="en-US" dirty="0"/>
              <a:t>Generally characteristics are curves along which PDEs become a family of ODEs.</a:t>
            </a:r>
          </a:p>
          <a:p>
            <a:pPr>
              <a:lnSpc>
                <a:spcPct val="150000"/>
              </a:lnSpc>
            </a:pPr>
            <a:r>
              <a:rPr lang="en-US" dirty="0"/>
              <a:t>The technique is used in various numerical methods (</a:t>
            </a:r>
            <a:r>
              <a:rPr lang="en-US" dirty="0" err="1"/>
              <a:t>e.q</a:t>
            </a:r>
            <a:r>
              <a:rPr lang="en-US" dirty="0"/>
              <a:t>. Riemann solvers). </a:t>
            </a:r>
          </a:p>
          <a:p>
            <a:pPr>
              <a:lnSpc>
                <a:spcPct val="150000"/>
              </a:lnSpc>
            </a:pPr>
            <a:r>
              <a:rPr lang="en-US" dirty="0"/>
              <a:t>Idea: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Find a set of curves (characteristics), along which initial data is transported.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Evolve the data using the appropriate ODE.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Reconstruct the data to obtain the solution for the PDE.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5997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BF7A5-EB3D-7042-BE8F-709C716B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7"/>
            <a:ext cx="10515600" cy="1325563"/>
          </a:xfrm>
        </p:spPr>
        <p:txBody>
          <a:bodyPr/>
          <a:lstStyle/>
          <a:p>
            <a:r>
              <a:rPr lang="en-US" dirty="0"/>
              <a:t>Example I: the advection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B80F7-C3E1-D14F-AD0A-C8C3AF6B9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7409"/>
                <a:ext cx="12192000" cy="5670549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Recall the 1D advection equation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constant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satisfies the initial condition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 characteristic is a curve along which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conserved: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Looking at the advection equation we see that the characteristic must satisfy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B80F7-C3E1-D14F-AD0A-C8C3AF6B9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7409"/>
                <a:ext cx="12192000" cy="5670549"/>
              </a:xfrm>
              <a:blipFill>
                <a:blip r:embed="rId2"/>
                <a:stretch>
                  <a:fillRect l="-729" t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3AA7090-009C-114B-A555-BA68AB5C6B94}"/>
              </a:ext>
            </a:extLst>
          </p:cNvPr>
          <p:cNvSpPr/>
          <p:nvPr/>
        </p:nvSpPr>
        <p:spPr>
          <a:xfrm>
            <a:off x="0" y="3932903"/>
            <a:ext cx="11353800" cy="2925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431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BF7A5-EB3D-7042-BE8F-709C716B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7"/>
            <a:ext cx="10515600" cy="1325563"/>
          </a:xfrm>
        </p:spPr>
        <p:txBody>
          <a:bodyPr/>
          <a:lstStyle/>
          <a:p>
            <a:r>
              <a:rPr lang="en-US" dirty="0"/>
              <a:t>Example I: the advection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B80F7-C3E1-D14F-AD0A-C8C3AF6B9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7409"/>
                <a:ext cx="12192000" cy="5670549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Recall the 1D advection equation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constant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satisfies the initial condition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 characteristic is a curve along which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conserved: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Looking at the advection equation we see that the characteristic must satisfy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B80F7-C3E1-D14F-AD0A-C8C3AF6B9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7409"/>
                <a:ext cx="12192000" cy="5670549"/>
              </a:xfrm>
              <a:blipFill>
                <a:blip r:embed="rId2"/>
                <a:stretch>
                  <a:fillRect l="-729" t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527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BF7A5-EB3D-7042-BE8F-709C716B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7"/>
            <a:ext cx="10515600" cy="1325563"/>
          </a:xfrm>
        </p:spPr>
        <p:txBody>
          <a:bodyPr/>
          <a:lstStyle/>
          <a:p>
            <a:r>
              <a:rPr lang="en-US" dirty="0"/>
              <a:t>Example I: the advection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B80F7-C3E1-D14F-AD0A-C8C3AF6B9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7409"/>
                <a:ext cx="12192000" cy="567054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The solution for the characteristic curve is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l-GR" dirty="0"/>
                  <a:t> </a:t>
                </a:r>
                <a:r>
                  <a:rPr lang="en-US" dirty="0"/>
                  <a:t>is the value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constant along this curve (as it was defined as such), it is readily obtained from the initial condition,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B80F7-C3E1-D14F-AD0A-C8C3AF6B9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7409"/>
                <a:ext cx="12192000" cy="5670549"/>
              </a:xfrm>
              <a:blipFill>
                <a:blip r:embed="rId3"/>
                <a:stretch>
                  <a:fillRect l="-833" t="-1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91925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BF7A5-EB3D-7042-BE8F-709C716B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7"/>
            <a:ext cx="10515600" cy="1325563"/>
          </a:xfrm>
        </p:spPr>
        <p:txBody>
          <a:bodyPr/>
          <a:lstStyle/>
          <a:p>
            <a:r>
              <a:rPr lang="en-US" dirty="0"/>
              <a:t>Example I: the advection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B80F7-C3E1-D14F-AD0A-C8C3AF6B9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7409"/>
                <a:ext cx="12192000" cy="567054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B80F7-C3E1-D14F-AD0A-C8C3AF6B9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7409"/>
                <a:ext cx="12192000" cy="567054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49" name="Picture 1" descr="page9image3870752">
            <a:extLst>
              <a:ext uri="{FF2B5EF4-FFF2-40B4-BE49-F238E27FC236}">
                <a16:creationId xmlns:a16="http://schemas.microsoft.com/office/drawing/2014/main" id="{B42DEAAB-140F-CE4D-AFF6-46BD19574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613" y="2333941"/>
            <a:ext cx="6932646" cy="433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33AC21-41E2-9245-9833-C54AD5D6994D}"/>
                  </a:ext>
                </a:extLst>
              </p:cNvPr>
              <p:cNvSpPr txBox="1"/>
              <p:nvPr/>
            </p:nvSpPr>
            <p:spPr>
              <a:xfrm>
                <a:off x="2013857" y="4366727"/>
                <a:ext cx="114563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,0)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33AC21-41E2-9245-9833-C54AD5D69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857" y="4366727"/>
                <a:ext cx="1145635" cy="461665"/>
              </a:xfrm>
              <a:prstGeom prst="rect">
                <a:avLst/>
              </a:prstGeom>
              <a:blipFill>
                <a:blip r:embed="rId4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190967-4328-BF48-A3C5-D549AF248ACF}"/>
                  </a:ext>
                </a:extLst>
              </p:cNvPr>
              <p:cNvSpPr txBox="1"/>
              <p:nvPr/>
            </p:nvSpPr>
            <p:spPr>
              <a:xfrm>
                <a:off x="3705807" y="2414301"/>
                <a:ext cx="1105046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190967-4328-BF48-A3C5-D549AF248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807" y="2414301"/>
                <a:ext cx="1105046" cy="461665"/>
              </a:xfrm>
              <a:prstGeom prst="rect">
                <a:avLst/>
              </a:prstGeom>
              <a:blipFill>
                <a:blip r:embed="rId5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94666A-67D9-3941-B9ED-AA798C8D4608}"/>
                  </a:ext>
                </a:extLst>
              </p:cNvPr>
              <p:cNvSpPr txBox="1"/>
              <p:nvPr/>
            </p:nvSpPr>
            <p:spPr>
              <a:xfrm>
                <a:off x="7504967" y="2352602"/>
                <a:ext cx="2187202" cy="83099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Characteristic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94666A-67D9-3941-B9ED-AA798C8D4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967" y="2352602"/>
                <a:ext cx="2187202" cy="830997"/>
              </a:xfrm>
              <a:prstGeom prst="rect">
                <a:avLst/>
              </a:prstGeom>
              <a:blipFill>
                <a:blip r:embed="rId6"/>
                <a:stretch>
                  <a:fillRect l="-3429" t="-2899" b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3910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AF9AD-EF41-834F-8A47-7A1D35379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Example II: Burgers’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6D5BA5-8F2F-534D-A5F6-3703D1B8D3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69040"/>
                <a:ext cx="12192000" cy="575954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Let’s look now at the Burgers’ equation: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   with the same initial condition as before 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We seek again a solution which is constant along a characteristic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. Formally: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  where this time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  can vary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6D5BA5-8F2F-534D-A5F6-3703D1B8D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69040"/>
                <a:ext cx="12192000" cy="5759548"/>
              </a:xfrm>
              <a:blipFill>
                <a:blip r:embed="rId2"/>
                <a:stretch>
                  <a:fillRect l="-833" t="-1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57081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91A1-2D35-2441-B3F6-E8384782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Example II: Burgers’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553B1D-2D6C-1E45-8661-ECA1015D2C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41049"/>
                <a:ext cx="12192000" cy="5265024"/>
              </a:xfrm>
            </p:spPr>
            <p:txBody>
              <a:bodyPr/>
              <a:lstStyle/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constant along a characteristic (as it was defined as such), we get that the characteristic curve equation satisfies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   *Unlike before, the slope of the characteristic can vary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The solution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553B1D-2D6C-1E45-8661-ECA1015D2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41049"/>
                <a:ext cx="12192000" cy="5265024"/>
              </a:xfrm>
              <a:blipFill>
                <a:blip r:embed="rId2"/>
                <a:stretch>
                  <a:fillRect l="-833" t="-1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A92A10-DA92-8B47-A15C-2BE4B96BC54F}"/>
                  </a:ext>
                </a:extLst>
              </p:cNvPr>
              <p:cNvSpPr txBox="1"/>
              <p:nvPr/>
            </p:nvSpPr>
            <p:spPr>
              <a:xfrm>
                <a:off x="4503725" y="3032449"/>
                <a:ext cx="3392725" cy="70788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is constant on the curve thus</a:t>
                </a: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is set by the initial condition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A92A10-DA92-8B47-A15C-2BE4B96BC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25" y="3032449"/>
                <a:ext cx="3392725" cy="707886"/>
              </a:xfrm>
              <a:prstGeom prst="rect">
                <a:avLst/>
              </a:prstGeom>
              <a:blipFill>
                <a:blip r:embed="rId3"/>
                <a:stretch>
                  <a:fillRect t="-3448" r="-743" b="-1034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157007-2D77-DD43-9DBD-81FEC18B6317}"/>
              </a:ext>
            </a:extLst>
          </p:cNvPr>
          <p:cNvCxnSpPr>
            <a:cxnSpLocks/>
          </p:cNvCxnSpPr>
          <p:nvPr/>
        </p:nvCxnSpPr>
        <p:spPr>
          <a:xfrm flipH="1" flipV="1">
            <a:off x="5122606" y="2715208"/>
            <a:ext cx="1077482" cy="3172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4DB72F-FDEC-6D46-A9A9-6CA0307EEC4B}"/>
              </a:ext>
            </a:extLst>
          </p:cNvPr>
          <p:cNvCxnSpPr>
            <a:cxnSpLocks/>
          </p:cNvCxnSpPr>
          <p:nvPr/>
        </p:nvCxnSpPr>
        <p:spPr>
          <a:xfrm flipV="1">
            <a:off x="6200087" y="2715208"/>
            <a:ext cx="565878" cy="3172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4073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47133B-67A6-7945-9D44-0CA4C18ED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269" y="1450561"/>
            <a:ext cx="8816476" cy="54074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691A1-2D35-2441-B3F6-E8384782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Example II: Burgers’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553B1D-2D6C-1E45-8661-ECA1015D2C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41049"/>
                <a:ext cx="12192000" cy="5265024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553B1D-2D6C-1E45-8661-ECA1015D2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41049"/>
                <a:ext cx="12192000" cy="526502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2D1713-C763-534F-9E43-E8EF70C291F3}"/>
                  </a:ext>
                </a:extLst>
              </p:cNvPr>
              <p:cNvSpPr txBox="1"/>
              <p:nvPr/>
            </p:nvSpPr>
            <p:spPr>
              <a:xfrm>
                <a:off x="1362269" y="3892670"/>
                <a:ext cx="1258806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2D1713-C763-534F-9E43-E8EF70C29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269" y="3892670"/>
                <a:ext cx="1258806" cy="523220"/>
              </a:xfrm>
              <a:prstGeom prst="rect">
                <a:avLst/>
              </a:prstGeom>
              <a:blipFill>
                <a:blip r:embed="rId4"/>
                <a:stretch>
                  <a:fillRect r="-200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F619385-4F69-0A44-B0F3-1D95A619465A}"/>
              </a:ext>
            </a:extLst>
          </p:cNvPr>
          <p:cNvSpPr/>
          <p:nvPr/>
        </p:nvSpPr>
        <p:spPr>
          <a:xfrm>
            <a:off x="2920482" y="6083560"/>
            <a:ext cx="2481943" cy="3307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FDF973-FD3B-124B-A321-9A6E8EA72B98}"/>
              </a:ext>
            </a:extLst>
          </p:cNvPr>
          <p:cNvSpPr/>
          <p:nvPr/>
        </p:nvSpPr>
        <p:spPr>
          <a:xfrm>
            <a:off x="8428653" y="5200261"/>
            <a:ext cx="2481943" cy="3307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4666BA-FFF6-CF40-A297-994DB177EE65}"/>
                  </a:ext>
                </a:extLst>
              </p:cNvPr>
              <p:cNvSpPr txBox="1"/>
              <p:nvPr/>
            </p:nvSpPr>
            <p:spPr>
              <a:xfrm rot="1388893">
                <a:off x="4497357" y="5718791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4666BA-FFF6-CF40-A297-994DB177E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388893">
                <a:off x="4497357" y="5718791"/>
                <a:ext cx="46807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54D736-9434-DE4E-9149-7BCC9817DCE8}"/>
                  </a:ext>
                </a:extLst>
              </p:cNvPr>
              <p:cNvSpPr txBox="1"/>
              <p:nvPr/>
            </p:nvSpPr>
            <p:spPr>
              <a:xfrm rot="17623964">
                <a:off x="8053343" y="5269438"/>
                <a:ext cx="4162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54D736-9434-DE4E-9149-7BCC9817D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623964">
                <a:off x="8053343" y="5269438"/>
                <a:ext cx="41626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1722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DE02-2960-7B4A-BE34-8335FF30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Riemann invariants for fluid equations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9023A-97E8-AA4E-B527-B6D69868B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06" y="1325562"/>
                <a:ext cx="12174894" cy="553243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Lets consider the fluid equations in 1D: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   with an equation of state: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sound speed is a function of the density alone: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,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9023A-97E8-AA4E-B527-B6D69868B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06" y="1325562"/>
                <a:ext cx="12174894" cy="5532437"/>
              </a:xfrm>
              <a:blipFill>
                <a:blip r:embed="rId2"/>
                <a:stretch>
                  <a:fillRect l="-729" t="-2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77F9F44-471B-FD4C-81BC-EDF87E71BE73}"/>
              </a:ext>
            </a:extLst>
          </p:cNvPr>
          <p:cNvSpPr txBox="1"/>
          <p:nvPr/>
        </p:nvSpPr>
        <p:spPr>
          <a:xfrm>
            <a:off x="2024742" y="2248678"/>
            <a:ext cx="147861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Continuity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77DC19-97D0-6646-B8DF-82542C7DC903}"/>
              </a:ext>
            </a:extLst>
          </p:cNvPr>
          <p:cNvSpPr txBox="1"/>
          <p:nvPr/>
        </p:nvSpPr>
        <p:spPr>
          <a:xfrm>
            <a:off x="2416628" y="3483429"/>
            <a:ext cx="82907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Euler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951FC7-0CF0-FD47-97B8-DADC8AD81845}"/>
                  </a:ext>
                </a:extLst>
              </p:cNvPr>
              <p:cNvSpPr txBox="1"/>
              <p:nvPr/>
            </p:nvSpPr>
            <p:spPr>
              <a:xfrm>
                <a:off x="8992772" y="2137493"/>
                <a:ext cx="2226250" cy="6840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𝜕𝜌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951FC7-0CF0-FD47-97B8-DADC8AD81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2772" y="2137493"/>
                <a:ext cx="2226250" cy="684033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D0F545-60C9-DA4E-8030-06A7A2946317}"/>
                  </a:ext>
                </a:extLst>
              </p:cNvPr>
              <p:cNvSpPr txBox="1"/>
              <p:nvPr/>
            </p:nvSpPr>
            <p:spPr>
              <a:xfrm>
                <a:off x="8509819" y="3349417"/>
                <a:ext cx="3192156" cy="7296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D0F545-60C9-DA4E-8030-06A7A2946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819" y="3349417"/>
                <a:ext cx="3192156" cy="729687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05206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DE02-2960-7B4A-BE34-8335FF30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Riemann invariants for fluid equations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9023A-97E8-AA4E-B527-B6D69868B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06" y="1325562"/>
                <a:ext cx="12174894" cy="5532437"/>
              </a:xfrm>
            </p:spPr>
            <p:txBody>
              <a:bodyPr/>
              <a:lstStyle/>
              <a:p>
                <a:r>
                  <a:rPr lang="en-US" dirty="0"/>
                  <a:t>We can transform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using the relations: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𝜕𝜌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𝜕𝜌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 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   and obtain the fluid equations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9023A-97E8-AA4E-B527-B6D69868B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06" y="1325562"/>
                <a:ext cx="12174894" cy="5532437"/>
              </a:xfrm>
              <a:blipFill>
                <a:blip r:embed="rId2"/>
                <a:stretch>
                  <a:fillRect l="-729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6B7094C-CD8F-3549-8E31-E4B6CD966A33}"/>
              </a:ext>
            </a:extLst>
          </p:cNvPr>
          <p:cNvSpPr txBox="1"/>
          <p:nvPr/>
        </p:nvSpPr>
        <p:spPr>
          <a:xfrm>
            <a:off x="1800807" y="4404049"/>
            <a:ext cx="147861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Continuity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7AC944-6AAF-4644-AD15-A0AD5D62396F}"/>
              </a:ext>
            </a:extLst>
          </p:cNvPr>
          <p:cNvSpPr txBox="1"/>
          <p:nvPr/>
        </p:nvSpPr>
        <p:spPr>
          <a:xfrm>
            <a:off x="2192693" y="5638800"/>
            <a:ext cx="82907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Euler</a:t>
            </a:r>
          </a:p>
        </p:txBody>
      </p:sp>
    </p:spTree>
    <p:extLst>
      <p:ext uri="{BB962C8B-B14F-4D97-AF65-F5344CB8AC3E}">
        <p14:creationId xmlns:p14="http://schemas.microsoft.com/office/powerpoint/2010/main" val="60213501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DE02-2960-7B4A-BE34-8335FF30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Riemann invariants for fluid equations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9023A-97E8-AA4E-B527-B6D69868B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06" y="1325562"/>
                <a:ext cx="12174894" cy="553243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Define the Riemann invariants:</a:t>
                </a:r>
                <a:endParaRPr lang="he-IL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  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With them the two fluid equations take the form: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±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Two advection equations for the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/>
                  <a:t> where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along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dx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along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dx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9023A-97E8-AA4E-B527-B6D69868B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06" y="1325562"/>
                <a:ext cx="12174894" cy="5532437"/>
              </a:xfrm>
              <a:blipFill>
                <a:blip r:embed="rId2"/>
                <a:stretch>
                  <a:fillRect l="-625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47635EE1-AFF8-7846-8532-E9EB8D51DECD}"/>
              </a:ext>
            </a:extLst>
          </p:cNvPr>
          <p:cNvSpPr/>
          <p:nvPr/>
        </p:nvSpPr>
        <p:spPr>
          <a:xfrm>
            <a:off x="17106" y="4139380"/>
            <a:ext cx="9235049" cy="2635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521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DE02-2960-7B4A-BE34-8335FF30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Riemann invariants for fluid equations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9023A-97E8-AA4E-B527-B6D69868B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06" y="1325562"/>
                <a:ext cx="12174894" cy="553243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Define the Riemann invariants:</a:t>
                </a:r>
                <a:endParaRPr lang="he-IL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  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With them the two fluid equations take the form: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±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Two independent advection equations for the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/>
                  <a:t> where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along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dx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along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dx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9023A-97E8-AA4E-B527-B6D69868B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06" y="1325562"/>
                <a:ext cx="12174894" cy="5532437"/>
              </a:xfrm>
              <a:blipFill>
                <a:blip r:embed="rId2"/>
                <a:stretch>
                  <a:fillRect l="-625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67506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9023A-97E8-AA4E-B527-B6D69868B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06" y="1325562"/>
                <a:ext cx="12174894" cy="553243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Define the Riemann invariants:</a:t>
                </a:r>
                <a:endParaRPr lang="he-IL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      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With them the two fluid equations take the form: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Two independent advection equations for the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/>
                  <a:t> where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along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dx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along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dx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9023A-97E8-AA4E-B527-B6D69868B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06" y="1325562"/>
                <a:ext cx="12174894" cy="5532437"/>
              </a:xfrm>
              <a:blipFill>
                <a:blip r:embed="rId2"/>
                <a:stretch>
                  <a:fillRect l="-625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C94DE02-2960-7B4A-BE34-8335FF30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Riemann invariants for fluid equations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D6B7B2-F027-A44F-82B5-4D7D11025F01}"/>
              </a:ext>
            </a:extLst>
          </p:cNvPr>
          <p:cNvSpPr txBox="1"/>
          <p:nvPr/>
        </p:nvSpPr>
        <p:spPr>
          <a:xfrm>
            <a:off x="9965093" y="3362987"/>
            <a:ext cx="1647246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Eigenvalues</a:t>
            </a:r>
          </a:p>
        </p:txBody>
      </p:sp>
    </p:spTree>
    <p:extLst>
      <p:ext uri="{BB962C8B-B14F-4D97-AF65-F5344CB8AC3E}">
        <p14:creationId xmlns:p14="http://schemas.microsoft.com/office/powerpoint/2010/main" val="384126768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5B59-C5F1-4946-8C06-4D310AD6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Example: a simple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71662-274A-B94F-984F-517A3B60B7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58964"/>
                <a:ext cx="12192000" cy="5590476"/>
              </a:xfrm>
            </p:spPr>
            <p:txBody>
              <a:bodyPr/>
              <a:lstStyle/>
              <a:p>
                <a:r>
                  <a:rPr lang="en-US" dirty="0"/>
                  <a:t>Simple waves are solutions for which one of the Riemann invariants is constant. </a:t>
                </a:r>
              </a:p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Then using the equation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/>
                  <a:t> we see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depends only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and the eigenvalue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71662-274A-B94F-984F-517A3B60B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58964"/>
                <a:ext cx="12192000" cy="5590476"/>
              </a:xfrm>
              <a:blipFill>
                <a:blip r:embed="rId2"/>
                <a:stretch>
                  <a:fillRect l="-833" t="-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32306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5B59-C5F1-4946-8C06-4D310AD6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Example: a simple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71662-274A-B94F-984F-517A3B60B7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58964"/>
                <a:ext cx="12192000" cy="5590476"/>
              </a:xfrm>
            </p:spPr>
            <p:txBody>
              <a:bodyPr/>
              <a:lstStyle/>
              <a:p>
                <a:r>
                  <a:rPr lang="en-US" dirty="0"/>
                  <a:t>Simple waves are solutions for which one of the Riemann invariants is constant. </a:t>
                </a:r>
              </a:p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Then using the equation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/>
                  <a:t> we see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depends only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and the eigenvalue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second invariant then becomes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71662-274A-B94F-984F-517A3B60B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58964"/>
                <a:ext cx="12192000" cy="5590476"/>
              </a:xfrm>
              <a:blipFill>
                <a:blip r:embed="rId2"/>
                <a:stretch>
                  <a:fillRect l="-833" t="-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954559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5B59-C5F1-4946-8C06-4D310AD6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Example: a simple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71662-274A-B94F-984F-517A3B60B7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58964"/>
                <a:ext cx="12192000" cy="5590476"/>
              </a:xfrm>
            </p:spPr>
            <p:txBody>
              <a:bodyPr/>
              <a:lstStyle/>
              <a:p>
                <a:r>
                  <a:rPr lang="en-US" dirty="0"/>
                  <a:t>Simple waves are solutions for which one of the Riemann invariants is constant. </a:t>
                </a:r>
              </a:p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Then using the equation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/>
                  <a:t> we see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depends only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and the eigenvalue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second invariant then becomes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a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𝑑𝑣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71662-274A-B94F-984F-517A3B60B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58964"/>
                <a:ext cx="12192000" cy="5590476"/>
              </a:xfrm>
              <a:blipFill>
                <a:blip r:embed="rId2"/>
                <a:stretch>
                  <a:fillRect l="-833" t="-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53535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5B59-C5F1-4946-8C06-4D310AD6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Example: a simple wave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71662-274A-B94F-984F-517A3B60B7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58964"/>
                <a:ext cx="12192000" cy="5590476"/>
              </a:xfrm>
            </p:spPr>
            <p:txBody>
              <a:bodyPr/>
              <a:lstStyle/>
              <a:p>
                <a:r>
                  <a:rPr lang="en-US" dirty="0"/>
                  <a:t>The second invariant becomes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a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𝑑𝑣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therefore get an advection equation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71662-274A-B94F-984F-517A3B60B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58964"/>
                <a:ext cx="12192000" cy="5590476"/>
              </a:xfrm>
              <a:blipFill>
                <a:blip r:embed="rId2"/>
                <a:stretch>
                  <a:fillRect l="-833" t="-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91351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5B59-C5F1-4946-8C06-4D310AD6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Example: a simple wave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71662-274A-B94F-984F-517A3B60B7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58964"/>
                <a:ext cx="12192000" cy="5590476"/>
              </a:xfrm>
            </p:spPr>
            <p:txBody>
              <a:bodyPr/>
              <a:lstStyle/>
              <a:p>
                <a:r>
                  <a:rPr lang="en-US" dirty="0"/>
                  <a:t>The second invariant becomes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a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𝑑𝑣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therefore get an advection equation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   for which we can obtain implicit solutions using the characteristic method: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dirty="0"/>
                  <a:t> is the initial shape of the wave.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71662-274A-B94F-984F-517A3B60B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58964"/>
                <a:ext cx="12192000" cy="5590476"/>
              </a:xfrm>
              <a:blipFill>
                <a:blip r:embed="rId2"/>
                <a:stretch>
                  <a:fillRect l="-833" t="-1814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0082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5B59-C5F1-4946-8C06-4D310AD6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Example: a simple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71662-274A-B94F-984F-517A3B60B7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58964"/>
                <a:ext cx="7631764" cy="5590476"/>
              </a:xfrm>
            </p:spPr>
            <p:txBody>
              <a:bodyPr/>
              <a:lstStyle/>
              <a:p>
                <a:r>
                  <a:rPr lang="en-US" dirty="0"/>
                  <a:t>The initial data is transported along the curves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 velocity derivative evolves as: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𝑑𝐹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1+(</m:t>
                          </m:r>
                          <m:f>
                            <m:fPr>
                              <m:type m:val="li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  <m:f>
                          <m:fPr>
                            <m:type m:val="li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𝑑𝐹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𝑑𝐹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 somewhere along the wave, the wave will break at a time: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𝑑𝐴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𝑑𝐹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71662-274A-B94F-984F-517A3B60B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58964"/>
                <a:ext cx="7631764" cy="5590476"/>
              </a:xfrm>
              <a:blipFill>
                <a:blip r:embed="rId2"/>
                <a:stretch>
                  <a:fillRect l="-1331" t="-1814" b="-17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3" name="Picture 1" descr="page15image3835584">
            <a:extLst>
              <a:ext uri="{FF2B5EF4-FFF2-40B4-BE49-F238E27FC236}">
                <a16:creationId xmlns:a16="http://schemas.microsoft.com/office/drawing/2014/main" id="{EBC63504-A90F-2A46-908B-04B219C1B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764" y="859536"/>
            <a:ext cx="4560236" cy="599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0AC0E3-45B8-C04D-ADC2-38BFD99C399E}"/>
              </a:ext>
            </a:extLst>
          </p:cNvPr>
          <p:cNvSpPr txBox="1"/>
          <p:nvPr/>
        </p:nvSpPr>
        <p:spPr>
          <a:xfrm>
            <a:off x="7790688" y="6211223"/>
            <a:ext cx="1936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 shock forms</a:t>
            </a:r>
          </a:p>
        </p:txBody>
      </p:sp>
    </p:spTree>
    <p:extLst>
      <p:ext uri="{BB962C8B-B14F-4D97-AF65-F5344CB8AC3E}">
        <p14:creationId xmlns:p14="http://schemas.microsoft.com/office/powerpoint/2010/main" val="77776865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47BE-25F4-B24F-BDCC-38C7EB31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Shock waves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74ABB-AE9D-624C-95CF-6A0B00B90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2"/>
            <a:ext cx="12192000" cy="5532437"/>
          </a:xfrm>
        </p:spPr>
        <p:txBody>
          <a:bodyPr/>
          <a:lstStyle/>
          <a:p>
            <a:r>
              <a:rPr lang="en-US" dirty="0"/>
              <a:t>Shockwaves are discontinuities that form in a flow when a part of the flow becomes supersonic. </a:t>
            </a:r>
          </a:p>
          <a:p>
            <a:r>
              <a:rPr lang="en-US" dirty="0"/>
              <a:t>Across the discontinuity the flow parameters change abruptly (jump).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63228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47BE-25F4-B24F-BDCC-38C7EB31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Shock waves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C74ABB-AE9D-624C-95CF-6A0B00B90C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Shockwaves are discontinuities that form in a flow when a part of the flow becomes supersonic. </a:t>
                </a:r>
              </a:p>
              <a:p>
                <a:r>
                  <a:rPr lang="en-US" dirty="0"/>
                  <a:t>Across the discontinuity the flow parameters change abruptly (jump).</a:t>
                </a:r>
              </a:p>
              <a:p>
                <a:r>
                  <a:rPr lang="en-US" dirty="0"/>
                  <a:t>Let’s consider a shock wave in a 1D flow.</a:t>
                </a:r>
              </a:p>
              <a:p>
                <a:r>
                  <a:rPr lang="en-US" dirty="0"/>
                  <a:t>In the frame of the shock the flow has a steady velocity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this frame the flow equations are time independent, and are reduced to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C74ABB-AE9D-624C-95CF-6A0B00B90C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774528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47BE-25F4-B24F-BDCC-38C7EB31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Shock waves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C74ABB-AE9D-624C-95CF-6A0B00B90C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</p:spPr>
            <p:txBody>
              <a:bodyPr/>
              <a:lstStyle/>
              <a:p>
                <a:r>
                  <a:rPr lang="en-US" dirty="0"/>
                  <a:t>Integrating across the shock we obtain the Rankine–</a:t>
                </a:r>
                <a:r>
                  <a:rPr lang="en-US" dirty="0" err="1"/>
                  <a:t>Hugoniot</a:t>
                </a:r>
                <a:r>
                  <a:rPr lang="en-US" dirty="0"/>
                  <a:t> jump conditions: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These equations must be augmented by a relation between upstream and downstream equations of state. 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C74ABB-AE9D-624C-95CF-6A0B00B90C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2"/>
                <a:ext cx="12192000" cy="5532437"/>
              </a:xfrm>
              <a:blipFill>
                <a:blip r:embed="rId2"/>
                <a:stretch>
                  <a:fillRect l="-833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7" name="Picture 1" descr="page17image3838720">
            <a:extLst>
              <a:ext uri="{FF2B5EF4-FFF2-40B4-BE49-F238E27FC236}">
                <a16:creationId xmlns:a16="http://schemas.microsoft.com/office/drawing/2014/main" id="{496F7EB9-F402-8947-BB27-D1B9F7219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408" y="4348318"/>
            <a:ext cx="7766303" cy="266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26913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0B0F-C690-2C47-B066-136184A18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Shock waves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DF6DAE-FB37-2E44-9F0B-CA9ECF0508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83348"/>
                <a:ext cx="12192000" cy="5474652"/>
              </a:xfrm>
            </p:spPr>
            <p:txBody>
              <a:bodyPr/>
              <a:lstStyle/>
              <a:p>
                <a:r>
                  <a:rPr lang="en-US" dirty="0"/>
                  <a:t>Assume a barotropic fluid on both sides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-law EOS) with the same adiabatic index.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solutions to the shock equations read: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DF6DAE-FB37-2E44-9F0B-CA9ECF050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83348"/>
                <a:ext cx="12192000" cy="5474652"/>
              </a:xfrm>
              <a:blipFill>
                <a:blip r:embed="rId2"/>
                <a:stretch>
                  <a:fillRect l="-833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00670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0B0F-C690-2C47-B066-136184A18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Shock waves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DF6DAE-FB37-2E44-9F0B-CA9ECF0508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83348"/>
                <a:ext cx="12192000" cy="5474652"/>
              </a:xfrm>
            </p:spPr>
            <p:txBody>
              <a:bodyPr/>
              <a:lstStyle/>
              <a:p>
                <a:r>
                  <a:rPr lang="en-US" dirty="0"/>
                  <a:t>The solutions to the shock equations read: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For highly supersonic flow, vis.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≫1</m:t>
                    </m:r>
                  </m:oMath>
                </a14:m>
                <a:r>
                  <a:rPr lang="en-US" dirty="0"/>
                  <a:t> we have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DF6DAE-FB37-2E44-9F0B-CA9ECF050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83348"/>
                <a:ext cx="12192000" cy="5474652"/>
              </a:xfrm>
              <a:blipFill>
                <a:blip r:embed="rId2"/>
                <a:stretch>
                  <a:fillRect l="-833" t="-1852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9144EAA-FA22-5544-971C-7D422A3C85CD}"/>
              </a:ext>
            </a:extLst>
          </p:cNvPr>
          <p:cNvCxnSpPr>
            <a:cxnSpLocks/>
          </p:cNvCxnSpPr>
          <p:nvPr/>
        </p:nvCxnSpPr>
        <p:spPr>
          <a:xfrm>
            <a:off x="7585236" y="4620768"/>
            <a:ext cx="15343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6A2357-5230-8043-BE23-EF87B12E289F}"/>
                  </a:ext>
                </a:extLst>
              </p:cNvPr>
              <p:cNvSpPr txBox="1"/>
              <p:nvPr/>
            </p:nvSpPr>
            <p:spPr>
              <a:xfrm>
                <a:off x="9135282" y="4353359"/>
                <a:ext cx="15989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6A2357-5230-8043-BE23-EF87B12E2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282" y="4353359"/>
                <a:ext cx="1598964" cy="461665"/>
              </a:xfrm>
              <a:prstGeom prst="rect">
                <a:avLst/>
              </a:prstGeom>
              <a:blipFill>
                <a:blip r:embed="rId3"/>
                <a:stretch>
                  <a:fillRect l="-7087" t="-124324" b="-191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D3B75B-5A72-F44B-813D-F6210B0E86B3}"/>
                  </a:ext>
                </a:extLst>
              </p:cNvPr>
              <p:cNvSpPr txBox="1"/>
              <p:nvPr/>
            </p:nvSpPr>
            <p:spPr>
              <a:xfrm>
                <a:off x="7789708" y="4162873"/>
                <a:ext cx="11254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=5/3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D3B75B-5A72-F44B-813D-F6210B0E8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708" y="4162873"/>
                <a:ext cx="1125436" cy="400110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1727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BDF88-F370-3E46-AC4F-5503793D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Riemann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15204-2A66-684A-B6F7-4E7AC8B3E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12192000" cy="4351338"/>
          </a:xfrm>
        </p:spPr>
        <p:txBody>
          <a:bodyPr/>
          <a:lstStyle/>
          <a:p>
            <a:r>
              <a:rPr lang="en-US" dirty="0"/>
              <a:t>Shocks and rarefaction waves are states that occur in a single fluid and maintain a continuous flow through them of all hydrodynamic parameters.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2686A8-AFA8-CB4E-BB59-0D642EF13A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77"/>
          <a:stretch/>
        </p:blipFill>
        <p:spPr>
          <a:xfrm>
            <a:off x="1362269" y="2379406"/>
            <a:ext cx="8816476" cy="44785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261FA-1B9B-4049-8DCB-CE287982AEFA}"/>
                  </a:ext>
                </a:extLst>
              </p:cNvPr>
              <p:cNvSpPr txBox="1"/>
              <p:nvPr/>
            </p:nvSpPr>
            <p:spPr>
              <a:xfrm>
                <a:off x="1362269" y="3892670"/>
                <a:ext cx="1263936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261FA-1B9B-4049-8DCB-CE287982A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269" y="3892670"/>
                <a:ext cx="1263936" cy="523220"/>
              </a:xfrm>
              <a:prstGeom prst="rect">
                <a:avLst/>
              </a:prstGeom>
              <a:blipFill>
                <a:blip r:embed="rId3"/>
                <a:stretch>
                  <a:fillRect r="-198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89AA2863-C664-8E46-A3D7-11401EE36A37}"/>
              </a:ext>
            </a:extLst>
          </p:cNvPr>
          <p:cNvSpPr/>
          <p:nvPr/>
        </p:nvSpPr>
        <p:spPr>
          <a:xfrm>
            <a:off x="2920482" y="6083560"/>
            <a:ext cx="2481943" cy="3307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593C57-BBD9-4A47-9355-ABDA8538AE03}"/>
              </a:ext>
            </a:extLst>
          </p:cNvPr>
          <p:cNvSpPr/>
          <p:nvPr/>
        </p:nvSpPr>
        <p:spPr>
          <a:xfrm>
            <a:off x="8428653" y="5200261"/>
            <a:ext cx="2481943" cy="3307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ED17EE-A2F7-A341-8FF0-967863591E0D}"/>
                  </a:ext>
                </a:extLst>
              </p:cNvPr>
              <p:cNvSpPr txBox="1"/>
              <p:nvPr/>
            </p:nvSpPr>
            <p:spPr>
              <a:xfrm rot="1388893">
                <a:off x="4497357" y="5718791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ED17EE-A2F7-A341-8FF0-967863591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388893">
                <a:off x="4497357" y="5718791"/>
                <a:ext cx="46807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4EFDA9-6415-D243-8ABE-2E5A42738514}"/>
                  </a:ext>
                </a:extLst>
              </p:cNvPr>
              <p:cNvSpPr txBox="1"/>
              <p:nvPr/>
            </p:nvSpPr>
            <p:spPr>
              <a:xfrm rot="17623964">
                <a:off x="8053343" y="5269438"/>
                <a:ext cx="4162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4EFDA9-6415-D243-8ABE-2E5A4273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623964">
                <a:off x="8053343" y="5269438"/>
                <a:ext cx="41626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79873AB-FCC1-6F4F-85B3-DAE62F30B7C1}"/>
              </a:ext>
            </a:extLst>
          </p:cNvPr>
          <p:cNvSpPr txBox="1"/>
          <p:nvPr/>
        </p:nvSpPr>
        <p:spPr>
          <a:xfrm>
            <a:off x="8428653" y="3039567"/>
            <a:ext cx="918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Shock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812D31-F329-634C-BD80-5B6D6A04B489}"/>
              </a:ext>
            </a:extLst>
          </p:cNvPr>
          <p:cNvSpPr txBox="1"/>
          <p:nvPr/>
        </p:nvSpPr>
        <p:spPr>
          <a:xfrm>
            <a:off x="5552038" y="2378284"/>
            <a:ext cx="1616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Rarefaction</a:t>
            </a:r>
          </a:p>
        </p:txBody>
      </p:sp>
    </p:spTree>
    <p:extLst>
      <p:ext uri="{BB962C8B-B14F-4D97-AF65-F5344CB8AC3E}">
        <p14:creationId xmlns:p14="http://schemas.microsoft.com/office/powerpoint/2010/main" val="273702870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BDF88-F370-3E46-AC4F-5503793D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Riemann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15204-2A66-684A-B6F7-4E7AC8B3E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12192000" cy="4351338"/>
          </a:xfrm>
        </p:spPr>
        <p:txBody>
          <a:bodyPr/>
          <a:lstStyle/>
          <a:p>
            <a:r>
              <a:rPr lang="en-US" dirty="0"/>
              <a:t>Shocks and rarefaction waves are states that occur in a single fluid and maintain a continuous flow through them of all hydrodynamic parameters.</a:t>
            </a:r>
          </a:p>
          <a:p>
            <a:r>
              <a:rPr lang="en-US" dirty="0"/>
              <a:t>In finite volume scheme each cell holds different fluid parameters, which are discontinuous across the cell boundary. </a:t>
            </a:r>
          </a:p>
          <a:p>
            <a:r>
              <a:rPr lang="en-US" dirty="0"/>
              <a:t>The situation resembles a collision between two different fluids, a problem known as the Riemann problem.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593C57-BBD9-4A47-9355-ABDA8538AE03}"/>
              </a:ext>
            </a:extLst>
          </p:cNvPr>
          <p:cNvSpPr/>
          <p:nvPr/>
        </p:nvSpPr>
        <p:spPr>
          <a:xfrm>
            <a:off x="8428653" y="5200261"/>
            <a:ext cx="2481943" cy="3307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E33D38-219F-F944-AF1E-F1B5A840E0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45" t="60385" r="12401" b="9873"/>
          <a:stretch/>
        </p:blipFill>
        <p:spPr>
          <a:xfrm>
            <a:off x="2564166" y="4522203"/>
            <a:ext cx="7063668" cy="23357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A8DEA78-D293-8B4F-956B-3C8BE14D0C47}"/>
              </a:ext>
            </a:extLst>
          </p:cNvPr>
          <p:cNvSpPr/>
          <p:nvPr/>
        </p:nvSpPr>
        <p:spPr>
          <a:xfrm>
            <a:off x="4080014" y="6449217"/>
            <a:ext cx="662858" cy="403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E2A928-7FA6-EA42-A9E3-D7B47A5A63B8}"/>
                  </a:ext>
                </a:extLst>
              </p:cNvPr>
              <p:cNvSpPr txBox="1"/>
              <p:nvPr/>
            </p:nvSpPr>
            <p:spPr>
              <a:xfrm>
                <a:off x="4206682" y="6457890"/>
                <a:ext cx="3322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E2A928-7FA6-EA42-A9E3-D7B47A5A6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682" y="6457890"/>
                <a:ext cx="33227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2EB27158-4C17-AC4A-978C-FFFBE06AB702}"/>
              </a:ext>
            </a:extLst>
          </p:cNvPr>
          <p:cNvSpPr/>
          <p:nvPr/>
        </p:nvSpPr>
        <p:spPr>
          <a:xfrm>
            <a:off x="7683787" y="6445771"/>
            <a:ext cx="662858" cy="403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12624D-A2B7-9141-990C-7E8DA4C2A228}"/>
                  </a:ext>
                </a:extLst>
              </p:cNvPr>
              <p:cNvSpPr txBox="1"/>
              <p:nvPr/>
            </p:nvSpPr>
            <p:spPr>
              <a:xfrm>
                <a:off x="7433798" y="6449217"/>
                <a:ext cx="78130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12624D-A2B7-9141-990C-7E8DA4C2A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798" y="6449217"/>
                <a:ext cx="78130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33262337-654C-A442-80A9-8A74BCE0E438}"/>
              </a:ext>
            </a:extLst>
          </p:cNvPr>
          <p:cNvSpPr/>
          <p:nvPr/>
        </p:nvSpPr>
        <p:spPr>
          <a:xfrm>
            <a:off x="7493021" y="5286545"/>
            <a:ext cx="662858" cy="403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93B2E8-8847-0D47-BECD-D3A8D834DC07}"/>
              </a:ext>
            </a:extLst>
          </p:cNvPr>
          <p:cNvSpPr/>
          <p:nvPr/>
        </p:nvSpPr>
        <p:spPr>
          <a:xfrm>
            <a:off x="3996904" y="5286545"/>
            <a:ext cx="662858" cy="403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CC81F7-58AE-4C43-B29E-E86CE99797F8}"/>
              </a:ext>
            </a:extLst>
          </p:cNvPr>
          <p:cNvSpPr/>
          <p:nvPr/>
        </p:nvSpPr>
        <p:spPr>
          <a:xfrm>
            <a:off x="6096000" y="5531047"/>
            <a:ext cx="3352800" cy="81075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AE8EF4-1E9D-9044-BD09-2E36446EB819}"/>
              </a:ext>
            </a:extLst>
          </p:cNvPr>
          <p:cNvSpPr/>
          <p:nvPr/>
        </p:nvSpPr>
        <p:spPr>
          <a:xfrm>
            <a:off x="2716081" y="4847303"/>
            <a:ext cx="3352800" cy="1494502"/>
          </a:xfrm>
          <a:prstGeom prst="rect">
            <a:avLst/>
          </a:prstGeom>
          <a:solidFill>
            <a:srgbClr val="4472C4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04A49D-9C98-9D4E-BE9B-E996590530D6}"/>
                  </a:ext>
                </a:extLst>
              </p:cNvPr>
              <p:cNvSpPr txBox="1"/>
              <p:nvPr/>
            </p:nvSpPr>
            <p:spPr>
              <a:xfrm>
                <a:off x="3635653" y="5723315"/>
                <a:ext cx="1551579" cy="4712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04A49D-9C98-9D4E-BE9B-E99659053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653" y="5723315"/>
                <a:ext cx="1551579" cy="471283"/>
              </a:xfrm>
              <a:prstGeom prst="rect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1EFB85-EF19-DD45-BED1-049BFBC7EDD0}"/>
                  </a:ext>
                </a:extLst>
              </p:cNvPr>
              <p:cNvSpPr txBox="1"/>
              <p:nvPr/>
            </p:nvSpPr>
            <p:spPr>
              <a:xfrm>
                <a:off x="6692521" y="5676901"/>
                <a:ext cx="2159757" cy="4629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1EFB85-EF19-DD45-BED1-049BFBC7E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521" y="5676901"/>
                <a:ext cx="2159757" cy="462947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56776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CFC4700-F553-1942-8B7C-C2889FD4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45" y="3527554"/>
            <a:ext cx="4591665" cy="36093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5A66-D0CF-D948-8088-19CB482FF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1885"/>
            <a:ext cx="12192000" cy="4351338"/>
          </a:xfrm>
        </p:spPr>
        <p:txBody>
          <a:bodyPr/>
          <a:lstStyle/>
          <a:p>
            <a:r>
              <a:rPr lang="en-US" dirty="0"/>
              <a:t>When two fluids come into contact with each other 4 zones separated by 3 transition regions are form, which satisfy the continuity equations: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75EB93-FE67-E041-A967-F33CD842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Riemann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810222-1532-A94C-95A2-D32E35164BEC}"/>
              </a:ext>
            </a:extLst>
          </p:cNvPr>
          <p:cNvSpPr/>
          <p:nvPr/>
        </p:nvSpPr>
        <p:spPr>
          <a:xfrm>
            <a:off x="7204875" y="6184490"/>
            <a:ext cx="477477" cy="350410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411D33-CE4E-354C-BB82-C4EC8FC0B6BD}"/>
              </a:ext>
            </a:extLst>
          </p:cNvPr>
          <p:cNvSpPr/>
          <p:nvPr/>
        </p:nvSpPr>
        <p:spPr>
          <a:xfrm>
            <a:off x="6612549" y="5801032"/>
            <a:ext cx="592326" cy="753530"/>
          </a:xfrm>
          <a:prstGeom prst="rect">
            <a:avLst/>
          </a:prstGeom>
          <a:solidFill>
            <a:srgbClr val="FF0000">
              <a:alpha val="756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88C5B1-6F0F-7D42-9367-07CBF8EE278D}"/>
              </a:ext>
            </a:extLst>
          </p:cNvPr>
          <p:cNvSpPr/>
          <p:nvPr/>
        </p:nvSpPr>
        <p:spPr>
          <a:xfrm>
            <a:off x="5924309" y="5303663"/>
            <a:ext cx="688239" cy="1231237"/>
          </a:xfrm>
          <a:prstGeom prst="rect">
            <a:avLst/>
          </a:prstGeom>
          <a:solidFill>
            <a:srgbClr val="4472C4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55A9DB-C245-554A-9D43-F9CFA4AA129D}"/>
                  </a:ext>
                </a:extLst>
              </p:cNvPr>
              <p:cNvSpPr/>
              <p:nvPr/>
            </p:nvSpPr>
            <p:spPr>
              <a:xfrm>
                <a:off x="32722" y="2348284"/>
                <a:ext cx="4159102" cy="11649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55A9DB-C245-554A-9D43-F9CFA4AA1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2" y="2348284"/>
                <a:ext cx="4159102" cy="1164934"/>
              </a:xfrm>
              <a:prstGeom prst="rect">
                <a:avLst/>
              </a:prstGeom>
              <a:blipFill>
                <a:blip r:embed="rId3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C9C2292-939E-464A-980D-F5B29DA281B0}"/>
                  </a:ext>
                </a:extLst>
              </p:cNvPr>
              <p:cNvSpPr/>
              <p:nvPr/>
            </p:nvSpPr>
            <p:spPr>
              <a:xfrm>
                <a:off x="7799639" y="2311621"/>
                <a:ext cx="4230393" cy="10374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C9C2292-939E-464A-980D-F5B29DA281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39" y="2311621"/>
                <a:ext cx="4230393" cy="1037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7D0FF85-89B9-FB43-B243-D15D54F39753}"/>
                  </a:ext>
                </a:extLst>
              </p:cNvPr>
              <p:cNvSpPr/>
              <p:nvPr/>
            </p:nvSpPr>
            <p:spPr>
              <a:xfrm>
                <a:off x="4430926" y="2353616"/>
                <a:ext cx="289050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7D0FF85-89B9-FB43-B243-D15D54F397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926" y="2353616"/>
                <a:ext cx="2890509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7F6550-C648-1D4E-9C04-B621AB2384FE}"/>
                  </a:ext>
                </a:extLst>
              </p:cNvPr>
              <p:cNvSpPr txBox="1"/>
              <p:nvPr/>
            </p:nvSpPr>
            <p:spPr>
              <a:xfrm>
                <a:off x="4462455" y="3790451"/>
                <a:ext cx="36574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7F6550-C648-1D4E-9C04-B621AB238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55" y="3790451"/>
                <a:ext cx="3657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ABE944D-037E-464C-B7CB-E49DE5D5C4A4}"/>
                  </a:ext>
                </a:extLst>
              </p:cNvPr>
              <p:cNvSpPr txBox="1"/>
              <p:nvPr/>
            </p:nvSpPr>
            <p:spPr>
              <a:xfrm>
                <a:off x="7290578" y="3788606"/>
                <a:ext cx="39177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ABE944D-037E-464C-B7CB-E49DE5D5C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578" y="3788606"/>
                <a:ext cx="39177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300CECC-6CBD-0D44-AA44-3C782D0A397E}"/>
                  </a:ext>
                </a:extLst>
              </p:cNvPr>
              <p:cNvSpPr txBox="1"/>
              <p:nvPr/>
            </p:nvSpPr>
            <p:spPr>
              <a:xfrm>
                <a:off x="6699026" y="3788606"/>
                <a:ext cx="3658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300CECC-6CBD-0D44-AA44-3C782D0A3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026" y="3788606"/>
                <a:ext cx="3658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9596A51-A6A6-D34E-8B82-3D7E83D91F70}"/>
                  </a:ext>
                </a:extLst>
              </p:cNvPr>
              <p:cNvSpPr txBox="1"/>
              <p:nvPr/>
            </p:nvSpPr>
            <p:spPr>
              <a:xfrm>
                <a:off x="6093834" y="3788606"/>
                <a:ext cx="3658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9596A51-A6A6-D34E-8B82-3D7E83D91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834" y="3788606"/>
                <a:ext cx="36580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EB7B82E-8FB8-A249-A28D-9702F0C2E4A7}"/>
              </a:ext>
            </a:extLst>
          </p:cNvPr>
          <p:cNvSpPr txBox="1"/>
          <p:nvPr/>
        </p:nvSpPr>
        <p:spPr>
          <a:xfrm>
            <a:off x="5561578" y="4041059"/>
            <a:ext cx="1847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248E0F-2599-B343-A0DE-211DF3A2DE69}"/>
              </a:ext>
            </a:extLst>
          </p:cNvPr>
          <p:cNvSpPr/>
          <p:nvPr/>
        </p:nvSpPr>
        <p:spPr>
          <a:xfrm>
            <a:off x="4221921" y="3716595"/>
            <a:ext cx="862180" cy="2837968"/>
          </a:xfrm>
          <a:prstGeom prst="rect">
            <a:avLst/>
          </a:prstGeom>
          <a:solidFill>
            <a:srgbClr val="4472C4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CDF996D-6E79-A144-8ADF-D0963F6F6D36}"/>
                  </a:ext>
                </a:extLst>
              </p:cNvPr>
              <p:cNvSpPr txBox="1"/>
              <p:nvPr/>
            </p:nvSpPr>
            <p:spPr>
              <a:xfrm>
                <a:off x="7122209" y="4949055"/>
                <a:ext cx="5494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CDF996D-6E79-A144-8ADF-D0963F6F6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209" y="4949055"/>
                <a:ext cx="54944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2E3A989-2019-294F-A20D-E386DF6B5989}"/>
                  </a:ext>
                </a:extLst>
              </p:cNvPr>
              <p:cNvSpPr txBox="1"/>
              <p:nvPr/>
            </p:nvSpPr>
            <p:spPr>
              <a:xfrm>
                <a:off x="6578038" y="4949055"/>
                <a:ext cx="4489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2E3A989-2019-294F-A20D-E386DF6B5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038" y="4949055"/>
                <a:ext cx="4489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E0496CB-1CD3-5849-81BE-D0355F57869F}"/>
                  </a:ext>
                </a:extLst>
              </p:cNvPr>
              <p:cNvSpPr txBox="1"/>
              <p:nvPr/>
            </p:nvSpPr>
            <p:spPr>
              <a:xfrm>
                <a:off x="5284335" y="4942575"/>
                <a:ext cx="5494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E0496CB-1CD3-5849-81BE-D0355F578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335" y="4942575"/>
                <a:ext cx="54944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Up Arrow 29">
            <a:extLst>
              <a:ext uri="{FF2B5EF4-FFF2-40B4-BE49-F238E27FC236}">
                <a16:creationId xmlns:a16="http://schemas.microsoft.com/office/drawing/2014/main" id="{9203E8DD-05C6-7545-94F9-80AB47026ED1}"/>
              </a:ext>
            </a:extLst>
          </p:cNvPr>
          <p:cNvSpPr/>
          <p:nvPr/>
        </p:nvSpPr>
        <p:spPr>
          <a:xfrm rot="5400000">
            <a:off x="7270144" y="4797656"/>
            <a:ext cx="139075" cy="302797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Up Arrow 30">
            <a:extLst>
              <a:ext uri="{FF2B5EF4-FFF2-40B4-BE49-F238E27FC236}">
                <a16:creationId xmlns:a16="http://schemas.microsoft.com/office/drawing/2014/main" id="{D461A41C-D4AE-244F-BB18-F32627784F48}"/>
              </a:ext>
            </a:extLst>
          </p:cNvPr>
          <p:cNvSpPr/>
          <p:nvPr/>
        </p:nvSpPr>
        <p:spPr>
          <a:xfrm rot="5400000">
            <a:off x="6712762" y="4797656"/>
            <a:ext cx="139075" cy="302797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Up Arrow 31">
            <a:extLst>
              <a:ext uri="{FF2B5EF4-FFF2-40B4-BE49-F238E27FC236}">
                <a16:creationId xmlns:a16="http://schemas.microsoft.com/office/drawing/2014/main" id="{2C6E5860-134E-A34E-8C82-5F0D43F10261}"/>
              </a:ext>
            </a:extLst>
          </p:cNvPr>
          <p:cNvSpPr/>
          <p:nvPr/>
        </p:nvSpPr>
        <p:spPr>
          <a:xfrm rot="5400000">
            <a:off x="5583702" y="4802508"/>
            <a:ext cx="139075" cy="302797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9022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5A66-D0CF-D948-8088-19CB482FF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1885"/>
            <a:ext cx="12192000" cy="4351338"/>
          </a:xfrm>
        </p:spPr>
        <p:txBody>
          <a:bodyPr/>
          <a:lstStyle/>
          <a:p>
            <a:r>
              <a:rPr lang="en-US" dirty="0"/>
              <a:t>When two fluids come into contact with each other 4 zones separated by 3 transition regions are form, which satisfy the continuity equations: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75EB93-FE67-E041-A967-F33CD842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Riemann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C9C2292-939E-464A-980D-F5B29DA281B0}"/>
                  </a:ext>
                </a:extLst>
              </p:cNvPr>
              <p:cNvSpPr/>
              <p:nvPr/>
            </p:nvSpPr>
            <p:spPr>
              <a:xfrm>
                <a:off x="7799639" y="2311621"/>
                <a:ext cx="4230393" cy="10374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C9C2292-939E-464A-980D-F5B29DA281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39" y="2311621"/>
                <a:ext cx="4230393" cy="1037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7D0FF85-89B9-FB43-B243-D15D54F39753}"/>
                  </a:ext>
                </a:extLst>
              </p:cNvPr>
              <p:cNvSpPr/>
              <p:nvPr/>
            </p:nvSpPr>
            <p:spPr>
              <a:xfrm>
                <a:off x="4430926" y="2353616"/>
                <a:ext cx="2890509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endParaRPr lang="en-US" dirty="0">
                  <a:solidFill>
                    <a:srgbClr val="0070C0"/>
                  </a:solidFill>
                </a:endParaRPr>
              </a:p>
              <a:p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7D0FF85-89B9-FB43-B243-D15D54F397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926" y="2353616"/>
                <a:ext cx="2890509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70E5EECC-84E8-484F-894B-140AEC4ECC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93" y="3765753"/>
            <a:ext cx="11264607" cy="309224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801673F-174A-634E-85BE-930DDF7CB288}"/>
              </a:ext>
            </a:extLst>
          </p:cNvPr>
          <p:cNvSpPr/>
          <p:nvPr/>
        </p:nvSpPr>
        <p:spPr>
          <a:xfrm>
            <a:off x="3048000" y="6253314"/>
            <a:ext cx="521110" cy="285136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00ED3B-48A1-3C43-90EB-D66A3CF133C8}"/>
              </a:ext>
            </a:extLst>
          </p:cNvPr>
          <p:cNvSpPr/>
          <p:nvPr/>
        </p:nvSpPr>
        <p:spPr>
          <a:xfrm>
            <a:off x="10793362" y="6331972"/>
            <a:ext cx="521110" cy="201562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289907-B1AC-8245-8325-8B315CB72182}"/>
              </a:ext>
            </a:extLst>
          </p:cNvPr>
          <p:cNvSpPr/>
          <p:nvPr/>
        </p:nvSpPr>
        <p:spPr>
          <a:xfrm>
            <a:off x="412078" y="4306527"/>
            <a:ext cx="846451" cy="2212259"/>
          </a:xfrm>
          <a:prstGeom prst="rect">
            <a:avLst/>
          </a:prstGeom>
          <a:solidFill>
            <a:srgbClr val="4472C4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BF3D32-646F-3345-8FE2-35F2727ECFF4}"/>
              </a:ext>
            </a:extLst>
          </p:cNvPr>
          <p:cNvSpPr/>
          <p:nvPr/>
        </p:nvSpPr>
        <p:spPr>
          <a:xfrm>
            <a:off x="8145149" y="4306526"/>
            <a:ext cx="846451" cy="2212259"/>
          </a:xfrm>
          <a:prstGeom prst="rect">
            <a:avLst/>
          </a:prstGeom>
          <a:solidFill>
            <a:srgbClr val="4472C4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BC9E48-26DA-4C4B-B4E9-4EC05260AA92}"/>
              </a:ext>
            </a:extLst>
          </p:cNvPr>
          <p:cNvSpPr/>
          <p:nvPr/>
        </p:nvSpPr>
        <p:spPr>
          <a:xfrm>
            <a:off x="2570785" y="5968178"/>
            <a:ext cx="452283" cy="565356"/>
          </a:xfrm>
          <a:prstGeom prst="rect">
            <a:avLst/>
          </a:prstGeom>
          <a:solidFill>
            <a:srgbClr val="FF0000">
              <a:alpha val="756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DBD0BA-940E-3940-9343-9D6F42BD4E53}"/>
              </a:ext>
            </a:extLst>
          </p:cNvPr>
          <p:cNvSpPr/>
          <p:nvPr/>
        </p:nvSpPr>
        <p:spPr>
          <a:xfrm>
            <a:off x="1971369" y="5579805"/>
            <a:ext cx="579752" cy="953730"/>
          </a:xfrm>
          <a:prstGeom prst="rect">
            <a:avLst/>
          </a:prstGeom>
          <a:solidFill>
            <a:srgbClr val="4472C4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9C9626-331E-EF48-958F-FA7CE6313E0A}"/>
              </a:ext>
            </a:extLst>
          </p:cNvPr>
          <p:cNvSpPr/>
          <p:nvPr/>
        </p:nvSpPr>
        <p:spPr>
          <a:xfrm>
            <a:off x="10282087" y="5818033"/>
            <a:ext cx="471947" cy="725332"/>
          </a:xfrm>
          <a:prstGeom prst="rect">
            <a:avLst/>
          </a:prstGeom>
          <a:solidFill>
            <a:srgbClr val="FF0000">
              <a:alpha val="756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B0E3AE-7DB2-A246-B816-AAF5A8EB237E}"/>
              </a:ext>
            </a:extLst>
          </p:cNvPr>
          <p:cNvSpPr/>
          <p:nvPr/>
        </p:nvSpPr>
        <p:spPr>
          <a:xfrm>
            <a:off x="9702335" y="5818033"/>
            <a:ext cx="579752" cy="725332"/>
          </a:xfrm>
          <a:prstGeom prst="rect">
            <a:avLst/>
          </a:prstGeom>
          <a:solidFill>
            <a:srgbClr val="4472C4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74FEF92-10F9-A04B-8408-02A1A28BADA2}"/>
                  </a:ext>
                </a:extLst>
              </p:cNvPr>
              <p:cNvSpPr/>
              <p:nvPr/>
            </p:nvSpPr>
            <p:spPr>
              <a:xfrm>
                <a:off x="32722" y="2348284"/>
                <a:ext cx="4159102" cy="11649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74FEF92-10F9-A04B-8408-02A1A28BAD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2" y="2348284"/>
                <a:ext cx="4159102" cy="1164934"/>
              </a:xfrm>
              <a:prstGeom prst="rect">
                <a:avLst/>
              </a:prstGeom>
              <a:blipFill>
                <a:blip r:embed="rId6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53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10592</TotalTime>
  <Words>6579</Words>
  <Application>Microsoft Macintosh PowerPoint</Application>
  <PresentationFormat>Widescreen</PresentationFormat>
  <Paragraphs>820</Paragraphs>
  <Slides>105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1" baseType="lpstr">
      <vt:lpstr>Arial</vt:lpstr>
      <vt:lpstr>Calibri</vt:lpstr>
      <vt:lpstr>Calibri Light</vt:lpstr>
      <vt:lpstr>Cambria Math</vt:lpstr>
      <vt:lpstr>CMSS12</vt:lpstr>
      <vt:lpstr>Office Theme</vt:lpstr>
      <vt:lpstr>Lecture 10: Fluid dynamics</vt:lpstr>
      <vt:lpstr>Part I : The fluid equations</vt:lpstr>
      <vt:lpstr>Definition of a fluid:</vt:lpstr>
      <vt:lpstr>Paths of flows</vt:lpstr>
      <vt:lpstr>Paths of flows</vt:lpstr>
      <vt:lpstr>Types of flows</vt:lpstr>
      <vt:lpstr>Eulerian versus Lagrangian approach </vt:lpstr>
      <vt:lpstr>Conservative derivative </vt:lpstr>
      <vt:lpstr>Mass conservation (Eulerian description) </vt:lpstr>
      <vt:lpstr>Mass conservation (Eulerian description) </vt:lpstr>
      <vt:lpstr>Mass conservation (Eulerian description) </vt:lpstr>
      <vt:lpstr>Mass conservation (Lagrangian approach)</vt:lpstr>
      <vt:lpstr>Mass conservation (Lagrangian approach)</vt:lpstr>
      <vt:lpstr>Mass conservation (Lagrangian approach)</vt:lpstr>
      <vt:lpstr>Mass conservation (Lagrangian approach)</vt:lpstr>
      <vt:lpstr>Dynamics of an ideal fluid </vt:lpstr>
      <vt:lpstr>Euler equation (momentum conservation) </vt:lpstr>
      <vt:lpstr>Energy conservation (Lagrangian approach) </vt:lpstr>
      <vt:lpstr>Energy conservation (Lagrangian approach) </vt:lpstr>
      <vt:lpstr>Energy conservation (Lagrangian approach) </vt:lpstr>
      <vt:lpstr>Energy conservation (Lagrangian approach) </vt:lpstr>
      <vt:lpstr>Energy conservation (Lagrangian approach) </vt:lpstr>
      <vt:lpstr>Energy conservation (Lagrangian approach) </vt:lpstr>
      <vt:lpstr>Energy conservation (Lagrangian approach) </vt:lpstr>
      <vt:lpstr>Energy conservation (Lagrangian approach) </vt:lpstr>
      <vt:lpstr>Energy conservation (Lagrangian approach) </vt:lpstr>
      <vt:lpstr>Energy conservation (Lagrangian approach) </vt:lpstr>
      <vt:lpstr>Energy conservation (Lagrangian approach) </vt:lpstr>
      <vt:lpstr>Energy conservation (Lagrangian approach) </vt:lpstr>
      <vt:lpstr>Energy conservation (Eulerian approach) </vt:lpstr>
      <vt:lpstr>Energy conservation (Eulerian approach) </vt:lpstr>
      <vt:lpstr>Energy conservation (Eulerian approach) </vt:lpstr>
      <vt:lpstr>Energy conservation (Eulerian approach) </vt:lpstr>
      <vt:lpstr>Energy conservation (Eulerian approach) </vt:lpstr>
      <vt:lpstr>Energy conservation (Eulerian approach) </vt:lpstr>
      <vt:lpstr>Energy conservation (Eulerian approach) </vt:lpstr>
      <vt:lpstr>Summary of the fluid equations </vt:lpstr>
      <vt:lpstr>Entropy conservation and equation of state</vt:lpstr>
      <vt:lpstr>Entropy conservation and equation of state</vt:lpstr>
      <vt:lpstr>Entropy conservation and equation of state</vt:lpstr>
      <vt:lpstr>Entropy conservation and equation of state</vt:lpstr>
      <vt:lpstr>Entropy conservation and equation of state</vt:lpstr>
      <vt:lpstr>Entropy conservation and equation of state</vt:lpstr>
      <vt:lpstr>Entropy conservation and equation of state</vt:lpstr>
      <vt:lpstr>Entropy conservation and equation of state</vt:lpstr>
      <vt:lpstr>Entropy conservation and equation of state</vt:lpstr>
      <vt:lpstr>Entropy conservation and equation of state</vt:lpstr>
      <vt:lpstr>Entropy conservation and equation of state</vt:lpstr>
      <vt:lpstr>Entropy conservation and equation of state</vt:lpstr>
      <vt:lpstr>Bernoulli’s theorem </vt:lpstr>
      <vt:lpstr>The stress tensor </vt:lpstr>
      <vt:lpstr>The stress tensor </vt:lpstr>
      <vt:lpstr>The stress tensor </vt:lpstr>
      <vt:lpstr>The stress tensor </vt:lpstr>
      <vt:lpstr>Part II : Sound waves</vt:lpstr>
      <vt:lpstr>Sound waves </vt:lpstr>
      <vt:lpstr>The wave equation </vt:lpstr>
      <vt:lpstr>The wave equation </vt:lpstr>
      <vt:lpstr>The wave equation</vt:lpstr>
      <vt:lpstr>The wave equation</vt:lpstr>
      <vt:lpstr>The wave equation</vt:lpstr>
      <vt:lpstr>The wave equation</vt:lpstr>
      <vt:lpstr>The wave equation</vt:lpstr>
      <vt:lpstr>The wave equation</vt:lpstr>
      <vt:lpstr>The wave equation</vt:lpstr>
      <vt:lpstr>The wave equation</vt:lpstr>
      <vt:lpstr>The wave equation</vt:lpstr>
      <vt:lpstr>The wave equation</vt:lpstr>
      <vt:lpstr>The wave equation</vt:lpstr>
      <vt:lpstr>The wave equation</vt:lpstr>
      <vt:lpstr>The wave equation</vt:lpstr>
      <vt:lpstr>The wave equation</vt:lpstr>
      <vt:lpstr>The wave equation</vt:lpstr>
      <vt:lpstr>The wave equation</vt:lpstr>
      <vt:lpstr>The wave equation</vt:lpstr>
      <vt:lpstr>Mach number </vt:lpstr>
      <vt:lpstr>Part III : Characteristics &amp; Riemann invariants </vt:lpstr>
      <vt:lpstr>Characteristics and Riemann invariants </vt:lpstr>
      <vt:lpstr>Example I: the advection equation</vt:lpstr>
      <vt:lpstr>Example I: the advection equation</vt:lpstr>
      <vt:lpstr>Example I: the advection equation</vt:lpstr>
      <vt:lpstr>Example I: the advection equation</vt:lpstr>
      <vt:lpstr>Example II: Burgers’ equation</vt:lpstr>
      <vt:lpstr>Example II: Burgers’ equation</vt:lpstr>
      <vt:lpstr>Example II: Burgers’ equation</vt:lpstr>
      <vt:lpstr>Riemann invariants for fluid equations </vt:lpstr>
      <vt:lpstr>Riemann invariants for fluid equations </vt:lpstr>
      <vt:lpstr>Riemann invariants for fluid equations </vt:lpstr>
      <vt:lpstr>Riemann invariants for fluid equations </vt:lpstr>
      <vt:lpstr>Riemann invariants for fluid equations </vt:lpstr>
      <vt:lpstr>Example: a simple wave</vt:lpstr>
      <vt:lpstr>Example: a simple wave</vt:lpstr>
      <vt:lpstr>Example: a simple wave</vt:lpstr>
      <vt:lpstr>Example: a simple wave</vt:lpstr>
      <vt:lpstr>Example: a simple wave</vt:lpstr>
      <vt:lpstr>Example: a simple wave</vt:lpstr>
      <vt:lpstr>Shock waves</vt:lpstr>
      <vt:lpstr>Shock waves</vt:lpstr>
      <vt:lpstr>Shock waves</vt:lpstr>
      <vt:lpstr>Shock waves</vt:lpstr>
      <vt:lpstr>Shock waves</vt:lpstr>
      <vt:lpstr>Riemann problem</vt:lpstr>
      <vt:lpstr>Riemann problem</vt:lpstr>
      <vt:lpstr>Riemann problem</vt:lpstr>
      <vt:lpstr>Riemann problem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10: Fluid dynamics</dc:title>
  <dc:creator>Omer Bromberg</dc:creator>
  <cp:lastModifiedBy>Omer Bromberg</cp:lastModifiedBy>
  <cp:revision>145</cp:revision>
  <dcterms:created xsi:type="dcterms:W3CDTF">2024-02-15T10:18:56Z</dcterms:created>
  <dcterms:modified xsi:type="dcterms:W3CDTF">2025-12-08T09:56:51Z</dcterms:modified>
</cp:coreProperties>
</file>