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4"/>
  </p:notesMasterIdLst>
  <p:sldIdLst>
    <p:sldId id="256" r:id="rId2"/>
    <p:sldId id="291" r:id="rId3"/>
    <p:sldId id="292" r:id="rId4"/>
    <p:sldId id="293" r:id="rId5"/>
    <p:sldId id="294" r:id="rId6"/>
    <p:sldId id="334" r:id="rId7"/>
    <p:sldId id="335" r:id="rId8"/>
    <p:sldId id="295" r:id="rId9"/>
    <p:sldId id="336" r:id="rId10"/>
    <p:sldId id="337" r:id="rId11"/>
    <p:sldId id="414" r:id="rId12"/>
    <p:sldId id="296" r:id="rId13"/>
    <p:sldId id="297" r:id="rId14"/>
    <p:sldId id="298" r:id="rId15"/>
    <p:sldId id="299" r:id="rId16"/>
    <p:sldId id="338" r:id="rId17"/>
    <p:sldId id="339" r:id="rId18"/>
    <p:sldId id="340" r:id="rId19"/>
    <p:sldId id="341" r:id="rId20"/>
    <p:sldId id="342" r:id="rId21"/>
    <p:sldId id="300" r:id="rId22"/>
    <p:sldId id="417" r:id="rId23"/>
    <p:sldId id="418" r:id="rId24"/>
    <p:sldId id="419" r:id="rId25"/>
    <p:sldId id="420" r:id="rId26"/>
    <p:sldId id="301" r:id="rId27"/>
    <p:sldId id="422" r:id="rId28"/>
    <p:sldId id="423" r:id="rId29"/>
    <p:sldId id="424" r:id="rId30"/>
    <p:sldId id="425" r:id="rId31"/>
    <p:sldId id="428" r:id="rId32"/>
    <p:sldId id="303" r:id="rId33"/>
    <p:sldId id="304" r:id="rId34"/>
    <p:sldId id="305" r:id="rId35"/>
    <p:sldId id="344" r:id="rId36"/>
    <p:sldId id="345" r:id="rId37"/>
    <p:sldId id="306" r:id="rId38"/>
    <p:sldId id="433" r:id="rId39"/>
    <p:sldId id="434" r:id="rId40"/>
    <p:sldId id="307" r:id="rId41"/>
    <p:sldId id="432" r:id="rId42"/>
    <p:sldId id="346" r:id="rId43"/>
    <p:sldId id="308" r:id="rId44"/>
    <p:sldId id="347" r:id="rId45"/>
    <p:sldId id="309" r:id="rId46"/>
    <p:sldId id="348" r:id="rId47"/>
    <p:sldId id="310" r:id="rId48"/>
    <p:sldId id="311" r:id="rId49"/>
    <p:sldId id="349" r:id="rId50"/>
    <p:sldId id="350" r:id="rId51"/>
    <p:sldId id="351" r:id="rId52"/>
    <p:sldId id="352" r:id="rId53"/>
    <p:sldId id="313" r:id="rId54"/>
    <p:sldId id="353" r:id="rId55"/>
    <p:sldId id="354" r:id="rId56"/>
    <p:sldId id="314" r:id="rId57"/>
    <p:sldId id="356" r:id="rId58"/>
    <p:sldId id="357" r:id="rId59"/>
    <p:sldId id="358" r:id="rId60"/>
    <p:sldId id="359" r:id="rId61"/>
    <p:sldId id="389" r:id="rId62"/>
    <p:sldId id="390" r:id="rId63"/>
    <p:sldId id="391" r:id="rId64"/>
    <p:sldId id="392" r:id="rId65"/>
    <p:sldId id="393" r:id="rId66"/>
    <p:sldId id="395" r:id="rId67"/>
    <p:sldId id="318" r:id="rId68"/>
    <p:sldId id="396" r:id="rId69"/>
    <p:sldId id="397" r:id="rId70"/>
    <p:sldId id="398" r:id="rId71"/>
    <p:sldId id="399" r:id="rId72"/>
    <p:sldId id="400" r:id="rId73"/>
    <p:sldId id="401" r:id="rId74"/>
    <p:sldId id="402" r:id="rId75"/>
    <p:sldId id="408" r:id="rId76"/>
    <p:sldId id="403" r:id="rId77"/>
    <p:sldId id="430" r:id="rId78"/>
    <p:sldId id="405" r:id="rId79"/>
    <p:sldId id="406" r:id="rId80"/>
    <p:sldId id="409" r:id="rId81"/>
    <p:sldId id="435" r:id="rId82"/>
    <p:sldId id="411" r:id="rId83"/>
    <p:sldId id="413" r:id="rId84"/>
    <p:sldId id="429" r:id="rId85"/>
    <p:sldId id="319" r:id="rId86"/>
    <p:sldId id="360" r:id="rId87"/>
    <p:sldId id="321" r:id="rId88"/>
    <p:sldId id="431" r:id="rId89"/>
    <p:sldId id="322" r:id="rId90"/>
    <p:sldId id="362" r:id="rId91"/>
    <p:sldId id="436" r:id="rId92"/>
    <p:sldId id="361" r:id="rId93"/>
    <p:sldId id="323" r:id="rId94"/>
    <p:sldId id="324" r:id="rId95"/>
    <p:sldId id="326" r:id="rId96"/>
    <p:sldId id="327" r:id="rId97"/>
    <p:sldId id="329" r:id="rId98"/>
    <p:sldId id="330" r:id="rId99"/>
    <p:sldId id="331" r:id="rId100"/>
    <p:sldId id="332" r:id="rId101"/>
    <p:sldId id="363" r:id="rId102"/>
    <p:sldId id="333" r:id="rId103"/>
    <p:sldId id="365" r:id="rId104"/>
    <p:sldId id="364" r:id="rId105"/>
    <p:sldId id="366" r:id="rId106"/>
    <p:sldId id="368" r:id="rId107"/>
    <p:sldId id="386" r:id="rId108"/>
    <p:sldId id="388" r:id="rId109"/>
    <p:sldId id="387" r:id="rId110"/>
    <p:sldId id="369" r:id="rId111"/>
    <p:sldId id="437" r:id="rId112"/>
    <p:sldId id="438" r:id="rId1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Omer Bromberg" initials="OB" lastIdx="2" clrIdx="0">
    <p:extLst>
      <p:ext uri="{19B8F6BF-5375-455C-9EA6-DF929625EA0E}">
        <p15:presenceInfo xmlns:p15="http://schemas.microsoft.com/office/powerpoint/2012/main" userId="S::omerbr@tauex.tau.ac.il::85f503b4-58cb-41e0-aeb7-efccdc531a97"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4472C4"/>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164"/>
    <p:restoredTop sz="94673"/>
  </p:normalViewPr>
  <p:slideViewPr>
    <p:cSldViewPr snapToGrid="0" snapToObjects="1">
      <p:cViewPr varScale="1">
        <p:scale>
          <a:sx n="136" d="100"/>
          <a:sy n="136" d="100"/>
        </p:scale>
        <p:origin x="248" y="21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viewProps" Target="viewProps.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theme" Target="theme/theme1.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notesMaster" Target="notesMasters/notesMaster1.xml"/><Relationship Id="rId119"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commentAuthors" Target="commentAuthor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C74C2F5-2CB4-5747-B224-848D22ECED99}" type="datetimeFigureOut">
              <a:rPr lang="en-US" smtClean="0"/>
              <a:t>11/30/25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3B2E03D-7473-C544-B290-967DD5157CE3}" type="slidenum">
              <a:rPr lang="en-US" smtClean="0"/>
              <a:t>‹#›</a:t>
            </a:fld>
            <a:endParaRPr lang="en-US"/>
          </a:p>
        </p:txBody>
      </p:sp>
    </p:spTree>
    <p:extLst>
      <p:ext uri="{BB962C8B-B14F-4D97-AF65-F5344CB8AC3E}">
        <p14:creationId xmlns:p14="http://schemas.microsoft.com/office/powerpoint/2010/main" val="37622629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LHS: at </a:t>
            </a:r>
            <a:r>
              <a:rPr lang="en-US" dirty="0" err="1"/>
              <a:t>t_n</a:t>
            </a:r>
            <a:r>
              <a:rPr lang="en-US" dirty="0"/>
              <a:t> u=</a:t>
            </a:r>
            <a:r>
              <a:rPr lang="en-US" dirty="0" err="1"/>
              <a:t>u_r</a:t>
            </a:r>
            <a:r>
              <a:rPr lang="en-US" dirty="0"/>
              <a:t> all along x. at t_n+1 u=</a:t>
            </a:r>
            <a:r>
              <a:rPr lang="en-US" dirty="0" err="1"/>
              <a:t>u_l</a:t>
            </a:r>
            <a:r>
              <a:rPr lang="en-US" dirty="0"/>
              <a:t> al along x. </a:t>
            </a:r>
          </a:p>
          <a:p>
            <a:r>
              <a:rPr lang="en-US" dirty="0"/>
              <a:t>The first integration in time of du/</a:t>
            </a:r>
            <a:r>
              <a:rPr lang="en-US" dirty="0" err="1"/>
              <a:t>dt</a:t>
            </a:r>
            <a:r>
              <a:rPr lang="en-US" dirty="0"/>
              <a:t> gives u, and since u is uniform at each time we get </a:t>
            </a:r>
            <a:r>
              <a:rPr lang="en-US" dirty="0" err="1"/>
              <a:t>u_l-u_r</a:t>
            </a:r>
            <a:endParaRPr lang="en-US" dirty="0"/>
          </a:p>
          <a:p>
            <a:r>
              <a:rPr lang="en-US" dirty="0"/>
              <a:t>RHS: the fluxes on each interface are constant in time throughout the time interval .</a:t>
            </a:r>
          </a:p>
          <a:p>
            <a:r>
              <a:rPr lang="en-US" dirty="0"/>
              <a:t>The first integral in space of </a:t>
            </a:r>
            <a:r>
              <a:rPr lang="en-US" dirty="0" err="1"/>
              <a:t>dF</a:t>
            </a:r>
            <a:r>
              <a:rPr lang="en-US" dirty="0"/>
              <a:t>/dx gives F and since F is constant in time the second integral in time just brings out Dt.</a:t>
            </a:r>
          </a:p>
        </p:txBody>
      </p:sp>
      <p:sp>
        <p:nvSpPr>
          <p:cNvPr id="4" name="Slide Number Placeholder 3"/>
          <p:cNvSpPr>
            <a:spLocks noGrp="1"/>
          </p:cNvSpPr>
          <p:nvPr>
            <p:ph type="sldNum" sz="quarter" idx="5"/>
          </p:nvPr>
        </p:nvSpPr>
        <p:spPr/>
        <p:txBody>
          <a:bodyPr/>
          <a:lstStyle/>
          <a:p>
            <a:fld id="{93B2E03D-7473-C544-B290-967DD5157CE3}" type="slidenum">
              <a:rPr lang="en-US" smtClean="0"/>
              <a:t>9</a:t>
            </a:fld>
            <a:endParaRPr lang="en-US"/>
          </a:p>
        </p:txBody>
      </p:sp>
    </p:spTree>
    <p:extLst>
      <p:ext uri="{BB962C8B-B14F-4D97-AF65-F5344CB8AC3E}">
        <p14:creationId xmlns:p14="http://schemas.microsoft.com/office/powerpoint/2010/main" val="182533273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D^2P / Dx^2  =  (</a:t>
            </a:r>
            <a:r>
              <a:rPr lang="en-US" dirty="0" err="1"/>
              <a:t>Dp</a:t>
            </a:r>
            <a:r>
              <a:rPr lang="en-US" dirty="0"/>
              <a:t>/</a:t>
            </a:r>
            <a:r>
              <a:rPr lang="en-US" dirty="0" err="1"/>
              <a:t>Dx</a:t>
            </a:r>
            <a:r>
              <a:rPr lang="en-US" dirty="0"/>
              <a:t>(i+1/2) - </a:t>
            </a:r>
            <a:r>
              <a:rPr lang="en-US" dirty="0" err="1"/>
              <a:t>Dp</a:t>
            </a:r>
            <a:r>
              <a:rPr lang="en-US" dirty="0"/>
              <a:t>/</a:t>
            </a:r>
            <a:r>
              <a:rPr lang="en-US" dirty="0" err="1"/>
              <a:t>Dx</a:t>
            </a:r>
            <a:r>
              <a:rPr lang="en-US" dirty="0"/>
              <a:t>(i-1/2)) / </a:t>
            </a:r>
            <a:r>
              <a:rPr lang="en-US" dirty="0" err="1"/>
              <a:t>Dx</a:t>
            </a:r>
            <a:r>
              <a:rPr lang="en-US" dirty="0"/>
              <a:t>   =  D</a:t>
            </a:r>
          </a:p>
        </p:txBody>
      </p:sp>
      <p:sp>
        <p:nvSpPr>
          <p:cNvPr id="4" name="Slide Number Placeholder 3"/>
          <p:cNvSpPr>
            <a:spLocks noGrp="1"/>
          </p:cNvSpPr>
          <p:nvPr>
            <p:ph type="sldNum" sz="quarter" idx="5"/>
          </p:nvPr>
        </p:nvSpPr>
        <p:spPr/>
        <p:txBody>
          <a:bodyPr/>
          <a:lstStyle/>
          <a:p>
            <a:fld id="{93B2E03D-7473-C544-B290-967DD5157CE3}" type="slidenum">
              <a:rPr lang="en-US" smtClean="0"/>
              <a:t>38</a:t>
            </a:fld>
            <a:endParaRPr lang="en-US"/>
          </a:p>
        </p:txBody>
      </p:sp>
    </p:spTree>
    <p:extLst>
      <p:ext uri="{BB962C8B-B14F-4D97-AF65-F5344CB8AC3E}">
        <p14:creationId xmlns:p14="http://schemas.microsoft.com/office/powerpoint/2010/main" val="200418781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D^2P / Dx^2  =  (</a:t>
            </a:r>
            <a:r>
              <a:rPr lang="en-US" dirty="0" err="1"/>
              <a:t>Dp</a:t>
            </a:r>
            <a:r>
              <a:rPr lang="en-US" dirty="0"/>
              <a:t>/</a:t>
            </a:r>
            <a:r>
              <a:rPr lang="en-US" dirty="0" err="1"/>
              <a:t>Dx</a:t>
            </a:r>
            <a:r>
              <a:rPr lang="en-US" dirty="0"/>
              <a:t>(i+1/2) - </a:t>
            </a:r>
            <a:r>
              <a:rPr lang="en-US" dirty="0" err="1"/>
              <a:t>Dp</a:t>
            </a:r>
            <a:r>
              <a:rPr lang="en-US" dirty="0"/>
              <a:t>/</a:t>
            </a:r>
            <a:r>
              <a:rPr lang="en-US" dirty="0" err="1"/>
              <a:t>Dx</a:t>
            </a:r>
            <a:r>
              <a:rPr lang="en-US" dirty="0"/>
              <a:t>(i-1/2)) / </a:t>
            </a:r>
            <a:r>
              <a:rPr lang="en-US" dirty="0" err="1"/>
              <a:t>Dx</a:t>
            </a:r>
            <a:r>
              <a:rPr lang="en-US" dirty="0"/>
              <a:t>   =  D</a:t>
            </a:r>
          </a:p>
        </p:txBody>
      </p:sp>
      <p:sp>
        <p:nvSpPr>
          <p:cNvPr id="4" name="Slide Number Placeholder 3"/>
          <p:cNvSpPr>
            <a:spLocks noGrp="1"/>
          </p:cNvSpPr>
          <p:nvPr>
            <p:ph type="sldNum" sz="quarter" idx="5"/>
          </p:nvPr>
        </p:nvSpPr>
        <p:spPr/>
        <p:txBody>
          <a:bodyPr/>
          <a:lstStyle/>
          <a:p>
            <a:fld id="{93B2E03D-7473-C544-B290-967DD5157CE3}" type="slidenum">
              <a:rPr lang="en-US" smtClean="0"/>
              <a:t>39</a:t>
            </a:fld>
            <a:endParaRPr lang="en-US"/>
          </a:p>
        </p:txBody>
      </p:sp>
    </p:spTree>
    <p:extLst>
      <p:ext uri="{BB962C8B-B14F-4D97-AF65-F5344CB8AC3E}">
        <p14:creationId xmlns:p14="http://schemas.microsoft.com/office/powerpoint/2010/main" val="97946498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D^2P / Dx^2  =  (</a:t>
            </a:r>
            <a:r>
              <a:rPr lang="en-US" dirty="0" err="1"/>
              <a:t>Dp</a:t>
            </a:r>
            <a:r>
              <a:rPr lang="en-US" dirty="0"/>
              <a:t>/</a:t>
            </a:r>
            <a:r>
              <a:rPr lang="en-US" dirty="0" err="1"/>
              <a:t>Dx</a:t>
            </a:r>
            <a:r>
              <a:rPr lang="en-US" dirty="0"/>
              <a:t>(i+1/2) - </a:t>
            </a:r>
            <a:r>
              <a:rPr lang="en-US" dirty="0" err="1"/>
              <a:t>Dp</a:t>
            </a:r>
            <a:r>
              <a:rPr lang="en-US" dirty="0"/>
              <a:t>/</a:t>
            </a:r>
            <a:r>
              <a:rPr lang="en-US" dirty="0" err="1"/>
              <a:t>Dx</a:t>
            </a:r>
            <a:r>
              <a:rPr lang="en-US" dirty="0"/>
              <a:t>(i-1/2)) / </a:t>
            </a:r>
            <a:r>
              <a:rPr lang="en-US" dirty="0" err="1"/>
              <a:t>Dx</a:t>
            </a:r>
            <a:r>
              <a:rPr lang="en-US" dirty="0"/>
              <a:t>   =  D</a:t>
            </a:r>
          </a:p>
        </p:txBody>
      </p:sp>
      <p:sp>
        <p:nvSpPr>
          <p:cNvPr id="4" name="Slide Number Placeholder 3"/>
          <p:cNvSpPr>
            <a:spLocks noGrp="1"/>
          </p:cNvSpPr>
          <p:nvPr>
            <p:ph type="sldNum" sz="quarter" idx="5"/>
          </p:nvPr>
        </p:nvSpPr>
        <p:spPr/>
        <p:txBody>
          <a:bodyPr/>
          <a:lstStyle/>
          <a:p>
            <a:fld id="{93B2E03D-7473-C544-B290-967DD5157CE3}" type="slidenum">
              <a:rPr lang="en-US" smtClean="0"/>
              <a:t>40</a:t>
            </a:fld>
            <a:endParaRPr lang="en-US"/>
          </a:p>
        </p:txBody>
      </p:sp>
    </p:spTree>
    <p:extLst>
      <p:ext uri="{BB962C8B-B14F-4D97-AF65-F5344CB8AC3E}">
        <p14:creationId xmlns:p14="http://schemas.microsoft.com/office/powerpoint/2010/main" val="31324446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we will solve this equation we will get the true error.</a:t>
            </a:r>
          </a:p>
        </p:txBody>
      </p:sp>
      <p:sp>
        <p:nvSpPr>
          <p:cNvPr id="4" name="Slide Number Placeholder 3"/>
          <p:cNvSpPr>
            <a:spLocks noGrp="1"/>
          </p:cNvSpPr>
          <p:nvPr>
            <p:ph type="sldNum" sz="quarter" idx="5"/>
          </p:nvPr>
        </p:nvSpPr>
        <p:spPr/>
        <p:txBody>
          <a:bodyPr/>
          <a:lstStyle/>
          <a:p>
            <a:fld id="{93B2E03D-7473-C544-B290-967DD5157CE3}" type="slidenum">
              <a:rPr lang="en-US" smtClean="0"/>
              <a:t>54</a:t>
            </a:fld>
            <a:endParaRPr lang="en-US"/>
          </a:p>
        </p:txBody>
      </p:sp>
    </p:spTree>
    <p:extLst>
      <p:ext uri="{BB962C8B-B14F-4D97-AF65-F5344CB8AC3E}">
        <p14:creationId xmlns:p14="http://schemas.microsoft.com/office/powerpoint/2010/main" val="6205533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Numerical derivative of the numerically obtained solution give the desired function to machine precision. But the solution itself is different than the analytic one to an accuracy dictated by the truncation error or order of approximation of the derivative. The later cannot be improved.</a:t>
            </a:r>
          </a:p>
        </p:txBody>
      </p:sp>
      <p:sp>
        <p:nvSpPr>
          <p:cNvPr id="4" name="Slide Number Placeholder 3"/>
          <p:cNvSpPr>
            <a:spLocks noGrp="1"/>
          </p:cNvSpPr>
          <p:nvPr>
            <p:ph type="sldNum" sz="quarter" idx="5"/>
          </p:nvPr>
        </p:nvSpPr>
        <p:spPr/>
        <p:txBody>
          <a:bodyPr/>
          <a:lstStyle/>
          <a:p>
            <a:fld id="{93B2E03D-7473-C544-B290-967DD5157CE3}" type="slidenum">
              <a:rPr lang="en-US" smtClean="0"/>
              <a:t>58</a:t>
            </a:fld>
            <a:endParaRPr lang="en-US"/>
          </a:p>
        </p:txBody>
      </p:sp>
    </p:spTree>
    <p:extLst>
      <p:ext uri="{BB962C8B-B14F-4D97-AF65-F5344CB8AC3E}">
        <p14:creationId xmlns:p14="http://schemas.microsoft.com/office/powerpoint/2010/main" val="155325271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Upwinding</a:t>
            </a:r>
            <a:r>
              <a:rPr lang="en-US" dirty="0"/>
              <a:t> calculates the value of a function in the spatially </a:t>
            </a:r>
            <a:r>
              <a:rPr lang="en-US" dirty="0" err="1"/>
              <a:t>downind</a:t>
            </a:r>
            <a:r>
              <a:rPr lang="en-US" dirty="0"/>
              <a:t> cell with respect to a given velocity u. Here for each cell we need both the information from the previous as well as the next cell. </a:t>
            </a:r>
          </a:p>
        </p:txBody>
      </p:sp>
      <p:sp>
        <p:nvSpPr>
          <p:cNvPr id="4" name="Slide Number Placeholder 3"/>
          <p:cNvSpPr>
            <a:spLocks noGrp="1"/>
          </p:cNvSpPr>
          <p:nvPr>
            <p:ph type="sldNum" sz="quarter" idx="5"/>
          </p:nvPr>
        </p:nvSpPr>
        <p:spPr/>
        <p:txBody>
          <a:bodyPr/>
          <a:lstStyle/>
          <a:p>
            <a:fld id="{93B2E03D-7473-C544-B290-967DD5157CE3}" type="slidenum">
              <a:rPr lang="en-US" smtClean="0"/>
              <a:t>86</a:t>
            </a:fld>
            <a:endParaRPr lang="en-US"/>
          </a:p>
        </p:txBody>
      </p:sp>
    </p:spTree>
    <p:extLst>
      <p:ext uri="{BB962C8B-B14F-4D97-AF65-F5344CB8AC3E}">
        <p14:creationId xmlns:p14="http://schemas.microsoft.com/office/powerpoint/2010/main" val="258275660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3B2E03D-7473-C544-B290-967DD5157CE3}" type="slidenum">
              <a:rPr lang="en-US" smtClean="0"/>
              <a:t>87</a:t>
            </a:fld>
            <a:endParaRPr lang="en-US"/>
          </a:p>
        </p:txBody>
      </p:sp>
    </p:spTree>
    <p:extLst>
      <p:ext uri="{BB962C8B-B14F-4D97-AF65-F5344CB8AC3E}">
        <p14:creationId xmlns:p14="http://schemas.microsoft.com/office/powerpoint/2010/main" val="9004206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3B2E03D-7473-C544-B290-967DD5157CE3}" type="slidenum">
              <a:rPr lang="en-US" smtClean="0"/>
              <a:t>88</a:t>
            </a:fld>
            <a:endParaRPr lang="en-US"/>
          </a:p>
        </p:txBody>
      </p:sp>
    </p:spTree>
    <p:extLst>
      <p:ext uri="{BB962C8B-B14F-4D97-AF65-F5344CB8AC3E}">
        <p14:creationId xmlns:p14="http://schemas.microsoft.com/office/powerpoint/2010/main" val="213220745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3B2E03D-7473-C544-B290-967DD5157CE3}" type="slidenum">
              <a:rPr lang="en-US" smtClean="0"/>
              <a:t>91</a:t>
            </a:fld>
            <a:endParaRPr lang="en-US"/>
          </a:p>
        </p:txBody>
      </p:sp>
    </p:spTree>
    <p:extLst>
      <p:ext uri="{BB962C8B-B14F-4D97-AF65-F5344CB8AC3E}">
        <p14:creationId xmlns:p14="http://schemas.microsoft.com/office/powerpoint/2010/main" val="342470722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Note that if the initial conditions are not well resolve initially, then the solution will be bad </a:t>
            </a:r>
            <a:endParaRPr lang="en-US" dirty="0"/>
          </a:p>
          <a:p>
            <a:endParaRPr lang="en-US" dirty="0"/>
          </a:p>
        </p:txBody>
      </p:sp>
      <p:sp>
        <p:nvSpPr>
          <p:cNvPr id="4" name="Slide Number Placeholder 3"/>
          <p:cNvSpPr>
            <a:spLocks noGrp="1"/>
          </p:cNvSpPr>
          <p:nvPr>
            <p:ph type="sldNum" sz="quarter" idx="5"/>
          </p:nvPr>
        </p:nvSpPr>
        <p:spPr/>
        <p:txBody>
          <a:bodyPr/>
          <a:lstStyle/>
          <a:p>
            <a:fld id="{93B2E03D-7473-C544-B290-967DD5157CE3}" type="slidenum">
              <a:rPr lang="en-US" smtClean="0"/>
              <a:t>96</a:t>
            </a:fld>
            <a:endParaRPr lang="en-US"/>
          </a:p>
        </p:txBody>
      </p:sp>
    </p:spTree>
    <p:extLst>
      <p:ext uri="{BB962C8B-B14F-4D97-AF65-F5344CB8AC3E}">
        <p14:creationId xmlns:p14="http://schemas.microsoft.com/office/powerpoint/2010/main" val="96795220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that the time step still appears implicitly in the alpha parameter.</a:t>
            </a:r>
          </a:p>
        </p:txBody>
      </p:sp>
      <p:sp>
        <p:nvSpPr>
          <p:cNvPr id="4" name="Slide Number Placeholder 3"/>
          <p:cNvSpPr>
            <a:spLocks noGrp="1"/>
          </p:cNvSpPr>
          <p:nvPr>
            <p:ph type="sldNum" sz="quarter" idx="5"/>
          </p:nvPr>
        </p:nvSpPr>
        <p:spPr/>
        <p:txBody>
          <a:bodyPr/>
          <a:lstStyle/>
          <a:p>
            <a:fld id="{93B2E03D-7473-C544-B290-967DD5157CE3}" type="slidenum">
              <a:rPr lang="en-US" smtClean="0"/>
              <a:t>101</a:t>
            </a:fld>
            <a:endParaRPr lang="en-US"/>
          </a:p>
        </p:txBody>
      </p:sp>
    </p:spTree>
    <p:extLst>
      <p:ext uri="{BB962C8B-B14F-4D97-AF65-F5344CB8AC3E}">
        <p14:creationId xmlns:p14="http://schemas.microsoft.com/office/powerpoint/2010/main" val="304625257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9FB26F-7795-B342-AB9E-8E1215955B6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F74BD64-186C-BD4D-B657-7E4A3557CD1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88C476EA-1BC4-BF45-8012-81A9925190B0}"/>
              </a:ext>
            </a:extLst>
          </p:cNvPr>
          <p:cNvSpPr>
            <a:spLocks noGrp="1"/>
          </p:cNvSpPr>
          <p:nvPr>
            <p:ph type="dt" sz="half" idx="10"/>
          </p:nvPr>
        </p:nvSpPr>
        <p:spPr/>
        <p:txBody>
          <a:bodyPr/>
          <a:lstStyle/>
          <a:p>
            <a:fld id="{55013902-91EB-D946-8B0F-96C6C4818CD9}" type="datetimeFigureOut">
              <a:rPr lang="en-US" smtClean="0"/>
              <a:t>11/30/25</a:t>
            </a:fld>
            <a:endParaRPr lang="en-US"/>
          </a:p>
        </p:txBody>
      </p:sp>
      <p:sp>
        <p:nvSpPr>
          <p:cNvPr id="5" name="Footer Placeholder 4">
            <a:extLst>
              <a:ext uri="{FF2B5EF4-FFF2-40B4-BE49-F238E27FC236}">
                <a16:creationId xmlns:a16="http://schemas.microsoft.com/office/drawing/2014/main" id="{8297B5C5-E14B-DD43-8524-FCA29BFAD59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B18596F-1A71-D64F-8261-4D873B99C804}"/>
              </a:ext>
            </a:extLst>
          </p:cNvPr>
          <p:cNvSpPr>
            <a:spLocks noGrp="1"/>
          </p:cNvSpPr>
          <p:nvPr>
            <p:ph type="sldNum" sz="quarter" idx="12"/>
          </p:nvPr>
        </p:nvSpPr>
        <p:spPr/>
        <p:txBody>
          <a:bodyPr/>
          <a:lstStyle/>
          <a:p>
            <a:fld id="{2212D34C-0DE8-0D48-AB0F-FD3D80AA989D}" type="slidenum">
              <a:rPr lang="en-US" smtClean="0"/>
              <a:t>‹#›</a:t>
            </a:fld>
            <a:endParaRPr lang="en-US"/>
          </a:p>
        </p:txBody>
      </p:sp>
    </p:spTree>
    <p:extLst>
      <p:ext uri="{BB962C8B-B14F-4D97-AF65-F5344CB8AC3E}">
        <p14:creationId xmlns:p14="http://schemas.microsoft.com/office/powerpoint/2010/main" val="3375300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A10830-D096-A34E-B723-E5C2F16C7E3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EE97B02-9B06-0144-83B9-9D5A9DE84191}"/>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AC96C89-6AE4-4541-982A-196B17C33EBA}"/>
              </a:ext>
            </a:extLst>
          </p:cNvPr>
          <p:cNvSpPr>
            <a:spLocks noGrp="1"/>
          </p:cNvSpPr>
          <p:nvPr>
            <p:ph type="dt" sz="half" idx="10"/>
          </p:nvPr>
        </p:nvSpPr>
        <p:spPr/>
        <p:txBody>
          <a:bodyPr/>
          <a:lstStyle/>
          <a:p>
            <a:fld id="{55013902-91EB-D946-8B0F-96C6C4818CD9}" type="datetimeFigureOut">
              <a:rPr lang="en-US" smtClean="0"/>
              <a:t>11/30/25</a:t>
            </a:fld>
            <a:endParaRPr lang="en-US"/>
          </a:p>
        </p:txBody>
      </p:sp>
      <p:sp>
        <p:nvSpPr>
          <p:cNvPr id="5" name="Footer Placeholder 4">
            <a:extLst>
              <a:ext uri="{FF2B5EF4-FFF2-40B4-BE49-F238E27FC236}">
                <a16:creationId xmlns:a16="http://schemas.microsoft.com/office/drawing/2014/main" id="{C9F4EB28-022F-E44A-9C11-14DE963757F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A16EE38-41A6-DC4F-9E25-324EB0921525}"/>
              </a:ext>
            </a:extLst>
          </p:cNvPr>
          <p:cNvSpPr>
            <a:spLocks noGrp="1"/>
          </p:cNvSpPr>
          <p:nvPr>
            <p:ph type="sldNum" sz="quarter" idx="12"/>
          </p:nvPr>
        </p:nvSpPr>
        <p:spPr/>
        <p:txBody>
          <a:bodyPr/>
          <a:lstStyle/>
          <a:p>
            <a:fld id="{2212D34C-0DE8-0D48-AB0F-FD3D80AA989D}" type="slidenum">
              <a:rPr lang="en-US" smtClean="0"/>
              <a:t>‹#›</a:t>
            </a:fld>
            <a:endParaRPr lang="en-US"/>
          </a:p>
        </p:txBody>
      </p:sp>
    </p:spTree>
    <p:extLst>
      <p:ext uri="{BB962C8B-B14F-4D97-AF65-F5344CB8AC3E}">
        <p14:creationId xmlns:p14="http://schemas.microsoft.com/office/powerpoint/2010/main" val="20677094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E4C201-9249-DE49-BA64-F8D60919640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D33A364-AE23-AC4F-8587-D54BD42BFD7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06F2DBD9-4C55-0241-9E3B-5053B35B60F4}"/>
              </a:ext>
            </a:extLst>
          </p:cNvPr>
          <p:cNvSpPr>
            <a:spLocks noGrp="1"/>
          </p:cNvSpPr>
          <p:nvPr>
            <p:ph type="dt" sz="half" idx="10"/>
          </p:nvPr>
        </p:nvSpPr>
        <p:spPr/>
        <p:txBody>
          <a:bodyPr/>
          <a:lstStyle/>
          <a:p>
            <a:fld id="{55013902-91EB-D946-8B0F-96C6C4818CD9}" type="datetimeFigureOut">
              <a:rPr lang="en-US" smtClean="0"/>
              <a:t>11/30/25</a:t>
            </a:fld>
            <a:endParaRPr lang="en-US"/>
          </a:p>
        </p:txBody>
      </p:sp>
      <p:sp>
        <p:nvSpPr>
          <p:cNvPr id="5" name="Footer Placeholder 4">
            <a:extLst>
              <a:ext uri="{FF2B5EF4-FFF2-40B4-BE49-F238E27FC236}">
                <a16:creationId xmlns:a16="http://schemas.microsoft.com/office/drawing/2014/main" id="{01923A35-13C1-7749-B6D1-81EF3D9ACFE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2859EE2-CD54-ED4D-9A1F-7158FF453438}"/>
              </a:ext>
            </a:extLst>
          </p:cNvPr>
          <p:cNvSpPr>
            <a:spLocks noGrp="1"/>
          </p:cNvSpPr>
          <p:nvPr>
            <p:ph type="sldNum" sz="quarter" idx="12"/>
          </p:nvPr>
        </p:nvSpPr>
        <p:spPr/>
        <p:txBody>
          <a:bodyPr/>
          <a:lstStyle/>
          <a:p>
            <a:fld id="{2212D34C-0DE8-0D48-AB0F-FD3D80AA989D}" type="slidenum">
              <a:rPr lang="en-US" smtClean="0"/>
              <a:t>‹#›</a:t>
            </a:fld>
            <a:endParaRPr lang="en-US"/>
          </a:p>
        </p:txBody>
      </p:sp>
    </p:spTree>
    <p:extLst>
      <p:ext uri="{BB962C8B-B14F-4D97-AF65-F5344CB8AC3E}">
        <p14:creationId xmlns:p14="http://schemas.microsoft.com/office/powerpoint/2010/main" val="25364042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D68DF8-BD26-3F41-93E6-D326E871C18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274E5FD-A2BD-D74E-B441-4CEF97899458}"/>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32B6441-7F8F-2C4C-AE86-82609A60F02F}"/>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220AA28-B306-D24D-AC7D-70BF6C24D709}"/>
              </a:ext>
            </a:extLst>
          </p:cNvPr>
          <p:cNvSpPr>
            <a:spLocks noGrp="1"/>
          </p:cNvSpPr>
          <p:nvPr>
            <p:ph type="dt" sz="half" idx="10"/>
          </p:nvPr>
        </p:nvSpPr>
        <p:spPr/>
        <p:txBody>
          <a:bodyPr/>
          <a:lstStyle/>
          <a:p>
            <a:fld id="{55013902-91EB-D946-8B0F-96C6C4818CD9}" type="datetimeFigureOut">
              <a:rPr lang="en-US" smtClean="0"/>
              <a:t>11/30/25</a:t>
            </a:fld>
            <a:endParaRPr lang="en-US"/>
          </a:p>
        </p:txBody>
      </p:sp>
      <p:sp>
        <p:nvSpPr>
          <p:cNvPr id="6" name="Footer Placeholder 5">
            <a:extLst>
              <a:ext uri="{FF2B5EF4-FFF2-40B4-BE49-F238E27FC236}">
                <a16:creationId xmlns:a16="http://schemas.microsoft.com/office/drawing/2014/main" id="{D3399476-C6FB-D046-83B8-ADAE55F265D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2DA8420-53F4-EA48-8709-02CFCF241D1B}"/>
              </a:ext>
            </a:extLst>
          </p:cNvPr>
          <p:cNvSpPr>
            <a:spLocks noGrp="1"/>
          </p:cNvSpPr>
          <p:nvPr>
            <p:ph type="sldNum" sz="quarter" idx="12"/>
          </p:nvPr>
        </p:nvSpPr>
        <p:spPr/>
        <p:txBody>
          <a:bodyPr/>
          <a:lstStyle/>
          <a:p>
            <a:fld id="{2212D34C-0DE8-0D48-AB0F-FD3D80AA989D}" type="slidenum">
              <a:rPr lang="en-US" smtClean="0"/>
              <a:t>‹#›</a:t>
            </a:fld>
            <a:endParaRPr lang="en-US"/>
          </a:p>
        </p:txBody>
      </p:sp>
    </p:spTree>
    <p:extLst>
      <p:ext uri="{BB962C8B-B14F-4D97-AF65-F5344CB8AC3E}">
        <p14:creationId xmlns:p14="http://schemas.microsoft.com/office/powerpoint/2010/main" val="36709643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7518CD-AAB7-D94A-A3D4-D6146D28DC7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F3A9232-30BD-664A-A080-E54C8E022A2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0AA40A06-6DA6-7543-9099-F5B391D11A5D}"/>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920FC4E-5D3F-B94F-A0C2-E80440A8394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B3829B56-640C-9D4D-9DC4-24C6CAD79D12}"/>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5E7B3AE-EC6C-0746-B47B-42D7A68E4EBB}"/>
              </a:ext>
            </a:extLst>
          </p:cNvPr>
          <p:cNvSpPr>
            <a:spLocks noGrp="1"/>
          </p:cNvSpPr>
          <p:nvPr>
            <p:ph type="dt" sz="half" idx="10"/>
          </p:nvPr>
        </p:nvSpPr>
        <p:spPr/>
        <p:txBody>
          <a:bodyPr/>
          <a:lstStyle/>
          <a:p>
            <a:fld id="{55013902-91EB-D946-8B0F-96C6C4818CD9}" type="datetimeFigureOut">
              <a:rPr lang="en-US" smtClean="0"/>
              <a:t>11/30/25</a:t>
            </a:fld>
            <a:endParaRPr lang="en-US"/>
          </a:p>
        </p:txBody>
      </p:sp>
      <p:sp>
        <p:nvSpPr>
          <p:cNvPr id="8" name="Footer Placeholder 7">
            <a:extLst>
              <a:ext uri="{FF2B5EF4-FFF2-40B4-BE49-F238E27FC236}">
                <a16:creationId xmlns:a16="http://schemas.microsoft.com/office/drawing/2014/main" id="{E080F2DE-DB48-E84D-ACC4-612009E965C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B257ACE-0857-184F-B2BA-7444702D1F12}"/>
              </a:ext>
            </a:extLst>
          </p:cNvPr>
          <p:cNvSpPr>
            <a:spLocks noGrp="1"/>
          </p:cNvSpPr>
          <p:nvPr>
            <p:ph type="sldNum" sz="quarter" idx="12"/>
          </p:nvPr>
        </p:nvSpPr>
        <p:spPr/>
        <p:txBody>
          <a:bodyPr/>
          <a:lstStyle/>
          <a:p>
            <a:fld id="{2212D34C-0DE8-0D48-AB0F-FD3D80AA989D}" type="slidenum">
              <a:rPr lang="en-US" smtClean="0"/>
              <a:t>‹#›</a:t>
            </a:fld>
            <a:endParaRPr lang="en-US"/>
          </a:p>
        </p:txBody>
      </p:sp>
    </p:spTree>
    <p:extLst>
      <p:ext uri="{BB962C8B-B14F-4D97-AF65-F5344CB8AC3E}">
        <p14:creationId xmlns:p14="http://schemas.microsoft.com/office/powerpoint/2010/main" val="13805718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64EA31-CAFF-7441-B2BE-48DE841A769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6095286-DD71-6D46-864D-9B51BD8C1CD5}"/>
              </a:ext>
            </a:extLst>
          </p:cNvPr>
          <p:cNvSpPr>
            <a:spLocks noGrp="1"/>
          </p:cNvSpPr>
          <p:nvPr>
            <p:ph type="dt" sz="half" idx="10"/>
          </p:nvPr>
        </p:nvSpPr>
        <p:spPr/>
        <p:txBody>
          <a:bodyPr/>
          <a:lstStyle/>
          <a:p>
            <a:fld id="{55013902-91EB-D946-8B0F-96C6C4818CD9}" type="datetimeFigureOut">
              <a:rPr lang="en-US" smtClean="0"/>
              <a:t>11/30/25</a:t>
            </a:fld>
            <a:endParaRPr lang="en-US"/>
          </a:p>
        </p:txBody>
      </p:sp>
      <p:sp>
        <p:nvSpPr>
          <p:cNvPr id="4" name="Footer Placeholder 3">
            <a:extLst>
              <a:ext uri="{FF2B5EF4-FFF2-40B4-BE49-F238E27FC236}">
                <a16:creationId xmlns:a16="http://schemas.microsoft.com/office/drawing/2014/main" id="{7A5C4EBC-B7BD-3D45-B99F-5B27EC04726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8E55EE6-29B9-704F-822C-CCC4DE164BC8}"/>
              </a:ext>
            </a:extLst>
          </p:cNvPr>
          <p:cNvSpPr>
            <a:spLocks noGrp="1"/>
          </p:cNvSpPr>
          <p:nvPr>
            <p:ph type="sldNum" sz="quarter" idx="12"/>
          </p:nvPr>
        </p:nvSpPr>
        <p:spPr/>
        <p:txBody>
          <a:bodyPr/>
          <a:lstStyle/>
          <a:p>
            <a:fld id="{2212D34C-0DE8-0D48-AB0F-FD3D80AA989D}" type="slidenum">
              <a:rPr lang="en-US" smtClean="0"/>
              <a:t>‹#›</a:t>
            </a:fld>
            <a:endParaRPr lang="en-US"/>
          </a:p>
        </p:txBody>
      </p:sp>
    </p:spTree>
    <p:extLst>
      <p:ext uri="{BB962C8B-B14F-4D97-AF65-F5344CB8AC3E}">
        <p14:creationId xmlns:p14="http://schemas.microsoft.com/office/powerpoint/2010/main" val="33431313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91954B6-C11F-054E-B36B-6380EE44552E}"/>
              </a:ext>
            </a:extLst>
          </p:cNvPr>
          <p:cNvSpPr>
            <a:spLocks noGrp="1"/>
          </p:cNvSpPr>
          <p:nvPr>
            <p:ph type="dt" sz="half" idx="10"/>
          </p:nvPr>
        </p:nvSpPr>
        <p:spPr/>
        <p:txBody>
          <a:bodyPr/>
          <a:lstStyle/>
          <a:p>
            <a:fld id="{55013902-91EB-D946-8B0F-96C6C4818CD9}" type="datetimeFigureOut">
              <a:rPr lang="en-US" smtClean="0"/>
              <a:t>11/30/25</a:t>
            </a:fld>
            <a:endParaRPr lang="en-US"/>
          </a:p>
        </p:txBody>
      </p:sp>
      <p:sp>
        <p:nvSpPr>
          <p:cNvPr id="3" name="Footer Placeholder 2">
            <a:extLst>
              <a:ext uri="{FF2B5EF4-FFF2-40B4-BE49-F238E27FC236}">
                <a16:creationId xmlns:a16="http://schemas.microsoft.com/office/drawing/2014/main" id="{AE0D85D0-9394-FD4B-984E-DA74FEA83CD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ADABC17-12C8-1F43-A84B-1702167687A8}"/>
              </a:ext>
            </a:extLst>
          </p:cNvPr>
          <p:cNvSpPr>
            <a:spLocks noGrp="1"/>
          </p:cNvSpPr>
          <p:nvPr>
            <p:ph type="sldNum" sz="quarter" idx="12"/>
          </p:nvPr>
        </p:nvSpPr>
        <p:spPr/>
        <p:txBody>
          <a:bodyPr/>
          <a:lstStyle/>
          <a:p>
            <a:fld id="{2212D34C-0DE8-0D48-AB0F-FD3D80AA989D}" type="slidenum">
              <a:rPr lang="en-US" smtClean="0"/>
              <a:t>‹#›</a:t>
            </a:fld>
            <a:endParaRPr lang="en-US"/>
          </a:p>
        </p:txBody>
      </p:sp>
    </p:spTree>
    <p:extLst>
      <p:ext uri="{BB962C8B-B14F-4D97-AF65-F5344CB8AC3E}">
        <p14:creationId xmlns:p14="http://schemas.microsoft.com/office/powerpoint/2010/main" val="26266219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2C8528-9599-D740-9B58-21D73C23339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4FF34E7-0420-6541-B05A-0C74D1EBEA6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9329153-B313-1F48-9C4D-B7C59FAE1CE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C11D15FA-C0EA-7D49-A589-131E73CBBB65}"/>
              </a:ext>
            </a:extLst>
          </p:cNvPr>
          <p:cNvSpPr>
            <a:spLocks noGrp="1"/>
          </p:cNvSpPr>
          <p:nvPr>
            <p:ph type="dt" sz="half" idx="10"/>
          </p:nvPr>
        </p:nvSpPr>
        <p:spPr/>
        <p:txBody>
          <a:bodyPr/>
          <a:lstStyle/>
          <a:p>
            <a:fld id="{55013902-91EB-D946-8B0F-96C6C4818CD9}" type="datetimeFigureOut">
              <a:rPr lang="en-US" smtClean="0"/>
              <a:t>11/30/25</a:t>
            </a:fld>
            <a:endParaRPr lang="en-US"/>
          </a:p>
        </p:txBody>
      </p:sp>
      <p:sp>
        <p:nvSpPr>
          <p:cNvPr id="6" name="Footer Placeholder 5">
            <a:extLst>
              <a:ext uri="{FF2B5EF4-FFF2-40B4-BE49-F238E27FC236}">
                <a16:creationId xmlns:a16="http://schemas.microsoft.com/office/drawing/2014/main" id="{85C0CF1E-7F02-ED45-BF57-E2B1A6BE899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EEEE12C-FCC8-AB49-8FF2-5C0B4E863A46}"/>
              </a:ext>
            </a:extLst>
          </p:cNvPr>
          <p:cNvSpPr>
            <a:spLocks noGrp="1"/>
          </p:cNvSpPr>
          <p:nvPr>
            <p:ph type="sldNum" sz="quarter" idx="12"/>
          </p:nvPr>
        </p:nvSpPr>
        <p:spPr/>
        <p:txBody>
          <a:bodyPr/>
          <a:lstStyle/>
          <a:p>
            <a:fld id="{2212D34C-0DE8-0D48-AB0F-FD3D80AA989D}" type="slidenum">
              <a:rPr lang="en-US" smtClean="0"/>
              <a:t>‹#›</a:t>
            </a:fld>
            <a:endParaRPr lang="en-US"/>
          </a:p>
        </p:txBody>
      </p:sp>
    </p:spTree>
    <p:extLst>
      <p:ext uri="{BB962C8B-B14F-4D97-AF65-F5344CB8AC3E}">
        <p14:creationId xmlns:p14="http://schemas.microsoft.com/office/powerpoint/2010/main" val="38413008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4E582D-329D-1949-A5C5-B63B34BB218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F32E44B-56BD-0C4F-BBA9-017EB35021C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9910F54-6A0B-184F-9A39-234C03E9DE5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62693121-79FA-9643-9270-CB2DB086A53C}"/>
              </a:ext>
            </a:extLst>
          </p:cNvPr>
          <p:cNvSpPr>
            <a:spLocks noGrp="1"/>
          </p:cNvSpPr>
          <p:nvPr>
            <p:ph type="dt" sz="half" idx="10"/>
          </p:nvPr>
        </p:nvSpPr>
        <p:spPr/>
        <p:txBody>
          <a:bodyPr/>
          <a:lstStyle/>
          <a:p>
            <a:fld id="{55013902-91EB-D946-8B0F-96C6C4818CD9}" type="datetimeFigureOut">
              <a:rPr lang="en-US" smtClean="0"/>
              <a:t>11/30/25</a:t>
            </a:fld>
            <a:endParaRPr lang="en-US"/>
          </a:p>
        </p:txBody>
      </p:sp>
      <p:sp>
        <p:nvSpPr>
          <p:cNvPr id="6" name="Footer Placeholder 5">
            <a:extLst>
              <a:ext uri="{FF2B5EF4-FFF2-40B4-BE49-F238E27FC236}">
                <a16:creationId xmlns:a16="http://schemas.microsoft.com/office/drawing/2014/main" id="{00E40AD8-F453-834B-9442-C60042E6C55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F76C2AB-06DA-054F-A2FC-116E572F1CF7}"/>
              </a:ext>
            </a:extLst>
          </p:cNvPr>
          <p:cNvSpPr>
            <a:spLocks noGrp="1"/>
          </p:cNvSpPr>
          <p:nvPr>
            <p:ph type="sldNum" sz="quarter" idx="12"/>
          </p:nvPr>
        </p:nvSpPr>
        <p:spPr/>
        <p:txBody>
          <a:bodyPr/>
          <a:lstStyle/>
          <a:p>
            <a:fld id="{2212D34C-0DE8-0D48-AB0F-FD3D80AA989D}" type="slidenum">
              <a:rPr lang="en-US" smtClean="0"/>
              <a:t>‹#›</a:t>
            </a:fld>
            <a:endParaRPr lang="en-US"/>
          </a:p>
        </p:txBody>
      </p:sp>
    </p:spTree>
    <p:extLst>
      <p:ext uri="{BB962C8B-B14F-4D97-AF65-F5344CB8AC3E}">
        <p14:creationId xmlns:p14="http://schemas.microsoft.com/office/powerpoint/2010/main" val="582488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1EC648-5AE4-0343-9575-7916F351122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A0DD947-0829-A84F-AA45-84DC11ADBCEF}"/>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B227510-3C61-B14A-BF95-3A704CE8790F}"/>
              </a:ext>
            </a:extLst>
          </p:cNvPr>
          <p:cNvSpPr>
            <a:spLocks noGrp="1"/>
          </p:cNvSpPr>
          <p:nvPr>
            <p:ph type="dt" sz="half" idx="10"/>
          </p:nvPr>
        </p:nvSpPr>
        <p:spPr/>
        <p:txBody>
          <a:bodyPr/>
          <a:lstStyle/>
          <a:p>
            <a:fld id="{55013902-91EB-D946-8B0F-96C6C4818CD9}" type="datetimeFigureOut">
              <a:rPr lang="en-US" smtClean="0"/>
              <a:t>11/30/25</a:t>
            </a:fld>
            <a:endParaRPr lang="en-US"/>
          </a:p>
        </p:txBody>
      </p:sp>
      <p:sp>
        <p:nvSpPr>
          <p:cNvPr id="5" name="Footer Placeholder 4">
            <a:extLst>
              <a:ext uri="{FF2B5EF4-FFF2-40B4-BE49-F238E27FC236}">
                <a16:creationId xmlns:a16="http://schemas.microsoft.com/office/drawing/2014/main" id="{42DAC4DA-144B-D64F-BB11-C565685922A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92E427A-98A6-0B4B-8B1F-ED7BC1BF39A0}"/>
              </a:ext>
            </a:extLst>
          </p:cNvPr>
          <p:cNvSpPr>
            <a:spLocks noGrp="1"/>
          </p:cNvSpPr>
          <p:nvPr>
            <p:ph type="sldNum" sz="quarter" idx="12"/>
          </p:nvPr>
        </p:nvSpPr>
        <p:spPr/>
        <p:txBody>
          <a:bodyPr/>
          <a:lstStyle/>
          <a:p>
            <a:fld id="{2212D34C-0DE8-0D48-AB0F-FD3D80AA989D}" type="slidenum">
              <a:rPr lang="en-US" smtClean="0"/>
              <a:t>‹#›</a:t>
            </a:fld>
            <a:endParaRPr lang="en-US"/>
          </a:p>
        </p:txBody>
      </p:sp>
    </p:spTree>
    <p:extLst>
      <p:ext uri="{BB962C8B-B14F-4D97-AF65-F5344CB8AC3E}">
        <p14:creationId xmlns:p14="http://schemas.microsoft.com/office/powerpoint/2010/main" val="34047866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39EEDD8-1450-454E-9D7F-1CA03CF3A18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60EBEC2-1195-8A4E-AA86-BF820C884ED9}"/>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C793405-A0A9-B140-8B85-F9904CD0B561}"/>
              </a:ext>
            </a:extLst>
          </p:cNvPr>
          <p:cNvSpPr>
            <a:spLocks noGrp="1"/>
          </p:cNvSpPr>
          <p:nvPr>
            <p:ph type="dt" sz="half" idx="10"/>
          </p:nvPr>
        </p:nvSpPr>
        <p:spPr/>
        <p:txBody>
          <a:bodyPr/>
          <a:lstStyle/>
          <a:p>
            <a:fld id="{55013902-91EB-D946-8B0F-96C6C4818CD9}" type="datetimeFigureOut">
              <a:rPr lang="en-US" smtClean="0"/>
              <a:t>11/30/25</a:t>
            </a:fld>
            <a:endParaRPr lang="en-US"/>
          </a:p>
        </p:txBody>
      </p:sp>
      <p:sp>
        <p:nvSpPr>
          <p:cNvPr id="5" name="Footer Placeholder 4">
            <a:extLst>
              <a:ext uri="{FF2B5EF4-FFF2-40B4-BE49-F238E27FC236}">
                <a16:creationId xmlns:a16="http://schemas.microsoft.com/office/drawing/2014/main" id="{AE53966F-5F8B-BE42-860C-DAFC2C5C0CA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08E74C3-15D2-0D44-8D8B-2A4110B5AB33}"/>
              </a:ext>
            </a:extLst>
          </p:cNvPr>
          <p:cNvSpPr>
            <a:spLocks noGrp="1"/>
          </p:cNvSpPr>
          <p:nvPr>
            <p:ph type="sldNum" sz="quarter" idx="12"/>
          </p:nvPr>
        </p:nvSpPr>
        <p:spPr/>
        <p:txBody>
          <a:bodyPr/>
          <a:lstStyle/>
          <a:p>
            <a:fld id="{2212D34C-0DE8-0D48-AB0F-FD3D80AA989D}" type="slidenum">
              <a:rPr lang="en-US" smtClean="0"/>
              <a:t>‹#›</a:t>
            </a:fld>
            <a:endParaRPr lang="en-US"/>
          </a:p>
        </p:txBody>
      </p:sp>
    </p:spTree>
    <p:extLst>
      <p:ext uri="{BB962C8B-B14F-4D97-AF65-F5344CB8AC3E}">
        <p14:creationId xmlns:p14="http://schemas.microsoft.com/office/powerpoint/2010/main" val="27330242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7E8A2B6-3B48-664E-AB6E-46C01FDB690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F0CFAFD-9300-784A-8375-061C8887080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2AF56C0-1A97-9E44-A99C-165AEB783A1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5013902-91EB-D946-8B0F-96C6C4818CD9}" type="datetimeFigureOut">
              <a:rPr lang="en-US" smtClean="0"/>
              <a:t>11/30/25</a:t>
            </a:fld>
            <a:endParaRPr lang="en-US"/>
          </a:p>
        </p:txBody>
      </p:sp>
      <p:sp>
        <p:nvSpPr>
          <p:cNvPr id="5" name="Footer Placeholder 4">
            <a:extLst>
              <a:ext uri="{FF2B5EF4-FFF2-40B4-BE49-F238E27FC236}">
                <a16:creationId xmlns:a16="http://schemas.microsoft.com/office/drawing/2014/main" id="{1B272897-0590-D442-85D2-44C1A5DBB32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DA1E0E67-DBE6-4B44-973C-7F884B6029B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212D34C-0DE8-0D48-AB0F-FD3D80AA989D}" type="slidenum">
              <a:rPr lang="en-US" smtClean="0"/>
              <a:t>‹#›</a:t>
            </a:fld>
            <a:endParaRPr lang="en-US"/>
          </a:p>
        </p:txBody>
      </p:sp>
    </p:spTree>
    <p:extLst>
      <p:ext uri="{BB962C8B-B14F-4D97-AF65-F5344CB8AC3E}">
        <p14:creationId xmlns:p14="http://schemas.microsoft.com/office/powerpoint/2010/main" val="395039413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zingale.github.io/computational_astrophysics/ODEs/ODEs-conservation.html" TargetMode="External"/><Relationship Id="rId2" Type="http://schemas.openxmlformats.org/officeDocument/2006/relationships/hyperlink" Target="mailto:omerbr@tauex.tau.ac.il" TargetMode="External"/><Relationship Id="rId1" Type="http://schemas.openxmlformats.org/officeDocument/2006/relationships/slideLayout" Target="../slideLayouts/slideLayout1.xml"/><Relationship Id="rId5" Type="http://schemas.openxmlformats.org/officeDocument/2006/relationships/hyperlink" Target="https://dreyer-research-group.github.io/phy604_fall2021.html" TargetMode="External"/><Relationship Id="rId4" Type="http://schemas.openxmlformats.org/officeDocument/2006/relationships/hyperlink" Target="https://zingale.github.io/comp_astro_tutorial/intro.html" TargetMode="Externa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7.png"/><Relationship Id="rId10" Type="http://schemas.openxmlformats.org/officeDocument/2006/relationships/image" Target="../media/image6.png"/><Relationship Id="rId9" Type="http://schemas.openxmlformats.org/officeDocument/2006/relationships/image" Target="../media/image5.png"/></Relationships>
</file>

<file path=ppt/slides/_rels/slide6.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010.png"/><Relationship Id="rId7" Type="http://schemas.openxmlformats.org/officeDocument/2006/relationships/image" Target="../media/image14.png"/><Relationship Id="rId2" Type="http://schemas.openxmlformats.org/officeDocument/2006/relationships/image" Target="../media/image10.png"/><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2.png"/><Relationship Id="rId9" Type="http://schemas.openxmlformats.org/officeDocument/2006/relationships/image" Target="../media/image11.png"/></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11.png"/><Relationship Id="rId2" Type="http://schemas.openxmlformats.org/officeDocument/2006/relationships/image" Target="../media/image16.png"/><Relationship Id="rId1" Type="http://schemas.openxmlformats.org/officeDocument/2006/relationships/slideLayout" Target="../slideLayouts/slideLayout2.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 Id="rId5" Type="http://schemas.openxmlformats.org/officeDocument/2006/relationships/image" Target="../media/image200.png"/><Relationship Id="rId4" Type="http://schemas.openxmlformats.org/officeDocument/2006/relationships/image" Target="../media/image190.png"/></Relationships>
</file>

<file path=ppt/slides/_rels/slide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200.png"/><Relationship Id="rId5" Type="http://schemas.openxmlformats.org/officeDocument/2006/relationships/image" Target="../media/image190.png"/><Relationship Id="rId4" Type="http://schemas.openxmlformats.org/officeDocument/2006/relationships/image" Target="../media/image21.png"/></Relationships>
</file>

<file path=ppt/slides/_rels/slide1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19.png"/><Relationship Id="rId1" Type="http://schemas.openxmlformats.org/officeDocument/2006/relationships/slideLayout" Target="../slideLayouts/slideLayout2.xml"/><Relationship Id="rId6" Type="http://schemas.openxmlformats.org/officeDocument/2006/relationships/image" Target="../media/image23.png"/><Relationship Id="rId5" Type="http://schemas.openxmlformats.org/officeDocument/2006/relationships/image" Target="../media/image200.png"/><Relationship Id="rId4" Type="http://schemas.openxmlformats.org/officeDocument/2006/relationships/image" Target="../media/image190.png"/></Relationships>
</file>

<file path=ppt/slides/_rels/slide11.xml.rels><?xml version="1.0" encoding="UTF-8" standalone="yes"?>
<Relationships xmlns="http://schemas.openxmlformats.org/package/2006/relationships"><Relationship Id="rId3" Type="http://schemas.openxmlformats.org/officeDocument/2006/relationships/image" Target="../media/image230.png"/><Relationship Id="rId2" Type="http://schemas.openxmlformats.org/officeDocument/2006/relationships/image" Target="../media/image19.png"/><Relationship Id="rId1" Type="http://schemas.openxmlformats.org/officeDocument/2006/relationships/slideLayout" Target="../slideLayouts/slideLayout2.xml"/><Relationship Id="rId5" Type="http://schemas.openxmlformats.org/officeDocument/2006/relationships/image" Target="../media/image200.png"/><Relationship Id="rId4" Type="http://schemas.openxmlformats.org/officeDocument/2006/relationships/image" Target="../media/image190.png"/></Relationships>
</file>

<file path=ppt/slides/_rels/slide12.xml.rels><?xml version="1.0" encoding="UTF-8" standalone="yes"?>
<Relationships xmlns="http://schemas.openxmlformats.org/package/2006/relationships"><Relationship Id="rId3" Type="http://schemas.openxmlformats.org/officeDocument/2006/relationships/image" Target="../media/image24.png"/><Relationship Id="rId7" Type="http://schemas.openxmlformats.org/officeDocument/2006/relationships/image" Target="../media/image28.png"/><Relationship Id="rId2" Type="http://schemas.openxmlformats.org/officeDocument/2006/relationships/image" Target="../media/image29.png"/><Relationship Id="rId1" Type="http://schemas.openxmlformats.org/officeDocument/2006/relationships/slideLayout" Target="../slideLayouts/slideLayout2.xml"/><Relationship Id="rId6" Type="http://schemas.openxmlformats.org/officeDocument/2006/relationships/image" Target="../media/image27.png"/><Relationship Id="rId5" Type="http://schemas.openxmlformats.org/officeDocument/2006/relationships/image" Target="../media/image31.png"/><Relationship Id="rId4" Type="http://schemas.openxmlformats.org/officeDocument/2006/relationships/image" Target="../media/image30.png"/></Relationships>
</file>

<file path=ppt/slides/_rels/slide1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70.png"/><Relationship Id="rId2" Type="http://schemas.openxmlformats.org/officeDocument/2006/relationships/image" Target="../media/image26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7.emf"/><Relationship Id="rId2" Type="http://schemas.openxmlformats.org/officeDocument/2006/relationships/image" Target="../media/image260.png"/><Relationship Id="rId1" Type="http://schemas.openxmlformats.org/officeDocument/2006/relationships/slideLayout" Target="../slideLayouts/slideLayout2.xml"/><Relationship Id="rId4" Type="http://schemas.openxmlformats.org/officeDocument/2006/relationships/hyperlink" Target="https://zingale.github.io/comp_astro_tutorial/advection_euler/burgers/burgers-methods.html" TargetMode="External"/></Relationships>
</file>

<file path=ppt/slides/_rels/slide16.xml.rels><?xml version="1.0" encoding="UTF-8" standalone="yes"?>
<Relationships xmlns="http://schemas.openxmlformats.org/package/2006/relationships"><Relationship Id="rId3" Type="http://schemas.openxmlformats.org/officeDocument/2006/relationships/image" Target="../media/image27.emf"/><Relationship Id="rId2" Type="http://schemas.openxmlformats.org/officeDocument/2006/relationships/image" Target="../media/image260.png"/><Relationship Id="rId1" Type="http://schemas.openxmlformats.org/officeDocument/2006/relationships/slideLayout" Target="../slideLayouts/slideLayout2.xml"/><Relationship Id="rId5" Type="http://schemas.openxmlformats.org/officeDocument/2006/relationships/hyperlink" Target="https://zingale.github.io/comp_astro_tutorial/advection_euler/burgers/burgers-methods.html" TargetMode="External"/><Relationship Id="rId4" Type="http://schemas.openxmlformats.org/officeDocument/2006/relationships/image" Target="../media/image28.emf"/></Relationships>
</file>

<file path=ppt/slides/_rels/slide17.xml.rels><?xml version="1.0" encoding="UTF-8" standalone="yes"?>
<Relationships xmlns="http://schemas.openxmlformats.org/package/2006/relationships"><Relationship Id="rId3" Type="http://schemas.openxmlformats.org/officeDocument/2006/relationships/image" Target="../media/image27.emf"/><Relationship Id="rId2" Type="http://schemas.openxmlformats.org/officeDocument/2006/relationships/image" Target="../media/image260.png"/><Relationship Id="rId1" Type="http://schemas.openxmlformats.org/officeDocument/2006/relationships/slideLayout" Target="../slideLayouts/slideLayout2.xml"/><Relationship Id="rId5" Type="http://schemas.openxmlformats.org/officeDocument/2006/relationships/hyperlink" Target="https://zingale.github.io/comp_astro_tutorial/advection_euler/burgers/burgers-methods.html" TargetMode="External"/><Relationship Id="rId4" Type="http://schemas.openxmlformats.org/officeDocument/2006/relationships/image" Target="../media/image29.emf"/></Relationships>
</file>

<file path=ppt/slides/_rels/slide18.xml.rels><?xml version="1.0" encoding="UTF-8" standalone="yes"?>
<Relationships xmlns="http://schemas.openxmlformats.org/package/2006/relationships"><Relationship Id="rId3" Type="http://schemas.openxmlformats.org/officeDocument/2006/relationships/image" Target="../media/image27.emf"/><Relationship Id="rId2" Type="http://schemas.openxmlformats.org/officeDocument/2006/relationships/image" Target="../media/image260.png"/><Relationship Id="rId1" Type="http://schemas.openxmlformats.org/officeDocument/2006/relationships/slideLayout" Target="../slideLayouts/slideLayout2.xml"/><Relationship Id="rId5" Type="http://schemas.openxmlformats.org/officeDocument/2006/relationships/hyperlink" Target="https://zingale.github.io/comp_astro_tutorial/advection_euler/burgers/burgers-methods.html" TargetMode="External"/><Relationship Id="rId4" Type="http://schemas.openxmlformats.org/officeDocument/2006/relationships/image" Target="../media/image30.emf"/></Relationships>
</file>

<file path=ppt/slides/_rels/slide19.xml.rels><?xml version="1.0" encoding="UTF-8" standalone="yes"?>
<Relationships xmlns="http://schemas.openxmlformats.org/package/2006/relationships"><Relationship Id="rId3" Type="http://schemas.openxmlformats.org/officeDocument/2006/relationships/image" Target="../media/image27.emf"/><Relationship Id="rId2" Type="http://schemas.openxmlformats.org/officeDocument/2006/relationships/image" Target="../media/image260.png"/><Relationship Id="rId1" Type="http://schemas.openxmlformats.org/officeDocument/2006/relationships/slideLayout" Target="../slideLayouts/slideLayout2.xml"/><Relationship Id="rId5" Type="http://schemas.openxmlformats.org/officeDocument/2006/relationships/hyperlink" Target="https://zingale.github.io/comp_astro_tutorial/advection_euler/burgers/burgers-methods.html" TargetMode="External"/><Relationship Id="rId4" Type="http://schemas.openxmlformats.org/officeDocument/2006/relationships/image" Target="../media/image31.emf"/></Relationships>
</file>

<file path=ppt/slides/_rels/slide20.xml.rels><?xml version="1.0" encoding="UTF-8" standalone="yes"?>
<Relationships xmlns="http://schemas.openxmlformats.org/package/2006/relationships"><Relationship Id="rId3" Type="http://schemas.openxmlformats.org/officeDocument/2006/relationships/image" Target="../media/image27.emf"/><Relationship Id="rId2" Type="http://schemas.openxmlformats.org/officeDocument/2006/relationships/image" Target="../media/image260.png"/><Relationship Id="rId1" Type="http://schemas.openxmlformats.org/officeDocument/2006/relationships/slideLayout" Target="../slideLayouts/slideLayout2.xml"/><Relationship Id="rId5" Type="http://schemas.openxmlformats.org/officeDocument/2006/relationships/hyperlink" Target="https://zingale.github.io/comp_astro_tutorial/advection_euler/burgers/burgers-methods.html" TargetMode="External"/><Relationship Id="rId4" Type="http://schemas.openxmlformats.org/officeDocument/2006/relationships/image" Target="../media/image32.emf"/></Relationships>
</file>

<file path=ppt/slides/_rels/slide21.xml.rels><?xml version="1.0" encoding="UTF-8" standalone="yes"?>
<Relationships xmlns="http://schemas.openxmlformats.org/package/2006/relationships"><Relationship Id="rId3" Type="http://schemas.openxmlformats.org/officeDocument/2006/relationships/hyperlink" Target="https://zingale.github.io/comp_astro_tutorial/advection_euler/burgers/burgers-methods.html" TargetMode="External"/><Relationship Id="rId2" Type="http://schemas.openxmlformats.org/officeDocument/2006/relationships/image" Target="../media/image33.emf"/><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hyperlink" Target="https://zingale.github.io/comp_astro_tutorial/advection_euler/burgers/burgers-methods.html" TargetMode="External"/><Relationship Id="rId2" Type="http://schemas.openxmlformats.org/officeDocument/2006/relationships/image" Target="../media/image34.emf"/><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hyperlink" Target="https://zingale.github.io/comp_astro_tutorial/advection_euler/burgers/burgers-methods.html" TargetMode="External"/><Relationship Id="rId2" Type="http://schemas.openxmlformats.org/officeDocument/2006/relationships/image" Target="../media/image35.emf"/><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34.emf"/><Relationship Id="rId2" Type="http://schemas.openxmlformats.org/officeDocument/2006/relationships/image" Target="../media/image33.emf"/><Relationship Id="rId1" Type="http://schemas.openxmlformats.org/officeDocument/2006/relationships/slideLayout" Target="../slideLayouts/slideLayout2.xml"/><Relationship Id="rId6" Type="http://schemas.openxmlformats.org/officeDocument/2006/relationships/hyperlink" Target="https://zingale.github.io/comp_astro_tutorial/advection_euler/burgers/burgers-methods.html" TargetMode="External"/><Relationship Id="rId5" Type="http://schemas.openxmlformats.org/officeDocument/2006/relationships/image" Target="../media/image36.emf"/><Relationship Id="rId4" Type="http://schemas.openxmlformats.org/officeDocument/2006/relationships/image" Target="../media/image35.emf"/></Relationships>
</file>

<file path=ppt/slides/_rels/slide25.xml.rels><?xml version="1.0" encoding="UTF-8" standalone="yes"?>
<Relationships xmlns="http://schemas.openxmlformats.org/package/2006/relationships"><Relationship Id="rId3" Type="http://schemas.openxmlformats.org/officeDocument/2006/relationships/image" Target="../media/image34.emf"/><Relationship Id="rId7" Type="http://schemas.openxmlformats.org/officeDocument/2006/relationships/hyperlink" Target="https://zingale.github.io/comp_astro_tutorial/advection_euler/burgers/burgers-methods.html" TargetMode="External"/><Relationship Id="rId2" Type="http://schemas.openxmlformats.org/officeDocument/2006/relationships/image" Target="../media/image33.emf"/><Relationship Id="rId1" Type="http://schemas.openxmlformats.org/officeDocument/2006/relationships/slideLayout" Target="../slideLayouts/slideLayout2.xml"/><Relationship Id="rId6" Type="http://schemas.openxmlformats.org/officeDocument/2006/relationships/image" Target="../media/image37.emf"/><Relationship Id="rId5" Type="http://schemas.openxmlformats.org/officeDocument/2006/relationships/image" Target="../media/image36.emf"/><Relationship Id="rId4" Type="http://schemas.openxmlformats.org/officeDocument/2006/relationships/image" Target="../media/image35.emf"/></Relationships>
</file>

<file path=ppt/slides/_rels/slide26.xml.rels><?xml version="1.0" encoding="UTF-8" standalone="yes"?>
<Relationships xmlns="http://schemas.openxmlformats.org/package/2006/relationships"><Relationship Id="rId3" Type="http://schemas.openxmlformats.org/officeDocument/2006/relationships/hyperlink" Target="https://zingale.github.io/comp_astro_tutorial/advection_euler/burgers/burgers-methods.html" TargetMode="External"/><Relationship Id="rId2" Type="http://schemas.openxmlformats.org/officeDocument/2006/relationships/image" Target="../media/image38.emf"/><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9.emf"/><Relationship Id="rId2" Type="http://schemas.openxmlformats.org/officeDocument/2006/relationships/image" Target="../media/image38.emf"/><Relationship Id="rId1" Type="http://schemas.openxmlformats.org/officeDocument/2006/relationships/slideLayout" Target="../slideLayouts/slideLayout2.xml"/><Relationship Id="rId4" Type="http://schemas.openxmlformats.org/officeDocument/2006/relationships/hyperlink" Target="https://zingale.github.io/comp_astro_tutorial/advection_euler/burgers/burgers-methods.html" TargetMode="External"/></Relationships>
</file>

<file path=ppt/slides/_rels/slide28.xml.rels><?xml version="1.0" encoding="UTF-8" standalone="yes"?>
<Relationships xmlns="http://schemas.openxmlformats.org/package/2006/relationships"><Relationship Id="rId3" Type="http://schemas.openxmlformats.org/officeDocument/2006/relationships/image" Target="../media/image39.emf"/><Relationship Id="rId2" Type="http://schemas.openxmlformats.org/officeDocument/2006/relationships/image" Target="../media/image38.emf"/><Relationship Id="rId1" Type="http://schemas.openxmlformats.org/officeDocument/2006/relationships/slideLayout" Target="../slideLayouts/slideLayout2.xml"/><Relationship Id="rId5" Type="http://schemas.openxmlformats.org/officeDocument/2006/relationships/hyperlink" Target="https://zingale.github.io/comp_astro_tutorial/advection_euler/burgers/burgers-methods.html" TargetMode="External"/><Relationship Id="rId4" Type="http://schemas.openxmlformats.org/officeDocument/2006/relationships/image" Target="../media/image40.emf"/></Relationships>
</file>

<file path=ppt/slides/_rels/slide29.xml.rels><?xml version="1.0" encoding="UTF-8" standalone="yes"?>
<Relationships xmlns="http://schemas.openxmlformats.org/package/2006/relationships"><Relationship Id="rId3" Type="http://schemas.openxmlformats.org/officeDocument/2006/relationships/image" Target="../media/image39.emf"/><Relationship Id="rId2" Type="http://schemas.openxmlformats.org/officeDocument/2006/relationships/image" Target="../media/image38.emf"/><Relationship Id="rId1" Type="http://schemas.openxmlformats.org/officeDocument/2006/relationships/slideLayout" Target="../slideLayouts/slideLayout2.xml"/><Relationship Id="rId6" Type="http://schemas.openxmlformats.org/officeDocument/2006/relationships/hyperlink" Target="https://zingale.github.io/comp_astro_tutorial/advection_euler/burgers/burgers-methods.html" TargetMode="External"/><Relationship Id="rId5" Type="http://schemas.openxmlformats.org/officeDocument/2006/relationships/image" Target="../media/image41.emf"/><Relationship Id="rId4" Type="http://schemas.openxmlformats.org/officeDocument/2006/relationships/image" Target="../media/image40.emf"/></Relationships>
</file>

<file path=ppt/slides/_rels/slide30.xml.rels><?xml version="1.0" encoding="UTF-8" standalone="yes"?>
<Relationships xmlns="http://schemas.openxmlformats.org/package/2006/relationships"><Relationship Id="rId3" Type="http://schemas.openxmlformats.org/officeDocument/2006/relationships/image" Target="../media/image39.emf"/><Relationship Id="rId7" Type="http://schemas.openxmlformats.org/officeDocument/2006/relationships/hyperlink" Target="https://zingale.github.io/comp_astro_tutorial/advection_euler/burgers/burgers-methods.html" TargetMode="External"/><Relationship Id="rId2" Type="http://schemas.openxmlformats.org/officeDocument/2006/relationships/image" Target="../media/image38.emf"/><Relationship Id="rId1" Type="http://schemas.openxmlformats.org/officeDocument/2006/relationships/slideLayout" Target="../slideLayouts/slideLayout2.xml"/><Relationship Id="rId6" Type="http://schemas.openxmlformats.org/officeDocument/2006/relationships/image" Target="../media/image42.emf"/><Relationship Id="rId5" Type="http://schemas.openxmlformats.org/officeDocument/2006/relationships/image" Target="../media/image41.emf"/><Relationship Id="rId4" Type="http://schemas.openxmlformats.org/officeDocument/2006/relationships/image" Target="../media/image40.emf"/></Relationships>
</file>

<file path=ppt/slides/_rels/slide31.xml.rels><?xml version="1.0" encoding="UTF-8" standalone="yes"?>
<Relationships xmlns="http://schemas.openxmlformats.org/package/2006/relationships"><Relationship Id="rId3" Type="http://schemas.openxmlformats.org/officeDocument/2006/relationships/hyperlink" Target="https://zingale.github.io/computational_astrophysics/ODEs/ODEs-conservation.html" TargetMode="External"/><Relationship Id="rId2" Type="http://schemas.openxmlformats.org/officeDocument/2006/relationships/hyperlink" Target="mailto:omerbr@tauex.tau.ac.il" TargetMode="External"/><Relationship Id="rId1" Type="http://schemas.openxmlformats.org/officeDocument/2006/relationships/slideLayout" Target="../slideLayouts/slideLayout1.xml"/><Relationship Id="rId5" Type="http://schemas.openxmlformats.org/officeDocument/2006/relationships/hyperlink" Target="https://dreyer-research-group.github.io/phy604_fall2021.html" TargetMode="External"/><Relationship Id="rId4" Type="http://schemas.openxmlformats.org/officeDocument/2006/relationships/hyperlink" Target="https://zingale.github.io/comp_astro_tutorial/intro.html" TargetMode="External"/></Relationships>
</file>

<file path=ppt/slides/_rels/slide32.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49.png"/><Relationship Id="rId7" Type="http://schemas.openxmlformats.org/officeDocument/2006/relationships/image" Target="../media/image53.png"/><Relationship Id="rId2" Type="http://schemas.openxmlformats.org/officeDocument/2006/relationships/image" Target="../media/image48.png"/><Relationship Id="rId1" Type="http://schemas.openxmlformats.org/officeDocument/2006/relationships/slideLayout" Target="../slideLayouts/slideLayout2.xml"/><Relationship Id="rId6" Type="http://schemas.openxmlformats.org/officeDocument/2006/relationships/image" Target="../media/image52.png"/><Relationship Id="rId5" Type="http://schemas.openxmlformats.org/officeDocument/2006/relationships/image" Target="../media/image51.png"/><Relationship Id="rId4" Type="http://schemas.openxmlformats.org/officeDocument/2006/relationships/image" Target="../media/image50.png"/></Relationships>
</file>

<file path=ppt/slides/_rels/slide35.xml.rels><?xml version="1.0" encoding="UTF-8" standalone="yes"?>
<Relationships xmlns="http://schemas.openxmlformats.org/package/2006/relationships"><Relationship Id="rId8" Type="http://schemas.openxmlformats.org/officeDocument/2006/relationships/image" Target="../media/image59.png"/><Relationship Id="rId3" Type="http://schemas.openxmlformats.org/officeDocument/2006/relationships/image" Target="../media/image48.png"/><Relationship Id="rId7" Type="http://schemas.openxmlformats.org/officeDocument/2006/relationships/image" Target="../media/image58.png"/><Relationship Id="rId2" Type="http://schemas.openxmlformats.org/officeDocument/2006/relationships/image" Target="../media/image54.png"/><Relationship Id="rId1" Type="http://schemas.openxmlformats.org/officeDocument/2006/relationships/slideLayout" Target="../slideLayouts/slideLayout2.xml"/><Relationship Id="rId6" Type="http://schemas.openxmlformats.org/officeDocument/2006/relationships/image" Target="../media/image57.png"/><Relationship Id="rId5" Type="http://schemas.openxmlformats.org/officeDocument/2006/relationships/image" Target="../media/image56.png"/><Relationship Id="rId4" Type="http://schemas.openxmlformats.org/officeDocument/2006/relationships/image" Target="../media/image55.png"/></Relationships>
</file>

<file path=ppt/slides/_rels/slide36.xml.rels><?xml version="1.0" encoding="UTF-8" standalone="yes"?>
<Relationships xmlns="http://schemas.openxmlformats.org/package/2006/relationships"><Relationship Id="rId3" Type="http://schemas.openxmlformats.org/officeDocument/2006/relationships/image" Target="../media/image55.png"/><Relationship Id="rId7" Type="http://schemas.openxmlformats.org/officeDocument/2006/relationships/image" Target="../media/image59.png"/><Relationship Id="rId2" Type="http://schemas.openxmlformats.org/officeDocument/2006/relationships/image" Target="../media/image48.png"/><Relationship Id="rId1" Type="http://schemas.openxmlformats.org/officeDocument/2006/relationships/slideLayout" Target="../slideLayouts/slideLayout2.xml"/><Relationship Id="rId6" Type="http://schemas.openxmlformats.org/officeDocument/2006/relationships/image" Target="../media/image58.png"/><Relationship Id="rId5" Type="http://schemas.openxmlformats.org/officeDocument/2006/relationships/image" Target="../media/image57.png"/><Relationship Id="rId4" Type="http://schemas.openxmlformats.org/officeDocument/2006/relationships/image" Target="../media/image56.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8" Type="http://schemas.openxmlformats.org/officeDocument/2006/relationships/image" Target="../media/image620.png"/><Relationship Id="rId13" Type="http://schemas.openxmlformats.org/officeDocument/2006/relationships/image" Target="../media/image67.png"/><Relationship Id="rId3" Type="http://schemas.openxmlformats.org/officeDocument/2006/relationships/image" Target="../media/image430.png"/><Relationship Id="rId7" Type="http://schemas.openxmlformats.org/officeDocument/2006/relationships/image" Target="../media/image611.png"/><Relationship Id="rId12" Type="http://schemas.openxmlformats.org/officeDocument/2006/relationships/image" Target="../media/image66.png"/><Relationship Id="rId2" Type="http://schemas.openxmlformats.org/officeDocument/2006/relationships/image" Target="../media/image43.png"/><Relationship Id="rId1" Type="http://schemas.openxmlformats.org/officeDocument/2006/relationships/slideLayout" Target="../slideLayouts/slideLayout2.xml"/><Relationship Id="rId6" Type="http://schemas.openxmlformats.org/officeDocument/2006/relationships/image" Target="../media/image47.png"/><Relationship Id="rId11" Type="http://schemas.openxmlformats.org/officeDocument/2006/relationships/image" Target="../media/image65.png"/><Relationship Id="rId5" Type="http://schemas.openxmlformats.org/officeDocument/2006/relationships/image" Target="../media/image45.png"/><Relationship Id="rId10" Type="http://schemas.openxmlformats.org/officeDocument/2006/relationships/image" Target="../media/image64.png"/><Relationship Id="rId4" Type="http://schemas.openxmlformats.org/officeDocument/2006/relationships/image" Target="../media/image44.png"/><Relationship Id="rId9" Type="http://schemas.openxmlformats.org/officeDocument/2006/relationships/image" Target="../media/image630.png"/></Relationships>
</file>

<file path=ppt/slides/_rels/slide42.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681.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image" Target="../media/image70.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72.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670.png"/><Relationship Id="rId2" Type="http://schemas.openxmlformats.org/officeDocument/2006/relationships/image" Target="../media/image73.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680.png"/><Relationship Id="rId2" Type="http://schemas.openxmlformats.org/officeDocument/2006/relationships/image" Target="../media/image73.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690.png"/><Relationship Id="rId2" Type="http://schemas.openxmlformats.org/officeDocument/2006/relationships/image" Target="../media/image73.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700.png"/><Relationship Id="rId2" Type="http://schemas.openxmlformats.org/officeDocument/2006/relationships/image" Target="../media/image73.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76.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740.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78.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82.png"/><Relationship Id="rId5" Type="http://schemas.openxmlformats.org/officeDocument/2006/relationships/image" Target="../media/image81.png"/><Relationship Id="rId4" Type="http://schemas.openxmlformats.org/officeDocument/2006/relationships/image" Target="../media/image79.png"/></Relationships>
</file>

<file path=ppt/slides/_rels/slide59.xml.rels><?xml version="1.0" encoding="UTF-8" standalone="yes"?>
<Relationships xmlns="http://schemas.openxmlformats.org/package/2006/relationships"><Relationship Id="rId8" Type="http://schemas.openxmlformats.org/officeDocument/2006/relationships/image" Target="../media/image84.png"/><Relationship Id="rId3" Type="http://schemas.openxmlformats.org/officeDocument/2006/relationships/image" Target="../media/image80.png"/><Relationship Id="rId7" Type="http://schemas.openxmlformats.org/officeDocument/2006/relationships/image" Target="../media/image81.png"/><Relationship Id="rId2" Type="http://schemas.openxmlformats.org/officeDocument/2006/relationships/image" Target="../media/image80.png"/><Relationship Id="rId1" Type="http://schemas.openxmlformats.org/officeDocument/2006/relationships/slideLayout" Target="../slideLayouts/slideLayout2.xml"/><Relationship Id="rId6" Type="http://schemas.openxmlformats.org/officeDocument/2006/relationships/image" Target="../media/image83.png"/><Relationship Id="rId5" Type="http://schemas.openxmlformats.org/officeDocument/2006/relationships/image" Target="../media/image790.png"/><Relationship Id="rId4" Type="http://schemas.openxmlformats.org/officeDocument/2006/relationships/image" Target="../media/image780.png"/></Relationships>
</file>

<file path=ppt/slides/_rels/slide60.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image" Target="../media/image85.png"/><Relationship Id="rId1" Type="http://schemas.openxmlformats.org/officeDocument/2006/relationships/slideLayout" Target="../slideLayouts/slideLayout2.xml"/><Relationship Id="rId4" Type="http://schemas.openxmlformats.org/officeDocument/2006/relationships/image" Target="../media/image87.png"/></Relationships>
</file>

<file path=ppt/slides/_rels/slide61.xml.rels><?xml version="1.0" encoding="UTF-8" standalone="yes"?>
<Relationships xmlns="http://schemas.openxmlformats.org/package/2006/relationships"><Relationship Id="rId2" Type="http://schemas.openxmlformats.org/officeDocument/2006/relationships/image" Target="../media/image850.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870.png"/><Relationship Id="rId2" Type="http://schemas.openxmlformats.org/officeDocument/2006/relationships/image" Target="../media/image88.png"/><Relationship Id="rId1" Type="http://schemas.openxmlformats.org/officeDocument/2006/relationships/slideLayout" Target="../slideLayouts/slideLayout2.xml"/><Relationship Id="rId4" Type="http://schemas.openxmlformats.org/officeDocument/2006/relationships/image" Target="../media/image880.png"/></Relationships>
</file>

<file path=ppt/slides/_rels/slide63.xml.rels><?xml version="1.0" encoding="UTF-8" standalone="yes"?>
<Relationships xmlns="http://schemas.openxmlformats.org/package/2006/relationships"><Relationship Id="rId3" Type="http://schemas.openxmlformats.org/officeDocument/2006/relationships/image" Target="../media/image89.png"/><Relationship Id="rId2" Type="http://schemas.openxmlformats.org/officeDocument/2006/relationships/image" Target="../media/image88.png"/><Relationship Id="rId1" Type="http://schemas.openxmlformats.org/officeDocument/2006/relationships/slideLayout" Target="../slideLayouts/slideLayout2.xml"/><Relationship Id="rId5" Type="http://schemas.openxmlformats.org/officeDocument/2006/relationships/image" Target="../media/image91.png"/><Relationship Id="rId4" Type="http://schemas.openxmlformats.org/officeDocument/2006/relationships/image" Target="../media/image90.png"/></Relationships>
</file>

<file path=ppt/slides/_rels/slide64.xml.rels><?xml version="1.0" encoding="UTF-8" standalone="yes"?>
<Relationships xmlns="http://schemas.openxmlformats.org/package/2006/relationships"><Relationship Id="rId3" Type="http://schemas.openxmlformats.org/officeDocument/2006/relationships/image" Target="../media/image89.png"/><Relationship Id="rId2" Type="http://schemas.openxmlformats.org/officeDocument/2006/relationships/image" Target="../media/image88.png"/><Relationship Id="rId1" Type="http://schemas.openxmlformats.org/officeDocument/2006/relationships/slideLayout" Target="../slideLayouts/slideLayout2.xml"/><Relationship Id="rId6" Type="http://schemas.openxmlformats.org/officeDocument/2006/relationships/image" Target="../media/image94.png"/><Relationship Id="rId5" Type="http://schemas.openxmlformats.org/officeDocument/2006/relationships/image" Target="../media/image93.png"/><Relationship Id="rId4" Type="http://schemas.openxmlformats.org/officeDocument/2006/relationships/image" Target="../media/image92.png"/></Relationships>
</file>

<file path=ppt/slides/_rels/slide65.xml.rels><?xml version="1.0" encoding="UTF-8" standalone="yes"?>
<Relationships xmlns="http://schemas.openxmlformats.org/package/2006/relationships"><Relationship Id="rId3" Type="http://schemas.openxmlformats.org/officeDocument/2006/relationships/image" Target="../media/image96.png"/><Relationship Id="rId2" Type="http://schemas.openxmlformats.org/officeDocument/2006/relationships/image" Target="../media/image95.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image" Target="../media/image97.png"/><Relationship Id="rId1" Type="http://schemas.openxmlformats.org/officeDocument/2006/relationships/slideLayout" Target="../slideLayouts/slideLayout2.xml"/><Relationship Id="rId4" Type="http://schemas.openxmlformats.org/officeDocument/2006/relationships/image" Target="../media/image91.png"/></Relationships>
</file>

<file path=ppt/slides/_rels/slide68.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image" Target="../media/image99.png"/><Relationship Id="rId1" Type="http://schemas.openxmlformats.org/officeDocument/2006/relationships/slideLayout" Target="../slideLayouts/slideLayout2.xml"/><Relationship Id="rId4" Type="http://schemas.openxmlformats.org/officeDocument/2006/relationships/image" Target="../media/image94.png"/></Relationships>
</file>

<file path=ppt/slides/_rels/slide69.xml.rels><?xml version="1.0" encoding="UTF-8" standalone="yes"?>
<Relationships xmlns="http://schemas.openxmlformats.org/package/2006/relationships"><Relationship Id="rId3" Type="http://schemas.openxmlformats.org/officeDocument/2006/relationships/image" Target="../media/image101.png"/><Relationship Id="rId2" Type="http://schemas.openxmlformats.org/officeDocument/2006/relationships/image" Target="../media/image100.png"/><Relationship Id="rId1" Type="http://schemas.openxmlformats.org/officeDocument/2006/relationships/slideLayout" Target="../slideLayouts/slideLayout2.xml"/><Relationship Id="rId4" Type="http://schemas.openxmlformats.org/officeDocument/2006/relationships/image" Target="../media/image102.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103.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8" Type="http://schemas.openxmlformats.org/officeDocument/2006/relationships/image" Target="../media/image109.png"/><Relationship Id="rId13" Type="http://schemas.openxmlformats.org/officeDocument/2006/relationships/image" Target="../media/image114.png"/><Relationship Id="rId3" Type="http://schemas.openxmlformats.org/officeDocument/2006/relationships/image" Target="../media/image104.png"/><Relationship Id="rId7" Type="http://schemas.openxmlformats.org/officeDocument/2006/relationships/image" Target="../media/image108.png"/><Relationship Id="rId12" Type="http://schemas.openxmlformats.org/officeDocument/2006/relationships/image" Target="../media/image113.png"/><Relationship Id="rId2" Type="http://schemas.openxmlformats.org/officeDocument/2006/relationships/image" Target="../media/image24.png"/><Relationship Id="rId1" Type="http://schemas.openxmlformats.org/officeDocument/2006/relationships/slideLayout" Target="../slideLayouts/slideLayout2.xml"/><Relationship Id="rId6" Type="http://schemas.openxmlformats.org/officeDocument/2006/relationships/image" Target="../media/image107.png"/><Relationship Id="rId11" Type="http://schemas.openxmlformats.org/officeDocument/2006/relationships/image" Target="../media/image112.png"/><Relationship Id="rId5" Type="http://schemas.openxmlformats.org/officeDocument/2006/relationships/image" Target="../media/image106.png"/><Relationship Id="rId15" Type="http://schemas.openxmlformats.org/officeDocument/2006/relationships/image" Target="../media/image116.png"/><Relationship Id="rId10" Type="http://schemas.openxmlformats.org/officeDocument/2006/relationships/image" Target="../media/image111.png"/><Relationship Id="rId4" Type="http://schemas.openxmlformats.org/officeDocument/2006/relationships/image" Target="../media/image105.png"/><Relationship Id="rId9" Type="http://schemas.openxmlformats.org/officeDocument/2006/relationships/image" Target="../media/image110.png"/><Relationship Id="rId14" Type="http://schemas.openxmlformats.org/officeDocument/2006/relationships/image" Target="../media/image115.png"/></Relationships>
</file>

<file path=ppt/slides/_rels/slide73.xml.rels><?xml version="1.0" encoding="UTF-8" standalone="yes"?>
<Relationships xmlns="http://schemas.openxmlformats.org/package/2006/relationships"><Relationship Id="rId3" Type="http://schemas.openxmlformats.org/officeDocument/2006/relationships/image" Target="../media/image118.png"/><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8" Type="http://schemas.openxmlformats.org/officeDocument/2006/relationships/image" Target="../media/image109.png"/><Relationship Id="rId13" Type="http://schemas.openxmlformats.org/officeDocument/2006/relationships/image" Target="../media/image114.png"/><Relationship Id="rId3" Type="http://schemas.openxmlformats.org/officeDocument/2006/relationships/image" Target="../media/image24.png"/><Relationship Id="rId7" Type="http://schemas.openxmlformats.org/officeDocument/2006/relationships/image" Target="../media/image108.png"/><Relationship Id="rId12" Type="http://schemas.openxmlformats.org/officeDocument/2006/relationships/image" Target="../media/image113.png"/><Relationship Id="rId2" Type="http://schemas.openxmlformats.org/officeDocument/2006/relationships/image" Target="../media/image119.png"/><Relationship Id="rId1" Type="http://schemas.openxmlformats.org/officeDocument/2006/relationships/slideLayout" Target="../slideLayouts/slideLayout2.xml"/><Relationship Id="rId6" Type="http://schemas.openxmlformats.org/officeDocument/2006/relationships/image" Target="../media/image107.png"/><Relationship Id="rId11" Type="http://schemas.openxmlformats.org/officeDocument/2006/relationships/image" Target="../media/image112.png"/><Relationship Id="rId5" Type="http://schemas.openxmlformats.org/officeDocument/2006/relationships/image" Target="../media/image106.png"/><Relationship Id="rId15" Type="http://schemas.openxmlformats.org/officeDocument/2006/relationships/image" Target="../media/image116.png"/><Relationship Id="rId10" Type="http://schemas.openxmlformats.org/officeDocument/2006/relationships/image" Target="../media/image111.png"/><Relationship Id="rId4" Type="http://schemas.openxmlformats.org/officeDocument/2006/relationships/image" Target="../media/image105.png"/><Relationship Id="rId9" Type="http://schemas.openxmlformats.org/officeDocument/2006/relationships/image" Target="../media/image110.png"/><Relationship Id="rId14" Type="http://schemas.openxmlformats.org/officeDocument/2006/relationships/image" Target="../media/image115.png"/></Relationships>
</file>

<file path=ppt/slides/_rels/slide75.xml.rels><?xml version="1.0" encoding="UTF-8" standalone="yes"?>
<Relationships xmlns="http://schemas.openxmlformats.org/package/2006/relationships"><Relationship Id="rId8" Type="http://schemas.openxmlformats.org/officeDocument/2006/relationships/image" Target="../media/image108.png"/><Relationship Id="rId13" Type="http://schemas.openxmlformats.org/officeDocument/2006/relationships/image" Target="../media/image112.png"/><Relationship Id="rId3" Type="http://schemas.openxmlformats.org/officeDocument/2006/relationships/image" Target="../media/image24.png"/><Relationship Id="rId7" Type="http://schemas.openxmlformats.org/officeDocument/2006/relationships/image" Target="../media/image107.png"/><Relationship Id="rId12" Type="http://schemas.openxmlformats.org/officeDocument/2006/relationships/image" Target="../media/image111.png"/><Relationship Id="rId17" Type="http://schemas.openxmlformats.org/officeDocument/2006/relationships/image" Target="../media/image116.png"/><Relationship Id="rId2" Type="http://schemas.openxmlformats.org/officeDocument/2006/relationships/image" Target="../media/image120.png"/><Relationship Id="rId16" Type="http://schemas.openxmlformats.org/officeDocument/2006/relationships/image" Target="../media/image115.png"/><Relationship Id="rId1" Type="http://schemas.openxmlformats.org/officeDocument/2006/relationships/slideLayout" Target="../slideLayouts/slideLayout2.xml"/><Relationship Id="rId6" Type="http://schemas.openxmlformats.org/officeDocument/2006/relationships/image" Target="../media/image106.png"/><Relationship Id="rId11" Type="http://schemas.openxmlformats.org/officeDocument/2006/relationships/image" Target="../media/image122.png"/><Relationship Id="rId5" Type="http://schemas.openxmlformats.org/officeDocument/2006/relationships/image" Target="../media/image105.png"/><Relationship Id="rId15" Type="http://schemas.openxmlformats.org/officeDocument/2006/relationships/image" Target="../media/image114.png"/><Relationship Id="rId10" Type="http://schemas.openxmlformats.org/officeDocument/2006/relationships/image" Target="../media/image110.png"/><Relationship Id="rId4" Type="http://schemas.openxmlformats.org/officeDocument/2006/relationships/image" Target="../media/image121.png"/><Relationship Id="rId9" Type="http://schemas.openxmlformats.org/officeDocument/2006/relationships/image" Target="../media/image109.png"/><Relationship Id="rId14" Type="http://schemas.openxmlformats.org/officeDocument/2006/relationships/image" Target="../media/image113.png"/></Relationships>
</file>

<file path=ppt/slides/_rels/slide76.xml.rels><?xml version="1.0" encoding="UTF-8" standalone="yes"?>
<Relationships xmlns="http://schemas.openxmlformats.org/package/2006/relationships"><Relationship Id="rId8" Type="http://schemas.openxmlformats.org/officeDocument/2006/relationships/image" Target="../media/image127.png"/><Relationship Id="rId13" Type="http://schemas.openxmlformats.org/officeDocument/2006/relationships/image" Target="../media/image132.png"/><Relationship Id="rId3" Type="http://schemas.openxmlformats.org/officeDocument/2006/relationships/image" Target="../media/image24.png"/><Relationship Id="rId7" Type="http://schemas.openxmlformats.org/officeDocument/2006/relationships/image" Target="../media/image126.png"/><Relationship Id="rId12" Type="http://schemas.openxmlformats.org/officeDocument/2006/relationships/image" Target="../media/image131.png"/><Relationship Id="rId17" Type="http://schemas.openxmlformats.org/officeDocument/2006/relationships/image" Target="../media/image136.png"/><Relationship Id="rId2" Type="http://schemas.openxmlformats.org/officeDocument/2006/relationships/image" Target="../media/image117.png"/><Relationship Id="rId16" Type="http://schemas.openxmlformats.org/officeDocument/2006/relationships/image" Target="../media/image135.png"/><Relationship Id="rId1" Type="http://schemas.openxmlformats.org/officeDocument/2006/relationships/slideLayout" Target="../slideLayouts/slideLayout2.xml"/><Relationship Id="rId6" Type="http://schemas.openxmlformats.org/officeDocument/2006/relationships/image" Target="../media/image125.png"/><Relationship Id="rId11" Type="http://schemas.openxmlformats.org/officeDocument/2006/relationships/image" Target="../media/image130.png"/><Relationship Id="rId5" Type="http://schemas.openxmlformats.org/officeDocument/2006/relationships/image" Target="../media/image124.png"/><Relationship Id="rId15" Type="http://schemas.openxmlformats.org/officeDocument/2006/relationships/image" Target="../media/image134.png"/><Relationship Id="rId10" Type="http://schemas.openxmlformats.org/officeDocument/2006/relationships/image" Target="../media/image129.png"/><Relationship Id="rId4" Type="http://schemas.openxmlformats.org/officeDocument/2006/relationships/image" Target="../media/image123.png"/><Relationship Id="rId9" Type="http://schemas.openxmlformats.org/officeDocument/2006/relationships/image" Target="../media/image128.png"/><Relationship Id="rId14" Type="http://schemas.openxmlformats.org/officeDocument/2006/relationships/image" Target="../media/image133.png"/></Relationships>
</file>

<file path=ppt/slides/_rels/slide77.xml.rels><?xml version="1.0" encoding="UTF-8" standalone="yes"?>
<Relationships xmlns="http://schemas.openxmlformats.org/package/2006/relationships"><Relationship Id="rId2" Type="http://schemas.openxmlformats.org/officeDocument/2006/relationships/image" Target="../media/image137.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image" Target="../media/image138.png"/><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image" Target="../media/image139.png"/><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image" Target="../media/image141.png"/><Relationship Id="rId2" Type="http://schemas.openxmlformats.org/officeDocument/2006/relationships/image" Target="../media/image140.pn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8" Type="http://schemas.openxmlformats.org/officeDocument/2006/relationships/image" Target="../media/image148.png"/><Relationship Id="rId13" Type="http://schemas.openxmlformats.org/officeDocument/2006/relationships/image" Target="../media/image153.png"/><Relationship Id="rId18" Type="http://schemas.openxmlformats.org/officeDocument/2006/relationships/image" Target="../media/image158.png"/><Relationship Id="rId3" Type="http://schemas.openxmlformats.org/officeDocument/2006/relationships/image" Target="../media/image143.png"/><Relationship Id="rId7" Type="http://schemas.openxmlformats.org/officeDocument/2006/relationships/image" Target="../media/image147.png"/><Relationship Id="rId12" Type="http://schemas.openxmlformats.org/officeDocument/2006/relationships/image" Target="../media/image152.png"/><Relationship Id="rId17" Type="http://schemas.openxmlformats.org/officeDocument/2006/relationships/image" Target="../media/image157.png"/><Relationship Id="rId2" Type="http://schemas.openxmlformats.org/officeDocument/2006/relationships/image" Target="../media/image142.png"/><Relationship Id="rId16" Type="http://schemas.openxmlformats.org/officeDocument/2006/relationships/image" Target="../media/image156.png"/><Relationship Id="rId20" Type="http://schemas.openxmlformats.org/officeDocument/2006/relationships/image" Target="../media/image160.png"/><Relationship Id="rId1" Type="http://schemas.openxmlformats.org/officeDocument/2006/relationships/slideLayout" Target="../slideLayouts/slideLayout2.xml"/><Relationship Id="rId6" Type="http://schemas.openxmlformats.org/officeDocument/2006/relationships/image" Target="../media/image146.png"/><Relationship Id="rId11" Type="http://schemas.openxmlformats.org/officeDocument/2006/relationships/image" Target="../media/image151.png"/><Relationship Id="rId5" Type="http://schemas.openxmlformats.org/officeDocument/2006/relationships/image" Target="../media/image145.png"/><Relationship Id="rId15" Type="http://schemas.openxmlformats.org/officeDocument/2006/relationships/image" Target="../media/image155.png"/><Relationship Id="rId10" Type="http://schemas.openxmlformats.org/officeDocument/2006/relationships/image" Target="../media/image150.png"/><Relationship Id="rId19" Type="http://schemas.openxmlformats.org/officeDocument/2006/relationships/image" Target="../media/image159.png"/><Relationship Id="rId4" Type="http://schemas.openxmlformats.org/officeDocument/2006/relationships/image" Target="../media/image144.png"/><Relationship Id="rId9" Type="http://schemas.openxmlformats.org/officeDocument/2006/relationships/image" Target="../media/image149.png"/><Relationship Id="rId14" Type="http://schemas.openxmlformats.org/officeDocument/2006/relationships/image" Target="../media/image154.png"/></Relationships>
</file>

<file path=ppt/slides/_rels/slide82.xml.rels><?xml version="1.0" encoding="UTF-8" standalone="yes"?>
<Relationships xmlns="http://schemas.openxmlformats.org/package/2006/relationships"><Relationship Id="rId2" Type="http://schemas.openxmlformats.org/officeDocument/2006/relationships/image" Target="../media/image161.pn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image" Target="../media/image162.png"/><Relationship Id="rId2" Type="http://schemas.openxmlformats.org/officeDocument/2006/relationships/image" Target="../media/image1310.png"/><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hyperlink" Target="https://zingale.github.io/computational_astrophysics/ODEs/ODEs-conservation.html" TargetMode="External"/><Relationship Id="rId2" Type="http://schemas.openxmlformats.org/officeDocument/2006/relationships/hyperlink" Target="mailto:omerbr@tauex.tau.ac.il" TargetMode="External"/><Relationship Id="rId1" Type="http://schemas.openxmlformats.org/officeDocument/2006/relationships/slideLayout" Target="../slideLayouts/slideLayout1.xml"/><Relationship Id="rId4" Type="http://schemas.openxmlformats.org/officeDocument/2006/relationships/hyperlink" Target="https://zingale.github.io/comp_astro_tutorial/intro.html" TargetMode="External"/></Relationships>
</file>

<file path=ppt/slides/_rels/slide85.xml.rels><?xml version="1.0" encoding="UTF-8" standalone="yes"?>
<Relationships xmlns="http://schemas.openxmlformats.org/package/2006/relationships"><Relationship Id="rId2" Type="http://schemas.openxmlformats.org/officeDocument/2006/relationships/image" Target="../media/image1450.pn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3" Type="http://schemas.openxmlformats.org/officeDocument/2006/relationships/image" Target="../media/image1340.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3" Type="http://schemas.openxmlformats.org/officeDocument/2006/relationships/image" Target="../media/image1461.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3" Type="http://schemas.openxmlformats.org/officeDocument/2006/relationships/image" Target="../media/image1470.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image" Target="../media/image1480.png"/><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image" Target="../media/image1490.png"/><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3" Type="http://schemas.openxmlformats.org/officeDocument/2006/relationships/image" Target="../media/image163.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image" Target="../media/image1590.png"/><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image" Target="../media/image1510.png"/><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image" Target="../media/image164.png"/><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3" Type="http://schemas.openxmlformats.org/officeDocument/2006/relationships/image" Target="../media/image1420.png"/><Relationship Id="rId2" Type="http://schemas.openxmlformats.org/officeDocument/2006/relationships/image" Target="../media/image165.emf"/><Relationship Id="rId1" Type="http://schemas.openxmlformats.org/officeDocument/2006/relationships/slideLayout" Target="../slideLayouts/slideLayout2.xml"/><Relationship Id="rId4" Type="http://schemas.openxmlformats.org/officeDocument/2006/relationships/image" Target="../media/image1540.png"/></Relationships>
</file>

<file path=ppt/slides/_rels/slide96.xml.rels><?xml version="1.0" encoding="UTF-8" standalone="yes"?>
<Relationships xmlns="http://schemas.openxmlformats.org/package/2006/relationships"><Relationship Id="rId3" Type="http://schemas.openxmlformats.org/officeDocument/2006/relationships/image" Target="../media/image166.emf"/><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1560.png"/></Relationships>
</file>

<file path=ppt/slides/_rels/slide97.xml.rels><?xml version="1.0" encoding="UTF-8" standalone="yes"?>
<Relationships xmlns="http://schemas.openxmlformats.org/package/2006/relationships"><Relationship Id="rId3" Type="http://schemas.openxmlformats.org/officeDocument/2006/relationships/image" Target="../media/image1460.png"/><Relationship Id="rId2" Type="http://schemas.openxmlformats.org/officeDocument/2006/relationships/image" Target="../media/image167.emf"/><Relationship Id="rId1" Type="http://schemas.openxmlformats.org/officeDocument/2006/relationships/slideLayout" Target="../slideLayouts/slideLayout2.xml"/><Relationship Id="rId4" Type="http://schemas.openxmlformats.org/officeDocument/2006/relationships/image" Target="../media/image1630.png"/></Relationships>
</file>

<file path=ppt/slides/_rels/slide98.xml.rels><?xml version="1.0" encoding="UTF-8" standalone="yes"?>
<Relationships xmlns="http://schemas.openxmlformats.org/package/2006/relationships"><Relationship Id="rId3" Type="http://schemas.openxmlformats.org/officeDocument/2006/relationships/image" Target="../media/image1500.png"/><Relationship Id="rId2" Type="http://schemas.openxmlformats.org/officeDocument/2006/relationships/image" Target="../media/image168.emf"/><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image" Target="../media/image1600.png"/><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image" Target="../media/image165.png"/><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3" Type="http://schemas.openxmlformats.org/officeDocument/2006/relationships/image" Target="../media/image1620.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image" Target="../media/image166.png"/><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image" Target="../media/image167.png"/><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image" Target="../media/image1640.png"/><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image" Target="../media/image169.png"/><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2" Type="http://schemas.openxmlformats.org/officeDocument/2006/relationships/image" Target="../media/image1670.png"/><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2" Type="http://schemas.openxmlformats.org/officeDocument/2006/relationships/image" Target="../media/image1680.png"/><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3" Type="http://schemas.openxmlformats.org/officeDocument/2006/relationships/image" Target="../media/image170.png"/><Relationship Id="rId2" Type="http://schemas.openxmlformats.org/officeDocument/2006/relationships/image" Target="../media/image1610.png"/><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2" Type="http://schemas.openxmlformats.org/officeDocument/2006/relationships/image" Target="../media/image171.png"/><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2" Type="http://schemas.openxmlformats.org/officeDocument/2006/relationships/image" Target="../media/image172.png"/><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2" Type="http://schemas.openxmlformats.org/officeDocument/2006/relationships/image" Target="../media/image173.png"/><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3" Type="http://schemas.openxmlformats.org/officeDocument/2006/relationships/image" Target="../media/image1730.png"/><Relationship Id="rId2" Type="http://schemas.openxmlformats.org/officeDocument/2006/relationships/image" Target="../media/image172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141D9F-1467-1B4D-BAFB-2DE729B6C190}"/>
              </a:ext>
            </a:extLst>
          </p:cNvPr>
          <p:cNvSpPr>
            <a:spLocks noGrp="1"/>
          </p:cNvSpPr>
          <p:nvPr>
            <p:ph type="ctrTitle"/>
          </p:nvPr>
        </p:nvSpPr>
        <p:spPr/>
        <p:txBody>
          <a:bodyPr>
            <a:normAutofit fontScale="90000"/>
          </a:bodyPr>
          <a:lstStyle/>
          <a:p>
            <a:pPr rtl="1"/>
            <a:r>
              <a:rPr lang="en-US" dirty="0"/>
              <a:t>Lecture 7 - Burgers’ Equation </a:t>
            </a:r>
            <a:br>
              <a:rPr lang="en-US" dirty="0"/>
            </a:br>
            <a:r>
              <a:rPr lang="en-US" dirty="0"/>
              <a:t>&amp; Characteristics</a:t>
            </a:r>
          </a:p>
        </p:txBody>
      </p:sp>
      <p:sp>
        <p:nvSpPr>
          <p:cNvPr id="3" name="Subtitle 2">
            <a:extLst>
              <a:ext uri="{FF2B5EF4-FFF2-40B4-BE49-F238E27FC236}">
                <a16:creationId xmlns:a16="http://schemas.microsoft.com/office/drawing/2014/main" id="{F8EA75A3-2CBB-D746-AD39-559589D7A37A}"/>
              </a:ext>
            </a:extLst>
          </p:cNvPr>
          <p:cNvSpPr>
            <a:spLocks noGrp="1"/>
          </p:cNvSpPr>
          <p:nvPr>
            <p:ph type="subTitle" idx="1"/>
          </p:nvPr>
        </p:nvSpPr>
        <p:spPr/>
        <p:txBody>
          <a:bodyPr>
            <a:normAutofit lnSpcReduction="10000"/>
          </a:bodyPr>
          <a:lstStyle/>
          <a:p>
            <a:r>
              <a:rPr lang="en-US" dirty="0"/>
              <a:t>Omer Bromberg</a:t>
            </a:r>
          </a:p>
          <a:p>
            <a:r>
              <a:rPr lang="en-US" dirty="0">
                <a:hlinkClick r:id="rId2"/>
              </a:rPr>
              <a:t>omerbr@tauex.tau.ac.il</a:t>
            </a:r>
            <a:endParaRPr lang="en-US" dirty="0"/>
          </a:p>
          <a:p>
            <a:endParaRPr lang="en-US" dirty="0"/>
          </a:p>
          <a:p>
            <a:r>
              <a:rPr lang="en-US"/>
              <a:t>Winter 2025/6</a:t>
            </a:r>
            <a:endParaRPr lang="en-US" dirty="0"/>
          </a:p>
          <a:p>
            <a:endParaRPr lang="en-US" dirty="0"/>
          </a:p>
        </p:txBody>
      </p:sp>
      <p:sp>
        <p:nvSpPr>
          <p:cNvPr id="4" name="Rectangle 3">
            <a:extLst>
              <a:ext uri="{FF2B5EF4-FFF2-40B4-BE49-F238E27FC236}">
                <a16:creationId xmlns:a16="http://schemas.microsoft.com/office/drawing/2014/main" id="{E013940A-ADC4-6B42-90E0-BE06CF05B46B}"/>
              </a:ext>
            </a:extLst>
          </p:cNvPr>
          <p:cNvSpPr/>
          <p:nvPr/>
        </p:nvSpPr>
        <p:spPr>
          <a:xfrm>
            <a:off x="0" y="6488668"/>
            <a:ext cx="6095387" cy="369332"/>
          </a:xfrm>
          <a:prstGeom prst="rect">
            <a:avLst/>
          </a:prstGeom>
        </p:spPr>
        <p:txBody>
          <a:bodyPr wrap="none">
            <a:spAutoFit/>
          </a:bodyPr>
          <a:lstStyle/>
          <a:p>
            <a:r>
              <a:rPr lang="en-US" dirty="0"/>
              <a:t>Modified from lecture notes by </a:t>
            </a:r>
            <a:r>
              <a:rPr lang="en-US" dirty="0">
                <a:hlinkClick r:id="rId3"/>
              </a:rPr>
              <a:t>Michael</a:t>
            </a:r>
            <a:r>
              <a:rPr lang="en-US" dirty="0">
                <a:hlinkClick r:id="rId4"/>
              </a:rPr>
              <a:t> Zingale</a:t>
            </a:r>
            <a:r>
              <a:rPr lang="en-US" dirty="0"/>
              <a:t>  &amp; </a:t>
            </a:r>
            <a:r>
              <a:rPr lang="en-US" dirty="0">
                <a:hlinkClick r:id="rId5"/>
              </a:rPr>
              <a:t>Cyrus Dreyer</a:t>
            </a:r>
            <a:endParaRPr lang="en-US" dirty="0"/>
          </a:p>
        </p:txBody>
      </p:sp>
    </p:spTree>
    <p:extLst>
      <p:ext uri="{BB962C8B-B14F-4D97-AF65-F5344CB8AC3E}">
        <p14:creationId xmlns:p14="http://schemas.microsoft.com/office/powerpoint/2010/main" val="23231168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DCE2F9-F4C3-DA4C-B0FC-7FF6F22D148C}"/>
              </a:ext>
            </a:extLst>
          </p:cNvPr>
          <p:cNvSpPr>
            <a:spLocks noGrp="1"/>
          </p:cNvSpPr>
          <p:nvPr>
            <p:ph type="title"/>
          </p:nvPr>
        </p:nvSpPr>
        <p:spPr>
          <a:xfrm>
            <a:off x="838200" y="0"/>
            <a:ext cx="10515600" cy="1325563"/>
          </a:xfrm>
        </p:spPr>
        <p:txBody>
          <a:bodyPr/>
          <a:lstStyle/>
          <a:p>
            <a:r>
              <a:rPr lang="en-US" dirty="0"/>
              <a:t>Burgers’ Equation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5C4FD65-F675-944D-A379-3A5FFFAEB784}"/>
                  </a:ext>
                </a:extLst>
              </p:cNvPr>
              <p:cNvSpPr>
                <a:spLocks noGrp="1"/>
              </p:cNvSpPr>
              <p:nvPr>
                <p:ph idx="1"/>
              </p:nvPr>
            </p:nvSpPr>
            <p:spPr>
              <a:xfrm>
                <a:off x="510987" y="1325562"/>
                <a:ext cx="11187953" cy="5532437"/>
              </a:xfrm>
            </p:spPr>
            <p:txBody>
              <a:bodyPr/>
              <a:lstStyle/>
              <a:p>
                <a:r>
                  <a:rPr lang="en-US" dirty="0"/>
                  <a:t>The inviscid Burgers’ equation is the </a:t>
                </a:r>
                <a:r>
                  <a:rPr lang="en-US" i="1" dirty="0"/>
                  <a:t>nonlinear </a:t>
                </a:r>
                <a:r>
                  <a:rPr lang="en-US" dirty="0"/>
                  <a:t>hyperbolic equation: </a:t>
                </a:r>
              </a:p>
              <a:p>
                <a:pPr marL="0" indent="0">
                  <a:buNone/>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𝑢</m:t>
                          </m:r>
                        </m:e>
                        <m:sub>
                          <m:r>
                            <a:rPr lang="en-US" b="0" i="1" smtClean="0">
                              <a:latin typeface="Cambria Math" panose="02040503050406030204" pitchFamily="18" charset="0"/>
                            </a:rPr>
                            <m:t>𝑡</m:t>
                          </m:r>
                        </m:sub>
                      </m:sSub>
                      <m:r>
                        <a:rPr lang="en-US" b="0" i="1" smtClean="0">
                          <a:latin typeface="Cambria Math" panose="02040503050406030204" pitchFamily="18" charset="0"/>
                        </a:rPr>
                        <m:t>+</m:t>
                      </m:r>
                      <m:r>
                        <a:rPr lang="en-US" b="0" i="1" smtClean="0">
                          <a:latin typeface="Cambria Math" panose="02040503050406030204" pitchFamily="18" charset="0"/>
                        </a:rPr>
                        <m:t>𝑢</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𝑢</m:t>
                          </m:r>
                        </m:e>
                        <m:sub>
                          <m:r>
                            <a:rPr lang="en-US" b="0" i="1" smtClean="0">
                              <a:latin typeface="Cambria Math" panose="02040503050406030204" pitchFamily="18" charset="0"/>
                            </a:rPr>
                            <m:t>𝑥</m:t>
                          </m:r>
                        </m:sub>
                      </m:sSub>
                      <m:r>
                        <a:rPr lang="en-US" b="0" i="1" smtClean="0">
                          <a:latin typeface="Cambria Math" panose="02040503050406030204" pitchFamily="18" charset="0"/>
                        </a:rPr>
                        <m:t>=0</m:t>
                      </m:r>
                    </m:oMath>
                  </m:oMathPara>
                </a14:m>
                <a:endParaRPr lang="en-US" dirty="0"/>
              </a:p>
              <a:p>
                <a:r>
                  <a:rPr lang="en-US" dirty="0"/>
                  <a:t>This looks like the linear advection equation, except the quantity being advected is the velocity itself.</a:t>
                </a:r>
              </a:p>
              <a:p>
                <a:r>
                  <a:rPr lang="en-US" dirty="0"/>
                  <a:t>This means that </a:t>
                </a:r>
                <a14:m>
                  <m:oMath xmlns:m="http://schemas.openxmlformats.org/officeDocument/2006/math">
                    <m:r>
                      <a:rPr lang="en-US" b="0" i="1" smtClean="0">
                        <a:latin typeface="Cambria Math" panose="02040503050406030204" pitchFamily="18" charset="0"/>
                      </a:rPr>
                      <m:t>𝑢</m:t>
                    </m:r>
                  </m:oMath>
                </a14:m>
                <a:r>
                  <a:rPr lang="en-US" dirty="0"/>
                  <a:t> is no longer a constant, but can vary in space and time.</a:t>
                </a:r>
              </a:p>
              <a:p>
                <a:r>
                  <a:rPr lang="en-US" dirty="0"/>
                  <a:t>In a conservative form:</a:t>
                </a:r>
              </a:p>
              <a:p>
                <a:pPr marL="0" indent="0">
                  <a:buNone/>
                </a:pPr>
                <a14:m>
                  <m:oMathPara xmlns:m="http://schemas.openxmlformats.org/officeDocument/2006/math">
                    <m:oMathParaPr>
                      <m:jc m:val="centerGroup"/>
                    </m:oMathParaPr>
                    <m:oMath xmlns:m="http://schemas.openxmlformats.org/officeDocument/2006/math">
                      <m:f>
                        <m:fPr>
                          <m:ctrlPr>
                            <a:rPr lang="en-US" i="1" smtClean="0">
                              <a:latin typeface="Cambria Math" panose="02040503050406030204" pitchFamily="18" charset="0"/>
                            </a:rPr>
                          </m:ctrlPr>
                        </m:fPr>
                        <m:num>
                          <m:r>
                            <a:rPr lang="en-US" b="0" i="1" smtClean="0">
                              <a:latin typeface="Cambria Math" panose="02040503050406030204" pitchFamily="18" charset="0"/>
                            </a:rPr>
                            <m:t>𝜕</m:t>
                          </m:r>
                          <m:r>
                            <a:rPr lang="en-US" b="0" i="1" smtClean="0">
                              <a:latin typeface="Cambria Math" panose="02040503050406030204" pitchFamily="18" charset="0"/>
                            </a:rPr>
                            <m:t>𝑢</m:t>
                          </m:r>
                        </m:num>
                        <m:den>
                          <m:r>
                            <a:rPr lang="en-US" b="0" i="1" smtClean="0">
                              <a:latin typeface="Cambria Math" panose="02040503050406030204" pitchFamily="18" charset="0"/>
                            </a:rPr>
                            <m:t>𝜕</m:t>
                          </m:r>
                          <m:r>
                            <a:rPr lang="en-US" b="0" i="1" smtClean="0">
                              <a:latin typeface="Cambria Math" panose="02040503050406030204" pitchFamily="18" charset="0"/>
                            </a:rPr>
                            <m:t>𝑡</m:t>
                          </m:r>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m:t>
                          </m:r>
                          <m:r>
                            <a:rPr lang="en-US" b="0" i="1" smtClean="0">
                              <a:latin typeface="Cambria Math" panose="02040503050406030204" pitchFamily="18" charset="0"/>
                            </a:rPr>
                            <m:t>𝐹</m:t>
                          </m:r>
                          <m:r>
                            <a:rPr lang="en-US" b="0" i="1" smtClean="0">
                              <a:latin typeface="Cambria Math" panose="02040503050406030204" pitchFamily="18" charset="0"/>
                            </a:rPr>
                            <m:t>(</m:t>
                          </m:r>
                          <m:r>
                            <a:rPr lang="en-US" b="0" i="1" smtClean="0">
                              <a:latin typeface="Cambria Math" panose="02040503050406030204" pitchFamily="18" charset="0"/>
                            </a:rPr>
                            <m:t>𝑢</m:t>
                          </m:r>
                          <m:r>
                            <a:rPr lang="en-US" b="0" i="1" smtClean="0">
                              <a:latin typeface="Cambria Math" panose="02040503050406030204" pitchFamily="18" charset="0"/>
                            </a:rPr>
                            <m:t>)</m:t>
                          </m:r>
                        </m:num>
                        <m:den>
                          <m:r>
                            <a:rPr lang="en-US" b="0" i="1" smtClean="0">
                              <a:latin typeface="Cambria Math" panose="02040503050406030204" pitchFamily="18" charset="0"/>
                            </a:rPr>
                            <m:t>𝜕</m:t>
                          </m:r>
                          <m:r>
                            <a:rPr lang="en-US" b="0" i="1" smtClean="0">
                              <a:latin typeface="Cambria Math" panose="02040503050406030204" pitchFamily="18" charset="0"/>
                            </a:rPr>
                            <m:t>𝑥</m:t>
                          </m:r>
                        </m:den>
                      </m:f>
                      <m:r>
                        <a:rPr lang="en-US" b="0" i="1" smtClean="0">
                          <a:latin typeface="Cambria Math" panose="02040503050406030204" pitchFamily="18" charset="0"/>
                        </a:rPr>
                        <m:t>=0</m:t>
                      </m:r>
                    </m:oMath>
                  </m:oMathPara>
                </a14:m>
                <a:endParaRPr lang="en-US" dirty="0"/>
              </a:p>
              <a:p>
                <a:r>
                  <a:rPr lang="en-US" dirty="0"/>
                  <a:t>Appears as:</a:t>
                </a:r>
              </a:p>
              <a:p>
                <a:pPr marL="0" indent="0">
                  <a:buNone/>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𝑢</m:t>
                          </m:r>
                        </m:e>
                        <m:sub>
                          <m:r>
                            <a:rPr lang="en-US" b="0" i="1" smtClean="0">
                              <a:latin typeface="Cambria Math" panose="02040503050406030204" pitchFamily="18" charset="0"/>
                            </a:rPr>
                            <m:t>𝑡</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d>
                            <m:dPr>
                              <m:begChr m:val="["/>
                              <m:endChr m:val="]"/>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2</m:t>
                                  </m:r>
                                </m:den>
                              </m:f>
                              <m:sSup>
                                <m:sSupPr>
                                  <m:ctrlPr>
                                    <a:rPr lang="en-US" b="0" i="1" smtClean="0">
                                      <a:latin typeface="Cambria Math" panose="02040503050406030204" pitchFamily="18" charset="0"/>
                                    </a:rPr>
                                  </m:ctrlPr>
                                </m:sSupPr>
                                <m:e>
                                  <m:r>
                                    <a:rPr lang="en-US" b="0" i="1" smtClean="0">
                                      <a:latin typeface="Cambria Math" panose="02040503050406030204" pitchFamily="18" charset="0"/>
                                    </a:rPr>
                                    <m:t>𝑢</m:t>
                                  </m:r>
                                </m:e>
                                <m:sup>
                                  <m:r>
                                    <a:rPr lang="en-US" b="0" i="1" smtClean="0">
                                      <a:latin typeface="Cambria Math" panose="02040503050406030204" pitchFamily="18" charset="0"/>
                                    </a:rPr>
                                    <m:t>2</m:t>
                                  </m:r>
                                </m:sup>
                              </m:sSup>
                            </m:e>
                          </m:d>
                        </m:e>
                        <m:sub>
                          <m:r>
                            <a:rPr lang="en-US" b="0" i="1" smtClean="0">
                              <a:latin typeface="Cambria Math" panose="02040503050406030204" pitchFamily="18" charset="0"/>
                            </a:rPr>
                            <m:t>𝑥</m:t>
                          </m:r>
                        </m:sub>
                      </m:sSub>
                      <m:r>
                        <a:rPr lang="en-US" b="0" i="1" smtClean="0">
                          <a:latin typeface="Cambria Math" panose="02040503050406030204" pitchFamily="18" charset="0"/>
                        </a:rPr>
                        <m:t>=0</m:t>
                      </m:r>
                    </m:oMath>
                  </m:oMathPara>
                </a14:m>
                <a:endParaRPr lang="en-US" dirty="0"/>
              </a:p>
              <a:p>
                <a:r>
                  <a:rPr lang="en-US" dirty="0"/>
                  <a:t>Thus the flux is </a:t>
                </a:r>
                <a14:m>
                  <m:oMath xmlns:m="http://schemas.openxmlformats.org/officeDocument/2006/math">
                    <m:r>
                      <a:rPr lang="en-US" b="0" i="1" smtClean="0">
                        <a:latin typeface="Cambria Math" panose="02040503050406030204" pitchFamily="18" charset="0"/>
                      </a:rPr>
                      <m:t>𝐹</m:t>
                    </m:r>
                    <m:d>
                      <m:dPr>
                        <m:ctrlPr>
                          <a:rPr lang="en-US" b="0" i="1" smtClean="0">
                            <a:latin typeface="Cambria Math" panose="02040503050406030204" pitchFamily="18" charset="0"/>
                          </a:rPr>
                        </m:ctrlPr>
                      </m:dPr>
                      <m:e>
                        <m:r>
                          <a:rPr lang="en-US" b="0" i="1" smtClean="0">
                            <a:latin typeface="Cambria Math" panose="02040503050406030204" pitchFamily="18" charset="0"/>
                          </a:rPr>
                          <m:t>𝑢</m:t>
                        </m:r>
                      </m:e>
                    </m:d>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𝑢</m:t>
                        </m:r>
                      </m:e>
                      <m:sup>
                        <m:r>
                          <a:rPr lang="en-US" b="0" i="1" smtClean="0">
                            <a:latin typeface="Cambria Math" panose="02040503050406030204" pitchFamily="18" charset="0"/>
                          </a:rPr>
                          <m:t>2</m:t>
                        </m:r>
                      </m:sup>
                    </m:sSup>
                    <m:r>
                      <a:rPr lang="en-US" b="0" i="1" smtClean="0">
                        <a:latin typeface="Cambria Math" panose="02040503050406030204" pitchFamily="18" charset="0"/>
                      </a:rPr>
                      <m:t>/2</m:t>
                    </m:r>
                  </m:oMath>
                </a14:m>
                <a:endParaRPr lang="en-US" dirty="0"/>
              </a:p>
            </p:txBody>
          </p:sp>
        </mc:Choice>
        <mc:Fallback xmlns="">
          <p:sp>
            <p:nvSpPr>
              <p:cNvPr id="3" name="Content Placeholder 2">
                <a:extLst>
                  <a:ext uri="{FF2B5EF4-FFF2-40B4-BE49-F238E27FC236}">
                    <a16:creationId xmlns:a16="http://schemas.microsoft.com/office/drawing/2014/main" id="{15C4FD65-F675-944D-A379-3A5FFFAEB784}"/>
                  </a:ext>
                </a:extLst>
              </p:cNvPr>
              <p:cNvSpPr>
                <a:spLocks noGrp="1" noRot="1" noChangeAspect="1" noMove="1" noResize="1" noEditPoints="1" noAdjustHandles="1" noChangeArrowheads="1" noChangeShapeType="1" noTextEdit="1"/>
              </p:cNvSpPr>
              <p:nvPr>
                <p:ph idx="1"/>
              </p:nvPr>
            </p:nvSpPr>
            <p:spPr>
              <a:xfrm>
                <a:off x="510987" y="1325562"/>
                <a:ext cx="11187953" cy="5532437"/>
              </a:xfrm>
              <a:blipFill>
                <a:blip r:embed="rId2"/>
                <a:stretch>
                  <a:fillRect l="-907" t="-1602"/>
                </a:stretch>
              </a:blipFill>
            </p:spPr>
            <p:txBody>
              <a:bodyPr/>
              <a:lstStyle/>
              <a:p>
                <a:r>
                  <a:rPr lang="en-US">
                    <a:noFill/>
                  </a:rPr>
                  <a:t> </a:t>
                </a:r>
              </a:p>
            </p:txBody>
          </p:sp>
        </mc:Fallback>
      </mc:AlternateContent>
    </p:spTree>
    <p:extLst>
      <p:ext uri="{BB962C8B-B14F-4D97-AF65-F5344CB8AC3E}">
        <p14:creationId xmlns:p14="http://schemas.microsoft.com/office/powerpoint/2010/main" val="194817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DCE2F9-F4C3-DA4C-B0FC-7FF6F22D148C}"/>
              </a:ext>
            </a:extLst>
          </p:cNvPr>
          <p:cNvSpPr>
            <a:spLocks noGrp="1"/>
          </p:cNvSpPr>
          <p:nvPr>
            <p:ph type="title"/>
          </p:nvPr>
        </p:nvSpPr>
        <p:spPr>
          <a:xfrm>
            <a:off x="838200" y="0"/>
            <a:ext cx="10515600" cy="1325563"/>
          </a:xfrm>
        </p:spPr>
        <p:txBody>
          <a:bodyPr/>
          <a:lstStyle/>
          <a:p>
            <a:r>
              <a:rPr lang="en-US" dirty="0"/>
              <a:t>Burgers’ Equation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5C4FD65-F675-944D-A379-3A5FFFAEB784}"/>
                  </a:ext>
                </a:extLst>
              </p:cNvPr>
              <p:cNvSpPr>
                <a:spLocks noGrp="1"/>
              </p:cNvSpPr>
              <p:nvPr>
                <p:ph idx="1"/>
              </p:nvPr>
            </p:nvSpPr>
            <p:spPr>
              <a:xfrm>
                <a:off x="838200" y="1325562"/>
                <a:ext cx="10515600" cy="5532437"/>
              </a:xfrm>
            </p:spPr>
            <p:txBody>
              <a:bodyPr/>
              <a:lstStyle/>
              <a:p>
                <a:r>
                  <a:rPr lang="en-US" dirty="0"/>
                  <a:t>In the finite volume approach, we integrate over the volume of a cell to get the update:</a:t>
                </a:r>
              </a:p>
              <a:p>
                <a:pPr marL="0" indent="0">
                  <a:buNone/>
                </a:pPr>
                <a14:m>
                  <m:oMathPara xmlns:m="http://schemas.openxmlformats.org/officeDocument/2006/math">
                    <m:oMathParaPr>
                      <m:jc m:val="centerGroup"/>
                    </m:oMathParaPr>
                    <m:oMath xmlns:m="http://schemas.openxmlformats.org/officeDocument/2006/math">
                      <m:f>
                        <m:fPr>
                          <m:ctrlPr>
                            <a:rPr lang="en-US" i="1" smtClean="0">
                              <a:latin typeface="Cambria Math" panose="02040503050406030204" pitchFamily="18" charset="0"/>
                            </a:rPr>
                          </m:ctrlPr>
                        </m:fPr>
                        <m:num>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𝑢</m:t>
                                  </m:r>
                                </m:e>
                              </m:d>
                            </m:e>
                            <m:sub>
                              <m:r>
                                <a:rPr lang="en-US" b="0" i="1" smtClean="0">
                                  <a:latin typeface="Cambria Math" panose="02040503050406030204" pitchFamily="18" charset="0"/>
                                </a:rPr>
                                <m:t>𝑖</m:t>
                              </m:r>
                            </m:sub>
                          </m:sSub>
                        </m:num>
                        <m:den>
                          <m:r>
                            <a:rPr lang="en-US" b="0" i="1" smtClean="0">
                              <a:latin typeface="Cambria Math" panose="02040503050406030204" pitchFamily="18" charset="0"/>
                            </a:rPr>
                            <m:t>𝜕</m:t>
                          </m:r>
                          <m:r>
                            <a:rPr lang="en-US" b="0" i="1" smtClean="0">
                              <a:latin typeface="Cambria Math" panose="02040503050406030204" pitchFamily="18" charset="0"/>
                            </a:rPr>
                            <m:t>𝑡</m:t>
                          </m:r>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m:rPr>
                              <m:sty m:val="p"/>
                            </m:rPr>
                            <a:rPr lang="en-US" b="0" i="0" smtClean="0">
                              <a:latin typeface="Cambria Math" panose="02040503050406030204" pitchFamily="18" charset="0"/>
                            </a:rPr>
                            <m:t>Δ</m:t>
                          </m:r>
                          <m:r>
                            <a:rPr lang="en-US" b="0" i="1" smtClean="0">
                              <a:latin typeface="Cambria Math" panose="02040503050406030204" pitchFamily="18" charset="0"/>
                            </a:rPr>
                            <m:t>𝑥</m:t>
                          </m:r>
                        </m:den>
                      </m:f>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𝐹</m:t>
                              </m:r>
                            </m:e>
                            <m:sub>
                              <m:r>
                                <a:rPr lang="en-US" b="0" i="1" smtClean="0">
                                  <a:latin typeface="Cambria Math" panose="02040503050406030204" pitchFamily="18" charset="0"/>
                                </a:rPr>
                                <m:t>𝑖</m:t>
                              </m:r>
                              <m:r>
                                <a:rPr lang="en-US" b="0" i="1" smtClean="0">
                                  <a:latin typeface="Cambria Math" panose="02040503050406030204" pitchFamily="18" charset="0"/>
                                </a:rPr>
                                <m:t>+1/2</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𝐹</m:t>
                              </m:r>
                            </m:e>
                            <m:sub>
                              <m:r>
                                <a:rPr lang="en-US" b="0" i="1" smtClean="0">
                                  <a:latin typeface="Cambria Math" panose="02040503050406030204" pitchFamily="18" charset="0"/>
                                </a:rPr>
                                <m:t>𝑖</m:t>
                              </m:r>
                              <m:r>
                                <a:rPr lang="en-US" b="0" i="1" smtClean="0">
                                  <a:latin typeface="Cambria Math" panose="02040503050406030204" pitchFamily="18" charset="0"/>
                                </a:rPr>
                                <m:t>−1/2</m:t>
                              </m:r>
                            </m:sub>
                          </m:sSub>
                        </m:e>
                      </m:d>
                    </m:oMath>
                  </m:oMathPara>
                </a14:m>
                <a:endParaRPr lang="en-US" dirty="0"/>
              </a:p>
              <a:p>
                <a:r>
                  <a:rPr lang="en-US" dirty="0"/>
                  <a:t>To second order accuracy, as we saw previously, </a:t>
                </a:r>
                <a14:m>
                  <m:oMath xmlns:m="http://schemas.openxmlformats.org/officeDocument/2006/math">
                    <m:sSub>
                      <m:sSubPr>
                        <m:ctrlPr>
                          <a:rPr lang="en-US" b="0" i="1" dirty="0" smtClean="0">
                            <a:latin typeface="Cambria Math" panose="02040503050406030204" pitchFamily="18" charset="0"/>
                          </a:rPr>
                        </m:ctrlPr>
                      </m:sSubPr>
                      <m:e>
                        <m:d>
                          <m:dPr>
                            <m:begChr m:val="⟨"/>
                            <m:endChr m:val="⟩"/>
                            <m:ctrlPr>
                              <a:rPr lang="en-US" b="0" i="1" dirty="0" smtClean="0">
                                <a:latin typeface="Cambria Math" panose="02040503050406030204" pitchFamily="18" charset="0"/>
                              </a:rPr>
                            </m:ctrlPr>
                          </m:dPr>
                          <m:e>
                            <m:r>
                              <a:rPr lang="en-US" b="0" i="1" dirty="0" smtClean="0">
                                <a:latin typeface="Cambria Math" panose="02040503050406030204" pitchFamily="18" charset="0"/>
                              </a:rPr>
                              <m:t>𝑢</m:t>
                            </m:r>
                          </m:e>
                        </m:d>
                      </m:e>
                      <m:sub>
                        <m:r>
                          <a:rPr lang="en-US" b="0" i="1" dirty="0" smtClean="0">
                            <a:latin typeface="Cambria Math" panose="02040503050406030204" pitchFamily="18" charset="0"/>
                          </a:rPr>
                          <m:t>𝑖</m:t>
                        </m:r>
                      </m:sub>
                    </m:sSub>
                    <m:r>
                      <a:rPr lang="en-US" i="1" dirty="0" smtClean="0">
                        <a:latin typeface="Cambria Math" panose="02040503050406030204" pitchFamily="18" charset="0"/>
                      </a:rPr>
                      <m:t>≈</m:t>
                    </m:r>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𝑢</m:t>
                        </m:r>
                      </m:e>
                      <m:sub>
                        <m:r>
                          <a:rPr lang="en-US" b="0" i="1" dirty="0" smtClean="0">
                            <a:latin typeface="Cambria Math" panose="02040503050406030204" pitchFamily="18" charset="0"/>
                          </a:rPr>
                          <m:t>𝑖</m:t>
                        </m:r>
                      </m:sub>
                    </m:sSub>
                  </m:oMath>
                </a14:m>
                <a:r>
                  <a:rPr lang="en-US" dirty="0"/>
                  <a:t>, so we’ll drop the ⟨⟩ from here on.</a:t>
                </a:r>
              </a:p>
            </p:txBody>
          </p:sp>
        </mc:Choice>
        <mc:Fallback xmlns="">
          <p:sp>
            <p:nvSpPr>
              <p:cNvPr id="3" name="Content Placeholder 2">
                <a:extLst>
                  <a:ext uri="{FF2B5EF4-FFF2-40B4-BE49-F238E27FC236}">
                    <a16:creationId xmlns:a16="http://schemas.microsoft.com/office/drawing/2014/main" id="{15C4FD65-F675-944D-A379-3A5FFFAEB784}"/>
                  </a:ext>
                </a:extLst>
              </p:cNvPr>
              <p:cNvSpPr>
                <a:spLocks noGrp="1" noRot="1" noChangeAspect="1" noMove="1" noResize="1" noEditPoints="1" noAdjustHandles="1" noChangeArrowheads="1" noChangeShapeType="1" noTextEdit="1"/>
              </p:cNvSpPr>
              <p:nvPr>
                <p:ph idx="1"/>
              </p:nvPr>
            </p:nvSpPr>
            <p:spPr>
              <a:xfrm>
                <a:off x="838200" y="1325562"/>
                <a:ext cx="10515600" cy="5532437"/>
              </a:xfrm>
              <a:blipFill>
                <a:blip r:embed="rId2"/>
                <a:stretch>
                  <a:fillRect l="-965" t="-1602"/>
                </a:stretch>
              </a:blipFill>
            </p:spPr>
            <p:txBody>
              <a:bodyPr/>
              <a:lstStyle/>
              <a:p>
                <a:r>
                  <a:rPr lang="en-US">
                    <a:noFill/>
                  </a:rPr>
                  <a:t> </a:t>
                </a:r>
              </a:p>
            </p:txBody>
          </p:sp>
        </mc:Fallback>
      </mc:AlternateContent>
    </p:spTree>
    <p:extLst>
      <p:ext uri="{BB962C8B-B14F-4D97-AF65-F5344CB8AC3E}">
        <p14:creationId xmlns:p14="http://schemas.microsoft.com/office/powerpoint/2010/main" val="31549361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DCE2F9-F4C3-DA4C-B0FC-7FF6F22D148C}"/>
              </a:ext>
            </a:extLst>
          </p:cNvPr>
          <p:cNvSpPr>
            <a:spLocks noGrp="1"/>
          </p:cNvSpPr>
          <p:nvPr>
            <p:ph type="title"/>
          </p:nvPr>
        </p:nvSpPr>
        <p:spPr>
          <a:xfrm>
            <a:off x="838200" y="0"/>
            <a:ext cx="10515600" cy="1325563"/>
          </a:xfrm>
        </p:spPr>
        <p:txBody>
          <a:bodyPr/>
          <a:lstStyle/>
          <a:p>
            <a:r>
              <a:rPr lang="en-US" dirty="0"/>
              <a:t>Nonlinear behavior &amp; shock formation</a:t>
            </a:r>
          </a:p>
        </p:txBody>
      </p:sp>
      <p:sp>
        <p:nvSpPr>
          <p:cNvPr id="3" name="Content Placeholder 2">
            <a:extLst>
              <a:ext uri="{FF2B5EF4-FFF2-40B4-BE49-F238E27FC236}">
                <a16:creationId xmlns:a16="http://schemas.microsoft.com/office/drawing/2014/main" id="{15C4FD65-F675-944D-A379-3A5FFFAEB784}"/>
              </a:ext>
            </a:extLst>
          </p:cNvPr>
          <p:cNvSpPr>
            <a:spLocks noGrp="1"/>
          </p:cNvSpPr>
          <p:nvPr>
            <p:ph idx="1"/>
          </p:nvPr>
        </p:nvSpPr>
        <p:spPr>
          <a:xfrm>
            <a:off x="838200" y="1325562"/>
            <a:ext cx="10515600" cy="5532437"/>
          </a:xfrm>
        </p:spPr>
        <p:txBody>
          <a:bodyPr/>
          <a:lstStyle/>
          <a:p>
            <a:r>
              <a:rPr lang="en-US" dirty="0"/>
              <a:t>The solution method is essentially the same, aside from the Riemann problem.</a:t>
            </a:r>
          </a:p>
          <a:p>
            <a:r>
              <a:rPr lang="en-US" dirty="0"/>
              <a:t>Using the upwind method for the reconstruction is problematic</a:t>
            </a:r>
          </a:p>
          <a:p>
            <a:r>
              <a:rPr lang="en-US" dirty="0"/>
              <a:t>The equation is non linear, so information can “pile up” and we lose track of where the flow is coming from.</a:t>
            </a:r>
          </a:p>
          <a:p>
            <a:r>
              <a:rPr lang="en-US" dirty="0"/>
              <a:t>This situation is called a shock.</a:t>
            </a:r>
          </a:p>
          <a:p>
            <a:pPr marL="0" indent="0">
              <a:buNone/>
            </a:pPr>
            <a:endParaRPr lang="en-US" dirty="0"/>
          </a:p>
        </p:txBody>
      </p:sp>
    </p:spTree>
    <p:extLst>
      <p:ext uri="{BB962C8B-B14F-4D97-AF65-F5344CB8AC3E}">
        <p14:creationId xmlns:p14="http://schemas.microsoft.com/office/powerpoint/2010/main" val="1976514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D9E42CB8-EC73-C540-8389-7BD8C2878709}"/>
              </a:ext>
            </a:extLst>
          </p:cNvPr>
          <p:cNvPicPr>
            <a:picLocks noChangeAspect="1"/>
          </p:cNvPicPr>
          <p:nvPr/>
        </p:nvPicPr>
        <p:blipFill>
          <a:blip r:embed="rId2"/>
          <a:stretch>
            <a:fillRect/>
          </a:stretch>
        </p:blipFill>
        <p:spPr>
          <a:xfrm>
            <a:off x="7024886" y="14334"/>
            <a:ext cx="5143500" cy="6857999"/>
          </a:xfrm>
          <a:prstGeom prst="rect">
            <a:avLst/>
          </a:prstGeom>
        </p:spPr>
      </p:pic>
      <p:sp>
        <p:nvSpPr>
          <p:cNvPr id="2" name="Title 1">
            <a:extLst>
              <a:ext uri="{FF2B5EF4-FFF2-40B4-BE49-F238E27FC236}">
                <a16:creationId xmlns:a16="http://schemas.microsoft.com/office/drawing/2014/main" id="{75DCE2F9-F4C3-DA4C-B0FC-7FF6F22D148C}"/>
              </a:ext>
            </a:extLst>
          </p:cNvPr>
          <p:cNvSpPr>
            <a:spLocks noGrp="1"/>
          </p:cNvSpPr>
          <p:nvPr>
            <p:ph type="title"/>
          </p:nvPr>
        </p:nvSpPr>
        <p:spPr>
          <a:xfrm>
            <a:off x="838200" y="0"/>
            <a:ext cx="10515600" cy="1325563"/>
          </a:xfrm>
        </p:spPr>
        <p:txBody>
          <a:bodyPr/>
          <a:lstStyle/>
          <a:p>
            <a:r>
              <a:rPr lang="en-US" dirty="0"/>
              <a:t>Characteristic curves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5C4FD65-F675-944D-A379-3A5FFFAEB784}"/>
                  </a:ext>
                </a:extLst>
              </p:cNvPr>
              <p:cNvSpPr>
                <a:spLocks noGrp="1"/>
              </p:cNvSpPr>
              <p:nvPr>
                <p:ph idx="1"/>
              </p:nvPr>
            </p:nvSpPr>
            <p:spPr>
              <a:xfrm>
                <a:off x="-1" y="1325563"/>
                <a:ext cx="7451285" cy="5546770"/>
              </a:xfrm>
            </p:spPr>
            <p:txBody>
              <a:bodyPr>
                <a:normAutofit/>
              </a:bodyPr>
              <a:lstStyle/>
              <a:p>
                <a:r>
                  <a:rPr lang="en-US" dirty="0"/>
                  <a:t>Characteristic curves are lines along which </a:t>
                </a:r>
                <a14:m>
                  <m:oMath xmlns:m="http://schemas.openxmlformats.org/officeDocument/2006/math">
                    <m:r>
                      <a:rPr lang="en-US" b="0" i="1" smtClean="0">
                        <a:latin typeface="Cambria Math" panose="02040503050406030204" pitchFamily="18" charset="0"/>
                      </a:rPr>
                      <m:t>𝑢</m:t>
                    </m:r>
                  </m:oMath>
                </a14:m>
                <a:r>
                  <a:rPr lang="en-US" dirty="0"/>
                  <a:t> is constant.</a:t>
                </a:r>
              </a:p>
              <a:p>
                <a:r>
                  <a:rPr lang="en-US" dirty="0"/>
                  <a:t>For the linear advection equation, the solution</a:t>
                </a:r>
                <a14:m>
                  <m:oMath xmlns:m="http://schemas.openxmlformats.org/officeDocument/2006/math">
                    <m:r>
                      <a:rPr lang="en-US" b="0" i="0" smtClean="0">
                        <a:latin typeface="Cambria Math" panose="02040503050406030204" pitchFamily="18" charset="0"/>
                      </a:rPr>
                      <m:t> </m:t>
                    </m:r>
                    <m:r>
                      <a:rPr lang="en-US" b="0" i="1" smtClean="0">
                        <a:latin typeface="Cambria Math" panose="02040503050406030204" pitchFamily="18" charset="0"/>
                      </a:rPr>
                      <m:t>𝑎</m:t>
                    </m:r>
                  </m:oMath>
                </a14:m>
                <a:r>
                  <a:rPr lang="en-US" dirty="0"/>
                  <a:t> is unchanged along the lines </a:t>
                </a:r>
                <a14:m>
                  <m:oMath xmlns:m="http://schemas.openxmlformats.org/officeDocument/2006/math">
                    <m:r>
                      <a:rPr lang="en-US" b="0" i="1" smtClean="0">
                        <a:solidFill>
                          <a:srgbClr val="FF0000"/>
                        </a:solidFill>
                        <a:latin typeface="Cambria Math" panose="02040503050406030204" pitchFamily="18" charset="0"/>
                      </a:rPr>
                      <m:t>𝑥</m:t>
                    </m:r>
                    <m:r>
                      <a:rPr lang="en-US" b="0" i="1" smtClean="0">
                        <a:solidFill>
                          <a:srgbClr val="FF0000"/>
                        </a:solidFill>
                        <a:latin typeface="Cambria Math" panose="02040503050406030204" pitchFamily="18" charset="0"/>
                      </a:rPr>
                      <m:t>−</m:t>
                    </m:r>
                    <m:r>
                      <a:rPr lang="en-US" b="0" i="1" smtClean="0">
                        <a:solidFill>
                          <a:srgbClr val="FF0000"/>
                        </a:solidFill>
                        <a:latin typeface="Cambria Math" panose="02040503050406030204" pitchFamily="18" charset="0"/>
                      </a:rPr>
                      <m:t>𝑢𝑡</m:t>
                    </m:r>
                    <m:r>
                      <a:rPr lang="en-US" b="0" i="1" smtClean="0">
                        <a:solidFill>
                          <a:srgbClr val="FF0000"/>
                        </a:solidFill>
                        <a:latin typeface="Cambria Math" panose="02040503050406030204" pitchFamily="18" charset="0"/>
                      </a:rPr>
                      <m:t>=</m:t>
                    </m:r>
                    <m:r>
                      <a:rPr lang="en-US" b="0" i="1" smtClean="0">
                        <a:solidFill>
                          <a:srgbClr val="FF0000"/>
                        </a:solidFill>
                        <a:latin typeface="Cambria Math" panose="02040503050406030204" pitchFamily="18" charset="0"/>
                      </a:rPr>
                      <m:t>𝑐𝑜𝑛𝑠𝑡</m:t>
                    </m:r>
                  </m:oMath>
                </a14:m>
                <a:endParaRPr lang="en-US" dirty="0"/>
              </a:p>
              <a:p>
                <a:r>
                  <a:rPr lang="en-US" b="0" dirty="0"/>
                  <a:t>If </a:t>
                </a:r>
                <a14:m>
                  <m:oMath xmlns:m="http://schemas.openxmlformats.org/officeDocument/2006/math">
                    <m:r>
                      <a:rPr lang="en-US" b="0" i="1" smtClean="0">
                        <a:latin typeface="Cambria Math" panose="02040503050406030204" pitchFamily="18" charset="0"/>
                      </a:rPr>
                      <m:t>𝑢</m:t>
                    </m:r>
                  </m:oMath>
                </a14:m>
                <a:r>
                  <a:rPr lang="en-US" dirty="0"/>
                  <a:t> is constant the lines are straight &amp; parallel.</a:t>
                </a:r>
              </a:p>
              <a:p>
                <a:pPr>
                  <a:spcAft>
                    <a:spcPts val="600"/>
                  </a:spcAft>
                </a:pPr>
                <a:r>
                  <a:rPr lang="en-US" dirty="0"/>
                  <a:t>Generally the demand </a:t>
                </a:r>
                <a14:m>
                  <m:oMath xmlns:m="http://schemas.openxmlformats.org/officeDocument/2006/math">
                    <m:r>
                      <a:rPr lang="en-US" b="0" i="1" smtClean="0">
                        <a:latin typeface="Cambria Math" panose="02040503050406030204" pitchFamily="18" charset="0"/>
                      </a:rPr>
                      <m:t>𝑑𝑢</m:t>
                    </m:r>
                    <m:r>
                      <a:rPr lang="en-US" b="0" i="1" smtClean="0">
                        <a:latin typeface="Cambria Math" panose="02040503050406030204" pitchFamily="18" charset="0"/>
                      </a:rPr>
                      <m:t>=0</m:t>
                    </m:r>
                  </m:oMath>
                </a14:m>
                <a:r>
                  <a:rPr lang="en-US" dirty="0"/>
                  <a:t> translates to</a:t>
                </a:r>
              </a:p>
              <a:p>
                <a:pPr marL="0" indent="0" algn="ctr">
                  <a:buNone/>
                </a:pPr>
                <a14:m>
                  <m:oMathPara xmlns:m="http://schemas.openxmlformats.org/officeDocument/2006/math">
                    <m:oMathParaPr>
                      <m:jc m:val="centerGroup"/>
                    </m:oMathParaPr>
                    <m:oMath xmlns:m="http://schemas.openxmlformats.org/officeDocument/2006/math">
                      <m:f>
                        <m:fPr>
                          <m:ctrlPr>
                            <a:rPr lang="en-US" b="0" i="1" smtClean="0">
                              <a:latin typeface="Cambria Math" panose="02040503050406030204" pitchFamily="18" charset="0"/>
                            </a:rPr>
                          </m:ctrlPr>
                        </m:fPr>
                        <m:num>
                          <m:r>
                            <a:rPr lang="en-US" b="0" i="1" smtClean="0">
                              <a:latin typeface="Cambria Math" panose="02040503050406030204" pitchFamily="18" charset="0"/>
                            </a:rPr>
                            <m:t>𝑑𝑢</m:t>
                          </m:r>
                        </m:num>
                        <m:den>
                          <m:r>
                            <a:rPr lang="en-US" b="0" i="1" smtClean="0">
                              <a:latin typeface="Cambria Math" panose="02040503050406030204" pitchFamily="18" charset="0"/>
                            </a:rPr>
                            <m:t>𝑑𝑡</m:t>
                          </m:r>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m:t>
                          </m:r>
                          <m:r>
                            <a:rPr lang="en-US" b="0" i="1" smtClean="0">
                              <a:latin typeface="Cambria Math" panose="02040503050406030204" pitchFamily="18" charset="0"/>
                            </a:rPr>
                            <m:t>𝑢</m:t>
                          </m:r>
                        </m:num>
                        <m:den>
                          <m:r>
                            <a:rPr lang="en-US" b="0" i="1" smtClean="0">
                              <a:latin typeface="Cambria Math" panose="02040503050406030204" pitchFamily="18" charset="0"/>
                            </a:rPr>
                            <m:t>𝜕</m:t>
                          </m:r>
                          <m:r>
                            <a:rPr lang="en-US" b="0" i="1" smtClean="0">
                              <a:latin typeface="Cambria Math" panose="02040503050406030204" pitchFamily="18" charset="0"/>
                            </a:rPr>
                            <m:t>𝑡</m:t>
                          </m:r>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m:t>
                          </m:r>
                          <m:r>
                            <a:rPr lang="en-US" b="0" i="1" smtClean="0">
                              <a:latin typeface="Cambria Math" panose="02040503050406030204" pitchFamily="18" charset="0"/>
                            </a:rPr>
                            <m:t>𝑢</m:t>
                          </m:r>
                        </m:num>
                        <m:den>
                          <m:r>
                            <a:rPr lang="en-US" b="0" i="1" smtClean="0">
                              <a:latin typeface="Cambria Math" panose="02040503050406030204" pitchFamily="18" charset="0"/>
                            </a:rPr>
                            <m:t>𝜕</m:t>
                          </m:r>
                          <m:r>
                            <a:rPr lang="en-US" b="0" i="1" smtClean="0">
                              <a:latin typeface="Cambria Math" panose="02040503050406030204" pitchFamily="18" charset="0"/>
                            </a:rPr>
                            <m:t>𝑥</m:t>
                          </m:r>
                        </m:den>
                      </m:f>
                      <m:f>
                        <m:fPr>
                          <m:ctrlPr>
                            <a:rPr lang="en-US" b="0" i="1" smtClean="0">
                              <a:latin typeface="Cambria Math" panose="02040503050406030204" pitchFamily="18" charset="0"/>
                            </a:rPr>
                          </m:ctrlPr>
                        </m:fPr>
                        <m:num>
                          <m:r>
                            <a:rPr lang="en-US" b="0" i="1" smtClean="0">
                              <a:latin typeface="Cambria Math" panose="02040503050406030204" pitchFamily="18" charset="0"/>
                            </a:rPr>
                            <m:t>𝑑𝑥</m:t>
                          </m:r>
                        </m:num>
                        <m:den>
                          <m:r>
                            <a:rPr lang="en-US" b="0" i="1" smtClean="0">
                              <a:latin typeface="Cambria Math" panose="02040503050406030204" pitchFamily="18" charset="0"/>
                            </a:rPr>
                            <m:t>𝑑𝑡</m:t>
                          </m:r>
                        </m:den>
                      </m:f>
                      <m:r>
                        <a:rPr lang="en-US" b="0" i="1" smtClean="0">
                          <a:latin typeface="Cambria Math" panose="02040503050406030204" pitchFamily="18" charset="0"/>
                        </a:rPr>
                        <m:t>=0</m:t>
                      </m:r>
                    </m:oMath>
                  </m:oMathPara>
                </a14:m>
                <a:endParaRPr lang="en-US" dirty="0"/>
              </a:p>
              <a:p>
                <a:r>
                  <a:rPr lang="en-US" dirty="0"/>
                  <a:t>I</a:t>
                </a:r>
                <a14:m>
                  <m:oMath xmlns:m="http://schemas.openxmlformats.org/officeDocument/2006/math">
                    <m:r>
                      <m:rPr>
                        <m:sty m:val="p"/>
                      </m:rPr>
                      <a:rPr lang="en-US" b="0" i="0" smtClean="0">
                        <a:latin typeface="Cambria Math" panose="02040503050406030204" pitchFamily="18" charset="0"/>
                      </a:rPr>
                      <m:t>f</m:t>
                    </m:r>
                    <m:r>
                      <a:rPr lang="en-US" b="0" i="0" smtClean="0">
                        <a:latin typeface="Cambria Math" panose="02040503050406030204" pitchFamily="18" charset="0"/>
                      </a:rPr>
                      <m:t> </m:t>
                    </m:r>
                    <m:r>
                      <m:rPr>
                        <m:sty m:val="p"/>
                      </m:rPr>
                      <a:rPr lang="en-US" b="0" i="0" smtClean="0">
                        <a:latin typeface="Cambria Math" panose="02040503050406030204" pitchFamily="18" charset="0"/>
                      </a:rPr>
                      <m:t>we</m:t>
                    </m:r>
                    <m:r>
                      <a:rPr lang="en-US" b="0" i="0" smtClean="0">
                        <a:latin typeface="Cambria Math" panose="02040503050406030204" pitchFamily="18" charset="0"/>
                      </a:rPr>
                      <m:t> </m:t>
                    </m:r>
                    <m:r>
                      <m:rPr>
                        <m:sty m:val="p"/>
                      </m:rPr>
                      <a:rPr lang="en-US" b="0" i="0" smtClean="0">
                        <a:latin typeface="Cambria Math" panose="02040503050406030204" pitchFamily="18" charset="0"/>
                      </a:rPr>
                      <m:t>take</m:t>
                    </m:r>
                    <m:r>
                      <a:rPr lang="en-US" b="0" i="0" smtClean="0">
                        <a:latin typeface="Cambria Math" panose="02040503050406030204" pitchFamily="18" charset="0"/>
                      </a:rPr>
                      <m:t> </m:t>
                    </m:r>
                    <m:f>
                      <m:fPr>
                        <m:ctrlPr>
                          <a:rPr lang="en-US" b="0" i="1" smtClean="0">
                            <a:latin typeface="Cambria Math" panose="02040503050406030204" pitchFamily="18" charset="0"/>
                          </a:rPr>
                        </m:ctrlPr>
                      </m:fPr>
                      <m:num>
                        <m:r>
                          <a:rPr lang="en-US" b="0" i="1" smtClean="0">
                            <a:latin typeface="Cambria Math" panose="02040503050406030204" pitchFamily="18" charset="0"/>
                          </a:rPr>
                          <m:t>𝑑𝑥</m:t>
                        </m:r>
                      </m:num>
                      <m:den>
                        <m:r>
                          <a:rPr lang="en-US" b="0" i="1" smtClean="0">
                            <a:latin typeface="Cambria Math" panose="02040503050406030204" pitchFamily="18" charset="0"/>
                          </a:rPr>
                          <m:t>𝑑𝑡</m:t>
                        </m:r>
                      </m:den>
                    </m:f>
                    <m:r>
                      <a:rPr lang="en-US" b="0" i="1" smtClean="0">
                        <a:latin typeface="Cambria Math" panose="02040503050406030204" pitchFamily="18" charset="0"/>
                      </a:rPr>
                      <m:t>=</m:t>
                    </m:r>
                    <m:r>
                      <a:rPr lang="en-US" b="0" i="1" smtClean="0">
                        <a:latin typeface="Cambria Math" panose="02040503050406030204" pitchFamily="18" charset="0"/>
                      </a:rPr>
                      <m:t>𝑢</m:t>
                    </m:r>
                    <m:r>
                      <a:rPr lang="en-US" b="0" i="1" smtClean="0">
                        <a:latin typeface="Cambria Math" panose="02040503050406030204" pitchFamily="18" charset="0"/>
                      </a:rPr>
                      <m:t>(</m:t>
                    </m:r>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𝑡</m:t>
                    </m:r>
                    <m:r>
                      <a:rPr lang="en-US" b="0" i="1" smtClean="0">
                        <a:latin typeface="Cambria Math" panose="02040503050406030204" pitchFamily="18" charset="0"/>
                      </a:rPr>
                      <m:t>)</m:t>
                    </m:r>
                  </m:oMath>
                </a14:m>
                <a:r>
                  <a:rPr lang="en-US" dirty="0"/>
                  <a:t> we will get the burger equation. </a:t>
                </a:r>
              </a:p>
              <a:p>
                <a:pPr marL="0" indent="0">
                  <a:buNone/>
                </a:pPr>
                <a14:m>
                  <m:oMathPara xmlns:m="http://schemas.openxmlformats.org/officeDocument/2006/math">
                    <m:oMathParaPr>
                      <m:jc m:val="centerGroup"/>
                    </m:oMathParaPr>
                    <m:oMath xmlns:m="http://schemas.openxmlformats.org/officeDocument/2006/math">
                      <m:f>
                        <m:fPr>
                          <m:ctrlPr>
                            <a:rPr lang="en-US" b="0" i="1" smtClean="0">
                              <a:latin typeface="Cambria Math" panose="02040503050406030204" pitchFamily="18" charset="0"/>
                            </a:rPr>
                          </m:ctrlPr>
                        </m:fPr>
                        <m:num>
                          <m:r>
                            <a:rPr lang="en-US" b="0" i="1" smtClean="0">
                              <a:latin typeface="Cambria Math" panose="02040503050406030204" pitchFamily="18" charset="0"/>
                            </a:rPr>
                            <m:t>𝜕</m:t>
                          </m:r>
                          <m:r>
                            <a:rPr lang="en-US" b="0" i="1" smtClean="0">
                              <a:latin typeface="Cambria Math" panose="02040503050406030204" pitchFamily="18" charset="0"/>
                            </a:rPr>
                            <m:t>𝑢</m:t>
                          </m:r>
                        </m:num>
                        <m:den>
                          <m:r>
                            <a:rPr lang="en-US" b="0" i="1" smtClean="0">
                              <a:latin typeface="Cambria Math" panose="02040503050406030204" pitchFamily="18" charset="0"/>
                            </a:rPr>
                            <m:t>𝜕</m:t>
                          </m:r>
                          <m:r>
                            <a:rPr lang="en-US" b="0" i="1" smtClean="0">
                              <a:latin typeface="Cambria Math" panose="02040503050406030204" pitchFamily="18" charset="0"/>
                            </a:rPr>
                            <m:t>𝑡</m:t>
                          </m:r>
                        </m:den>
                      </m:f>
                      <m:r>
                        <a:rPr lang="en-US" b="0" i="1" smtClean="0">
                          <a:latin typeface="Cambria Math" panose="02040503050406030204" pitchFamily="18" charset="0"/>
                        </a:rPr>
                        <m:t>+</m:t>
                      </m:r>
                      <m:r>
                        <a:rPr lang="en-US" b="0" i="1" smtClean="0">
                          <a:latin typeface="Cambria Math" panose="02040503050406030204" pitchFamily="18" charset="0"/>
                        </a:rPr>
                        <m:t>𝑢</m:t>
                      </m:r>
                      <m:f>
                        <m:fPr>
                          <m:ctrlPr>
                            <a:rPr lang="en-US" b="0" i="1" smtClean="0">
                              <a:latin typeface="Cambria Math" panose="02040503050406030204" pitchFamily="18" charset="0"/>
                            </a:rPr>
                          </m:ctrlPr>
                        </m:fPr>
                        <m:num>
                          <m:r>
                            <a:rPr lang="en-US" b="0" i="1" smtClean="0">
                              <a:latin typeface="Cambria Math" panose="02040503050406030204" pitchFamily="18" charset="0"/>
                            </a:rPr>
                            <m:t>𝜕</m:t>
                          </m:r>
                          <m:r>
                            <a:rPr lang="en-US" b="0" i="1" smtClean="0">
                              <a:latin typeface="Cambria Math" panose="02040503050406030204" pitchFamily="18" charset="0"/>
                            </a:rPr>
                            <m:t>𝑢</m:t>
                          </m:r>
                        </m:num>
                        <m:den>
                          <m:r>
                            <a:rPr lang="en-US" b="0" i="1" smtClean="0">
                              <a:latin typeface="Cambria Math" panose="02040503050406030204" pitchFamily="18" charset="0"/>
                            </a:rPr>
                            <m:t>𝜕</m:t>
                          </m:r>
                          <m:r>
                            <a:rPr lang="en-US" b="0" i="1" smtClean="0">
                              <a:latin typeface="Cambria Math" panose="02040503050406030204" pitchFamily="18" charset="0"/>
                            </a:rPr>
                            <m:t>𝑥</m:t>
                          </m:r>
                        </m:den>
                      </m:f>
                      <m:r>
                        <a:rPr lang="en-US" b="0" i="1" smtClean="0">
                          <a:latin typeface="Cambria Math" panose="02040503050406030204" pitchFamily="18" charset="0"/>
                        </a:rPr>
                        <m:t>=0</m:t>
                      </m:r>
                    </m:oMath>
                  </m:oMathPara>
                </a14:m>
                <a:endParaRPr lang="en-US" dirty="0"/>
              </a:p>
              <a:p>
                <a:pPr marL="0" indent="0">
                  <a:buNone/>
                </a:pPr>
                <a:endParaRPr lang="en-US" dirty="0"/>
              </a:p>
            </p:txBody>
          </p:sp>
        </mc:Choice>
        <mc:Fallback xmlns="">
          <p:sp>
            <p:nvSpPr>
              <p:cNvPr id="3" name="Content Placeholder 2">
                <a:extLst>
                  <a:ext uri="{FF2B5EF4-FFF2-40B4-BE49-F238E27FC236}">
                    <a16:creationId xmlns:a16="http://schemas.microsoft.com/office/drawing/2014/main" id="{15C4FD65-F675-944D-A379-3A5FFFAEB784}"/>
                  </a:ext>
                </a:extLst>
              </p:cNvPr>
              <p:cNvSpPr>
                <a:spLocks noGrp="1" noRot="1" noChangeAspect="1" noMove="1" noResize="1" noEditPoints="1" noAdjustHandles="1" noChangeArrowheads="1" noChangeShapeType="1" noTextEdit="1"/>
              </p:cNvSpPr>
              <p:nvPr>
                <p:ph idx="1"/>
              </p:nvPr>
            </p:nvSpPr>
            <p:spPr>
              <a:xfrm>
                <a:off x="-1" y="1325563"/>
                <a:ext cx="7451285" cy="5546770"/>
              </a:xfrm>
              <a:blipFill>
                <a:blip r:embed="rId3"/>
                <a:stretch>
                  <a:fillRect l="-1363" t="-1598"/>
                </a:stretch>
              </a:blipFill>
            </p:spPr>
            <p:txBody>
              <a:bodyPr/>
              <a:lstStyle/>
              <a:p>
                <a:r>
                  <a:rPr lang="en-US">
                    <a:noFill/>
                  </a:rPr>
                  <a:t> </a:t>
                </a:r>
              </a:p>
            </p:txBody>
          </p:sp>
        </mc:Fallback>
      </mc:AlternateContent>
      <p:sp>
        <p:nvSpPr>
          <p:cNvPr id="7" name="Rectangle 6">
            <a:extLst>
              <a:ext uri="{FF2B5EF4-FFF2-40B4-BE49-F238E27FC236}">
                <a16:creationId xmlns:a16="http://schemas.microsoft.com/office/drawing/2014/main" id="{79416B83-F179-5249-BD2A-68CCBE3C934B}"/>
              </a:ext>
            </a:extLst>
          </p:cNvPr>
          <p:cNvSpPr/>
          <p:nvPr/>
        </p:nvSpPr>
        <p:spPr>
          <a:xfrm>
            <a:off x="7189694" y="1325563"/>
            <a:ext cx="170330" cy="54806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0289D689-AF43-F84E-A12E-D3A2DCD32BCB}"/>
              </a:ext>
            </a:extLst>
          </p:cNvPr>
          <p:cNvSpPr/>
          <p:nvPr/>
        </p:nvSpPr>
        <p:spPr>
          <a:xfrm rot="5400000">
            <a:off x="9702934" y="3007917"/>
            <a:ext cx="170330" cy="54806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B77CF231-84EA-F541-9047-5C2DF4CBCD12}"/>
              </a:ext>
            </a:extLst>
          </p:cNvPr>
          <p:cNvSpPr/>
          <p:nvPr/>
        </p:nvSpPr>
        <p:spPr>
          <a:xfrm rot="5400000">
            <a:off x="9706664" y="6378648"/>
            <a:ext cx="170330" cy="54806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67F32286-F503-3A41-A441-5EE214A8C37A}"/>
              </a:ext>
            </a:extLst>
          </p:cNvPr>
          <p:cNvSpPr/>
          <p:nvPr/>
        </p:nvSpPr>
        <p:spPr>
          <a:xfrm>
            <a:off x="7188385" y="4821798"/>
            <a:ext cx="170330" cy="54806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C0FFB3DA-1617-1447-965D-2F38248C1E93}"/>
                  </a:ext>
                </a:extLst>
              </p:cNvPr>
              <p:cNvSpPr txBox="1"/>
              <p:nvPr/>
            </p:nvSpPr>
            <p:spPr>
              <a:xfrm rot="16200000">
                <a:off x="7082087" y="4757308"/>
                <a:ext cx="382925"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𝑡</m:t>
                      </m:r>
                    </m:oMath>
                  </m:oMathPara>
                </a14:m>
                <a:endParaRPr lang="en-US" sz="2400" dirty="0"/>
              </a:p>
            </p:txBody>
          </p:sp>
        </mc:Choice>
        <mc:Fallback xmlns="">
          <p:sp>
            <p:nvSpPr>
              <p:cNvPr id="12" name="TextBox 11">
                <a:extLst>
                  <a:ext uri="{FF2B5EF4-FFF2-40B4-BE49-F238E27FC236}">
                    <a16:creationId xmlns:a16="http://schemas.microsoft.com/office/drawing/2014/main" id="{C0FFB3DA-1617-1447-965D-2F38248C1E93}"/>
                  </a:ext>
                </a:extLst>
              </p:cNvPr>
              <p:cNvSpPr txBox="1">
                <a:spLocks noRot="1" noChangeAspect="1" noMove="1" noResize="1" noEditPoints="1" noAdjustHandles="1" noChangeArrowheads="1" noChangeShapeType="1" noTextEdit="1"/>
              </p:cNvSpPr>
              <p:nvPr/>
            </p:nvSpPr>
            <p:spPr>
              <a:xfrm rot="16200000">
                <a:off x="7082087" y="4757308"/>
                <a:ext cx="382925" cy="461665"/>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B9D97C11-6ED8-B04F-94DF-95A4995E62FE}"/>
                  </a:ext>
                </a:extLst>
              </p:cNvPr>
              <p:cNvSpPr txBox="1"/>
              <p:nvPr/>
            </p:nvSpPr>
            <p:spPr>
              <a:xfrm>
                <a:off x="9596636" y="6336680"/>
                <a:ext cx="426399"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𝑥</m:t>
                      </m:r>
                    </m:oMath>
                  </m:oMathPara>
                </a14:m>
                <a:endParaRPr lang="en-US" sz="2400" dirty="0"/>
              </a:p>
            </p:txBody>
          </p:sp>
        </mc:Choice>
        <mc:Fallback xmlns="">
          <p:sp>
            <p:nvSpPr>
              <p:cNvPr id="13" name="TextBox 12">
                <a:extLst>
                  <a:ext uri="{FF2B5EF4-FFF2-40B4-BE49-F238E27FC236}">
                    <a16:creationId xmlns:a16="http://schemas.microsoft.com/office/drawing/2014/main" id="{B9D97C11-6ED8-B04F-94DF-95A4995E62FE}"/>
                  </a:ext>
                </a:extLst>
              </p:cNvPr>
              <p:cNvSpPr txBox="1">
                <a:spLocks noRot="1" noChangeAspect="1" noMove="1" noResize="1" noEditPoints="1" noAdjustHandles="1" noChangeArrowheads="1" noChangeShapeType="1" noTextEdit="1"/>
              </p:cNvSpPr>
              <p:nvPr/>
            </p:nvSpPr>
            <p:spPr>
              <a:xfrm>
                <a:off x="9596636" y="6336680"/>
                <a:ext cx="426399" cy="461665"/>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4FD01ACB-A8D7-7A4A-9FA9-6EDB223459B2}"/>
                  </a:ext>
                </a:extLst>
              </p:cNvPr>
              <p:cNvSpPr txBox="1"/>
              <p:nvPr/>
            </p:nvSpPr>
            <p:spPr>
              <a:xfrm>
                <a:off x="9512717" y="2965949"/>
                <a:ext cx="426399"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𝑥</m:t>
                      </m:r>
                    </m:oMath>
                  </m:oMathPara>
                </a14:m>
                <a:endParaRPr lang="en-US" sz="2400" dirty="0"/>
              </a:p>
            </p:txBody>
          </p:sp>
        </mc:Choice>
        <mc:Fallback xmlns="">
          <p:sp>
            <p:nvSpPr>
              <p:cNvPr id="14" name="TextBox 13">
                <a:extLst>
                  <a:ext uri="{FF2B5EF4-FFF2-40B4-BE49-F238E27FC236}">
                    <a16:creationId xmlns:a16="http://schemas.microsoft.com/office/drawing/2014/main" id="{4FD01ACB-A8D7-7A4A-9FA9-6EDB223459B2}"/>
                  </a:ext>
                </a:extLst>
              </p:cNvPr>
              <p:cNvSpPr txBox="1">
                <a:spLocks noRot="1" noChangeAspect="1" noMove="1" noResize="1" noEditPoints="1" noAdjustHandles="1" noChangeArrowheads="1" noChangeShapeType="1" noTextEdit="1"/>
              </p:cNvSpPr>
              <p:nvPr/>
            </p:nvSpPr>
            <p:spPr>
              <a:xfrm>
                <a:off x="9512717" y="2965949"/>
                <a:ext cx="426399" cy="461665"/>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7320C3C0-1A97-FF44-AA3D-7F48F9AA9802}"/>
                  </a:ext>
                </a:extLst>
              </p:cNvPr>
              <p:cNvSpPr txBox="1"/>
              <p:nvPr/>
            </p:nvSpPr>
            <p:spPr>
              <a:xfrm rot="16200000">
                <a:off x="7057239" y="1313605"/>
                <a:ext cx="432618"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𝑎</m:t>
                      </m:r>
                    </m:oMath>
                  </m:oMathPara>
                </a14:m>
                <a:endParaRPr lang="en-US" sz="2400" dirty="0"/>
              </a:p>
            </p:txBody>
          </p:sp>
        </mc:Choice>
        <mc:Fallback xmlns="">
          <p:sp>
            <p:nvSpPr>
              <p:cNvPr id="15" name="TextBox 14">
                <a:extLst>
                  <a:ext uri="{FF2B5EF4-FFF2-40B4-BE49-F238E27FC236}">
                    <a16:creationId xmlns:a16="http://schemas.microsoft.com/office/drawing/2014/main" id="{7320C3C0-1A97-FF44-AA3D-7F48F9AA9802}"/>
                  </a:ext>
                </a:extLst>
              </p:cNvPr>
              <p:cNvSpPr txBox="1">
                <a:spLocks noRot="1" noChangeAspect="1" noMove="1" noResize="1" noEditPoints="1" noAdjustHandles="1" noChangeArrowheads="1" noChangeShapeType="1" noTextEdit="1"/>
              </p:cNvSpPr>
              <p:nvPr/>
            </p:nvSpPr>
            <p:spPr>
              <a:xfrm rot="16200000">
                <a:off x="7057239" y="1313605"/>
                <a:ext cx="432618" cy="461665"/>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39FC42C5-86DA-944B-83D3-D1E750EEA4D9}"/>
                  </a:ext>
                </a:extLst>
              </p:cNvPr>
              <p:cNvSpPr txBox="1"/>
              <p:nvPr/>
            </p:nvSpPr>
            <p:spPr>
              <a:xfrm>
                <a:off x="8255546" y="27160"/>
                <a:ext cx="3367140" cy="400110"/>
              </a:xfrm>
              <a:prstGeom prst="rect">
                <a:avLst/>
              </a:prstGeom>
              <a:noFill/>
            </p:spPr>
            <p:txBody>
              <a:bodyPr wrap="none" rtlCol="0">
                <a:spAutoFit/>
              </a:bodyPr>
              <a:lstStyle/>
              <a:p>
                <a:r>
                  <a:rPr lang="en-US" sz="2000" dirty="0"/>
                  <a:t>Advection - </a:t>
                </a:r>
                <a14:m>
                  <m:oMath xmlns:m="http://schemas.openxmlformats.org/officeDocument/2006/math">
                    <m:r>
                      <a:rPr lang="en-US" sz="2000" b="0" i="1" smtClean="0">
                        <a:latin typeface="Cambria Math" panose="02040503050406030204" pitchFamily="18" charset="0"/>
                      </a:rPr>
                      <m:t>𝑎</m:t>
                    </m:r>
                  </m:oMath>
                </a14:m>
                <a:r>
                  <a:rPr lang="en-US" sz="2000" dirty="0"/>
                  <a:t> vary , </a:t>
                </a:r>
                <a14:m>
                  <m:oMath xmlns:m="http://schemas.openxmlformats.org/officeDocument/2006/math">
                    <m:r>
                      <a:rPr lang="en-US" sz="2000" b="0" i="1" smtClean="0">
                        <a:latin typeface="Cambria Math" panose="02040503050406030204" pitchFamily="18" charset="0"/>
                      </a:rPr>
                      <m:t>𝑢</m:t>
                    </m:r>
                  </m:oMath>
                </a14:m>
                <a:r>
                  <a:rPr lang="en-US" sz="2000" dirty="0"/>
                  <a:t> constant</a:t>
                </a:r>
              </a:p>
            </p:txBody>
          </p:sp>
        </mc:Choice>
        <mc:Fallback xmlns="">
          <p:sp>
            <p:nvSpPr>
              <p:cNvPr id="18" name="TextBox 17">
                <a:extLst>
                  <a:ext uri="{FF2B5EF4-FFF2-40B4-BE49-F238E27FC236}">
                    <a16:creationId xmlns:a16="http://schemas.microsoft.com/office/drawing/2014/main" id="{39FC42C5-86DA-944B-83D3-D1E750EEA4D9}"/>
                  </a:ext>
                </a:extLst>
              </p:cNvPr>
              <p:cNvSpPr txBox="1">
                <a:spLocks noRot="1" noChangeAspect="1" noMove="1" noResize="1" noEditPoints="1" noAdjustHandles="1" noChangeArrowheads="1" noChangeShapeType="1" noTextEdit="1"/>
              </p:cNvSpPr>
              <p:nvPr/>
            </p:nvSpPr>
            <p:spPr>
              <a:xfrm>
                <a:off x="8255546" y="27160"/>
                <a:ext cx="3367140" cy="400110"/>
              </a:xfrm>
              <a:prstGeom prst="rect">
                <a:avLst/>
              </a:prstGeom>
              <a:blipFill>
                <a:blip r:embed="rId10"/>
                <a:stretch>
                  <a:fillRect l="-1504" t="-3030" r="-752" b="-21212"/>
                </a:stretch>
              </a:blipFill>
            </p:spPr>
            <p:txBody>
              <a:bodyPr/>
              <a:lstStyle/>
              <a:p>
                <a:r>
                  <a:rPr lang="en-US">
                    <a:noFill/>
                  </a:rPr>
                  <a:t> </a:t>
                </a:r>
              </a:p>
            </p:txBody>
          </p:sp>
        </mc:Fallback>
      </mc:AlternateContent>
    </p:spTree>
    <p:extLst>
      <p:ext uri="{BB962C8B-B14F-4D97-AF65-F5344CB8AC3E}">
        <p14:creationId xmlns:p14="http://schemas.microsoft.com/office/powerpoint/2010/main" val="41203296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5A7F7493-A29E-1141-A8DE-9059A8BCB3DD}"/>
              </a:ext>
            </a:extLst>
          </p:cNvPr>
          <p:cNvPicPr>
            <a:picLocks noChangeAspect="1"/>
          </p:cNvPicPr>
          <p:nvPr/>
        </p:nvPicPr>
        <p:blipFill>
          <a:blip r:embed="rId2"/>
          <a:stretch>
            <a:fillRect/>
          </a:stretch>
        </p:blipFill>
        <p:spPr>
          <a:xfrm>
            <a:off x="7042716" y="0"/>
            <a:ext cx="5143500" cy="6858000"/>
          </a:xfrm>
          <a:prstGeom prst="rect">
            <a:avLst/>
          </a:prstGeom>
        </p:spPr>
      </p:pic>
      <p:sp>
        <p:nvSpPr>
          <p:cNvPr id="2" name="Title 1">
            <a:extLst>
              <a:ext uri="{FF2B5EF4-FFF2-40B4-BE49-F238E27FC236}">
                <a16:creationId xmlns:a16="http://schemas.microsoft.com/office/drawing/2014/main" id="{75DCE2F9-F4C3-DA4C-B0FC-7FF6F22D148C}"/>
              </a:ext>
            </a:extLst>
          </p:cNvPr>
          <p:cNvSpPr>
            <a:spLocks noGrp="1"/>
          </p:cNvSpPr>
          <p:nvPr>
            <p:ph type="title"/>
          </p:nvPr>
        </p:nvSpPr>
        <p:spPr>
          <a:xfrm>
            <a:off x="838200" y="0"/>
            <a:ext cx="10515600" cy="1325563"/>
          </a:xfrm>
        </p:spPr>
        <p:txBody>
          <a:bodyPr/>
          <a:lstStyle/>
          <a:p>
            <a:r>
              <a:rPr lang="en-US" dirty="0"/>
              <a:t>Characteristic curves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5C4FD65-F675-944D-A379-3A5FFFAEB784}"/>
                  </a:ext>
                </a:extLst>
              </p:cNvPr>
              <p:cNvSpPr>
                <a:spLocks noGrp="1"/>
              </p:cNvSpPr>
              <p:nvPr>
                <p:ph idx="1"/>
              </p:nvPr>
            </p:nvSpPr>
            <p:spPr>
              <a:xfrm>
                <a:off x="0" y="1325563"/>
                <a:ext cx="7360024" cy="5546770"/>
              </a:xfrm>
            </p:spPr>
            <p:txBody>
              <a:bodyPr>
                <a:normAutofit/>
              </a:bodyPr>
              <a:lstStyle/>
              <a:p>
                <a:r>
                  <a:rPr lang="en-US" dirty="0"/>
                  <a:t>Now </a:t>
                </a:r>
                <a14:m>
                  <m:oMath xmlns:m="http://schemas.openxmlformats.org/officeDocument/2006/math">
                    <m:r>
                      <a:rPr lang="en-US" b="0" i="1" smtClean="0">
                        <a:latin typeface="Cambria Math" panose="02040503050406030204" pitchFamily="18" charset="0"/>
                      </a:rPr>
                      <m:t>𝑢</m:t>
                    </m:r>
                  </m:oMath>
                </a14:m>
                <a:r>
                  <a:rPr lang="en-US" dirty="0"/>
                  <a:t> varies in the domain instead of </a:t>
                </a:r>
                <a14:m>
                  <m:oMath xmlns:m="http://schemas.openxmlformats.org/officeDocument/2006/math">
                    <m:r>
                      <a:rPr lang="en-US" b="0" i="1" smtClean="0">
                        <a:latin typeface="Cambria Math" panose="02040503050406030204" pitchFamily="18" charset="0"/>
                      </a:rPr>
                      <m:t>𝑎</m:t>
                    </m:r>
                  </m:oMath>
                </a14:m>
                <a:r>
                  <a:rPr lang="en-US" dirty="0"/>
                  <a:t> ,       the characteristic curves are no longer parallel.</a:t>
                </a:r>
              </a:p>
              <a:p>
                <a:r>
                  <a:rPr lang="en-US" dirty="0"/>
                  <a:t>For the initial conditions given here the lines intersect at some point in space and time. </a:t>
                </a:r>
              </a:p>
              <a:p>
                <a:r>
                  <a:rPr lang="en-US" dirty="0"/>
                  <a:t>There is not a unique curve that we can trace back along to find the value of </a:t>
                </a:r>
                <a14:m>
                  <m:oMath xmlns:m="http://schemas.openxmlformats.org/officeDocument/2006/math">
                    <m:r>
                      <a:rPr lang="en-US" b="0" i="1" smtClean="0">
                        <a:latin typeface="Cambria Math" panose="02040503050406030204" pitchFamily="18" charset="0"/>
                      </a:rPr>
                      <m:t>𝑢</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𝑡</m:t>
                        </m:r>
                      </m:e>
                    </m:d>
                  </m:oMath>
                </a14:m>
                <a:endParaRPr lang="en-US" dirty="0"/>
              </a:p>
              <a:p>
                <a:r>
                  <a:rPr lang="en-US" dirty="0"/>
                  <a:t>The information about where the solution was coming from was lost.</a:t>
                </a:r>
              </a:p>
              <a:p>
                <a:r>
                  <a:rPr lang="en-US" dirty="0"/>
                  <a:t>This is the situation of a </a:t>
                </a:r>
                <a:r>
                  <a:rPr lang="en-US" i="1" dirty="0"/>
                  <a:t>shock</a:t>
                </a:r>
                <a:r>
                  <a:rPr lang="en-US" dirty="0"/>
                  <a:t>. </a:t>
                </a:r>
              </a:p>
              <a:p>
                <a:r>
                  <a:rPr lang="en-US" dirty="0"/>
                  <a:t>The equation is discontinuous at the shock. </a:t>
                </a:r>
              </a:p>
              <a:p>
                <a:r>
                  <a:rPr lang="en-US" dirty="0"/>
                  <a:t>The speed of the shock can be found from the Rankine-</a:t>
                </a:r>
                <a:r>
                  <a:rPr lang="en-US" dirty="0" err="1"/>
                  <a:t>Hugoniot</a:t>
                </a:r>
                <a:r>
                  <a:rPr lang="en-US" dirty="0"/>
                  <a:t> conditions.</a:t>
                </a:r>
              </a:p>
            </p:txBody>
          </p:sp>
        </mc:Choice>
        <mc:Fallback xmlns="">
          <p:sp>
            <p:nvSpPr>
              <p:cNvPr id="3" name="Content Placeholder 2">
                <a:extLst>
                  <a:ext uri="{FF2B5EF4-FFF2-40B4-BE49-F238E27FC236}">
                    <a16:creationId xmlns:a16="http://schemas.microsoft.com/office/drawing/2014/main" id="{15C4FD65-F675-944D-A379-3A5FFFAEB784}"/>
                  </a:ext>
                </a:extLst>
              </p:cNvPr>
              <p:cNvSpPr>
                <a:spLocks noGrp="1" noRot="1" noChangeAspect="1" noMove="1" noResize="1" noEditPoints="1" noAdjustHandles="1" noChangeArrowheads="1" noChangeShapeType="1" noTextEdit="1"/>
              </p:cNvSpPr>
              <p:nvPr>
                <p:ph idx="1"/>
              </p:nvPr>
            </p:nvSpPr>
            <p:spPr>
              <a:xfrm>
                <a:off x="0" y="1325563"/>
                <a:ext cx="7360024" cy="5546770"/>
              </a:xfrm>
              <a:blipFill>
                <a:blip r:embed="rId3"/>
                <a:stretch>
                  <a:fillRect l="-1379" t="-1598" b="-1370"/>
                </a:stretch>
              </a:blipFill>
            </p:spPr>
            <p:txBody>
              <a:bodyPr/>
              <a:lstStyle/>
              <a:p>
                <a:r>
                  <a:rPr lang="en-US">
                    <a:noFill/>
                  </a:rPr>
                  <a:t> </a:t>
                </a:r>
              </a:p>
            </p:txBody>
          </p:sp>
        </mc:Fallback>
      </mc:AlternateContent>
      <p:sp>
        <p:nvSpPr>
          <p:cNvPr id="11" name="Rectangle 10">
            <a:extLst>
              <a:ext uri="{FF2B5EF4-FFF2-40B4-BE49-F238E27FC236}">
                <a16:creationId xmlns:a16="http://schemas.microsoft.com/office/drawing/2014/main" id="{DDC40DE0-9A45-984B-B321-B4C0118CAC66}"/>
              </a:ext>
            </a:extLst>
          </p:cNvPr>
          <p:cNvSpPr/>
          <p:nvPr/>
        </p:nvSpPr>
        <p:spPr>
          <a:xfrm>
            <a:off x="7189694" y="1325563"/>
            <a:ext cx="170330" cy="54806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2F9CC9A2-190D-AC4C-9CF2-39736159BC7C}"/>
              </a:ext>
            </a:extLst>
          </p:cNvPr>
          <p:cNvSpPr/>
          <p:nvPr/>
        </p:nvSpPr>
        <p:spPr>
          <a:xfrm>
            <a:off x="7212889" y="4691197"/>
            <a:ext cx="170330" cy="54806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D6DCBF27-BBD3-A740-9429-D9E195BCBB0D}"/>
              </a:ext>
            </a:extLst>
          </p:cNvPr>
          <p:cNvSpPr/>
          <p:nvPr/>
        </p:nvSpPr>
        <p:spPr>
          <a:xfrm rot="5400000">
            <a:off x="9742292" y="6353137"/>
            <a:ext cx="170330" cy="54806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6F905673-05CC-DF4C-979B-8BD98A8457BD}"/>
              </a:ext>
            </a:extLst>
          </p:cNvPr>
          <p:cNvSpPr/>
          <p:nvPr/>
        </p:nvSpPr>
        <p:spPr>
          <a:xfrm rot="5400000">
            <a:off x="9894660" y="2982406"/>
            <a:ext cx="170330" cy="54806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65A74FAE-CB3C-A242-B7DE-56BC0936C7F5}"/>
                  </a:ext>
                </a:extLst>
              </p:cNvPr>
              <p:cNvSpPr txBox="1"/>
              <p:nvPr/>
            </p:nvSpPr>
            <p:spPr>
              <a:xfrm rot="16200000">
                <a:off x="7095386" y="1401428"/>
                <a:ext cx="437749"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𝑢</m:t>
                      </m:r>
                    </m:oMath>
                  </m:oMathPara>
                </a14:m>
                <a:endParaRPr lang="en-US" sz="2400" dirty="0"/>
              </a:p>
            </p:txBody>
          </p:sp>
        </mc:Choice>
        <mc:Fallback xmlns="">
          <p:sp>
            <p:nvSpPr>
              <p:cNvPr id="7" name="TextBox 6">
                <a:extLst>
                  <a:ext uri="{FF2B5EF4-FFF2-40B4-BE49-F238E27FC236}">
                    <a16:creationId xmlns:a16="http://schemas.microsoft.com/office/drawing/2014/main" id="{65A74FAE-CB3C-A242-B7DE-56BC0936C7F5}"/>
                  </a:ext>
                </a:extLst>
              </p:cNvPr>
              <p:cNvSpPr txBox="1">
                <a:spLocks noRot="1" noChangeAspect="1" noMove="1" noResize="1" noEditPoints="1" noAdjustHandles="1" noChangeArrowheads="1" noChangeShapeType="1" noTextEdit="1"/>
              </p:cNvSpPr>
              <p:nvPr/>
            </p:nvSpPr>
            <p:spPr>
              <a:xfrm rot="16200000">
                <a:off x="7095386" y="1401428"/>
                <a:ext cx="437749" cy="461665"/>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E5B5CE69-DC12-F54A-92ED-38ADC7F25556}"/>
                  </a:ext>
                </a:extLst>
              </p:cNvPr>
              <p:cNvSpPr txBox="1"/>
              <p:nvPr/>
            </p:nvSpPr>
            <p:spPr>
              <a:xfrm rot="16200000">
                <a:off x="7122797" y="4816963"/>
                <a:ext cx="382925"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𝑡</m:t>
                      </m:r>
                    </m:oMath>
                  </m:oMathPara>
                </a14:m>
                <a:endParaRPr lang="en-US" sz="2400" dirty="0"/>
              </a:p>
            </p:txBody>
          </p:sp>
        </mc:Choice>
        <mc:Fallback xmlns="">
          <p:sp>
            <p:nvSpPr>
              <p:cNvPr id="8" name="TextBox 7">
                <a:extLst>
                  <a:ext uri="{FF2B5EF4-FFF2-40B4-BE49-F238E27FC236}">
                    <a16:creationId xmlns:a16="http://schemas.microsoft.com/office/drawing/2014/main" id="{E5B5CE69-DC12-F54A-92ED-38ADC7F25556}"/>
                  </a:ext>
                </a:extLst>
              </p:cNvPr>
              <p:cNvSpPr txBox="1">
                <a:spLocks noRot="1" noChangeAspect="1" noMove="1" noResize="1" noEditPoints="1" noAdjustHandles="1" noChangeArrowheads="1" noChangeShapeType="1" noTextEdit="1"/>
              </p:cNvSpPr>
              <p:nvPr/>
            </p:nvSpPr>
            <p:spPr>
              <a:xfrm rot="16200000">
                <a:off x="7122797" y="4816963"/>
                <a:ext cx="382925" cy="461665"/>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CE68C4D1-91A3-0A45-86CB-E687A675A60B}"/>
                  </a:ext>
                </a:extLst>
              </p:cNvPr>
              <p:cNvSpPr txBox="1"/>
              <p:nvPr/>
            </p:nvSpPr>
            <p:spPr>
              <a:xfrm>
                <a:off x="9637346" y="6396335"/>
                <a:ext cx="426399"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𝑥</m:t>
                      </m:r>
                    </m:oMath>
                  </m:oMathPara>
                </a14:m>
                <a:endParaRPr lang="en-US" sz="2400" dirty="0"/>
              </a:p>
            </p:txBody>
          </p:sp>
        </mc:Choice>
        <mc:Fallback xmlns="">
          <p:sp>
            <p:nvSpPr>
              <p:cNvPr id="9" name="TextBox 8">
                <a:extLst>
                  <a:ext uri="{FF2B5EF4-FFF2-40B4-BE49-F238E27FC236}">
                    <a16:creationId xmlns:a16="http://schemas.microsoft.com/office/drawing/2014/main" id="{CE68C4D1-91A3-0A45-86CB-E687A675A60B}"/>
                  </a:ext>
                </a:extLst>
              </p:cNvPr>
              <p:cNvSpPr txBox="1">
                <a:spLocks noRot="1" noChangeAspect="1" noMove="1" noResize="1" noEditPoints="1" noAdjustHandles="1" noChangeArrowheads="1" noChangeShapeType="1" noTextEdit="1"/>
              </p:cNvSpPr>
              <p:nvPr/>
            </p:nvSpPr>
            <p:spPr>
              <a:xfrm>
                <a:off x="9637346" y="6396335"/>
                <a:ext cx="426399" cy="461665"/>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98043470-B352-6E4C-8713-BB0090D7DAF3}"/>
                  </a:ext>
                </a:extLst>
              </p:cNvPr>
              <p:cNvSpPr txBox="1"/>
              <p:nvPr/>
            </p:nvSpPr>
            <p:spPr>
              <a:xfrm>
                <a:off x="9553427" y="3025604"/>
                <a:ext cx="426399"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𝑥</m:t>
                      </m:r>
                    </m:oMath>
                  </m:oMathPara>
                </a14:m>
                <a:endParaRPr lang="en-US" sz="2400" dirty="0"/>
              </a:p>
            </p:txBody>
          </p:sp>
        </mc:Choice>
        <mc:Fallback xmlns="">
          <p:sp>
            <p:nvSpPr>
              <p:cNvPr id="10" name="TextBox 9">
                <a:extLst>
                  <a:ext uri="{FF2B5EF4-FFF2-40B4-BE49-F238E27FC236}">
                    <a16:creationId xmlns:a16="http://schemas.microsoft.com/office/drawing/2014/main" id="{98043470-B352-6E4C-8713-BB0090D7DAF3}"/>
                  </a:ext>
                </a:extLst>
              </p:cNvPr>
              <p:cNvSpPr txBox="1">
                <a:spLocks noRot="1" noChangeAspect="1" noMove="1" noResize="1" noEditPoints="1" noAdjustHandles="1" noChangeArrowheads="1" noChangeShapeType="1" noTextEdit="1"/>
              </p:cNvSpPr>
              <p:nvPr/>
            </p:nvSpPr>
            <p:spPr>
              <a:xfrm>
                <a:off x="9553427" y="3025604"/>
                <a:ext cx="426399" cy="461665"/>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EDDE7330-F052-654D-8786-63682083043D}"/>
                  </a:ext>
                </a:extLst>
              </p:cNvPr>
              <p:cNvSpPr txBox="1"/>
              <p:nvPr/>
            </p:nvSpPr>
            <p:spPr>
              <a:xfrm>
                <a:off x="9025877" y="17275"/>
                <a:ext cx="1907895" cy="400110"/>
              </a:xfrm>
              <a:prstGeom prst="rect">
                <a:avLst/>
              </a:prstGeom>
              <a:noFill/>
            </p:spPr>
            <p:txBody>
              <a:bodyPr wrap="none" rtlCol="0">
                <a:spAutoFit/>
              </a:bodyPr>
              <a:lstStyle/>
              <a:p>
                <a:r>
                  <a:rPr lang="en-US" sz="2000" dirty="0"/>
                  <a:t>Burger - </a:t>
                </a:r>
                <a14:m>
                  <m:oMath xmlns:m="http://schemas.openxmlformats.org/officeDocument/2006/math">
                    <m:r>
                      <a:rPr lang="en-US" sz="2000" b="0" i="1" smtClean="0">
                        <a:latin typeface="Cambria Math" panose="02040503050406030204" pitchFamily="18" charset="0"/>
                      </a:rPr>
                      <m:t>𝑢</m:t>
                    </m:r>
                  </m:oMath>
                </a14:m>
                <a:r>
                  <a:rPr lang="en-US" sz="2000" dirty="0"/>
                  <a:t> vary  </a:t>
                </a:r>
              </a:p>
            </p:txBody>
          </p:sp>
        </mc:Choice>
        <mc:Fallback xmlns="">
          <p:sp>
            <p:nvSpPr>
              <p:cNvPr id="16" name="TextBox 15">
                <a:extLst>
                  <a:ext uri="{FF2B5EF4-FFF2-40B4-BE49-F238E27FC236}">
                    <a16:creationId xmlns:a16="http://schemas.microsoft.com/office/drawing/2014/main" id="{EDDE7330-F052-654D-8786-63682083043D}"/>
                  </a:ext>
                </a:extLst>
              </p:cNvPr>
              <p:cNvSpPr txBox="1">
                <a:spLocks noRot="1" noChangeAspect="1" noMove="1" noResize="1" noEditPoints="1" noAdjustHandles="1" noChangeArrowheads="1" noChangeShapeType="1" noTextEdit="1"/>
              </p:cNvSpPr>
              <p:nvPr/>
            </p:nvSpPr>
            <p:spPr>
              <a:xfrm>
                <a:off x="9025877" y="17275"/>
                <a:ext cx="1907895" cy="400110"/>
              </a:xfrm>
              <a:prstGeom prst="rect">
                <a:avLst/>
              </a:prstGeom>
              <a:blipFill>
                <a:blip r:embed="rId9"/>
                <a:stretch>
                  <a:fillRect l="-3311" t="-3030" b="-24242"/>
                </a:stretch>
              </a:blipFill>
            </p:spPr>
            <p:txBody>
              <a:bodyPr/>
              <a:lstStyle/>
              <a:p>
                <a:r>
                  <a:rPr lang="en-US">
                    <a:noFill/>
                  </a:rPr>
                  <a:t> </a:t>
                </a:r>
              </a:p>
            </p:txBody>
          </p:sp>
        </mc:Fallback>
      </mc:AlternateContent>
    </p:spTree>
    <p:extLst>
      <p:ext uri="{BB962C8B-B14F-4D97-AF65-F5344CB8AC3E}">
        <p14:creationId xmlns:p14="http://schemas.microsoft.com/office/powerpoint/2010/main" val="32825100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D7C7ABD-D601-3D4E-BD44-E3722CDAE66B}"/>
              </a:ext>
            </a:extLst>
          </p:cNvPr>
          <p:cNvPicPr>
            <a:picLocks noChangeAspect="1"/>
          </p:cNvPicPr>
          <p:nvPr/>
        </p:nvPicPr>
        <p:blipFill>
          <a:blip r:embed="rId2"/>
          <a:stretch>
            <a:fillRect/>
          </a:stretch>
        </p:blipFill>
        <p:spPr>
          <a:xfrm>
            <a:off x="7048500" y="0"/>
            <a:ext cx="5143500" cy="6858000"/>
          </a:xfrm>
          <a:prstGeom prst="rect">
            <a:avLst/>
          </a:prstGeom>
        </p:spPr>
      </p:pic>
      <p:sp>
        <p:nvSpPr>
          <p:cNvPr id="2" name="Title 1">
            <a:extLst>
              <a:ext uri="{FF2B5EF4-FFF2-40B4-BE49-F238E27FC236}">
                <a16:creationId xmlns:a16="http://schemas.microsoft.com/office/drawing/2014/main" id="{75DCE2F9-F4C3-DA4C-B0FC-7FF6F22D148C}"/>
              </a:ext>
            </a:extLst>
          </p:cNvPr>
          <p:cNvSpPr>
            <a:spLocks noGrp="1"/>
          </p:cNvSpPr>
          <p:nvPr>
            <p:ph type="title"/>
          </p:nvPr>
        </p:nvSpPr>
        <p:spPr>
          <a:xfrm>
            <a:off x="838200" y="0"/>
            <a:ext cx="10515600" cy="1325563"/>
          </a:xfrm>
        </p:spPr>
        <p:txBody>
          <a:bodyPr/>
          <a:lstStyle/>
          <a:p>
            <a:r>
              <a:rPr lang="en-US" dirty="0"/>
              <a:t>Characteristic curves</a:t>
            </a:r>
          </a:p>
        </p:txBody>
      </p:sp>
      <p:sp>
        <p:nvSpPr>
          <p:cNvPr id="3" name="Content Placeholder 2">
            <a:extLst>
              <a:ext uri="{FF2B5EF4-FFF2-40B4-BE49-F238E27FC236}">
                <a16:creationId xmlns:a16="http://schemas.microsoft.com/office/drawing/2014/main" id="{15C4FD65-F675-944D-A379-3A5FFFAEB784}"/>
              </a:ext>
            </a:extLst>
          </p:cNvPr>
          <p:cNvSpPr>
            <a:spLocks noGrp="1"/>
          </p:cNvSpPr>
          <p:nvPr>
            <p:ph idx="1"/>
          </p:nvPr>
        </p:nvSpPr>
        <p:spPr>
          <a:xfrm>
            <a:off x="0" y="1325563"/>
            <a:ext cx="7360024" cy="5546770"/>
          </a:xfrm>
        </p:spPr>
        <p:txBody>
          <a:bodyPr>
            <a:normAutofit/>
          </a:bodyPr>
          <a:lstStyle/>
          <a:p>
            <a:r>
              <a:rPr lang="en-US" dirty="0"/>
              <a:t>It is also possible to get a </a:t>
            </a:r>
            <a:r>
              <a:rPr lang="en-US" i="1" dirty="0"/>
              <a:t>rarefaction</a:t>
            </a:r>
            <a:r>
              <a:rPr lang="en-US" dirty="0"/>
              <a:t> if the characteristics diverge.</a:t>
            </a:r>
          </a:p>
          <a:p>
            <a:pPr marL="0" indent="0">
              <a:buNone/>
            </a:pPr>
            <a:br>
              <a:rPr lang="en-US" dirty="0"/>
            </a:br>
            <a:endParaRPr lang="en-US" dirty="0"/>
          </a:p>
        </p:txBody>
      </p:sp>
      <p:sp>
        <p:nvSpPr>
          <p:cNvPr id="11" name="Rectangle 10">
            <a:extLst>
              <a:ext uri="{FF2B5EF4-FFF2-40B4-BE49-F238E27FC236}">
                <a16:creationId xmlns:a16="http://schemas.microsoft.com/office/drawing/2014/main" id="{DDC40DE0-9A45-984B-B321-B4C0118CAC66}"/>
              </a:ext>
            </a:extLst>
          </p:cNvPr>
          <p:cNvSpPr/>
          <p:nvPr/>
        </p:nvSpPr>
        <p:spPr>
          <a:xfrm>
            <a:off x="7189694" y="1325563"/>
            <a:ext cx="170330" cy="54806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2F9CC9A2-190D-AC4C-9CF2-39736159BC7C}"/>
              </a:ext>
            </a:extLst>
          </p:cNvPr>
          <p:cNvSpPr/>
          <p:nvPr/>
        </p:nvSpPr>
        <p:spPr>
          <a:xfrm>
            <a:off x="7212889" y="4691197"/>
            <a:ext cx="170330" cy="54806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D6DCBF27-BBD3-A740-9429-D9E195BCBB0D}"/>
              </a:ext>
            </a:extLst>
          </p:cNvPr>
          <p:cNvSpPr/>
          <p:nvPr/>
        </p:nvSpPr>
        <p:spPr>
          <a:xfrm rot="5400000">
            <a:off x="9771294" y="6391203"/>
            <a:ext cx="170330" cy="54806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6F905673-05CC-DF4C-979B-8BD98A8457BD}"/>
              </a:ext>
            </a:extLst>
          </p:cNvPr>
          <p:cNvSpPr/>
          <p:nvPr/>
        </p:nvSpPr>
        <p:spPr>
          <a:xfrm rot="5400000">
            <a:off x="9804836" y="3143761"/>
            <a:ext cx="170330" cy="54806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65A74FAE-CB3C-A242-B7DE-56BC0936C7F5}"/>
                  </a:ext>
                </a:extLst>
              </p:cNvPr>
              <p:cNvSpPr txBox="1"/>
              <p:nvPr/>
            </p:nvSpPr>
            <p:spPr>
              <a:xfrm rot="16200000">
                <a:off x="7095386" y="1401428"/>
                <a:ext cx="437749"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𝑢</m:t>
                      </m:r>
                    </m:oMath>
                  </m:oMathPara>
                </a14:m>
                <a:endParaRPr lang="en-US" sz="2400" dirty="0"/>
              </a:p>
            </p:txBody>
          </p:sp>
        </mc:Choice>
        <mc:Fallback xmlns="">
          <p:sp>
            <p:nvSpPr>
              <p:cNvPr id="7" name="TextBox 6">
                <a:extLst>
                  <a:ext uri="{FF2B5EF4-FFF2-40B4-BE49-F238E27FC236}">
                    <a16:creationId xmlns:a16="http://schemas.microsoft.com/office/drawing/2014/main" id="{65A74FAE-CB3C-A242-B7DE-56BC0936C7F5}"/>
                  </a:ext>
                </a:extLst>
              </p:cNvPr>
              <p:cNvSpPr txBox="1">
                <a:spLocks noRot="1" noChangeAspect="1" noMove="1" noResize="1" noEditPoints="1" noAdjustHandles="1" noChangeArrowheads="1" noChangeShapeType="1" noTextEdit="1"/>
              </p:cNvSpPr>
              <p:nvPr/>
            </p:nvSpPr>
            <p:spPr>
              <a:xfrm rot="16200000">
                <a:off x="7095386" y="1401428"/>
                <a:ext cx="437749" cy="461665"/>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E5B5CE69-DC12-F54A-92ED-38ADC7F25556}"/>
                  </a:ext>
                </a:extLst>
              </p:cNvPr>
              <p:cNvSpPr txBox="1"/>
              <p:nvPr/>
            </p:nvSpPr>
            <p:spPr>
              <a:xfrm rot="16200000">
                <a:off x="7122797" y="4816963"/>
                <a:ext cx="382925"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𝑡</m:t>
                      </m:r>
                    </m:oMath>
                  </m:oMathPara>
                </a14:m>
                <a:endParaRPr lang="en-US" sz="2400" dirty="0"/>
              </a:p>
            </p:txBody>
          </p:sp>
        </mc:Choice>
        <mc:Fallback xmlns="">
          <p:sp>
            <p:nvSpPr>
              <p:cNvPr id="8" name="TextBox 7">
                <a:extLst>
                  <a:ext uri="{FF2B5EF4-FFF2-40B4-BE49-F238E27FC236}">
                    <a16:creationId xmlns:a16="http://schemas.microsoft.com/office/drawing/2014/main" id="{E5B5CE69-DC12-F54A-92ED-38ADC7F25556}"/>
                  </a:ext>
                </a:extLst>
              </p:cNvPr>
              <p:cNvSpPr txBox="1">
                <a:spLocks noRot="1" noChangeAspect="1" noMove="1" noResize="1" noEditPoints="1" noAdjustHandles="1" noChangeArrowheads="1" noChangeShapeType="1" noTextEdit="1"/>
              </p:cNvSpPr>
              <p:nvPr/>
            </p:nvSpPr>
            <p:spPr>
              <a:xfrm rot="16200000">
                <a:off x="7122797" y="4816963"/>
                <a:ext cx="382925" cy="461665"/>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CE68C4D1-91A3-0A45-86CB-E687A675A60B}"/>
                  </a:ext>
                </a:extLst>
              </p:cNvPr>
              <p:cNvSpPr txBox="1"/>
              <p:nvPr/>
            </p:nvSpPr>
            <p:spPr>
              <a:xfrm>
                <a:off x="9637346" y="6396335"/>
                <a:ext cx="426399" cy="461665"/>
              </a:xfrm>
              <a:prstGeom prst="rect">
                <a:avLst/>
              </a:prstGeom>
              <a:solidFill>
                <a:schemeClr val="bg1"/>
              </a:solid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𝑥</m:t>
                      </m:r>
                    </m:oMath>
                  </m:oMathPara>
                </a14:m>
                <a:endParaRPr lang="en-US" sz="2400" dirty="0"/>
              </a:p>
            </p:txBody>
          </p:sp>
        </mc:Choice>
        <mc:Fallback xmlns="">
          <p:sp>
            <p:nvSpPr>
              <p:cNvPr id="9" name="TextBox 8">
                <a:extLst>
                  <a:ext uri="{FF2B5EF4-FFF2-40B4-BE49-F238E27FC236}">
                    <a16:creationId xmlns:a16="http://schemas.microsoft.com/office/drawing/2014/main" id="{CE68C4D1-91A3-0A45-86CB-E687A675A60B}"/>
                  </a:ext>
                </a:extLst>
              </p:cNvPr>
              <p:cNvSpPr txBox="1">
                <a:spLocks noRot="1" noChangeAspect="1" noMove="1" noResize="1" noEditPoints="1" noAdjustHandles="1" noChangeArrowheads="1" noChangeShapeType="1" noTextEdit="1"/>
              </p:cNvSpPr>
              <p:nvPr/>
            </p:nvSpPr>
            <p:spPr>
              <a:xfrm>
                <a:off x="9637346" y="6396335"/>
                <a:ext cx="426399" cy="461665"/>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98043470-B352-6E4C-8713-BB0090D7DAF3}"/>
                  </a:ext>
                </a:extLst>
              </p:cNvPr>
              <p:cNvSpPr txBox="1"/>
              <p:nvPr/>
            </p:nvSpPr>
            <p:spPr>
              <a:xfrm>
                <a:off x="9553427" y="3025604"/>
                <a:ext cx="426399" cy="461665"/>
              </a:xfrm>
              <a:prstGeom prst="rect">
                <a:avLst/>
              </a:prstGeom>
              <a:solidFill>
                <a:schemeClr val="bg1"/>
              </a:solid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𝑥</m:t>
                      </m:r>
                    </m:oMath>
                  </m:oMathPara>
                </a14:m>
                <a:endParaRPr lang="en-US" sz="2400" dirty="0"/>
              </a:p>
            </p:txBody>
          </p:sp>
        </mc:Choice>
        <mc:Fallback xmlns="">
          <p:sp>
            <p:nvSpPr>
              <p:cNvPr id="10" name="TextBox 9">
                <a:extLst>
                  <a:ext uri="{FF2B5EF4-FFF2-40B4-BE49-F238E27FC236}">
                    <a16:creationId xmlns:a16="http://schemas.microsoft.com/office/drawing/2014/main" id="{98043470-B352-6E4C-8713-BB0090D7DAF3}"/>
                  </a:ext>
                </a:extLst>
              </p:cNvPr>
              <p:cNvSpPr txBox="1">
                <a:spLocks noRot="1" noChangeAspect="1" noMove="1" noResize="1" noEditPoints="1" noAdjustHandles="1" noChangeArrowheads="1" noChangeShapeType="1" noTextEdit="1"/>
              </p:cNvSpPr>
              <p:nvPr/>
            </p:nvSpPr>
            <p:spPr>
              <a:xfrm>
                <a:off x="9553427" y="3025604"/>
                <a:ext cx="426399" cy="461665"/>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3A30C6D1-A468-E441-B056-E455CC19768E}"/>
                  </a:ext>
                </a:extLst>
              </p:cNvPr>
              <p:cNvSpPr txBox="1"/>
              <p:nvPr/>
            </p:nvSpPr>
            <p:spPr>
              <a:xfrm>
                <a:off x="9025877" y="17275"/>
                <a:ext cx="1907895" cy="400110"/>
              </a:xfrm>
              <a:prstGeom prst="rect">
                <a:avLst/>
              </a:prstGeom>
              <a:noFill/>
            </p:spPr>
            <p:txBody>
              <a:bodyPr wrap="none" rtlCol="0">
                <a:spAutoFit/>
              </a:bodyPr>
              <a:lstStyle/>
              <a:p>
                <a:r>
                  <a:rPr lang="en-US" sz="2000" dirty="0"/>
                  <a:t>Burger - </a:t>
                </a:r>
                <a14:m>
                  <m:oMath xmlns:m="http://schemas.openxmlformats.org/officeDocument/2006/math">
                    <m:r>
                      <a:rPr lang="en-US" sz="2000" b="0" i="1" smtClean="0">
                        <a:latin typeface="Cambria Math" panose="02040503050406030204" pitchFamily="18" charset="0"/>
                      </a:rPr>
                      <m:t>𝑢</m:t>
                    </m:r>
                  </m:oMath>
                </a14:m>
                <a:r>
                  <a:rPr lang="en-US" sz="2000" dirty="0"/>
                  <a:t> vary  </a:t>
                </a:r>
              </a:p>
            </p:txBody>
          </p:sp>
        </mc:Choice>
        <mc:Fallback xmlns="">
          <p:sp>
            <p:nvSpPr>
              <p:cNvPr id="15" name="TextBox 14">
                <a:extLst>
                  <a:ext uri="{FF2B5EF4-FFF2-40B4-BE49-F238E27FC236}">
                    <a16:creationId xmlns:a16="http://schemas.microsoft.com/office/drawing/2014/main" id="{3A30C6D1-A468-E441-B056-E455CC19768E}"/>
                  </a:ext>
                </a:extLst>
              </p:cNvPr>
              <p:cNvSpPr txBox="1">
                <a:spLocks noRot="1" noChangeAspect="1" noMove="1" noResize="1" noEditPoints="1" noAdjustHandles="1" noChangeArrowheads="1" noChangeShapeType="1" noTextEdit="1"/>
              </p:cNvSpPr>
              <p:nvPr/>
            </p:nvSpPr>
            <p:spPr>
              <a:xfrm>
                <a:off x="9025877" y="17275"/>
                <a:ext cx="1907895" cy="400110"/>
              </a:xfrm>
              <a:prstGeom prst="rect">
                <a:avLst/>
              </a:prstGeom>
              <a:blipFill>
                <a:blip r:embed="rId7"/>
                <a:stretch>
                  <a:fillRect l="-3311" t="-3030" b="-24242"/>
                </a:stretch>
              </a:blipFill>
            </p:spPr>
            <p:txBody>
              <a:bodyPr/>
              <a:lstStyle/>
              <a:p>
                <a:r>
                  <a:rPr lang="en-US">
                    <a:noFill/>
                  </a:rPr>
                  <a:t> </a:t>
                </a:r>
              </a:p>
            </p:txBody>
          </p:sp>
        </mc:Fallback>
      </mc:AlternateContent>
    </p:spTree>
    <p:extLst>
      <p:ext uri="{BB962C8B-B14F-4D97-AF65-F5344CB8AC3E}">
        <p14:creationId xmlns:p14="http://schemas.microsoft.com/office/powerpoint/2010/main" val="18492960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FEB871F-20CF-F54B-B59B-55D350611BF3}"/>
              </a:ext>
            </a:extLst>
          </p:cNvPr>
          <p:cNvPicPr>
            <a:picLocks noChangeAspect="1"/>
          </p:cNvPicPr>
          <p:nvPr/>
        </p:nvPicPr>
        <p:blipFill rotWithShape="1">
          <a:blip r:embed="rId2"/>
          <a:srcRect l="15110" r="5450"/>
          <a:stretch/>
        </p:blipFill>
        <p:spPr>
          <a:xfrm>
            <a:off x="7293777" y="1120824"/>
            <a:ext cx="4898223" cy="5285077"/>
          </a:xfrm>
          <a:prstGeom prst="rect">
            <a:avLst/>
          </a:prstGeom>
        </p:spPr>
      </p:pic>
      <p:sp>
        <p:nvSpPr>
          <p:cNvPr id="2" name="Title 1">
            <a:extLst>
              <a:ext uri="{FF2B5EF4-FFF2-40B4-BE49-F238E27FC236}">
                <a16:creationId xmlns:a16="http://schemas.microsoft.com/office/drawing/2014/main" id="{75DCE2F9-F4C3-DA4C-B0FC-7FF6F22D148C}"/>
              </a:ext>
            </a:extLst>
          </p:cNvPr>
          <p:cNvSpPr>
            <a:spLocks noGrp="1"/>
          </p:cNvSpPr>
          <p:nvPr>
            <p:ph type="title"/>
          </p:nvPr>
        </p:nvSpPr>
        <p:spPr>
          <a:xfrm>
            <a:off x="838200" y="0"/>
            <a:ext cx="10515600" cy="1325563"/>
          </a:xfrm>
        </p:spPr>
        <p:txBody>
          <a:bodyPr/>
          <a:lstStyle/>
          <a:p>
            <a:pPr algn="ctr"/>
            <a:r>
              <a:rPr lang="en-US" dirty="0"/>
              <a:t>Burgers’ Riemann Problem</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5C4FD65-F675-944D-A379-3A5FFFAEB784}"/>
                  </a:ext>
                </a:extLst>
              </p:cNvPr>
              <p:cNvSpPr>
                <a:spLocks noGrp="1"/>
              </p:cNvSpPr>
              <p:nvPr>
                <p:ph idx="1"/>
              </p:nvPr>
            </p:nvSpPr>
            <p:spPr>
              <a:xfrm>
                <a:off x="0" y="977153"/>
                <a:ext cx="7368988" cy="5880847"/>
              </a:xfrm>
            </p:spPr>
            <p:txBody>
              <a:bodyPr>
                <a:normAutofit/>
              </a:bodyPr>
              <a:lstStyle/>
              <a:p>
                <a:pPr>
                  <a:spcAft>
                    <a:spcPts val="600"/>
                  </a:spcAft>
                </a:pPr>
                <a:r>
                  <a:rPr lang="en-US" dirty="0"/>
                  <a:t>To numerically solve the Burger’s equation</a:t>
                </a:r>
              </a:p>
              <a:p>
                <a:pPr marL="0" indent="0">
                  <a:buNone/>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𝑢</m:t>
                          </m:r>
                        </m:e>
                        <m:sub>
                          <m:r>
                            <a:rPr lang="en-US" i="1">
                              <a:latin typeface="Cambria Math" panose="02040503050406030204" pitchFamily="18" charset="0"/>
                            </a:rPr>
                            <m:t>𝑡</m:t>
                          </m:r>
                        </m:sub>
                      </m:sSub>
                      <m:r>
                        <a:rPr lang="en-US" i="1">
                          <a:latin typeface="Cambria Math" panose="02040503050406030204" pitchFamily="18" charset="0"/>
                        </a:rPr>
                        <m:t>+</m:t>
                      </m:r>
                      <m:sSub>
                        <m:sSubPr>
                          <m:ctrlPr>
                            <a:rPr lang="en-US" i="1">
                              <a:latin typeface="Cambria Math" panose="02040503050406030204" pitchFamily="18" charset="0"/>
                            </a:rPr>
                          </m:ctrlPr>
                        </m:sSubPr>
                        <m:e>
                          <m:d>
                            <m:dPr>
                              <m:begChr m:val="["/>
                              <m:endChr m:val="]"/>
                              <m:ctrlPr>
                                <a:rPr lang="en-US" i="1">
                                  <a:latin typeface="Cambria Math" panose="02040503050406030204" pitchFamily="18" charset="0"/>
                                </a:rPr>
                              </m:ctrlPr>
                            </m:dPr>
                            <m:e>
                              <m:f>
                                <m:fPr>
                                  <m:type m:val="lin"/>
                                  <m:ctrlPr>
                                    <a:rPr lang="en-US" i="1">
                                      <a:latin typeface="Cambria Math" panose="02040503050406030204" pitchFamily="18" charset="0"/>
                                    </a:rPr>
                                  </m:ctrlPr>
                                </m:fPr>
                                <m:num>
                                  <m:sSup>
                                    <m:sSupPr>
                                      <m:ctrlPr>
                                        <a:rPr lang="en-US" i="1">
                                          <a:latin typeface="Cambria Math" panose="02040503050406030204" pitchFamily="18" charset="0"/>
                                        </a:rPr>
                                      </m:ctrlPr>
                                    </m:sSupPr>
                                    <m:e>
                                      <m:r>
                                        <a:rPr lang="en-US" i="1">
                                          <a:latin typeface="Cambria Math" panose="02040503050406030204" pitchFamily="18" charset="0"/>
                                        </a:rPr>
                                        <m:t>𝑢</m:t>
                                      </m:r>
                                    </m:e>
                                    <m:sup>
                                      <m:r>
                                        <a:rPr lang="en-US" i="1">
                                          <a:latin typeface="Cambria Math" panose="02040503050406030204" pitchFamily="18" charset="0"/>
                                        </a:rPr>
                                        <m:t>2</m:t>
                                      </m:r>
                                    </m:sup>
                                  </m:sSup>
                                </m:num>
                                <m:den>
                                  <m:r>
                                    <a:rPr lang="en-US" i="1">
                                      <a:latin typeface="Cambria Math" panose="02040503050406030204" pitchFamily="18" charset="0"/>
                                    </a:rPr>
                                    <m:t>2</m:t>
                                  </m:r>
                                </m:den>
                              </m:f>
                            </m:e>
                          </m:d>
                        </m:e>
                        <m:sub>
                          <m:r>
                            <a:rPr lang="en-US" i="1">
                              <a:latin typeface="Cambria Math" panose="02040503050406030204" pitchFamily="18" charset="0"/>
                            </a:rPr>
                            <m:t>𝑥</m:t>
                          </m:r>
                        </m:sub>
                      </m:sSub>
                      <m:r>
                        <a:rPr lang="en-US" i="1">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𝑢</m:t>
                          </m:r>
                        </m:e>
                        <m:sub>
                          <m:r>
                            <a:rPr lang="en-US" b="0" i="1" smtClean="0">
                              <a:latin typeface="Cambria Math" panose="02040503050406030204" pitchFamily="18" charset="0"/>
                            </a:rPr>
                            <m:t>𝑡</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𝐹</m:t>
                              </m:r>
                              <m:d>
                                <m:dPr>
                                  <m:ctrlPr>
                                    <a:rPr lang="en-US" b="0" i="1" smtClean="0">
                                      <a:latin typeface="Cambria Math" panose="02040503050406030204" pitchFamily="18" charset="0"/>
                                    </a:rPr>
                                  </m:ctrlPr>
                                </m:dPr>
                                <m:e>
                                  <m:r>
                                    <a:rPr lang="en-US" b="0" i="1" smtClean="0">
                                      <a:latin typeface="Cambria Math" panose="02040503050406030204" pitchFamily="18" charset="0"/>
                                    </a:rPr>
                                    <m:t>𝑢</m:t>
                                  </m:r>
                                </m:e>
                              </m:d>
                            </m:e>
                          </m:d>
                        </m:e>
                        <m:sub>
                          <m:r>
                            <a:rPr lang="en-US" b="0" i="1" smtClean="0">
                              <a:latin typeface="Cambria Math" panose="02040503050406030204" pitchFamily="18" charset="0"/>
                            </a:rPr>
                            <m:t>𝑥</m:t>
                          </m:r>
                        </m:sub>
                      </m:sSub>
                      <m:r>
                        <a:rPr lang="en-US" b="0" i="1" smtClean="0">
                          <a:latin typeface="Cambria Math" panose="02040503050406030204" pitchFamily="18" charset="0"/>
                        </a:rPr>
                        <m:t>=0</m:t>
                      </m:r>
                    </m:oMath>
                  </m:oMathPara>
                </a14:m>
                <a:endParaRPr lang="en-US" dirty="0"/>
              </a:p>
              <a:p>
                <a:pPr marL="0" indent="0">
                  <a:buNone/>
                </a:pPr>
                <a:r>
                  <a:rPr lang="en-US" dirty="0"/>
                  <a:t>   we need to calculate fluxes at the interfaces</a:t>
                </a:r>
              </a:p>
              <a:p>
                <a:r>
                  <a:rPr lang="en-US" dirty="0"/>
                  <a:t>When a shock is present it is not possible to trace backward in time to learn where the flow originated.  We cannot use the upwind method to calculate </a:t>
                </a:r>
                <a14:m>
                  <m:oMath xmlns:m="http://schemas.openxmlformats.org/officeDocument/2006/math">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𝐹</m:t>
                        </m:r>
                      </m:e>
                      <m:sub>
                        <m:r>
                          <a:rPr lang="en-US" b="0" i="1" smtClean="0">
                            <a:latin typeface="Cambria Math" panose="02040503050406030204" pitchFamily="18" charset="0"/>
                          </a:rPr>
                          <m:t>𝑖</m:t>
                        </m:r>
                        <m:r>
                          <a:rPr lang="en-US" b="0" i="1" smtClean="0">
                            <a:latin typeface="Cambria Math" panose="02040503050406030204" pitchFamily="18" charset="0"/>
                          </a:rPr>
                          <m:t>+1/2</m:t>
                        </m:r>
                      </m:sub>
                      <m:sup>
                        <m:r>
                          <a:rPr lang="en-US" b="0" i="1" smtClean="0">
                            <a:latin typeface="Cambria Math" panose="02040503050406030204" pitchFamily="18" charset="0"/>
                          </a:rPr>
                          <m:t>𝑛</m:t>
                        </m:r>
                      </m:sup>
                    </m:sSubSup>
                  </m:oMath>
                </a14:m>
                <a:endParaRPr lang="en-US" dirty="0"/>
              </a:p>
              <a:p>
                <a:r>
                  <a:rPr lang="en-US" dirty="0"/>
                  <a:t>The right figure shows two states separated by a rightward moving shock </a:t>
                </a:r>
              </a:p>
              <a:p>
                <a:r>
                  <a:rPr lang="en-US" dirty="0"/>
                  <a:t>At time </a:t>
                </a: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𝑡</m:t>
                        </m:r>
                      </m:e>
                      <m:sup>
                        <m:r>
                          <a:rPr lang="en-US" b="0" i="1" smtClean="0">
                            <a:latin typeface="Cambria Math" panose="02040503050406030204" pitchFamily="18" charset="0"/>
                          </a:rPr>
                          <m:t>𝑛</m:t>
                        </m:r>
                      </m:sup>
                    </m:sSup>
                  </m:oMath>
                </a14:m>
                <a:r>
                  <a:rPr lang="en-US" dirty="0"/>
                  <a:t> the state in interval </a:t>
                </a:r>
                <a14:m>
                  <m:oMath xmlns:m="http://schemas.openxmlformats.org/officeDocument/2006/math">
                    <m:r>
                      <a:rPr lang="en-US" b="0" i="1" smtClean="0">
                        <a:latin typeface="Cambria Math" panose="02040503050406030204" pitchFamily="18" charset="0"/>
                      </a:rPr>
                      <m:t>𝑥</m:t>
                    </m:r>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𝑥</m:t>
                        </m:r>
                      </m:e>
                      <m:sub>
                        <m:r>
                          <a:rPr lang="en-US" b="0" i="1" smtClean="0">
                            <a:latin typeface="Cambria Math" panose="02040503050406030204" pitchFamily="18" charset="0"/>
                            <a:ea typeface="Cambria Math" panose="02040503050406030204" pitchFamily="18" charset="0"/>
                          </a:rPr>
                          <m:t>𝑙</m:t>
                        </m:r>
                      </m:sub>
                    </m:sSub>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𝑥</m:t>
                        </m:r>
                      </m:e>
                      <m:sub>
                        <m:r>
                          <a:rPr lang="en-US" b="0" i="1" smtClean="0">
                            <a:latin typeface="Cambria Math" panose="02040503050406030204" pitchFamily="18" charset="0"/>
                            <a:ea typeface="Cambria Math" panose="02040503050406030204" pitchFamily="18" charset="0"/>
                          </a:rPr>
                          <m:t>𝑟</m:t>
                        </m:r>
                      </m:sub>
                    </m:sSub>
                    <m:r>
                      <a:rPr lang="en-US" b="0" i="1" smtClean="0">
                        <a:latin typeface="Cambria Math" panose="02040503050406030204" pitchFamily="18" charset="0"/>
                        <a:ea typeface="Cambria Math" panose="02040503050406030204" pitchFamily="18" charset="0"/>
                      </a:rPr>
                      <m:t>]</m:t>
                    </m:r>
                  </m:oMath>
                </a14:m>
                <a:r>
                  <a:rPr lang="en-US" dirty="0"/>
                  <a:t> is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𝑢</m:t>
                        </m:r>
                      </m:e>
                      <m:sub>
                        <m:r>
                          <a:rPr lang="en-US" b="0" i="1" smtClean="0">
                            <a:latin typeface="Cambria Math" panose="02040503050406030204" pitchFamily="18" charset="0"/>
                          </a:rPr>
                          <m:t>𝑟</m:t>
                        </m:r>
                      </m:sub>
                    </m:sSub>
                  </m:oMath>
                </a14:m>
                <a:endParaRPr lang="en-US" dirty="0"/>
              </a:p>
              <a:p>
                <a:r>
                  <a:rPr lang="en-US" dirty="0"/>
                  <a:t>At time </a:t>
                </a: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𝑡</m:t>
                        </m:r>
                      </m:e>
                      <m:sup>
                        <m:r>
                          <a:rPr lang="en-US" b="0" i="1" smtClean="0">
                            <a:latin typeface="Cambria Math" panose="02040503050406030204" pitchFamily="18" charset="0"/>
                          </a:rPr>
                          <m:t>𝑛</m:t>
                        </m:r>
                        <m:r>
                          <a:rPr lang="en-US" b="0" i="1" smtClean="0">
                            <a:latin typeface="Cambria Math" panose="02040503050406030204" pitchFamily="18" charset="0"/>
                          </a:rPr>
                          <m:t>+1</m:t>
                        </m:r>
                      </m:sup>
                    </m:sSup>
                  </m:oMath>
                </a14:m>
                <a:r>
                  <a:rPr lang="en-US" dirty="0"/>
                  <a:t> the state in the interval is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𝑢</m:t>
                        </m:r>
                      </m:e>
                      <m:sub>
                        <m:r>
                          <a:rPr lang="en-US" b="0" i="1" smtClean="0">
                            <a:latin typeface="Cambria Math" panose="02040503050406030204" pitchFamily="18" charset="0"/>
                          </a:rPr>
                          <m:t>𝑙</m:t>
                        </m:r>
                      </m:sub>
                    </m:sSub>
                  </m:oMath>
                </a14:m>
                <a:endParaRPr lang="en-US" dirty="0"/>
              </a:p>
              <a:p>
                <a:r>
                  <a:rPr lang="en-US" dirty="0"/>
                  <a:t>At any time in between the states are mixes.</a:t>
                </a:r>
              </a:p>
            </p:txBody>
          </p:sp>
        </mc:Choice>
        <mc:Fallback xmlns="">
          <p:sp>
            <p:nvSpPr>
              <p:cNvPr id="3" name="Content Placeholder 2">
                <a:extLst>
                  <a:ext uri="{FF2B5EF4-FFF2-40B4-BE49-F238E27FC236}">
                    <a16:creationId xmlns:a16="http://schemas.microsoft.com/office/drawing/2014/main" id="{15C4FD65-F675-944D-A379-3A5FFFAEB784}"/>
                  </a:ext>
                </a:extLst>
              </p:cNvPr>
              <p:cNvSpPr>
                <a:spLocks noGrp="1" noRot="1" noChangeAspect="1" noMove="1" noResize="1" noEditPoints="1" noAdjustHandles="1" noChangeArrowheads="1" noChangeShapeType="1" noTextEdit="1"/>
              </p:cNvSpPr>
              <p:nvPr>
                <p:ph idx="1"/>
              </p:nvPr>
            </p:nvSpPr>
            <p:spPr>
              <a:xfrm>
                <a:off x="0" y="977153"/>
                <a:ext cx="7368988" cy="5880847"/>
              </a:xfrm>
              <a:blipFill>
                <a:blip r:embed="rId3"/>
                <a:stretch>
                  <a:fillRect l="-1379" t="-4310" r="-86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5E2EA111-067E-C145-A4D5-7DA100972F8E}"/>
                  </a:ext>
                </a:extLst>
              </p:cNvPr>
              <p:cNvSpPr txBox="1"/>
              <p:nvPr/>
            </p:nvSpPr>
            <p:spPr>
              <a:xfrm>
                <a:off x="7368988" y="3681066"/>
                <a:ext cx="120513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FF0000"/>
                          </a:solidFill>
                          <a:latin typeface="Cambria Math" panose="02040503050406030204" pitchFamily="18" charset="0"/>
                        </a:rPr>
                        <m:t>𝑓</m:t>
                      </m:r>
                      <m:r>
                        <a:rPr lang="en-US" b="0" i="1" smtClean="0">
                          <a:solidFill>
                            <a:srgbClr val="FF0000"/>
                          </a:solidFill>
                          <a:latin typeface="Cambria Math" panose="02040503050406030204" pitchFamily="18" charset="0"/>
                        </a:rPr>
                        <m:t>=</m:t>
                      </m:r>
                      <m:r>
                        <a:rPr lang="en-US" b="0" i="1" smtClean="0">
                          <a:solidFill>
                            <a:srgbClr val="FF0000"/>
                          </a:solidFill>
                          <a:latin typeface="Cambria Math" panose="02040503050406030204" pitchFamily="18" charset="0"/>
                        </a:rPr>
                        <m:t>𝑓</m:t>
                      </m:r>
                      <m:r>
                        <a:rPr lang="en-US" b="0" i="1" smtClean="0">
                          <a:solidFill>
                            <a:srgbClr val="FF0000"/>
                          </a:solidFill>
                          <a:latin typeface="Cambria Math" panose="02040503050406030204" pitchFamily="18" charset="0"/>
                        </a:rPr>
                        <m:t>(</m:t>
                      </m:r>
                      <m:sSub>
                        <m:sSubPr>
                          <m:ctrlPr>
                            <a:rPr lang="en-US" b="0" i="1" smtClean="0">
                              <a:solidFill>
                                <a:srgbClr val="FF0000"/>
                              </a:solidFill>
                              <a:latin typeface="Cambria Math" panose="02040503050406030204" pitchFamily="18" charset="0"/>
                            </a:rPr>
                          </m:ctrlPr>
                        </m:sSubPr>
                        <m:e>
                          <m:r>
                            <a:rPr lang="en-US" b="0" i="1" smtClean="0">
                              <a:solidFill>
                                <a:srgbClr val="FF0000"/>
                              </a:solidFill>
                              <a:latin typeface="Cambria Math" panose="02040503050406030204" pitchFamily="18" charset="0"/>
                            </a:rPr>
                            <m:t>𝑢</m:t>
                          </m:r>
                        </m:e>
                        <m:sub>
                          <m:r>
                            <a:rPr lang="en-US" b="0" i="1" smtClean="0">
                              <a:solidFill>
                                <a:srgbClr val="FF0000"/>
                              </a:solidFill>
                              <a:latin typeface="Cambria Math" panose="02040503050406030204" pitchFamily="18" charset="0"/>
                            </a:rPr>
                            <m:t>𝑙</m:t>
                          </m:r>
                        </m:sub>
                      </m:sSub>
                      <m:r>
                        <a:rPr lang="en-US" b="0" i="1" smtClean="0">
                          <a:solidFill>
                            <a:srgbClr val="FF0000"/>
                          </a:solidFill>
                          <a:latin typeface="Cambria Math" panose="02040503050406030204" pitchFamily="18" charset="0"/>
                        </a:rPr>
                        <m:t>)</m:t>
                      </m:r>
                    </m:oMath>
                  </m:oMathPara>
                </a14:m>
                <a:endParaRPr lang="en-US" dirty="0">
                  <a:solidFill>
                    <a:srgbClr val="FF0000"/>
                  </a:solidFill>
                </a:endParaRPr>
              </a:p>
            </p:txBody>
          </p:sp>
        </mc:Choice>
        <mc:Fallback xmlns="">
          <p:sp>
            <p:nvSpPr>
              <p:cNvPr id="5" name="TextBox 4">
                <a:extLst>
                  <a:ext uri="{FF2B5EF4-FFF2-40B4-BE49-F238E27FC236}">
                    <a16:creationId xmlns:a16="http://schemas.microsoft.com/office/drawing/2014/main" id="{5E2EA111-067E-C145-A4D5-7DA100972F8E}"/>
                  </a:ext>
                </a:extLst>
              </p:cNvPr>
              <p:cNvSpPr txBox="1">
                <a:spLocks noRot="1" noChangeAspect="1" noMove="1" noResize="1" noEditPoints="1" noAdjustHandles="1" noChangeArrowheads="1" noChangeShapeType="1" noTextEdit="1"/>
              </p:cNvSpPr>
              <p:nvPr/>
            </p:nvSpPr>
            <p:spPr>
              <a:xfrm>
                <a:off x="7368988" y="3681066"/>
                <a:ext cx="1205138" cy="369332"/>
              </a:xfrm>
              <a:prstGeom prst="rect">
                <a:avLst/>
              </a:prstGeom>
              <a:blipFill>
                <a:blip r:embed="rId4"/>
                <a:stretch>
                  <a:fillRect b="-13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9C29D10D-C5ED-3B43-A6F1-26C31DEC84E9}"/>
                  </a:ext>
                </a:extLst>
              </p:cNvPr>
              <p:cNvSpPr txBox="1"/>
              <p:nvPr/>
            </p:nvSpPr>
            <p:spPr>
              <a:xfrm>
                <a:off x="10452847" y="3681066"/>
                <a:ext cx="1235723"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FF0000"/>
                          </a:solidFill>
                          <a:latin typeface="Cambria Math" panose="02040503050406030204" pitchFamily="18" charset="0"/>
                        </a:rPr>
                        <m:t>𝑓</m:t>
                      </m:r>
                      <m:r>
                        <a:rPr lang="en-US" b="0" i="1" smtClean="0">
                          <a:solidFill>
                            <a:srgbClr val="FF0000"/>
                          </a:solidFill>
                          <a:latin typeface="Cambria Math" panose="02040503050406030204" pitchFamily="18" charset="0"/>
                        </a:rPr>
                        <m:t>=</m:t>
                      </m:r>
                      <m:r>
                        <a:rPr lang="en-US" b="0" i="1" smtClean="0">
                          <a:solidFill>
                            <a:srgbClr val="FF0000"/>
                          </a:solidFill>
                          <a:latin typeface="Cambria Math" panose="02040503050406030204" pitchFamily="18" charset="0"/>
                        </a:rPr>
                        <m:t>𝑓</m:t>
                      </m:r>
                      <m:r>
                        <a:rPr lang="en-US" b="0" i="1" smtClean="0">
                          <a:solidFill>
                            <a:srgbClr val="FF0000"/>
                          </a:solidFill>
                          <a:latin typeface="Cambria Math" panose="02040503050406030204" pitchFamily="18" charset="0"/>
                        </a:rPr>
                        <m:t>(</m:t>
                      </m:r>
                      <m:sSub>
                        <m:sSubPr>
                          <m:ctrlPr>
                            <a:rPr lang="en-US" b="0" i="1" smtClean="0">
                              <a:solidFill>
                                <a:srgbClr val="FF0000"/>
                              </a:solidFill>
                              <a:latin typeface="Cambria Math" panose="02040503050406030204" pitchFamily="18" charset="0"/>
                            </a:rPr>
                          </m:ctrlPr>
                        </m:sSubPr>
                        <m:e>
                          <m:r>
                            <a:rPr lang="en-US" b="0" i="1" smtClean="0">
                              <a:solidFill>
                                <a:srgbClr val="FF0000"/>
                              </a:solidFill>
                              <a:latin typeface="Cambria Math" panose="02040503050406030204" pitchFamily="18" charset="0"/>
                            </a:rPr>
                            <m:t>𝑢</m:t>
                          </m:r>
                        </m:e>
                        <m:sub>
                          <m:r>
                            <a:rPr lang="en-US" b="0" i="1" smtClean="0">
                              <a:solidFill>
                                <a:srgbClr val="FF0000"/>
                              </a:solidFill>
                              <a:latin typeface="Cambria Math" panose="02040503050406030204" pitchFamily="18" charset="0"/>
                            </a:rPr>
                            <m:t>𝑟</m:t>
                          </m:r>
                        </m:sub>
                      </m:sSub>
                      <m:r>
                        <a:rPr lang="en-US" b="0" i="1" smtClean="0">
                          <a:solidFill>
                            <a:srgbClr val="FF0000"/>
                          </a:solidFill>
                          <a:latin typeface="Cambria Math" panose="02040503050406030204" pitchFamily="18" charset="0"/>
                        </a:rPr>
                        <m:t>)</m:t>
                      </m:r>
                    </m:oMath>
                  </m:oMathPara>
                </a14:m>
                <a:endParaRPr lang="en-US" dirty="0">
                  <a:solidFill>
                    <a:srgbClr val="FF0000"/>
                  </a:solidFill>
                </a:endParaRPr>
              </a:p>
            </p:txBody>
          </p:sp>
        </mc:Choice>
        <mc:Fallback xmlns="">
          <p:sp>
            <p:nvSpPr>
              <p:cNvPr id="6" name="TextBox 5">
                <a:extLst>
                  <a:ext uri="{FF2B5EF4-FFF2-40B4-BE49-F238E27FC236}">
                    <a16:creationId xmlns:a16="http://schemas.microsoft.com/office/drawing/2014/main" id="{9C29D10D-C5ED-3B43-A6F1-26C31DEC84E9}"/>
                  </a:ext>
                </a:extLst>
              </p:cNvPr>
              <p:cNvSpPr txBox="1">
                <a:spLocks noRot="1" noChangeAspect="1" noMove="1" noResize="1" noEditPoints="1" noAdjustHandles="1" noChangeArrowheads="1" noChangeShapeType="1" noTextEdit="1"/>
              </p:cNvSpPr>
              <p:nvPr/>
            </p:nvSpPr>
            <p:spPr>
              <a:xfrm>
                <a:off x="10452847" y="3681066"/>
                <a:ext cx="1235723" cy="369332"/>
              </a:xfrm>
              <a:prstGeom prst="rect">
                <a:avLst/>
              </a:prstGeom>
              <a:blipFill>
                <a:blip r:embed="rId5"/>
                <a:stretch>
                  <a:fillRect b="-13333"/>
                </a:stretch>
              </a:blipFill>
            </p:spPr>
            <p:txBody>
              <a:bodyPr/>
              <a:lstStyle/>
              <a:p>
                <a:r>
                  <a:rPr lang="en-US">
                    <a:noFill/>
                  </a:rPr>
                  <a:t> </a:t>
                </a:r>
              </a:p>
            </p:txBody>
          </p:sp>
        </mc:Fallback>
      </mc:AlternateContent>
      <p:sp>
        <p:nvSpPr>
          <p:cNvPr id="7" name="Rectangle 6">
            <a:extLst>
              <a:ext uri="{FF2B5EF4-FFF2-40B4-BE49-F238E27FC236}">
                <a16:creationId xmlns:a16="http://schemas.microsoft.com/office/drawing/2014/main" id="{45D92AC0-BAA3-6445-81E1-EC443FC948D4}"/>
              </a:ext>
            </a:extLst>
          </p:cNvPr>
          <p:cNvSpPr/>
          <p:nvPr/>
        </p:nvSpPr>
        <p:spPr>
          <a:xfrm>
            <a:off x="7293777" y="4050398"/>
            <a:ext cx="263470" cy="39609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918D2275-A8DA-944B-954E-BE3759B4BA2F}"/>
              </a:ext>
            </a:extLst>
          </p:cNvPr>
          <p:cNvSpPr/>
          <p:nvPr/>
        </p:nvSpPr>
        <p:spPr>
          <a:xfrm>
            <a:off x="11353800" y="4050398"/>
            <a:ext cx="838200" cy="31958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3644305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FEB871F-20CF-F54B-B59B-55D350611BF3}"/>
              </a:ext>
            </a:extLst>
          </p:cNvPr>
          <p:cNvPicPr>
            <a:picLocks noChangeAspect="1"/>
          </p:cNvPicPr>
          <p:nvPr/>
        </p:nvPicPr>
        <p:blipFill rotWithShape="1">
          <a:blip r:embed="rId3"/>
          <a:srcRect l="15110" r="5450"/>
          <a:stretch/>
        </p:blipFill>
        <p:spPr>
          <a:xfrm>
            <a:off x="7293777" y="1120824"/>
            <a:ext cx="4898223" cy="5285077"/>
          </a:xfrm>
          <a:prstGeom prst="rect">
            <a:avLst/>
          </a:prstGeom>
        </p:spPr>
      </p:pic>
      <p:sp>
        <p:nvSpPr>
          <p:cNvPr id="2" name="Title 1">
            <a:extLst>
              <a:ext uri="{FF2B5EF4-FFF2-40B4-BE49-F238E27FC236}">
                <a16:creationId xmlns:a16="http://schemas.microsoft.com/office/drawing/2014/main" id="{75DCE2F9-F4C3-DA4C-B0FC-7FF6F22D148C}"/>
              </a:ext>
            </a:extLst>
          </p:cNvPr>
          <p:cNvSpPr>
            <a:spLocks noGrp="1"/>
          </p:cNvSpPr>
          <p:nvPr>
            <p:ph type="title"/>
          </p:nvPr>
        </p:nvSpPr>
        <p:spPr>
          <a:xfrm>
            <a:off x="838200" y="0"/>
            <a:ext cx="10515600" cy="1325563"/>
          </a:xfrm>
        </p:spPr>
        <p:txBody>
          <a:bodyPr/>
          <a:lstStyle/>
          <a:p>
            <a:pPr algn="ctr"/>
            <a:r>
              <a:rPr lang="en-US" dirty="0"/>
              <a:t>Burgers’ Riemann Problem</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5C4FD65-F675-944D-A379-3A5FFFAEB784}"/>
                  </a:ext>
                </a:extLst>
              </p:cNvPr>
              <p:cNvSpPr>
                <a:spLocks noGrp="1"/>
              </p:cNvSpPr>
              <p:nvPr>
                <p:ph idx="1"/>
              </p:nvPr>
            </p:nvSpPr>
            <p:spPr>
              <a:xfrm>
                <a:off x="0" y="977153"/>
                <a:ext cx="7368988" cy="5880847"/>
              </a:xfrm>
            </p:spPr>
            <p:txBody>
              <a:bodyPr>
                <a:normAutofit/>
              </a:bodyPr>
              <a:lstStyle/>
              <a:p>
                <a:pPr>
                  <a:spcAft>
                    <a:spcPts val="600"/>
                  </a:spcAft>
                </a:pPr>
                <a:r>
                  <a:rPr lang="en-US" dirty="0"/>
                  <a:t>To determine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𝑢</m:t>
                        </m:r>
                      </m:e>
                      <m:sub>
                        <m:r>
                          <a:rPr lang="en-US" b="0" i="1" smtClean="0">
                            <a:latin typeface="Cambria Math" panose="02040503050406030204" pitchFamily="18" charset="0"/>
                          </a:rPr>
                          <m:t>𝑖</m:t>
                        </m:r>
                        <m:r>
                          <a:rPr lang="en-US" b="0" i="1" smtClean="0">
                            <a:latin typeface="Cambria Math" panose="02040503050406030204" pitchFamily="18" charset="0"/>
                          </a:rPr>
                          <m:t>+1/2</m:t>
                        </m:r>
                      </m:sub>
                    </m:sSub>
                  </m:oMath>
                </a14:m>
                <a:r>
                  <a:rPr lang="en-US" dirty="0"/>
                  <a:t> lets integrate over space and time</a:t>
                </a:r>
              </a:p>
              <a:p>
                <a:pPr marL="0" indent="0">
                  <a:spcAft>
                    <a:spcPts val="600"/>
                  </a:spcAft>
                  <a:buNone/>
                </a:pPr>
                <a14:m>
                  <m:oMathPara xmlns:m="http://schemas.openxmlformats.org/officeDocument/2006/math">
                    <m:oMathParaPr>
                      <m:jc m:val="centerGroup"/>
                    </m:oMathParaPr>
                    <m:oMath xmlns:m="http://schemas.openxmlformats.org/officeDocument/2006/math">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1</m:t>
                          </m:r>
                        </m:num>
                        <m:den>
                          <m:r>
                            <m:rPr>
                              <m:sty m:val="p"/>
                            </m:rPr>
                            <a:rPr lang="en-US" sz="2400" b="0" i="0" smtClean="0">
                              <a:latin typeface="Cambria Math" panose="02040503050406030204" pitchFamily="18" charset="0"/>
                            </a:rPr>
                            <m:t>Δ</m:t>
                          </m:r>
                          <m:r>
                            <a:rPr lang="en-US" sz="2400" b="0" i="1" smtClean="0">
                              <a:latin typeface="Cambria Math" panose="02040503050406030204" pitchFamily="18" charset="0"/>
                            </a:rPr>
                            <m:t>𝑥</m:t>
                          </m:r>
                        </m:den>
                      </m:f>
                      <m:nary>
                        <m:naryPr>
                          <m:ctrlPr>
                            <a:rPr lang="en-US" sz="2400" b="0" i="1" smtClean="0">
                              <a:latin typeface="Cambria Math" panose="02040503050406030204" pitchFamily="18" charset="0"/>
                            </a:rPr>
                          </m:ctrlPr>
                        </m:naryPr>
                        <m:sub>
                          <m:sSub>
                            <m:sSubPr>
                              <m:ctrlPr>
                                <a:rPr lang="en-US" sz="2400" b="0" i="1" smtClean="0">
                                  <a:latin typeface="Cambria Math" panose="02040503050406030204" pitchFamily="18" charset="0"/>
                                </a:rPr>
                              </m:ctrlPr>
                            </m:sSubPr>
                            <m:e>
                              <m:r>
                                <m:rPr>
                                  <m:brk m:alnAt="23"/>
                                </m:rPr>
                                <a:rPr lang="en-US" sz="2400" b="0" i="1" smtClean="0">
                                  <a:latin typeface="Cambria Math" panose="02040503050406030204" pitchFamily="18" charset="0"/>
                                </a:rPr>
                                <m:t>𝑥</m:t>
                              </m:r>
                            </m:e>
                            <m:sub>
                              <m:r>
                                <m:rPr>
                                  <m:brk m:alnAt="23"/>
                                </m:rPr>
                                <a:rPr lang="en-US" sz="2400" b="0" i="1" smtClean="0">
                                  <a:latin typeface="Cambria Math" panose="02040503050406030204" pitchFamily="18" charset="0"/>
                                </a:rPr>
                                <m:t>𝑙</m:t>
                              </m:r>
                            </m:sub>
                          </m:sSub>
                        </m:sub>
                        <m:sup>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𝑥</m:t>
                              </m:r>
                            </m:e>
                            <m:sub>
                              <m:r>
                                <a:rPr lang="en-US" sz="2400" b="0" i="1" smtClean="0">
                                  <a:latin typeface="Cambria Math" panose="02040503050406030204" pitchFamily="18" charset="0"/>
                                </a:rPr>
                                <m:t>𝑟</m:t>
                              </m:r>
                            </m:sub>
                          </m:sSub>
                        </m:sup>
                        <m:e>
                          <m:r>
                            <a:rPr lang="en-US" sz="2400" b="0" i="1" smtClean="0">
                              <a:latin typeface="Cambria Math" panose="02040503050406030204" pitchFamily="18" charset="0"/>
                            </a:rPr>
                            <m:t>𝑑𝑥</m:t>
                          </m:r>
                        </m:e>
                      </m:nary>
                      <m:nary>
                        <m:naryPr>
                          <m:ctrlPr>
                            <a:rPr lang="en-US" sz="2400" b="0" i="1" smtClean="0">
                              <a:latin typeface="Cambria Math" panose="02040503050406030204" pitchFamily="18" charset="0"/>
                            </a:rPr>
                          </m:ctrlPr>
                        </m:naryPr>
                        <m:sub>
                          <m:sSup>
                            <m:sSupPr>
                              <m:ctrlPr>
                                <a:rPr lang="en-US" sz="2400" b="0" i="1" smtClean="0">
                                  <a:latin typeface="Cambria Math" panose="02040503050406030204" pitchFamily="18" charset="0"/>
                                </a:rPr>
                              </m:ctrlPr>
                            </m:sSupPr>
                            <m:e>
                              <m:r>
                                <m:rPr>
                                  <m:brk m:alnAt="23"/>
                                </m:rPr>
                                <a:rPr lang="en-US" sz="2400" b="0" i="1" smtClean="0">
                                  <a:latin typeface="Cambria Math" panose="02040503050406030204" pitchFamily="18" charset="0"/>
                                </a:rPr>
                                <m:t>𝑡</m:t>
                              </m:r>
                            </m:e>
                            <m:sup>
                              <m:r>
                                <m:rPr>
                                  <m:brk m:alnAt="23"/>
                                </m:rPr>
                                <a:rPr lang="en-US" sz="2400" b="0" i="1" smtClean="0">
                                  <a:latin typeface="Cambria Math" panose="02040503050406030204" pitchFamily="18" charset="0"/>
                                </a:rPr>
                                <m:t>𝑛</m:t>
                              </m:r>
                            </m:sup>
                          </m:sSup>
                        </m:sub>
                        <m:sup>
                          <m:sSup>
                            <m:sSupPr>
                              <m:ctrlPr>
                                <a:rPr lang="en-US" sz="2400" b="0" i="1" smtClean="0">
                                  <a:latin typeface="Cambria Math" panose="02040503050406030204" pitchFamily="18" charset="0"/>
                                </a:rPr>
                              </m:ctrlPr>
                            </m:sSupPr>
                            <m:e>
                              <m:r>
                                <a:rPr lang="en-US" sz="2400" b="0" i="1" smtClean="0">
                                  <a:latin typeface="Cambria Math" panose="02040503050406030204" pitchFamily="18" charset="0"/>
                                </a:rPr>
                                <m:t>𝑡</m:t>
                              </m:r>
                            </m:e>
                            <m:sup>
                              <m:r>
                                <a:rPr lang="en-US" sz="2400" b="0" i="1" smtClean="0">
                                  <a:latin typeface="Cambria Math" panose="02040503050406030204" pitchFamily="18" charset="0"/>
                                </a:rPr>
                                <m:t>𝑛</m:t>
                              </m:r>
                              <m:r>
                                <a:rPr lang="en-US" sz="2400" b="0" i="1" smtClean="0">
                                  <a:latin typeface="Cambria Math" panose="02040503050406030204" pitchFamily="18" charset="0"/>
                                </a:rPr>
                                <m:t>+1</m:t>
                              </m:r>
                            </m:sup>
                          </m:sSup>
                        </m:sup>
                        <m:e>
                          <m:r>
                            <a:rPr lang="en-US" sz="2400" b="0" i="1" smtClean="0">
                              <a:latin typeface="Cambria Math" panose="02040503050406030204" pitchFamily="18" charset="0"/>
                            </a:rPr>
                            <m:t>𝑑𝑡</m:t>
                          </m:r>
                        </m:e>
                      </m:nary>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𝑢</m:t>
                          </m:r>
                        </m:e>
                        <m:sub>
                          <m:r>
                            <a:rPr lang="en-US" sz="2400" b="0" i="1" smtClean="0">
                              <a:latin typeface="Cambria Math" panose="02040503050406030204" pitchFamily="18" charset="0"/>
                            </a:rPr>
                            <m:t>𝑡</m:t>
                          </m:r>
                        </m:sub>
                      </m:sSub>
                      <m:r>
                        <a:rPr lang="en-US" sz="2400" b="0" i="1" smtClean="0">
                          <a:latin typeface="Cambria Math" panose="02040503050406030204" pitchFamily="18" charset="0"/>
                        </a:rPr>
                        <m:t>=−</m:t>
                      </m:r>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1</m:t>
                          </m:r>
                        </m:num>
                        <m:den>
                          <m:r>
                            <m:rPr>
                              <m:sty m:val="p"/>
                            </m:rPr>
                            <a:rPr lang="en-US" sz="2400" b="0" i="0" smtClean="0">
                              <a:latin typeface="Cambria Math" panose="02040503050406030204" pitchFamily="18" charset="0"/>
                            </a:rPr>
                            <m:t>Δ</m:t>
                          </m:r>
                          <m:r>
                            <a:rPr lang="en-US" sz="2400" b="0" i="1" smtClean="0">
                              <a:latin typeface="Cambria Math" panose="02040503050406030204" pitchFamily="18" charset="0"/>
                            </a:rPr>
                            <m:t>𝑥</m:t>
                          </m:r>
                        </m:den>
                      </m:f>
                      <m:nary>
                        <m:naryPr>
                          <m:ctrlPr>
                            <a:rPr lang="en-US" sz="2400" b="0" i="1" smtClean="0">
                              <a:latin typeface="Cambria Math" panose="02040503050406030204" pitchFamily="18" charset="0"/>
                            </a:rPr>
                          </m:ctrlPr>
                        </m:naryPr>
                        <m:sub>
                          <m:sSup>
                            <m:sSupPr>
                              <m:ctrlPr>
                                <a:rPr lang="en-US" sz="2400" b="0" i="1" smtClean="0">
                                  <a:latin typeface="Cambria Math" panose="02040503050406030204" pitchFamily="18" charset="0"/>
                                </a:rPr>
                              </m:ctrlPr>
                            </m:sSupPr>
                            <m:e>
                              <m:r>
                                <m:rPr>
                                  <m:brk m:alnAt="23"/>
                                </m:rPr>
                                <a:rPr lang="en-US" sz="2400" b="0" i="1" smtClean="0">
                                  <a:latin typeface="Cambria Math" panose="02040503050406030204" pitchFamily="18" charset="0"/>
                                </a:rPr>
                                <m:t>𝑡</m:t>
                              </m:r>
                            </m:e>
                            <m:sup>
                              <m:r>
                                <m:rPr>
                                  <m:brk m:alnAt="23"/>
                                </m:rPr>
                                <a:rPr lang="en-US" sz="2400" b="0" i="1" smtClean="0">
                                  <a:latin typeface="Cambria Math" panose="02040503050406030204" pitchFamily="18" charset="0"/>
                                </a:rPr>
                                <m:t>𝑛</m:t>
                              </m:r>
                            </m:sup>
                          </m:sSup>
                        </m:sub>
                        <m:sup>
                          <m:sSup>
                            <m:sSupPr>
                              <m:ctrlPr>
                                <a:rPr lang="en-US" sz="2400" b="0" i="1" smtClean="0">
                                  <a:latin typeface="Cambria Math" panose="02040503050406030204" pitchFamily="18" charset="0"/>
                                </a:rPr>
                              </m:ctrlPr>
                            </m:sSupPr>
                            <m:e>
                              <m:r>
                                <a:rPr lang="en-US" sz="2400" b="0" i="1" smtClean="0">
                                  <a:latin typeface="Cambria Math" panose="02040503050406030204" pitchFamily="18" charset="0"/>
                                </a:rPr>
                                <m:t>𝑡</m:t>
                              </m:r>
                            </m:e>
                            <m:sup>
                              <m:r>
                                <a:rPr lang="en-US" sz="2400" b="0" i="1" smtClean="0">
                                  <a:latin typeface="Cambria Math" panose="02040503050406030204" pitchFamily="18" charset="0"/>
                                </a:rPr>
                                <m:t>𝑛</m:t>
                              </m:r>
                              <m:r>
                                <a:rPr lang="en-US" sz="2400" b="0" i="1" smtClean="0">
                                  <a:latin typeface="Cambria Math" panose="02040503050406030204" pitchFamily="18" charset="0"/>
                                </a:rPr>
                                <m:t>+1</m:t>
                              </m:r>
                            </m:sup>
                          </m:sSup>
                        </m:sup>
                        <m:e>
                          <m:r>
                            <a:rPr lang="en-US" sz="2400" b="0" i="1" smtClean="0">
                              <a:latin typeface="Cambria Math" panose="02040503050406030204" pitchFamily="18" charset="0"/>
                            </a:rPr>
                            <m:t>𝑑𝑡</m:t>
                          </m:r>
                        </m:e>
                      </m:nary>
                      <m:nary>
                        <m:naryPr>
                          <m:ctrlPr>
                            <a:rPr lang="en-US" sz="2400" b="0" i="1" smtClean="0">
                              <a:latin typeface="Cambria Math" panose="02040503050406030204" pitchFamily="18" charset="0"/>
                            </a:rPr>
                          </m:ctrlPr>
                        </m:naryPr>
                        <m:sub>
                          <m:sSub>
                            <m:sSubPr>
                              <m:ctrlPr>
                                <a:rPr lang="en-US" sz="2400" b="0" i="1" smtClean="0">
                                  <a:latin typeface="Cambria Math" panose="02040503050406030204" pitchFamily="18" charset="0"/>
                                </a:rPr>
                              </m:ctrlPr>
                            </m:sSubPr>
                            <m:e>
                              <m:r>
                                <m:rPr>
                                  <m:brk m:alnAt="23"/>
                                </m:rPr>
                                <a:rPr lang="en-US" sz="2400" b="0" i="1" smtClean="0">
                                  <a:latin typeface="Cambria Math" panose="02040503050406030204" pitchFamily="18" charset="0"/>
                                </a:rPr>
                                <m:t>𝑥</m:t>
                              </m:r>
                            </m:e>
                            <m:sub>
                              <m:r>
                                <m:rPr>
                                  <m:brk m:alnAt="23"/>
                                </m:rPr>
                                <a:rPr lang="en-US" sz="2400" b="0" i="1" smtClean="0">
                                  <a:latin typeface="Cambria Math" panose="02040503050406030204" pitchFamily="18" charset="0"/>
                                </a:rPr>
                                <m:t>𝑙</m:t>
                              </m:r>
                            </m:sub>
                          </m:sSub>
                        </m:sub>
                        <m:sup>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𝑥</m:t>
                              </m:r>
                            </m:e>
                            <m:sub>
                              <m:r>
                                <a:rPr lang="en-US" sz="2400" b="0" i="1" smtClean="0">
                                  <a:latin typeface="Cambria Math" panose="02040503050406030204" pitchFamily="18" charset="0"/>
                                </a:rPr>
                                <m:t>𝑟</m:t>
                              </m:r>
                            </m:sub>
                          </m:sSub>
                        </m:sup>
                        <m:e>
                          <m:r>
                            <a:rPr lang="en-US" sz="2400" b="0" i="1" smtClean="0">
                              <a:latin typeface="Cambria Math" panose="02040503050406030204" pitchFamily="18" charset="0"/>
                            </a:rPr>
                            <m:t>𝑑𝑥</m:t>
                          </m:r>
                        </m:e>
                      </m:nary>
                      <m:sSub>
                        <m:sSubPr>
                          <m:ctrlPr>
                            <a:rPr lang="en-US" sz="2400" b="0" i="1" smtClean="0">
                              <a:latin typeface="Cambria Math" panose="02040503050406030204" pitchFamily="18" charset="0"/>
                            </a:rPr>
                          </m:ctrlPr>
                        </m:sSubPr>
                        <m:e>
                          <m:d>
                            <m:dPr>
                              <m:begChr m:val="["/>
                              <m:endChr m:val="]"/>
                              <m:ctrlPr>
                                <a:rPr lang="en-US" sz="2400" b="0" i="1" smtClean="0">
                                  <a:latin typeface="Cambria Math" panose="02040503050406030204" pitchFamily="18" charset="0"/>
                                </a:rPr>
                              </m:ctrlPr>
                            </m:dPr>
                            <m:e>
                              <m:r>
                                <a:rPr lang="en-US" sz="2400" b="0" i="1" smtClean="0">
                                  <a:latin typeface="Cambria Math" panose="02040503050406030204" pitchFamily="18" charset="0"/>
                                </a:rPr>
                                <m:t>𝐹</m:t>
                              </m:r>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𝑢</m:t>
                                  </m:r>
                                </m:e>
                              </m:d>
                            </m:e>
                          </m:d>
                        </m:e>
                        <m:sub>
                          <m:r>
                            <a:rPr lang="en-US" sz="2400" b="0" i="1" smtClean="0">
                              <a:latin typeface="Cambria Math" panose="02040503050406030204" pitchFamily="18" charset="0"/>
                            </a:rPr>
                            <m:t>𝑥</m:t>
                          </m:r>
                        </m:sub>
                      </m:sSub>
                    </m:oMath>
                  </m:oMathPara>
                </a14:m>
                <a:endParaRPr lang="en-US" sz="2400" dirty="0"/>
              </a:p>
              <a:p>
                <a:pPr>
                  <a:spcAft>
                    <a:spcPts val="600"/>
                  </a:spcAft>
                </a:pPr>
                <a:r>
                  <a:rPr lang="en-US" dirty="0"/>
                  <a:t>LHS: We recognize that at </a:t>
                </a: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𝑡</m:t>
                        </m:r>
                      </m:e>
                      <m:sup>
                        <m:r>
                          <a:rPr lang="en-US" b="0" i="1" smtClean="0">
                            <a:latin typeface="Cambria Math" panose="02040503050406030204" pitchFamily="18" charset="0"/>
                          </a:rPr>
                          <m:t>𝑛</m:t>
                        </m:r>
                      </m:sup>
                    </m:sSup>
                  </m:oMath>
                </a14:m>
                <a:r>
                  <a:rPr lang="en-US" dirty="0"/>
                  <a:t>, </a:t>
                </a:r>
                <a14:m>
                  <m:oMath xmlns:m="http://schemas.openxmlformats.org/officeDocument/2006/math">
                    <m:r>
                      <a:rPr lang="en-US" b="0" i="1" smtClean="0">
                        <a:latin typeface="Cambria Math" panose="02040503050406030204" pitchFamily="18" charset="0"/>
                      </a:rPr>
                      <m:t>𝑢</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𝑢</m:t>
                        </m:r>
                      </m:e>
                      <m:sub>
                        <m:r>
                          <a:rPr lang="en-US" b="0" i="1" smtClean="0">
                            <a:latin typeface="Cambria Math" panose="02040503050406030204" pitchFamily="18" charset="0"/>
                          </a:rPr>
                          <m:t>𝑟</m:t>
                        </m:r>
                      </m:sub>
                    </m:sSub>
                  </m:oMath>
                </a14:m>
                <a:r>
                  <a:rPr lang="en-US" dirty="0"/>
                  <a:t> and at </a:t>
                </a: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𝑡</m:t>
                        </m:r>
                      </m:e>
                      <m:sup>
                        <m:r>
                          <a:rPr lang="en-US" b="0" i="1" smtClean="0">
                            <a:latin typeface="Cambria Math" panose="02040503050406030204" pitchFamily="18" charset="0"/>
                          </a:rPr>
                          <m:t>𝑛</m:t>
                        </m:r>
                        <m:r>
                          <a:rPr lang="en-US" b="0" i="1" smtClean="0">
                            <a:latin typeface="Cambria Math" panose="02040503050406030204" pitchFamily="18" charset="0"/>
                          </a:rPr>
                          <m:t>+1</m:t>
                        </m:r>
                      </m:sup>
                    </m:sSup>
                  </m:oMath>
                </a14:m>
                <a:r>
                  <a:rPr lang="en-US" dirty="0"/>
                  <a:t>, </a:t>
                </a:r>
                <a14:m>
                  <m:oMath xmlns:m="http://schemas.openxmlformats.org/officeDocument/2006/math">
                    <m:r>
                      <a:rPr lang="en-US" b="0" i="1" smtClean="0">
                        <a:latin typeface="Cambria Math" panose="02040503050406030204" pitchFamily="18" charset="0"/>
                      </a:rPr>
                      <m:t>𝑢</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𝑢</m:t>
                        </m:r>
                      </m:e>
                      <m:sub>
                        <m:r>
                          <a:rPr lang="en-US" b="0" i="1" smtClean="0">
                            <a:latin typeface="Cambria Math" panose="02040503050406030204" pitchFamily="18" charset="0"/>
                          </a:rPr>
                          <m:t>𝑙</m:t>
                        </m:r>
                      </m:sub>
                    </m:sSub>
                  </m:oMath>
                </a14:m>
                <a:r>
                  <a:rPr lang="en-US" dirty="0"/>
                  <a:t> thus the left side becomes</a:t>
                </a:r>
              </a:p>
              <a:p>
                <a:pPr marL="0" indent="0">
                  <a:spcAft>
                    <a:spcPts val="600"/>
                  </a:spcAft>
                  <a:buNone/>
                </a:pPr>
                <a14:m>
                  <m:oMathPara xmlns:m="http://schemas.openxmlformats.org/officeDocument/2006/math">
                    <m:oMathParaPr>
                      <m:jc m:val="centerGroup"/>
                    </m:oMathParaPr>
                    <m:oMath xmlns:m="http://schemas.openxmlformats.org/officeDocument/2006/math">
                      <m:f>
                        <m:fPr>
                          <m:ctrlPr>
                            <a:rPr lang="en-US" i="1">
                              <a:latin typeface="Cambria Math" panose="02040503050406030204" pitchFamily="18" charset="0"/>
                            </a:rPr>
                          </m:ctrlPr>
                        </m:fPr>
                        <m:num>
                          <m:r>
                            <a:rPr lang="en-US" i="1">
                              <a:latin typeface="Cambria Math" panose="02040503050406030204" pitchFamily="18" charset="0"/>
                            </a:rPr>
                            <m:t>1</m:t>
                          </m:r>
                        </m:num>
                        <m:den>
                          <m:r>
                            <m:rPr>
                              <m:sty m:val="p"/>
                            </m:rPr>
                            <a:rPr lang="en-US">
                              <a:latin typeface="Cambria Math" panose="02040503050406030204" pitchFamily="18" charset="0"/>
                            </a:rPr>
                            <m:t>Δ</m:t>
                          </m:r>
                          <m:r>
                            <a:rPr lang="en-US" i="1">
                              <a:latin typeface="Cambria Math" panose="02040503050406030204" pitchFamily="18" charset="0"/>
                            </a:rPr>
                            <m:t>𝑥</m:t>
                          </m:r>
                        </m:den>
                      </m:f>
                      <m:nary>
                        <m:naryPr>
                          <m:ctrlPr>
                            <a:rPr lang="en-US" i="1">
                              <a:latin typeface="Cambria Math" panose="02040503050406030204" pitchFamily="18" charset="0"/>
                            </a:rPr>
                          </m:ctrlPr>
                        </m:naryPr>
                        <m:sub>
                          <m:sSub>
                            <m:sSubPr>
                              <m:ctrlPr>
                                <a:rPr lang="en-US" i="1">
                                  <a:latin typeface="Cambria Math" panose="02040503050406030204" pitchFamily="18" charset="0"/>
                                </a:rPr>
                              </m:ctrlPr>
                            </m:sSubPr>
                            <m:e>
                              <m:r>
                                <m:rPr>
                                  <m:brk m:alnAt="23"/>
                                </m:rPr>
                                <a:rPr lang="en-US" i="1">
                                  <a:latin typeface="Cambria Math" panose="02040503050406030204" pitchFamily="18" charset="0"/>
                                </a:rPr>
                                <m:t>𝑥</m:t>
                              </m:r>
                            </m:e>
                            <m:sub>
                              <m:r>
                                <m:rPr>
                                  <m:brk m:alnAt="23"/>
                                </m:rPr>
                                <a:rPr lang="en-US" i="1">
                                  <a:latin typeface="Cambria Math" panose="02040503050406030204" pitchFamily="18" charset="0"/>
                                </a:rPr>
                                <m:t>𝑙</m:t>
                              </m:r>
                            </m:sub>
                          </m:sSub>
                        </m:sub>
                        <m:sup>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𝑟</m:t>
                              </m:r>
                            </m:sub>
                          </m:sSub>
                        </m:sup>
                        <m:e>
                          <m:d>
                            <m:dPr>
                              <m:begChr m:val="["/>
                              <m:endChr m:val="]"/>
                              <m:ctrlPr>
                                <a:rPr lang="en-US" i="1" smtClean="0">
                                  <a:latin typeface="Cambria Math" panose="02040503050406030204" pitchFamily="18" charset="0"/>
                                </a:rPr>
                              </m:ctrlPr>
                            </m:dPr>
                            <m:e>
                              <m:r>
                                <a:rPr lang="en-US" i="1">
                                  <a:latin typeface="Cambria Math" panose="02040503050406030204" pitchFamily="18" charset="0"/>
                                </a:rPr>
                                <m:t>𝑢</m:t>
                              </m:r>
                              <m:d>
                                <m:dPr>
                                  <m:ctrlPr>
                                    <a:rPr lang="en-US" i="1">
                                      <a:latin typeface="Cambria Math" panose="02040503050406030204" pitchFamily="18" charset="0"/>
                                    </a:rPr>
                                  </m:ctrlPr>
                                </m:dPr>
                                <m:e>
                                  <m:sSup>
                                    <m:sSupPr>
                                      <m:ctrlPr>
                                        <a:rPr lang="en-US" i="1">
                                          <a:latin typeface="Cambria Math" panose="02040503050406030204" pitchFamily="18" charset="0"/>
                                        </a:rPr>
                                      </m:ctrlPr>
                                    </m:sSupPr>
                                    <m:e>
                                      <m:r>
                                        <a:rPr lang="en-US" i="1">
                                          <a:latin typeface="Cambria Math" panose="02040503050406030204" pitchFamily="18" charset="0"/>
                                        </a:rPr>
                                        <m:t>𝑡</m:t>
                                      </m:r>
                                    </m:e>
                                    <m:sup>
                                      <m:r>
                                        <a:rPr lang="en-US" i="1">
                                          <a:latin typeface="Cambria Math" panose="02040503050406030204" pitchFamily="18" charset="0"/>
                                        </a:rPr>
                                        <m:t>𝑛</m:t>
                                      </m:r>
                                      <m:r>
                                        <a:rPr lang="en-US" i="1">
                                          <a:latin typeface="Cambria Math" panose="02040503050406030204" pitchFamily="18" charset="0"/>
                                        </a:rPr>
                                        <m:t>+1</m:t>
                                      </m:r>
                                    </m:sup>
                                  </m:sSup>
                                </m:e>
                              </m:d>
                              <m:r>
                                <a:rPr lang="en-US" i="1">
                                  <a:latin typeface="Cambria Math" panose="02040503050406030204" pitchFamily="18" charset="0"/>
                                </a:rPr>
                                <m:t>−</m:t>
                              </m:r>
                              <m:r>
                                <a:rPr lang="en-US" i="1">
                                  <a:latin typeface="Cambria Math" panose="02040503050406030204" pitchFamily="18" charset="0"/>
                                </a:rPr>
                                <m:t>𝑢</m:t>
                              </m:r>
                              <m:r>
                                <a:rPr lang="en-US" b="0" i="1" smtClean="0">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𝑡</m:t>
                                  </m:r>
                                </m:e>
                                <m:sup>
                                  <m:r>
                                    <a:rPr lang="en-US" i="1">
                                      <a:latin typeface="Cambria Math" panose="02040503050406030204" pitchFamily="18" charset="0"/>
                                    </a:rPr>
                                    <m:t>𝑛</m:t>
                                  </m:r>
                                </m:sup>
                              </m:sSup>
                              <m:r>
                                <a:rPr lang="en-US" b="0" i="1" smtClean="0">
                                  <a:latin typeface="Cambria Math" panose="02040503050406030204" pitchFamily="18" charset="0"/>
                                </a:rPr>
                                <m:t>)</m:t>
                              </m:r>
                            </m:e>
                          </m:d>
                        </m:e>
                      </m:nary>
                      <m:r>
                        <a:rPr lang="en-US" b="0" i="1" smtClean="0">
                          <a:latin typeface="Cambria Math" panose="02040503050406030204" pitchFamily="18" charset="0"/>
                        </a:rPr>
                        <m:t>𝑑𝑥</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𝑢</m:t>
                          </m:r>
                        </m:e>
                        <m:sub>
                          <m:r>
                            <a:rPr lang="en-US" b="0" i="1" smtClean="0">
                              <a:latin typeface="Cambria Math" panose="02040503050406030204" pitchFamily="18" charset="0"/>
                            </a:rPr>
                            <m:t>𝑙</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𝑢</m:t>
                          </m:r>
                        </m:e>
                        <m:sub>
                          <m:r>
                            <a:rPr lang="en-US" b="0" i="1" smtClean="0">
                              <a:latin typeface="Cambria Math" panose="02040503050406030204" pitchFamily="18" charset="0"/>
                            </a:rPr>
                            <m:t>𝑟</m:t>
                          </m:r>
                        </m:sub>
                      </m:sSub>
                    </m:oMath>
                  </m:oMathPara>
                </a14:m>
                <a:endParaRPr lang="en-US" dirty="0"/>
              </a:p>
              <a:p>
                <a:pPr>
                  <a:spcAft>
                    <a:spcPts val="600"/>
                  </a:spcAft>
                </a:pPr>
                <a:r>
                  <a:rPr lang="en-US" dirty="0"/>
                  <a:t>RHS: At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𝑙</m:t>
                        </m:r>
                      </m:sub>
                    </m:sSub>
                  </m:oMath>
                </a14:m>
                <a:r>
                  <a:rPr lang="en-US" dirty="0"/>
                  <a:t> the flux is </a:t>
                </a:r>
                <a14:m>
                  <m:oMath xmlns:m="http://schemas.openxmlformats.org/officeDocument/2006/math">
                    <m:r>
                      <a:rPr lang="en-US" b="0" i="1" smtClean="0">
                        <a:latin typeface="Cambria Math" panose="02040503050406030204" pitchFamily="18" charset="0"/>
                      </a:rPr>
                      <m:t>𝐹</m:t>
                    </m:r>
                    <m:r>
                      <a:rPr lang="en-US" b="0" i="1" smtClean="0">
                        <a:latin typeface="Cambria Math" panose="02040503050406030204" pitchFamily="18" charset="0"/>
                      </a:rPr>
                      <m:t>=</m:t>
                    </m:r>
                    <m:r>
                      <a:rPr lang="en-US" b="0" i="1" smtClean="0">
                        <a:latin typeface="Cambria Math" panose="02040503050406030204" pitchFamily="18" charset="0"/>
                      </a:rPr>
                      <m:t>𝐹</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𝑢</m:t>
                        </m:r>
                      </m:e>
                      <m:sub>
                        <m:r>
                          <a:rPr lang="en-US" b="0" i="1" smtClean="0">
                            <a:latin typeface="Cambria Math" panose="02040503050406030204" pitchFamily="18" charset="0"/>
                          </a:rPr>
                          <m:t>𝑙</m:t>
                        </m:r>
                      </m:sub>
                    </m:sSub>
                    <m:r>
                      <a:rPr lang="en-US" b="0" i="1" smtClean="0">
                        <a:latin typeface="Cambria Math" panose="02040503050406030204" pitchFamily="18" charset="0"/>
                      </a:rPr>
                      <m:t>)</m:t>
                    </m:r>
                  </m:oMath>
                </a14:m>
                <a:r>
                  <a:rPr lang="en-US" dirty="0"/>
                  <a:t> and at </a:t>
                </a:r>
                <a14:m>
                  <m:oMath xmlns:m="http://schemas.openxmlformats.org/officeDocument/2006/math">
                    <m:r>
                      <a:rPr lang="en-US" b="0" i="1" smtClean="0">
                        <a:latin typeface="Cambria Math" panose="02040503050406030204" pitchFamily="18" charset="0"/>
                      </a:rPr>
                      <m:t>𝑥</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𝑟</m:t>
                        </m:r>
                      </m:sub>
                    </m:sSub>
                  </m:oMath>
                </a14:m>
                <a:r>
                  <a:rPr lang="en-US" dirty="0"/>
                  <a:t> </a:t>
                </a:r>
                <a14:m>
                  <m:oMath xmlns:m="http://schemas.openxmlformats.org/officeDocument/2006/math">
                    <m:r>
                      <a:rPr lang="en-US" b="0" i="0" smtClean="0">
                        <a:latin typeface="Cambria Math" panose="02040503050406030204" pitchFamily="18" charset="0"/>
                      </a:rPr>
                      <m:t> </m:t>
                    </m:r>
                    <m:r>
                      <a:rPr lang="en-US" b="0" i="1" smtClean="0">
                        <a:latin typeface="Cambria Math" panose="02040503050406030204" pitchFamily="18" charset="0"/>
                      </a:rPr>
                      <m:t>𝐹</m:t>
                    </m:r>
                    <m:r>
                      <a:rPr lang="en-US" b="0" i="1" smtClean="0">
                        <a:latin typeface="Cambria Math" panose="02040503050406030204" pitchFamily="18" charset="0"/>
                      </a:rPr>
                      <m:t>=</m:t>
                    </m:r>
                    <m:r>
                      <a:rPr lang="en-US" b="0" i="1" smtClean="0">
                        <a:latin typeface="Cambria Math" panose="02040503050406030204" pitchFamily="18" charset="0"/>
                      </a:rPr>
                      <m:t>𝐹</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𝑢</m:t>
                        </m:r>
                      </m:e>
                      <m:sub>
                        <m:r>
                          <a:rPr lang="en-US" b="0" i="1" smtClean="0">
                            <a:latin typeface="Cambria Math" panose="02040503050406030204" pitchFamily="18" charset="0"/>
                          </a:rPr>
                          <m:t>𝑟</m:t>
                        </m:r>
                      </m:sub>
                    </m:sSub>
                    <m:r>
                      <a:rPr lang="en-US" b="0" i="1" smtClean="0">
                        <a:latin typeface="Cambria Math" panose="02040503050406030204" pitchFamily="18" charset="0"/>
                      </a:rPr>
                      <m:t>)</m:t>
                    </m:r>
                  </m:oMath>
                </a14:m>
                <a:r>
                  <a:rPr lang="en-US" dirty="0"/>
                  <a:t> , thus the expression becomes</a:t>
                </a:r>
              </a:p>
              <a:p>
                <a:pPr marL="0" indent="0">
                  <a:spcAft>
                    <a:spcPts val="600"/>
                  </a:spcAft>
                  <a:buNone/>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𝑢</m:t>
                          </m:r>
                        </m:e>
                        <m:sub>
                          <m:r>
                            <a:rPr lang="en-US" b="0" i="1" smtClean="0">
                              <a:latin typeface="Cambria Math" panose="02040503050406030204" pitchFamily="18" charset="0"/>
                            </a:rPr>
                            <m:t>𝑙</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𝑢</m:t>
                          </m:r>
                        </m:e>
                        <m:sub>
                          <m:r>
                            <a:rPr lang="en-US" b="0" i="1" smtClean="0">
                              <a:latin typeface="Cambria Math" panose="02040503050406030204" pitchFamily="18" charset="0"/>
                            </a:rPr>
                            <m:t>𝑟</m:t>
                          </m:r>
                        </m:sub>
                      </m:sSub>
                      <m:r>
                        <a:rPr lang="en-US" b="0" i="1" smtClean="0">
                          <a:latin typeface="Cambria Math" panose="02040503050406030204" pitchFamily="18" charset="0"/>
                        </a:rPr>
                        <m:t>=−</m:t>
                      </m:r>
                      <m:f>
                        <m:fPr>
                          <m:ctrlPr>
                            <a:rPr lang="en-US" b="0" i="1" smtClean="0">
                              <a:latin typeface="Cambria Math" panose="02040503050406030204" pitchFamily="18" charset="0"/>
                            </a:rPr>
                          </m:ctrlPr>
                        </m:fPr>
                        <m:num>
                          <m:r>
                            <m:rPr>
                              <m:sty m:val="p"/>
                            </m:rPr>
                            <a:rPr lang="en-US" b="0" i="0" smtClean="0">
                              <a:latin typeface="Cambria Math" panose="02040503050406030204" pitchFamily="18" charset="0"/>
                            </a:rPr>
                            <m:t>Δ</m:t>
                          </m:r>
                          <m:r>
                            <a:rPr lang="en-US" b="0" i="1" smtClean="0">
                              <a:latin typeface="Cambria Math" panose="02040503050406030204" pitchFamily="18" charset="0"/>
                            </a:rPr>
                            <m:t>𝑡</m:t>
                          </m:r>
                        </m:num>
                        <m:den>
                          <m:r>
                            <m:rPr>
                              <m:sty m:val="p"/>
                            </m:rPr>
                            <a:rPr lang="en-US" b="0" i="0" smtClean="0">
                              <a:latin typeface="Cambria Math" panose="02040503050406030204" pitchFamily="18" charset="0"/>
                            </a:rPr>
                            <m:t>Δ</m:t>
                          </m:r>
                          <m:r>
                            <a:rPr lang="en-US" b="0" i="1" smtClean="0">
                              <a:latin typeface="Cambria Math" panose="02040503050406030204" pitchFamily="18" charset="0"/>
                            </a:rPr>
                            <m:t>𝑥</m:t>
                          </m:r>
                        </m:den>
                      </m:f>
                      <m:r>
                        <a:rPr lang="en-US" b="0" i="1" smtClean="0">
                          <a:latin typeface="Cambria Math" panose="02040503050406030204" pitchFamily="18" charset="0"/>
                        </a:rPr>
                        <m:t>[</m:t>
                      </m:r>
                      <m:r>
                        <a:rPr lang="en-US" b="0" i="1" smtClean="0">
                          <a:latin typeface="Cambria Math" panose="02040503050406030204" pitchFamily="18" charset="0"/>
                        </a:rPr>
                        <m:t>𝐹</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𝑢</m:t>
                              </m:r>
                            </m:e>
                            <m:sub>
                              <m:r>
                                <a:rPr lang="en-US" b="0" i="1" smtClean="0">
                                  <a:latin typeface="Cambria Math" panose="02040503050406030204" pitchFamily="18" charset="0"/>
                                </a:rPr>
                                <m:t>𝑟</m:t>
                              </m:r>
                            </m:sub>
                          </m:sSub>
                        </m:e>
                      </m:d>
                      <m:r>
                        <a:rPr lang="en-US" b="0" i="1" smtClean="0">
                          <a:latin typeface="Cambria Math" panose="02040503050406030204" pitchFamily="18" charset="0"/>
                        </a:rPr>
                        <m:t>−</m:t>
                      </m:r>
                      <m:r>
                        <a:rPr lang="en-US" b="0" i="1" smtClean="0">
                          <a:latin typeface="Cambria Math" panose="02040503050406030204" pitchFamily="18" charset="0"/>
                        </a:rPr>
                        <m:t>𝐹</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𝑢</m:t>
                              </m:r>
                            </m:e>
                            <m:sub>
                              <m:r>
                                <a:rPr lang="en-US" b="0" i="1" smtClean="0">
                                  <a:latin typeface="Cambria Math" panose="02040503050406030204" pitchFamily="18" charset="0"/>
                                </a:rPr>
                                <m:t>𝑙</m:t>
                              </m:r>
                            </m:sub>
                          </m:sSub>
                        </m:e>
                      </m:d>
                      <m:r>
                        <a:rPr lang="en-US" b="0" i="1" smtClean="0">
                          <a:latin typeface="Cambria Math" panose="02040503050406030204" pitchFamily="18" charset="0"/>
                        </a:rPr>
                        <m:t>]</m:t>
                      </m:r>
                    </m:oMath>
                  </m:oMathPara>
                </a14:m>
                <a:endParaRPr lang="en-US" dirty="0"/>
              </a:p>
            </p:txBody>
          </p:sp>
        </mc:Choice>
        <mc:Fallback xmlns="">
          <p:sp>
            <p:nvSpPr>
              <p:cNvPr id="3" name="Content Placeholder 2">
                <a:extLst>
                  <a:ext uri="{FF2B5EF4-FFF2-40B4-BE49-F238E27FC236}">
                    <a16:creationId xmlns:a16="http://schemas.microsoft.com/office/drawing/2014/main" id="{15C4FD65-F675-944D-A379-3A5FFFAEB784}"/>
                  </a:ext>
                </a:extLst>
              </p:cNvPr>
              <p:cNvSpPr>
                <a:spLocks noGrp="1" noRot="1" noChangeAspect="1" noMove="1" noResize="1" noEditPoints="1" noAdjustHandles="1" noChangeArrowheads="1" noChangeShapeType="1" noTextEdit="1"/>
              </p:cNvSpPr>
              <p:nvPr>
                <p:ph idx="1"/>
              </p:nvPr>
            </p:nvSpPr>
            <p:spPr>
              <a:xfrm>
                <a:off x="0" y="977153"/>
                <a:ext cx="7368988" cy="5880847"/>
              </a:xfrm>
              <a:blipFill>
                <a:blip r:embed="rId4"/>
                <a:stretch>
                  <a:fillRect l="-8103" t="-10560" b="-625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5E2EA111-067E-C145-A4D5-7DA100972F8E}"/>
                  </a:ext>
                </a:extLst>
              </p:cNvPr>
              <p:cNvSpPr txBox="1"/>
              <p:nvPr/>
            </p:nvSpPr>
            <p:spPr>
              <a:xfrm>
                <a:off x="7368988" y="3681066"/>
                <a:ext cx="120513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FF0000"/>
                          </a:solidFill>
                          <a:latin typeface="Cambria Math" panose="02040503050406030204" pitchFamily="18" charset="0"/>
                        </a:rPr>
                        <m:t>𝑓</m:t>
                      </m:r>
                      <m:r>
                        <a:rPr lang="en-US" b="0" i="1" smtClean="0">
                          <a:solidFill>
                            <a:srgbClr val="FF0000"/>
                          </a:solidFill>
                          <a:latin typeface="Cambria Math" panose="02040503050406030204" pitchFamily="18" charset="0"/>
                        </a:rPr>
                        <m:t>=</m:t>
                      </m:r>
                      <m:r>
                        <a:rPr lang="en-US" b="0" i="1" smtClean="0">
                          <a:solidFill>
                            <a:srgbClr val="FF0000"/>
                          </a:solidFill>
                          <a:latin typeface="Cambria Math" panose="02040503050406030204" pitchFamily="18" charset="0"/>
                        </a:rPr>
                        <m:t>𝑓</m:t>
                      </m:r>
                      <m:r>
                        <a:rPr lang="en-US" b="0" i="1" smtClean="0">
                          <a:solidFill>
                            <a:srgbClr val="FF0000"/>
                          </a:solidFill>
                          <a:latin typeface="Cambria Math" panose="02040503050406030204" pitchFamily="18" charset="0"/>
                        </a:rPr>
                        <m:t>(</m:t>
                      </m:r>
                      <m:sSub>
                        <m:sSubPr>
                          <m:ctrlPr>
                            <a:rPr lang="en-US" b="0" i="1" smtClean="0">
                              <a:solidFill>
                                <a:srgbClr val="FF0000"/>
                              </a:solidFill>
                              <a:latin typeface="Cambria Math" panose="02040503050406030204" pitchFamily="18" charset="0"/>
                            </a:rPr>
                          </m:ctrlPr>
                        </m:sSubPr>
                        <m:e>
                          <m:r>
                            <a:rPr lang="en-US" b="0" i="1" smtClean="0">
                              <a:solidFill>
                                <a:srgbClr val="FF0000"/>
                              </a:solidFill>
                              <a:latin typeface="Cambria Math" panose="02040503050406030204" pitchFamily="18" charset="0"/>
                            </a:rPr>
                            <m:t>𝑢</m:t>
                          </m:r>
                        </m:e>
                        <m:sub>
                          <m:r>
                            <a:rPr lang="en-US" b="0" i="1" smtClean="0">
                              <a:solidFill>
                                <a:srgbClr val="FF0000"/>
                              </a:solidFill>
                              <a:latin typeface="Cambria Math" panose="02040503050406030204" pitchFamily="18" charset="0"/>
                            </a:rPr>
                            <m:t>𝑙</m:t>
                          </m:r>
                        </m:sub>
                      </m:sSub>
                      <m:r>
                        <a:rPr lang="en-US" b="0" i="1" smtClean="0">
                          <a:solidFill>
                            <a:srgbClr val="FF0000"/>
                          </a:solidFill>
                          <a:latin typeface="Cambria Math" panose="02040503050406030204" pitchFamily="18" charset="0"/>
                        </a:rPr>
                        <m:t>)</m:t>
                      </m:r>
                    </m:oMath>
                  </m:oMathPara>
                </a14:m>
                <a:endParaRPr lang="en-US" dirty="0">
                  <a:solidFill>
                    <a:srgbClr val="FF0000"/>
                  </a:solidFill>
                </a:endParaRPr>
              </a:p>
            </p:txBody>
          </p:sp>
        </mc:Choice>
        <mc:Fallback xmlns="">
          <p:sp>
            <p:nvSpPr>
              <p:cNvPr id="5" name="TextBox 4">
                <a:extLst>
                  <a:ext uri="{FF2B5EF4-FFF2-40B4-BE49-F238E27FC236}">
                    <a16:creationId xmlns:a16="http://schemas.microsoft.com/office/drawing/2014/main" id="{5E2EA111-067E-C145-A4D5-7DA100972F8E}"/>
                  </a:ext>
                </a:extLst>
              </p:cNvPr>
              <p:cNvSpPr txBox="1">
                <a:spLocks noRot="1" noChangeAspect="1" noMove="1" noResize="1" noEditPoints="1" noAdjustHandles="1" noChangeArrowheads="1" noChangeShapeType="1" noTextEdit="1"/>
              </p:cNvSpPr>
              <p:nvPr/>
            </p:nvSpPr>
            <p:spPr>
              <a:xfrm>
                <a:off x="7368988" y="3681066"/>
                <a:ext cx="1205138" cy="369332"/>
              </a:xfrm>
              <a:prstGeom prst="rect">
                <a:avLst/>
              </a:prstGeom>
              <a:blipFill>
                <a:blip r:embed="rId5"/>
                <a:stretch>
                  <a:fillRect b="-13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9C29D10D-C5ED-3B43-A6F1-26C31DEC84E9}"/>
                  </a:ext>
                </a:extLst>
              </p:cNvPr>
              <p:cNvSpPr txBox="1"/>
              <p:nvPr/>
            </p:nvSpPr>
            <p:spPr>
              <a:xfrm>
                <a:off x="10452847" y="3681066"/>
                <a:ext cx="1235723"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FF0000"/>
                          </a:solidFill>
                          <a:latin typeface="Cambria Math" panose="02040503050406030204" pitchFamily="18" charset="0"/>
                        </a:rPr>
                        <m:t>𝑓</m:t>
                      </m:r>
                      <m:r>
                        <a:rPr lang="en-US" b="0" i="1" smtClean="0">
                          <a:solidFill>
                            <a:srgbClr val="FF0000"/>
                          </a:solidFill>
                          <a:latin typeface="Cambria Math" panose="02040503050406030204" pitchFamily="18" charset="0"/>
                        </a:rPr>
                        <m:t>=</m:t>
                      </m:r>
                      <m:r>
                        <a:rPr lang="en-US" b="0" i="1" smtClean="0">
                          <a:solidFill>
                            <a:srgbClr val="FF0000"/>
                          </a:solidFill>
                          <a:latin typeface="Cambria Math" panose="02040503050406030204" pitchFamily="18" charset="0"/>
                        </a:rPr>
                        <m:t>𝑓</m:t>
                      </m:r>
                      <m:r>
                        <a:rPr lang="en-US" b="0" i="1" smtClean="0">
                          <a:solidFill>
                            <a:srgbClr val="FF0000"/>
                          </a:solidFill>
                          <a:latin typeface="Cambria Math" panose="02040503050406030204" pitchFamily="18" charset="0"/>
                        </a:rPr>
                        <m:t>(</m:t>
                      </m:r>
                      <m:sSub>
                        <m:sSubPr>
                          <m:ctrlPr>
                            <a:rPr lang="en-US" b="0" i="1" smtClean="0">
                              <a:solidFill>
                                <a:srgbClr val="FF0000"/>
                              </a:solidFill>
                              <a:latin typeface="Cambria Math" panose="02040503050406030204" pitchFamily="18" charset="0"/>
                            </a:rPr>
                          </m:ctrlPr>
                        </m:sSubPr>
                        <m:e>
                          <m:r>
                            <a:rPr lang="en-US" b="0" i="1" smtClean="0">
                              <a:solidFill>
                                <a:srgbClr val="FF0000"/>
                              </a:solidFill>
                              <a:latin typeface="Cambria Math" panose="02040503050406030204" pitchFamily="18" charset="0"/>
                            </a:rPr>
                            <m:t>𝑢</m:t>
                          </m:r>
                        </m:e>
                        <m:sub>
                          <m:r>
                            <a:rPr lang="en-US" b="0" i="1" smtClean="0">
                              <a:solidFill>
                                <a:srgbClr val="FF0000"/>
                              </a:solidFill>
                              <a:latin typeface="Cambria Math" panose="02040503050406030204" pitchFamily="18" charset="0"/>
                            </a:rPr>
                            <m:t>𝑟</m:t>
                          </m:r>
                        </m:sub>
                      </m:sSub>
                      <m:r>
                        <a:rPr lang="en-US" b="0" i="1" smtClean="0">
                          <a:solidFill>
                            <a:srgbClr val="FF0000"/>
                          </a:solidFill>
                          <a:latin typeface="Cambria Math" panose="02040503050406030204" pitchFamily="18" charset="0"/>
                        </a:rPr>
                        <m:t>)</m:t>
                      </m:r>
                    </m:oMath>
                  </m:oMathPara>
                </a14:m>
                <a:endParaRPr lang="en-US" dirty="0">
                  <a:solidFill>
                    <a:srgbClr val="FF0000"/>
                  </a:solidFill>
                </a:endParaRPr>
              </a:p>
            </p:txBody>
          </p:sp>
        </mc:Choice>
        <mc:Fallback xmlns="">
          <p:sp>
            <p:nvSpPr>
              <p:cNvPr id="6" name="TextBox 5">
                <a:extLst>
                  <a:ext uri="{FF2B5EF4-FFF2-40B4-BE49-F238E27FC236}">
                    <a16:creationId xmlns:a16="http://schemas.microsoft.com/office/drawing/2014/main" id="{9C29D10D-C5ED-3B43-A6F1-26C31DEC84E9}"/>
                  </a:ext>
                </a:extLst>
              </p:cNvPr>
              <p:cNvSpPr txBox="1">
                <a:spLocks noRot="1" noChangeAspect="1" noMove="1" noResize="1" noEditPoints="1" noAdjustHandles="1" noChangeArrowheads="1" noChangeShapeType="1" noTextEdit="1"/>
              </p:cNvSpPr>
              <p:nvPr/>
            </p:nvSpPr>
            <p:spPr>
              <a:xfrm>
                <a:off x="10452847" y="3681066"/>
                <a:ext cx="1235723" cy="369332"/>
              </a:xfrm>
              <a:prstGeom prst="rect">
                <a:avLst/>
              </a:prstGeom>
              <a:blipFill>
                <a:blip r:embed="rId6"/>
                <a:stretch>
                  <a:fillRect b="-13333"/>
                </a:stretch>
              </a:blipFill>
            </p:spPr>
            <p:txBody>
              <a:bodyPr/>
              <a:lstStyle/>
              <a:p>
                <a:r>
                  <a:rPr lang="en-US">
                    <a:noFill/>
                  </a:rPr>
                  <a:t> </a:t>
                </a:r>
              </a:p>
            </p:txBody>
          </p:sp>
        </mc:Fallback>
      </mc:AlternateContent>
      <p:sp>
        <p:nvSpPr>
          <p:cNvPr id="7" name="Rectangle 6">
            <a:extLst>
              <a:ext uri="{FF2B5EF4-FFF2-40B4-BE49-F238E27FC236}">
                <a16:creationId xmlns:a16="http://schemas.microsoft.com/office/drawing/2014/main" id="{45D92AC0-BAA3-6445-81E1-EC443FC948D4}"/>
              </a:ext>
            </a:extLst>
          </p:cNvPr>
          <p:cNvSpPr/>
          <p:nvPr/>
        </p:nvSpPr>
        <p:spPr>
          <a:xfrm>
            <a:off x="7293777" y="4050398"/>
            <a:ext cx="263470" cy="39609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B7482586-83F9-CE4F-9933-A6F64612652C}"/>
              </a:ext>
            </a:extLst>
          </p:cNvPr>
          <p:cNvSpPr/>
          <p:nvPr/>
        </p:nvSpPr>
        <p:spPr>
          <a:xfrm>
            <a:off x="11353800" y="4050398"/>
            <a:ext cx="838200" cy="31958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735616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FEB871F-20CF-F54B-B59B-55D350611BF3}"/>
              </a:ext>
            </a:extLst>
          </p:cNvPr>
          <p:cNvPicPr>
            <a:picLocks noChangeAspect="1"/>
          </p:cNvPicPr>
          <p:nvPr/>
        </p:nvPicPr>
        <p:blipFill rotWithShape="1">
          <a:blip r:embed="rId2"/>
          <a:srcRect l="15110" r="5450"/>
          <a:stretch/>
        </p:blipFill>
        <p:spPr>
          <a:xfrm>
            <a:off x="7293777" y="1120824"/>
            <a:ext cx="4898223" cy="5285077"/>
          </a:xfrm>
          <a:prstGeom prst="rect">
            <a:avLst/>
          </a:prstGeom>
        </p:spPr>
      </p:pic>
      <p:sp>
        <p:nvSpPr>
          <p:cNvPr id="2" name="Title 1">
            <a:extLst>
              <a:ext uri="{FF2B5EF4-FFF2-40B4-BE49-F238E27FC236}">
                <a16:creationId xmlns:a16="http://schemas.microsoft.com/office/drawing/2014/main" id="{75DCE2F9-F4C3-DA4C-B0FC-7FF6F22D148C}"/>
              </a:ext>
            </a:extLst>
          </p:cNvPr>
          <p:cNvSpPr>
            <a:spLocks noGrp="1"/>
          </p:cNvSpPr>
          <p:nvPr>
            <p:ph type="title"/>
          </p:nvPr>
        </p:nvSpPr>
        <p:spPr>
          <a:xfrm>
            <a:off x="838200" y="0"/>
            <a:ext cx="10515600" cy="1325563"/>
          </a:xfrm>
        </p:spPr>
        <p:txBody>
          <a:bodyPr/>
          <a:lstStyle/>
          <a:p>
            <a:pPr algn="ctr"/>
            <a:r>
              <a:rPr lang="en-US" dirty="0"/>
              <a:t>Burgers’ Riemann Problem</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15C4FD65-F675-944D-A379-3A5FFFAEB784}"/>
                  </a:ext>
                </a:extLst>
              </p:cNvPr>
              <p:cNvSpPr>
                <a:spLocks noGrp="1"/>
              </p:cNvSpPr>
              <p:nvPr>
                <p:ph idx="1"/>
              </p:nvPr>
            </p:nvSpPr>
            <p:spPr>
              <a:xfrm>
                <a:off x="0" y="977153"/>
                <a:ext cx="7368988" cy="5880847"/>
              </a:xfrm>
            </p:spPr>
            <p:txBody>
              <a:bodyPr>
                <a:normAutofit/>
              </a:bodyPr>
              <a:lstStyle/>
              <a:p>
                <a:pPr marL="0" indent="0">
                  <a:spcAft>
                    <a:spcPts val="600"/>
                  </a:spcAft>
                  <a:buNone/>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𝑢</m:t>
                          </m:r>
                        </m:e>
                        <m:sub>
                          <m:r>
                            <a:rPr lang="en-US" b="0" i="1" smtClean="0">
                              <a:latin typeface="Cambria Math" panose="02040503050406030204" pitchFamily="18" charset="0"/>
                            </a:rPr>
                            <m:t>𝑙</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𝑢</m:t>
                          </m:r>
                        </m:e>
                        <m:sub>
                          <m:r>
                            <a:rPr lang="en-US" b="0" i="1" smtClean="0">
                              <a:latin typeface="Cambria Math" panose="02040503050406030204" pitchFamily="18" charset="0"/>
                            </a:rPr>
                            <m:t>𝑟</m:t>
                          </m:r>
                        </m:sub>
                      </m:sSub>
                      <m:r>
                        <a:rPr lang="en-US" b="0" i="1" smtClean="0">
                          <a:latin typeface="Cambria Math" panose="02040503050406030204" pitchFamily="18" charset="0"/>
                        </a:rPr>
                        <m:t>=−</m:t>
                      </m:r>
                      <m:f>
                        <m:fPr>
                          <m:ctrlPr>
                            <a:rPr lang="en-US" b="0" i="1" smtClean="0">
                              <a:latin typeface="Cambria Math" panose="02040503050406030204" pitchFamily="18" charset="0"/>
                            </a:rPr>
                          </m:ctrlPr>
                        </m:fPr>
                        <m:num>
                          <m:r>
                            <m:rPr>
                              <m:sty m:val="p"/>
                            </m:rPr>
                            <a:rPr lang="en-US" b="0" i="0" smtClean="0">
                              <a:latin typeface="Cambria Math" panose="02040503050406030204" pitchFamily="18" charset="0"/>
                            </a:rPr>
                            <m:t>Δ</m:t>
                          </m:r>
                          <m:r>
                            <a:rPr lang="en-US" b="0" i="1" smtClean="0">
                              <a:latin typeface="Cambria Math" panose="02040503050406030204" pitchFamily="18" charset="0"/>
                            </a:rPr>
                            <m:t>𝑡</m:t>
                          </m:r>
                        </m:num>
                        <m:den>
                          <m:r>
                            <m:rPr>
                              <m:sty m:val="p"/>
                            </m:rPr>
                            <a:rPr lang="en-US" b="0" i="0" smtClean="0">
                              <a:latin typeface="Cambria Math" panose="02040503050406030204" pitchFamily="18" charset="0"/>
                            </a:rPr>
                            <m:t>Δ</m:t>
                          </m:r>
                          <m:r>
                            <a:rPr lang="en-US" b="0" i="1" smtClean="0">
                              <a:latin typeface="Cambria Math" panose="02040503050406030204" pitchFamily="18" charset="0"/>
                            </a:rPr>
                            <m:t>𝑥</m:t>
                          </m:r>
                        </m:den>
                      </m:f>
                      <m:r>
                        <a:rPr lang="en-US" b="0" i="1" smtClean="0">
                          <a:latin typeface="Cambria Math" panose="02040503050406030204" pitchFamily="18" charset="0"/>
                        </a:rPr>
                        <m:t>[</m:t>
                      </m:r>
                      <m:r>
                        <a:rPr lang="en-US" b="0" i="1" smtClean="0">
                          <a:latin typeface="Cambria Math" panose="02040503050406030204" pitchFamily="18" charset="0"/>
                        </a:rPr>
                        <m:t>𝐹</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𝑢</m:t>
                              </m:r>
                            </m:e>
                            <m:sub>
                              <m:r>
                                <a:rPr lang="en-US" b="0" i="1" smtClean="0">
                                  <a:latin typeface="Cambria Math" panose="02040503050406030204" pitchFamily="18" charset="0"/>
                                </a:rPr>
                                <m:t>𝑟</m:t>
                              </m:r>
                            </m:sub>
                          </m:sSub>
                        </m:e>
                      </m:d>
                      <m:r>
                        <a:rPr lang="en-US" b="0" i="1" smtClean="0">
                          <a:latin typeface="Cambria Math" panose="02040503050406030204" pitchFamily="18" charset="0"/>
                        </a:rPr>
                        <m:t>−</m:t>
                      </m:r>
                      <m:r>
                        <a:rPr lang="en-US" b="0" i="1" smtClean="0">
                          <a:latin typeface="Cambria Math" panose="02040503050406030204" pitchFamily="18" charset="0"/>
                        </a:rPr>
                        <m:t>𝐹</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𝑢</m:t>
                              </m:r>
                            </m:e>
                            <m:sub>
                              <m:r>
                                <a:rPr lang="en-US" b="0" i="1" smtClean="0">
                                  <a:latin typeface="Cambria Math" panose="02040503050406030204" pitchFamily="18" charset="0"/>
                                </a:rPr>
                                <m:t>𝑙</m:t>
                              </m:r>
                            </m:sub>
                          </m:sSub>
                        </m:e>
                      </m:d>
                      <m:r>
                        <a:rPr lang="en-US" b="0" i="1" smtClean="0">
                          <a:latin typeface="Cambria Math" panose="02040503050406030204" pitchFamily="18" charset="0"/>
                        </a:rPr>
                        <m:t>]</m:t>
                      </m:r>
                    </m:oMath>
                  </m:oMathPara>
                </a14:m>
                <a:endParaRPr lang="en-US" dirty="0"/>
              </a:p>
              <a:p>
                <a:pPr>
                  <a:spcAft>
                    <a:spcPts val="1200"/>
                  </a:spcAft>
                </a:pPr>
                <a:r>
                  <a:rPr lang="en-US" dirty="0"/>
                  <a:t>Using </a:t>
                </a:r>
                <a14:m>
                  <m:oMath xmlns:m="http://schemas.openxmlformats.org/officeDocument/2006/math">
                    <m:r>
                      <a:rPr lang="en-US" b="0" i="1" smtClean="0">
                        <a:latin typeface="Cambria Math" panose="02040503050406030204" pitchFamily="18" charset="0"/>
                      </a:rPr>
                      <m:t>𝑆</m:t>
                    </m:r>
                    <m:r>
                      <a:rPr lang="en-US" b="0" i="1" smtClean="0">
                        <a:latin typeface="Cambria Math" panose="02040503050406030204" pitchFamily="18" charset="0"/>
                      </a:rPr>
                      <m:t>=</m:t>
                    </m:r>
                    <m:r>
                      <m:rPr>
                        <m:sty m:val="p"/>
                      </m:rPr>
                      <a:rPr lang="en-US" b="0" i="0" smtClean="0">
                        <a:latin typeface="Cambria Math" panose="02040503050406030204" pitchFamily="18" charset="0"/>
                      </a:rPr>
                      <m:t>Δ</m:t>
                    </m:r>
                    <m:r>
                      <a:rPr lang="en-US" b="0" i="1" smtClean="0">
                        <a:latin typeface="Cambria Math" panose="02040503050406030204" pitchFamily="18" charset="0"/>
                      </a:rPr>
                      <m:t>𝑥</m:t>
                    </m:r>
                    <m:r>
                      <a:rPr lang="en-US" b="0" i="1" smtClean="0">
                        <a:latin typeface="Cambria Math" panose="02040503050406030204" pitchFamily="18" charset="0"/>
                      </a:rPr>
                      <m:t>/</m:t>
                    </m:r>
                    <m:r>
                      <m:rPr>
                        <m:sty m:val="p"/>
                      </m:rPr>
                      <a:rPr lang="en-US" b="0" i="0" smtClean="0">
                        <a:latin typeface="Cambria Math" panose="02040503050406030204" pitchFamily="18" charset="0"/>
                      </a:rPr>
                      <m:t>Δ</m:t>
                    </m:r>
                    <m:r>
                      <a:rPr lang="en-US" b="0" i="1" smtClean="0">
                        <a:latin typeface="Cambria Math" panose="02040503050406030204" pitchFamily="18" charset="0"/>
                      </a:rPr>
                      <m:t>𝑡</m:t>
                    </m:r>
                  </m:oMath>
                </a14:m>
                <a:r>
                  <a:rPr lang="en-US" dirty="0"/>
                  <a:t> we get</a:t>
                </a:r>
              </a:p>
              <a:p>
                <a:pPr marL="0" indent="0">
                  <a:spcAft>
                    <a:spcPts val="600"/>
                  </a:spcAft>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𝑆</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𝐹</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𝑢</m:t>
                                  </m:r>
                                </m:e>
                                <m:sub>
                                  <m:r>
                                    <a:rPr lang="en-US" b="0" i="1" smtClean="0">
                                      <a:latin typeface="Cambria Math" panose="02040503050406030204" pitchFamily="18" charset="0"/>
                                    </a:rPr>
                                    <m:t>𝑟</m:t>
                                  </m:r>
                                </m:sub>
                              </m:sSub>
                            </m:e>
                          </m:d>
                          <m:r>
                            <a:rPr lang="en-US" b="0" i="1" smtClean="0">
                              <a:latin typeface="Cambria Math" panose="02040503050406030204" pitchFamily="18" charset="0"/>
                            </a:rPr>
                            <m:t>−</m:t>
                          </m:r>
                          <m:r>
                            <a:rPr lang="en-US" b="0" i="1" smtClean="0">
                              <a:latin typeface="Cambria Math" panose="02040503050406030204" pitchFamily="18" charset="0"/>
                            </a:rPr>
                            <m:t>𝐹</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𝑢</m:t>
                                  </m:r>
                                </m:e>
                                <m:sub>
                                  <m:r>
                                    <a:rPr lang="en-US" b="0" i="1" smtClean="0">
                                      <a:latin typeface="Cambria Math" panose="02040503050406030204" pitchFamily="18" charset="0"/>
                                    </a:rPr>
                                    <m:t>𝑙</m:t>
                                  </m:r>
                                </m:sub>
                              </m:sSub>
                            </m:e>
                          </m:d>
                        </m:num>
                        <m:den>
                          <m:sSub>
                            <m:sSubPr>
                              <m:ctrlPr>
                                <a:rPr lang="en-US" b="0" i="1" smtClean="0">
                                  <a:latin typeface="Cambria Math" panose="02040503050406030204" pitchFamily="18" charset="0"/>
                                </a:rPr>
                              </m:ctrlPr>
                            </m:sSubPr>
                            <m:e>
                              <m:r>
                                <a:rPr lang="en-US" b="0" i="1" smtClean="0">
                                  <a:latin typeface="Cambria Math" panose="02040503050406030204" pitchFamily="18" charset="0"/>
                                </a:rPr>
                                <m:t>𝑢</m:t>
                              </m:r>
                            </m:e>
                            <m:sub>
                              <m:r>
                                <a:rPr lang="en-US" b="0" i="1" smtClean="0">
                                  <a:latin typeface="Cambria Math" panose="02040503050406030204" pitchFamily="18" charset="0"/>
                                </a:rPr>
                                <m:t>𝑟</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𝑢</m:t>
                              </m:r>
                            </m:e>
                            <m:sub>
                              <m:r>
                                <a:rPr lang="en-US" b="0" i="1" smtClean="0">
                                  <a:latin typeface="Cambria Math" panose="02040503050406030204" pitchFamily="18" charset="0"/>
                                </a:rPr>
                                <m:t>𝑙</m:t>
                              </m:r>
                            </m:sub>
                          </m:sSub>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2</m:t>
                          </m:r>
                        </m:den>
                      </m:f>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𝑢</m:t>
                          </m:r>
                        </m:e>
                        <m:sub>
                          <m:r>
                            <a:rPr lang="en-US" b="0" i="1" smtClean="0">
                              <a:latin typeface="Cambria Math" panose="02040503050406030204" pitchFamily="18" charset="0"/>
                            </a:rPr>
                            <m:t>𝑙</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𝑢</m:t>
                          </m:r>
                        </m:e>
                        <m:sub>
                          <m:r>
                            <a:rPr lang="en-US" b="0" i="1" smtClean="0">
                              <a:latin typeface="Cambria Math" panose="02040503050406030204" pitchFamily="18" charset="0"/>
                            </a:rPr>
                            <m:t>𝑟</m:t>
                          </m:r>
                        </m:sub>
                      </m:sSub>
                      <m:r>
                        <a:rPr lang="en-US" b="0" i="1" smtClean="0">
                          <a:latin typeface="Cambria Math" panose="02040503050406030204" pitchFamily="18" charset="0"/>
                        </a:rPr>
                        <m:t>)</m:t>
                      </m:r>
                    </m:oMath>
                  </m:oMathPara>
                </a14:m>
                <a:endParaRPr lang="en-US" dirty="0"/>
              </a:p>
              <a:p>
                <a:pPr marL="0" indent="0">
                  <a:spcBef>
                    <a:spcPts val="1600"/>
                  </a:spcBef>
                  <a:spcAft>
                    <a:spcPts val="600"/>
                  </a:spcAft>
                  <a:buNone/>
                </a:pPr>
                <a:r>
                  <a:rPr lang="en-US" dirty="0"/>
                  <a:t>   where we used </a:t>
                </a:r>
                <a14:m>
                  <m:oMath xmlns:m="http://schemas.openxmlformats.org/officeDocument/2006/math">
                    <m:r>
                      <a:rPr lang="en-US" b="0" i="1" smtClean="0">
                        <a:latin typeface="Cambria Math" panose="02040503050406030204" pitchFamily="18" charset="0"/>
                      </a:rPr>
                      <m:t>𝐹</m:t>
                    </m:r>
                    <m:d>
                      <m:dPr>
                        <m:ctrlPr>
                          <a:rPr lang="en-US" b="0" i="1" smtClean="0">
                            <a:latin typeface="Cambria Math" panose="02040503050406030204" pitchFamily="18" charset="0"/>
                          </a:rPr>
                        </m:ctrlPr>
                      </m:dPr>
                      <m:e>
                        <m:r>
                          <a:rPr lang="en-US" b="0" i="1" smtClean="0">
                            <a:latin typeface="Cambria Math" panose="02040503050406030204" pitchFamily="18" charset="0"/>
                          </a:rPr>
                          <m:t>𝑢</m:t>
                        </m:r>
                      </m:e>
                    </m:d>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𝑢</m:t>
                        </m:r>
                      </m:e>
                      <m:sup>
                        <m:r>
                          <a:rPr lang="en-US" b="0" i="1" smtClean="0">
                            <a:latin typeface="Cambria Math" panose="02040503050406030204" pitchFamily="18" charset="0"/>
                          </a:rPr>
                          <m:t>2</m:t>
                        </m:r>
                      </m:sup>
                    </m:sSup>
                    <m:r>
                      <a:rPr lang="en-US" b="0" i="1" smtClean="0">
                        <a:latin typeface="Cambria Math" panose="02040503050406030204" pitchFamily="18" charset="0"/>
                      </a:rPr>
                      <m:t>/2</m:t>
                    </m:r>
                  </m:oMath>
                </a14:m>
                <a:r>
                  <a:rPr lang="en-US" dirty="0"/>
                  <a:t>.</a:t>
                </a:r>
              </a:p>
              <a:p>
                <a:pPr>
                  <a:spcAft>
                    <a:spcPts val="600"/>
                  </a:spcAft>
                </a:pPr>
                <a14:m>
                  <m:oMath xmlns:m="http://schemas.openxmlformats.org/officeDocument/2006/math">
                    <m:r>
                      <a:rPr lang="en-US" b="0" i="1" smtClean="0">
                        <a:latin typeface="Cambria Math" panose="02040503050406030204" pitchFamily="18" charset="0"/>
                      </a:rPr>
                      <m:t>𝑆</m:t>
                    </m:r>
                  </m:oMath>
                </a14:m>
                <a:r>
                  <a:rPr lang="en-US" dirty="0"/>
                  <a:t> is the shock speed. </a:t>
                </a:r>
              </a:p>
              <a:p>
                <a:pPr>
                  <a:spcAft>
                    <a:spcPts val="600"/>
                  </a:spcAft>
                </a:pPr>
                <a:r>
                  <a:rPr lang="en-US" dirty="0"/>
                  <a:t>Now that we understand it we need to determine what state is on the interface.</a:t>
                </a:r>
              </a:p>
              <a:p>
                <a:pPr>
                  <a:spcAft>
                    <a:spcPts val="600"/>
                  </a:spcAft>
                </a:pPr>
                <a:r>
                  <a:rPr lang="en-US" dirty="0"/>
                  <a:t>We need to solve the Riemann problem: </a:t>
                </a:r>
              </a:p>
              <a:p>
                <a:pPr marL="0" indent="0">
                  <a:spcAft>
                    <a:spcPts val="600"/>
                  </a:spcAft>
                  <a:buNone/>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𝑢</m:t>
                          </m:r>
                        </m:e>
                        <m:sub>
                          <m:r>
                            <a:rPr lang="en-US" i="1">
                              <a:latin typeface="Cambria Math" panose="02040503050406030204" pitchFamily="18" charset="0"/>
                            </a:rPr>
                            <m:t>𝑖</m:t>
                          </m:r>
                          <m:r>
                            <a:rPr lang="en-US" i="1">
                              <a:latin typeface="Cambria Math" panose="02040503050406030204" pitchFamily="18" charset="0"/>
                            </a:rPr>
                            <m:t>+1/2</m:t>
                          </m:r>
                        </m:sub>
                      </m:sSub>
                      <m:r>
                        <a:rPr lang="en-US" i="1">
                          <a:latin typeface="Cambria Math" panose="02040503050406030204" pitchFamily="18" charset="0"/>
                        </a:rPr>
                        <m:t>=</m:t>
                      </m:r>
                      <m:r>
                        <a:rPr lang="en-US" i="1">
                          <a:latin typeface="Cambria Math" panose="02040503050406030204" pitchFamily="18" charset="0"/>
                          <a:ea typeface="Cambria Math" panose="02040503050406030204" pitchFamily="18" charset="0"/>
                        </a:rPr>
                        <m:t>ℛ</m:t>
                      </m:r>
                      <m: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𝑢</m:t>
                          </m:r>
                        </m:e>
                        <m:sub>
                          <m:r>
                            <a:rPr lang="en-US" i="1">
                              <a:latin typeface="Cambria Math" panose="02040503050406030204" pitchFamily="18" charset="0"/>
                            </a:rPr>
                            <m:t>𝑖</m:t>
                          </m:r>
                          <m:r>
                            <a:rPr lang="en-US" i="1">
                              <a:latin typeface="Cambria Math" panose="02040503050406030204" pitchFamily="18" charset="0"/>
                            </a:rPr>
                            <m:t>+1/2,</m:t>
                          </m:r>
                          <m:r>
                            <a:rPr lang="en-US" i="1">
                              <a:latin typeface="Cambria Math" panose="02040503050406030204" pitchFamily="18" charset="0"/>
                            </a:rPr>
                            <m:t>𝐿</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𝑢</m:t>
                          </m:r>
                        </m:e>
                        <m:sub>
                          <m:r>
                            <a:rPr lang="en-US" i="1">
                              <a:latin typeface="Cambria Math" panose="02040503050406030204" pitchFamily="18" charset="0"/>
                            </a:rPr>
                            <m:t>𝑖</m:t>
                          </m:r>
                          <m:r>
                            <a:rPr lang="en-US" i="1">
                              <a:latin typeface="Cambria Math" panose="02040503050406030204" pitchFamily="18" charset="0"/>
                            </a:rPr>
                            <m:t>+1/2,</m:t>
                          </m:r>
                          <m:r>
                            <a:rPr lang="en-US" i="1">
                              <a:latin typeface="Cambria Math" panose="02040503050406030204" pitchFamily="18" charset="0"/>
                            </a:rPr>
                            <m:t>𝑅</m:t>
                          </m:r>
                        </m:sub>
                      </m:sSub>
                      <m:r>
                        <a:rPr lang="en-US" i="1">
                          <a:latin typeface="Cambria Math" panose="02040503050406030204" pitchFamily="18" charset="0"/>
                        </a:rPr>
                        <m:t>)</m:t>
                      </m:r>
                    </m:oMath>
                  </m:oMathPara>
                </a14:m>
                <a:endParaRPr lang="en-US" dirty="0"/>
              </a:p>
            </p:txBody>
          </p:sp>
        </mc:Choice>
        <mc:Fallback>
          <p:sp>
            <p:nvSpPr>
              <p:cNvPr id="3" name="Content Placeholder 2">
                <a:extLst>
                  <a:ext uri="{FF2B5EF4-FFF2-40B4-BE49-F238E27FC236}">
                    <a16:creationId xmlns:a16="http://schemas.microsoft.com/office/drawing/2014/main" id="{15C4FD65-F675-944D-A379-3A5FFFAEB784}"/>
                  </a:ext>
                </a:extLst>
              </p:cNvPr>
              <p:cNvSpPr>
                <a:spLocks noGrp="1" noRot="1" noChangeAspect="1" noMove="1" noResize="1" noEditPoints="1" noAdjustHandles="1" noChangeArrowheads="1" noChangeShapeType="1" noTextEdit="1"/>
              </p:cNvSpPr>
              <p:nvPr>
                <p:ph idx="1"/>
              </p:nvPr>
            </p:nvSpPr>
            <p:spPr>
              <a:xfrm>
                <a:off x="0" y="977153"/>
                <a:ext cx="7368988" cy="5880847"/>
              </a:xfrm>
              <a:blipFill>
                <a:blip r:embed="rId3"/>
                <a:stretch>
                  <a:fillRect l="-1379" t="-43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5E2EA111-067E-C145-A4D5-7DA100972F8E}"/>
                  </a:ext>
                </a:extLst>
              </p:cNvPr>
              <p:cNvSpPr txBox="1"/>
              <p:nvPr/>
            </p:nvSpPr>
            <p:spPr>
              <a:xfrm>
                <a:off x="7368988" y="3681066"/>
                <a:ext cx="120513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FF0000"/>
                          </a:solidFill>
                          <a:latin typeface="Cambria Math" panose="02040503050406030204" pitchFamily="18" charset="0"/>
                        </a:rPr>
                        <m:t>𝑓</m:t>
                      </m:r>
                      <m:r>
                        <a:rPr lang="en-US" b="0" i="1" smtClean="0">
                          <a:solidFill>
                            <a:srgbClr val="FF0000"/>
                          </a:solidFill>
                          <a:latin typeface="Cambria Math" panose="02040503050406030204" pitchFamily="18" charset="0"/>
                        </a:rPr>
                        <m:t>=</m:t>
                      </m:r>
                      <m:r>
                        <a:rPr lang="en-US" b="0" i="1" smtClean="0">
                          <a:solidFill>
                            <a:srgbClr val="FF0000"/>
                          </a:solidFill>
                          <a:latin typeface="Cambria Math" panose="02040503050406030204" pitchFamily="18" charset="0"/>
                        </a:rPr>
                        <m:t>𝑓</m:t>
                      </m:r>
                      <m:r>
                        <a:rPr lang="en-US" b="0" i="1" smtClean="0">
                          <a:solidFill>
                            <a:srgbClr val="FF0000"/>
                          </a:solidFill>
                          <a:latin typeface="Cambria Math" panose="02040503050406030204" pitchFamily="18" charset="0"/>
                        </a:rPr>
                        <m:t>(</m:t>
                      </m:r>
                      <m:sSub>
                        <m:sSubPr>
                          <m:ctrlPr>
                            <a:rPr lang="en-US" b="0" i="1" smtClean="0">
                              <a:solidFill>
                                <a:srgbClr val="FF0000"/>
                              </a:solidFill>
                              <a:latin typeface="Cambria Math" panose="02040503050406030204" pitchFamily="18" charset="0"/>
                            </a:rPr>
                          </m:ctrlPr>
                        </m:sSubPr>
                        <m:e>
                          <m:r>
                            <a:rPr lang="en-US" b="0" i="1" smtClean="0">
                              <a:solidFill>
                                <a:srgbClr val="FF0000"/>
                              </a:solidFill>
                              <a:latin typeface="Cambria Math" panose="02040503050406030204" pitchFamily="18" charset="0"/>
                            </a:rPr>
                            <m:t>𝑢</m:t>
                          </m:r>
                        </m:e>
                        <m:sub>
                          <m:r>
                            <a:rPr lang="en-US" b="0" i="1" smtClean="0">
                              <a:solidFill>
                                <a:srgbClr val="FF0000"/>
                              </a:solidFill>
                              <a:latin typeface="Cambria Math" panose="02040503050406030204" pitchFamily="18" charset="0"/>
                            </a:rPr>
                            <m:t>𝑙</m:t>
                          </m:r>
                        </m:sub>
                      </m:sSub>
                      <m:r>
                        <a:rPr lang="en-US" b="0" i="1" smtClean="0">
                          <a:solidFill>
                            <a:srgbClr val="FF0000"/>
                          </a:solidFill>
                          <a:latin typeface="Cambria Math" panose="02040503050406030204" pitchFamily="18" charset="0"/>
                        </a:rPr>
                        <m:t>)</m:t>
                      </m:r>
                    </m:oMath>
                  </m:oMathPara>
                </a14:m>
                <a:endParaRPr lang="en-US" dirty="0">
                  <a:solidFill>
                    <a:srgbClr val="FF0000"/>
                  </a:solidFill>
                </a:endParaRPr>
              </a:p>
            </p:txBody>
          </p:sp>
        </mc:Choice>
        <mc:Fallback xmlns="">
          <p:sp>
            <p:nvSpPr>
              <p:cNvPr id="5" name="TextBox 4">
                <a:extLst>
                  <a:ext uri="{FF2B5EF4-FFF2-40B4-BE49-F238E27FC236}">
                    <a16:creationId xmlns:a16="http://schemas.microsoft.com/office/drawing/2014/main" id="{5E2EA111-067E-C145-A4D5-7DA100972F8E}"/>
                  </a:ext>
                </a:extLst>
              </p:cNvPr>
              <p:cNvSpPr txBox="1">
                <a:spLocks noRot="1" noChangeAspect="1" noMove="1" noResize="1" noEditPoints="1" noAdjustHandles="1" noChangeArrowheads="1" noChangeShapeType="1" noTextEdit="1"/>
              </p:cNvSpPr>
              <p:nvPr/>
            </p:nvSpPr>
            <p:spPr>
              <a:xfrm>
                <a:off x="7368988" y="3681066"/>
                <a:ext cx="1205138" cy="369332"/>
              </a:xfrm>
              <a:prstGeom prst="rect">
                <a:avLst/>
              </a:prstGeom>
              <a:blipFill>
                <a:blip r:embed="rId4"/>
                <a:stretch>
                  <a:fillRect b="-13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9C29D10D-C5ED-3B43-A6F1-26C31DEC84E9}"/>
                  </a:ext>
                </a:extLst>
              </p:cNvPr>
              <p:cNvSpPr txBox="1"/>
              <p:nvPr/>
            </p:nvSpPr>
            <p:spPr>
              <a:xfrm>
                <a:off x="10452847" y="3681066"/>
                <a:ext cx="1235723"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FF0000"/>
                          </a:solidFill>
                          <a:latin typeface="Cambria Math" panose="02040503050406030204" pitchFamily="18" charset="0"/>
                        </a:rPr>
                        <m:t>𝑓</m:t>
                      </m:r>
                      <m:r>
                        <a:rPr lang="en-US" b="0" i="1" smtClean="0">
                          <a:solidFill>
                            <a:srgbClr val="FF0000"/>
                          </a:solidFill>
                          <a:latin typeface="Cambria Math" panose="02040503050406030204" pitchFamily="18" charset="0"/>
                        </a:rPr>
                        <m:t>=</m:t>
                      </m:r>
                      <m:r>
                        <a:rPr lang="en-US" b="0" i="1" smtClean="0">
                          <a:solidFill>
                            <a:srgbClr val="FF0000"/>
                          </a:solidFill>
                          <a:latin typeface="Cambria Math" panose="02040503050406030204" pitchFamily="18" charset="0"/>
                        </a:rPr>
                        <m:t>𝑓</m:t>
                      </m:r>
                      <m:r>
                        <a:rPr lang="en-US" b="0" i="1" smtClean="0">
                          <a:solidFill>
                            <a:srgbClr val="FF0000"/>
                          </a:solidFill>
                          <a:latin typeface="Cambria Math" panose="02040503050406030204" pitchFamily="18" charset="0"/>
                        </a:rPr>
                        <m:t>(</m:t>
                      </m:r>
                      <m:sSub>
                        <m:sSubPr>
                          <m:ctrlPr>
                            <a:rPr lang="en-US" b="0" i="1" smtClean="0">
                              <a:solidFill>
                                <a:srgbClr val="FF0000"/>
                              </a:solidFill>
                              <a:latin typeface="Cambria Math" panose="02040503050406030204" pitchFamily="18" charset="0"/>
                            </a:rPr>
                          </m:ctrlPr>
                        </m:sSubPr>
                        <m:e>
                          <m:r>
                            <a:rPr lang="en-US" b="0" i="1" smtClean="0">
                              <a:solidFill>
                                <a:srgbClr val="FF0000"/>
                              </a:solidFill>
                              <a:latin typeface="Cambria Math" panose="02040503050406030204" pitchFamily="18" charset="0"/>
                            </a:rPr>
                            <m:t>𝑢</m:t>
                          </m:r>
                        </m:e>
                        <m:sub>
                          <m:r>
                            <a:rPr lang="en-US" b="0" i="1" smtClean="0">
                              <a:solidFill>
                                <a:srgbClr val="FF0000"/>
                              </a:solidFill>
                              <a:latin typeface="Cambria Math" panose="02040503050406030204" pitchFamily="18" charset="0"/>
                            </a:rPr>
                            <m:t>𝑟</m:t>
                          </m:r>
                        </m:sub>
                      </m:sSub>
                      <m:r>
                        <a:rPr lang="en-US" b="0" i="1" smtClean="0">
                          <a:solidFill>
                            <a:srgbClr val="FF0000"/>
                          </a:solidFill>
                          <a:latin typeface="Cambria Math" panose="02040503050406030204" pitchFamily="18" charset="0"/>
                        </a:rPr>
                        <m:t>)</m:t>
                      </m:r>
                    </m:oMath>
                  </m:oMathPara>
                </a14:m>
                <a:endParaRPr lang="en-US" dirty="0">
                  <a:solidFill>
                    <a:srgbClr val="FF0000"/>
                  </a:solidFill>
                </a:endParaRPr>
              </a:p>
            </p:txBody>
          </p:sp>
        </mc:Choice>
        <mc:Fallback xmlns="">
          <p:sp>
            <p:nvSpPr>
              <p:cNvPr id="6" name="TextBox 5">
                <a:extLst>
                  <a:ext uri="{FF2B5EF4-FFF2-40B4-BE49-F238E27FC236}">
                    <a16:creationId xmlns:a16="http://schemas.microsoft.com/office/drawing/2014/main" id="{9C29D10D-C5ED-3B43-A6F1-26C31DEC84E9}"/>
                  </a:ext>
                </a:extLst>
              </p:cNvPr>
              <p:cNvSpPr txBox="1">
                <a:spLocks noRot="1" noChangeAspect="1" noMove="1" noResize="1" noEditPoints="1" noAdjustHandles="1" noChangeArrowheads="1" noChangeShapeType="1" noTextEdit="1"/>
              </p:cNvSpPr>
              <p:nvPr/>
            </p:nvSpPr>
            <p:spPr>
              <a:xfrm>
                <a:off x="10452847" y="3681066"/>
                <a:ext cx="1235723" cy="369332"/>
              </a:xfrm>
              <a:prstGeom prst="rect">
                <a:avLst/>
              </a:prstGeom>
              <a:blipFill>
                <a:blip r:embed="rId5"/>
                <a:stretch>
                  <a:fillRect b="-13333"/>
                </a:stretch>
              </a:blipFill>
            </p:spPr>
            <p:txBody>
              <a:bodyPr/>
              <a:lstStyle/>
              <a:p>
                <a:r>
                  <a:rPr lang="en-US">
                    <a:noFill/>
                  </a:rPr>
                  <a:t> </a:t>
                </a:r>
              </a:p>
            </p:txBody>
          </p:sp>
        </mc:Fallback>
      </mc:AlternateContent>
      <p:sp>
        <p:nvSpPr>
          <p:cNvPr id="7" name="Rectangle 6">
            <a:extLst>
              <a:ext uri="{FF2B5EF4-FFF2-40B4-BE49-F238E27FC236}">
                <a16:creationId xmlns:a16="http://schemas.microsoft.com/office/drawing/2014/main" id="{45D92AC0-BAA3-6445-81E1-EC443FC948D4}"/>
              </a:ext>
            </a:extLst>
          </p:cNvPr>
          <p:cNvSpPr/>
          <p:nvPr/>
        </p:nvSpPr>
        <p:spPr>
          <a:xfrm>
            <a:off x="7293777" y="4050398"/>
            <a:ext cx="263470" cy="39609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22C1987D-6F85-6C4C-A873-40ACFC8F78B1}"/>
              </a:ext>
            </a:extLst>
          </p:cNvPr>
          <p:cNvSpPr/>
          <p:nvPr/>
        </p:nvSpPr>
        <p:spPr>
          <a:xfrm>
            <a:off x="11353800" y="4050398"/>
            <a:ext cx="838200" cy="31958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9" name="Rectangle 8">
                <a:extLst>
                  <a:ext uri="{FF2B5EF4-FFF2-40B4-BE49-F238E27FC236}">
                    <a16:creationId xmlns:a16="http://schemas.microsoft.com/office/drawing/2014/main" id="{22125B6A-27D6-0049-81E0-670794B584A8}"/>
                  </a:ext>
                </a:extLst>
              </p:cNvPr>
              <p:cNvSpPr/>
              <p:nvPr/>
            </p:nvSpPr>
            <p:spPr>
              <a:xfrm>
                <a:off x="453931" y="2345912"/>
                <a:ext cx="6385915" cy="1164742"/>
              </a:xfrm>
              <a:prstGeom prst="rect">
                <a:avLst/>
              </a:prstGeom>
              <a:solidFill>
                <a:schemeClr val="bg1"/>
              </a:solidFill>
              <a:ln>
                <a:noFill/>
              </a:ln>
            </p:spPr>
            <p:txBody>
              <a:bodyPr wrap="none">
                <a:spAutoFit/>
              </a:bodyPr>
              <a:lstStyle/>
              <a:p>
                <a:pPr>
                  <a:spcAft>
                    <a:spcPts val="600"/>
                  </a:spcAft>
                </a:pPr>
                <a14:m>
                  <m:oMathPara xmlns:m="http://schemas.openxmlformats.org/officeDocument/2006/math">
                    <m:oMathParaPr>
                      <m:jc m:val="centerGroup"/>
                    </m:oMathParaPr>
                    <m:oMath xmlns:m="http://schemas.openxmlformats.org/officeDocument/2006/math">
                      <m:r>
                        <a:rPr lang="en-US" sz="2400" i="1" smtClean="0">
                          <a:latin typeface="Cambria Math" panose="02040503050406030204" pitchFamily="18" charset="0"/>
                        </a:rPr>
                        <m:t>𝑆</m:t>
                      </m:r>
                      <m:r>
                        <a:rPr lang="en-US" sz="2400" i="1" smtClean="0">
                          <a:latin typeface="Cambria Math" panose="02040503050406030204" pitchFamily="18" charset="0"/>
                        </a:rPr>
                        <m:t>=</m:t>
                      </m:r>
                      <m:f>
                        <m:fPr>
                          <m:ctrlPr>
                            <a:rPr lang="en-US" sz="2400" i="1">
                              <a:latin typeface="Cambria Math" panose="02040503050406030204" pitchFamily="18" charset="0"/>
                            </a:rPr>
                          </m:ctrlPr>
                        </m:fPr>
                        <m:num>
                          <m:r>
                            <a:rPr lang="en-US" sz="2400" i="1" smtClean="0">
                              <a:solidFill>
                                <a:srgbClr val="0070C0"/>
                              </a:solidFill>
                              <a:latin typeface="Cambria Math" panose="02040503050406030204" pitchFamily="18" charset="0"/>
                            </a:rPr>
                            <m:t>𝐹</m:t>
                          </m:r>
                          <m:d>
                            <m:dPr>
                              <m:ctrlPr>
                                <a:rPr lang="en-US" sz="2400" i="1">
                                  <a:solidFill>
                                    <a:srgbClr val="0070C0"/>
                                  </a:solidFill>
                                  <a:latin typeface="Cambria Math" panose="02040503050406030204" pitchFamily="18" charset="0"/>
                                </a:rPr>
                              </m:ctrlPr>
                            </m:dPr>
                            <m:e>
                              <m:sSub>
                                <m:sSubPr>
                                  <m:ctrlPr>
                                    <a:rPr lang="en-US" sz="2400" i="1">
                                      <a:solidFill>
                                        <a:srgbClr val="0070C0"/>
                                      </a:solidFill>
                                      <a:latin typeface="Cambria Math" panose="02040503050406030204" pitchFamily="18" charset="0"/>
                                    </a:rPr>
                                  </m:ctrlPr>
                                </m:sSubPr>
                                <m:e>
                                  <m:r>
                                    <a:rPr lang="en-US" sz="2400" i="1">
                                      <a:solidFill>
                                        <a:srgbClr val="0070C0"/>
                                      </a:solidFill>
                                      <a:latin typeface="Cambria Math" panose="02040503050406030204" pitchFamily="18" charset="0"/>
                                    </a:rPr>
                                    <m:t>𝑢</m:t>
                                  </m:r>
                                </m:e>
                                <m:sub>
                                  <m:r>
                                    <a:rPr lang="en-US" sz="2400" i="1">
                                      <a:solidFill>
                                        <a:srgbClr val="0070C0"/>
                                      </a:solidFill>
                                      <a:latin typeface="Cambria Math" panose="02040503050406030204" pitchFamily="18" charset="0"/>
                                    </a:rPr>
                                    <m:t>𝑟</m:t>
                                  </m:r>
                                </m:sub>
                              </m:sSub>
                            </m:e>
                          </m:d>
                          <m:r>
                            <a:rPr lang="en-US" sz="2400" i="1">
                              <a:latin typeface="Cambria Math" panose="02040503050406030204" pitchFamily="18" charset="0"/>
                            </a:rPr>
                            <m:t>−</m:t>
                          </m:r>
                          <m:r>
                            <a:rPr lang="en-US" sz="2400" i="1" smtClean="0">
                              <a:solidFill>
                                <a:srgbClr val="FF0000"/>
                              </a:solidFill>
                              <a:latin typeface="Cambria Math" panose="02040503050406030204" pitchFamily="18" charset="0"/>
                            </a:rPr>
                            <m:t>𝐹</m:t>
                          </m:r>
                          <m:d>
                            <m:dPr>
                              <m:ctrlPr>
                                <a:rPr lang="en-US" sz="2400" i="1">
                                  <a:solidFill>
                                    <a:srgbClr val="FF0000"/>
                                  </a:solidFill>
                                  <a:latin typeface="Cambria Math" panose="02040503050406030204" pitchFamily="18" charset="0"/>
                                </a:rPr>
                              </m:ctrlPr>
                            </m:dPr>
                            <m:e>
                              <m:sSub>
                                <m:sSubPr>
                                  <m:ctrlPr>
                                    <a:rPr lang="en-US" sz="2400" i="1">
                                      <a:solidFill>
                                        <a:srgbClr val="FF0000"/>
                                      </a:solidFill>
                                      <a:latin typeface="Cambria Math" panose="02040503050406030204" pitchFamily="18" charset="0"/>
                                    </a:rPr>
                                  </m:ctrlPr>
                                </m:sSubPr>
                                <m:e>
                                  <m:r>
                                    <a:rPr lang="en-US" sz="2400" i="1">
                                      <a:solidFill>
                                        <a:srgbClr val="FF0000"/>
                                      </a:solidFill>
                                      <a:latin typeface="Cambria Math" panose="02040503050406030204" pitchFamily="18" charset="0"/>
                                    </a:rPr>
                                    <m:t>𝑢</m:t>
                                  </m:r>
                                </m:e>
                                <m:sub>
                                  <m:r>
                                    <a:rPr lang="en-US" sz="2400" i="1">
                                      <a:solidFill>
                                        <a:srgbClr val="FF0000"/>
                                      </a:solidFill>
                                      <a:latin typeface="Cambria Math" panose="02040503050406030204" pitchFamily="18" charset="0"/>
                                    </a:rPr>
                                    <m:t>𝑙</m:t>
                                  </m:r>
                                </m:sub>
                              </m:sSub>
                            </m:e>
                          </m:d>
                        </m:num>
                        <m:den>
                          <m:sSub>
                            <m:sSubPr>
                              <m:ctrlPr>
                                <a:rPr lang="en-US" sz="2400" i="1">
                                  <a:latin typeface="Cambria Math" panose="02040503050406030204" pitchFamily="18" charset="0"/>
                                </a:rPr>
                              </m:ctrlPr>
                            </m:sSubPr>
                            <m:e>
                              <m:r>
                                <a:rPr lang="en-US" sz="2400" i="1">
                                  <a:latin typeface="Cambria Math" panose="02040503050406030204" pitchFamily="18" charset="0"/>
                                </a:rPr>
                                <m:t>𝑢</m:t>
                              </m:r>
                            </m:e>
                            <m:sub>
                              <m:r>
                                <a:rPr lang="en-US" sz="2400" i="1">
                                  <a:latin typeface="Cambria Math" panose="02040503050406030204" pitchFamily="18" charset="0"/>
                                </a:rPr>
                                <m:t>𝑟</m:t>
                              </m:r>
                            </m:sub>
                          </m:sSub>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𝑢</m:t>
                              </m:r>
                            </m:e>
                            <m:sub>
                              <m:r>
                                <a:rPr lang="en-US" sz="2400" i="1">
                                  <a:latin typeface="Cambria Math" panose="02040503050406030204" pitchFamily="18" charset="0"/>
                                </a:rPr>
                                <m:t>𝑙</m:t>
                              </m:r>
                            </m:sub>
                          </m:sSub>
                        </m:den>
                      </m:f>
                      <m:r>
                        <a:rPr lang="en-US" sz="2400" b="0" i="1" smtClean="0">
                          <a:latin typeface="Cambria Math" panose="02040503050406030204" pitchFamily="18" charset="0"/>
                        </a:rPr>
                        <m:t>=</m:t>
                      </m:r>
                      <m:f>
                        <m:fPr>
                          <m:ctrlPr>
                            <a:rPr lang="en-US" sz="2400" i="1">
                              <a:latin typeface="Cambria Math" panose="02040503050406030204" pitchFamily="18" charset="0"/>
                            </a:rPr>
                          </m:ctrlPr>
                        </m:fPr>
                        <m:num>
                          <m:sSubSup>
                            <m:sSubSupPr>
                              <m:ctrlPr>
                                <a:rPr lang="en-US" sz="2400" b="0" i="1" smtClean="0">
                                  <a:solidFill>
                                    <a:srgbClr val="0070C0"/>
                                  </a:solidFill>
                                  <a:latin typeface="Cambria Math" panose="02040503050406030204" pitchFamily="18" charset="0"/>
                                </a:rPr>
                              </m:ctrlPr>
                            </m:sSubSupPr>
                            <m:e>
                              <m:f>
                                <m:fPr>
                                  <m:ctrlPr>
                                    <a:rPr lang="en-US" sz="2400" b="0" i="1" smtClean="0">
                                      <a:solidFill>
                                        <a:srgbClr val="0070C0"/>
                                      </a:solidFill>
                                      <a:latin typeface="Cambria Math" panose="02040503050406030204" pitchFamily="18" charset="0"/>
                                    </a:rPr>
                                  </m:ctrlPr>
                                </m:fPr>
                                <m:num>
                                  <m:r>
                                    <a:rPr lang="en-US" sz="2400" b="0" i="1" smtClean="0">
                                      <a:solidFill>
                                        <a:srgbClr val="0070C0"/>
                                      </a:solidFill>
                                      <a:latin typeface="Cambria Math" panose="02040503050406030204" pitchFamily="18" charset="0"/>
                                    </a:rPr>
                                    <m:t>1</m:t>
                                  </m:r>
                                </m:num>
                                <m:den>
                                  <m:r>
                                    <a:rPr lang="en-US" sz="2400" b="0" i="1" smtClean="0">
                                      <a:solidFill>
                                        <a:srgbClr val="0070C0"/>
                                      </a:solidFill>
                                      <a:latin typeface="Cambria Math" panose="02040503050406030204" pitchFamily="18" charset="0"/>
                                    </a:rPr>
                                    <m:t>2</m:t>
                                  </m:r>
                                </m:den>
                              </m:f>
                              <m:r>
                                <a:rPr lang="en-US" sz="2400" b="0" i="1" smtClean="0">
                                  <a:solidFill>
                                    <a:srgbClr val="0070C0"/>
                                  </a:solidFill>
                                  <a:latin typeface="Cambria Math" panose="02040503050406030204" pitchFamily="18" charset="0"/>
                                </a:rPr>
                                <m:t>𝑢</m:t>
                              </m:r>
                            </m:e>
                            <m:sub>
                              <m:r>
                                <a:rPr lang="en-US" sz="2400" b="0" i="1" smtClean="0">
                                  <a:solidFill>
                                    <a:srgbClr val="0070C0"/>
                                  </a:solidFill>
                                  <a:latin typeface="Cambria Math" panose="02040503050406030204" pitchFamily="18" charset="0"/>
                                </a:rPr>
                                <m:t>𝑟</m:t>
                              </m:r>
                            </m:sub>
                            <m:sup>
                              <m:r>
                                <a:rPr lang="en-US" sz="2400" b="0" i="1" smtClean="0">
                                  <a:solidFill>
                                    <a:srgbClr val="0070C0"/>
                                  </a:solidFill>
                                  <a:latin typeface="Cambria Math" panose="02040503050406030204" pitchFamily="18" charset="0"/>
                                </a:rPr>
                                <m:t>2</m:t>
                              </m:r>
                            </m:sup>
                          </m:sSubSup>
                          <m:r>
                            <a:rPr lang="en-US" sz="2400" i="1">
                              <a:latin typeface="Cambria Math" panose="02040503050406030204" pitchFamily="18" charset="0"/>
                            </a:rPr>
                            <m:t>−</m:t>
                          </m:r>
                          <m:f>
                            <m:fPr>
                              <m:ctrlPr>
                                <a:rPr lang="en-US" sz="2400" b="0" i="1" smtClean="0">
                                  <a:solidFill>
                                    <a:srgbClr val="FF0000"/>
                                  </a:solidFill>
                                  <a:latin typeface="Cambria Math" panose="02040503050406030204" pitchFamily="18" charset="0"/>
                                </a:rPr>
                              </m:ctrlPr>
                            </m:fPr>
                            <m:num>
                              <m:r>
                                <a:rPr lang="en-US" sz="2400" b="0" i="1" smtClean="0">
                                  <a:solidFill>
                                    <a:srgbClr val="FF0000"/>
                                  </a:solidFill>
                                  <a:latin typeface="Cambria Math" panose="02040503050406030204" pitchFamily="18" charset="0"/>
                                </a:rPr>
                                <m:t>1</m:t>
                              </m:r>
                            </m:num>
                            <m:den>
                              <m:r>
                                <a:rPr lang="en-US" sz="2400" b="0" i="1" smtClean="0">
                                  <a:solidFill>
                                    <a:srgbClr val="FF0000"/>
                                  </a:solidFill>
                                  <a:latin typeface="Cambria Math" panose="02040503050406030204" pitchFamily="18" charset="0"/>
                                </a:rPr>
                                <m:t>2</m:t>
                              </m:r>
                            </m:den>
                          </m:f>
                          <m:sSubSup>
                            <m:sSubSupPr>
                              <m:ctrlPr>
                                <a:rPr lang="en-US" sz="2400" b="0" i="1" smtClean="0">
                                  <a:solidFill>
                                    <a:srgbClr val="FF0000"/>
                                  </a:solidFill>
                                  <a:latin typeface="Cambria Math" panose="02040503050406030204" pitchFamily="18" charset="0"/>
                                </a:rPr>
                              </m:ctrlPr>
                            </m:sSubSupPr>
                            <m:e>
                              <m:r>
                                <a:rPr lang="en-US" sz="2400" b="0" i="1" smtClean="0">
                                  <a:solidFill>
                                    <a:srgbClr val="FF0000"/>
                                  </a:solidFill>
                                  <a:latin typeface="Cambria Math" panose="02040503050406030204" pitchFamily="18" charset="0"/>
                                </a:rPr>
                                <m:t>𝑢</m:t>
                              </m:r>
                            </m:e>
                            <m:sub>
                              <m:r>
                                <a:rPr lang="en-US" sz="2400" b="0" i="1" smtClean="0">
                                  <a:solidFill>
                                    <a:srgbClr val="FF0000"/>
                                  </a:solidFill>
                                  <a:latin typeface="Cambria Math" panose="02040503050406030204" pitchFamily="18" charset="0"/>
                                </a:rPr>
                                <m:t>𝑙</m:t>
                              </m:r>
                            </m:sub>
                            <m:sup>
                              <m:r>
                                <a:rPr lang="en-US" sz="2400" b="0" i="1" smtClean="0">
                                  <a:solidFill>
                                    <a:srgbClr val="FF0000"/>
                                  </a:solidFill>
                                  <a:latin typeface="Cambria Math" panose="02040503050406030204" pitchFamily="18" charset="0"/>
                                </a:rPr>
                                <m:t>2</m:t>
                              </m:r>
                            </m:sup>
                          </m:sSubSup>
                        </m:num>
                        <m:den>
                          <m:sSub>
                            <m:sSubPr>
                              <m:ctrlPr>
                                <a:rPr lang="en-US" sz="2400" i="1">
                                  <a:latin typeface="Cambria Math" panose="02040503050406030204" pitchFamily="18" charset="0"/>
                                </a:rPr>
                              </m:ctrlPr>
                            </m:sSubPr>
                            <m:e>
                              <m:r>
                                <a:rPr lang="en-US" sz="2400" i="1">
                                  <a:latin typeface="Cambria Math" panose="02040503050406030204" pitchFamily="18" charset="0"/>
                                </a:rPr>
                                <m:t>𝑢</m:t>
                              </m:r>
                            </m:e>
                            <m:sub>
                              <m:r>
                                <a:rPr lang="en-US" sz="2400" i="1">
                                  <a:latin typeface="Cambria Math" panose="02040503050406030204" pitchFamily="18" charset="0"/>
                                </a:rPr>
                                <m:t>𝑟</m:t>
                              </m:r>
                            </m:sub>
                          </m:sSub>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𝑢</m:t>
                              </m:r>
                            </m:e>
                            <m:sub>
                              <m:r>
                                <a:rPr lang="en-US" sz="2400" i="1">
                                  <a:latin typeface="Cambria Math" panose="02040503050406030204" pitchFamily="18" charset="0"/>
                                </a:rPr>
                                <m:t>𝑙</m:t>
                              </m:r>
                            </m:sub>
                          </m:sSub>
                        </m:den>
                      </m:f>
                      <m:r>
                        <a:rPr lang="en-US" sz="2400" i="1">
                          <a:latin typeface="Cambria Math" panose="02040503050406030204" pitchFamily="18" charset="0"/>
                        </a:rPr>
                        <m:t>=</m:t>
                      </m:r>
                      <m:f>
                        <m:fPr>
                          <m:ctrlPr>
                            <a:rPr lang="en-US" sz="2400" i="1">
                              <a:latin typeface="Cambria Math" panose="02040503050406030204" pitchFamily="18" charset="0"/>
                            </a:rPr>
                          </m:ctrlPr>
                        </m:fPr>
                        <m:num>
                          <m:r>
                            <a:rPr lang="en-US" sz="2400" i="1">
                              <a:latin typeface="Cambria Math" panose="02040503050406030204" pitchFamily="18" charset="0"/>
                            </a:rPr>
                            <m:t>1</m:t>
                          </m:r>
                        </m:num>
                        <m:den>
                          <m:r>
                            <a:rPr lang="en-US" sz="2400" i="1">
                              <a:latin typeface="Cambria Math" panose="02040503050406030204" pitchFamily="18" charset="0"/>
                            </a:rPr>
                            <m:t>2</m:t>
                          </m:r>
                        </m:den>
                      </m:f>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𝑢</m:t>
                          </m:r>
                        </m:e>
                        <m:sub>
                          <m:r>
                            <a:rPr lang="en-US" sz="2400" i="1">
                              <a:latin typeface="Cambria Math" panose="02040503050406030204" pitchFamily="18" charset="0"/>
                            </a:rPr>
                            <m:t>𝑙</m:t>
                          </m:r>
                        </m:sub>
                      </m:sSub>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𝑢</m:t>
                          </m:r>
                        </m:e>
                        <m:sub>
                          <m:r>
                            <a:rPr lang="en-US" sz="2400" i="1">
                              <a:latin typeface="Cambria Math" panose="02040503050406030204" pitchFamily="18" charset="0"/>
                            </a:rPr>
                            <m:t>𝑟</m:t>
                          </m:r>
                        </m:sub>
                      </m:sSub>
                      <m:r>
                        <a:rPr lang="en-US" sz="2400" i="1">
                          <a:latin typeface="Cambria Math" panose="02040503050406030204" pitchFamily="18" charset="0"/>
                        </a:rPr>
                        <m:t>)</m:t>
                      </m:r>
                    </m:oMath>
                  </m:oMathPara>
                </a14:m>
                <a:endParaRPr lang="en-US" sz="2400" dirty="0"/>
              </a:p>
            </p:txBody>
          </p:sp>
        </mc:Choice>
        <mc:Fallback xmlns="">
          <p:sp>
            <p:nvSpPr>
              <p:cNvPr id="9" name="Rectangle 8">
                <a:extLst>
                  <a:ext uri="{FF2B5EF4-FFF2-40B4-BE49-F238E27FC236}">
                    <a16:creationId xmlns:a16="http://schemas.microsoft.com/office/drawing/2014/main" id="{22125B6A-27D6-0049-81E0-670794B584A8}"/>
                  </a:ext>
                </a:extLst>
              </p:cNvPr>
              <p:cNvSpPr>
                <a:spLocks noRot="1" noChangeAspect="1" noMove="1" noResize="1" noEditPoints="1" noAdjustHandles="1" noChangeArrowheads="1" noChangeShapeType="1" noTextEdit="1"/>
              </p:cNvSpPr>
              <p:nvPr/>
            </p:nvSpPr>
            <p:spPr>
              <a:xfrm>
                <a:off x="453931" y="2345912"/>
                <a:ext cx="6385915" cy="1164742"/>
              </a:xfrm>
              <a:prstGeom prst="rect">
                <a:avLst/>
              </a:prstGeom>
              <a:blipFill>
                <a:blip r:embed="rId6"/>
                <a:stretch>
                  <a:fillRect/>
                </a:stretch>
              </a:blipFill>
              <a:ln>
                <a:noFill/>
              </a:ln>
            </p:spPr>
            <p:txBody>
              <a:bodyPr/>
              <a:lstStyle/>
              <a:p>
                <a:r>
                  <a:rPr lang="en-US">
                    <a:noFill/>
                  </a:rPr>
                  <a:t> </a:t>
                </a:r>
              </a:p>
            </p:txBody>
          </p:sp>
        </mc:Fallback>
      </mc:AlternateContent>
    </p:spTree>
    <p:extLst>
      <p:ext uri="{BB962C8B-B14F-4D97-AF65-F5344CB8AC3E}">
        <p14:creationId xmlns:p14="http://schemas.microsoft.com/office/powerpoint/2010/main" val="32178472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FEB871F-20CF-F54B-B59B-55D350611BF3}"/>
              </a:ext>
            </a:extLst>
          </p:cNvPr>
          <p:cNvPicPr>
            <a:picLocks noChangeAspect="1"/>
          </p:cNvPicPr>
          <p:nvPr/>
        </p:nvPicPr>
        <p:blipFill rotWithShape="1">
          <a:blip r:embed="rId2"/>
          <a:srcRect l="15110" r="5450"/>
          <a:stretch/>
        </p:blipFill>
        <p:spPr>
          <a:xfrm>
            <a:off x="7293777" y="1120824"/>
            <a:ext cx="4898223" cy="5285077"/>
          </a:xfrm>
          <a:prstGeom prst="rect">
            <a:avLst/>
          </a:prstGeom>
        </p:spPr>
      </p:pic>
      <p:sp>
        <p:nvSpPr>
          <p:cNvPr id="2" name="Title 1">
            <a:extLst>
              <a:ext uri="{FF2B5EF4-FFF2-40B4-BE49-F238E27FC236}">
                <a16:creationId xmlns:a16="http://schemas.microsoft.com/office/drawing/2014/main" id="{75DCE2F9-F4C3-DA4C-B0FC-7FF6F22D148C}"/>
              </a:ext>
            </a:extLst>
          </p:cNvPr>
          <p:cNvSpPr>
            <a:spLocks noGrp="1"/>
          </p:cNvSpPr>
          <p:nvPr>
            <p:ph type="title"/>
          </p:nvPr>
        </p:nvSpPr>
        <p:spPr>
          <a:xfrm>
            <a:off x="838200" y="0"/>
            <a:ext cx="10515600" cy="1325563"/>
          </a:xfrm>
        </p:spPr>
        <p:txBody>
          <a:bodyPr/>
          <a:lstStyle/>
          <a:p>
            <a:pPr algn="ctr"/>
            <a:r>
              <a:rPr lang="en-US" dirty="0"/>
              <a:t>Burgers’ Riemann Problem</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5C4FD65-F675-944D-A379-3A5FFFAEB784}"/>
                  </a:ext>
                </a:extLst>
              </p:cNvPr>
              <p:cNvSpPr>
                <a:spLocks noGrp="1"/>
              </p:cNvSpPr>
              <p:nvPr>
                <p:ph idx="1"/>
              </p:nvPr>
            </p:nvSpPr>
            <p:spPr>
              <a:xfrm>
                <a:off x="0" y="977153"/>
                <a:ext cx="7368988" cy="5880847"/>
              </a:xfrm>
            </p:spPr>
            <p:txBody>
              <a:bodyPr>
                <a:normAutofit/>
              </a:bodyPr>
              <a:lstStyle/>
              <a:p>
                <a:pPr>
                  <a:spcAft>
                    <a:spcPts val="600"/>
                  </a:spcAft>
                </a:pPr>
                <a:r>
                  <a:rPr lang="en-US" dirty="0"/>
                  <a:t>To solve the Riemann problem: </a:t>
                </a:r>
              </a:p>
              <a:p>
                <a:pPr marL="0" indent="0">
                  <a:spcAft>
                    <a:spcPts val="600"/>
                  </a:spcAft>
                  <a:buNone/>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𝑢</m:t>
                          </m:r>
                        </m:e>
                        <m:sub>
                          <m:r>
                            <a:rPr lang="en-US" b="0" i="1" smtClean="0">
                              <a:latin typeface="Cambria Math" panose="02040503050406030204" pitchFamily="18" charset="0"/>
                            </a:rPr>
                            <m:t>𝑖</m:t>
                          </m:r>
                          <m:r>
                            <a:rPr lang="en-US" b="0" i="1" smtClean="0">
                              <a:latin typeface="Cambria Math" panose="02040503050406030204" pitchFamily="18" charset="0"/>
                            </a:rPr>
                            <m:t>+1/2</m:t>
                          </m:r>
                        </m:sub>
                      </m:sSub>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ℛ</m:t>
                      </m:r>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𝑢</m:t>
                          </m:r>
                        </m:e>
                        <m:sub>
                          <m:r>
                            <a:rPr lang="en-US" b="0" i="1" smtClean="0">
                              <a:latin typeface="Cambria Math" panose="02040503050406030204" pitchFamily="18" charset="0"/>
                            </a:rPr>
                            <m:t>𝑖</m:t>
                          </m:r>
                          <m:r>
                            <a:rPr lang="en-US" b="0" i="1" smtClean="0">
                              <a:latin typeface="Cambria Math" panose="02040503050406030204" pitchFamily="18" charset="0"/>
                            </a:rPr>
                            <m:t>+1/2,</m:t>
                          </m:r>
                          <m:r>
                            <a:rPr lang="en-US" b="0" i="1" smtClean="0">
                              <a:latin typeface="Cambria Math" panose="02040503050406030204" pitchFamily="18" charset="0"/>
                            </a:rPr>
                            <m:t>𝐿</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𝑢</m:t>
                          </m:r>
                        </m:e>
                        <m:sub>
                          <m:r>
                            <a:rPr lang="en-US" b="0" i="1" smtClean="0">
                              <a:latin typeface="Cambria Math" panose="02040503050406030204" pitchFamily="18" charset="0"/>
                            </a:rPr>
                            <m:t>𝑖</m:t>
                          </m:r>
                          <m:r>
                            <a:rPr lang="en-US" b="0" i="1" smtClean="0">
                              <a:latin typeface="Cambria Math" panose="02040503050406030204" pitchFamily="18" charset="0"/>
                            </a:rPr>
                            <m:t>+1/2,</m:t>
                          </m:r>
                          <m:r>
                            <a:rPr lang="en-US" b="0" i="1" smtClean="0">
                              <a:latin typeface="Cambria Math" panose="02040503050406030204" pitchFamily="18" charset="0"/>
                            </a:rPr>
                            <m:t>𝑅</m:t>
                          </m:r>
                        </m:sub>
                      </m:sSub>
                      <m:r>
                        <a:rPr lang="en-US" b="0" i="1" smtClean="0">
                          <a:latin typeface="Cambria Math" panose="02040503050406030204" pitchFamily="18" charset="0"/>
                        </a:rPr>
                        <m:t>)</m:t>
                      </m:r>
                    </m:oMath>
                  </m:oMathPara>
                </a14:m>
                <a:endParaRPr lang="en-US" dirty="0"/>
              </a:p>
              <a:p>
                <a:pPr>
                  <a:spcAft>
                    <a:spcPts val="600"/>
                  </a:spcAft>
                </a:pPr>
                <a:r>
                  <a:rPr lang="en-US" dirty="0"/>
                  <a:t>For that we need to determine if the flow is converging or diverging.   </a:t>
                </a:r>
              </a:p>
              <a:p>
                <a:pPr>
                  <a:spcAft>
                    <a:spcPts val="600"/>
                  </a:spcAft>
                </a:pPr>
                <a:r>
                  <a:rPr lang="en-US" dirty="0"/>
                  <a:t>For converging flow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𝑢</m:t>
                        </m:r>
                      </m:e>
                      <m:sub>
                        <m:r>
                          <a:rPr lang="en-US" i="1">
                            <a:latin typeface="Cambria Math" panose="02040503050406030204" pitchFamily="18" charset="0"/>
                          </a:rPr>
                          <m:t>𝑖</m:t>
                        </m:r>
                        <m:r>
                          <a:rPr lang="en-US" i="1">
                            <a:latin typeface="Cambria Math" panose="02040503050406030204" pitchFamily="18" charset="0"/>
                          </a:rPr>
                          <m:t>+1/2,</m:t>
                        </m:r>
                        <m:r>
                          <a:rPr lang="en-US" b="0" i="1" smtClean="0">
                            <a:latin typeface="Cambria Math" panose="02040503050406030204" pitchFamily="18" charset="0"/>
                          </a:rPr>
                          <m:t>𝐿</m:t>
                        </m:r>
                      </m:sub>
                    </m:sSub>
                    <m:r>
                      <a:rPr lang="en-US" b="0" i="1" smtClean="0">
                        <a:latin typeface="Cambria Math" panose="02040503050406030204" pitchFamily="18" charset="0"/>
                      </a:rPr>
                      <m:t>&gt;</m:t>
                    </m:r>
                    <m:sSub>
                      <m:sSubPr>
                        <m:ctrlPr>
                          <a:rPr lang="en-US" i="1">
                            <a:latin typeface="Cambria Math" panose="02040503050406030204" pitchFamily="18" charset="0"/>
                          </a:rPr>
                        </m:ctrlPr>
                      </m:sSubPr>
                      <m:e>
                        <m:r>
                          <a:rPr lang="en-US" i="1">
                            <a:latin typeface="Cambria Math" panose="02040503050406030204" pitchFamily="18" charset="0"/>
                          </a:rPr>
                          <m:t>𝑢</m:t>
                        </m:r>
                      </m:e>
                      <m:sub>
                        <m:r>
                          <a:rPr lang="en-US" i="1">
                            <a:latin typeface="Cambria Math" panose="02040503050406030204" pitchFamily="18" charset="0"/>
                          </a:rPr>
                          <m:t>𝑖</m:t>
                        </m:r>
                        <m:r>
                          <a:rPr lang="en-US" i="1">
                            <a:latin typeface="Cambria Math" panose="02040503050406030204" pitchFamily="18" charset="0"/>
                          </a:rPr>
                          <m:t>+1/2,</m:t>
                        </m:r>
                        <m:r>
                          <a:rPr lang="en-US" b="0" i="1" smtClean="0">
                            <a:latin typeface="Cambria Math" panose="02040503050406030204" pitchFamily="18" charset="0"/>
                          </a:rPr>
                          <m:t>𝑅</m:t>
                        </m:r>
                      </m:sub>
                    </m:sSub>
                  </m:oMath>
                </a14:m>
                <a:r>
                  <a:rPr lang="en-US" dirty="0"/>
                  <a:t> , we need to consider a shock.</a:t>
                </a:r>
              </a:p>
              <a:p>
                <a:pPr>
                  <a:spcAft>
                    <a:spcPts val="600"/>
                  </a:spcAft>
                </a:pPr>
                <a:r>
                  <a:rPr lang="en-US" dirty="0"/>
                  <a:t>Otherwise we consider a rarefaction and can use regular upwind.</a:t>
                </a:r>
              </a:p>
              <a:p>
                <a:pPr>
                  <a:spcAft>
                    <a:spcPts val="600"/>
                  </a:spcAft>
                </a:pPr>
                <a:r>
                  <a:rPr lang="en-US" dirty="0"/>
                  <a:t>We can therefore write:</a:t>
                </a:r>
              </a:p>
              <a:p>
                <a:pPr marL="0" indent="0">
                  <a:spcAft>
                    <a:spcPts val="600"/>
                  </a:spcAft>
                  <a:buNone/>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𝑢</m:t>
                          </m:r>
                        </m:e>
                        <m:sub>
                          <m:r>
                            <a:rPr lang="en-US" i="1">
                              <a:latin typeface="Cambria Math" panose="02040503050406030204" pitchFamily="18" charset="0"/>
                            </a:rPr>
                            <m:t>𝑖</m:t>
                          </m:r>
                          <m:r>
                            <a:rPr lang="en-US" i="1">
                              <a:latin typeface="Cambria Math" panose="02040503050406030204" pitchFamily="18" charset="0"/>
                            </a:rPr>
                            <m:t>+1/2</m:t>
                          </m:r>
                        </m:sub>
                      </m:sSub>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sSub>
                                  <m:sSubPr>
                                    <m:ctrlPr>
                                      <a:rPr lang="en-US" b="0" i="1" smtClean="0">
                                        <a:latin typeface="Cambria Math" panose="02040503050406030204" pitchFamily="18" charset="0"/>
                                      </a:rPr>
                                    </m:ctrlPr>
                                  </m:sSubPr>
                                  <m:e>
                                    <m:r>
                                      <m:rPr>
                                        <m:brk m:alnAt="7"/>
                                      </m:rPr>
                                      <a:rPr lang="en-US" b="0" i="1" smtClean="0">
                                        <a:latin typeface="Cambria Math" panose="02040503050406030204" pitchFamily="18" charset="0"/>
                                      </a:rPr>
                                      <m:t>𝑢</m:t>
                                    </m:r>
                                  </m:e>
                                  <m:sub>
                                    <m:r>
                                      <m:rPr>
                                        <m:sty m:val="p"/>
                                        <m:brk m:alnAt="7"/>
                                      </m:rPr>
                                      <a:rPr lang="en-US" b="0" i="0" smtClean="0">
                                        <a:latin typeface="Cambria Math" panose="02040503050406030204" pitchFamily="18" charset="0"/>
                                      </a:rPr>
                                      <m:t>s</m:t>
                                    </m:r>
                                    <m:r>
                                      <m:rPr>
                                        <m:sty m:val="p"/>
                                      </m:rPr>
                                      <a:rPr lang="en-US" b="0" i="0" smtClean="0">
                                        <a:latin typeface="Cambria Math" panose="02040503050406030204" pitchFamily="18" charset="0"/>
                                      </a:rPr>
                                      <m:t>hock</m:t>
                                    </m:r>
                                  </m:sub>
                                </m:sSub>
                              </m:e>
                              <m:e>
                                <m:r>
                                  <m:rPr>
                                    <m:sty m:val="p"/>
                                  </m:rPr>
                                  <a:rPr lang="en-US" b="0" i="0" smtClean="0">
                                    <a:latin typeface="Cambria Math" panose="02040503050406030204" pitchFamily="18" charset="0"/>
                                  </a:rPr>
                                  <m:t>if</m:t>
                                </m:r>
                                <m:r>
                                  <a:rPr lang="en-US" b="0" i="0" smtClean="0">
                                    <a:latin typeface="Cambria Math" panose="02040503050406030204" pitchFamily="18" charset="0"/>
                                  </a:rPr>
                                  <m:t> </m:t>
                                </m:r>
                                <m:sSub>
                                  <m:sSubPr>
                                    <m:ctrlPr>
                                      <a:rPr lang="en-US" i="1">
                                        <a:latin typeface="Cambria Math" panose="02040503050406030204" pitchFamily="18" charset="0"/>
                                      </a:rPr>
                                    </m:ctrlPr>
                                  </m:sSubPr>
                                  <m:e>
                                    <m:r>
                                      <a:rPr lang="en-US" i="1">
                                        <a:latin typeface="Cambria Math" panose="02040503050406030204" pitchFamily="18" charset="0"/>
                                      </a:rPr>
                                      <m:t>𝑢</m:t>
                                    </m:r>
                                  </m:e>
                                  <m:sub>
                                    <m:r>
                                      <a:rPr lang="en-US" i="1">
                                        <a:latin typeface="Cambria Math" panose="02040503050406030204" pitchFamily="18" charset="0"/>
                                      </a:rPr>
                                      <m:t>𝑖</m:t>
                                    </m:r>
                                    <m:r>
                                      <a:rPr lang="en-US" i="1">
                                        <a:latin typeface="Cambria Math" panose="02040503050406030204" pitchFamily="18" charset="0"/>
                                      </a:rPr>
                                      <m:t>+1/2,</m:t>
                                    </m:r>
                                    <m:r>
                                      <a:rPr lang="en-US" i="1">
                                        <a:latin typeface="Cambria Math" panose="02040503050406030204" pitchFamily="18" charset="0"/>
                                      </a:rPr>
                                      <m:t>𝐿</m:t>
                                    </m:r>
                                  </m:sub>
                                </m:sSub>
                                <m:r>
                                  <a:rPr lang="en-US" b="0" i="1" smtClean="0">
                                    <a:latin typeface="Cambria Math" panose="02040503050406030204" pitchFamily="18" charset="0"/>
                                  </a:rPr>
                                  <m:t>&gt;</m:t>
                                </m:r>
                                <m:sSub>
                                  <m:sSubPr>
                                    <m:ctrlPr>
                                      <a:rPr lang="en-US" i="1" smtClean="0">
                                        <a:latin typeface="Cambria Math" panose="02040503050406030204" pitchFamily="18" charset="0"/>
                                      </a:rPr>
                                    </m:ctrlPr>
                                  </m:sSubPr>
                                  <m:e>
                                    <m:r>
                                      <a:rPr lang="en-US" i="1">
                                        <a:latin typeface="Cambria Math" panose="02040503050406030204" pitchFamily="18" charset="0"/>
                                      </a:rPr>
                                      <m:t>𝑢</m:t>
                                    </m:r>
                                  </m:e>
                                  <m:sub>
                                    <m:r>
                                      <a:rPr lang="en-US" i="1">
                                        <a:latin typeface="Cambria Math" panose="02040503050406030204" pitchFamily="18" charset="0"/>
                                      </a:rPr>
                                      <m:t>𝑖</m:t>
                                    </m:r>
                                    <m:r>
                                      <a:rPr lang="en-US" i="1">
                                        <a:latin typeface="Cambria Math" panose="02040503050406030204" pitchFamily="18" charset="0"/>
                                      </a:rPr>
                                      <m:t>+1/2,</m:t>
                                    </m:r>
                                    <m:r>
                                      <a:rPr lang="en-US" i="1">
                                        <a:latin typeface="Cambria Math" panose="02040503050406030204" pitchFamily="18" charset="0"/>
                                      </a:rPr>
                                      <m:t>𝑅</m:t>
                                    </m:r>
                                  </m:sub>
                                </m:sSub>
                              </m:e>
                            </m:mr>
                            <m:mr>
                              <m:e>
                                <m:sSub>
                                  <m:sSubPr>
                                    <m:ctrlPr>
                                      <a:rPr lang="en-US" i="1">
                                        <a:latin typeface="Cambria Math" panose="02040503050406030204" pitchFamily="18" charset="0"/>
                                      </a:rPr>
                                    </m:ctrlPr>
                                  </m:sSubPr>
                                  <m:e>
                                    <m:r>
                                      <m:rPr>
                                        <m:brk m:alnAt="7"/>
                                      </m:rPr>
                                      <a:rPr lang="en-US" i="1">
                                        <a:latin typeface="Cambria Math" panose="02040503050406030204" pitchFamily="18" charset="0"/>
                                      </a:rPr>
                                      <m:t>𝑢</m:t>
                                    </m:r>
                                  </m:e>
                                  <m:sub>
                                    <m:r>
                                      <m:rPr>
                                        <m:sty m:val="p"/>
                                      </m:rPr>
                                      <a:rPr lang="en-US" b="0" i="0" smtClean="0">
                                        <a:latin typeface="Cambria Math" panose="02040503050406030204" pitchFamily="18" charset="0"/>
                                      </a:rPr>
                                      <m:t>rare</m:t>
                                    </m:r>
                                  </m:sub>
                                </m:sSub>
                              </m:e>
                              <m:e>
                                <m:r>
                                  <m:rPr>
                                    <m:sty m:val="p"/>
                                  </m:rPr>
                                  <a:rPr lang="en-US" b="0" i="0" smtClean="0">
                                    <a:latin typeface="Cambria Math" panose="02040503050406030204" pitchFamily="18" charset="0"/>
                                  </a:rPr>
                                  <m:t>otherwise</m:t>
                                </m:r>
                              </m:e>
                            </m:mr>
                          </m:m>
                        </m:e>
                      </m:d>
                    </m:oMath>
                  </m:oMathPara>
                </a14:m>
                <a:endParaRPr lang="en-US" dirty="0"/>
              </a:p>
              <a:p>
                <a:pPr marL="0" indent="0">
                  <a:spcAft>
                    <a:spcPts val="600"/>
                  </a:spcAft>
                  <a:buNone/>
                </a:pPr>
                <a:endParaRPr lang="en-US" dirty="0"/>
              </a:p>
            </p:txBody>
          </p:sp>
        </mc:Choice>
        <mc:Fallback xmlns="">
          <p:sp>
            <p:nvSpPr>
              <p:cNvPr id="3" name="Content Placeholder 2">
                <a:extLst>
                  <a:ext uri="{FF2B5EF4-FFF2-40B4-BE49-F238E27FC236}">
                    <a16:creationId xmlns:a16="http://schemas.microsoft.com/office/drawing/2014/main" id="{15C4FD65-F675-944D-A379-3A5FFFAEB784}"/>
                  </a:ext>
                </a:extLst>
              </p:cNvPr>
              <p:cNvSpPr>
                <a:spLocks noGrp="1" noRot="1" noChangeAspect="1" noMove="1" noResize="1" noEditPoints="1" noAdjustHandles="1" noChangeArrowheads="1" noChangeShapeType="1" noTextEdit="1"/>
              </p:cNvSpPr>
              <p:nvPr>
                <p:ph idx="1"/>
              </p:nvPr>
            </p:nvSpPr>
            <p:spPr>
              <a:xfrm>
                <a:off x="0" y="977153"/>
                <a:ext cx="7368988" cy="5880847"/>
              </a:xfrm>
              <a:blipFill>
                <a:blip r:embed="rId3"/>
                <a:stretch>
                  <a:fillRect l="-1379" t="-1724" b="-4569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5E2EA111-067E-C145-A4D5-7DA100972F8E}"/>
                  </a:ext>
                </a:extLst>
              </p:cNvPr>
              <p:cNvSpPr txBox="1"/>
              <p:nvPr/>
            </p:nvSpPr>
            <p:spPr>
              <a:xfrm>
                <a:off x="7368988" y="3681066"/>
                <a:ext cx="120513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FF0000"/>
                          </a:solidFill>
                          <a:latin typeface="Cambria Math" panose="02040503050406030204" pitchFamily="18" charset="0"/>
                        </a:rPr>
                        <m:t>𝑓</m:t>
                      </m:r>
                      <m:r>
                        <a:rPr lang="en-US" b="0" i="1" smtClean="0">
                          <a:solidFill>
                            <a:srgbClr val="FF0000"/>
                          </a:solidFill>
                          <a:latin typeface="Cambria Math" panose="02040503050406030204" pitchFamily="18" charset="0"/>
                        </a:rPr>
                        <m:t>=</m:t>
                      </m:r>
                      <m:r>
                        <a:rPr lang="en-US" b="0" i="1" smtClean="0">
                          <a:solidFill>
                            <a:srgbClr val="FF0000"/>
                          </a:solidFill>
                          <a:latin typeface="Cambria Math" panose="02040503050406030204" pitchFamily="18" charset="0"/>
                        </a:rPr>
                        <m:t>𝑓</m:t>
                      </m:r>
                      <m:r>
                        <a:rPr lang="en-US" b="0" i="1" smtClean="0">
                          <a:solidFill>
                            <a:srgbClr val="FF0000"/>
                          </a:solidFill>
                          <a:latin typeface="Cambria Math" panose="02040503050406030204" pitchFamily="18" charset="0"/>
                        </a:rPr>
                        <m:t>(</m:t>
                      </m:r>
                      <m:sSub>
                        <m:sSubPr>
                          <m:ctrlPr>
                            <a:rPr lang="en-US" b="0" i="1" smtClean="0">
                              <a:solidFill>
                                <a:srgbClr val="FF0000"/>
                              </a:solidFill>
                              <a:latin typeface="Cambria Math" panose="02040503050406030204" pitchFamily="18" charset="0"/>
                            </a:rPr>
                          </m:ctrlPr>
                        </m:sSubPr>
                        <m:e>
                          <m:r>
                            <a:rPr lang="en-US" b="0" i="1" smtClean="0">
                              <a:solidFill>
                                <a:srgbClr val="FF0000"/>
                              </a:solidFill>
                              <a:latin typeface="Cambria Math" panose="02040503050406030204" pitchFamily="18" charset="0"/>
                            </a:rPr>
                            <m:t>𝑢</m:t>
                          </m:r>
                        </m:e>
                        <m:sub>
                          <m:r>
                            <a:rPr lang="en-US" b="0" i="1" smtClean="0">
                              <a:solidFill>
                                <a:srgbClr val="FF0000"/>
                              </a:solidFill>
                              <a:latin typeface="Cambria Math" panose="02040503050406030204" pitchFamily="18" charset="0"/>
                            </a:rPr>
                            <m:t>𝑙</m:t>
                          </m:r>
                        </m:sub>
                      </m:sSub>
                      <m:r>
                        <a:rPr lang="en-US" b="0" i="1" smtClean="0">
                          <a:solidFill>
                            <a:srgbClr val="FF0000"/>
                          </a:solidFill>
                          <a:latin typeface="Cambria Math" panose="02040503050406030204" pitchFamily="18" charset="0"/>
                        </a:rPr>
                        <m:t>)</m:t>
                      </m:r>
                    </m:oMath>
                  </m:oMathPara>
                </a14:m>
                <a:endParaRPr lang="en-US" dirty="0">
                  <a:solidFill>
                    <a:srgbClr val="FF0000"/>
                  </a:solidFill>
                </a:endParaRPr>
              </a:p>
            </p:txBody>
          </p:sp>
        </mc:Choice>
        <mc:Fallback xmlns="">
          <p:sp>
            <p:nvSpPr>
              <p:cNvPr id="5" name="TextBox 4">
                <a:extLst>
                  <a:ext uri="{FF2B5EF4-FFF2-40B4-BE49-F238E27FC236}">
                    <a16:creationId xmlns:a16="http://schemas.microsoft.com/office/drawing/2014/main" id="{5E2EA111-067E-C145-A4D5-7DA100972F8E}"/>
                  </a:ext>
                </a:extLst>
              </p:cNvPr>
              <p:cNvSpPr txBox="1">
                <a:spLocks noRot="1" noChangeAspect="1" noMove="1" noResize="1" noEditPoints="1" noAdjustHandles="1" noChangeArrowheads="1" noChangeShapeType="1" noTextEdit="1"/>
              </p:cNvSpPr>
              <p:nvPr/>
            </p:nvSpPr>
            <p:spPr>
              <a:xfrm>
                <a:off x="7368988" y="3681066"/>
                <a:ext cx="1205138" cy="369332"/>
              </a:xfrm>
              <a:prstGeom prst="rect">
                <a:avLst/>
              </a:prstGeom>
              <a:blipFill>
                <a:blip r:embed="rId4"/>
                <a:stretch>
                  <a:fillRect b="-13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9C29D10D-C5ED-3B43-A6F1-26C31DEC84E9}"/>
                  </a:ext>
                </a:extLst>
              </p:cNvPr>
              <p:cNvSpPr txBox="1"/>
              <p:nvPr/>
            </p:nvSpPr>
            <p:spPr>
              <a:xfrm>
                <a:off x="10452847" y="3681066"/>
                <a:ext cx="1235723"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FF0000"/>
                          </a:solidFill>
                          <a:latin typeface="Cambria Math" panose="02040503050406030204" pitchFamily="18" charset="0"/>
                        </a:rPr>
                        <m:t>𝑓</m:t>
                      </m:r>
                      <m:r>
                        <a:rPr lang="en-US" b="0" i="1" smtClean="0">
                          <a:solidFill>
                            <a:srgbClr val="FF0000"/>
                          </a:solidFill>
                          <a:latin typeface="Cambria Math" panose="02040503050406030204" pitchFamily="18" charset="0"/>
                        </a:rPr>
                        <m:t>=</m:t>
                      </m:r>
                      <m:r>
                        <a:rPr lang="en-US" b="0" i="1" smtClean="0">
                          <a:solidFill>
                            <a:srgbClr val="FF0000"/>
                          </a:solidFill>
                          <a:latin typeface="Cambria Math" panose="02040503050406030204" pitchFamily="18" charset="0"/>
                        </a:rPr>
                        <m:t>𝑓</m:t>
                      </m:r>
                      <m:r>
                        <a:rPr lang="en-US" b="0" i="1" smtClean="0">
                          <a:solidFill>
                            <a:srgbClr val="FF0000"/>
                          </a:solidFill>
                          <a:latin typeface="Cambria Math" panose="02040503050406030204" pitchFamily="18" charset="0"/>
                        </a:rPr>
                        <m:t>(</m:t>
                      </m:r>
                      <m:sSub>
                        <m:sSubPr>
                          <m:ctrlPr>
                            <a:rPr lang="en-US" b="0" i="1" smtClean="0">
                              <a:solidFill>
                                <a:srgbClr val="FF0000"/>
                              </a:solidFill>
                              <a:latin typeface="Cambria Math" panose="02040503050406030204" pitchFamily="18" charset="0"/>
                            </a:rPr>
                          </m:ctrlPr>
                        </m:sSubPr>
                        <m:e>
                          <m:r>
                            <a:rPr lang="en-US" b="0" i="1" smtClean="0">
                              <a:solidFill>
                                <a:srgbClr val="FF0000"/>
                              </a:solidFill>
                              <a:latin typeface="Cambria Math" panose="02040503050406030204" pitchFamily="18" charset="0"/>
                            </a:rPr>
                            <m:t>𝑢</m:t>
                          </m:r>
                        </m:e>
                        <m:sub>
                          <m:r>
                            <a:rPr lang="en-US" b="0" i="1" smtClean="0">
                              <a:solidFill>
                                <a:srgbClr val="FF0000"/>
                              </a:solidFill>
                              <a:latin typeface="Cambria Math" panose="02040503050406030204" pitchFamily="18" charset="0"/>
                            </a:rPr>
                            <m:t>𝑟</m:t>
                          </m:r>
                        </m:sub>
                      </m:sSub>
                      <m:r>
                        <a:rPr lang="en-US" b="0" i="1" smtClean="0">
                          <a:solidFill>
                            <a:srgbClr val="FF0000"/>
                          </a:solidFill>
                          <a:latin typeface="Cambria Math" panose="02040503050406030204" pitchFamily="18" charset="0"/>
                        </a:rPr>
                        <m:t>)</m:t>
                      </m:r>
                    </m:oMath>
                  </m:oMathPara>
                </a14:m>
                <a:endParaRPr lang="en-US" dirty="0">
                  <a:solidFill>
                    <a:srgbClr val="FF0000"/>
                  </a:solidFill>
                </a:endParaRPr>
              </a:p>
            </p:txBody>
          </p:sp>
        </mc:Choice>
        <mc:Fallback xmlns="">
          <p:sp>
            <p:nvSpPr>
              <p:cNvPr id="6" name="TextBox 5">
                <a:extLst>
                  <a:ext uri="{FF2B5EF4-FFF2-40B4-BE49-F238E27FC236}">
                    <a16:creationId xmlns:a16="http://schemas.microsoft.com/office/drawing/2014/main" id="{9C29D10D-C5ED-3B43-A6F1-26C31DEC84E9}"/>
                  </a:ext>
                </a:extLst>
              </p:cNvPr>
              <p:cNvSpPr txBox="1">
                <a:spLocks noRot="1" noChangeAspect="1" noMove="1" noResize="1" noEditPoints="1" noAdjustHandles="1" noChangeArrowheads="1" noChangeShapeType="1" noTextEdit="1"/>
              </p:cNvSpPr>
              <p:nvPr/>
            </p:nvSpPr>
            <p:spPr>
              <a:xfrm>
                <a:off x="10452847" y="3681066"/>
                <a:ext cx="1235723" cy="369332"/>
              </a:xfrm>
              <a:prstGeom prst="rect">
                <a:avLst/>
              </a:prstGeom>
              <a:blipFill>
                <a:blip r:embed="rId5"/>
                <a:stretch>
                  <a:fillRect b="-13333"/>
                </a:stretch>
              </a:blipFill>
            </p:spPr>
            <p:txBody>
              <a:bodyPr/>
              <a:lstStyle/>
              <a:p>
                <a:r>
                  <a:rPr lang="en-US">
                    <a:noFill/>
                  </a:rPr>
                  <a:t> </a:t>
                </a:r>
              </a:p>
            </p:txBody>
          </p:sp>
        </mc:Fallback>
      </mc:AlternateContent>
      <p:sp>
        <p:nvSpPr>
          <p:cNvPr id="7" name="Rectangle 6">
            <a:extLst>
              <a:ext uri="{FF2B5EF4-FFF2-40B4-BE49-F238E27FC236}">
                <a16:creationId xmlns:a16="http://schemas.microsoft.com/office/drawing/2014/main" id="{45D92AC0-BAA3-6445-81E1-EC443FC948D4}"/>
              </a:ext>
            </a:extLst>
          </p:cNvPr>
          <p:cNvSpPr/>
          <p:nvPr/>
        </p:nvSpPr>
        <p:spPr>
          <a:xfrm>
            <a:off x="7293777" y="4050398"/>
            <a:ext cx="263470" cy="39609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A9C48469-D85C-8A45-95BC-9634410C6795}"/>
              </a:ext>
            </a:extLst>
          </p:cNvPr>
          <p:cNvSpPr/>
          <p:nvPr/>
        </p:nvSpPr>
        <p:spPr>
          <a:xfrm>
            <a:off x="11353800" y="4050398"/>
            <a:ext cx="838200" cy="31958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82597458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5C4FD65-F675-944D-A379-3A5FFFAEB784}"/>
                  </a:ext>
                </a:extLst>
              </p:cNvPr>
              <p:cNvSpPr>
                <a:spLocks noGrp="1"/>
              </p:cNvSpPr>
              <p:nvPr>
                <p:ph idx="1"/>
              </p:nvPr>
            </p:nvSpPr>
            <p:spPr>
              <a:xfrm>
                <a:off x="25998" y="1325563"/>
                <a:ext cx="8088169" cy="5882061"/>
              </a:xfrm>
            </p:spPr>
            <p:txBody>
              <a:bodyPr>
                <a:normAutofit lnSpcReduction="10000"/>
              </a:bodyPr>
              <a:lstStyle/>
              <a:p>
                <a:r>
                  <a:rPr lang="en-US" dirty="0"/>
                  <a:t>The algorithm:</a:t>
                </a:r>
              </a:p>
              <a:p>
                <a:pPr marL="0" indent="0">
                  <a:buNone/>
                </a:pPr>
                <a14:m>
                  <m:oMath xmlns:m="http://schemas.openxmlformats.org/officeDocument/2006/math">
                    <m:r>
                      <m:rPr>
                        <m:sty m:val="p"/>
                      </m:rPr>
                      <a:rPr lang="en-US" b="0" i="0" smtClean="0">
                        <a:latin typeface="Cambria Math" panose="02040503050406030204" pitchFamily="18" charset="0"/>
                      </a:rPr>
                      <m:t>if</m:t>
                    </m:r>
                    <m:sSub>
                      <m:sSubPr>
                        <m:ctrlPr>
                          <a:rPr lang="en-US" b="0" i="1" smtClean="0">
                            <a:latin typeface="Cambria Math" panose="02040503050406030204" pitchFamily="18" charset="0"/>
                          </a:rPr>
                        </m:ctrlPr>
                      </m:sSubPr>
                      <m:e>
                        <m:r>
                          <a:rPr lang="en-US" b="0" i="1" smtClean="0">
                            <a:latin typeface="Cambria Math" panose="02040503050406030204" pitchFamily="18" charset="0"/>
                          </a:rPr>
                          <m:t>  </m:t>
                        </m:r>
                        <m:r>
                          <a:rPr lang="en-US" b="0" i="1" smtClean="0">
                            <a:latin typeface="Cambria Math" panose="02040503050406030204" pitchFamily="18" charset="0"/>
                          </a:rPr>
                          <m:t>𝑢</m:t>
                        </m:r>
                      </m:e>
                      <m:sub>
                        <m:r>
                          <a:rPr lang="en-US" b="0" i="1" smtClean="0">
                            <a:latin typeface="Cambria Math" panose="02040503050406030204" pitchFamily="18" charset="0"/>
                          </a:rPr>
                          <m:t>𝑙</m:t>
                        </m:r>
                        <m:r>
                          <a:rPr lang="en-US" b="0" i="1" smtClean="0">
                            <a:latin typeface="Cambria Math" panose="02040503050406030204" pitchFamily="18" charset="0"/>
                          </a:rPr>
                          <m:t>,</m:t>
                        </m:r>
                        <m:r>
                          <a:rPr lang="en-US" b="0" i="1" smtClean="0">
                            <a:latin typeface="Cambria Math" panose="02040503050406030204" pitchFamily="18" charset="0"/>
                          </a:rPr>
                          <m:t>𝐼𝑛𝑡</m:t>
                        </m:r>
                      </m:sub>
                    </m:sSub>
                    <m:r>
                      <a:rPr lang="en-US" b="0" i="1" smtClean="0">
                        <a:latin typeface="Cambria Math" panose="02040503050406030204" pitchFamily="18" charset="0"/>
                      </a:rPr>
                      <m:t>&gt;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𝑢</m:t>
                        </m:r>
                      </m:e>
                      <m:sub>
                        <m:r>
                          <a:rPr lang="en-US" b="0" i="1" smtClean="0">
                            <a:latin typeface="Cambria Math" panose="02040503050406030204" pitchFamily="18" charset="0"/>
                          </a:rPr>
                          <m:t>𝑟</m:t>
                        </m:r>
                        <m:r>
                          <a:rPr lang="en-US" b="0" i="1" smtClean="0">
                            <a:latin typeface="Cambria Math" panose="02040503050406030204" pitchFamily="18" charset="0"/>
                          </a:rPr>
                          <m:t>,</m:t>
                        </m:r>
                        <m:r>
                          <a:rPr lang="en-US" b="0" i="1" smtClean="0">
                            <a:latin typeface="Cambria Math" panose="02040503050406030204" pitchFamily="18" charset="0"/>
                          </a:rPr>
                          <m:t>𝐼𝑛𝑡</m:t>
                        </m:r>
                      </m:sub>
                    </m:sSub>
                    <m:r>
                      <a:rPr lang="en-US" b="0" i="1" smtClean="0">
                        <a:latin typeface="Cambria Math" panose="02040503050406030204" pitchFamily="18" charset="0"/>
                      </a:rPr>
                      <m:t>: </m:t>
                    </m:r>
                    <m:sSub>
                      <m:sSubPr>
                        <m:ctrlPr>
                          <a:rPr lang="en-US" i="1">
                            <a:latin typeface="Cambria Math" panose="02040503050406030204" pitchFamily="18" charset="0"/>
                          </a:rPr>
                        </m:ctrlPr>
                      </m:sSubPr>
                      <m:e>
                        <m:r>
                          <m:rPr>
                            <m:brk m:alnAt="7"/>
                          </m:rPr>
                          <a:rPr lang="en-US" i="1">
                            <a:latin typeface="Cambria Math" panose="02040503050406030204" pitchFamily="18" charset="0"/>
                          </a:rPr>
                          <m:t>𝑢</m:t>
                        </m:r>
                      </m:e>
                      <m:sub>
                        <m:r>
                          <m:rPr>
                            <m:sty m:val="p"/>
                            <m:brk m:alnAt="7"/>
                          </m:rPr>
                          <a:rPr lang="en-US">
                            <a:latin typeface="Cambria Math" panose="02040503050406030204" pitchFamily="18" charset="0"/>
                          </a:rPr>
                          <m:t>s</m:t>
                        </m:r>
                        <m:r>
                          <m:rPr>
                            <m:sty m:val="p"/>
                          </m:rPr>
                          <a:rPr lang="en-US">
                            <a:latin typeface="Cambria Math" panose="02040503050406030204" pitchFamily="18" charset="0"/>
                          </a:rPr>
                          <m:t>hock</m:t>
                        </m:r>
                      </m:sub>
                    </m:sSub>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eqArr>
                          <m:eqArrPr>
                            <m:ctrlPr>
                              <a:rPr lang="en-US" b="0" i="1" smtClean="0">
                                <a:latin typeface="Cambria Math" panose="02040503050406030204" pitchFamily="18" charset="0"/>
                              </a:rPr>
                            </m:ctrlPr>
                          </m:eqArr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𝑢</m:t>
                                </m:r>
                              </m:e>
                              <m:sub>
                                <m:r>
                                  <a:rPr lang="en-US" b="0" i="1" smtClean="0">
                                    <a:latin typeface="Cambria Math" panose="02040503050406030204" pitchFamily="18" charset="0"/>
                                  </a:rPr>
                                  <m:t>𝑙</m:t>
                                </m:r>
                                <m:r>
                                  <a:rPr lang="en-US" b="0" i="1" smtClean="0">
                                    <a:latin typeface="Cambria Math" panose="02040503050406030204" pitchFamily="18" charset="0"/>
                                  </a:rPr>
                                  <m:t>,</m:t>
                                </m:r>
                                <m:r>
                                  <a:rPr lang="en-US" b="0" i="1" smtClean="0">
                                    <a:latin typeface="Cambria Math" panose="02040503050406030204" pitchFamily="18" charset="0"/>
                                  </a:rPr>
                                  <m:t>𝐼𝑛𝑡</m:t>
                                </m:r>
                              </m:sub>
                            </m:sSub>
                            <m:r>
                              <a:rPr lang="en-US" b="0" i="0" smtClean="0">
                                <a:latin typeface="Cambria Math" panose="02040503050406030204" pitchFamily="18" charset="0"/>
                              </a:rPr>
                              <m:t>   </m:t>
                            </m:r>
                            <m:r>
                              <m:rPr>
                                <m:sty m:val="p"/>
                              </m:rPr>
                              <a:rPr lang="en-US" b="0" i="0" smtClean="0">
                                <a:latin typeface="Cambria Math" panose="02040503050406030204" pitchFamily="18" charset="0"/>
                              </a:rPr>
                              <m:t>if</m:t>
                            </m:r>
                            <m:r>
                              <a:rPr lang="en-US" b="0" i="0" smtClean="0">
                                <a:latin typeface="Cambria Math" panose="02040503050406030204" pitchFamily="18" charset="0"/>
                              </a:rPr>
                              <m:t> </m:t>
                            </m:r>
                            <m:r>
                              <m:rPr>
                                <m:sty m:val="p"/>
                              </m:rPr>
                              <a:rPr lang="en-US" b="0" i="0" smtClean="0">
                                <a:latin typeface="Cambria Math" panose="02040503050406030204" pitchFamily="18" charset="0"/>
                              </a:rPr>
                              <m:t>S</m:t>
                            </m:r>
                            <m:r>
                              <a:rPr lang="en-US" b="0" i="0" smtClean="0">
                                <a:latin typeface="Cambria Math" panose="02040503050406030204" pitchFamily="18" charset="0"/>
                              </a:rPr>
                              <m:t>&gt;0</m:t>
                            </m:r>
                          </m:e>
                          <m:e>
                            <m:sSub>
                              <m:sSubPr>
                                <m:ctrlPr>
                                  <a:rPr lang="en-US" b="0" i="1" smtClean="0">
                                    <a:latin typeface="Cambria Math" panose="02040503050406030204" pitchFamily="18" charset="0"/>
                                  </a:rPr>
                                </m:ctrlPr>
                              </m:sSubPr>
                              <m:e>
                                <m:r>
                                  <a:rPr lang="en-US" b="0" i="1" smtClean="0">
                                    <a:latin typeface="Cambria Math" panose="02040503050406030204" pitchFamily="18" charset="0"/>
                                  </a:rPr>
                                  <m:t>𝑢</m:t>
                                </m:r>
                              </m:e>
                              <m:sub>
                                <m:r>
                                  <a:rPr lang="en-US" b="0" i="1" smtClean="0">
                                    <a:latin typeface="Cambria Math" panose="02040503050406030204" pitchFamily="18" charset="0"/>
                                  </a:rPr>
                                  <m:t>𝑟</m:t>
                                </m:r>
                                <m:r>
                                  <a:rPr lang="en-US" b="0" i="1" smtClean="0">
                                    <a:latin typeface="Cambria Math" panose="02040503050406030204" pitchFamily="18" charset="0"/>
                                  </a:rPr>
                                  <m:t>,</m:t>
                                </m:r>
                                <m:r>
                                  <a:rPr lang="en-US" b="0" i="1" smtClean="0">
                                    <a:latin typeface="Cambria Math" panose="02040503050406030204" pitchFamily="18" charset="0"/>
                                  </a:rPr>
                                  <m:t>𝐼𝑛𝑡</m:t>
                                </m:r>
                              </m:sub>
                            </m:sSub>
                            <m:r>
                              <a:rPr lang="en-US" b="0" i="1" smtClean="0">
                                <a:latin typeface="Cambria Math" panose="02040503050406030204" pitchFamily="18" charset="0"/>
                              </a:rPr>
                              <m:t>   </m:t>
                            </m:r>
                            <m:r>
                              <m:rPr>
                                <m:sty m:val="p"/>
                              </m:rPr>
                              <a:rPr lang="en-US" b="0" i="0" smtClean="0">
                                <a:latin typeface="Cambria Math" panose="02040503050406030204" pitchFamily="18" charset="0"/>
                              </a:rPr>
                              <m:t>if</m:t>
                            </m:r>
                            <m:r>
                              <a:rPr lang="en-US" b="0" i="0" smtClean="0">
                                <a:latin typeface="Cambria Math" panose="02040503050406030204" pitchFamily="18" charset="0"/>
                              </a:rPr>
                              <m:t> </m:t>
                            </m:r>
                            <m:r>
                              <m:rPr>
                                <m:sty m:val="p"/>
                              </m:rPr>
                              <a:rPr lang="en-US" b="0" i="0" smtClean="0">
                                <a:latin typeface="Cambria Math" panose="02040503050406030204" pitchFamily="18" charset="0"/>
                              </a:rPr>
                              <m:t>S</m:t>
                            </m:r>
                            <m:r>
                              <a:rPr lang="en-US" b="0" i="0" smtClean="0">
                                <a:latin typeface="Cambria Math" panose="02040503050406030204" pitchFamily="18" charset="0"/>
                              </a:rPr>
                              <m:t>&lt;0</m:t>
                            </m:r>
                          </m:e>
                          <m:e>
                            <m:r>
                              <a:rPr lang="en-US" b="0" i="0" smtClean="0">
                                <a:latin typeface="Cambria Math" panose="02040503050406030204" pitchFamily="18" charset="0"/>
                              </a:rPr>
                              <m:t>0   </m:t>
                            </m:r>
                            <m:r>
                              <m:rPr>
                                <m:sty m:val="p"/>
                              </m:rPr>
                              <a:rPr lang="en-US" b="0" i="0" smtClean="0">
                                <a:latin typeface="Cambria Math" panose="02040503050406030204" pitchFamily="18" charset="0"/>
                              </a:rPr>
                              <m:t>otherwise</m:t>
                            </m:r>
                          </m:e>
                        </m:eqArr>
                      </m:e>
                    </m:d>
                  </m:oMath>
                </a14:m>
                <a:r>
                  <a:rPr lang="en-US" dirty="0"/>
                  <a:t> </a:t>
                </a:r>
              </a:p>
              <a:p>
                <a:pPr marL="0" indent="0">
                  <a:buNone/>
                </a:pPr>
                <a:endParaRPr lang="en-US" dirty="0"/>
              </a:p>
              <a:p>
                <a:pPr marL="0" indent="0">
                  <a:buNone/>
                </a:pPr>
                <a14:m>
                  <m:oMath xmlns:m="http://schemas.openxmlformats.org/officeDocument/2006/math">
                    <m:r>
                      <m:rPr>
                        <m:sty m:val="p"/>
                      </m:rPr>
                      <a:rPr lang="en-US" b="0" i="0" smtClean="0">
                        <a:latin typeface="Cambria Math" panose="02040503050406030204" pitchFamily="18" charset="0"/>
                      </a:rPr>
                      <m:t>otherwise</m:t>
                    </m:r>
                    <m:r>
                      <a:rPr lang="en-US" b="0" i="1" smtClean="0">
                        <a:latin typeface="Cambria Math" panose="02040503050406030204" pitchFamily="18" charset="0"/>
                      </a:rPr>
                      <m:t>:        </m:t>
                    </m:r>
                    <m:sSub>
                      <m:sSubPr>
                        <m:ctrlPr>
                          <a:rPr lang="en-US" i="1">
                            <a:latin typeface="Cambria Math" panose="02040503050406030204" pitchFamily="18" charset="0"/>
                          </a:rPr>
                        </m:ctrlPr>
                      </m:sSubPr>
                      <m:e>
                        <m:r>
                          <m:rPr>
                            <m:brk m:alnAt="7"/>
                          </m:rPr>
                          <a:rPr lang="en-US" i="1">
                            <a:latin typeface="Cambria Math" panose="02040503050406030204" pitchFamily="18" charset="0"/>
                          </a:rPr>
                          <m:t>𝑢</m:t>
                        </m:r>
                      </m:e>
                      <m:sub>
                        <m:r>
                          <m:rPr>
                            <m:sty m:val="p"/>
                          </m:rPr>
                          <a:rPr lang="en-US">
                            <a:latin typeface="Cambria Math" panose="02040503050406030204" pitchFamily="18" charset="0"/>
                          </a:rPr>
                          <m:t>rare</m:t>
                        </m:r>
                      </m:sub>
                    </m:sSub>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eqArr>
                          <m:eqArrPr>
                            <m:ctrlPr>
                              <a:rPr lang="en-US" b="0" i="1" smtClean="0">
                                <a:latin typeface="Cambria Math" panose="02040503050406030204" pitchFamily="18" charset="0"/>
                              </a:rPr>
                            </m:ctrlPr>
                          </m:eqArr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𝑢</m:t>
                                </m:r>
                              </m:e>
                              <m:sub>
                                <m:r>
                                  <a:rPr lang="en-US" b="0" i="1" smtClean="0">
                                    <a:latin typeface="Cambria Math" panose="02040503050406030204" pitchFamily="18" charset="0"/>
                                  </a:rPr>
                                  <m:t>𝑙</m:t>
                                </m:r>
                                <m:r>
                                  <a:rPr lang="en-US" b="0" i="1" smtClean="0">
                                    <a:latin typeface="Cambria Math" panose="02040503050406030204" pitchFamily="18" charset="0"/>
                                  </a:rPr>
                                  <m:t>,</m:t>
                                </m:r>
                                <m:r>
                                  <a:rPr lang="en-US" b="0" i="1" smtClean="0">
                                    <a:latin typeface="Cambria Math" panose="02040503050406030204" pitchFamily="18" charset="0"/>
                                  </a:rPr>
                                  <m:t>𝐼𝑛𝑡</m:t>
                                </m:r>
                              </m:sub>
                            </m:sSub>
                            <m:r>
                              <a:rPr lang="en-US" b="0" i="0" smtClean="0">
                                <a:latin typeface="Cambria Math" panose="02040503050406030204" pitchFamily="18" charset="0"/>
                              </a:rPr>
                              <m:t>   </m:t>
                            </m:r>
                            <m:r>
                              <m:rPr>
                                <m:sty m:val="p"/>
                              </m:rPr>
                              <a:rPr lang="en-US" b="0" i="0" smtClean="0">
                                <a:latin typeface="Cambria Math" panose="02040503050406030204" pitchFamily="18" charset="0"/>
                              </a:rPr>
                              <m:t>if</m:t>
                            </m:r>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𝑢</m:t>
                                </m:r>
                              </m:e>
                              <m:sub>
                                <m:r>
                                  <a:rPr lang="en-US" b="0" i="1" smtClean="0">
                                    <a:latin typeface="Cambria Math" panose="02040503050406030204" pitchFamily="18" charset="0"/>
                                  </a:rPr>
                                  <m:t>𝑙</m:t>
                                </m:r>
                                <m:r>
                                  <a:rPr lang="en-US" b="0" i="1" smtClean="0">
                                    <a:latin typeface="Cambria Math" panose="02040503050406030204" pitchFamily="18" charset="0"/>
                                  </a:rPr>
                                  <m:t>,</m:t>
                                </m:r>
                                <m:r>
                                  <a:rPr lang="en-US" b="0" i="1" smtClean="0">
                                    <a:latin typeface="Cambria Math" panose="02040503050406030204" pitchFamily="18" charset="0"/>
                                  </a:rPr>
                                  <m:t>𝐼𝑛𝑡</m:t>
                                </m:r>
                              </m:sub>
                            </m:sSub>
                            <m:r>
                              <a:rPr lang="en-US" b="0" i="0" smtClean="0">
                                <a:latin typeface="Cambria Math" panose="02040503050406030204" pitchFamily="18" charset="0"/>
                              </a:rPr>
                              <m:t>&gt;0</m:t>
                            </m:r>
                          </m:e>
                          <m:e>
                            <m:sSub>
                              <m:sSubPr>
                                <m:ctrlPr>
                                  <a:rPr lang="en-US" b="0" i="1" smtClean="0">
                                    <a:latin typeface="Cambria Math" panose="02040503050406030204" pitchFamily="18" charset="0"/>
                                  </a:rPr>
                                </m:ctrlPr>
                              </m:sSubPr>
                              <m:e>
                                <m:r>
                                  <a:rPr lang="en-US" b="0" i="1" smtClean="0">
                                    <a:latin typeface="Cambria Math" panose="02040503050406030204" pitchFamily="18" charset="0"/>
                                  </a:rPr>
                                  <m:t>𝑢</m:t>
                                </m:r>
                              </m:e>
                              <m:sub>
                                <m:r>
                                  <a:rPr lang="en-US" b="0" i="1" smtClean="0">
                                    <a:latin typeface="Cambria Math" panose="02040503050406030204" pitchFamily="18" charset="0"/>
                                  </a:rPr>
                                  <m:t>𝑟</m:t>
                                </m:r>
                                <m:r>
                                  <a:rPr lang="en-US" b="0" i="1" smtClean="0">
                                    <a:latin typeface="Cambria Math" panose="02040503050406030204" pitchFamily="18" charset="0"/>
                                  </a:rPr>
                                  <m:t>,</m:t>
                                </m:r>
                                <m:r>
                                  <a:rPr lang="en-US" b="0" i="1" smtClean="0">
                                    <a:latin typeface="Cambria Math" panose="02040503050406030204" pitchFamily="18" charset="0"/>
                                  </a:rPr>
                                  <m:t>𝐼𝑛𝑡</m:t>
                                </m:r>
                              </m:sub>
                            </m:sSub>
                            <m:r>
                              <a:rPr lang="en-US" b="0" i="1" smtClean="0">
                                <a:latin typeface="Cambria Math" panose="02040503050406030204" pitchFamily="18" charset="0"/>
                              </a:rPr>
                              <m:t>   </m:t>
                            </m:r>
                            <m:r>
                              <m:rPr>
                                <m:sty m:val="p"/>
                              </m:rPr>
                              <a:rPr lang="en-US" b="0" i="0" smtClean="0">
                                <a:latin typeface="Cambria Math" panose="02040503050406030204" pitchFamily="18" charset="0"/>
                              </a:rPr>
                              <m:t>if</m:t>
                            </m:r>
                            <m:r>
                              <a:rPr lang="en-US" b="0" i="0"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𝑢</m:t>
                                </m:r>
                              </m:e>
                              <m:sub>
                                <m:r>
                                  <a:rPr lang="en-US" b="0" i="1" smtClean="0">
                                    <a:latin typeface="Cambria Math" panose="02040503050406030204" pitchFamily="18" charset="0"/>
                                  </a:rPr>
                                  <m:t>𝑟</m:t>
                                </m:r>
                                <m:r>
                                  <a:rPr lang="en-US" b="0" i="1" smtClean="0">
                                    <a:latin typeface="Cambria Math" panose="02040503050406030204" pitchFamily="18" charset="0"/>
                                  </a:rPr>
                                  <m:t>,</m:t>
                                </m:r>
                                <m:r>
                                  <a:rPr lang="en-US" b="0" i="1" smtClean="0">
                                    <a:latin typeface="Cambria Math" panose="02040503050406030204" pitchFamily="18" charset="0"/>
                                  </a:rPr>
                                  <m:t>𝐼𝑛𝑡</m:t>
                                </m:r>
                              </m:sub>
                            </m:sSub>
                            <m:r>
                              <a:rPr lang="en-US" b="0" i="0" smtClean="0">
                                <a:latin typeface="Cambria Math" panose="02040503050406030204" pitchFamily="18" charset="0"/>
                              </a:rPr>
                              <m:t>&lt;0</m:t>
                            </m:r>
                          </m:e>
                          <m:e>
                            <m:r>
                              <a:rPr lang="en-US" b="0" i="0" smtClean="0">
                                <a:latin typeface="Cambria Math" panose="02040503050406030204" pitchFamily="18" charset="0"/>
                              </a:rPr>
                              <m:t>0   </m:t>
                            </m:r>
                            <m:r>
                              <m:rPr>
                                <m:sty m:val="p"/>
                              </m:rPr>
                              <a:rPr lang="en-US" b="0" i="0" smtClean="0">
                                <a:latin typeface="Cambria Math" panose="02040503050406030204" pitchFamily="18" charset="0"/>
                              </a:rPr>
                              <m:t>otherwise</m:t>
                            </m:r>
                          </m:e>
                        </m:eqArr>
                      </m:e>
                    </m:d>
                  </m:oMath>
                </a14:m>
                <a:r>
                  <a:rPr lang="en-US" dirty="0"/>
                  <a:t> </a:t>
                </a:r>
              </a:p>
              <a:p>
                <a:pPr marL="0" indent="0">
                  <a:buNone/>
                </a:pPr>
                <a:r>
                  <a:rPr lang="en-US" dirty="0"/>
                  <a:t>   where </a:t>
                </a:r>
                <a:endParaRPr lang="he-IL" b="0" i="1" dirty="0">
                  <a:latin typeface="Cambria Math" panose="02040503050406030204" pitchFamily="18" charset="0"/>
                </a:endParaRPr>
              </a:p>
              <a:p>
                <a:pPr marL="0" indent="0">
                  <a:buNone/>
                </a:pPr>
                <a14:m>
                  <m:oMath xmlns:m="http://schemas.openxmlformats.org/officeDocument/2006/math">
                    <m:sSub>
                      <m:sSubPr>
                        <m:ctrlPr>
                          <a:rPr lang="en-US" b="0" i="1" smtClean="0">
                            <a:latin typeface="Cambria Math" panose="02040503050406030204" pitchFamily="18" charset="0"/>
                          </a:rPr>
                        </m:ctrlPr>
                      </m:sSub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𝑢</m:t>
                            </m:r>
                          </m:e>
                          <m:sub>
                            <m:r>
                              <a:rPr lang="en-US" b="0" i="1" smtClean="0">
                                <a:latin typeface="Cambria Math" panose="02040503050406030204" pitchFamily="18" charset="0"/>
                              </a:rPr>
                              <m:t>𝑙</m:t>
                            </m:r>
                            <m:r>
                              <a:rPr lang="en-US" b="0" i="1" smtClean="0">
                                <a:latin typeface="Cambria Math" panose="02040503050406030204" pitchFamily="18" charset="0"/>
                              </a:rPr>
                              <m:t>,</m:t>
                            </m:r>
                            <m:r>
                              <a:rPr lang="en-US" b="0" i="1" smtClean="0">
                                <a:latin typeface="Cambria Math" panose="02040503050406030204" pitchFamily="18" charset="0"/>
                              </a:rPr>
                              <m:t>𝐼𝑛𝑡</m:t>
                            </m:r>
                          </m:sub>
                        </m:sSub>
                        <m:r>
                          <a:rPr lang="en-US" b="0" i="1" smtClean="0">
                            <a:latin typeface="Cambria Math" panose="02040503050406030204" pitchFamily="18" charset="0"/>
                          </a:rPr>
                          <m:t>=</m:t>
                        </m:r>
                        <m:r>
                          <a:rPr lang="en-US" b="0" i="1" smtClean="0">
                            <a:latin typeface="Cambria Math" panose="02040503050406030204" pitchFamily="18" charset="0"/>
                          </a:rPr>
                          <m:t>𝑢</m:t>
                        </m:r>
                      </m:e>
                      <m:sub>
                        <m:r>
                          <a:rPr lang="en-US" b="0" i="1" smtClean="0">
                            <a:latin typeface="Cambria Math" panose="02040503050406030204" pitchFamily="18" charset="0"/>
                          </a:rPr>
                          <m:t>𝑖</m:t>
                        </m:r>
                        <m:r>
                          <a:rPr lang="en-US" b="0" i="1" smtClean="0">
                            <a:latin typeface="Cambria Math" panose="02040503050406030204" pitchFamily="18" charset="0"/>
                          </a:rPr>
                          <m:t>+1/2,</m:t>
                        </m:r>
                        <m:r>
                          <a:rPr lang="en-US" b="0" i="1" smtClean="0">
                            <a:latin typeface="Cambria Math" panose="02040503050406030204" pitchFamily="18" charset="0"/>
                          </a:rPr>
                          <m:t>𝐿</m:t>
                        </m:r>
                      </m:sub>
                    </m:sSub>
                    <m:r>
                      <a:rPr lang="en-US" b="0" i="1" smtClean="0">
                        <a:latin typeface="Cambria Math" panose="02040503050406030204" pitchFamily="18" charset="0"/>
                      </a:rPr>
                      <m:t>=</m:t>
                    </m:r>
                    <m:r>
                      <a:rPr lang="en-US" b="0" i="1" smtClean="0">
                        <a:latin typeface="Cambria Math" panose="02040503050406030204" pitchFamily="18" charset="0"/>
                      </a:rPr>
                      <m:t>𝑢</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𝑖</m:t>
                            </m:r>
                          </m:sub>
                        </m:sSub>
                        <m:r>
                          <a:rPr lang="en-US" b="0" i="1" smtClean="0">
                            <a:latin typeface="Cambria Math" panose="02040503050406030204" pitchFamily="18" charset="0"/>
                          </a:rPr>
                          <m:t>+</m:t>
                        </m:r>
                        <m:r>
                          <m:rPr>
                            <m:sty m:val="p"/>
                          </m:rPr>
                          <a:rPr lang="en-US" b="0" i="0" smtClean="0">
                            <a:latin typeface="Cambria Math" panose="02040503050406030204" pitchFamily="18" charset="0"/>
                          </a:rPr>
                          <m:t>Δ</m:t>
                        </m:r>
                        <m:r>
                          <a:rPr lang="en-US" b="0" i="1" smtClean="0">
                            <a:latin typeface="Cambria Math" panose="02040503050406030204" pitchFamily="18" charset="0"/>
                          </a:rPr>
                          <m:t>𝑥</m:t>
                        </m:r>
                        <m:r>
                          <a:rPr lang="en-US" b="0" i="1" smtClean="0">
                            <a:latin typeface="Cambria Math" panose="02040503050406030204" pitchFamily="18" charset="0"/>
                          </a:rPr>
                          <m:t>/2</m:t>
                        </m:r>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𝑢</m:t>
                        </m:r>
                      </m:e>
                      <m:sub>
                        <m:r>
                          <a:rPr lang="en-US" b="0" i="1" smtClean="0">
                            <a:latin typeface="Cambria Math" panose="02040503050406030204" pitchFamily="18" charset="0"/>
                          </a:rPr>
                          <m:t>𝑖</m:t>
                        </m:r>
                      </m:sub>
                    </m:sSub>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2</m:t>
                        </m:r>
                      </m:den>
                    </m:f>
                    <m:r>
                      <m:rPr>
                        <m:sty m:val="p"/>
                      </m:rPr>
                      <a:rPr lang="en-US" b="0" i="0" smtClean="0">
                        <a:latin typeface="Cambria Math" panose="02040503050406030204" pitchFamily="18" charset="0"/>
                      </a:rPr>
                      <m:t>Δ</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𝑢</m:t>
                        </m:r>
                      </m:e>
                      <m:sub>
                        <m:r>
                          <a:rPr lang="en-US" b="0" i="1" smtClean="0">
                            <a:latin typeface="Cambria Math" panose="02040503050406030204" pitchFamily="18" charset="0"/>
                          </a:rPr>
                          <m:t>𝑖</m:t>
                        </m:r>
                      </m:sub>
                    </m:sSub>
                  </m:oMath>
                </a14:m>
                <a:r>
                  <a:rPr lang="en-US" b="0" dirty="0"/>
                  <a:t> </a:t>
                </a:r>
              </a:p>
              <a:p>
                <a:pPr marL="0" indent="0">
                  <a:spcAft>
                    <a:spcPts val="600"/>
                  </a:spcAft>
                  <a:buNone/>
                </a:pP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𝑢</m:t>
                        </m:r>
                      </m:e>
                      <m:sub>
                        <m:r>
                          <a:rPr lang="en-US" b="0" i="1" smtClean="0">
                            <a:latin typeface="Cambria Math" panose="02040503050406030204" pitchFamily="18" charset="0"/>
                          </a:rPr>
                          <m:t>𝑟</m:t>
                        </m:r>
                        <m:r>
                          <a:rPr lang="en-US" b="0" i="1" smtClean="0">
                            <a:latin typeface="Cambria Math" panose="02040503050406030204" pitchFamily="18" charset="0"/>
                          </a:rPr>
                          <m:t>,</m:t>
                        </m:r>
                        <m:r>
                          <a:rPr lang="en-US" b="0" i="1" smtClean="0">
                            <a:latin typeface="Cambria Math" panose="02040503050406030204" pitchFamily="18" charset="0"/>
                          </a:rPr>
                          <m:t>𝐼𝑛𝑡</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𝑢</m:t>
                        </m:r>
                      </m:e>
                      <m:sub>
                        <m:r>
                          <a:rPr lang="en-US" b="0" i="1" smtClean="0">
                            <a:latin typeface="Cambria Math" panose="02040503050406030204" pitchFamily="18" charset="0"/>
                          </a:rPr>
                          <m:t>𝑖</m:t>
                        </m:r>
                        <m:r>
                          <a:rPr lang="en-US" b="0" i="1" smtClean="0">
                            <a:latin typeface="Cambria Math" panose="02040503050406030204" pitchFamily="18" charset="0"/>
                          </a:rPr>
                          <m:t>+1/2,</m:t>
                        </m:r>
                        <m:r>
                          <a:rPr lang="en-US" b="0" i="1" smtClean="0">
                            <a:latin typeface="Cambria Math" panose="02040503050406030204" pitchFamily="18" charset="0"/>
                          </a:rPr>
                          <m:t>𝑅</m:t>
                        </m:r>
                      </m:sub>
                    </m:sSub>
                    <m:r>
                      <a:rPr lang="en-US" b="0" i="1" smtClean="0">
                        <a:latin typeface="Cambria Math" panose="02040503050406030204" pitchFamily="18" charset="0"/>
                      </a:rPr>
                      <m:t>=</m:t>
                    </m:r>
                    <m:r>
                      <a:rPr lang="en-US" b="0" i="1" smtClean="0">
                        <a:latin typeface="Cambria Math" panose="02040503050406030204" pitchFamily="18" charset="0"/>
                      </a:rPr>
                      <m:t>𝑢</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𝑖</m:t>
                            </m:r>
                            <m:r>
                              <a:rPr lang="en-US" b="0" i="1" smtClean="0">
                                <a:latin typeface="Cambria Math" panose="02040503050406030204" pitchFamily="18" charset="0"/>
                              </a:rPr>
                              <m:t>+1</m:t>
                            </m:r>
                          </m:sub>
                        </m:sSub>
                        <m:r>
                          <a:rPr lang="en-US" b="0" i="1" smtClean="0">
                            <a:latin typeface="Cambria Math" panose="02040503050406030204" pitchFamily="18" charset="0"/>
                          </a:rPr>
                          <m:t>−</m:t>
                        </m:r>
                        <m:r>
                          <m:rPr>
                            <m:sty m:val="p"/>
                          </m:rPr>
                          <a:rPr lang="en-US" b="0" i="0" smtClean="0">
                            <a:latin typeface="Cambria Math" panose="02040503050406030204" pitchFamily="18" charset="0"/>
                          </a:rPr>
                          <m:t>Δ</m:t>
                        </m:r>
                        <m:r>
                          <a:rPr lang="en-US" b="0" i="1" smtClean="0">
                            <a:latin typeface="Cambria Math" panose="02040503050406030204" pitchFamily="18" charset="0"/>
                          </a:rPr>
                          <m:t>𝑥</m:t>
                        </m:r>
                        <m:r>
                          <a:rPr lang="en-US" b="0" i="1" smtClean="0">
                            <a:latin typeface="Cambria Math" panose="02040503050406030204" pitchFamily="18" charset="0"/>
                          </a:rPr>
                          <m:t>/2</m:t>
                        </m:r>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𝑢</m:t>
                        </m:r>
                      </m:e>
                      <m:sub>
                        <m:r>
                          <a:rPr lang="en-US" b="0" i="1" smtClean="0">
                            <a:latin typeface="Cambria Math" panose="02040503050406030204" pitchFamily="18" charset="0"/>
                          </a:rPr>
                          <m:t>𝑖</m:t>
                        </m:r>
                        <m:r>
                          <a:rPr lang="en-US" b="0" i="1" smtClean="0">
                            <a:latin typeface="Cambria Math" panose="02040503050406030204" pitchFamily="18" charset="0"/>
                          </a:rPr>
                          <m:t>+1</m:t>
                        </m:r>
                      </m:sub>
                    </m:sSub>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2</m:t>
                        </m:r>
                      </m:den>
                    </m:f>
                    <m:r>
                      <m:rPr>
                        <m:sty m:val="p"/>
                      </m:rPr>
                      <a:rPr lang="en-US" b="0" i="0" smtClean="0">
                        <a:latin typeface="Cambria Math" panose="02040503050406030204" pitchFamily="18" charset="0"/>
                      </a:rPr>
                      <m:t>Δ</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𝑢</m:t>
                        </m:r>
                      </m:e>
                      <m:sub>
                        <m:r>
                          <a:rPr lang="en-US" b="0" i="1" smtClean="0">
                            <a:latin typeface="Cambria Math" panose="02040503050406030204" pitchFamily="18" charset="0"/>
                          </a:rPr>
                          <m:t>𝑖</m:t>
                        </m:r>
                        <m:r>
                          <a:rPr lang="en-US" b="0" i="1" smtClean="0">
                            <a:latin typeface="Cambria Math" panose="02040503050406030204" pitchFamily="18" charset="0"/>
                          </a:rPr>
                          <m:t>+1</m:t>
                        </m:r>
                      </m:sub>
                    </m:sSub>
                  </m:oMath>
                </a14:m>
                <a:r>
                  <a:rPr lang="en-US" dirty="0"/>
                  <a:t> </a:t>
                </a:r>
              </a:p>
            </p:txBody>
          </p:sp>
        </mc:Choice>
        <mc:Fallback xmlns="">
          <p:sp>
            <p:nvSpPr>
              <p:cNvPr id="3" name="Content Placeholder 2">
                <a:extLst>
                  <a:ext uri="{FF2B5EF4-FFF2-40B4-BE49-F238E27FC236}">
                    <a16:creationId xmlns:a16="http://schemas.microsoft.com/office/drawing/2014/main" id="{15C4FD65-F675-944D-A379-3A5FFFAEB784}"/>
                  </a:ext>
                </a:extLst>
              </p:cNvPr>
              <p:cNvSpPr>
                <a:spLocks noGrp="1" noRot="1" noChangeAspect="1" noMove="1" noResize="1" noEditPoints="1" noAdjustHandles="1" noChangeArrowheads="1" noChangeShapeType="1" noTextEdit="1"/>
              </p:cNvSpPr>
              <p:nvPr>
                <p:ph idx="1"/>
              </p:nvPr>
            </p:nvSpPr>
            <p:spPr>
              <a:xfrm>
                <a:off x="25998" y="1325563"/>
                <a:ext cx="8088169" cy="5882061"/>
              </a:xfrm>
              <a:blipFill>
                <a:blip r:embed="rId2"/>
                <a:stretch>
                  <a:fillRect l="-1097" t="-58710" b="-53548"/>
                </a:stretch>
              </a:blipFill>
            </p:spPr>
            <p:txBody>
              <a:bodyPr/>
              <a:lstStyle/>
              <a:p>
                <a:r>
                  <a:rPr lang="en-US">
                    <a:noFill/>
                  </a:rPr>
                  <a:t> </a:t>
                </a:r>
              </a:p>
            </p:txBody>
          </p:sp>
        </mc:Fallback>
      </mc:AlternateContent>
      <p:sp>
        <p:nvSpPr>
          <p:cNvPr id="2" name="Title 1">
            <a:extLst>
              <a:ext uri="{FF2B5EF4-FFF2-40B4-BE49-F238E27FC236}">
                <a16:creationId xmlns:a16="http://schemas.microsoft.com/office/drawing/2014/main" id="{75DCE2F9-F4C3-DA4C-B0FC-7FF6F22D148C}"/>
              </a:ext>
            </a:extLst>
          </p:cNvPr>
          <p:cNvSpPr>
            <a:spLocks noGrp="1"/>
          </p:cNvSpPr>
          <p:nvPr>
            <p:ph type="title"/>
          </p:nvPr>
        </p:nvSpPr>
        <p:spPr>
          <a:xfrm>
            <a:off x="838200" y="0"/>
            <a:ext cx="10515600" cy="1325563"/>
          </a:xfrm>
        </p:spPr>
        <p:txBody>
          <a:bodyPr/>
          <a:lstStyle/>
          <a:p>
            <a:r>
              <a:rPr lang="en-US" dirty="0"/>
              <a:t>The reconstruction of states on the interfaces</a:t>
            </a:r>
          </a:p>
        </p:txBody>
      </p:sp>
      <p:sp>
        <p:nvSpPr>
          <p:cNvPr id="4" name="TextBox 3">
            <a:extLst>
              <a:ext uri="{FF2B5EF4-FFF2-40B4-BE49-F238E27FC236}">
                <a16:creationId xmlns:a16="http://schemas.microsoft.com/office/drawing/2014/main" id="{CB7647F1-6AE2-0B42-80B9-21D916526C2E}"/>
              </a:ext>
            </a:extLst>
          </p:cNvPr>
          <p:cNvSpPr txBox="1"/>
          <p:nvPr/>
        </p:nvSpPr>
        <p:spPr>
          <a:xfrm>
            <a:off x="949672" y="2749692"/>
            <a:ext cx="1083951" cy="461665"/>
          </a:xfrm>
          <a:prstGeom prst="rect">
            <a:avLst/>
          </a:prstGeom>
          <a:noFill/>
        </p:spPr>
        <p:txBody>
          <a:bodyPr wrap="none" rtlCol="0">
            <a:spAutoFit/>
          </a:bodyPr>
          <a:lstStyle/>
          <a:p>
            <a:r>
              <a:rPr lang="en-US" sz="2400" dirty="0">
                <a:solidFill>
                  <a:srgbClr val="FF0000"/>
                </a:solidFill>
              </a:rPr>
              <a:t>(shock)</a:t>
            </a:r>
          </a:p>
        </p:txBody>
      </p:sp>
      <p:sp>
        <p:nvSpPr>
          <p:cNvPr id="5" name="TextBox 4">
            <a:extLst>
              <a:ext uri="{FF2B5EF4-FFF2-40B4-BE49-F238E27FC236}">
                <a16:creationId xmlns:a16="http://schemas.microsoft.com/office/drawing/2014/main" id="{1B218ABE-C615-DC4A-9B6E-930383F24BC1}"/>
              </a:ext>
            </a:extLst>
          </p:cNvPr>
          <p:cNvSpPr txBox="1"/>
          <p:nvPr/>
        </p:nvSpPr>
        <p:spPr>
          <a:xfrm>
            <a:off x="184752" y="4353555"/>
            <a:ext cx="1306896" cy="461665"/>
          </a:xfrm>
          <a:prstGeom prst="rect">
            <a:avLst/>
          </a:prstGeom>
          <a:noFill/>
        </p:spPr>
        <p:txBody>
          <a:bodyPr wrap="none" rtlCol="0">
            <a:spAutoFit/>
          </a:bodyPr>
          <a:lstStyle/>
          <a:p>
            <a:r>
              <a:rPr lang="en-US" sz="2400" dirty="0">
                <a:solidFill>
                  <a:srgbClr val="FF0000"/>
                </a:solidFill>
              </a:rPr>
              <a:t>(upwind)</a:t>
            </a:r>
          </a:p>
        </p:txBody>
      </p:sp>
      <p:sp>
        <p:nvSpPr>
          <p:cNvPr id="6" name="Rectangle 5">
            <a:extLst>
              <a:ext uri="{FF2B5EF4-FFF2-40B4-BE49-F238E27FC236}">
                <a16:creationId xmlns:a16="http://schemas.microsoft.com/office/drawing/2014/main" id="{94ECEBC1-A31C-1B48-A5D5-D03A93AB1609}"/>
              </a:ext>
            </a:extLst>
          </p:cNvPr>
          <p:cNvSpPr/>
          <p:nvPr/>
        </p:nvSpPr>
        <p:spPr>
          <a:xfrm>
            <a:off x="7293777" y="4050398"/>
            <a:ext cx="263470" cy="39609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a:extLst>
              <a:ext uri="{FF2B5EF4-FFF2-40B4-BE49-F238E27FC236}">
                <a16:creationId xmlns:a16="http://schemas.microsoft.com/office/drawing/2014/main" id="{95452412-4B3D-5B48-86B5-540AE9605150}"/>
              </a:ext>
            </a:extLst>
          </p:cNvPr>
          <p:cNvPicPr>
            <a:picLocks noChangeAspect="1"/>
          </p:cNvPicPr>
          <p:nvPr/>
        </p:nvPicPr>
        <p:blipFill rotWithShape="1">
          <a:blip r:embed="rId3"/>
          <a:srcRect l="12645" t="60384" r="12401" b="8034"/>
          <a:stretch/>
        </p:blipFill>
        <p:spPr>
          <a:xfrm>
            <a:off x="6953025" y="3130619"/>
            <a:ext cx="5238975" cy="1839558"/>
          </a:xfrm>
          <a:prstGeom prst="rect">
            <a:avLst/>
          </a:prstGeom>
        </p:spPr>
      </p:pic>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1C4934DC-E04D-6C43-B0F5-1D938E6261FD}"/>
                  </a:ext>
                </a:extLst>
              </p:cNvPr>
              <p:cNvSpPr txBox="1"/>
              <p:nvPr/>
            </p:nvSpPr>
            <p:spPr>
              <a:xfrm>
                <a:off x="8679363" y="2802275"/>
                <a:ext cx="793422" cy="413511"/>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𝑢</m:t>
                          </m:r>
                        </m:e>
                        <m:sub>
                          <m:r>
                            <a:rPr lang="en-US" sz="2000" b="0" i="1" smtClean="0">
                              <a:latin typeface="Cambria Math" panose="02040503050406030204" pitchFamily="18" charset="0"/>
                            </a:rPr>
                            <m:t>𝑙</m:t>
                          </m:r>
                          <m:r>
                            <a:rPr lang="en-US" sz="2000" b="0" i="1" smtClean="0">
                              <a:latin typeface="Cambria Math" panose="02040503050406030204" pitchFamily="18" charset="0"/>
                            </a:rPr>
                            <m:t>, </m:t>
                          </m:r>
                          <m:r>
                            <a:rPr lang="en-US" sz="2000" b="0" i="1" smtClean="0">
                              <a:latin typeface="Cambria Math" panose="02040503050406030204" pitchFamily="18" charset="0"/>
                            </a:rPr>
                            <m:t>𝐼𝑛𝑡</m:t>
                          </m:r>
                        </m:sub>
                      </m:sSub>
                    </m:oMath>
                  </m:oMathPara>
                </a14:m>
                <a:endParaRPr lang="en-US" sz="2000" dirty="0"/>
              </a:p>
            </p:txBody>
          </p:sp>
        </mc:Choice>
        <mc:Fallback xmlns="">
          <p:sp>
            <p:nvSpPr>
              <p:cNvPr id="8" name="TextBox 7">
                <a:extLst>
                  <a:ext uri="{FF2B5EF4-FFF2-40B4-BE49-F238E27FC236}">
                    <a16:creationId xmlns:a16="http://schemas.microsoft.com/office/drawing/2014/main" id="{1C4934DC-E04D-6C43-B0F5-1D938E6261FD}"/>
                  </a:ext>
                </a:extLst>
              </p:cNvPr>
              <p:cNvSpPr txBox="1">
                <a:spLocks noRot="1" noChangeAspect="1" noMove="1" noResize="1" noEditPoints="1" noAdjustHandles="1" noChangeArrowheads="1" noChangeShapeType="1" noTextEdit="1"/>
              </p:cNvSpPr>
              <p:nvPr/>
            </p:nvSpPr>
            <p:spPr>
              <a:xfrm>
                <a:off x="8679363" y="2802275"/>
                <a:ext cx="793422" cy="413511"/>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A1B5CBB7-27B1-3543-887D-0991FA688E00}"/>
                  </a:ext>
                </a:extLst>
              </p:cNvPr>
              <p:cNvSpPr txBox="1"/>
              <p:nvPr/>
            </p:nvSpPr>
            <p:spPr>
              <a:xfrm>
                <a:off x="9572512" y="2803293"/>
                <a:ext cx="826637" cy="413511"/>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𝑢</m:t>
                          </m:r>
                        </m:e>
                        <m:sub>
                          <m:r>
                            <a:rPr lang="en-US" sz="2000" b="0" i="1" smtClean="0">
                              <a:latin typeface="Cambria Math" panose="02040503050406030204" pitchFamily="18" charset="0"/>
                            </a:rPr>
                            <m:t>𝑟</m:t>
                          </m:r>
                          <m:r>
                            <a:rPr lang="en-US" sz="2000" b="0" i="1" smtClean="0">
                              <a:latin typeface="Cambria Math" panose="02040503050406030204" pitchFamily="18" charset="0"/>
                            </a:rPr>
                            <m:t>, </m:t>
                          </m:r>
                          <m:r>
                            <a:rPr lang="en-US" sz="2000" b="0" i="1" smtClean="0">
                              <a:latin typeface="Cambria Math" panose="02040503050406030204" pitchFamily="18" charset="0"/>
                            </a:rPr>
                            <m:t>𝐼𝑛𝑡</m:t>
                          </m:r>
                        </m:sub>
                      </m:sSub>
                    </m:oMath>
                  </m:oMathPara>
                </a14:m>
                <a:endParaRPr lang="en-US" sz="2000" dirty="0"/>
              </a:p>
            </p:txBody>
          </p:sp>
        </mc:Choice>
        <mc:Fallback xmlns="">
          <p:sp>
            <p:nvSpPr>
              <p:cNvPr id="9" name="TextBox 8">
                <a:extLst>
                  <a:ext uri="{FF2B5EF4-FFF2-40B4-BE49-F238E27FC236}">
                    <a16:creationId xmlns:a16="http://schemas.microsoft.com/office/drawing/2014/main" id="{A1B5CBB7-27B1-3543-887D-0991FA688E00}"/>
                  </a:ext>
                </a:extLst>
              </p:cNvPr>
              <p:cNvSpPr txBox="1">
                <a:spLocks noRot="1" noChangeAspect="1" noMove="1" noResize="1" noEditPoints="1" noAdjustHandles="1" noChangeArrowheads="1" noChangeShapeType="1" noTextEdit="1"/>
              </p:cNvSpPr>
              <p:nvPr/>
            </p:nvSpPr>
            <p:spPr>
              <a:xfrm>
                <a:off x="9572512" y="2803293"/>
                <a:ext cx="826637" cy="413511"/>
              </a:xfrm>
              <a:prstGeom prst="rect">
                <a:avLst/>
              </a:prstGeom>
              <a:blipFill>
                <a:blip r:embed="rId5"/>
                <a:stretch>
                  <a:fillRect/>
                </a:stretch>
              </a:blipFill>
            </p:spPr>
            <p:txBody>
              <a:bodyPr/>
              <a:lstStyle/>
              <a:p>
                <a:r>
                  <a:rPr lang="en-US">
                    <a:noFill/>
                  </a:rPr>
                  <a:t> </a:t>
                </a:r>
              </a:p>
            </p:txBody>
          </p:sp>
        </mc:Fallback>
      </mc:AlternateContent>
      <p:sp>
        <p:nvSpPr>
          <p:cNvPr id="10" name="Rectangle 9">
            <a:extLst>
              <a:ext uri="{FF2B5EF4-FFF2-40B4-BE49-F238E27FC236}">
                <a16:creationId xmlns:a16="http://schemas.microsoft.com/office/drawing/2014/main" id="{120EC4B5-C623-994D-A5A9-518BBC603A01}"/>
              </a:ext>
            </a:extLst>
          </p:cNvPr>
          <p:cNvSpPr/>
          <p:nvPr/>
        </p:nvSpPr>
        <p:spPr>
          <a:xfrm>
            <a:off x="8003689" y="3646842"/>
            <a:ext cx="662858" cy="40355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A7C6A4BC-D699-D144-839F-983D92EF798B}"/>
              </a:ext>
            </a:extLst>
          </p:cNvPr>
          <p:cNvSpPr/>
          <p:nvPr/>
        </p:nvSpPr>
        <p:spPr>
          <a:xfrm>
            <a:off x="10642432" y="3646010"/>
            <a:ext cx="662858" cy="40355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98241339-16CD-DD4C-9802-0D081CE066DE}"/>
              </a:ext>
            </a:extLst>
          </p:cNvPr>
          <p:cNvSpPr/>
          <p:nvPr/>
        </p:nvSpPr>
        <p:spPr>
          <a:xfrm>
            <a:off x="8016505" y="4575715"/>
            <a:ext cx="662858" cy="40355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580DFAB9-BFB0-A744-88F7-98B752446E38}"/>
              </a:ext>
            </a:extLst>
          </p:cNvPr>
          <p:cNvSpPr/>
          <p:nvPr/>
        </p:nvSpPr>
        <p:spPr>
          <a:xfrm>
            <a:off x="10629249" y="4584388"/>
            <a:ext cx="662858" cy="40355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AF94E64E-D71D-484C-A07B-E4C6614195F4}"/>
                  </a:ext>
                </a:extLst>
              </p:cNvPr>
              <p:cNvSpPr txBox="1"/>
              <p:nvPr/>
            </p:nvSpPr>
            <p:spPr>
              <a:xfrm>
                <a:off x="8143173" y="4584388"/>
                <a:ext cx="332270"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rPr>
                        <m:t>𝑖</m:t>
                      </m:r>
                    </m:oMath>
                  </m:oMathPara>
                </a14:m>
                <a:endParaRPr lang="en-US" sz="2000" dirty="0"/>
              </a:p>
            </p:txBody>
          </p:sp>
        </mc:Choice>
        <mc:Fallback xmlns="">
          <p:sp>
            <p:nvSpPr>
              <p:cNvPr id="14" name="TextBox 13">
                <a:extLst>
                  <a:ext uri="{FF2B5EF4-FFF2-40B4-BE49-F238E27FC236}">
                    <a16:creationId xmlns:a16="http://schemas.microsoft.com/office/drawing/2014/main" id="{AF94E64E-D71D-484C-A07B-E4C6614195F4}"/>
                  </a:ext>
                </a:extLst>
              </p:cNvPr>
              <p:cNvSpPr txBox="1">
                <a:spLocks noRot="1" noChangeAspect="1" noMove="1" noResize="1" noEditPoints="1" noAdjustHandles="1" noChangeArrowheads="1" noChangeShapeType="1" noTextEdit="1"/>
              </p:cNvSpPr>
              <p:nvPr/>
            </p:nvSpPr>
            <p:spPr>
              <a:xfrm>
                <a:off x="8143173" y="4584388"/>
                <a:ext cx="332270" cy="400110"/>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2A8030FE-6295-0845-B674-0281369E7DC0}"/>
                  </a:ext>
                </a:extLst>
              </p:cNvPr>
              <p:cNvSpPr txBox="1"/>
              <p:nvPr/>
            </p:nvSpPr>
            <p:spPr>
              <a:xfrm>
                <a:off x="10481798" y="4584388"/>
                <a:ext cx="781304"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rPr>
                        <m:t>𝑖</m:t>
                      </m:r>
                      <m:r>
                        <a:rPr lang="en-US" sz="2000" b="0" i="1" smtClean="0">
                          <a:latin typeface="Cambria Math" panose="02040503050406030204" pitchFamily="18" charset="0"/>
                        </a:rPr>
                        <m:t>+1</m:t>
                      </m:r>
                    </m:oMath>
                  </m:oMathPara>
                </a14:m>
                <a:endParaRPr lang="en-US" sz="2000" dirty="0"/>
              </a:p>
            </p:txBody>
          </p:sp>
        </mc:Choice>
        <mc:Fallback xmlns="">
          <p:sp>
            <p:nvSpPr>
              <p:cNvPr id="15" name="TextBox 14">
                <a:extLst>
                  <a:ext uri="{FF2B5EF4-FFF2-40B4-BE49-F238E27FC236}">
                    <a16:creationId xmlns:a16="http://schemas.microsoft.com/office/drawing/2014/main" id="{2A8030FE-6295-0845-B674-0281369E7DC0}"/>
                  </a:ext>
                </a:extLst>
              </p:cNvPr>
              <p:cNvSpPr txBox="1">
                <a:spLocks noRot="1" noChangeAspect="1" noMove="1" noResize="1" noEditPoints="1" noAdjustHandles="1" noChangeArrowheads="1" noChangeShapeType="1" noTextEdit="1"/>
              </p:cNvSpPr>
              <p:nvPr/>
            </p:nvSpPr>
            <p:spPr>
              <a:xfrm>
                <a:off x="10481798" y="4584388"/>
                <a:ext cx="781304" cy="400110"/>
              </a:xfrm>
              <a:prstGeom prst="rect">
                <a:avLst/>
              </a:prstGeom>
              <a:blipFill>
                <a:blip r:embed="rId7"/>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377772446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DCE2F9-F4C3-DA4C-B0FC-7FF6F22D148C}"/>
              </a:ext>
            </a:extLst>
          </p:cNvPr>
          <p:cNvSpPr>
            <a:spLocks noGrp="1"/>
          </p:cNvSpPr>
          <p:nvPr>
            <p:ph type="title"/>
          </p:nvPr>
        </p:nvSpPr>
        <p:spPr>
          <a:xfrm>
            <a:off x="838200" y="0"/>
            <a:ext cx="10515600" cy="1325563"/>
          </a:xfrm>
        </p:spPr>
        <p:txBody>
          <a:bodyPr/>
          <a:lstStyle/>
          <a:p>
            <a:r>
              <a:rPr lang="en-US" dirty="0"/>
              <a:t>The full time step (2</a:t>
            </a:r>
            <a:r>
              <a:rPr lang="en-US" baseline="30000" dirty="0"/>
              <a:t>nd</a:t>
            </a:r>
            <a:r>
              <a:rPr lang="en-US" dirty="0"/>
              <a:t> order in time)</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15C4FD65-F675-944D-A379-3A5FFFAEB784}"/>
                  </a:ext>
                </a:extLst>
              </p:cNvPr>
              <p:cNvSpPr>
                <a:spLocks noGrp="1"/>
              </p:cNvSpPr>
              <p:nvPr>
                <p:ph idx="1"/>
              </p:nvPr>
            </p:nvSpPr>
            <p:spPr>
              <a:xfrm>
                <a:off x="568750" y="1219674"/>
                <a:ext cx="10785050" cy="5638326"/>
              </a:xfrm>
            </p:spPr>
            <p:txBody>
              <a:bodyPr>
                <a:normAutofit fontScale="92500"/>
              </a:bodyPr>
              <a:lstStyle/>
              <a:p>
                <a:r>
                  <a:rPr lang="en-US" dirty="0"/>
                  <a:t>Calculate the flux at beginning of the time step: </a:t>
                </a:r>
              </a:p>
              <a:p>
                <a:pPr marL="0" indent="0">
                  <a:buNone/>
                </a:pPr>
                <a14:m>
                  <m:oMathPara xmlns:m="http://schemas.openxmlformats.org/officeDocument/2006/math">
                    <m:oMathParaPr>
                      <m:jc m:val="centerGroup"/>
                    </m:oMathParaPr>
                    <m:oMath xmlns:m="http://schemas.openxmlformats.org/officeDocument/2006/math">
                      <m:sSubSup>
                        <m:sSubSupPr>
                          <m:ctrlPr>
                            <a:rPr lang="en-US" b="0" i="1" smtClean="0">
                              <a:solidFill>
                                <a:srgbClr val="00B050"/>
                              </a:solidFill>
                              <a:latin typeface="Cambria Math" panose="02040503050406030204" pitchFamily="18" charset="0"/>
                            </a:rPr>
                          </m:ctrlPr>
                        </m:sSubSupPr>
                        <m:e>
                          <m:r>
                            <a:rPr lang="en-US" b="0" i="1" smtClean="0">
                              <a:solidFill>
                                <a:srgbClr val="00B050"/>
                              </a:solidFill>
                              <a:latin typeface="Cambria Math" panose="02040503050406030204" pitchFamily="18" charset="0"/>
                            </a:rPr>
                            <m:t>𝐹</m:t>
                          </m:r>
                        </m:e>
                        <m:sub>
                          <m:r>
                            <a:rPr lang="en-US" b="0" i="1" smtClean="0">
                              <a:solidFill>
                                <a:srgbClr val="00B050"/>
                              </a:solidFill>
                              <a:latin typeface="Cambria Math" panose="02040503050406030204" pitchFamily="18" charset="0"/>
                            </a:rPr>
                            <m:t>𝑖</m:t>
                          </m:r>
                          <m:r>
                            <a:rPr lang="en-US" b="0" i="1" smtClean="0">
                              <a:solidFill>
                                <a:srgbClr val="00B050"/>
                              </a:solidFill>
                              <a:latin typeface="Cambria Math" panose="02040503050406030204" pitchFamily="18" charset="0"/>
                            </a:rPr>
                            <m:t>+1/2</m:t>
                          </m:r>
                        </m:sub>
                        <m:sup>
                          <m:r>
                            <a:rPr lang="en-US" b="0" i="1" smtClean="0">
                              <a:solidFill>
                                <a:srgbClr val="00B050"/>
                              </a:solidFill>
                              <a:latin typeface="Cambria Math" panose="02040503050406030204" pitchFamily="18" charset="0"/>
                            </a:rPr>
                            <m:t>𝑛</m:t>
                          </m:r>
                        </m:sup>
                      </m:sSubSup>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2</m:t>
                          </m:r>
                        </m:den>
                      </m:f>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sSubSup>
                                <m:sSubSupPr>
                                  <m:ctrlPr>
                                    <a:rPr lang="en-US" b="0" i="1" smtClean="0">
                                      <a:solidFill>
                                        <a:srgbClr val="FF0000"/>
                                      </a:solidFill>
                                      <a:latin typeface="Cambria Math" panose="02040503050406030204" pitchFamily="18" charset="0"/>
                                    </a:rPr>
                                  </m:ctrlPr>
                                </m:sSubSupPr>
                                <m:e>
                                  <m:r>
                                    <a:rPr lang="en-US" b="0" i="1" smtClean="0">
                                      <a:solidFill>
                                        <a:srgbClr val="FF0000"/>
                                      </a:solidFill>
                                      <a:latin typeface="Cambria Math" panose="02040503050406030204" pitchFamily="18" charset="0"/>
                                    </a:rPr>
                                    <m:t>𝑢</m:t>
                                  </m:r>
                                </m:e>
                                <m:sub>
                                  <m:r>
                                    <a:rPr lang="en-US" b="0" i="1" smtClean="0">
                                      <a:solidFill>
                                        <a:srgbClr val="FF0000"/>
                                      </a:solidFill>
                                      <a:latin typeface="Cambria Math" panose="02040503050406030204" pitchFamily="18" charset="0"/>
                                    </a:rPr>
                                    <m:t>𝑖</m:t>
                                  </m:r>
                                  <m:r>
                                    <a:rPr lang="en-US" b="0" i="1" smtClean="0">
                                      <a:solidFill>
                                        <a:srgbClr val="FF0000"/>
                                      </a:solidFill>
                                      <a:latin typeface="Cambria Math" panose="02040503050406030204" pitchFamily="18" charset="0"/>
                                    </a:rPr>
                                    <m:t>+1/2</m:t>
                                  </m:r>
                                </m:sub>
                                <m:sup>
                                  <m:r>
                                    <a:rPr lang="en-US" b="0" i="1" smtClean="0">
                                      <a:solidFill>
                                        <a:srgbClr val="FF0000"/>
                                      </a:solidFill>
                                      <a:latin typeface="Cambria Math" panose="02040503050406030204" pitchFamily="18" charset="0"/>
                                    </a:rPr>
                                    <m:t>𝑛</m:t>
                                  </m:r>
                                </m:sup>
                              </m:sSubSup>
                            </m:e>
                          </m:d>
                        </m:e>
                        <m:sup>
                          <m:r>
                            <a:rPr lang="en-US" b="0" i="1" smtClean="0">
                              <a:latin typeface="Cambria Math" panose="02040503050406030204" pitchFamily="18" charset="0"/>
                            </a:rPr>
                            <m:t>2</m:t>
                          </m:r>
                        </m:sup>
                      </m:sSup>
                    </m:oMath>
                  </m:oMathPara>
                </a14:m>
                <a:endParaRPr lang="en-US" dirty="0"/>
              </a:p>
              <a:p>
                <a:r>
                  <a:rPr lang="en-US" dirty="0"/>
                  <a:t>Take half time step:</a:t>
                </a:r>
              </a:p>
              <a:p>
                <a:pPr marL="0" indent="0">
                  <a:buNone/>
                </a:pPr>
                <a14:m>
                  <m:oMathPara xmlns:m="http://schemas.openxmlformats.org/officeDocument/2006/math">
                    <m:oMathParaPr>
                      <m:jc m:val="centerGroup"/>
                    </m:oMathParaPr>
                    <m:oMath xmlns:m="http://schemas.openxmlformats.org/officeDocument/2006/math">
                      <m:sSubSup>
                        <m:sSubSupPr>
                          <m:ctrlPr>
                            <a:rPr lang="en-US" b="0" i="1" smtClean="0">
                              <a:solidFill>
                                <a:srgbClr val="C00000"/>
                              </a:solidFill>
                              <a:latin typeface="Cambria Math" panose="02040503050406030204" pitchFamily="18" charset="0"/>
                            </a:rPr>
                          </m:ctrlPr>
                        </m:sSubSupPr>
                        <m:e>
                          <m:r>
                            <a:rPr lang="en-US" b="0" i="1" smtClean="0">
                              <a:solidFill>
                                <a:srgbClr val="C00000"/>
                              </a:solidFill>
                              <a:latin typeface="Cambria Math" panose="02040503050406030204" pitchFamily="18" charset="0"/>
                            </a:rPr>
                            <m:t>𝑢</m:t>
                          </m:r>
                        </m:e>
                        <m:sub>
                          <m:r>
                            <a:rPr lang="en-US" b="0" i="1" smtClean="0">
                              <a:solidFill>
                                <a:srgbClr val="C00000"/>
                              </a:solidFill>
                              <a:latin typeface="Cambria Math" panose="02040503050406030204" pitchFamily="18" charset="0"/>
                            </a:rPr>
                            <m:t>𝑖</m:t>
                          </m:r>
                        </m:sub>
                        <m:sup>
                          <m:r>
                            <a:rPr lang="en-US" b="0" i="1" smtClean="0">
                              <a:solidFill>
                                <a:srgbClr val="C00000"/>
                              </a:solidFill>
                              <a:latin typeface="Cambria Math" panose="02040503050406030204" pitchFamily="18" charset="0"/>
                            </a:rPr>
                            <m:t>𝑛</m:t>
                          </m:r>
                          <m:r>
                            <a:rPr lang="en-US" b="0" i="1" smtClean="0">
                              <a:solidFill>
                                <a:srgbClr val="C00000"/>
                              </a:solidFill>
                              <a:latin typeface="Cambria Math" panose="02040503050406030204" pitchFamily="18" charset="0"/>
                            </a:rPr>
                            <m:t>+1/2</m:t>
                          </m:r>
                        </m:sup>
                      </m:sSubSup>
                      <m:r>
                        <a:rPr lang="en-US" b="0" i="1" smtClean="0">
                          <a:latin typeface="Cambria Math" panose="02040503050406030204" pitchFamily="18" charset="0"/>
                        </a:rPr>
                        <m:t>=</m:t>
                      </m:r>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𝑢</m:t>
                          </m:r>
                        </m:e>
                        <m:sub>
                          <m:r>
                            <a:rPr lang="en-US" b="0" i="1" smtClean="0">
                              <a:latin typeface="Cambria Math" panose="02040503050406030204" pitchFamily="18" charset="0"/>
                            </a:rPr>
                            <m:t>𝑖</m:t>
                          </m:r>
                        </m:sub>
                        <m:sup>
                          <m:r>
                            <a:rPr lang="en-US" b="0" i="1" smtClean="0">
                              <a:latin typeface="Cambria Math" panose="02040503050406030204" pitchFamily="18" charset="0"/>
                            </a:rPr>
                            <m:t>𝑛</m:t>
                          </m:r>
                        </m:sup>
                      </m:sSubSup>
                      <m:r>
                        <a:rPr lang="en-US" b="0" i="1" smtClean="0">
                          <a:latin typeface="Cambria Math" panose="02040503050406030204" pitchFamily="18" charset="0"/>
                        </a:rPr>
                        <m:t>−</m:t>
                      </m:r>
                      <m:f>
                        <m:fPr>
                          <m:ctrlPr>
                            <a:rPr lang="en-US" b="0" i="1" smtClean="0">
                              <a:latin typeface="Cambria Math" panose="02040503050406030204" pitchFamily="18" charset="0"/>
                            </a:rPr>
                          </m:ctrlPr>
                        </m:fPr>
                        <m:num>
                          <m:r>
                            <m:rPr>
                              <m:sty m:val="p"/>
                            </m:rPr>
                            <a:rPr lang="en-US" b="0" i="0" smtClean="0">
                              <a:latin typeface="Cambria Math" panose="02040503050406030204" pitchFamily="18" charset="0"/>
                            </a:rPr>
                            <m:t>Δ</m:t>
                          </m:r>
                          <m:r>
                            <a:rPr lang="en-US" b="0" i="1" smtClean="0">
                              <a:latin typeface="Cambria Math" panose="02040503050406030204" pitchFamily="18" charset="0"/>
                            </a:rPr>
                            <m:t>𝑡</m:t>
                          </m:r>
                        </m:num>
                        <m:den>
                          <m:r>
                            <a:rPr lang="en-US" b="0" i="1" smtClean="0">
                              <a:latin typeface="Cambria Math" panose="02040503050406030204" pitchFamily="18" charset="0"/>
                            </a:rPr>
                            <m:t>2</m:t>
                          </m:r>
                          <m:r>
                            <m:rPr>
                              <m:sty m:val="p"/>
                            </m:rPr>
                            <a:rPr lang="en-US" b="0" i="0" smtClean="0">
                              <a:latin typeface="Cambria Math" panose="02040503050406030204" pitchFamily="18" charset="0"/>
                            </a:rPr>
                            <m:t>Δ</m:t>
                          </m:r>
                          <m:r>
                            <a:rPr lang="en-US" b="0" i="1" smtClean="0">
                              <a:latin typeface="Cambria Math" panose="02040503050406030204" pitchFamily="18" charset="0"/>
                            </a:rPr>
                            <m:t>𝑥</m:t>
                          </m:r>
                        </m:den>
                      </m:f>
                      <m:d>
                        <m:dPr>
                          <m:ctrlPr>
                            <a:rPr lang="en-US" b="0" i="1" smtClean="0">
                              <a:latin typeface="Cambria Math" panose="02040503050406030204" pitchFamily="18" charset="0"/>
                            </a:rPr>
                          </m:ctrlPr>
                        </m:dPr>
                        <m:e>
                          <m:sSubSup>
                            <m:sSubSupPr>
                              <m:ctrlPr>
                                <a:rPr lang="en-US" b="0" i="1" smtClean="0">
                                  <a:solidFill>
                                    <a:srgbClr val="00B050"/>
                                  </a:solidFill>
                                  <a:latin typeface="Cambria Math" panose="02040503050406030204" pitchFamily="18" charset="0"/>
                                </a:rPr>
                              </m:ctrlPr>
                            </m:sSubSupPr>
                            <m:e>
                              <m:r>
                                <a:rPr lang="en-US" b="0" i="1" smtClean="0">
                                  <a:solidFill>
                                    <a:srgbClr val="00B050"/>
                                  </a:solidFill>
                                  <a:latin typeface="Cambria Math" panose="02040503050406030204" pitchFamily="18" charset="0"/>
                                </a:rPr>
                                <m:t>𝐹</m:t>
                              </m:r>
                            </m:e>
                            <m:sub>
                              <m:r>
                                <a:rPr lang="en-US" b="0" i="1" smtClean="0">
                                  <a:solidFill>
                                    <a:srgbClr val="00B050"/>
                                  </a:solidFill>
                                  <a:latin typeface="Cambria Math" panose="02040503050406030204" pitchFamily="18" charset="0"/>
                                </a:rPr>
                                <m:t>𝑖</m:t>
                              </m:r>
                              <m:r>
                                <a:rPr lang="en-US" b="0" i="1" smtClean="0">
                                  <a:solidFill>
                                    <a:srgbClr val="00B050"/>
                                  </a:solidFill>
                                  <a:latin typeface="Cambria Math" panose="02040503050406030204" pitchFamily="18" charset="0"/>
                                </a:rPr>
                                <m:t>+1/2</m:t>
                              </m:r>
                            </m:sub>
                            <m:sup>
                              <m:r>
                                <a:rPr lang="en-US" b="0" i="1" smtClean="0">
                                  <a:solidFill>
                                    <a:srgbClr val="00B050"/>
                                  </a:solidFill>
                                  <a:latin typeface="Cambria Math" panose="02040503050406030204" pitchFamily="18" charset="0"/>
                                </a:rPr>
                                <m:t>𝑛</m:t>
                              </m:r>
                            </m:sup>
                          </m:sSubSup>
                          <m:r>
                            <a:rPr lang="en-US" b="0" i="1" smtClean="0">
                              <a:solidFill>
                                <a:srgbClr val="00B050"/>
                              </a:solidFill>
                              <a:latin typeface="Cambria Math" panose="02040503050406030204" pitchFamily="18" charset="0"/>
                            </a:rPr>
                            <m:t>−</m:t>
                          </m:r>
                          <m:sSubSup>
                            <m:sSubSupPr>
                              <m:ctrlPr>
                                <a:rPr lang="en-US" b="0" i="1" smtClean="0">
                                  <a:solidFill>
                                    <a:srgbClr val="00B050"/>
                                  </a:solidFill>
                                  <a:latin typeface="Cambria Math" panose="02040503050406030204" pitchFamily="18" charset="0"/>
                                </a:rPr>
                              </m:ctrlPr>
                            </m:sSubSupPr>
                            <m:e>
                              <m:r>
                                <a:rPr lang="en-US" b="0" i="1" smtClean="0">
                                  <a:solidFill>
                                    <a:srgbClr val="00B050"/>
                                  </a:solidFill>
                                  <a:latin typeface="Cambria Math" panose="02040503050406030204" pitchFamily="18" charset="0"/>
                                </a:rPr>
                                <m:t>𝐹</m:t>
                              </m:r>
                            </m:e>
                            <m:sub>
                              <m:r>
                                <a:rPr lang="en-US" b="0" i="1" smtClean="0">
                                  <a:solidFill>
                                    <a:srgbClr val="00B050"/>
                                  </a:solidFill>
                                  <a:latin typeface="Cambria Math" panose="02040503050406030204" pitchFamily="18" charset="0"/>
                                </a:rPr>
                                <m:t>𝑖</m:t>
                              </m:r>
                              <m:r>
                                <a:rPr lang="en-US" b="0" i="1" smtClean="0">
                                  <a:solidFill>
                                    <a:srgbClr val="00B050"/>
                                  </a:solidFill>
                                  <a:latin typeface="Cambria Math" panose="02040503050406030204" pitchFamily="18" charset="0"/>
                                </a:rPr>
                                <m:t>−1/2</m:t>
                              </m:r>
                            </m:sub>
                            <m:sup>
                              <m:r>
                                <a:rPr lang="en-US" b="0" i="1" smtClean="0">
                                  <a:solidFill>
                                    <a:srgbClr val="00B050"/>
                                  </a:solidFill>
                                  <a:latin typeface="Cambria Math" panose="02040503050406030204" pitchFamily="18" charset="0"/>
                                </a:rPr>
                                <m:t>𝑛</m:t>
                              </m:r>
                            </m:sup>
                          </m:sSubSup>
                        </m:e>
                      </m:d>
                    </m:oMath>
                  </m:oMathPara>
                </a14:m>
                <a:endParaRPr lang="en-US" dirty="0"/>
              </a:p>
              <a:p>
                <a:r>
                  <a:rPr lang="en-US" dirty="0"/>
                  <a:t>Reconstruct to find </a:t>
                </a:r>
                <a14:m>
                  <m:oMath xmlns:m="http://schemas.openxmlformats.org/officeDocument/2006/math">
                    <m:sSubSup>
                      <m:sSubSupPr>
                        <m:ctrlPr>
                          <a:rPr lang="en-US" b="0" i="1" smtClean="0">
                            <a:solidFill>
                              <a:srgbClr val="0070C0"/>
                            </a:solidFill>
                            <a:latin typeface="Cambria Math" panose="02040503050406030204" pitchFamily="18" charset="0"/>
                          </a:rPr>
                        </m:ctrlPr>
                      </m:sSubSupPr>
                      <m:e>
                        <m:r>
                          <a:rPr lang="en-US" b="0" i="1" smtClean="0">
                            <a:solidFill>
                              <a:srgbClr val="0070C0"/>
                            </a:solidFill>
                            <a:latin typeface="Cambria Math" panose="02040503050406030204" pitchFamily="18" charset="0"/>
                          </a:rPr>
                          <m:t>𝑢</m:t>
                        </m:r>
                      </m:e>
                      <m:sub>
                        <m:r>
                          <a:rPr lang="en-US" b="0" i="1" smtClean="0">
                            <a:solidFill>
                              <a:srgbClr val="0070C0"/>
                            </a:solidFill>
                            <a:latin typeface="Cambria Math" panose="02040503050406030204" pitchFamily="18" charset="0"/>
                          </a:rPr>
                          <m:t>𝑖</m:t>
                        </m:r>
                        <m:r>
                          <a:rPr lang="en-US" b="0" i="1" smtClean="0">
                            <a:solidFill>
                              <a:srgbClr val="0070C0"/>
                            </a:solidFill>
                            <a:latin typeface="Cambria Math" panose="02040503050406030204" pitchFamily="18" charset="0"/>
                          </a:rPr>
                          <m:t>+1/2</m:t>
                        </m:r>
                      </m:sub>
                      <m:sup>
                        <m:r>
                          <a:rPr lang="en-US" b="0" i="1" smtClean="0">
                            <a:solidFill>
                              <a:srgbClr val="0070C0"/>
                            </a:solidFill>
                            <a:latin typeface="Cambria Math" panose="02040503050406030204" pitchFamily="18" charset="0"/>
                          </a:rPr>
                          <m:t>𝑛</m:t>
                        </m:r>
                        <m:r>
                          <a:rPr lang="en-US" b="0" i="1" smtClean="0">
                            <a:solidFill>
                              <a:srgbClr val="0070C0"/>
                            </a:solidFill>
                            <a:latin typeface="Cambria Math" panose="02040503050406030204" pitchFamily="18" charset="0"/>
                          </a:rPr>
                          <m:t>+1/2</m:t>
                        </m:r>
                      </m:sup>
                    </m:sSubSup>
                  </m:oMath>
                </a14:m>
                <a:r>
                  <a:rPr lang="en-US" dirty="0"/>
                  <a:t> and calculate the flux at half time step:</a:t>
                </a:r>
              </a:p>
              <a:p>
                <a:pPr marL="0" indent="0">
                  <a:buNone/>
                </a:pPr>
                <a14:m>
                  <m:oMathPara xmlns:m="http://schemas.openxmlformats.org/officeDocument/2006/math">
                    <m:oMathParaPr>
                      <m:jc m:val="centerGroup"/>
                    </m:oMathParaPr>
                    <m:oMath xmlns:m="http://schemas.openxmlformats.org/officeDocument/2006/math">
                      <m:sSubSup>
                        <m:sSubSupPr>
                          <m:ctrlPr>
                            <a:rPr lang="en-US" i="1" smtClean="0">
                              <a:solidFill>
                                <a:schemeClr val="accent2"/>
                              </a:solidFill>
                              <a:latin typeface="Cambria Math" panose="02040503050406030204" pitchFamily="18" charset="0"/>
                            </a:rPr>
                          </m:ctrlPr>
                        </m:sSubSupPr>
                        <m:e>
                          <m:r>
                            <a:rPr lang="en-US" i="1">
                              <a:solidFill>
                                <a:schemeClr val="accent2"/>
                              </a:solidFill>
                              <a:latin typeface="Cambria Math" panose="02040503050406030204" pitchFamily="18" charset="0"/>
                            </a:rPr>
                            <m:t>𝐹</m:t>
                          </m:r>
                        </m:e>
                        <m:sub>
                          <m:r>
                            <a:rPr lang="en-US" i="1">
                              <a:solidFill>
                                <a:schemeClr val="accent2"/>
                              </a:solidFill>
                              <a:latin typeface="Cambria Math" panose="02040503050406030204" pitchFamily="18" charset="0"/>
                            </a:rPr>
                            <m:t>𝑖</m:t>
                          </m:r>
                          <m:r>
                            <a:rPr lang="en-US" i="1">
                              <a:solidFill>
                                <a:schemeClr val="accent2"/>
                              </a:solidFill>
                              <a:latin typeface="Cambria Math" panose="02040503050406030204" pitchFamily="18" charset="0"/>
                            </a:rPr>
                            <m:t>+1/2</m:t>
                          </m:r>
                        </m:sub>
                        <m:sup>
                          <m:r>
                            <a:rPr lang="en-US" i="1">
                              <a:solidFill>
                                <a:schemeClr val="accent2"/>
                              </a:solidFill>
                              <a:latin typeface="Cambria Math" panose="02040503050406030204" pitchFamily="18" charset="0"/>
                            </a:rPr>
                            <m:t>𝑛</m:t>
                          </m:r>
                          <m:r>
                            <a:rPr lang="en-US" b="0" i="1" smtClean="0">
                              <a:solidFill>
                                <a:schemeClr val="accent2"/>
                              </a:solidFill>
                              <a:latin typeface="Cambria Math" panose="02040503050406030204" pitchFamily="18" charset="0"/>
                            </a:rPr>
                            <m:t>+1/2</m:t>
                          </m:r>
                        </m:sup>
                      </m:sSubSup>
                      <m:r>
                        <a:rPr lang="en-US" i="1">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1</m:t>
                          </m:r>
                        </m:num>
                        <m:den>
                          <m:r>
                            <a:rPr lang="en-US" i="1">
                              <a:latin typeface="Cambria Math" panose="02040503050406030204" pitchFamily="18" charset="0"/>
                            </a:rPr>
                            <m:t>2</m:t>
                          </m:r>
                        </m:den>
                      </m:f>
                      <m:sSup>
                        <m:sSupPr>
                          <m:ctrlPr>
                            <a:rPr lang="en-US" i="1">
                              <a:latin typeface="Cambria Math" panose="02040503050406030204" pitchFamily="18" charset="0"/>
                            </a:rPr>
                          </m:ctrlPr>
                        </m:sSupPr>
                        <m:e>
                          <m:d>
                            <m:dPr>
                              <m:ctrlPr>
                                <a:rPr lang="en-US" i="1">
                                  <a:latin typeface="Cambria Math" panose="02040503050406030204" pitchFamily="18" charset="0"/>
                                </a:rPr>
                              </m:ctrlPr>
                            </m:dPr>
                            <m:e>
                              <m:sSubSup>
                                <m:sSubSupPr>
                                  <m:ctrlPr>
                                    <a:rPr lang="en-US" i="1" smtClean="0">
                                      <a:solidFill>
                                        <a:srgbClr val="0070C0"/>
                                      </a:solidFill>
                                      <a:latin typeface="Cambria Math" panose="02040503050406030204" pitchFamily="18" charset="0"/>
                                    </a:rPr>
                                  </m:ctrlPr>
                                </m:sSubSupPr>
                                <m:e>
                                  <m:r>
                                    <a:rPr lang="en-US" i="1">
                                      <a:solidFill>
                                        <a:srgbClr val="0070C0"/>
                                      </a:solidFill>
                                      <a:latin typeface="Cambria Math" panose="02040503050406030204" pitchFamily="18" charset="0"/>
                                    </a:rPr>
                                    <m:t>𝑢</m:t>
                                  </m:r>
                                </m:e>
                                <m:sub>
                                  <m:r>
                                    <a:rPr lang="en-US" i="1">
                                      <a:solidFill>
                                        <a:srgbClr val="0070C0"/>
                                      </a:solidFill>
                                      <a:latin typeface="Cambria Math" panose="02040503050406030204" pitchFamily="18" charset="0"/>
                                    </a:rPr>
                                    <m:t>𝑖</m:t>
                                  </m:r>
                                  <m:r>
                                    <a:rPr lang="en-US" i="1">
                                      <a:solidFill>
                                        <a:srgbClr val="0070C0"/>
                                      </a:solidFill>
                                      <a:latin typeface="Cambria Math" panose="02040503050406030204" pitchFamily="18" charset="0"/>
                                    </a:rPr>
                                    <m:t>+1/2</m:t>
                                  </m:r>
                                </m:sub>
                                <m:sup>
                                  <m:r>
                                    <a:rPr lang="en-US" i="1">
                                      <a:solidFill>
                                        <a:srgbClr val="0070C0"/>
                                      </a:solidFill>
                                      <a:latin typeface="Cambria Math" panose="02040503050406030204" pitchFamily="18" charset="0"/>
                                    </a:rPr>
                                    <m:t>𝑛</m:t>
                                  </m:r>
                                  <m:r>
                                    <a:rPr lang="en-US" b="0" i="1" smtClean="0">
                                      <a:solidFill>
                                        <a:srgbClr val="0070C0"/>
                                      </a:solidFill>
                                      <a:latin typeface="Cambria Math" panose="02040503050406030204" pitchFamily="18" charset="0"/>
                                    </a:rPr>
                                    <m:t>+1/2</m:t>
                                  </m:r>
                                </m:sup>
                              </m:sSubSup>
                            </m:e>
                          </m:d>
                        </m:e>
                        <m:sup>
                          <m:r>
                            <a:rPr lang="en-US" i="1">
                              <a:latin typeface="Cambria Math" panose="02040503050406030204" pitchFamily="18" charset="0"/>
                            </a:rPr>
                            <m:t>2</m:t>
                          </m:r>
                        </m:sup>
                      </m:sSup>
                    </m:oMath>
                  </m:oMathPara>
                </a14:m>
                <a:endParaRPr lang="en-US" dirty="0"/>
              </a:p>
              <a:p>
                <a:r>
                  <a:rPr lang="en-US" dirty="0"/>
                  <a:t>Take full time step:</a:t>
                </a:r>
              </a:p>
              <a:p>
                <a:pPr marL="0" indent="0">
                  <a:buNone/>
                </a:pPr>
                <a14:m>
                  <m:oMathPara xmlns:m="http://schemas.openxmlformats.org/officeDocument/2006/math">
                    <m:oMathParaPr>
                      <m:jc m:val="centerGroup"/>
                    </m:oMathParaPr>
                    <m:oMath xmlns:m="http://schemas.openxmlformats.org/officeDocument/2006/math">
                      <m:sSubSup>
                        <m:sSubSupPr>
                          <m:ctrlPr>
                            <a:rPr lang="en-US" i="1" smtClean="0">
                              <a:solidFill>
                                <a:srgbClr val="C00000"/>
                              </a:solidFill>
                              <a:latin typeface="Cambria Math" panose="02040503050406030204" pitchFamily="18" charset="0"/>
                            </a:rPr>
                          </m:ctrlPr>
                        </m:sSubSupPr>
                        <m:e>
                          <m:r>
                            <a:rPr lang="en-US" i="1">
                              <a:solidFill>
                                <a:srgbClr val="C00000"/>
                              </a:solidFill>
                              <a:latin typeface="Cambria Math" panose="02040503050406030204" pitchFamily="18" charset="0"/>
                            </a:rPr>
                            <m:t>𝑢</m:t>
                          </m:r>
                        </m:e>
                        <m:sub>
                          <m:r>
                            <a:rPr lang="en-US" i="1">
                              <a:solidFill>
                                <a:srgbClr val="C00000"/>
                              </a:solidFill>
                              <a:latin typeface="Cambria Math" panose="02040503050406030204" pitchFamily="18" charset="0"/>
                            </a:rPr>
                            <m:t>𝑖</m:t>
                          </m:r>
                        </m:sub>
                        <m:sup>
                          <m:r>
                            <a:rPr lang="en-US" i="1">
                              <a:solidFill>
                                <a:srgbClr val="C00000"/>
                              </a:solidFill>
                              <a:latin typeface="Cambria Math" panose="02040503050406030204" pitchFamily="18" charset="0"/>
                            </a:rPr>
                            <m:t>𝑛</m:t>
                          </m:r>
                          <m:r>
                            <a:rPr lang="en-US" i="1">
                              <a:solidFill>
                                <a:srgbClr val="C00000"/>
                              </a:solidFill>
                              <a:latin typeface="Cambria Math" panose="02040503050406030204" pitchFamily="18" charset="0"/>
                            </a:rPr>
                            <m:t>+1</m:t>
                          </m:r>
                        </m:sup>
                      </m:sSubSup>
                      <m:r>
                        <a:rPr lang="en-US" i="1">
                          <a:latin typeface="Cambria Math" panose="02040503050406030204" pitchFamily="18" charset="0"/>
                        </a:rPr>
                        <m:t>=</m:t>
                      </m:r>
                      <m:sSubSup>
                        <m:sSubSupPr>
                          <m:ctrlPr>
                            <a:rPr lang="en-US" i="1">
                              <a:latin typeface="Cambria Math" panose="02040503050406030204" pitchFamily="18" charset="0"/>
                            </a:rPr>
                          </m:ctrlPr>
                        </m:sSubSupPr>
                        <m:e>
                          <m:r>
                            <a:rPr lang="en-US" i="1">
                              <a:latin typeface="Cambria Math" panose="02040503050406030204" pitchFamily="18" charset="0"/>
                            </a:rPr>
                            <m:t>𝑢</m:t>
                          </m:r>
                        </m:e>
                        <m:sub>
                          <m:r>
                            <a:rPr lang="en-US" i="1">
                              <a:latin typeface="Cambria Math" panose="02040503050406030204" pitchFamily="18" charset="0"/>
                            </a:rPr>
                            <m:t>𝑖</m:t>
                          </m:r>
                        </m:sub>
                        <m:sup>
                          <m:r>
                            <a:rPr lang="en-US" i="1">
                              <a:latin typeface="Cambria Math" panose="02040503050406030204" pitchFamily="18" charset="0"/>
                            </a:rPr>
                            <m:t>𝑛</m:t>
                          </m:r>
                        </m:sup>
                      </m:sSubSup>
                      <m:r>
                        <a:rPr lang="en-US" i="1">
                          <a:latin typeface="Cambria Math" panose="02040503050406030204" pitchFamily="18" charset="0"/>
                        </a:rPr>
                        <m:t>−</m:t>
                      </m:r>
                      <m:f>
                        <m:fPr>
                          <m:ctrlPr>
                            <a:rPr lang="en-US" i="1">
                              <a:latin typeface="Cambria Math" panose="02040503050406030204" pitchFamily="18" charset="0"/>
                            </a:rPr>
                          </m:ctrlPr>
                        </m:fPr>
                        <m:num>
                          <m:r>
                            <m:rPr>
                              <m:sty m:val="p"/>
                            </m:rPr>
                            <a:rPr lang="en-US">
                              <a:latin typeface="Cambria Math" panose="02040503050406030204" pitchFamily="18" charset="0"/>
                            </a:rPr>
                            <m:t>Δ</m:t>
                          </m:r>
                          <m:r>
                            <a:rPr lang="en-US" i="1">
                              <a:latin typeface="Cambria Math" panose="02040503050406030204" pitchFamily="18" charset="0"/>
                            </a:rPr>
                            <m:t>𝑡</m:t>
                          </m:r>
                        </m:num>
                        <m:den>
                          <m:r>
                            <m:rPr>
                              <m:sty m:val="p"/>
                            </m:rPr>
                            <a:rPr lang="en-US">
                              <a:latin typeface="Cambria Math" panose="02040503050406030204" pitchFamily="18" charset="0"/>
                            </a:rPr>
                            <m:t>Δ</m:t>
                          </m:r>
                          <m:r>
                            <a:rPr lang="en-US" i="1">
                              <a:latin typeface="Cambria Math" panose="02040503050406030204" pitchFamily="18" charset="0"/>
                            </a:rPr>
                            <m:t>𝑥</m:t>
                          </m:r>
                        </m:den>
                      </m:f>
                      <m:d>
                        <m:dPr>
                          <m:ctrlPr>
                            <a:rPr lang="en-US" i="1">
                              <a:latin typeface="Cambria Math" panose="02040503050406030204" pitchFamily="18" charset="0"/>
                            </a:rPr>
                          </m:ctrlPr>
                        </m:dPr>
                        <m:e>
                          <m:sSubSup>
                            <m:sSubSupPr>
                              <m:ctrlPr>
                                <a:rPr lang="en-US" i="1" smtClean="0">
                                  <a:solidFill>
                                    <a:schemeClr val="accent2"/>
                                  </a:solidFill>
                                  <a:latin typeface="Cambria Math" panose="02040503050406030204" pitchFamily="18" charset="0"/>
                                </a:rPr>
                              </m:ctrlPr>
                            </m:sSubSupPr>
                            <m:e>
                              <m:r>
                                <a:rPr lang="en-US" i="1">
                                  <a:solidFill>
                                    <a:schemeClr val="accent2"/>
                                  </a:solidFill>
                                  <a:latin typeface="Cambria Math" panose="02040503050406030204" pitchFamily="18" charset="0"/>
                                </a:rPr>
                                <m:t>𝐹</m:t>
                              </m:r>
                            </m:e>
                            <m:sub>
                              <m:r>
                                <a:rPr lang="en-US" i="1">
                                  <a:solidFill>
                                    <a:schemeClr val="accent2"/>
                                  </a:solidFill>
                                  <a:latin typeface="Cambria Math" panose="02040503050406030204" pitchFamily="18" charset="0"/>
                                </a:rPr>
                                <m:t>𝑖</m:t>
                              </m:r>
                              <m:r>
                                <a:rPr lang="en-US" i="1">
                                  <a:solidFill>
                                    <a:schemeClr val="accent2"/>
                                  </a:solidFill>
                                  <a:latin typeface="Cambria Math" panose="02040503050406030204" pitchFamily="18" charset="0"/>
                                </a:rPr>
                                <m:t>+1/2</m:t>
                              </m:r>
                            </m:sub>
                            <m:sup>
                              <m:r>
                                <a:rPr lang="en-US" i="1">
                                  <a:solidFill>
                                    <a:schemeClr val="accent2"/>
                                  </a:solidFill>
                                  <a:latin typeface="Cambria Math" panose="02040503050406030204" pitchFamily="18" charset="0"/>
                                </a:rPr>
                                <m:t>𝑛</m:t>
                              </m:r>
                              <m:r>
                                <a:rPr lang="en-US" b="0" i="1" smtClean="0">
                                  <a:solidFill>
                                    <a:schemeClr val="accent2"/>
                                  </a:solidFill>
                                  <a:latin typeface="Cambria Math" panose="02040503050406030204" pitchFamily="18" charset="0"/>
                                </a:rPr>
                                <m:t>+1/2</m:t>
                              </m:r>
                            </m:sup>
                          </m:sSubSup>
                          <m:r>
                            <a:rPr lang="en-US" i="1">
                              <a:solidFill>
                                <a:schemeClr val="accent2"/>
                              </a:solidFill>
                              <a:latin typeface="Cambria Math" panose="02040503050406030204" pitchFamily="18" charset="0"/>
                            </a:rPr>
                            <m:t>−</m:t>
                          </m:r>
                          <m:sSubSup>
                            <m:sSubSupPr>
                              <m:ctrlPr>
                                <a:rPr lang="en-US" i="1">
                                  <a:solidFill>
                                    <a:schemeClr val="accent2"/>
                                  </a:solidFill>
                                  <a:latin typeface="Cambria Math" panose="02040503050406030204" pitchFamily="18" charset="0"/>
                                </a:rPr>
                              </m:ctrlPr>
                            </m:sSubSupPr>
                            <m:e>
                              <m:r>
                                <a:rPr lang="en-US" i="1">
                                  <a:solidFill>
                                    <a:schemeClr val="accent2"/>
                                  </a:solidFill>
                                  <a:latin typeface="Cambria Math" panose="02040503050406030204" pitchFamily="18" charset="0"/>
                                </a:rPr>
                                <m:t>𝐹</m:t>
                              </m:r>
                            </m:e>
                            <m:sub>
                              <m:r>
                                <a:rPr lang="en-US" i="1">
                                  <a:solidFill>
                                    <a:schemeClr val="accent2"/>
                                  </a:solidFill>
                                  <a:latin typeface="Cambria Math" panose="02040503050406030204" pitchFamily="18" charset="0"/>
                                </a:rPr>
                                <m:t>𝑖</m:t>
                              </m:r>
                              <m:r>
                                <a:rPr lang="en-US" i="1">
                                  <a:solidFill>
                                    <a:schemeClr val="accent2"/>
                                  </a:solidFill>
                                  <a:latin typeface="Cambria Math" panose="02040503050406030204" pitchFamily="18" charset="0"/>
                                </a:rPr>
                                <m:t>−1/2</m:t>
                              </m:r>
                            </m:sub>
                            <m:sup>
                              <m:r>
                                <a:rPr lang="en-US" i="1">
                                  <a:solidFill>
                                    <a:schemeClr val="accent2"/>
                                  </a:solidFill>
                                  <a:latin typeface="Cambria Math" panose="02040503050406030204" pitchFamily="18" charset="0"/>
                                </a:rPr>
                                <m:t>𝑛</m:t>
                              </m:r>
                              <m:r>
                                <a:rPr lang="en-US" b="0" i="1" smtClean="0">
                                  <a:solidFill>
                                    <a:schemeClr val="accent2"/>
                                  </a:solidFill>
                                  <a:latin typeface="Cambria Math" panose="02040503050406030204" pitchFamily="18" charset="0"/>
                                </a:rPr>
                                <m:t>+1/2</m:t>
                              </m:r>
                            </m:sup>
                          </m:sSubSup>
                        </m:e>
                      </m:d>
                    </m:oMath>
                  </m:oMathPara>
                </a14:m>
                <a:endParaRPr lang="en-US" dirty="0"/>
              </a:p>
              <a:p>
                <a:r>
                  <a:rPr lang="en-US" dirty="0">
                    <a:solidFill>
                      <a:srgbClr val="FF0000"/>
                    </a:solidFill>
                  </a:rPr>
                  <a:t>The Courant condition for a time step must be the most restrictive one:</a:t>
                </a:r>
              </a:p>
              <a:p>
                <a:pPr marL="0" indent="0">
                  <a:buNone/>
                </a:pPr>
                <a14:m>
                  <m:oMathPara xmlns:m="http://schemas.openxmlformats.org/officeDocument/2006/math">
                    <m:oMathParaPr>
                      <m:jc m:val="centerGroup"/>
                    </m:oMathParaPr>
                    <m:oMath xmlns:m="http://schemas.openxmlformats.org/officeDocument/2006/math">
                      <m:r>
                        <m:rPr>
                          <m:sty m:val="p"/>
                        </m:rPr>
                        <a:rPr lang="en-US" b="0" i="0" smtClean="0">
                          <a:solidFill>
                            <a:srgbClr val="FF0000"/>
                          </a:solidFill>
                          <a:latin typeface="Cambria Math" panose="02040503050406030204" pitchFamily="18" charset="0"/>
                        </a:rPr>
                        <m:t>Δ</m:t>
                      </m:r>
                      <m:r>
                        <a:rPr lang="en-US" b="0" i="1" smtClean="0">
                          <a:solidFill>
                            <a:srgbClr val="FF0000"/>
                          </a:solidFill>
                          <a:latin typeface="Cambria Math" panose="02040503050406030204" pitchFamily="18" charset="0"/>
                        </a:rPr>
                        <m:t>𝑡</m:t>
                      </m:r>
                      <m:r>
                        <a:rPr lang="en-US" b="0" i="1" smtClean="0">
                          <a:solidFill>
                            <a:srgbClr val="FF0000"/>
                          </a:solidFill>
                          <a:latin typeface="Cambria Math" panose="02040503050406030204" pitchFamily="18" charset="0"/>
                        </a:rPr>
                        <m:t>=</m:t>
                      </m:r>
                      <m:func>
                        <m:funcPr>
                          <m:ctrlPr>
                            <a:rPr lang="en-US" b="0" i="1" smtClean="0">
                              <a:solidFill>
                                <a:srgbClr val="FF0000"/>
                              </a:solidFill>
                              <a:latin typeface="Cambria Math" panose="02040503050406030204" pitchFamily="18" charset="0"/>
                            </a:rPr>
                          </m:ctrlPr>
                        </m:funcPr>
                        <m:fName>
                          <m:r>
                            <m:rPr>
                              <m:sty m:val="p"/>
                            </m:rPr>
                            <a:rPr lang="en-US" b="0" i="0" smtClean="0">
                              <a:solidFill>
                                <a:srgbClr val="FF0000"/>
                              </a:solidFill>
                              <a:latin typeface="Cambria Math" panose="02040503050406030204" pitchFamily="18" charset="0"/>
                            </a:rPr>
                            <m:t>min</m:t>
                          </m:r>
                        </m:fName>
                        <m:e>
                          <m:r>
                            <a:rPr lang="en-US" b="0" i="1" smtClean="0">
                              <a:solidFill>
                                <a:srgbClr val="FF0000"/>
                              </a:solidFill>
                              <a:latin typeface="Cambria Math" panose="02040503050406030204" pitchFamily="18" charset="0"/>
                            </a:rPr>
                            <m:t>{</m:t>
                          </m:r>
                          <m:r>
                            <m:rPr>
                              <m:sty m:val="p"/>
                            </m:rPr>
                            <a:rPr lang="en-US" b="0" i="0" smtClean="0">
                              <a:solidFill>
                                <a:srgbClr val="FF0000"/>
                              </a:solidFill>
                              <a:latin typeface="Cambria Math" panose="02040503050406030204" pitchFamily="18" charset="0"/>
                            </a:rPr>
                            <m:t>Δ</m:t>
                          </m:r>
                          <m:r>
                            <a:rPr lang="en-US" b="0" i="1" smtClean="0">
                              <a:solidFill>
                                <a:srgbClr val="FF0000"/>
                              </a:solidFill>
                              <a:latin typeface="Cambria Math" panose="02040503050406030204" pitchFamily="18" charset="0"/>
                            </a:rPr>
                            <m:t>𝑥</m:t>
                          </m:r>
                          <m:r>
                            <a:rPr lang="en-US" b="0" i="1" smtClean="0">
                              <a:solidFill>
                                <a:srgbClr val="FF0000"/>
                              </a:solidFill>
                              <a:latin typeface="Cambria Math" panose="02040503050406030204" pitchFamily="18" charset="0"/>
                            </a:rPr>
                            <m:t>/</m:t>
                          </m:r>
                          <m:sSub>
                            <m:sSubPr>
                              <m:ctrlPr>
                                <a:rPr lang="en-US" b="0" i="1" smtClean="0">
                                  <a:solidFill>
                                    <a:srgbClr val="FF0000"/>
                                  </a:solidFill>
                                  <a:latin typeface="Cambria Math" panose="02040503050406030204" pitchFamily="18" charset="0"/>
                                </a:rPr>
                              </m:ctrlPr>
                            </m:sSubPr>
                            <m:e>
                              <m:r>
                                <a:rPr lang="en-US" b="0" i="1" smtClean="0">
                                  <a:solidFill>
                                    <a:srgbClr val="FF0000"/>
                                  </a:solidFill>
                                  <a:latin typeface="Cambria Math" panose="02040503050406030204" pitchFamily="18" charset="0"/>
                                </a:rPr>
                                <m:t>𝑢</m:t>
                              </m:r>
                            </m:e>
                            <m:sub>
                              <m:r>
                                <a:rPr lang="en-US" b="0" i="1" smtClean="0">
                                  <a:solidFill>
                                    <a:srgbClr val="FF0000"/>
                                  </a:solidFill>
                                  <a:latin typeface="Cambria Math" panose="02040503050406030204" pitchFamily="18" charset="0"/>
                                </a:rPr>
                                <m:t>𝑖</m:t>
                              </m:r>
                            </m:sub>
                          </m:sSub>
                          <m:r>
                            <a:rPr lang="en-US" b="0" i="1" smtClean="0">
                              <a:solidFill>
                                <a:srgbClr val="FF0000"/>
                              </a:solidFill>
                              <a:latin typeface="Cambria Math" panose="02040503050406030204" pitchFamily="18" charset="0"/>
                            </a:rPr>
                            <m:t>}</m:t>
                          </m:r>
                        </m:e>
                      </m:func>
                    </m:oMath>
                  </m:oMathPara>
                </a14:m>
                <a:endParaRPr lang="en-US" dirty="0">
                  <a:solidFill>
                    <a:srgbClr val="FF0000"/>
                  </a:solidFill>
                </a:endParaRPr>
              </a:p>
            </p:txBody>
          </p:sp>
        </mc:Choice>
        <mc:Fallback>
          <p:sp>
            <p:nvSpPr>
              <p:cNvPr id="3" name="Content Placeholder 2">
                <a:extLst>
                  <a:ext uri="{FF2B5EF4-FFF2-40B4-BE49-F238E27FC236}">
                    <a16:creationId xmlns:a16="http://schemas.microsoft.com/office/drawing/2014/main" id="{15C4FD65-F675-944D-A379-3A5FFFAEB784}"/>
                  </a:ext>
                </a:extLst>
              </p:cNvPr>
              <p:cNvSpPr>
                <a:spLocks noGrp="1" noRot="1" noChangeAspect="1" noMove="1" noResize="1" noEditPoints="1" noAdjustHandles="1" noChangeArrowheads="1" noChangeShapeType="1" noTextEdit="1"/>
              </p:cNvSpPr>
              <p:nvPr>
                <p:ph idx="1"/>
              </p:nvPr>
            </p:nvSpPr>
            <p:spPr>
              <a:xfrm>
                <a:off x="568750" y="1219674"/>
                <a:ext cx="10785050" cy="5638326"/>
              </a:xfrm>
              <a:blipFill>
                <a:blip r:embed="rId2"/>
                <a:stretch>
                  <a:fillRect l="-824" t="-1802"/>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6" name="TextBox 5">
                <a:extLst>
                  <a:ext uri="{FF2B5EF4-FFF2-40B4-BE49-F238E27FC236}">
                    <a16:creationId xmlns:a16="http://schemas.microsoft.com/office/drawing/2014/main" id="{39564F22-8DDC-1A4A-9FF5-9FFD452CD6EA}"/>
                  </a:ext>
                </a:extLst>
              </p:cNvPr>
              <p:cNvSpPr txBox="1"/>
              <p:nvPr/>
            </p:nvSpPr>
            <p:spPr>
              <a:xfrm>
                <a:off x="5674477" y="6565182"/>
                <a:ext cx="318613"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FF0000"/>
                          </a:solidFill>
                          <a:latin typeface="Cambria Math" panose="02040503050406030204" pitchFamily="18" charset="0"/>
                        </a:rPr>
                        <m:t>𝑖</m:t>
                      </m:r>
                    </m:oMath>
                  </m:oMathPara>
                </a14:m>
                <a:endParaRPr lang="en-US" dirty="0">
                  <a:solidFill>
                    <a:srgbClr val="FF0000"/>
                  </a:solidFill>
                </a:endParaRPr>
              </a:p>
            </p:txBody>
          </p:sp>
        </mc:Choice>
        <mc:Fallback>
          <p:sp>
            <p:nvSpPr>
              <p:cNvPr id="6" name="TextBox 5">
                <a:extLst>
                  <a:ext uri="{FF2B5EF4-FFF2-40B4-BE49-F238E27FC236}">
                    <a16:creationId xmlns:a16="http://schemas.microsoft.com/office/drawing/2014/main" id="{39564F22-8DDC-1A4A-9FF5-9FFD452CD6EA}"/>
                  </a:ext>
                </a:extLst>
              </p:cNvPr>
              <p:cNvSpPr txBox="1">
                <a:spLocks noRot="1" noChangeAspect="1" noMove="1" noResize="1" noEditPoints="1" noAdjustHandles="1" noChangeArrowheads="1" noChangeShapeType="1" noTextEdit="1"/>
              </p:cNvSpPr>
              <p:nvPr/>
            </p:nvSpPr>
            <p:spPr>
              <a:xfrm>
                <a:off x="5674477" y="6565182"/>
                <a:ext cx="318613" cy="369332"/>
              </a:xfrm>
              <a:prstGeom prst="rect">
                <a:avLst/>
              </a:prstGeom>
              <a:blipFill>
                <a:blip r:embed="rId3"/>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317278987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75DCE2F9-F4C3-DA4C-B0FC-7FF6F22D148C}"/>
                  </a:ext>
                </a:extLst>
              </p:cNvPr>
              <p:cNvSpPr>
                <a:spLocks noGrp="1"/>
              </p:cNvSpPr>
              <p:nvPr>
                <p:ph type="title"/>
              </p:nvPr>
            </p:nvSpPr>
            <p:spPr>
              <a:xfrm>
                <a:off x="838200" y="0"/>
                <a:ext cx="10515600" cy="1325563"/>
              </a:xfrm>
            </p:spPr>
            <p:txBody>
              <a:bodyPr/>
              <a:lstStyle/>
              <a:p>
                <a:r>
                  <a:rPr lang="en-US" dirty="0"/>
                  <a:t>Example – steepening of a sine wave in </a:t>
                </a:r>
                <a14:m>
                  <m:oMath xmlns:m="http://schemas.openxmlformats.org/officeDocument/2006/math">
                    <m:r>
                      <a:rPr lang="en-US" b="0" i="1" smtClean="0">
                        <a:latin typeface="Cambria Math" panose="02040503050406030204" pitchFamily="18" charset="0"/>
                      </a:rPr>
                      <m:t>𝑢</m:t>
                    </m:r>
                  </m:oMath>
                </a14:m>
                <a:endParaRPr lang="en-US" dirty="0"/>
              </a:p>
            </p:txBody>
          </p:sp>
        </mc:Choice>
        <mc:Fallback xmlns="">
          <p:sp>
            <p:nvSpPr>
              <p:cNvPr id="2" name="Title 1">
                <a:extLst>
                  <a:ext uri="{FF2B5EF4-FFF2-40B4-BE49-F238E27FC236}">
                    <a16:creationId xmlns:a16="http://schemas.microsoft.com/office/drawing/2014/main" id="{75DCE2F9-F4C3-DA4C-B0FC-7FF6F22D148C}"/>
                  </a:ext>
                </a:extLst>
              </p:cNvPr>
              <p:cNvSpPr>
                <a:spLocks noGrp="1" noRot="1" noChangeAspect="1" noMove="1" noResize="1" noEditPoints="1" noAdjustHandles="1" noChangeArrowheads="1" noChangeShapeType="1" noTextEdit="1"/>
              </p:cNvSpPr>
              <p:nvPr>
                <p:ph type="title"/>
              </p:nvPr>
            </p:nvSpPr>
            <p:spPr>
              <a:xfrm>
                <a:off x="838200" y="0"/>
                <a:ext cx="10515600" cy="1325563"/>
              </a:xfrm>
              <a:blipFill>
                <a:blip r:embed="rId2"/>
                <a:stretch>
                  <a:fillRect l="-229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5C4FD65-F675-944D-A379-3A5FFFAEB784}"/>
                  </a:ext>
                </a:extLst>
              </p:cNvPr>
              <p:cNvSpPr>
                <a:spLocks noGrp="1"/>
              </p:cNvSpPr>
              <p:nvPr>
                <p:ph idx="1"/>
              </p:nvPr>
            </p:nvSpPr>
            <p:spPr>
              <a:xfrm>
                <a:off x="838200" y="1325562"/>
                <a:ext cx="10515600" cy="4680791"/>
              </a:xfrm>
            </p:spPr>
            <p:txBody>
              <a:bodyPr>
                <a:normAutofit/>
              </a:bodyPr>
              <a:lstStyle/>
              <a:p>
                <a:pPr marL="228600" indent="-228600" algn="l" defTabSz="914400" rtl="0" eaLnBrk="1" latinLnBrk="0" hangingPunct="1">
                  <a:lnSpc>
                    <a:spcPct val="90000"/>
                  </a:lnSpc>
                  <a:spcBef>
                    <a:spcPts val="1000"/>
                  </a:spcBef>
                  <a:spcAft>
                    <a:spcPts val="600"/>
                  </a:spcAft>
                  <a:buFont typeface="Arial" panose="020B0604020202020204" pitchFamily="34" charset="0"/>
                  <a:buChar char="•"/>
                </a:pPr>
                <a:r>
                  <a:rPr lang="en-US" dirty="0"/>
                  <a:t>Lets follow the evolution of a Sine wave in the velocity </a:t>
                </a:r>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𝑢</m:t>
                      </m:r>
                      <m:r>
                        <a:rPr lang="en-US" b="0" i="1" smtClean="0">
                          <a:latin typeface="Cambria Math" panose="02040503050406030204" pitchFamily="18" charset="0"/>
                        </a:rPr>
                        <m:t>=</m:t>
                      </m:r>
                      <m:func>
                        <m:funcPr>
                          <m:ctrlPr>
                            <a:rPr lang="en-US" b="0" i="1" smtClean="0">
                              <a:latin typeface="Cambria Math" panose="02040503050406030204" pitchFamily="18" charset="0"/>
                            </a:rPr>
                          </m:ctrlPr>
                        </m:funcPr>
                        <m:fName>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2</m:t>
                              </m:r>
                            </m:den>
                          </m:f>
                          <m:r>
                            <m:rPr>
                              <m:sty m:val="p"/>
                            </m:rPr>
                            <a:rPr lang="en-US" b="0" i="0" smtClean="0">
                              <a:latin typeface="Cambria Math" panose="02040503050406030204" pitchFamily="18" charset="0"/>
                            </a:rPr>
                            <m:t>sin</m:t>
                          </m:r>
                        </m:fName>
                        <m:e>
                          <m:d>
                            <m:dPr>
                              <m:ctrlPr>
                                <a:rPr lang="en-US" b="0" i="1" smtClean="0">
                                  <a:latin typeface="Cambria Math" panose="02040503050406030204" pitchFamily="18" charset="0"/>
                                </a:rPr>
                              </m:ctrlPr>
                            </m:dPr>
                            <m:e>
                              <m:r>
                                <a:rPr lang="en-US" b="0" i="1" smtClean="0">
                                  <a:latin typeface="Cambria Math" panose="02040503050406030204" pitchFamily="18" charset="0"/>
                                </a:rPr>
                                <m:t>2</m:t>
                              </m:r>
                              <m:r>
                                <a:rPr lang="en-US" b="0" i="1" smtClean="0">
                                  <a:latin typeface="Cambria Math" panose="02040503050406030204" pitchFamily="18" charset="0"/>
                                </a:rPr>
                                <m:t>𝜋</m:t>
                              </m:r>
                              <m:r>
                                <a:rPr lang="en-US" b="0" i="1" smtClean="0">
                                  <a:latin typeface="Cambria Math" panose="02040503050406030204" pitchFamily="18" charset="0"/>
                                </a:rPr>
                                <m:t>(3</m:t>
                              </m:r>
                              <m:r>
                                <a:rPr lang="en-US" b="0" i="1" smtClean="0">
                                  <a:latin typeface="Cambria Math" panose="02040503050406030204" pitchFamily="18" charset="0"/>
                                </a:rPr>
                                <m:t>𝑥</m:t>
                              </m:r>
                              <m:r>
                                <a:rPr lang="en-US" b="0" i="1" smtClean="0">
                                  <a:latin typeface="Cambria Math" panose="02040503050406030204" pitchFamily="18" charset="0"/>
                                </a:rPr>
                                <m:t>−1)</m:t>
                              </m:r>
                            </m:e>
                          </m:d>
                        </m:e>
                      </m:func>
                    </m:oMath>
                  </m:oMathPara>
                </a14:m>
                <a:endParaRPr lang="en-US" b="0" dirty="0"/>
              </a:p>
              <a:p>
                <a:r>
                  <a:rPr lang="en-US" dirty="0"/>
                  <a:t>We </a:t>
                </a:r>
                <a:r>
                  <a:rPr lang="en-US" dirty="0" err="1"/>
                  <a:t>advect</a:t>
                </a:r>
                <a:r>
                  <a:rPr lang="en-US" dirty="0"/>
                  <a:t> the Burger equation using a 2’nd order RK time integration, A piecewise linear reconstruction in space with a </a:t>
                </a:r>
                <a:r>
                  <a:rPr lang="en-US" dirty="0" err="1"/>
                  <a:t>minmod</a:t>
                </a:r>
                <a:r>
                  <a:rPr lang="en-US" dirty="0"/>
                  <a:t> slope limiter. </a:t>
                </a:r>
              </a:p>
              <a:p>
                <a:r>
                  <a:rPr lang="en-US" dirty="0"/>
                  <a:t>The Reimann algorithm is used to determine the fluxes at the interfaces. </a:t>
                </a:r>
              </a:p>
              <a:p>
                <a:r>
                  <a:rPr lang="en-US" dirty="0"/>
                  <a:t>We use an outflow BC, a resolution of 512 cells and a Courant condition </a:t>
                </a:r>
                <a14:m>
                  <m:oMath xmlns:m="http://schemas.openxmlformats.org/officeDocument/2006/math">
                    <m:r>
                      <a:rPr lang="en-US" b="0" i="1" smtClean="0">
                        <a:latin typeface="Cambria Math" panose="02040503050406030204" pitchFamily="18" charset="0"/>
                      </a:rPr>
                      <m:t>𝐶</m:t>
                    </m:r>
                    <m:r>
                      <a:rPr lang="en-US" b="0" i="1" smtClean="0">
                        <a:latin typeface="Cambria Math" panose="02040503050406030204" pitchFamily="18" charset="0"/>
                      </a:rPr>
                      <m:t>=0.5</m:t>
                    </m:r>
                  </m:oMath>
                </a14:m>
                <a:r>
                  <a:rPr lang="en-US" dirty="0"/>
                  <a:t>.</a:t>
                </a:r>
              </a:p>
              <a:p>
                <a:endParaRPr lang="en-US" dirty="0"/>
              </a:p>
            </p:txBody>
          </p:sp>
        </mc:Choice>
        <mc:Fallback xmlns="">
          <p:sp>
            <p:nvSpPr>
              <p:cNvPr id="3" name="Content Placeholder 2">
                <a:extLst>
                  <a:ext uri="{FF2B5EF4-FFF2-40B4-BE49-F238E27FC236}">
                    <a16:creationId xmlns:a16="http://schemas.microsoft.com/office/drawing/2014/main" id="{15C4FD65-F675-944D-A379-3A5FFFAEB784}"/>
                  </a:ext>
                </a:extLst>
              </p:cNvPr>
              <p:cNvSpPr>
                <a:spLocks noGrp="1" noRot="1" noChangeAspect="1" noMove="1" noResize="1" noEditPoints="1" noAdjustHandles="1" noChangeArrowheads="1" noChangeShapeType="1" noTextEdit="1"/>
              </p:cNvSpPr>
              <p:nvPr>
                <p:ph idx="1"/>
              </p:nvPr>
            </p:nvSpPr>
            <p:spPr>
              <a:xfrm>
                <a:off x="838200" y="1325562"/>
                <a:ext cx="10515600" cy="4680791"/>
              </a:xfrm>
              <a:blipFill>
                <a:blip r:embed="rId3"/>
                <a:stretch>
                  <a:fillRect l="-965" t="-1892" r="-844"/>
                </a:stretch>
              </a:blipFill>
            </p:spPr>
            <p:txBody>
              <a:bodyPr/>
              <a:lstStyle/>
              <a:p>
                <a:r>
                  <a:rPr lang="en-US">
                    <a:noFill/>
                  </a:rPr>
                  <a:t> </a:t>
                </a:r>
              </a:p>
            </p:txBody>
          </p:sp>
        </mc:Fallback>
      </mc:AlternateContent>
    </p:spTree>
    <p:extLst>
      <p:ext uri="{BB962C8B-B14F-4D97-AF65-F5344CB8AC3E}">
        <p14:creationId xmlns:p14="http://schemas.microsoft.com/office/powerpoint/2010/main" val="36522418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75DCE2F9-F4C3-DA4C-B0FC-7FF6F22D148C}"/>
                  </a:ext>
                </a:extLst>
              </p:cNvPr>
              <p:cNvSpPr>
                <a:spLocks noGrp="1"/>
              </p:cNvSpPr>
              <p:nvPr>
                <p:ph type="title"/>
              </p:nvPr>
            </p:nvSpPr>
            <p:spPr>
              <a:xfrm>
                <a:off x="838200" y="0"/>
                <a:ext cx="10515600" cy="1325563"/>
              </a:xfrm>
            </p:spPr>
            <p:txBody>
              <a:bodyPr/>
              <a:lstStyle/>
              <a:p>
                <a:r>
                  <a:rPr lang="en-US" dirty="0"/>
                  <a:t>Example – steepening of a sine wave in </a:t>
                </a:r>
                <a14:m>
                  <m:oMath xmlns:m="http://schemas.openxmlformats.org/officeDocument/2006/math">
                    <m:r>
                      <a:rPr lang="en-US" b="0" i="1" smtClean="0">
                        <a:latin typeface="Cambria Math" panose="02040503050406030204" pitchFamily="18" charset="0"/>
                      </a:rPr>
                      <m:t>𝑢</m:t>
                    </m:r>
                  </m:oMath>
                </a14:m>
                <a:endParaRPr lang="en-US" dirty="0"/>
              </a:p>
            </p:txBody>
          </p:sp>
        </mc:Choice>
        <mc:Fallback xmlns="">
          <p:sp>
            <p:nvSpPr>
              <p:cNvPr id="2" name="Title 1">
                <a:extLst>
                  <a:ext uri="{FF2B5EF4-FFF2-40B4-BE49-F238E27FC236}">
                    <a16:creationId xmlns:a16="http://schemas.microsoft.com/office/drawing/2014/main" id="{75DCE2F9-F4C3-DA4C-B0FC-7FF6F22D148C}"/>
                  </a:ext>
                </a:extLst>
              </p:cNvPr>
              <p:cNvSpPr>
                <a:spLocks noGrp="1" noRot="1" noChangeAspect="1" noMove="1" noResize="1" noEditPoints="1" noAdjustHandles="1" noChangeArrowheads="1" noChangeShapeType="1" noTextEdit="1"/>
              </p:cNvSpPr>
              <p:nvPr>
                <p:ph type="title"/>
              </p:nvPr>
            </p:nvSpPr>
            <p:spPr>
              <a:xfrm>
                <a:off x="838200" y="0"/>
                <a:ext cx="10515600" cy="1325563"/>
              </a:xfrm>
              <a:blipFill>
                <a:blip r:embed="rId2"/>
                <a:stretch>
                  <a:fillRect l="-2292"/>
                </a:stretch>
              </a:blipFill>
            </p:spPr>
            <p:txBody>
              <a:bodyPr/>
              <a:lstStyle/>
              <a:p>
                <a:r>
                  <a:rPr lang="en-US">
                    <a:noFill/>
                  </a:rPr>
                  <a:t> </a:t>
                </a:r>
              </a:p>
            </p:txBody>
          </p:sp>
        </mc:Fallback>
      </mc:AlternateContent>
      <p:pic>
        <p:nvPicPr>
          <p:cNvPr id="5" name="Content Placeholder 4">
            <a:extLst>
              <a:ext uri="{FF2B5EF4-FFF2-40B4-BE49-F238E27FC236}">
                <a16:creationId xmlns:a16="http://schemas.microsoft.com/office/drawing/2014/main" id="{52E6A4F9-7606-724A-B62A-4F3396D195EE}"/>
              </a:ext>
            </a:extLst>
          </p:cNvPr>
          <p:cNvPicPr>
            <a:picLocks noGrp="1" noChangeAspect="1"/>
          </p:cNvPicPr>
          <p:nvPr>
            <p:ph idx="1"/>
          </p:nvPr>
        </p:nvPicPr>
        <p:blipFill>
          <a:blip r:embed="rId3"/>
          <a:stretch>
            <a:fillRect/>
          </a:stretch>
        </p:blipFill>
        <p:spPr>
          <a:xfrm>
            <a:off x="2256977" y="1325563"/>
            <a:ext cx="7678046" cy="5390968"/>
          </a:xfrm>
        </p:spPr>
      </p:pic>
      <p:sp>
        <p:nvSpPr>
          <p:cNvPr id="6" name="Rectangle 5">
            <a:extLst>
              <a:ext uri="{FF2B5EF4-FFF2-40B4-BE49-F238E27FC236}">
                <a16:creationId xmlns:a16="http://schemas.microsoft.com/office/drawing/2014/main" id="{1F91BD04-6C6A-E94A-9645-4E949273B3E1}"/>
              </a:ext>
            </a:extLst>
          </p:cNvPr>
          <p:cNvSpPr/>
          <p:nvPr/>
        </p:nvSpPr>
        <p:spPr>
          <a:xfrm>
            <a:off x="7171765" y="1810871"/>
            <a:ext cx="2483223" cy="49305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hlinkClick r:id="rId4"/>
            <a:extLst>
              <a:ext uri="{FF2B5EF4-FFF2-40B4-BE49-F238E27FC236}">
                <a16:creationId xmlns:a16="http://schemas.microsoft.com/office/drawing/2014/main" id="{48CC267A-EB36-C248-8BCF-03F66A2FBA2D}"/>
              </a:ext>
            </a:extLst>
          </p:cNvPr>
          <p:cNvSpPr txBox="1"/>
          <p:nvPr/>
        </p:nvSpPr>
        <p:spPr>
          <a:xfrm>
            <a:off x="-53165" y="6541833"/>
            <a:ext cx="5769465" cy="338554"/>
          </a:xfrm>
          <a:prstGeom prst="rect">
            <a:avLst/>
          </a:prstGeom>
          <a:noFill/>
        </p:spPr>
        <p:txBody>
          <a:bodyPr wrap="none" rtlCol="0">
            <a:spAutoFit/>
          </a:bodyPr>
          <a:lstStyle/>
          <a:p>
            <a:r>
              <a:rPr lang="en-US" sz="1600" dirty="0">
                <a:hlinkClick r:id="rId4"/>
              </a:rPr>
              <a:t>Source code: Tutorial on computational astrophysics by M. </a:t>
            </a:r>
            <a:r>
              <a:rPr lang="en-US" sz="1600" dirty="0" err="1">
                <a:hlinkClick r:id="rId4"/>
              </a:rPr>
              <a:t>Zingale</a:t>
            </a:r>
            <a:r>
              <a:rPr lang="en-US" sz="1600" dirty="0">
                <a:hlinkClick r:id="rId4"/>
              </a:rPr>
              <a:t> </a:t>
            </a:r>
            <a:endParaRPr lang="en-US" sz="1600" dirty="0"/>
          </a:p>
        </p:txBody>
      </p:sp>
    </p:spTree>
    <p:extLst>
      <p:ext uri="{BB962C8B-B14F-4D97-AF65-F5344CB8AC3E}">
        <p14:creationId xmlns:p14="http://schemas.microsoft.com/office/powerpoint/2010/main" val="13954031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75DCE2F9-F4C3-DA4C-B0FC-7FF6F22D148C}"/>
                  </a:ext>
                </a:extLst>
              </p:cNvPr>
              <p:cNvSpPr>
                <a:spLocks noGrp="1"/>
              </p:cNvSpPr>
              <p:nvPr>
                <p:ph type="title"/>
              </p:nvPr>
            </p:nvSpPr>
            <p:spPr>
              <a:xfrm>
                <a:off x="838200" y="0"/>
                <a:ext cx="10515600" cy="1325563"/>
              </a:xfrm>
            </p:spPr>
            <p:txBody>
              <a:bodyPr/>
              <a:lstStyle/>
              <a:p>
                <a:r>
                  <a:rPr lang="en-US" dirty="0"/>
                  <a:t>Example – steepening of a sine wave in </a:t>
                </a:r>
                <a14:m>
                  <m:oMath xmlns:m="http://schemas.openxmlformats.org/officeDocument/2006/math">
                    <m:r>
                      <a:rPr lang="en-US" b="0" i="1" smtClean="0">
                        <a:latin typeface="Cambria Math" panose="02040503050406030204" pitchFamily="18" charset="0"/>
                      </a:rPr>
                      <m:t>𝑢</m:t>
                    </m:r>
                  </m:oMath>
                </a14:m>
                <a:endParaRPr lang="en-US" dirty="0"/>
              </a:p>
            </p:txBody>
          </p:sp>
        </mc:Choice>
        <mc:Fallback xmlns="">
          <p:sp>
            <p:nvSpPr>
              <p:cNvPr id="2" name="Title 1">
                <a:extLst>
                  <a:ext uri="{FF2B5EF4-FFF2-40B4-BE49-F238E27FC236}">
                    <a16:creationId xmlns:a16="http://schemas.microsoft.com/office/drawing/2014/main" id="{75DCE2F9-F4C3-DA4C-B0FC-7FF6F22D148C}"/>
                  </a:ext>
                </a:extLst>
              </p:cNvPr>
              <p:cNvSpPr>
                <a:spLocks noGrp="1" noRot="1" noChangeAspect="1" noMove="1" noResize="1" noEditPoints="1" noAdjustHandles="1" noChangeArrowheads="1" noChangeShapeType="1" noTextEdit="1"/>
              </p:cNvSpPr>
              <p:nvPr>
                <p:ph type="title"/>
              </p:nvPr>
            </p:nvSpPr>
            <p:spPr>
              <a:xfrm>
                <a:off x="838200" y="0"/>
                <a:ext cx="10515600" cy="1325563"/>
              </a:xfrm>
              <a:blipFill>
                <a:blip r:embed="rId2"/>
                <a:stretch>
                  <a:fillRect l="-2292"/>
                </a:stretch>
              </a:blipFill>
            </p:spPr>
            <p:txBody>
              <a:bodyPr/>
              <a:lstStyle/>
              <a:p>
                <a:r>
                  <a:rPr lang="en-US">
                    <a:noFill/>
                  </a:rPr>
                  <a:t> </a:t>
                </a:r>
              </a:p>
            </p:txBody>
          </p:sp>
        </mc:Fallback>
      </mc:AlternateContent>
      <p:pic>
        <p:nvPicPr>
          <p:cNvPr id="5" name="Content Placeholder 4">
            <a:extLst>
              <a:ext uri="{FF2B5EF4-FFF2-40B4-BE49-F238E27FC236}">
                <a16:creationId xmlns:a16="http://schemas.microsoft.com/office/drawing/2014/main" id="{52E6A4F9-7606-724A-B62A-4F3396D195EE}"/>
              </a:ext>
            </a:extLst>
          </p:cNvPr>
          <p:cNvPicPr>
            <a:picLocks noGrp="1" noChangeAspect="1"/>
          </p:cNvPicPr>
          <p:nvPr>
            <p:ph idx="1"/>
          </p:nvPr>
        </p:nvPicPr>
        <p:blipFill>
          <a:blip r:embed="rId3"/>
          <a:stretch>
            <a:fillRect/>
          </a:stretch>
        </p:blipFill>
        <p:spPr>
          <a:xfrm>
            <a:off x="2256977" y="1325563"/>
            <a:ext cx="7678046" cy="5390968"/>
          </a:xfrm>
        </p:spPr>
      </p:pic>
      <p:sp>
        <p:nvSpPr>
          <p:cNvPr id="6" name="Rectangle 5">
            <a:extLst>
              <a:ext uri="{FF2B5EF4-FFF2-40B4-BE49-F238E27FC236}">
                <a16:creationId xmlns:a16="http://schemas.microsoft.com/office/drawing/2014/main" id="{1F91BD04-6C6A-E94A-9645-4E949273B3E1}"/>
              </a:ext>
            </a:extLst>
          </p:cNvPr>
          <p:cNvSpPr/>
          <p:nvPr/>
        </p:nvSpPr>
        <p:spPr>
          <a:xfrm>
            <a:off x="7171765" y="1810871"/>
            <a:ext cx="2483223" cy="49305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8C411828-3BEE-F542-AE08-FC9F383A4694}"/>
              </a:ext>
            </a:extLst>
          </p:cNvPr>
          <p:cNvPicPr>
            <a:picLocks noChangeAspect="1"/>
          </p:cNvPicPr>
          <p:nvPr/>
        </p:nvPicPr>
        <p:blipFill>
          <a:blip r:embed="rId4"/>
          <a:stretch>
            <a:fillRect/>
          </a:stretch>
        </p:blipFill>
        <p:spPr>
          <a:xfrm>
            <a:off x="2259242" y="1327153"/>
            <a:ext cx="7675781" cy="5389378"/>
          </a:xfrm>
          <a:prstGeom prst="rect">
            <a:avLst/>
          </a:prstGeom>
        </p:spPr>
      </p:pic>
      <p:sp>
        <p:nvSpPr>
          <p:cNvPr id="7" name="TextBox 6">
            <a:hlinkClick r:id="rId5"/>
            <a:extLst>
              <a:ext uri="{FF2B5EF4-FFF2-40B4-BE49-F238E27FC236}">
                <a16:creationId xmlns:a16="http://schemas.microsoft.com/office/drawing/2014/main" id="{DB9C8322-7B51-3641-9F4C-5BB782FA35F5}"/>
              </a:ext>
            </a:extLst>
          </p:cNvPr>
          <p:cNvSpPr txBox="1"/>
          <p:nvPr/>
        </p:nvSpPr>
        <p:spPr>
          <a:xfrm>
            <a:off x="-53165" y="6541833"/>
            <a:ext cx="5769465" cy="338554"/>
          </a:xfrm>
          <a:prstGeom prst="rect">
            <a:avLst/>
          </a:prstGeom>
          <a:noFill/>
        </p:spPr>
        <p:txBody>
          <a:bodyPr wrap="none" rtlCol="0">
            <a:spAutoFit/>
          </a:bodyPr>
          <a:lstStyle/>
          <a:p>
            <a:r>
              <a:rPr lang="en-US" sz="1600" dirty="0">
                <a:hlinkClick r:id="rId5"/>
              </a:rPr>
              <a:t>Source code: Tutorial on computational astrophysics by M. </a:t>
            </a:r>
            <a:r>
              <a:rPr lang="en-US" sz="1600" dirty="0" err="1">
                <a:hlinkClick r:id="rId5"/>
              </a:rPr>
              <a:t>Zingale</a:t>
            </a:r>
            <a:r>
              <a:rPr lang="en-US" sz="1600" dirty="0">
                <a:hlinkClick r:id="rId5"/>
              </a:rPr>
              <a:t> </a:t>
            </a:r>
            <a:endParaRPr lang="en-US" sz="1600" dirty="0"/>
          </a:p>
        </p:txBody>
      </p:sp>
    </p:spTree>
    <p:extLst>
      <p:ext uri="{BB962C8B-B14F-4D97-AF65-F5344CB8AC3E}">
        <p14:creationId xmlns:p14="http://schemas.microsoft.com/office/powerpoint/2010/main" val="84848792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75DCE2F9-F4C3-DA4C-B0FC-7FF6F22D148C}"/>
                  </a:ext>
                </a:extLst>
              </p:cNvPr>
              <p:cNvSpPr>
                <a:spLocks noGrp="1"/>
              </p:cNvSpPr>
              <p:nvPr>
                <p:ph type="title"/>
              </p:nvPr>
            </p:nvSpPr>
            <p:spPr>
              <a:xfrm>
                <a:off x="838200" y="0"/>
                <a:ext cx="10515600" cy="1325563"/>
              </a:xfrm>
            </p:spPr>
            <p:txBody>
              <a:bodyPr/>
              <a:lstStyle/>
              <a:p>
                <a:r>
                  <a:rPr lang="en-US" dirty="0"/>
                  <a:t>Example – steepening of a sine wave in </a:t>
                </a:r>
                <a14:m>
                  <m:oMath xmlns:m="http://schemas.openxmlformats.org/officeDocument/2006/math">
                    <m:r>
                      <a:rPr lang="en-US" b="0" i="1" smtClean="0">
                        <a:latin typeface="Cambria Math" panose="02040503050406030204" pitchFamily="18" charset="0"/>
                      </a:rPr>
                      <m:t>𝑢</m:t>
                    </m:r>
                  </m:oMath>
                </a14:m>
                <a:endParaRPr lang="en-US" dirty="0"/>
              </a:p>
            </p:txBody>
          </p:sp>
        </mc:Choice>
        <mc:Fallback xmlns="">
          <p:sp>
            <p:nvSpPr>
              <p:cNvPr id="2" name="Title 1">
                <a:extLst>
                  <a:ext uri="{FF2B5EF4-FFF2-40B4-BE49-F238E27FC236}">
                    <a16:creationId xmlns:a16="http://schemas.microsoft.com/office/drawing/2014/main" id="{75DCE2F9-F4C3-DA4C-B0FC-7FF6F22D148C}"/>
                  </a:ext>
                </a:extLst>
              </p:cNvPr>
              <p:cNvSpPr>
                <a:spLocks noGrp="1" noRot="1" noChangeAspect="1" noMove="1" noResize="1" noEditPoints="1" noAdjustHandles="1" noChangeArrowheads="1" noChangeShapeType="1" noTextEdit="1"/>
              </p:cNvSpPr>
              <p:nvPr>
                <p:ph type="title"/>
              </p:nvPr>
            </p:nvSpPr>
            <p:spPr>
              <a:xfrm>
                <a:off x="838200" y="0"/>
                <a:ext cx="10515600" cy="1325563"/>
              </a:xfrm>
              <a:blipFill>
                <a:blip r:embed="rId2"/>
                <a:stretch>
                  <a:fillRect l="-2292"/>
                </a:stretch>
              </a:blipFill>
            </p:spPr>
            <p:txBody>
              <a:bodyPr/>
              <a:lstStyle/>
              <a:p>
                <a:r>
                  <a:rPr lang="en-US">
                    <a:noFill/>
                  </a:rPr>
                  <a:t> </a:t>
                </a:r>
              </a:p>
            </p:txBody>
          </p:sp>
        </mc:Fallback>
      </mc:AlternateContent>
      <p:pic>
        <p:nvPicPr>
          <p:cNvPr id="5" name="Content Placeholder 4">
            <a:extLst>
              <a:ext uri="{FF2B5EF4-FFF2-40B4-BE49-F238E27FC236}">
                <a16:creationId xmlns:a16="http://schemas.microsoft.com/office/drawing/2014/main" id="{52E6A4F9-7606-724A-B62A-4F3396D195EE}"/>
              </a:ext>
            </a:extLst>
          </p:cNvPr>
          <p:cNvPicPr>
            <a:picLocks noGrp="1" noChangeAspect="1"/>
          </p:cNvPicPr>
          <p:nvPr>
            <p:ph idx="1"/>
          </p:nvPr>
        </p:nvPicPr>
        <p:blipFill>
          <a:blip r:embed="rId3"/>
          <a:stretch>
            <a:fillRect/>
          </a:stretch>
        </p:blipFill>
        <p:spPr>
          <a:xfrm>
            <a:off x="2256977" y="1325563"/>
            <a:ext cx="7678046" cy="5390968"/>
          </a:xfrm>
        </p:spPr>
      </p:pic>
      <p:sp>
        <p:nvSpPr>
          <p:cNvPr id="6" name="Rectangle 5">
            <a:extLst>
              <a:ext uri="{FF2B5EF4-FFF2-40B4-BE49-F238E27FC236}">
                <a16:creationId xmlns:a16="http://schemas.microsoft.com/office/drawing/2014/main" id="{1F91BD04-6C6A-E94A-9645-4E949273B3E1}"/>
              </a:ext>
            </a:extLst>
          </p:cNvPr>
          <p:cNvSpPr/>
          <p:nvPr/>
        </p:nvSpPr>
        <p:spPr>
          <a:xfrm>
            <a:off x="7171765" y="1810871"/>
            <a:ext cx="2483223" cy="49305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ADC50F90-4CD5-2D41-BA78-8A9F1626AA64}"/>
              </a:ext>
            </a:extLst>
          </p:cNvPr>
          <p:cNvPicPr>
            <a:picLocks noChangeAspect="1"/>
          </p:cNvPicPr>
          <p:nvPr/>
        </p:nvPicPr>
        <p:blipFill>
          <a:blip r:embed="rId4"/>
          <a:stretch>
            <a:fillRect/>
          </a:stretch>
        </p:blipFill>
        <p:spPr>
          <a:xfrm>
            <a:off x="2259242" y="1325563"/>
            <a:ext cx="7675781" cy="5389378"/>
          </a:xfrm>
          <a:prstGeom prst="rect">
            <a:avLst/>
          </a:prstGeom>
        </p:spPr>
      </p:pic>
      <p:sp>
        <p:nvSpPr>
          <p:cNvPr id="7" name="TextBox 6">
            <a:hlinkClick r:id="rId5"/>
            <a:extLst>
              <a:ext uri="{FF2B5EF4-FFF2-40B4-BE49-F238E27FC236}">
                <a16:creationId xmlns:a16="http://schemas.microsoft.com/office/drawing/2014/main" id="{00094A29-89A8-7847-8316-BF22D1970E02}"/>
              </a:ext>
            </a:extLst>
          </p:cNvPr>
          <p:cNvSpPr txBox="1"/>
          <p:nvPr/>
        </p:nvSpPr>
        <p:spPr>
          <a:xfrm>
            <a:off x="-53165" y="6541833"/>
            <a:ext cx="5769465" cy="338554"/>
          </a:xfrm>
          <a:prstGeom prst="rect">
            <a:avLst/>
          </a:prstGeom>
          <a:noFill/>
        </p:spPr>
        <p:txBody>
          <a:bodyPr wrap="none" rtlCol="0">
            <a:spAutoFit/>
          </a:bodyPr>
          <a:lstStyle/>
          <a:p>
            <a:r>
              <a:rPr lang="en-US" sz="1600" dirty="0">
                <a:hlinkClick r:id="rId5"/>
              </a:rPr>
              <a:t>Source code: Tutorial on computational astrophysics by M. </a:t>
            </a:r>
            <a:r>
              <a:rPr lang="en-US" sz="1600" dirty="0" err="1">
                <a:hlinkClick r:id="rId5"/>
              </a:rPr>
              <a:t>Zingale</a:t>
            </a:r>
            <a:r>
              <a:rPr lang="en-US" sz="1600" dirty="0">
                <a:hlinkClick r:id="rId5"/>
              </a:rPr>
              <a:t> </a:t>
            </a:r>
            <a:endParaRPr lang="en-US" sz="1600" dirty="0"/>
          </a:p>
        </p:txBody>
      </p:sp>
    </p:spTree>
    <p:extLst>
      <p:ext uri="{BB962C8B-B14F-4D97-AF65-F5344CB8AC3E}">
        <p14:creationId xmlns:p14="http://schemas.microsoft.com/office/powerpoint/2010/main" val="12657249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75DCE2F9-F4C3-DA4C-B0FC-7FF6F22D148C}"/>
                  </a:ext>
                </a:extLst>
              </p:cNvPr>
              <p:cNvSpPr>
                <a:spLocks noGrp="1"/>
              </p:cNvSpPr>
              <p:nvPr>
                <p:ph type="title"/>
              </p:nvPr>
            </p:nvSpPr>
            <p:spPr>
              <a:xfrm>
                <a:off x="838200" y="0"/>
                <a:ext cx="10515600" cy="1325563"/>
              </a:xfrm>
            </p:spPr>
            <p:txBody>
              <a:bodyPr/>
              <a:lstStyle/>
              <a:p>
                <a:r>
                  <a:rPr lang="en-US" dirty="0"/>
                  <a:t>Example – steepening of a sine wave in </a:t>
                </a:r>
                <a14:m>
                  <m:oMath xmlns:m="http://schemas.openxmlformats.org/officeDocument/2006/math">
                    <m:r>
                      <a:rPr lang="en-US" b="0" i="1" smtClean="0">
                        <a:latin typeface="Cambria Math" panose="02040503050406030204" pitchFamily="18" charset="0"/>
                      </a:rPr>
                      <m:t>𝑢</m:t>
                    </m:r>
                  </m:oMath>
                </a14:m>
                <a:endParaRPr lang="en-US" dirty="0"/>
              </a:p>
            </p:txBody>
          </p:sp>
        </mc:Choice>
        <mc:Fallback xmlns="">
          <p:sp>
            <p:nvSpPr>
              <p:cNvPr id="2" name="Title 1">
                <a:extLst>
                  <a:ext uri="{FF2B5EF4-FFF2-40B4-BE49-F238E27FC236}">
                    <a16:creationId xmlns:a16="http://schemas.microsoft.com/office/drawing/2014/main" id="{75DCE2F9-F4C3-DA4C-B0FC-7FF6F22D148C}"/>
                  </a:ext>
                </a:extLst>
              </p:cNvPr>
              <p:cNvSpPr>
                <a:spLocks noGrp="1" noRot="1" noChangeAspect="1" noMove="1" noResize="1" noEditPoints="1" noAdjustHandles="1" noChangeArrowheads="1" noChangeShapeType="1" noTextEdit="1"/>
              </p:cNvSpPr>
              <p:nvPr>
                <p:ph type="title"/>
              </p:nvPr>
            </p:nvSpPr>
            <p:spPr>
              <a:xfrm>
                <a:off x="838200" y="0"/>
                <a:ext cx="10515600" cy="1325563"/>
              </a:xfrm>
              <a:blipFill>
                <a:blip r:embed="rId2"/>
                <a:stretch>
                  <a:fillRect l="-2292"/>
                </a:stretch>
              </a:blipFill>
            </p:spPr>
            <p:txBody>
              <a:bodyPr/>
              <a:lstStyle/>
              <a:p>
                <a:r>
                  <a:rPr lang="en-US">
                    <a:noFill/>
                  </a:rPr>
                  <a:t> </a:t>
                </a:r>
              </a:p>
            </p:txBody>
          </p:sp>
        </mc:Fallback>
      </mc:AlternateContent>
      <p:pic>
        <p:nvPicPr>
          <p:cNvPr id="5" name="Content Placeholder 4">
            <a:extLst>
              <a:ext uri="{FF2B5EF4-FFF2-40B4-BE49-F238E27FC236}">
                <a16:creationId xmlns:a16="http://schemas.microsoft.com/office/drawing/2014/main" id="{52E6A4F9-7606-724A-B62A-4F3396D195EE}"/>
              </a:ext>
            </a:extLst>
          </p:cNvPr>
          <p:cNvPicPr>
            <a:picLocks noGrp="1" noChangeAspect="1"/>
          </p:cNvPicPr>
          <p:nvPr>
            <p:ph idx="1"/>
          </p:nvPr>
        </p:nvPicPr>
        <p:blipFill>
          <a:blip r:embed="rId3"/>
          <a:stretch>
            <a:fillRect/>
          </a:stretch>
        </p:blipFill>
        <p:spPr>
          <a:xfrm>
            <a:off x="2256977" y="1325563"/>
            <a:ext cx="7678046" cy="5390968"/>
          </a:xfrm>
        </p:spPr>
      </p:pic>
      <p:sp>
        <p:nvSpPr>
          <p:cNvPr id="6" name="Rectangle 5">
            <a:extLst>
              <a:ext uri="{FF2B5EF4-FFF2-40B4-BE49-F238E27FC236}">
                <a16:creationId xmlns:a16="http://schemas.microsoft.com/office/drawing/2014/main" id="{1F91BD04-6C6A-E94A-9645-4E949273B3E1}"/>
              </a:ext>
            </a:extLst>
          </p:cNvPr>
          <p:cNvSpPr/>
          <p:nvPr/>
        </p:nvSpPr>
        <p:spPr>
          <a:xfrm>
            <a:off x="7171765" y="1810871"/>
            <a:ext cx="2483223" cy="49305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5C25D673-DD03-314E-A48E-062612B1BBD4}"/>
              </a:ext>
            </a:extLst>
          </p:cNvPr>
          <p:cNvPicPr>
            <a:picLocks noChangeAspect="1"/>
          </p:cNvPicPr>
          <p:nvPr/>
        </p:nvPicPr>
        <p:blipFill>
          <a:blip r:embed="rId4"/>
          <a:stretch>
            <a:fillRect/>
          </a:stretch>
        </p:blipFill>
        <p:spPr>
          <a:xfrm>
            <a:off x="2256977" y="1325563"/>
            <a:ext cx="7678046" cy="5390968"/>
          </a:xfrm>
          <a:prstGeom prst="rect">
            <a:avLst/>
          </a:prstGeom>
        </p:spPr>
      </p:pic>
      <p:sp>
        <p:nvSpPr>
          <p:cNvPr id="7" name="TextBox 6">
            <a:hlinkClick r:id="rId5"/>
            <a:extLst>
              <a:ext uri="{FF2B5EF4-FFF2-40B4-BE49-F238E27FC236}">
                <a16:creationId xmlns:a16="http://schemas.microsoft.com/office/drawing/2014/main" id="{9F78F2EC-8A4A-B64F-A9D1-DD9E53B08833}"/>
              </a:ext>
            </a:extLst>
          </p:cNvPr>
          <p:cNvSpPr txBox="1"/>
          <p:nvPr/>
        </p:nvSpPr>
        <p:spPr>
          <a:xfrm>
            <a:off x="-53165" y="6541833"/>
            <a:ext cx="5769465" cy="338554"/>
          </a:xfrm>
          <a:prstGeom prst="rect">
            <a:avLst/>
          </a:prstGeom>
          <a:noFill/>
        </p:spPr>
        <p:txBody>
          <a:bodyPr wrap="none" rtlCol="0">
            <a:spAutoFit/>
          </a:bodyPr>
          <a:lstStyle/>
          <a:p>
            <a:r>
              <a:rPr lang="en-US" sz="1600" dirty="0">
                <a:hlinkClick r:id="rId5"/>
              </a:rPr>
              <a:t>Source code: Tutorial on computational astrophysics by M. </a:t>
            </a:r>
            <a:r>
              <a:rPr lang="en-US" sz="1600" dirty="0" err="1">
                <a:hlinkClick r:id="rId5"/>
              </a:rPr>
              <a:t>Zingale</a:t>
            </a:r>
            <a:r>
              <a:rPr lang="en-US" sz="1600" dirty="0">
                <a:hlinkClick r:id="rId5"/>
              </a:rPr>
              <a:t> </a:t>
            </a:r>
            <a:endParaRPr lang="en-US" sz="1600" dirty="0"/>
          </a:p>
        </p:txBody>
      </p:sp>
    </p:spTree>
    <p:extLst>
      <p:ext uri="{BB962C8B-B14F-4D97-AF65-F5344CB8AC3E}">
        <p14:creationId xmlns:p14="http://schemas.microsoft.com/office/powerpoint/2010/main" val="307718066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75DCE2F9-F4C3-DA4C-B0FC-7FF6F22D148C}"/>
                  </a:ext>
                </a:extLst>
              </p:cNvPr>
              <p:cNvSpPr>
                <a:spLocks noGrp="1"/>
              </p:cNvSpPr>
              <p:nvPr>
                <p:ph type="title"/>
              </p:nvPr>
            </p:nvSpPr>
            <p:spPr>
              <a:xfrm>
                <a:off x="838200" y="0"/>
                <a:ext cx="10515600" cy="1325563"/>
              </a:xfrm>
            </p:spPr>
            <p:txBody>
              <a:bodyPr/>
              <a:lstStyle/>
              <a:p>
                <a:r>
                  <a:rPr lang="en-US" dirty="0"/>
                  <a:t>Example – steepening of a sine wave in </a:t>
                </a:r>
                <a14:m>
                  <m:oMath xmlns:m="http://schemas.openxmlformats.org/officeDocument/2006/math">
                    <m:r>
                      <a:rPr lang="en-US" b="0" i="1" smtClean="0">
                        <a:latin typeface="Cambria Math" panose="02040503050406030204" pitchFamily="18" charset="0"/>
                      </a:rPr>
                      <m:t>𝑢</m:t>
                    </m:r>
                  </m:oMath>
                </a14:m>
                <a:endParaRPr lang="en-US" dirty="0"/>
              </a:p>
            </p:txBody>
          </p:sp>
        </mc:Choice>
        <mc:Fallback xmlns="">
          <p:sp>
            <p:nvSpPr>
              <p:cNvPr id="2" name="Title 1">
                <a:extLst>
                  <a:ext uri="{FF2B5EF4-FFF2-40B4-BE49-F238E27FC236}">
                    <a16:creationId xmlns:a16="http://schemas.microsoft.com/office/drawing/2014/main" id="{75DCE2F9-F4C3-DA4C-B0FC-7FF6F22D148C}"/>
                  </a:ext>
                </a:extLst>
              </p:cNvPr>
              <p:cNvSpPr>
                <a:spLocks noGrp="1" noRot="1" noChangeAspect="1" noMove="1" noResize="1" noEditPoints="1" noAdjustHandles="1" noChangeArrowheads="1" noChangeShapeType="1" noTextEdit="1"/>
              </p:cNvSpPr>
              <p:nvPr>
                <p:ph type="title"/>
              </p:nvPr>
            </p:nvSpPr>
            <p:spPr>
              <a:xfrm>
                <a:off x="838200" y="0"/>
                <a:ext cx="10515600" cy="1325563"/>
              </a:xfrm>
              <a:blipFill>
                <a:blip r:embed="rId2"/>
                <a:stretch>
                  <a:fillRect l="-2292"/>
                </a:stretch>
              </a:blipFill>
            </p:spPr>
            <p:txBody>
              <a:bodyPr/>
              <a:lstStyle/>
              <a:p>
                <a:r>
                  <a:rPr lang="en-US">
                    <a:noFill/>
                  </a:rPr>
                  <a:t> </a:t>
                </a:r>
              </a:p>
            </p:txBody>
          </p:sp>
        </mc:Fallback>
      </mc:AlternateContent>
      <p:pic>
        <p:nvPicPr>
          <p:cNvPr id="5" name="Content Placeholder 4">
            <a:extLst>
              <a:ext uri="{FF2B5EF4-FFF2-40B4-BE49-F238E27FC236}">
                <a16:creationId xmlns:a16="http://schemas.microsoft.com/office/drawing/2014/main" id="{52E6A4F9-7606-724A-B62A-4F3396D195EE}"/>
              </a:ext>
            </a:extLst>
          </p:cNvPr>
          <p:cNvPicPr>
            <a:picLocks noGrp="1" noChangeAspect="1"/>
          </p:cNvPicPr>
          <p:nvPr>
            <p:ph idx="1"/>
          </p:nvPr>
        </p:nvPicPr>
        <p:blipFill>
          <a:blip r:embed="rId3"/>
          <a:stretch>
            <a:fillRect/>
          </a:stretch>
        </p:blipFill>
        <p:spPr>
          <a:xfrm>
            <a:off x="2256977" y="1325563"/>
            <a:ext cx="7678046" cy="5390968"/>
          </a:xfrm>
        </p:spPr>
      </p:pic>
      <p:sp>
        <p:nvSpPr>
          <p:cNvPr id="6" name="Rectangle 5">
            <a:extLst>
              <a:ext uri="{FF2B5EF4-FFF2-40B4-BE49-F238E27FC236}">
                <a16:creationId xmlns:a16="http://schemas.microsoft.com/office/drawing/2014/main" id="{1F91BD04-6C6A-E94A-9645-4E949273B3E1}"/>
              </a:ext>
            </a:extLst>
          </p:cNvPr>
          <p:cNvSpPr/>
          <p:nvPr/>
        </p:nvSpPr>
        <p:spPr>
          <a:xfrm>
            <a:off x="7171765" y="1810871"/>
            <a:ext cx="2483223" cy="49305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70A3F0A7-B2F6-A94D-9B8D-9B8DF0F058F0}"/>
              </a:ext>
            </a:extLst>
          </p:cNvPr>
          <p:cNvPicPr>
            <a:picLocks noChangeAspect="1"/>
          </p:cNvPicPr>
          <p:nvPr/>
        </p:nvPicPr>
        <p:blipFill>
          <a:blip r:embed="rId4"/>
          <a:stretch>
            <a:fillRect/>
          </a:stretch>
        </p:blipFill>
        <p:spPr>
          <a:xfrm>
            <a:off x="2259242" y="1327153"/>
            <a:ext cx="7675781" cy="5389378"/>
          </a:xfrm>
          <a:prstGeom prst="rect">
            <a:avLst/>
          </a:prstGeom>
        </p:spPr>
      </p:pic>
      <p:sp>
        <p:nvSpPr>
          <p:cNvPr id="7" name="TextBox 6">
            <a:hlinkClick r:id="rId5"/>
            <a:extLst>
              <a:ext uri="{FF2B5EF4-FFF2-40B4-BE49-F238E27FC236}">
                <a16:creationId xmlns:a16="http://schemas.microsoft.com/office/drawing/2014/main" id="{8D0BCD47-A778-DD47-BD91-A079AE9C8F79}"/>
              </a:ext>
            </a:extLst>
          </p:cNvPr>
          <p:cNvSpPr txBox="1"/>
          <p:nvPr/>
        </p:nvSpPr>
        <p:spPr>
          <a:xfrm>
            <a:off x="-53165" y="6541833"/>
            <a:ext cx="5769465" cy="338554"/>
          </a:xfrm>
          <a:prstGeom prst="rect">
            <a:avLst/>
          </a:prstGeom>
          <a:noFill/>
        </p:spPr>
        <p:txBody>
          <a:bodyPr wrap="none" rtlCol="0">
            <a:spAutoFit/>
          </a:bodyPr>
          <a:lstStyle/>
          <a:p>
            <a:r>
              <a:rPr lang="en-US" sz="1600" dirty="0">
                <a:hlinkClick r:id="rId5"/>
              </a:rPr>
              <a:t>Source code: Tutorial on computational astrophysics by M. </a:t>
            </a:r>
            <a:r>
              <a:rPr lang="en-US" sz="1600" dirty="0" err="1">
                <a:hlinkClick r:id="rId5"/>
              </a:rPr>
              <a:t>Zingale</a:t>
            </a:r>
            <a:r>
              <a:rPr lang="en-US" sz="1600" dirty="0">
                <a:hlinkClick r:id="rId5"/>
              </a:rPr>
              <a:t> </a:t>
            </a:r>
            <a:endParaRPr lang="en-US" sz="1600" dirty="0"/>
          </a:p>
        </p:txBody>
      </p:sp>
    </p:spTree>
    <p:extLst>
      <p:ext uri="{BB962C8B-B14F-4D97-AF65-F5344CB8AC3E}">
        <p14:creationId xmlns:p14="http://schemas.microsoft.com/office/powerpoint/2010/main" val="271355352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75DCE2F9-F4C3-DA4C-B0FC-7FF6F22D148C}"/>
                  </a:ext>
                </a:extLst>
              </p:cNvPr>
              <p:cNvSpPr>
                <a:spLocks noGrp="1"/>
              </p:cNvSpPr>
              <p:nvPr>
                <p:ph type="title"/>
              </p:nvPr>
            </p:nvSpPr>
            <p:spPr>
              <a:xfrm>
                <a:off x="838200" y="0"/>
                <a:ext cx="10515600" cy="1325563"/>
              </a:xfrm>
            </p:spPr>
            <p:txBody>
              <a:bodyPr/>
              <a:lstStyle/>
              <a:p>
                <a:r>
                  <a:rPr lang="en-US" dirty="0"/>
                  <a:t>Example – steepening of a sine wave in </a:t>
                </a:r>
                <a14:m>
                  <m:oMath xmlns:m="http://schemas.openxmlformats.org/officeDocument/2006/math">
                    <m:r>
                      <a:rPr lang="en-US" b="0" i="1" smtClean="0">
                        <a:latin typeface="Cambria Math" panose="02040503050406030204" pitchFamily="18" charset="0"/>
                      </a:rPr>
                      <m:t>𝑢</m:t>
                    </m:r>
                  </m:oMath>
                </a14:m>
                <a:endParaRPr lang="en-US" dirty="0"/>
              </a:p>
            </p:txBody>
          </p:sp>
        </mc:Choice>
        <mc:Fallback xmlns="">
          <p:sp>
            <p:nvSpPr>
              <p:cNvPr id="2" name="Title 1">
                <a:extLst>
                  <a:ext uri="{FF2B5EF4-FFF2-40B4-BE49-F238E27FC236}">
                    <a16:creationId xmlns:a16="http://schemas.microsoft.com/office/drawing/2014/main" id="{75DCE2F9-F4C3-DA4C-B0FC-7FF6F22D148C}"/>
                  </a:ext>
                </a:extLst>
              </p:cNvPr>
              <p:cNvSpPr>
                <a:spLocks noGrp="1" noRot="1" noChangeAspect="1" noMove="1" noResize="1" noEditPoints="1" noAdjustHandles="1" noChangeArrowheads="1" noChangeShapeType="1" noTextEdit="1"/>
              </p:cNvSpPr>
              <p:nvPr>
                <p:ph type="title"/>
              </p:nvPr>
            </p:nvSpPr>
            <p:spPr>
              <a:xfrm>
                <a:off x="838200" y="0"/>
                <a:ext cx="10515600" cy="1325563"/>
              </a:xfrm>
              <a:blipFill>
                <a:blip r:embed="rId2"/>
                <a:stretch>
                  <a:fillRect l="-2292"/>
                </a:stretch>
              </a:blipFill>
            </p:spPr>
            <p:txBody>
              <a:bodyPr/>
              <a:lstStyle/>
              <a:p>
                <a:r>
                  <a:rPr lang="en-US">
                    <a:noFill/>
                  </a:rPr>
                  <a:t> </a:t>
                </a:r>
              </a:p>
            </p:txBody>
          </p:sp>
        </mc:Fallback>
      </mc:AlternateContent>
      <p:pic>
        <p:nvPicPr>
          <p:cNvPr id="5" name="Content Placeholder 4">
            <a:extLst>
              <a:ext uri="{FF2B5EF4-FFF2-40B4-BE49-F238E27FC236}">
                <a16:creationId xmlns:a16="http://schemas.microsoft.com/office/drawing/2014/main" id="{52E6A4F9-7606-724A-B62A-4F3396D195EE}"/>
              </a:ext>
            </a:extLst>
          </p:cNvPr>
          <p:cNvPicPr>
            <a:picLocks noGrp="1" noChangeAspect="1"/>
          </p:cNvPicPr>
          <p:nvPr>
            <p:ph idx="1"/>
          </p:nvPr>
        </p:nvPicPr>
        <p:blipFill>
          <a:blip r:embed="rId3"/>
          <a:stretch>
            <a:fillRect/>
          </a:stretch>
        </p:blipFill>
        <p:spPr>
          <a:xfrm>
            <a:off x="2256977" y="1325563"/>
            <a:ext cx="7678046" cy="5390968"/>
          </a:xfrm>
        </p:spPr>
      </p:pic>
      <p:sp>
        <p:nvSpPr>
          <p:cNvPr id="6" name="Rectangle 5">
            <a:extLst>
              <a:ext uri="{FF2B5EF4-FFF2-40B4-BE49-F238E27FC236}">
                <a16:creationId xmlns:a16="http://schemas.microsoft.com/office/drawing/2014/main" id="{1F91BD04-6C6A-E94A-9645-4E949273B3E1}"/>
              </a:ext>
            </a:extLst>
          </p:cNvPr>
          <p:cNvSpPr/>
          <p:nvPr/>
        </p:nvSpPr>
        <p:spPr>
          <a:xfrm>
            <a:off x="7171765" y="1810871"/>
            <a:ext cx="2483223" cy="49305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9A0F3BE2-FAC9-5548-B02E-6CF54EAFA77A}"/>
              </a:ext>
            </a:extLst>
          </p:cNvPr>
          <p:cNvPicPr>
            <a:picLocks noChangeAspect="1"/>
          </p:cNvPicPr>
          <p:nvPr/>
        </p:nvPicPr>
        <p:blipFill>
          <a:blip r:embed="rId4"/>
          <a:stretch>
            <a:fillRect/>
          </a:stretch>
        </p:blipFill>
        <p:spPr>
          <a:xfrm>
            <a:off x="2256977" y="1324260"/>
            <a:ext cx="7679901" cy="5392271"/>
          </a:xfrm>
          <a:prstGeom prst="rect">
            <a:avLst/>
          </a:prstGeom>
        </p:spPr>
      </p:pic>
      <p:sp>
        <p:nvSpPr>
          <p:cNvPr id="7" name="TextBox 6">
            <a:hlinkClick r:id="rId5"/>
            <a:extLst>
              <a:ext uri="{FF2B5EF4-FFF2-40B4-BE49-F238E27FC236}">
                <a16:creationId xmlns:a16="http://schemas.microsoft.com/office/drawing/2014/main" id="{20D57164-B02D-3347-8BAD-C739D24A1680}"/>
              </a:ext>
            </a:extLst>
          </p:cNvPr>
          <p:cNvSpPr txBox="1"/>
          <p:nvPr/>
        </p:nvSpPr>
        <p:spPr>
          <a:xfrm>
            <a:off x="-53165" y="6541833"/>
            <a:ext cx="5769465" cy="338554"/>
          </a:xfrm>
          <a:prstGeom prst="rect">
            <a:avLst/>
          </a:prstGeom>
          <a:noFill/>
        </p:spPr>
        <p:txBody>
          <a:bodyPr wrap="none" rtlCol="0">
            <a:spAutoFit/>
          </a:bodyPr>
          <a:lstStyle/>
          <a:p>
            <a:r>
              <a:rPr lang="en-US" sz="1600" dirty="0">
                <a:hlinkClick r:id="rId5"/>
              </a:rPr>
              <a:t>Source code: Tutorial on computational astrophysics by M. </a:t>
            </a:r>
            <a:r>
              <a:rPr lang="en-US" sz="1600" dirty="0" err="1">
                <a:hlinkClick r:id="rId5"/>
              </a:rPr>
              <a:t>Zingale</a:t>
            </a:r>
            <a:r>
              <a:rPr lang="en-US" sz="1600" dirty="0">
                <a:hlinkClick r:id="rId5"/>
              </a:rPr>
              <a:t> </a:t>
            </a:r>
            <a:endParaRPr lang="en-US" sz="1600" dirty="0"/>
          </a:p>
        </p:txBody>
      </p:sp>
    </p:spTree>
    <p:extLst>
      <p:ext uri="{BB962C8B-B14F-4D97-AF65-F5344CB8AC3E}">
        <p14:creationId xmlns:p14="http://schemas.microsoft.com/office/powerpoint/2010/main" val="352015683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61E7DB92-D990-D445-8CD9-88BEC6843505}"/>
              </a:ext>
            </a:extLst>
          </p:cNvPr>
          <p:cNvPicPr>
            <a:picLocks noChangeAspect="1"/>
          </p:cNvPicPr>
          <p:nvPr/>
        </p:nvPicPr>
        <p:blipFill>
          <a:blip r:embed="rId2"/>
          <a:stretch>
            <a:fillRect/>
          </a:stretch>
        </p:blipFill>
        <p:spPr>
          <a:xfrm>
            <a:off x="2378946" y="1614214"/>
            <a:ext cx="7316981" cy="5137455"/>
          </a:xfrm>
          <a:prstGeom prst="rect">
            <a:avLst/>
          </a:prstGeom>
        </p:spPr>
      </p:pic>
      <p:sp>
        <p:nvSpPr>
          <p:cNvPr id="2" name="Title 1">
            <a:extLst>
              <a:ext uri="{FF2B5EF4-FFF2-40B4-BE49-F238E27FC236}">
                <a16:creationId xmlns:a16="http://schemas.microsoft.com/office/drawing/2014/main" id="{75DCE2F9-F4C3-DA4C-B0FC-7FF6F22D148C}"/>
              </a:ext>
            </a:extLst>
          </p:cNvPr>
          <p:cNvSpPr>
            <a:spLocks noGrp="1"/>
          </p:cNvSpPr>
          <p:nvPr>
            <p:ph type="title"/>
          </p:nvPr>
        </p:nvSpPr>
        <p:spPr>
          <a:xfrm>
            <a:off x="838200" y="0"/>
            <a:ext cx="10515600" cy="1325563"/>
          </a:xfrm>
        </p:spPr>
        <p:txBody>
          <a:bodyPr/>
          <a:lstStyle/>
          <a:p>
            <a:pPr rtl="1"/>
            <a:r>
              <a:rPr lang="en-US" dirty="0"/>
              <a:t>Rarefaction waves and Shock capturing</a:t>
            </a:r>
          </a:p>
        </p:txBody>
      </p:sp>
      <p:sp>
        <p:nvSpPr>
          <p:cNvPr id="3" name="Content Placeholder 2">
            <a:extLst>
              <a:ext uri="{FF2B5EF4-FFF2-40B4-BE49-F238E27FC236}">
                <a16:creationId xmlns:a16="http://schemas.microsoft.com/office/drawing/2014/main" id="{15C4FD65-F675-944D-A379-3A5FFFAEB784}"/>
              </a:ext>
            </a:extLst>
          </p:cNvPr>
          <p:cNvSpPr>
            <a:spLocks noGrp="1"/>
          </p:cNvSpPr>
          <p:nvPr>
            <p:ph idx="1"/>
          </p:nvPr>
        </p:nvSpPr>
        <p:spPr>
          <a:xfrm>
            <a:off x="838200" y="1325562"/>
            <a:ext cx="10515600" cy="1103873"/>
          </a:xfrm>
        </p:spPr>
        <p:txBody>
          <a:bodyPr/>
          <a:lstStyle/>
          <a:p>
            <a:r>
              <a:rPr lang="en-US" dirty="0"/>
              <a:t>We can also simulate the formation of a rarefaction wave:</a:t>
            </a:r>
          </a:p>
        </p:txBody>
      </p:sp>
      <p:sp>
        <p:nvSpPr>
          <p:cNvPr id="5" name="TextBox 4">
            <a:hlinkClick r:id="rId3"/>
            <a:extLst>
              <a:ext uri="{FF2B5EF4-FFF2-40B4-BE49-F238E27FC236}">
                <a16:creationId xmlns:a16="http://schemas.microsoft.com/office/drawing/2014/main" id="{2CC04E3A-427C-064E-8C00-CE62899FFF37}"/>
              </a:ext>
            </a:extLst>
          </p:cNvPr>
          <p:cNvSpPr txBox="1"/>
          <p:nvPr/>
        </p:nvSpPr>
        <p:spPr>
          <a:xfrm>
            <a:off x="-53165" y="6541833"/>
            <a:ext cx="5769465" cy="338554"/>
          </a:xfrm>
          <a:prstGeom prst="rect">
            <a:avLst/>
          </a:prstGeom>
          <a:noFill/>
        </p:spPr>
        <p:txBody>
          <a:bodyPr wrap="none" rtlCol="0">
            <a:spAutoFit/>
          </a:bodyPr>
          <a:lstStyle/>
          <a:p>
            <a:r>
              <a:rPr lang="en-US" sz="1600" dirty="0">
                <a:hlinkClick r:id="rId3"/>
              </a:rPr>
              <a:t>Source code: Tutorial on computational astrophysics by M. </a:t>
            </a:r>
            <a:r>
              <a:rPr lang="en-US" sz="1600" dirty="0" err="1">
                <a:hlinkClick r:id="rId3"/>
              </a:rPr>
              <a:t>Zingale</a:t>
            </a:r>
            <a:r>
              <a:rPr lang="en-US" sz="1600" dirty="0">
                <a:hlinkClick r:id="rId3"/>
              </a:rPr>
              <a:t> </a:t>
            </a:r>
            <a:endParaRPr lang="en-US" sz="1600" dirty="0"/>
          </a:p>
        </p:txBody>
      </p:sp>
    </p:spTree>
    <p:extLst>
      <p:ext uri="{BB962C8B-B14F-4D97-AF65-F5344CB8AC3E}">
        <p14:creationId xmlns:p14="http://schemas.microsoft.com/office/powerpoint/2010/main" val="200621931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C98E4ED5-8A37-794A-AD93-F6FC2484B338}"/>
              </a:ext>
            </a:extLst>
          </p:cNvPr>
          <p:cNvPicPr>
            <a:picLocks noChangeAspect="1"/>
          </p:cNvPicPr>
          <p:nvPr/>
        </p:nvPicPr>
        <p:blipFill>
          <a:blip r:embed="rId2"/>
          <a:stretch>
            <a:fillRect/>
          </a:stretch>
        </p:blipFill>
        <p:spPr>
          <a:xfrm>
            <a:off x="2378944" y="1614214"/>
            <a:ext cx="7316983" cy="5137456"/>
          </a:xfrm>
          <a:prstGeom prst="rect">
            <a:avLst/>
          </a:prstGeom>
        </p:spPr>
      </p:pic>
      <p:sp>
        <p:nvSpPr>
          <p:cNvPr id="2" name="Title 1">
            <a:extLst>
              <a:ext uri="{FF2B5EF4-FFF2-40B4-BE49-F238E27FC236}">
                <a16:creationId xmlns:a16="http://schemas.microsoft.com/office/drawing/2014/main" id="{75DCE2F9-F4C3-DA4C-B0FC-7FF6F22D148C}"/>
              </a:ext>
            </a:extLst>
          </p:cNvPr>
          <p:cNvSpPr>
            <a:spLocks noGrp="1"/>
          </p:cNvSpPr>
          <p:nvPr>
            <p:ph type="title"/>
          </p:nvPr>
        </p:nvSpPr>
        <p:spPr>
          <a:xfrm>
            <a:off x="838200" y="0"/>
            <a:ext cx="10515600" cy="1325563"/>
          </a:xfrm>
        </p:spPr>
        <p:txBody>
          <a:bodyPr/>
          <a:lstStyle/>
          <a:p>
            <a:pPr rtl="1"/>
            <a:r>
              <a:rPr lang="en-US" dirty="0"/>
              <a:t>Rarefaction waves and Shock capturing</a:t>
            </a:r>
          </a:p>
        </p:txBody>
      </p:sp>
      <p:sp>
        <p:nvSpPr>
          <p:cNvPr id="3" name="Content Placeholder 2">
            <a:extLst>
              <a:ext uri="{FF2B5EF4-FFF2-40B4-BE49-F238E27FC236}">
                <a16:creationId xmlns:a16="http://schemas.microsoft.com/office/drawing/2014/main" id="{15C4FD65-F675-944D-A379-3A5FFFAEB784}"/>
              </a:ext>
            </a:extLst>
          </p:cNvPr>
          <p:cNvSpPr>
            <a:spLocks noGrp="1"/>
          </p:cNvSpPr>
          <p:nvPr>
            <p:ph idx="1"/>
          </p:nvPr>
        </p:nvSpPr>
        <p:spPr>
          <a:xfrm>
            <a:off x="838200" y="1325562"/>
            <a:ext cx="10515600" cy="1103873"/>
          </a:xfrm>
        </p:spPr>
        <p:txBody>
          <a:bodyPr/>
          <a:lstStyle/>
          <a:p>
            <a:r>
              <a:rPr lang="en-US" dirty="0"/>
              <a:t>We can also simulate the formation of a rarefaction wave:</a:t>
            </a:r>
          </a:p>
        </p:txBody>
      </p:sp>
      <p:sp>
        <p:nvSpPr>
          <p:cNvPr id="7" name="TextBox 6">
            <a:hlinkClick r:id="rId3"/>
            <a:extLst>
              <a:ext uri="{FF2B5EF4-FFF2-40B4-BE49-F238E27FC236}">
                <a16:creationId xmlns:a16="http://schemas.microsoft.com/office/drawing/2014/main" id="{37718C1B-B5B5-7D42-8A39-BECC7C2D5AE4}"/>
              </a:ext>
            </a:extLst>
          </p:cNvPr>
          <p:cNvSpPr txBox="1"/>
          <p:nvPr/>
        </p:nvSpPr>
        <p:spPr>
          <a:xfrm>
            <a:off x="-53165" y="6541833"/>
            <a:ext cx="5769465" cy="338554"/>
          </a:xfrm>
          <a:prstGeom prst="rect">
            <a:avLst/>
          </a:prstGeom>
          <a:noFill/>
        </p:spPr>
        <p:txBody>
          <a:bodyPr wrap="none" rtlCol="0">
            <a:spAutoFit/>
          </a:bodyPr>
          <a:lstStyle/>
          <a:p>
            <a:r>
              <a:rPr lang="en-US" sz="1600" dirty="0">
                <a:hlinkClick r:id="rId3"/>
              </a:rPr>
              <a:t>Source code: Tutorial on computational astrophysics by M. </a:t>
            </a:r>
            <a:r>
              <a:rPr lang="en-US" sz="1600" dirty="0" err="1">
                <a:hlinkClick r:id="rId3"/>
              </a:rPr>
              <a:t>Zingale</a:t>
            </a:r>
            <a:r>
              <a:rPr lang="en-US" sz="1600" dirty="0">
                <a:hlinkClick r:id="rId3"/>
              </a:rPr>
              <a:t> </a:t>
            </a:r>
            <a:endParaRPr lang="en-US" sz="1600" dirty="0"/>
          </a:p>
        </p:txBody>
      </p:sp>
    </p:spTree>
    <p:extLst>
      <p:ext uri="{BB962C8B-B14F-4D97-AF65-F5344CB8AC3E}">
        <p14:creationId xmlns:p14="http://schemas.microsoft.com/office/powerpoint/2010/main" val="96005180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814D819F-7211-5647-AD5F-7352D7BFA321}"/>
              </a:ext>
            </a:extLst>
          </p:cNvPr>
          <p:cNvPicPr>
            <a:picLocks noChangeAspect="1"/>
          </p:cNvPicPr>
          <p:nvPr/>
        </p:nvPicPr>
        <p:blipFill>
          <a:blip r:embed="rId2"/>
          <a:stretch>
            <a:fillRect/>
          </a:stretch>
        </p:blipFill>
        <p:spPr>
          <a:xfrm>
            <a:off x="2378944" y="1614213"/>
            <a:ext cx="7316983" cy="5137456"/>
          </a:xfrm>
          <a:prstGeom prst="rect">
            <a:avLst/>
          </a:prstGeom>
        </p:spPr>
      </p:pic>
      <p:sp>
        <p:nvSpPr>
          <p:cNvPr id="2" name="Title 1">
            <a:extLst>
              <a:ext uri="{FF2B5EF4-FFF2-40B4-BE49-F238E27FC236}">
                <a16:creationId xmlns:a16="http://schemas.microsoft.com/office/drawing/2014/main" id="{75DCE2F9-F4C3-DA4C-B0FC-7FF6F22D148C}"/>
              </a:ext>
            </a:extLst>
          </p:cNvPr>
          <p:cNvSpPr>
            <a:spLocks noGrp="1"/>
          </p:cNvSpPr>
          <p:nvPr>
            <p:ph type="title"/>
          </p:nvPr>
        </p:nvSpPr>
        <p:spPr>
          <a:xfrm>
            <a:off x="838200" y="0"/>
            <a:ext cx="10515600" cy="1325563"/>
          </a:xfrm>
        </p:spPr>
        <p:txBody>
          <a:bodyPr/>
          <a:lstStyle/>
          <a:p>
            <a:pPr rtl="1"/>
            <a:r>
              <a:rPr lang="en-US" dirty="0"/>
              <a:t>Rarefaction waves and Shock capturing</a:t>
            </a:r>
          </a:p>
        </p:txBody>
      </p:sp>
      <p:sp>
        <p:nvSpPr>
          <p:cNvPr id="3" name="Content Placeholder 2">
            <a:extLst>
              <a:ext uri="{FF2B5EF4-FFF2-40B4-BE49-F238E27FC236}">
                <a16:creationId xmlns:a16="http://schemas.microsoft.com/office/drawing/2014/main" id="{15C4FD65-F675-944D-A379-3A5FFFAEB784}"/>
              </a:ext>
            </a:extLst>
          </p:cNvPr>
          <p:cNvSpPr>
            <a:spLocks noGrp="1"/>
          </p:cNvSpPr>
          <p:nvPr>
            <p:ph idx="1"/>
          </p:nvPr>
        </p:nvSpPr>
        <p:spPr>
          <a:xfrm>
            <a:off x="838200" y="1325562"/>
            <a:ext cx="10515600" cy="1103873"/>
          </a:xfrm>
        </p:spPr>
        <p:txBody>
          <a:bodyPr/>
          <a:lstStyle/>
          <a:p>
            <a:r>
              <a:rPr lang="en-US" dirty="0"/>
              <a:t>We can also simulate the formation of a rarefaction wave:</a:t>
            </a:r>
          </a:p>
        </p:txBody>
      </p:sp>
      <p:sp>
        <p:nvSpPr>
          <p:cNvPr id="7" name="TextBox 6">
            <a:hlinkClick r:id="rId3"/>
            <a:extLst>
              <a:ext uri="{FF2B5EF4-FFF2-40B4-BE49-F238E27FC236}">
                <a16:creationId xmlns:a16="http://schemas.microsoft.com/office/drawing/2014/main" id="{3B8F2270-2F34-3346-B04B-A7E503D52064}"/>
              </a:ext>
            </a:extLst>
          </p:cNvPr>
          <p:cNvSpPr txBox="1"/>
          <p:nvPr/>
        </p:nvSpPr>
        <p:spPr>
          <a:xfrm>
            <a:off x="-53165" y="6541833"/>
            <a:ext cx="5769465" cy="338554"/>
          </a:xfrm>
          <a:prstGeom prst="rect">
            <a:avLst/>
          </a:prstGeom>
          <a:noFill/>
        </p:spPr>
        <p:txBody>
          <a:bodyPr wrap="none" rtlCol="0">
            <a:spAutoFit/>
          </a:bodyPr>
          <a:lstStyle/>
          <a:p>
            <a:r>
              <a:rPr lang="en-US" sz="1600" dirty="0">
                <a:hlinkClick r:id="rId3"/>
              </a:rPr>
              <a:t>Source code: Tutorial on computational astrophysics by M. </a:t>
            </a:r>
            <a:r>
              <a:rPr lang="en-US" sz="1600" dirty="0" err="1">
                <a:hlinkClick r:id="rId3"/>
              </a:rPr>
              <a:t>Zingale</a:t>
            </a:r>
            <a:r>
              <a:rPr lang="en-US" sz="1600" dirty="0">
                <a:hlinkClick r:id="rId3"/>
              </a:rPr>
              <a:t> </a:t>
            </a:r>
            <a:endParaRPr lang="en-US" sz="1600" dirty="0"/>
          </a:p>
        </p:txBody>
      </p:sp>
    </p:spTree>
    <p:extLst>
      <p:ext uri="{BB962C8B-B14F-4D97-AF65-F5344CB8AC3E}">
        <p14:creationId xmlns:p14="http://schemas.microsoft.com/office/powerpoint/2010/main" val="304641370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61E7DB92-D990-D445-8CD9-88BEC6843505}"/>
              </a:ext>
            </a:extLst>
          </p:cNvPr>
          <p:cNvPicPr>
            <a:picLocks noChangeAspect="1"/>
          </p:cNvPicPr>
          <p:nvPr/>
        </p:nvPicPr>
        <p:blipFill>
          <a:blip r:embed="rId2"/>
          <a:stretch>
            <a:fillRect/>
          </a:stretch>
        </p:blipFill>
        <p:spPr>
          <a:xfrm>
            <a:off x="2378946" y="1720544"/>
            <a:ext cx="7316981" cy="5137455"/>
          </a:xfrm>
          <a:prstGeom prst="rect">
            <a:avLst/>
          </a:prstGeom>
        </p:spPr>
      </p:pic>
      <p:sp>
        <p:nvSpPr>
          <p:cNvPr id="2" name="Title 1">
            <a:extLst>
              <a:ext uri="{FF2B5EF4-FFF2-40B4-BE49-F238E27FC236}">
                <a16:creationId xmlns:a16="http://schemas.microsoft.com/office/drawing/2014/main" id="{75DCE2F9-F4C3-DA4C-B0FC-7FF6F22D148C}"/>
              </a:ext>
            </a:extLst>
          </p:cNvPr>
          <p:cNvSpPr>
            <a:spLocks noGrp="1"/>
          </p:cNvSpPr>
          <p:nvPr>
            <p:ph type="title"/>
          </p:nvPr>
        </p:nvSpPr>
        <p:spPr>
          <a:xfrm>
            <a:off x="838200" y="0"/>
            <a:ext cx="10515600" cy="1325563"/>
          </a:xfrm>
        </p:spPr>
        <p:txBody>
          <a:bodyPr/>
          <a:lstStyle/>
          <a:p>
            <a:pPr rtl="1"/>
            <a:r>
              <a:rPr lang="en-US" dirty="0"/>
              <a:t>Rarefaction waves and Shock capturing</a:t>
            </a:r>
          </a:p>
        </p:txBody>
      </p:sp>
      <p:pic>
        <p:nvPicPr>
          <p:cNvPr id="8" name="Picture 7">
            <a:extLst>
              <a:ext uri="{FF2B5EF4-FFF2-40B4-BE49-F238E27FC236}">
                <a16:creationId xmlns:a16="http://schemas.microsoft.com/office/drawing/2014/main" id="{C98E4ED5-8A37-794A-AD93-F6FC2484B338}"/>
              </a:ext>
            </a:extLst>
          </p:cNvPr>
          <p:cNvPicPr>
            <a:picLocks noChangeAspect="1"/>
          </p:cNvPicPr>
          <p:nvPr/>
        </p:nvPicPr>
        <p:blipFill>
          <a:blip r:embed="rId3"/>
          <a:stretch>
            <a:fillRect/>
          </a:stretch>
        </p:blipFill>
        <p:spPr>
          <a:xfrm>
            <a:off x="2378944" y="1720544"/>
            <a:ext cx="7316983" cy="5137456"/>
          </a:xfrm>
          <a:prstGeom prst="rect">
            <a:avLst/>
          </a:prstGeom>
        </p:spPr>
      </p:pic>
      <p:pic>
        <p:nvPicPr>
          <p:cNvPr id="10" name="Picture 9">
            <a:extLst>
              <a:ext uri="{FF2B5EF4-FFF2-40B4-BE49-F238E27FC236}">
                <a16:creationId xmlns:a16="http://schemas.microsoft.com/office/drawing/2014/main" id="{814D819F-7211-5647-AD5F-7352D7BFA321}"/>
              </a:ext>
            </a:extLst>
          </p:cNvPr>
          <p:cNvPicPr>
            <a:picLocks noChangeAspect="1"/>
          </p:cNvPicPr>
          <p:nvPr/>
        </p:nvPicPr>
        <p:blipFill>
          <a:blip r:embed="rId4"/>
          <a:stretch>
            <a:fillRect/>
          </a:stretch>
        </p:blipFill>
        <p:spPr>
          <a:xfrm>
            <a:off x="2378944" y="1720543"/>
            <a:ext cx="7316983" cy="5137456"/>
          </a:xfrm>
          <a:prstGeom prst="rect">
            <a:avLst/>
          </a:prstGeom>
        </p:spPr>
      </p:pic>
      <p:pic>
        <p:nvPicPr>
          <p:cNvPr id="12" name="Picture 11">
            <a:extLst>
              <a:ext uri="{FF2B5EF4-FFF2-40B4-BE49-F238E27FC236}">
                <a16:creationId xmlns:a16="http://schemas.microsoft.com/office/drawing/2014/main" id="{663D521F-AE75-A147-82BF-9F491EC113AF}"/>
              </a:ext>
            </a:extLst>
          </p:cNvPr>
          <p:cNvPicPr>
            <a:picLocks noChangeAspect="1"/>
          </p:cNvPicPr>
          <p:nvPr/>
        </p:nvPicPr>
        <p:blipFill>
          <a:blip r:embed="rId5"/>
          <a:stretch>
            <a:fillRect/>
          </a:stretch>
        </p:blipFill>
        <p:spPr>
          <a:xfrm>
            <a:off x="2378943" y="1614211"/>
            <a:ext cx="7316984" cy="5137457"/>
          </a:xfrm>
          <a:prstGeom prst="rect">
            <a:avLst/>
          </a:prstGeom>
        </p:spPr>
      </p:pic>
      <p:sp>
        <p:nvSpPr>
          <p:cNvPr id="9" name="TextBox 8">
            <a:hlinkClick r:id="rId6"/>
            <a:extLst>
              <a:ext uri="{FF2B5EF4-FFF2-40B4-BE49-F238E27FC236}">
                <a16:creationId xmlns:a16="http://schemas.microsoft.com/office/drawing/2014/main" id="{5B678120-8AEF-6F43-934C-78EEDE41E5B3}"/>
              </a:ext>
            </a:extLst>
          </p:cNvPr>
          <p:cNvSpPr txBox="1"/>
          <p:nvPr/>
        </p:nvSpPr>
        <p:spPr>
          <a:xfrm>
            <a:off x="-53165" y="6541833"/>
            <a:ext cx="5769465" cy="338554"/>
          </a:xfrm>
          <a:prstGeom prst="rect">
            <a:avLst/>
          </a:prstGeom>
          <a:noFill/>
        </p:spPr>
        <p:txBody>
          <a:bodyPr wrap="none" rtlCol="0">
            <a:spAutoFit/>
          </a:bodyPr>
          <a:lstStyle/>
          <a:p>
            <a:r>
              <a:rPr lang="en-US" sz="1600" dirty="0">
                <a:hlinkClick r:id="rId6"/>
              </a:rPr>
              <a:t>Source code: Tutorial on computational astrophysics by M. </a:t>
            </a:r>
            <a:r>
              <a:rPr lang="en-US" sz="1600" dirty="0" err="1">
                <a:hlinkClick r:id="rId6"/>
              </a:rPr>
              <a:t>Zingale</a:t>
            </a:r>
            <a:r>
              <a:rPr lang="en-US" sz="1600" dirty="0">
                <a:hlinkClick r:id="rId6"/>
              </a:rPr>
              <a:t> </a:t>
            </a:r>
            <a:endParaRPr lang="en-US" sz="1600" dirty="0"/>
          </a:p>
        </p:txBody>
      </p:sp>
      <p:sp>
        <p:nvSpPr>
          <p:cNvPr id="3" name="Content Placeholder 2">
            <a:extLst>
              <a:ext uri="{FF2B5EF4-FFF2-40B4-BE49-F238E27FC236}">
                <a16:creationId xmlns:a16="http://schemas.microsoft.com/office/drawing/2014/main" id="{15C4FD65-F675-944D-A379-3A5FFFAEB784}"/>
              </a:ext>
            </a:extLst>
          </p:cNvPr>
          <p:cNvSpPr>
            <a:spLocks noGrp="1"/>
          </p:cNvSpPr>
          <p:nvPr>
            <p:ph idx="1"/>
          </p:nvPr>
        </p:nvSpPr>
        <p:spPr>
          <a:xfrm>
            <a:off x="838200" y="1325562"/>
            <a:ext cx="10515600" cy="1103873"/>
          </a:xfrm>
        </p:spPr>
        <p:txBody>
          <a:bodyPr/>
          <a:lstStyle/>
          <a:p>
            <a:r>
              <a:rPr lang="en-US" dirty="0"/>
              <a:t>We can also simulate the formation of a rarefaction wave:</a:t>
            </a:r>
          </a:p>
        </p:txBody>
      </p:sp>
    </p:spTree>
    <p:extLst>
      <p:ext uri="{BB962C8B-B14F-4D97-AF65-F5344CB8AC3E}">
        <p14:creationId xmlns:p14="http://schemas.microsoft.com/office/powerpoint/2010/main" val="339194399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61E7DB92-D990-D445-8CD9-88BEC6843505}"/>
              </a:ext>
            </a:extLst>
          </p:cNvPr>
          <p:cNvPicPr>
            <a:picLocks noChangeAspect="1"/>
          </p:cNvPicPr>
          <p:nvPr/>
        </p:nvPicPr>
        <p:blipFill>
          <a:blip r:embed="rId2"/>
          <a:stretch>
            <a:fillRect/>
          </a:stretch>
        </p:blipFill>
        <p:spPr>
          <a:xfrm>
            <a:off x="2378946" y="1720544"/>
            <a:ext cx="7316981" cy="5137455"/>
          </a:xfrm>
          <a:prstGeom prst="rect">
            <a:avLst/>
          </a:prstGeom>
        </p:spPr>
      </p:pic>
      <p:sp>
        <p:nvSpPr>
          <p:cNvPr id="2" name="Title 1">
            <a:extLst>
              <a:ext uri="{FF2B5EF4-FFF2-40B4-BE49-F238E27FC236}">
                <a16:creationId xmlns:a16="http://schemas.microsoft.com/office/drawing/2014/main" id="{75DCE2F9-F4C3-DA4C-B0FC-7FF6F22D148C}"/>
              </a:ext>
            </a:extLst>
          </p:cNvPr>
          <p:cNvSpPr>
            <a:spLocks noGrp="1"/>
          </p:cNvSpPr>
          <p:nvPr>
            <p:ph type="title"/>
          </p:nvPr>
        </p:nvSpPr>
        <p:spPr>
          <a:xfrm>
            <a:off x="838200" y="0"/>
            <a:ext cx="10515600" cy="1325563"/>
          </a:xfrm>
        </p:spPr>
        <p:txBody>
          <a:bodyPr/>
          <a:lstStyle/>
          <a:p>
            <a:pPr rtl="1"/>
            <a:r>
              <a:rPr lang="en-US" dirty="0"/>
              <a:t>Rarefaction waves and Shock capturing</a:t>
            </a:r>
          </a:p>
        </p:txBody>
      </p:sp>
      <p:pic>
        <p:nvPicPr>
          <p:cNvPr id="8" name="Picture 7">
            <a:extLst>
              <a:ext uri="{FF2B5EF4-FFF2-40B4-BE49-F238E27FC236}">
                <a16:creationId xmlns:a16="http://schemas.microsoft.com/office/drawing/2014/main" id="{C98E4ED5-8A37-794A-AD93-F6FC2484B338}"/>
              </a:ext>
            </a:extLst>
          </p:cNvPr>
          <p:cNvPicPr>
            <a:picLocks noChangeAspect="1"/>
          </p:cNvPicPr>
          <p:nvPr/>
        </p:nvPicPr>
        <p:blipFill>
          <a:blip r:embed="rId3"/>
          <a:stretch>
            <a:fillRect/>
          </a:stretch>
        </p:blipFill>
        <p:spPr>
          <a:xfrm>
            <a:off x="2378944" y="1720544"/>
            <a:ext cx="7316983" cy="5137456"/>
          </a:xfrm>
          <a:prstGeom prst="rect">
            <a:avLst/>
          </a:prstGeom>
        </p:spPr>
      </p:pic>
      <p:pic>
        <p:nvPicPr>
          <p:cNvPr id="10" name="Picture 9">
            <a:extLst>
              <a:ext uri="{FF2B5EF4-FFF2-40B4-BE49-F238E27FC236}">
                <a16:creationId xmlns:a16="http://schemas.microsoft.com/office/drawing/2014/main" id="{814D819F-7211-5647-AD5F-7352D7BFA321}"/>
              </a:ext>
            </a:extLst>
          </p:cNvPr>
          <p:cNvPicPr>
            <a:picLocks noChangeAspect="1"/>
          </p:cNvPicPr>
          <p:nvPr/>
        </p:nvPicPr>
        <p:blipFill>
          <a:blip r:embed="rId4"/>
          <a:stretch>
            <a:fillRect/>
          </a:stretch>
        </p:blipFill>
        <p:spPr>
          <a:xfrm>
            <a:off x="2378944" y="1720543"/>
            <a:ext cx="7316983" cy="5137456"/>
          </a:xfrm>
          <a:prstGeom prst="rect">
            <a:avLst/>
          </a:prstGeom>
        </p:spPr>
      </p:pic>
      <p:pic>
        <p:nvPicPr>
          <p:cNvPr id="12" name="Picture 11">
            <a:extLst>
              <a:ext uri="{FF2B5EF4-FFF2-40B4-BE49-F238E27FC236}">
                <a16:creationId xmlns:a16="http://schemas.microsoft.com/office/drawing/2014/main" id="{663D521F-AE75-A147-82BF-9F491EC113AF}"/>
              </a:ext>
            </a:extLst>
          </p:cNvPr>
          <p:cNvPicPr>
            <a:picLocks noChangeAspect="1"/>
          </p:cNvPicPr>
          <p:nvPr/>
        </p:nvPicPr>
        <p:blipFill>
          <a:blip r:embed="rId5"/>
          <a:stretch>
            <a:fillRect/>
          </a:stretch>
        </p:blipFill>
        <p:spPr>
          <a:xfrm>
            <a:off x="2378943" y="1720541"/>
            <a:ext cx="7316984" cy="5137457"/>
          </a:xfrm>
          <a:prstGeom prst="rect">
            <a:avLst/>
          </a:prstGeom>
        </p:spPr>
      </p:pic>
      <p:pic>
        <p:nvPicPr>
          <p:cNvPr id="14" name="Picture 13">
            <a:extLst>
              <a:ext uri="{FF2B5EF4-FFF2-40B4-BE49-F238E27FC236}">
                <a16:creationId xmlns:a16="http://schemas.microsoft.com/office/drawing/2014/main" id="{192C2FC0-28F9-2B44-B930-366E339AB5BF}"/>
              </a:ext>
            </a:extLst>
          </p:cNvPr>
          <p:cNvPicPr>
            <a:picLocks noChangeAspect="1"/>
          </p:cNvPicPr>
          <p:nvPr/>
        </p:nvPicPr>
        <p:blipFill>
          <a:blip r:embed="rId6"/>
          <a:stretch>
            <a:fillRect/>
          </a:stretch>
        </p:blipFill>
        <p:spPr>
          <a:xfrm>
            <a:off x="2378940" y="1614208"/>
            <a:ext cx="7316987" cy="5137459"/>
          </a:xfrm>
          <a:prstGeom prst="rect">
            <a:avLst/>
          </a:prstGeom>
        </p:spPr>
      </p:pic>
      <p:sp>
        <p:nvSpPr>
          <p:cNvPr id="9" name="TextBox 8">
            <a:hlinkClick r:id="rId7"/>
            <a:extLst>
              <a:ext uri="{FF2B5EF4-FFF2-40B4-BE49-F238E27FC236}">
                <a16:creationId xmlns:a16="http://schemas.microsoft.com/office/drawing/2014/main" id="{94A83D5D-3D93-6742-8CB7-8C6153A2DC6F}"/>
              </a:ext>
            </a:extLst>
          </p:cNvPr>
          <p:cNvSpPr txBox="1"/>
          <p:nvPr/>
        </p:nvSpPr>
        <p:spPr>
          <a:xfrm>
            <a:off x="-53165" y="6541833"/>
            <a:ext cx="5769465" cy="338554"/>
          </a:xfrm>
          <a:prstGeom prst="rect">
            <a:avLst/>
          </a:prstGeom>
          <a:noFill/>
        </p:spPr>
        <p:txBody>
          <a:bodyPr wrap="none" rtlCol="0">
            <a:spAutoFit/>
          </a:bodyPr>
          <a:lstStyle/>
          <a:p>
            <a:r>
              <a:rPr lang="en-US" sz="1600" dirty="0">
                <a:hlinkClick r:id="rId7"/>
              </a:rPr>
              <a:t>Source code: Tutorial on computational astrophysics by M. </a:t>
            </a:r>
            <a:r>
              <a:rPr lang="en-US" sz="1600" dirty="0" err="1">
                <a:hlinkClick r:id="rId7"/>
              </a:rPr>
              <a:t>Zingale</a:t>
            </a:r>
            <a:r>
              <a:rPr lang="en-US" sz="1600" dirty="0">
                <a:hlinkClick r:id="rId7"/>
              </a:rPr>
              <a:t> </a:t>
            </a:r>
            <a:endParaRPr lang="en-US" sz="1600" dirty="0"/>
          </a:p>
        </p:txBody>
      </p:sp>
      <p:sp>
        <p:nvSpPr>
          <p:cNvPr id="3" name="Content Placeholder 2">
            <a:extLst>
              <a:ext uri="{FF2B5EF4-FFF2-40B4-BE49-F238E27FC236}">
                <a16:creationId xmlns:a16="http://schemas.microsoft.com/office/drawing/2014/main" id="{15C4FD65-F675-944D-A379-3A5FFFAEB784}"/>
              </a:ext>
            </a:extLst>
          </p:cNvPr>
          <p:cNvSpPr>
            <a:spLocks noGrp="1"/>
          </p:cNvSpPr>
          <p:nvPr>
            <p:ph idx="1"/>
          </p:nvPr>
        </p:nvSpPr>
        <p:spPr>
          <a:xfrm>
            <a:off x="838200" y="1325562"/>
            <a:ext cx="10515600" cy="1103873"/>
          </a:xfrm>
        </p:spPr>
        <p:txBody>
          <a:bodyPr/>
          <a:lstStyle/>
          <a:p>
            <a:r>
              <a:rPr lang="en-US" dirty="0"/>
              <a:t>We can also simulate the formation of a rarefaction wave:</a:t>
            </a:r>
          </a:p>
        </p:txBody>
      </p:sp>
    </p:spTree>
    <p:extLst>
      <p:ext uri="{BB962C8B-B14F-4D97-AF65-F5344CB8AC3E}">
        <p14:creationId xmlns:p14="http://schemas.microsoft.com/office/powerpoint/2010/main" val="226721274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DCE2F9-F4C3-DA4C-B0FC-7FF6F22D148C}"/>
              </a:ext>
            </a:extLst>
          </p:cNvPr>
          <p:cNvSpPr>
            <a:spLocks noGrp="1"/>
          </p:cNvSpPr>
          <p:nvPr>
            <p:ph type="title"/>
          </p:nvPr>
        </p:nvSpPr>
        <p:spPr>
          <a:xfrm>
            <a:off x="838200" y="0"/>
            <a:ext cx="10515600" cy="1325563"/>
          </a:xfrm>
        </p:spPr>
        <p:txBody>
          <a:bodyPr/>
          <a:lstStyle/>
          <a:p>
            <a:r>
              <a:rPr lang="en-US" dirty="0"/>
              <a:t>Rarefaction waves and Shock capturing</a:t>
            </a:r>
          </a:p>
        </p:txBody>
      </p:sp>
      <p:pic>
        <p:nvPicPr>
          <p:cNvPr id="8" name="Picture 7">
            <a:extLst>
              <a:ext uri="{FF2B5EF4-FFF2-40B4-BE49-F238E27FC236}">
                <a16:creationId xmlns:a16="http://schemas.microsoft.com/office/drawing/2014/main" id="{547152D7-7473-D44D-89C0-944883C533D1}"/>
              </a:ext>
            </a:extLst>
          </p:cNvPr>
          <p:cNvPicPr>
            <a:picLocks noChangeAspect="1"/>
          </p:cNvPicPr>
          <p:nvPr/>
        </p:nvPicPr>
        <p:blipFill>
          <a:blip r:embed="rId2"/>
          <a:stretch>
            <a:fillRect/>
          </a:stretch>
        </p:blipFill>
        <p:spPr>
          <a:xfrm>
            <a:off x="2378932" y="1614204"/>
            <a:ext cx="7316996" cy="5137465"/>
          </a:xfrm>
          <a:prstGeom prst="rect">
            <a:avLst/>
          </a:prstGeom>
        </p:spPr>
      </p:pic>
      <p:sp>
        <p:nvSpPr>
          <p:cNvPr id="5" name="TextBox 4">
            <a:hlinkClick r:id="rId3"/>
            <a:extLst>
              <a:ext uri="{FF2B5EF4-FFF2-40B4-BE49-F238E27FC236}">
                <a16:creationId xmlns:a16="http://schemas.microsoft.com/office/drawing/2014/main" id="{87883226-DDE9-D341-80E6-D7FB9C04D3D6}"/>
              </a:ext>
            </a:extLst>
          </p:cNvPr>
          <p:cNvSpPr txBox="1"/>
          <p:nvPr/>
        </p:nvSpPr>
        <p:spPr>
          <a:xfrm>
            <a:off x="-53165" y="6541833"/>
            <a:ext cx="5769465" cy="338554"/>
          </a:xfrm>
          <a:prstGeom prst="rect">
            <a:avLst/>
          </a:prstGeom>
          <a:noFill/>
        </p:spPr>
        <p:txBody>
          <a:bodyPr wrap="none" rtlCol="0">
            <a:spAutoFit/>
          </a:bodyPr>
          <a:lstStyle/>
          <a:p>
            <a:r>
              <a:rPr lang="en-US" sz="1600" dirty="0">
                <a:hlinkClick r:id="rId3"/>
              </a:rPr>
              <a:t>Source code: Tutorial on computational astrophysics by M. </a:t>
            </a:r>
            <a:r>
              <a:rPr lang="en-US" sz="1600" dirty="0" err="1">
                <a:hlinkClick r:id="rId3"/>
              </a:rPr>
              <a:t>Zingale</a:t>
            </a:r>
            <a:r>
              <a:rPr lang="en-US" sz="1600" dirty="0">
                <a:hlinkClick r:id="rId3"/>
              </a:rPr>
              <a:t> </a:t>
            </a:r>
            <a:endParaRPr lang="en-US" sz="1600" dirty="0"/>
          </a:p>
        </p:txBody>
      </p:sp>
      <p:sp>
        <p:nvSpPr>
          <p:cNvPr id="3" name="Content Placeholder 2">
            <a:extLst>
              <a:ext uri="{FF2B5EF4-FFF2-40B4-BE49-F238E27FC236}">
                <a16:creationId xmlns:a16="http://schemas.microsoft.com/office/drawing/2014/main" id="{15C4FD65-F675-944D-A379-3A5FFFAEB784}"/>
              </a:ext>
            </a:extLst>
          </p:cNvPr>
          <p:cNvSpPr>
            <a:spLocks noGrp="1"/>
          </p:cNvSpPr>
          <p:nvPr>
            <p:ph idx="1"/>
          </p:nvPr>
        </p:nvSpPr>
        <p:spPr>
          <a:xfrm>
            <a:off x="838200" y="1325563"/>
            <a:ext cx="10515600" cy="601850"/>
          </a:xfrm>
        </p:spPr>
        <p:txBody>
          <a:bodyPr/>
          <a:lstStyle/>
          <a:p>
            <a:r>
              <a:rPr lang="en-US" dirty="0"/>
              <a:t>Or follow the evolution of shocks</a:t>
            </a:r>
          </a:p>
        </p:txBody>
      </p:sp>
    </p:spTree>
    <p:extLst>
      <p:ext uri="{BB962C8B-B14F-4D97-AF65-F5344CB8AC3E}">
        <p14:creationId xmlns:p14="http://schemas.microsoft.com/office/powerpoint/2010/main" val="336110829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DCE2F9-F4C3-DA4C-B0FC-7FF6F22D148C}"/>
              </a:ext>
            </a:extLst>
          </p:cNvPr>
          <p:cNvSpPr>
            <a:spLocks noGrp="1"/>
          </p:cNvSpPr>
          <p:nvPr>
            <p:ph type="title"/>
          </p:nvPr>
        </p:nvSpPr>
        <p:spPr>
          <a:xfrm>
            <a:off x="838200" y="0"/>
            <a:ext cx="10515600" cy="1325563"/>
          </a:xfrm>
        </p:spPr>
        <p:txBody>
          <a:bodyPr/>
          <a:lstStyle/>
          <a:p>
            <a:r>
              <a:rPr lang="en-US" dirty="0"/>
              <a:t>Rarefaction waves and Shock capturing</a:t>
            </a:r>
          </a:p>
        </p:txBody>
      </p:sp>
      <p:pic>
        <p:nvPicPr>
          <p:cNvPr id="8" name="Picture 7">
            <a:extLst>
              <a:ext uri="{FF2B5EF4-FFF2-40B4-BE49-F238E27FC236}">
                <a16:creationId xmlns:a16="http://schemas.microsoft.com/office/drawing/2014/main" id="{547152D7-7473-D44D-89C0-944883C533D1}"/>
              </a:ext>
            </a:extLst>
          </p:cNvPr>
          <p:cNvPicPr>
            <a:picLocks noChangeAspect="1"/>
          </p:cNvPicPr>
          <p:nvPr/>
        </p:nvPicPr>
        <p:blipFill>
          <a:blip r:embed="rId2"/>
          <a:stretch>
            <a:fillRect/>
          </a:stretch>
        </p:blipFill>
        <p:spPr>
          <a:xfrm>
            <a:off x="2378932" y="1720534"/>
            <a:ext cx="7316996" cy="5137465"/>
          </a:xfrm>
          <a:prstGeom prst="rect">
            <a:avLst/>
          </a:prstGeom>
        </p:spPr>
      </p:pic>
      <p:pic>
        <p:nvPicPr>
          <p:cNvPr id="10" name="Picture 9">
            <a:extLst>
              <a:ext uri="{FF2B5EF4-FFF2-40B4-BE49-F238E27FC236}">
                <a16:creationId xmlns:a16="http://schemas.microsoft.com/office/drawing/2014/main" id="{F043B047-7B28-3B48-9EE3-BB591865E3C2}"/>
              </a:ext>
            </a:extLst>
          </p:cNvPr>
          <p:cNvPicPr>
            <a:picLocks noChangeAspect="1"/>
          </p:cNvPicPr>
          <p:nvPr/>
        </p:nvPicPr>
        <p:blipFill>
          <a:blip r:embed="rId3"/>
          <a:stretch>
            <a:fillRect/>
          </a:stretch>
        </p:blipFill>
        <p:spPr>
          <a:xfrm>
            <a:off x="2378932" y="1614203"/>
            <a:ext cx="7316996" cy="5137465"/>
          </a:xfrm>
          <a:prstGeom prst="rect">
            <a:avLst/>
          </a:prstGeom>
        </p:spPr>
      </p:pic>
      <p:sp>
        <p:nvSpPr>
          <p:cNvPr id="3" name="Content Placeholder 2">
            <a:extLst>
              <a:ext uri="{FF2B5EF4-FFF2-40B4-BE49-F238E27FC236}">
                <a16:creationId xmlns:a16="http://schemas.microsoft.com/office/drawing/2014/main" id="{15C4FD65-F675-944D-A379-3A5FFFAEB784}"/>
              </a:ext>
            </a:extLst>
          </p:cNvPr>
          <p:cNvSpPr>
            <a:spLocks noGrp="1"/>
          </p:cNvSpPr>
          <p:nvPr>
            <p:ph idx="1"/>
          </p:nvPr>
        </p:nvSpPr>
        <p:spPr>
          <a:xfrm>
            <a:off x="838200" y="1325563"/>
            <a:ext cx="10515600" cy="601850"/>
          </a:xfrm>
        </p:spPr>
        <p:txBody>
          <a:bodyPr/>
          <a:lstStyle/>
          <a:p>
            <a:r>
              <a:rPr lang="en-US" dirty="0"/>
              <a:t>Or follow the evolution of shocks</a:t>
            </a:r>
          </a:p>
        </p:txBody>
      </p:sp>
      <p:sp>
        <p:nvSpPr>
          <p:cNvPr id="6" name="TextBox 5">
            <a:hlinkClick r:id="rId4"/>
            <a:extLst>
              <a:ext uri="{FF2B5EF4-FFF2-40B4-BE49-F238E27FC236}">
                <a16:creationId xmlns:a16="http://schemas.microsoft.com/office/drawing/2014/main" id="{84200D5E-14C5-DA49-8E6D-8CA624DA64D2}"/>
              </a:ext>
            </a:extLst>
          </p:cNvPr>
          <p:cNvSpPr txBox="1"/>
          <p:nvPr/>
        </p:nvSpPr>
        <p:spPr>
          <a:xfrm>
            <a:off x="-53165" y="6541833"/>
            <a:ext cx="5769465" cy="338554"/>
          </a:xfrm>
          <a:prstGeom prst="rect">
            <a:avLst/>
          </a:prstGeom>
          <a:noFill/>
        </p:spPr>
        <p:txBody>
          <a:bodyPr wrap="none" rtlCol="0">
            <a:spAutoFit/>
          </a:bodyPr>
          <a:lstStyle/>
          <a:p>
            <a:r>
              <a:rPr lang="en-US" sz="1600" dirty="0">
                <a:hlinkClick r:id="rId4"/>
              </a:rPr>
              <a:t>Source code: Tutorial on computational astrophysics by M. </a:t>
            </a:r>
            <a:r>
              <a:rPr lang="en-US" sz="1600" dirty="0" err="1">
                <a:hlinkClick r:id="rId4"/>
              </a:rPr>
              <a:t>Zingale</a:t>
            </a:r>
            <a:r>
              <a:rPr lang="en-US" sz="1600" dirty="0">
                <a:hlinkClick r:id="rId4"/>
              </a:rPr>
              <a:t> </a:t>
            </a:r>
            <a:endParaRPr lang="en-US" sz="1600" dirty="0"/>
          </a:p>
        </p:txBody>
      </p:sp>
    </p:spTree>
    <p:extLst>
      <p:ext uri="{BB962C8B-B14F-4D97-AF65-F5344CB8AC3E}">
        <p14:creationId xmlns:p14="http://schemas.microsoft.com/office/powerpoint/2010/main" val="97632680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DCE2F9-F4C3-DA4C-B0FC-7FF6F22D148C}"/>
              </a:ext>
            </a:extLst>
          </p:cNvPr>
          <p:cNvSpPr>
            <a:spLocks noGrp="1"/>
          </p:cNvSpPr>
          <p:nvPr>
            <p:ph type="title"/>
          </p:nvPr>
        </p:nvSpPr>
        <p:spPr>
          <a:xfrm>
            <a:off x="838200" y="0"/>
            <a:ext cx="10515600" cy="1325563"/>
          </a:xfrm>
        </p:spPr>
        <p:txBody>
          <a:bodyPr/>
          <a:lstStyle/>
          <a:p>
            <a:r>
              <a:rPr lang="en-US" dirty="0"/>
              <a:t>Rarefaction waves and Shock capturing</a:t>
            </a:r>
          </a:p>
        </p:txBody>
      </p:sp>
      <p:pic>
        <p:nvPicPr>
          <p:cNvPr id="8" name="Picture 7">
            <a:extLst>
              <a:ext uri="{FF2B5EF4-FFF2-40B4-BE49-F238E27FC236}">
                <a16:creationId xmlns:a16="http://schemas.microsoft.com/office/drawing/2014/main" id="{547152D7-7473-D44D-89C0-944883C533D1}"/>
              </a:ext>
            </a:extLst>
          </p:cNvPr>
          <p:cNvPicPr>
            <a:picLocks noChangeAspect="1"/>
          </p:cNvPicPr>
          <p:nvPr/>
        </p:nvPicPr>
        <p:blipFill>
          <a:blip r:embed="rId2"/>
          <a:stretch>
            <a:fillRect/>
          </a:stretch>
        </p:blipFill>
        <p:spPr>
          <a:xfrm>
            <a:off x="2378932" y="1720534"/>
            <a:ext cx="7316996" cy="5137465"/>
          </a:xfrm>
          <a:prstGeom prst="rect">
            <a:avLst/>
          </a:prstGeom>
        </p:spPr>
      </p:pic>
      <p:pic>
        <p:nvPicPr>
          <p:cNvPr id="10" name="Picture 9">
            <a:extLst>
              <a:ext uri="{FF2B5EF4-FFF2-40B4-BE49-F238E27FC236}">
                <a16:creationId xmlns:a16="http://schemas.microsoft.com/office/drawing/2014/main" id="{F043B047-7B28-3B48-9EE3-BB591865E3C2}"/>
              </a:ext>
            </a:extLst>
          </p:cNvPr>
          <p:cNvPicPr>
            <a:picLocks noChangeAspect="1"/>
          </p:cNvPicPr>
          <p:nvPr/>
        </p:nvPicPr>
        <p:blipFill>
          <a:blip r:embed="rId3"/>
          <a:stretch>
            <a:fillRect/>
          </a:stretch>
        </p:blipFill>
        <p:spPr>
          <a:xfrm>
            <a:off x="2378932" y="1720533"/>
            <a:ext cx="7316996" cy="5137465"/>
          </a:xfrm>
          <a:prstGeom prst="rect">
            <a:avLst/>
          </a:prstGeom>
        </p:spPr>
      </p:pic>
      <p:pic>
        <p:nvPicPr>
          <p:cNvPr id="12" name="Picture 11">
            <a:extLst>
              <a:ext uri="{FF2B5EF4-FFF2-40B4-BE49-F238E27FC236}">
                <a16:creationId xmlns:a16="http://schemas.microsoft.com/office/drawing/2014/main" id="{25977715-01D2-4E4D-A573-FCC79F5F5255}"/>
              </a:ext>
            </a:extLst>
          </p:cNvPr>
          <p:cNvPicPr>
            <a:picLocks noChangeAspect="1"/>
          </p:cNvPicPr>
          <p:nvPr/>
        </p:nvPicPr>
        <p:blipFill>
          <a:blip r:embed="rId4"/>
          <a:stretch>
            <a:fillRect/>
          </a:stretch>
        </p:blipFill>
        <p:spPr>
          <a:xfrm>
            <a:off x="2378931" y="1614202"/>
            <a:ext cx="7316997" cy="5137466"/>
          </a:xfrm>
          <a:prstGeom prst="rect">
            <a:avLst/>
          </a:prstGeom>
        </p:spPr>
      </p:pic>
      <p:sp>
        <p:nvSpPr>
          <p:cNvPr id="3" name="Content Placeholder 2">
            <a:extLst>
              <a:ext uri="{FF2B5EF4-FFF2-40B4-BE49-F238E27FC236}">
                <a16:creationId xmlns:a16="http://schemas.microsoft.com/office/drawing/2014/main" id="{15C4FD65-F675-944D-A379-3A5FFFAEB784}"/>
              </a:ext>
            </a:extLst>
          </p:cNvPr>
          <p:cNvSpPr>
            <a:spLocks noGrp="1"/>
          </p:cNvSpPr>
          <p:nvPr>
            <p:ph idx="1"/>
          </p:nvPr>
        </p:nvSpPr>
        <p:spPr>
          <a:xfrm>
            <a:off x="838200" y="1325563"/>
            <a:ext cx="10515600" cy="601850"/>
          </a:xfrm>
        </p:spPr>
        <p:txBody>
          <a:bodyPr/>
          <a:lstStyle/>
          <a:p>
            <a:r>
              <a:rPr lang="en-US" dirty="0"/>
              <a:t>Or follow the evolution of shocks</a:t>
            </a:r>
          </a:p>
        </p:txBody>
      </p:sp>
      <p:sp>
        <p:nvSpPr>
          <p:cNvPr id="7" name="TextBox 6">
            <a:hlinkClick r:id="rId5"/>
            <a:extLst>
              <a:ext uri="{FF2B5EF4-FFF2-40B4-BE49-F238E27FC236}">
                <a16:creationId xmlns:a16="http://schemas.microsoft.com/office/drawing/2014/main" id="{756EDE99-B9C1-5E4F-902A-E3682A0B189A}"/>
              </a:ext>
            </a:extLst>
          </p:cNvPr>
          <p:cNvSpPr txBox="1"/>
          <p:nvPr/>
        </p:nvSpPr>
        <p:spPr>
          <a:xfrm>
            <a:off x="-53165" y="6541833"/>
            <a:ext cx="5769465" cy="338554"/>
          </a:xfrm>
          <a:prstGeom prst="rect">
            <a:avLst/>
          </a:prstGeom>
          <a:noFill/>
        </p:spPr>
        <p:txBody>
          <a:bodyPr wrap="none" rtlCol="0">
            <a:spAutoFit/>
          </a:bodyPr>
          <a:lstStyle/>
          <a:p>
            <a:r>
              <a:rPr lang="en-US" sz="1600" dirty="0">
                <a:hlinkClick r:id="rId5"/>
              </a:rPr>
              <a:t>Source code: Tutorial on computational astrophysics by M. </a:t>
            </a:r>
            <a:r>
              <a:rPr lang="en-US" sz="1600" dirty="0" err="1">
                <a:hlinkClick r:id="rId5"/>
              </a:rPr>
              <a:t>Zingale</a:t>
            </a:r>
            <a:r>
              <a:rPr lang="en-US" sz="1600" dirty="0">
                <a:hlinkClick r:id="rId5"/>
              </a:rPr>
              <a:t> </a:t>
            </a:r>
            <a:endParaRPr lang="en-US" sz="1600" dirty="0"/>
          </a:p>
        </p:txBody>
      </p:sp>
    </p:spTree>
    <p:extLst>
      <p:ext uri="{BB962C8B-B14F-4D97-AF65-F5344CB8AC3E}">
        <p14:creationId xmlns:p14="http://schemas.microsoft.com/office/powerpoint/2010/main" val="140588168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DCE2F9-F4C3-DA4C-B0FC-7FF6F22D148C}"/>
              </a:ext>
            </a:extLst>
          </p:cNvPr>
          <p:cNvSpPr>
            <a:spLocks noGrp="1"/>
          </p:cNvSpPr>
          <p:nvPr>
            <p:ph type="title"/>
          </p:nvPr>
        </p:nvSpPr>
        <p:spPr>
          <a:xfrm>
            <a:off x="838200" y="0"/>
            <a:ext cx="10515600" cy="1325563"/>
          </a:xfrm>
        </p:spPr>
        <p:txBody>
          <a:bodyPr/>
          <a:lstStyle/>
          <a:p>
            <a:r>
              <a:rPr lang="en-US" dirty="0"/>
              <a:t>Rarefaction waves and Shock capturing</a:t>
            </a:r>
          </a:p>
        </p:txBody>
      </p:sp>
      <p:pic>
        <p:nvPicPr>
          <p:cNvPr id="8" name="Picture 7">
            <a:extLst>
              <a:ext uri="{FF2B5EF4-FFF2-40B4-BE49-F238E27FC236}">
                <a16:creationId xmlns:a16="http://schemas.microsoft.com/office/drawing/2014/main" id="{547152D7-7473-D44D-89C0-944883C533D1}"/>
              </a:ext>
            </a:extLst>
          </p:cNvPr>
          <p:cNvPicPr>
            <a:picLocks noChangeAspect="1"/>
          </p:cNvPicPr>
          <p:nvPr/>
        </p:nvPicPr>
        <p:blipFill>
          <a:blip r:embed="rId2"/>
          <a:stretch>
            <a:fillRect/>
          </a:stretch>
        </p:blipFill>
        <p:spPr>
          <a:xfrm>
            <a:off x="2378932" y="1720534"/>
            <a:ext cx="7316996" cy="5137465"/>
          </a:xfrm>
          <a:prstGeom prst="rect">
            <a:avLst/>
          </a:prstGeom>
        </p:spPr>
      </p:pic>
      <p:pic>
        <p:nvPicPr>
          <p:cNvPr id="10" name="Picture 9">
            <a:extLst>
              <a:ext uri="{FF2B5EF4-FFF2-40B4-BE49-F238E27FC236}">
                <a16:creationId xmlns:a16="http://schemas.microsoft.com/office/drawing/2014/main" id="{F043B047-7B28-3B48-9EE3-BB591865E3C2}"/>
              </a:ext>
            </a:extLst>
          </p:cNvPr>
          <p:cNvPicPr>
            <a:picLocks noChangeAspect="1"/>
          </p:cNvPicPr>
          <p:nvPr/>
        </p:nvPicPr>
        <p:blipFill>
          <a:blip r:embed="rId3"/>
          <a:stretch>
            <a:fillRect/>
          </a:stretch>
        </p:blipFill>
        <p:spPr>
          <a:xfrm>
            <a:off x="2378932" y="1720533"/>
            <a:ext cx="7316996" cy="5137465"/>
          </a:xfrm>
          <a:prstGeom prst="rect">
            <a:avLst/>
          </a:prstGeom>
        </p:spPr>
      </p:pic>
      <p:pic>
        <p:nvPicPr>
          <p:cNvPr id="12" name="Picture 11">
            <a:extLst>
              <a:ext uri="{FF2B5EF4-FFF2-40B4-BE49-F238E27FC236}">
                <a16:creationId xmlns:a16="http://schemas.microsoft.com/office/drawing/2014/main" id="{25977715-01D2-4E4D-A573-FCC79F5F5255}"/>
              </a:ext>
            </a:extLst>
          </p:cNvPr>
          <p:cNvPicPr>
            <a:picLocks noChangeAspect="1"/>
          </p:cNvPicPr>
          <p:nvPr/>
        </p:nvPicPr>
        <p:blipFill>
          <a:blip r:embed="rId4"/>
          <a:stretch>
            <a:fillRect/>
          </a:stretch>
        </p:blipFill>
        <p:spPr>
          <a:xfrm>
            <a:off x="2378931" y="1720532"/>
            <a:ext cx="7316997" cy="5137466"/>
          </a:xfrm>
          <a:prstGeom prst="rect">
            <a:avLst/>
          </a:prstGeom>
        </p:spPr>
      </p:pic>
      <p:pic>
        <p:nvPicPr>
          <p:cNvPr id="14" name="Picture 13">
            <a:extLst>
              <a:ext uri="{FF2B5EF4-FFF2-40B4-BE49-F238E27FC236}">
                <a16:creationId xmlns:a16="http://schemas.microsoft.com/office/drawing/2014/main" id="{1BB4AB14-BFCC-0B48-8615-93838D111B96}"/>
              </a:ext>
            </a:extLst>
          </p:cNvPr>
          <p:cNvPicPr>
            <a:picLocks noChangeAspect="1"/>
          </p:cNvPicPr>
          <p:nvPr/>
        </p:nvPicPr>
        <p:blipFill>
          <a:blip r:embed="rId5"/>
          <a:stretch>
            <a:fillRect/>
          </a:stretch>
        </p:blipFill>
        <p:spPr>
          <a:xfrm>
            <a:off x="2378928" y="1614200"/>
            <a:ext cx="7317001" cy="5137469"/>
          </a:xfrm>
          <a:prstGeom prst="rect">
            <a:avLst/>
          </a:prstGeom>
        </p:spPr>
      </p:pic>
      <p:sp>
        <p:nvSpPr>
          <p:cNvPr id="3" name="Content Placeholder 2">
            <a:extLst>
              <a:ext uri="{FF2B5EF4-FFF2-40B4-BE49-F238E27FC236}">
                <a16:creationId xmlns:a16="http://schemas.microsoft.com/office/drawing/2014/main" id="{15C4FD65-F675-944D-A379-3A5FFFAEB784}"/>
              </a:ext>
            </a:extLst>
          </p:cNvPr>
          <p:cNvSpPr>
            <a:spLocks noGrp="1"/>
          </p:cNvSpPr>
          <p:nvPr>
            <p:ph idx="1"/>
          </p:nvPr>
        </p:nvSpPr>
        <p:spPr>
          <a:xfrm>
            <a:off x="838200" y="1325563"/>
            <a:ext cx="10515600" cy="601850"/>
          </a:xfrm>
        </p:spPr>
        <p:txBody>
          <a:bodyPr/>
          <a:lstStyle/>
          <a:p>
            <a:r>
              <a:rPr lang="en-US" dirty="0"/>
              <a:t>Or follow the evolution of shocks</a:t>
            </a:r>
          </a:p>
        </p:txBody>
      </p:sp>
      <p:sp>
        <p:nvSpPr>
          <p:cNvPr id="9" name="TextBox 8">
            <a:hlinkClick r:id="rId6"/>
            <a:extLst>
              <a:ext uri="{FF2B5EF4-FFF2-40B4-BE49-F238E27FC236}">
                <a16:creationId xmlns:a16="http://schemas.microsoft.com/office/drawing/2014/main" id="{0C0BC490-BD24-3742-B938-99AF9AE2AB9F}"/>
              </a:ext>
            </a:extLst>
          </p:cNvPr>
          <p:cNvSpPr txBox="1"/>
          <p:nvPr/>
        </p:nvSpPr>
        <p:spPr>
          <a:xfrm>
            <a:off x="-53165" y="6541833"/>
            <a:ext cx="5769465" cy="338554"/>
          </a:xfrm>
          <a:prstGeom prst="rect">
            <a:avLst/>
          </a:prstGeom>
          <a:noFill/>
        </p:spPr>
        <p:txBody>
          <a:bodyPr wrap="none" rtlCol="0">
            <a:spAutoFit/>
          </a:bodyPr>
          <a:lstStyle/>
          <a:p>
            <a:r>
              <a:rPr lang="en-US" sz="1600" dirty="0">
                <a:hlinkClick r:id="rId6"/>
              </a:rPr>
              <a:t>Source code: Tutorial on computational astrophysics by M. </a:t>
            </a:r>
            <a:r>
              <a:rPr lang="en-US" sz="1600" dirty="0" err="1">
                <a:hlinkClick r:id="rId6"/>
              </a:rPr>
              <a:t>Zingale</a:t>
            </a:r>
            <a:r>
              <a:rPr lang="en-US" sz="1600" dirty="0">
                <a:hlinkClick r:id="rId6"/>
              </a:rPr>
              <a:t> </a:t>
            </a:r>
            <a:endParaRPr lang="en-US" sz="1600" dirty="0"/>
          </a:p>
        </p:txBody>
      </p:sp>
    </p:spTree>
    <p:extLst>
      <p:ext uri="{BB962C8B-B14F-4D97-AF65-F5344CB8AC3E}">
        <p14:creationId xmlns:p14="http://schemas.microsoft.com/office/powerpoint/2010/main" val="318842218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DCE2F9-F4C3-DA4C-B0FC-7FF6F22D148C}"/>
              </a:ext>
            </a:extLst>
          </p:cNvPr>
          <p:cNvSpPr>
            <a:spLocks noGrp="1"/>
          </p:cNvSpPr>
          <p:nvPr>
            <p:ph type="title"/>
          </p:nvPr>
        </p:nvSpPr>
        <p:spPr>
          <a:xfrm>
            <a:off x="838200" y="0"/>
            <a:ext cx="10515600" cy="1325563"/>
          </a:xfrm>
        </p:spPr>
        <p:txBody>
          <a:bodyPr/>
          <a:lstStyle/>
          <a:p>
            <a:r>
              <a:rPr lang="en-US" dirty="0"/>
              <a:t>Rarefaction waves and Shock capturing</a:t>
            </a:r>
          </a:p>
        </p:txBody>
      </p:sp>
      <p:pic>
        <p:nvPicPr>
          <p:cNvPr id="8" name="Picture 7">
            <a:extLst>
              <a:ext uri="{FF2B5EF4-FFF2-40B4-BE49-F238E27FC236}">
                <a16:creationId xmlns:a16="http://schemas.microsoft.com/office/drawing/2014/main" id="{547152D7-7473-D44D-89C0-944883C533D1}"/>
              </a:ext>
            </a:extLst>
          </p:cNvPr>
          <p:cNvPicPr>
            <a:picLocks noChangeAspect="1"/>
          </p:cNvPicPr>
          <p:nvPr/>
        </p:nvPicPr>
        <p:blipFill>
          <a:blip r:embed="rId2"/>
          <a:stretch>
            <a:fillRect/>
          </a:stretch>
        </p:blipFill>
        <p:spPr>
          <a:xfrm>
            <a:off x="2378932" y="1720534"/>
            <a:ext cx="7316996" cy="5137465"/>
          </a:xfrm>
          <a:prstGeom prst="rect">
            <a:avLst/>
          </a:prstGeom>
        </p:spPr>
      </p:pic>
      <p:pic>
        <p:nvPicPr>
          <p:cNvPr id="10" name="Picture 9">
            <a:extLst>
              <a:ext uri="{FF2B5EF4-FFF2-40B4-BE49-F238E27FC236}">
                <a16:creationId xmlns:a16="http://schemas.microsoft.com/office/drawing/2014/main" id="{F043B047-7B28-3B48-9EE3-BB591865E3C2}"/>
              </a:ext>
            </a:extLst>
          </p:cNvPr>
          <p:cNvPicPr>
            <a:picLocks noChangeAspect="1"/>
          </p:cNvPicPr>
          <p:nvPr/>
        </p:nvPicPr>
        <p:blipFill>
          <a:blip r:embed="rId3"/>
          <a:stretch>
            <a:fillRect/>
          </a:stretch>
        </p:blipFill>
        <p:spPr>
          <a:xfrm>
            <a:off x="2378932" y="1720533"/>
            <a:ext cx="7316996" cy="5137465"/>
          </a:xfrm>
          <a:prstGeom prst="rect">
            <a:avLst/>
          </a:prstGeom>
        </p:spPr>
      </p:pic>
      <p:pic>
        <p:nvPicPr>
          <p:cNvPr id="12" name="Picture 11">
            <a:extLst>
              <a:ext uri="{FF2B5EF4-FFF2-40B4-BE49-F238E27FC236}">
                <a16:creationId xmlns:a16="http://schemas.microsoft.com/office/drawing/2014/main" id="{25977715-01D2-4E4D-A573-FCC79F5F5255}"/>
              </a:ext>
            </a:extLst>
          </p:cNvPr>
          <p:cNvPicPr>
            <a:picLocks noChangeAspect="1"/>
          </p:cNvPicPr>
          <p:nvPr/>
        </p:nvPicPr>
        <p:blipFill>
          <a:blip r:embed="rId4"/>
          <a:stretch>
            <a:fillRect/>
          </a:stretch>
        </p:blipFill>
        <p:spPr>
          <a:xfrm>
            <a:off x="2378931" y="1720532"/>
            <a:ext cx="7316997" cy="5137466"/>
          </a:xfrm>
          <a:prstGeom prst="rect">
            <a:avLst/>
          </a:prstGeom>
        </p:spPr>
      </p:pic>
      <p:pic>
        <p:nvPicPr>
          <p:cNvPr id="14" name="Picture 13">
            <a:extLst>
              <a:ext uri="{FF2B5EF4-FFF2-40B4-BE49-F238E27FC236}">
                <a16:creationId xmlns:a16="http://schemas.microsoft.com/office/drawing/2014/main" id="{1BB4AB14-BFCC-0B48-8615-93838D111B96}"/>
              </a:ext>
            </a:extLst>
          </p:cNvPr>
          <p:cNvPicPr>
            <a:picLocks noChangeAspect="1"/>
          </p:cNvPicPr>
          <p:nvPr/>
        </p:nvPicPr>
        <p:blipFill>
          <a:blip r:embed="rId5"/>
          <a:stretch>
            <a:fillRect/>
          </a:stretch>
        </p:blipFill>
        <p:spPr>
          <a:xfrm>
            <a:off x="2378928" y="1720530"/>
            <a:ext cx="7317001" cy="5137469"/>
          </a:xfrm>
          <a:prstGeom prst="rect">
            <a:avLst/>
          </a:prstGeom>
        </p:spPr>
      </p:pic>
      <p:pic>
        <p:nvPicPr>
          <p:cNvPr id="16" name="Picture 15">
            <a:extLst>
              <a:ext uri="{FF2B5EF4-FFF2-40B4-BE49-F238E27FC236}">
                <a16:creationId xmlns:a16="http://schemas.microsoft.com/office/drawing/2014/main" id="{B395D844-52F8-0042-92F8-14CFE7F044C4}"/>
              </a:ext>
            </a:extLst>
          </p:cNvPr>
          <p:cNvPicPr>
            <a:picLocks noChangeAspect="1"/>
          </p:cNvPicPr>
          <p:nvPr/>
        </p:nvPicPr>
        <p:blipFill>
          <a:blip r:embed="rId6"/>
          <a:stretch>
            <a:fillRect/>
          </a:stretch>
        </p:blipFill>
        <p:spPr>
          <a:xfrm>
            <a:off x="2378927" y="1614198"/>
            <a:ext cx="7317001" cy="5137469"/>
          </a:xfrm>
          <a:prstGeom prst="rect">
            <a:avLst/>
          </a:prstGeom>
        </p:spPr>
      </p:pic>
      <p:sp>
        <p:nvSpPr>
          <p:cNvPr id="3" name="Content Placeholder 2">
            <a:extLst>
              <a:ext uri="{FF2B5EF4-FFF2-40B4-BE49-F238E27FC236}">
                <a16:creationId xmlns:a16="http://schemas.microsoft.com/office/drawing/2014/main" id="{15C4FD65-F675-944D-A379-3A5FFFAEB784}"/>
              </a:ext>
            </a:extLst>
          </p:cNvPr>
          <p:cNvSpPr>
            <a:spLocks noGrp="1"/>
          </p:cNvSpPr>
          <p:nvPr>
            <p:ph idx="1"/>
          </p:nvPr>
        </p:nvSpPr>
        <p:spPr>
          <a:xfrm>
            <a:off x="838200" y="1325563"/>
            <a:ext cx="10515600" cy="601850"/>
          </a:xfrm>
        </p:spPr>
        <p:txBody>
          <a:bodyPr/>
          <a:lstStyle/>
          <a:p>
            <a:r>
              <a:rPr lang="en-US" dirty="0"/>
              <a:t>Or follow the evolution of shocks</a:t>
            </a:r>
          </a:p>
        </p:txBody>
      </p:sp>
      <p:sp>
        <p:nvSpPr>
          <p:cNvPr id="9" name="TextBox 8">
            <a:hlinkClick r:id="rId7"/>
            <a:extLst>
              <a:ext uri="{FF2B5EF4-FFF2-40B4-BE49-F238E27FC236}">
                <a16:creationId xmlns:a16="http://schemas.microsoft.com/office/drawing/2014/main" id="{A221715C-2CBC-5C41-A837-54AFABBEE4ED}"/>
              </a:ext>
            </a:extLst>
          </p:cNvPr>
          <p:cNvSpPr txBox="1"/>
          <p:nvPr/>
        </p:nvSpPr>
        <p:spPr>
          <a:xfrm>
            <a:off x="-53165" y="6541833"/>
            <a:ext cx="5769465" cy="338554"/>
          </a:xfrm>
          <a:prstGeom prst="rect">
            <a:avLst/>
          </a:prstGeom>
          <a:noFill/>
        </p:spPr>
        <p:txBody>
          <a:bodyPr wrap="none" rtlCol="0">
            <a:spAutoFit/>
          </a:bodyPr>
          <a:lstStyle/>
          <a:p>
            <a:r>
              <a:rPr lang="en-US" sz="1600" dirty="0">
                <a:hlinkClick r:id="rId7"/>
              </a:rPr>
              <a:t>Source code: Tutorial on computational astrophysics by M. </a:t>
            </a:r>
            <a:r>
              <a:rPr lang="en-US" sz="1600" dirty="0" err="1">
                <a:hlinkClick r:id="rId7"/>
              </a:rPr>
              <a:t>Zingale</a:t>
            </a:r>
            <a:r>
              <a:rPr lang="en-US" sz="1600" dirty="0">
                <a:hlinkClick r:id="rId7"/>
              </a:rPr>
              <a:t> </a:t>
            </a:r>
            <a:endParaRPr lang="en-US" sz="1600" dirty="0"/>
          </a:p>
        </p:txBody>
      </p:sp>
    </p:spTree>
    <p:extLst>
      <p:ext uri="{BB962C8B-B14F-4D97-AF65-F5344CB8AC3E}">
        <p14:creationId xmlns:p14="http://schemas.microsoft.com/office/powerpoint/2010/main" val="143053146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141D9F-1467-1B4D-BAFB-2DE729B6C190}"/>
              </a:ext>
            </a:extLst>
          </p:cNvPr>
          <p:cNvSpPr>
            <a:spLocks noGrp="1"/>
          </p:cNvSpPr>
          <p:nvPr>
            <p:ph type="ctrTitle"/>
          </p:nvPr>
        </p:nvSpPr>
        <p:spPr/>
        <p:txBody>
          <a:bodyPr>
            <a:normAutofit/>
          </a:bodyPr>
          <a:lstStyle/>
          <a:p>
            <a:pPr rtl="1"/>
            <a:r>
              <a:rPr lang="en-US" dirty="0"/>
              <a:t>Lecture 8 - Elliptic Equations and Multigrid </a:t>
            </a:r>
          </a:p>
        </p:txBody>
      </p:sp>
      <p:sp>
        <p:nvSpPr>
          <p:cNvPr id="3" name="Subtitle 2">
            <a:extLst>
              <a:ext uri="{FF2B5EF4-FFF2-40B4-BE49-F238E27FC236}">
                <a16:creationId xmlns:a16="http://schemas.microsoft.com/office/drawing/2014/main" id="{F8EA75A3-2CBB-D746-AD39-559589D7A37A}"/>
              </a:ext>
            </a:extLst>
          </p:cNvPr>
          <p:cNvSpPr>
            <a:spLocks noGrp="1"/>
          </p:cNvSpPr>
          <p:nvPr>
            <p:ph type="subTitle" idx="1"/>
          </p:nvPr>
        </p:nvSpPr>
        <p:spPr/>
        <p:txBody>
          <a:bodyPr>
            <a:normAutofit lnSpcReduction="10000"/>
          </a:bodyPr>
          <a:lstStyle/>
          <a:p>
            <a:r>
              <a:rPr lang="en-US" dirty="0"/>
              <a:t>Omer Bromberg</a:t>
            </a:r>
          </a:p>
          <a:p>
            <a:r>
              <a:rPr lang="en-US" dirty="0">
                <a:hlinkClick r:id="rId2"/>
              </a:rPr>
              <a:t>omerbr@tauex.tau.ac.il</a:t>
            </a:r>
            <a:endParaRPr lang="en-US" dirty="0"/>
          </a:p>
          <a:p>
            <a:endParaRPr lang="en-US" dirty="0"/>
          </a:p>
          <a:p>
            <a:r>
              <a:rPr lang="en-US" dirty="0"/>
              <a:t>Winter 2025/6</a:t>
            </a:r>
          </a:p>
          <a:p>
            <a:endParaRPr lang="en-US" dirty="0"/>
          </a:p>
        </p:txBody>
      </p:sp>
      <p:sp>
        <p:nvSpPr>
          <p:cNvPr id="4" name="Rectangle 3">
            <a:extLst>
              <a:ext uri="{FF2B5EF4-FFF2-40B4-BE49-F238E27FC236}">
                <a16:creationId xmlns:a16="http://schemas.microsoft.com/office/drawing/2014/main" id="{E013940A-ADC4-6B42-90E0-BE06CF05B46B}"/>
              </a:ext>
            </a:extLst>
          </p:cNvPr>
          <p:cNvSpPr/>
          <p:nvPr/>
        </p:nvSpPr>
        <p:spPr>
          <a:xfrm>
            <a:off x="0" y="6488668"/>
            <a:ext cx="6095387" cy="369332"/>
          </a:xfrm>
          <a:prstGeom prst="rect">
            <a:avLst/>
          </a:prstGeom>
        </p:spPr>
        <p:txBody>
          <a:bodyPr wrap="none">
            <a:spAutoFit/>
          </a:bodyPr>
          <a:lstStyle/>
          <a:p>
            <a:r>
              <a:rPr lang="en-US" dirty="0"/>
              <a:t>Modified from lecture notes by </a:t>
            </a:r>
            <a:r>
              <a:rPr lang="en-US" dirty="0">
                <a:hlinkClick r:id="rId3"/>
              </a:rPr>
              <a:t>Michael</a:t>
            </a:r>
            <a:r>
              <a:rPr lang="en-US" dirty="0">
                <a:hlinkClick r:id="rId4"/>
              </a:rPr>
              <a:t> Zingale</a:t>
            </a:r>
            <a:r>
              <a:rPr lang="en-US" dirty="0"/>
              <a:t>  &amp; </a:t>
            </a:r>
            <a:r>
              <a:rPr lang="en-US" dirty="0">
                <a:hlinkClick r:id="rId5"/>
              </a:rPr>
              <a:t>Cyrus Dreyer</a:t>
            </a:r>
            <a:endParaRPr lang="en-US" dirty="0"/>
          </a:p>
        </p:txBody>
      </p:sp>
    </p:spTree>
    <p:extLst>
      <p:ext uri="{BB962C8B-B14F-4D97-AF65-F5344CB8AC3E}">
        <p14:creationId xmlns:p14="http://schemas.microsoft.com/office/powerpoint/2010/main" val="239991712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DCE2F9-F4C3-DA4C-B0FC-7FF6F22D148C}"/>
              </a:ext>
            </a:extLst>
          </p:cNvPr>
          <p:cNvSpPr>
            <a:spLocks noGrp="1"/>
          </p:cNvSpPr>
          <p:nvPr>
            <p:ph type="title"/>
          </p:nvPr>
        </p:nvSpPr>
        <p:spPr>
          <a:xfrm>
            <a:off x="838200" y="0"/>
            <a:ext cx="10515600" cy="1325563"/>
          </a:xfrm>
        </p:spPr>
        <p:txBody>
          <a:bodyPr/>
          <a:lstStyle/>
          <a:p>
            <a:r>
              <a:rPr lang="en-US" dirty="0"/>
              <a:t>Elliptic Equations and Multigrid </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5C4FD65-F675-944D-A379-3A5FFFAEB784}"/>
                  </a:ext>
                </a:extLst>
              </p:cNvPr>
              <p:cNvSpPr>
                <a:spLocks noGrp="1"/>
              </p:cNvSpPr>
              <p:nvPr>
                <p:ph idx="1"/>
              </p:nvPr>
            </p:nvSpPr>
            <p:spPr>
              <a:xfrm>
                <a:off x="448235" y="1325562"/>
                <a:ext cx="11438965" cy="5532437"/>
              </a:xfrm>
            </p:spPr>
            <p:txBody>
              <a:bodyPr/>
              <a:lstStyle/>
              <a:p>
                <a:pPr>
                  <a:lnSpc>
                    <a:spcPct val="100000"/>
                  </a:lnSpc>
                </a:pPr>
                <a:r>
                  <a:rPr lang="en-US" dirty="0"/>
                  <a:t>The simplest elliptic PDE is </a:t>
                </a:r>
                <a:r>
                  <a:rPr lang="en-US" i="1" dirty="0"/>
                  <a:t>Laplace’s equation</a:t>
                </a:r>
                <a:r>
                  <a:rPr lang="en-US" dirty="0"/>
                  <a:t>: </a:t>
                </a:r>
              </a:p>
              <a:p>
                <a:pPr marL="0" indent="0">
                  <a:lnSpc>
                    <a:spcPct val="100000"/>
                  </a:lnSpc>
                  <a:buNone/>
                </a:pPr>
                <a14:m>
                  <m:oMathPara xmlns:m="http://schemas.openxmlformats.org/officeDocument/2006/math">
                    <m:oMathParaPr>
                      <m:jc m:val="centerGroup"/>
                    </m:oMathParaPr>
                    <m:oMath xmlns:m="http://schemas.openxmlformats.org/officeDocument/2006/math">
                      <m:sSup>
                        <m:sSupPr>
                          <m:ctrlPr>
                            <a:rPr lang="en-US" b="0" i="1" smtClean="0">
                              <a:latin typeface="Cambria Math" panose="02040503050406030204" pitchFamily="18" charset="0"/>
                            </a:rPr>
                          </m:ctrlPr>
                        </m:sSupPr>
                        <m:e>
                          <m:r>
                            <m:rPr>
                              <m:sty m:val="p"/>
                            </m:rPr>
                            <a:rPr lang="en-US" b="0" i="0" smtClean="0">
                              <a:latin typeface="Cambria Math" panose="02040503050406030204" pitchFamily="18" charset="0"/>
                            </a:rPr>
                            <m:t>∇</m:t>
                          </m:r>
                        </m:e>
                        <m:sup>
                          <m:r>
                            <a:rPr lang="en-US" b="0" i="1" smtClean="0">
                              <a:latin typeface="Cambria Math" panose="02040503050406030204" pitchFamily="18" charset="0"/>
                            </a:rPr>
                            <m:t>2</m:t>
                          </m:r>
                        </m:sup>
                      </m:sSup>
                      <m:r>
                        <a:rPr lang="en-US" b="0" i="1" smtClean="0">
                          <a:latin typeface="Cambria Math" panose="02040503050406030204" pitchFamily="18" charset="0"/>
                        </a:rPr>
                        <m:t>𝜙</m:t>
                      </m:r>
                      <m:r>
                        <a:rPr lang="en-US" b="0" i="1" smtClean="0">
                          <a:latin typeface="Cambria Math" panose="02040503050406030204" pitchFamily="18" charset="0"/>
                        </a:rPr>
                        <m:t>=0</m:t>
                      </m:r>
                    </m:oMath>
                  </m:oMathPara>
                </a14:m>
                <a:endParaRPr lang="en-US" dirty="0"/>
              </a:p>
              <a:p>
                <a:pPr>
                  <a:lnSpc>
                    <a:spcPct val="100000"/>
                  </a:lnSpc>
                </a:pPr>
                <a:r>
                  <a:rPr lang="en-US" dirty="0"/>
                  <a:t>Only slightly more complex is </a:t>
                </a:r>
                <a:r>
                  <a:rPr lang="en-US" i="1" dirty="0"/>
                  <a:t>Poisson’s equation </a:t>
                </a:r>
                <a:r>
                  <a:rPr lang="en-US" dirty="0"/>
                  <a:t>(Laplace + a source term): </a:t>
                </a:r>
              </a:p>
              <a:p>
                <a:pPr marL="0" indent="0">
                  <a:lnSpc>
                    <a:spcPct val="100000"/>
                  </a:lnSpc>
                  <a:buNone/>
                </a:pPr>
                <a14:m>
                  <m:oMathPara xmlns:m="http://schemas.openxmlformats.org/officeDocument/2006/math">
                    <m:oMathParaPr>
                      <m:jc m:val="centerGroup"/>
                    </m:oMathParaPr>
                    <m:oMath xmlns:m="http://schemas.openxmlformats.org/officeDocument/2006/math">
                      <m:sSup>
                        <m:sSupPr>
                          <m:ctrlPr>
                            <a:rPr lang="en-US" i="1">
                              <a:latin typeface="Cambria Math" panose="02040503050406030204" pitchFamily="18" charset="0"/>
                            </a:rPr>
                          </m:ctrlPr>
                        </m:sSupPr>
                        <m:e>
                          <m:r>
                            <m:rPr>
                              <m:sty m:val="p"/>
                            </m:rPr>
                            <a:rPr lang="en-US">
                              <a:latin typeface="Cambria Math" panose="02040503050406030204" pitchFamily="18" charset="0"/>
                            </a:rPr>
                            <m:t>∇</m:t>
                          </m:r>
                        </m:e>
                        <m:sup>
                          <m:r>
                            <a:rPr lang="en-US" i="1">
                              <a:latin typeface="Cambria Math" panose="02040503050406030204" pitchFamily="18" charset="0"/>
                            </a:rPr>
                            <m:t>2</m:t>
                          </m:r>
                        </m:sup>
                      </m:sSup>
                      <m:r>
                        <a:rPr lang="en-US" i="1">
                          <a:latin typeface="Cambria Math" panose="02040503050406030204" pitchFamily="18" charset="0"/>
                        </a:rPr>
                        <m:t>𝜙</m:t>
                      </m:r>
                      <m:r>
                        <a:rPr lang="en-US" i="1">
                          <a:latin typeface="Cambria Math" panose="02040503050406030204" pitchFamily="18" charset="0"/>
                        </a:rPr>
                        <m:t>=</m:t>
                      </m:r>
                      <m:r>
                        <a:rPr lang="en-US" b="0" i="1" smtClean="0">
                          <a:latin typeface="Cambria Math" panose="02040503050406030204" pitchFamily="18" charset="0"/>
                        </a:rPr>
                        <m:t>𝑓</m:t>
                      </m:r>
                    </m:oMath>
                  </m:oMathPara>
                </a14:m>
                <a:endParaRPr lang="en-US" dirty="0"/>
              </a:p>
              <a:p>
                <a:pPr>
                  <a:lnSpc>
                    <a:spcPct val="100000"/>
                  </a:lnSpc>
                </a:pPr>
                <a:r>
                  <a:rPr lang="en-US" dirty="0"/>
                  <a:t>Can arise in electrostatics (electric potential), solving for the gravitational potential from a mass distribution, or enforcing a divergence constraint on a vector field – divergence cleaning.</a:t>
                </a:r>
              </a:p>
              <a:p>
                <a:pPr>
                  <a:lnSpc>
                    <a:spcPct val="100000"/>
                  </a:lnSpc>
                </a:pPr>
                <a:r>
                  <a:rPr lang="en-US" dirty="0"/>
                  <a:t>Another common elliptic equation is the </a:t>
                </a:r>
                <a:r>
                  <a:rPr lang="en-US" i="1" dirty="0"/>
                  <a:t>Helmholtz equation</a:t>
                </a:r>
                <a:r>
                  <a:rPr lang="en-US" dirty="0"/>
                  <a:t>:</a:t>
                </a:r>
                <a:br>
                  <a:rPr lang="en-US" dirty="0"/>
                </a:br>
                <a14:m>
                  <m:oMath xmlns:m="http://schemas.openxmlformats.org/officeDocument/2006/math">
                    <m:r>
                      <a:rPr lang="el-GR" i="1" dirty="0" smtClean="0">
                        <a:latin typeface="Cambria Math" panose="02040503050406030204" pitchFamily="18" charset="0"/>
                      </a:rPr>
                      <m:t>(</m:t>
                    </m:r>
                    <m:r>
                      <a:rPr lang="el-GR" i="1" dirty="0" smtClean="0">
                        <a:latin typeface="Cambria Math" panose="02040503050406030204" pitchFamily="18" charset="0"/>
                      </a:rPr>
                      <m:t>𝛼</m:t>
                    </m:r>
                    <m:r>
                      <a:rPr lang="el-GR" i="1" dirty="0" smtClean="0">
                        <a:latin typeface="Cambria Math" panose="02040503050406030204" pitchFamily="18" charset="0"/>
                      </a:rPr>
                      <m:t>−</m:t>
                    </m:r>
                    <m:acc>
                      <m:accPr>
                        <m:chr m:val="⃗"/>
                        <m:ctrlPr>
                          <a:rPr lang="en-US" b="0" i="1" dirty="0" smtClean="0">
                            <a:latin typeface="Cambria Math" panose="02040503050406030204" pitchFamily="18" charset="0"/>
                          </a:rPr>
                        </m:ctrlPr>
                      </m:accPr>
                      <m:e>
                        <m:r>
                          <m:rPr>
                            <m:sty m:val="p"/>
                          </m:rPr>
                          <a:rPr lang="el-GR" i="0" dirty="0">
                            <a:latin typeface="Cambria Math" panose="02040503050406030204" pitchFamily="18" charset="0"/>
                          </a:rPr>
                          <m:t>∇</m:t>
                        </m:r>
                      </m:e>
                    </m:acc>
                    <m:r>
                      <a:rPr lang="el-GR" i="1" dirty="0">
                        <a:latin typeface="Cambria Math" panose="02040503050406030204" pitchFamily="18" charset="0"/>
                      </a:rPr>
                      <m:t>·</m:t>
                    </m:r>
                    <m:r>
                      <a:rPr lang="el-GR" i="1" dirty="0">
                        <a:latin typeface="Cambria Math" panose="02040503050406030204" pitchFamily="18" charset="0"/>
                      </a:rPr>
                      <m:t>𝛽</m:t>
                    </m:r>
                    <m:acc>
                      <m:accPr>
                        <m:chr m:val="⃗"/>
                        <m:ctrlPr>
                          <a:rPr lang="en-US" b="0" i="1" dirty="0" smtClean="0">
                            <a:latin typeface="Cambria Math" panose="02040503050406030204" pitchFamily="18" charset="0"/>
                          </a:rPr>
                        </m:ctrlPr>
                      </m:accPr>
                      <m:e>
                        <m:r>
                          <m:rPr>
                            <m:sty m:val="p"/>
                          </m:rPr>
                          <a:rPr lang="el-GR" i="0" dirty="0">
                            <a:latin typeface="Cambria Math" panose="02040503050406030204" pitchFamily="18" charset="0"/>
                          </a:rPr>
                          <m:t>∇</m:t>
                        </m:r>
                      </m:e>
                    </m:acc>
                    <m:r>
                      <a:rPr lang="el-GR" i="1" dirty="0">
                        <a:latin typeface="Cambria Math" panose="02040503050406030204" pitchFamily="18" charset="0"/>
                      </a:rPr>
                      <m:t>)</m:t>
                    </m:r>
                    <m:r>
                      <a:rPr lang="el-GR" i="1" dirty="0">
                        <a:latin typeface="Cambria Math" panose="02040503050406030204" pitchFamily="18" charset="0"/>
                      </a:rPr>
                      <m:t>𝜑</m:t>
                    </m:r>
                    <m:r>
                      <a:rPr lang="el-GR" i="1" dirty="0">
                        <a:latin typeface="Cambria Math" panose="02040503050406030204" pitchFamily="18" charset="0"/>
                      </a:rPr>
                      <m:t> = </m:t>
                    </m:r>
                    <m:r>
                      <a:rPr lang="en-US" i="1" dirty="0">
                        <a:latin typeface="Cambria Math" panose="02040503050406030204" pitchFamily="18" charset="0"/>
                      </a:rPr>
                      <m:t>𝑓</m:t>
                    </m:r>
                    <m:r>
                      <a:rPr lang="en-US" i="1" dirty="0">
                        <a:latin typeface="Cambria Math" panose="02040503050406030204" pitchFamily="18" charset="0"/>
                      </a:rPr>
                      <m:t> </m:t>
                    </m:r>
                  </m:oMath>
                </a14:m>
                <a:endParaRPr lang="en-US" dirty="0"/>
              </a:p>
              <a:p>
                <a:pPr>
                  <a:lnSpc>
                    <a:spcPct val="100000"/>
                  </a:lnSpc>
                </a:pPr>
                <a:r>
                  <a:rPr lang="en-US" dirty="0"/>
                  <a:t>A Helmholtz equation can arise, for example, from a time-dependent equation (like diffusion) by discretizing in time. </a:t>
                </a:r>
              </a:p>
              <a:p>
                <a:pPr marL="0" indent="0">
                  <a:lnSpc>
                    <a:spcPct val="100000"/>
                  </a:lnSpc>
                  <a:buNone/>
                </a:pPr>
                <a:endParaRPr lang="en-US" dirty="0"/>
              </a:p>
              <a:p>
                <a:pPr marL="0" indent="0">
                  <a:lnSpc>
                    <a:spcPct val="100000"/>
                  </a:lnSpc>
                  <a:buNone/>
                </a:pPr>
                <a:endParaRPr lang="en-US" dirty="0"/>
              </a:p>
              <a:p>
                <a:pPr marL="0" indent="0">
                  <a:lnSpc>
                    <a:spcPct val="100000"/>
                  </a:lnSpc>
                  <a:buNone/>
                </a:pPr>
                <a:endParaRPr lang="en-US" dirty="0"/>
              </a:p>
            </p:txBody>
          </p:sp>
        </mc:Choice>
        <mc:Fallback xmlns="">
          <p:sp>
            <p:nvSpPr>
              <p:cNvPr id="3" name="Content Placeholder 2">
                <a:extLst>
                  <a:ext uri="{FF2B5EF4-FFF2-40B4-BE49-F238E27FC236}">
                    <a16:creationId xmlns:a16="http://schemas.microsoft.com/office/drawing/2014/main" id="{15C4FD65-F675-944D-A379-3A5FFFAEB784}"/>
                  </a:ext>
                </a:extLst>
              </p:cNvPr>
              <p:cNvSpPr>
                <a:spLocks noGrp="1" noRot="1" noChangeAspect="1" noMove="1" noResize="1" noEditPoints="1" noAdjustHandles="1" noChangeArrowheads="1" noChangeShapeType="1" noTextEdit="1"/>
              </p:cNvSpPr>
              <p:nvPr>
                <p:ph idx="1"/>
              </p:nvPr>
            </p:nvSpPr>
            <p:spPr>
              <a:xfrm>
                <a:off x="448235" y="1325562"/>
                <a:ext cx="11438965" cy="5532437"/>
              </a:xfrm>
              <a:blipFill>
                <a:blip r:embed="rId2"/>
                <a:stretch>
                  <a:fillRect l="-887" t="-915" r="-1220"/>
                </a:stretch>
              </a:blipFill>
            </p:spPr>
            <p:txBody>
              <a:bodyPr/>
              <a:lstStyle/>
              <a:p>
                <a:r>
                  <a:rPr lang="en-US">
                    <a:noFill/>
                  </a:rPr>
                  <a:t> </a:t>
                </a:r>
              </a:p>
            </p:txBody>
          </p:sp>
        </mc:Fallback>
      </mc:AlternateContent>
    </p:spTree>
    <p:extLst>
      <p:ext uri="{BB962C8B-B14F-4D97-AF65-F5344CB8AC3E}">
        <p14:creationId xmlns:p14="http://schemas.microsoft.com/office/powerpoint/2010/main" val="266139099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DCE2F9-F4C3-DA4C-B0FC-7FF6F22D148C}"/>
              </a:ext>
            </a:extLst>
          </p:cNvPr>
          <p:cNvSpPr>
            <a:spLocks noGrp="1"/>
          </p:cNvSpPr>
          <p:nvPr>
            <p:ph type="title"/>
          </p:nvPr>
        </p:nvSpPr>
        <p:spPr>
          <a:xfrm>
            <a:off x="838200" y="0"/>
            <a:ext cx="10515600" cy="1325563"/>
          </a:xfrm>
        </p:spPr>
        <p:txBody>
          <a:bodyPr/>
          <a:lstStyle/>
          <a:p>
            <a:r>
              <a:rPr lang="en-US" dirty="0"/>
              <a:t>Elliptic Equations and Multigrid </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5C4FD65-F675-944D-A379-3A5FFFAEB784}"/>
                  </a:ext>
                </a:extLst>
              </p:cNvPr>
              <p:cNvSpPr>
                <a:spLocks noGrp="1"/>
              </p:cNvSpPr>
              <p:nvPr>
                <p:ph idx="1"/>
              </p:nvPr>
            </p:nvSpPr>
            <p:spPr>
              <a:xfrm>
                <a:off x="838200" y="1325562"/>
                <a:ext cx="10515600" cy="5532437"/>
              </a:xfrm>
            </p:spPr>
            <p:txBody>
              <a:bodyPr/>
              <a:lstStyle/>
              <a:p>
                <a:r>
                  <a:rPr lang="en-US" dirty="0"/>
                  <a:t>No time-dependencies in any of these equations. </a:t>
                </a:r>
              </a:p>
              <a:p>
                <a:r>
                  <a:rPr lang="en-US" dirty="0"/>
                  <a:t>The quantity </a:t>
                </a:r>
                <a14:m>
                  <m:oMath xmlns:m="http://schemas.openxmlformats.org/officeDocument/2006/math">
                    <m:r>
                      <a:rPr lang="en-US" b="0" i="1" dirty="0" smtClean="0">
                        <a:latin typeface="Cambria Math" panose="02040503050406030204" pitchFamily="18" charset="0"/>
                      </a:rPr>
                      <m:t>𝜙</m:t>
                    </m:r>
                  </m:oMath>
                </a14:m>
                <a:r>
                  <a:rPr lang="el-GR" i="1" dirty="0"/>
                  <a:t> </a:t>
                </a:r>
                <a:r>
                  <a:rPr lang="en-US" dirty="0"/>
                  <a:t>is specified instantaneously in the domain subject to boundary conditions. </a:t>
                </a:r>
              </a:p>
              <a:p>
                <a:r>
                  <a:rPr lang="en-US" dirty="0"/>
                  <a:t>This makes the solution methods very different then what we saw for hyperbolic problems. </a:t>
                </a:r>
              </a:p>
              <a:p>
                <a:endParaRPr lang="en-US" dirty="0"/>
              </a:p>
              <a:p>
                <a:endParaRPr lang="en-US" dirty="0"/>
              </a:p>
            </p:txBody>
          </p:sp>
        </mc:Choice>
        <mc:Fallback xmlns="">
          <p:sp>
            <p:nvSpPr>
              <p:cNvPr id="3" name="Content Placeholder 2">
                <a:extLst>
                  <a:ext uri="{FF2B5EF4-FFF2-40B4-BE49-F238E27FC236}">
                    <a16:creationId xmlns:a16="http://schemas.microsoft.com/office/drawing/2014/main" id="{15C4FD65-F675-944D-A379-3A5FFFAEB784}"/>
                  </a:ext>
                </a:extLst>
              </p:cNvPr>
              <p:cNvSpPr>
                <a:spLocks noGrp="1" noRot="1" noChangeAspect="1" noMove="1" noResize="1" noEditPoints="1" noAdjustHandles="1" noChangeArrowheads="1" noChangeShapeType="1" noTextEdit="1"/>
              </p:cNvSpPr>
              <p:nvPr>
                <p:ph idx="1"/>
              </p:nvPr>
            </p:nvSpPr>
            <p:spPr>
              <a:xfrm>
                <a:off x="838200" y="1325562"/>
                <a:ext cx="10515600" cy="5532437"/>
              </a:xfrm>
              <a:blipFill>
                <a:blip r:embed="rId2"/>
                <a:stretch>
                  <a:fillRect l="-965" t="-1602" r="-724"/>
                </a:stretch>
              </a:blipFill>
            </p:spPr>
            <p:txBody>
              <a:bodyPr/>
              <a:lstStyle/>
              <a:p>
                <a:r>
                  <a:rPr lang="en-US">
                    <a:noFill/>
                  </a:rPr>
                  <a:t> </a:t>
                </a:r>
              </a:p>
            </p:txBody>
          </p:sp>
        </mc:Fallback>
      </mc:AlternateContent>
    </p:spTree>
    <p:extLst>
      <p:ext uri="{BB962C8B-B14F-4D97-AF65-F5344CB8AC3E}">
        <p14:creationId xmlns:p14="http://schemas.microsoft.com/office/powerpoint/2010/main" val="286098733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DCE2F9-F4C3-DA4C-B0FC-7FF6F22D148C}"/>
              </a:ext>
            </a:extLst>
          </p:cNvPr>
          <p:cNvSpPr>
            <a:spLocks noGrp="1"/>
          </p:cNvSpPr>
          <p:nvPr>
            <p:ph type="title"/>
          </p:nvPr>
        </p:nvSpPr>
        <p:spPr>
          <a:xfrm>
            <a:off x="838200" y="0"/>
            <a:ext cx="10515600" cy="1325563"/>
          </a:xfrm>
        </p:spPr>
        <p:txBody>
          <a:bodyPr/>
          <a:lstStyle/>
          <a:p>
            <a:r>
              <a:rPr lang="en-US" dirty="0"/>
              <a:t>Boundary conditions</a:t>
            </a:r>
          </a:p>
        </p:txBody>
      </p:sp>
      <p:sp>
        <p:nvSpPr>
          <p:cNvPr id="3" name="Content Placeholder 2">
            <a:extLst>
              <a:ext uri="{FF2B5EF4-FFF2-40B4-BE49-F238E27FC236}">
                <a16:creationId xmlns:a16="http://schemas.microsoft.com/office/drawing/2014/main" id="{15C4FD65-F675-944D-A379-3A5FFFAEB784}"/>
              </a:ext>
            </a:extLst>
          </p:cNvPr>
          <p:cNvSpPr>
            <a:spLocks noGrp="1"/>
          </p:cNvSpPr>
          <p:nvPr>
            <p:ph idx="1"/>
          </p:nvPr>
        </p:nvSpPr>
        <p:spPr>
          <a:xfrm>
            <a:off x="838200" y="1325562"/>
            <a:ext cx="10515600" cy="5532437"/>
          </a:xfrm>
        </p:spPr>
        <p:txBody>
          <a:bodyPr/>
          <a:lstStyle/>
          <a:p>
            <a:r>
              <a:rPr lang="en-US" dirty="0"/>
              <a:t>Elliptic equations are boundary value problems. </a:t>
            </a:r>
          </a:p>
          <a:p>
            <a:r>
              <a:rPr lang="en-US" dirty="0"/>
              <a:t>The solution of the equations requires setting boundary conditions.</a:t>
            </a:r>
          </a:p>
          <a:p>
            <a:endParaRPr lang="en-US" dirty="0"/>
          </a:p>
        </p:txBody>
      </p:sp>
      <p:grpSp>
        <p:nvGrpSpPr>
          <p:cNvPr id="24" name="Group 23">
            <a:extLst>
              <a:ext uri="{FF2B5EF4-FFF2-40B4-BE49-F238E27FC236}">
                <a16:creationId xmlns:a16="http://schemas.microsoft.com/office/drawing/2014/main" id="{14633FEC-27F6-7D40-9287-094994238B84}"/>
              </a:ext>
            </a:extLst>
          </p:cNvPr>
          <p:cNvGrpSpPr/>
          <p:nvPr/>
        </p:nvGrpSpPr>
        <p:grpSpPr>
          <a:xfrm>
            <a:off x="2440015" y="2833017"/>
            <a:ext cx="6680295" cy="3413740"/>
            <a:chOff x="2440015" y="2833017"/>
            <a:chExt cx="6680295" cy="3413740"/>
          </a:xfrm>
        </p:grpSpPr>
        <p:sp>
          <p:nvSpPr>
            <p:cNvPr id="4" name="Rectangle 3">
              <a:extLst>
                <a:ext uri="{FF2B5EF4-FFF2-40B4-BE49-F238E27FC236}">
                  <a16:creationId xmlns:a16="http://schemas.microsoft.com/office/drawing/2014/main" id="{A5E6B829-955A-5445-843C-2561C8F1931E}"/>
                </a:ext>
              </a:extLst>
            </p:cNvPr>
            <p:cNvSpPr/>
            <p:nvPr/>
          </p:nvSpPr>
          <p:spPr>
            <a:xfrm>
              <a:off x="3236259" y="3160059"/>
              <a:ext cx="5549153" cy="2465294"/>
            </a:xfrm>
            <a:prstGeom prst="rect">
              <a:avLst/>
            </a:prstGeom>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t>Solution determined in this</a:t>
              </a:r>
            </a:p>
            <a:p>
              <a:pPr algn="ctr"/>
              <a:r>
                <a:rPr lang="en-US" sz="2800" dirty="0"/>
                <a:t>region of parameter space</a:t>
              </a:r>
            </a:p>
          </p:txBody>
        </p:sp>
        <p:cxnSp>
          <p:nvCxnSpPr>
            <p:cNvPr id="7" name="Straight Arrow Connector 6">
              <a:extLst>
                <a:ext uri="{FF2B5EF4-FFF2-40B4-BE49-F238E27FC236}">
                  <a16:creationId xmlns:a16="http://schemas.microsoft.com/office/drawing/2014/main" id="{1AAB4667-DA72-1F4C-A53D-91EFFBB00996}"/>
                </a:ext>
              </a:extLst>
            </p:cNvPr>
            <p:cNvCxnSpPr/>
            <p:nvPr/>
          </p:nvCxnSpPr>
          <p:spPr>
            <a:xfrm>
              <a:off x="3173506" y="5697071"/>
              <a:ext cx="5844988" cy="0"/>
            </a:xfrm>
            <a:prstGeom prst="straightConnector1">
              <a:avLst/>
            </a:prstGeom>
            <a:ln w="381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0409EB22-638B-034E-9361-91F32071F3A9}"/>
                </a:ext>
              </a:extLst>
            </p:cNvPr>
            <p:cNvCxnSpPr>
              <a:cxnSpLocks/>
            </p:cNvCxnSpPr>
            <p:nvPr/>
          </p:nvCxnSpPr>
          <p:spPr>
            <a:xfrm flipV="1">
              <a:off x="3173506" y="2833017"/>
              <a:ext cx="0" cy="2864053"/>
            </a:xfrm>
            <a:prstGeom prst="straightConnector1">
              <a:avLst/>
            </a:prstGeom>
            <a:ln w="381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EA6329F2-9E40-DF4B-9CBA-F1E181569C87}"/>
                    </a:ext>
                  </a:extLst>
                </p:cNvPr>
                <p:cNvSpPr txBox="1"/>
                <p:nvPr/>
              </p:nvSpPr>
              <p:spPr>
                <a:xfrm>
                  <a:off x="5728015" y="5723537"/>
                  <a:ext cx="468077"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800" b="0" i="1" smtClean="0">
                            <a:latin typeface="Cambria Math" panose="02040503050406030204" pitchFamily="18" charset="0"/>
                          </a:rPr>
                          <m:t>𝑥</m:t>
                        </m:r>
                      </m:oMath>
                    </m:oMathPara>
                  </a14:m>
                  <a:endParaRPr lang="en-US" sz="2800" dirty="0"/>
                </a:p>
              </p:txBody>
            </p:sp>
          </mc:Choice>
          <mc:Fallback xmlns="">
            <p:sp>
              <p:nvSpPr>
                <p:cNvPr id="11" name="TextBox 10">
                  <a:extLst>
                    <a:ext uri="{FF2B5EF4-FFF2-40B4-BE49-F238E27FC236}">
                      <a16:creationId xmlns:a16="http://schemas.microsoft.com/office/drawing/2014/main" id="{EA6329F2-9E40-DF4B-9CBA-F1E181569C87}"/>
                    </a:ext>
                  </a:extLst>
                </p:cNvPr>
                <p:cNvSpPr txBox="1">
                  <a:spLocks noRot="1" noChangeAspect="1" noMove="1" noResize="1" noEditPoints="1" noAdjustHandles="1" noChangeArrowheads="1" noChangeShapeType="1" noTextEdit="1"/>
                </p:cNvSpPr>
                <p:nvPr/>
              </p:nvSpPr>
              <p:spPr>
                <a:xfrm>
                  <a:off x="5728015" y="5723537"/>
                  <a:ext cx="468077" cy="523220"/>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2AF652D7-078D-1249-8A2A-7733D7BD282A}"/>
                    </a:ext>
                  </a:extLst>
                </p:cNvPr>
                <p:cNvSpPr txBox="1"/>
                <p:nvPr/>
              </p:nvSpPr>
              <p:spPr>
                <a:xfrm>
                  <a:off x="2440015" y="4003433"/>
                  <a:ext cx="472950"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800" b="0" i="1" smtClean="0">
                            <a:latin typeface="Cambria Math" panose="02040503050406030204" pitchFamily="18" charset="0"/>
                          </a:rPr>
                          <m:t>𝑦</m:t>
                        </m:r>
                      </m:oMath>
                    </m:oMathPara>
                  </a14:m>
                  <a:endParaRPr lang="en-US" sz="2800" dirty="0"/>
                </a:p>
              </p:txBody>
            </p:sp>
          </mc:Choice>
          <mc:Fallback xmlns="">
            <p:sp>
              <p:nvSpPr>
                <p:cNvPr id="12" name="TextBox 11">
                  <a:extLst>
                    <a:ext uri="{FF2B5EF4-FFF2-40B4-BE49-F238E27FC236}">
                      <a16:creationId xmlns:a16="http://schemas.microsoft.com/office/drawing/2014/main" id="{2AF652D7-078D-1249-8A2A-7733D7BD282A}"/>
                    </a:ext>
                  </a:extLst>
                </p:cNvPr>
                <p:cNvSpPr txBox="1">
                  <a:spLocks noRot="1" noChangeAspect="1" noMove="1" noResize="1" noEditPoints="1" noAdjustHandles="1" noChangeArrowheads="1" noChangeShapeType="1" noTextEdit="1"/>
                </p:cNvSpPr>
                <p:nvPr/>
              </p:nvSpPr>
              <p:spPr>
                <a:xfrm>
                  <a:off x="2440015" y="4003433"/>
                  <a:ext cx="472950" cy="523220"/>
                </a:xfrm>
                <a:prstGeom prst="rect">
                  <a:avLst/>
                </a:prstGeom>
                <a:blipFill>
                  <a:blip r:embed="rId3"/>
                  <a:stretch>
                    <a:fillRect b="-952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3BE33C99-72F0-E84D-89C9-A769CBCD92AB}"/>
                    </a:ext>
                  </a:extLst>
                </p:cNvPr>
                <p:cNvSpPr txBox="1"/>
                <p:nvPr/>
              </p:nvSpPr>
              <p:spPr>
                <a:xfrm>
                  <a:off x="8551373" y="5723537"/>
                  <a:ext cx="568937"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𝐿</m:t>
                            </m:r>
                          </m:e>
                          <m:sub>
                            <m:r>
                              <a:rPr lang="en-US" sz="2400" b="0" i="1" smtClean="0">
                                <a:latin typeface="Cambria Math" panose="02040503050406030204" pitchFamily="18" charset="0"/>
                              </a:rPr>
                              <m:t>𝑥</m:t>
                            </m:r>
                          </m:sub>
                        </m:sSub>
                      </m:oMath>
                    </m:oMathPara>
                  </a14:m>
                  <a:endParaRPr lang="en-US" sz="2400" dirty="0"/>
                </a:p>
              </p:txBody>
            </p:sp>
          </mc:Choice>
          <mc:Fallback xmlns="">
            <p:sp>
              <p:nvSpPr>
                <p:cNvPr id="14" name="TextBox 13">
                  <a:extLst>
                    <a:ext uri="{FF2B5EF4-FFF2-40B4-BE49-F238E27FC236}">
                      <a16:creationId xmlns:a16="http://schemas.microsoft.com/office/drawing/2014/main" id="{3BE33C99-72F0-E84D-89C9-A769CBCD92AB}"/>
                    </a:ext>
                  </a:extLst>
                </p:cNvPr>
                <p:cNvSpPr txBox="1">
                  <a:spLocks noRot="1" noChangeAspect="1" noMove="1" noResize="1" noEditPoints="1" noAdjustHandles="1" noChangeArrowheads="1" noChangeShapeType="1" noTextEdit="1"/>
                </p:cNvSpPr>
                <p:nvPr/>
              </p:nvSpPr>
              <p:spPr>
                <a:xfrm>
                  <a:off x="8551373" y="5723537"/>
                  <a:ext cx="568937" cy="461665"/>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C1C9D193-168D-AE47-845D-48416A5965D5}"/>
                    </a:ext>
                  </a:extLst>
                </p:cNvPr>
                <p:cNvSpPr txBox="1"/>
                <p:nvPr/>
              </p:nvSpPr>
              <p:spPr>
                <a:xfrm>
                  <a:off x="2961749" y="5707728"/>
                  <a:ext cx="423513"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0</m:t>
                        </m:r>
                      </m:oMath>
                    </m:oMathPara>
                  </a14:m>
                  <a:endParaRPr lang="en-US" sz="2400" dirty="0"/>
                </a:p>
              </p:txBody>
            </p:sp>
          </mc:Choice>
          <mc:Fallback xmlns="">
            <p:sp>
              <p:nvSpPr>
                <p:cNvPr id="16" name="TextBox 15">
                  <a:extLst>
                    <a:ext uri="{FF2B5EF4-FFF2-40B4-BE49-F238E27FC236}">
                      <a16:creationId xmlns:a16="http://schemas.microsoft.com/office/drawing/2014/main" id="{C1C9D193-168D-AE47-845D-48416A5965D5}"/>
                    </a:ext>
                  </a:extLst>
                </p:cNvPr>
                <p:cNvSpPr txBox="1">
                  <a:spLocks noRot="1" noChangeAspect="1" noMove="1" noResize="1" noEditPoints="1" noAdjustHandles="1" noChangeArrowheads="1" noChangeShapeType="1" noTextEdit="1"/>
                </p:cNvSpPr>
                <p:nvPr/>
              </p:nvSpPr>
              <p:spPr>
                <a:xfrm>
                  <a:off x="2961749" y="5707728"/>
                  <a:ext cx="423513" cy="461665"/>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8A2795E4-5B99-C441-BE75-FF27C7EF8436}"/>
                    </a:ext>
                  </a:extLst>
                </p:cNvPr>
                <p:cNvSpPr txBox="1"/>
                <p:nvPr/>
              </p:nvSpPr>
              <p:spPr>
                <a:xfrm>
                  <a:off x="2749992" y="5466237"/>
                  <a:ext cx="423513"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0</m:t>
                        </m:r>
                      </m:oMath>
                    </m:oMathPara>
                  </a14:m>
                  <a:endParaRPr lang="en-US" sz="2400" dirty="0"/>
                </a:p>
              </p:txBody>
            </p:sp>
          </mc:Choice>
          <mc:Fallback xmlns="">
            <p:sp>
              <p:nvSpPr>
                <p:cNvPr id="17" name="TextBox 16">
                  <a:extLst>
                    <a:ext uri="{FF2B5EF4-FFF2-40B4-BE49-F238E27FC236}">
                      <a16:creationId xmlns:a16="http://schemas.microsoft.com/office/drawing/2014/main" id="{8A2795E4-5B99-C441-BE75-FF27C7EF8436}"/>
                    </a:ext>
                  </a:extLst>
                </p:cNvPr>
                <p:cNvSpPr txBox="1">
                  <a:spLocks noRot="1" noChangeAspect="1" noMove="1" noResize="1" noEditPoints="1" noAdjustHandles="1" noChangeArrowheads="1" noChangeShapeType="1" noTextEdit="1"/>
                </p:cNvSpPr>
                <p:nvPr/>
              </p:nvSpPr>
              <p:spPr>
                <a:xfrm>
                  <a:off x="2749992" y="5466237"/>
                  <a:ext cx="423513" cy="461665"/>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B276FF8B-FAD9-104D-AAAF-9F3A83E07D4D}"/>
                    </a:ext>
                  </a:extLst>
                </p:cNvPr>
                <p:cNvSpPr txBox="1"/>
                <p:nvPr/>
              </p:nvSpPr>
              <p:spPr>
                <a:xfrm>
                  <a:off x="2677279" y="2855353"/>
                  <a:ext cx="577979" cy="49084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𝐿</m:t>
                            </m:r>
                          </m:e>
                          <m:sub>
                            <m:r>
                              <a:rPr lang="en-US" sz="2400" b="0" i="1" smtClean="0">
                                <a:latin typeface="Cambria Math" panose="02040503050406030204" pitchFamily="18" charset="0"/>
                              </a:rPr>
                              <m:t>𝑦</m:t>
                            </m:r>
                          </m:sub>
                        </m:sSub>
                      </m:oMath>
                    </m:oMathPara>
                  </a14:m>
                  <a:endParaRPr lang="en-US" sz="2400" dirty="0"/>
                </a:p>
              </p:txBody>
            </p:sp>
          </mc:Choice>
          <mc:Fallback xmlns="">
            <p:sp>
              <p:nvSpPr>
                <p:cNvPr id="18" name="TextBox 17">
                  <a:extLst>
                    <a:ext uri="{FF2B5EF4-FFF2-40B4-BE49-F238E27FC236}">
                      <a16:creationId xmlns:a16="http://schemas.microsoft.com/office/drawing/2014/main" id="{B276FF8B-FAD9-104D-AAAF-9F3A83E07D4D}"/>
                    </a:ext>
                  </a:extLst>
                </p:cNvPr>
                <p:cNvSpPr txBox="1">
                  <a:spLocks noRot="1" noChangeAspect="1" noMove="1" noResize="1" noEditPoints="1" noAdjustHandles="1" noChangeArrowheads="1" noChangeShapeType="1" noTextEdit="1"/>
                </p:cNvSpPr>
                <p:nvPr/>
              </p:nvSpPr>
              <p:spPr>
                <a:xfrm>
                  <a:off x="2677279" y="2855353"/>
                  <a:ext cx="577979" cy="490840"/>
                </a:xfrm>
                <a:prstGeom prst="rect">
                  <a:avLst/>
                </a:prstGeom>
                <a:blipFill>
                  <a:blip r:embed="rId7"/>
                  <a:stretch>
                    <a:fillRect b="-5128"/>
                  </a:stretch>
                </a:blipFill>
              </p:spPr>
              <p:txBody>
                <a:bodyPr/>
                <a:lstStyle/>
                <a:p>
                  <a:r>
                    <a:rPr lang="en-US">
                      <a:noFill/>
                    </a:rPr>
                    <a:t> </a:t>
                  </a:r>
                </a:p>
              </p:txBody>
            </p:sp>
          </mc:Fallback>
        </mc:AlternateContent>
      </p:grpSp>
      <p:sp>
        <p:nvSpPr>
          <p:cNvPr id="19" name="Rectangle 18">
            <a:extLst>
              <a:ext uri="{FF2B5EF4-FFF2-40B4-BE49-F238E27FC236}">
                <a16:creationId xmlns:a16="http://schemas.microsoft.com/office/drawing/2014/main" id="{B1D51A32-3A04-A74F-BEB7-4805731251FA}"/>
              </a:ext>
            </a:extLst>
          </p:cNvPr>
          <p:cNvSpPr/>
          <p:nvPr/>
        </p:nvSpPr>
        <p:spPr>
          <a:xfrm>
            <a:off x="9157824" y="3911100"/>
            <a:ext cx="2692203" cy="707886"/>
          </a:xfrm>
          <a:prstGeom prst="rect">
            <a:avLst/>
          </a:prstGeom>
        </p:spPr>
        <p:txBody>
          <a:bodyPr wrap="square">
            <a:spAutoFit/>
          </a:bodyPr>
          <a:lstStyle/>
          <a:p>
            <a:r>
              <a:rPr lang="en-US" sz="2000" dirty="0">
                <a:solidFill>
                  <a:srgbClr val="FF0000"/>
                </a:solidFill>
              </a:rPr>
              <a:t>Boundary condition</a:t>
            </a:r>
          </a:p>
          <a:p>
            <a:r>
              <a:rPr lang="en-US" sz="2000" dirty="0">
                <a:solidFill>
                  <a:srgbClr val="FF0000"/>
                </a:solidFill>
              </a:rPr>
              <a:t>needed here</a:t>
            </a:r>
          </a:p>
        </p:txBody>
      </p:sp>
      <p:sp>
        <p:nvSpPr>
          <p:cNvPr id="21" name="Rectangle 20">
            <a:extLst>
              <a:ext uri="{FF2B5EF4-FFF2-40B4-BE49-F238E27FC236}">
                <a16:creationId xmlns:a16="http://schemas.microsoft.com/office/drawing/2014/main" id="{D5D04F91-9157-C543-8420-CC77A00EADC8}"/>
              </a:ext>
            </a:extLst>
          </p:cNvPr>
          <p:cNvSpPr/>
          <p:nvPr/>
        </p:nvSpPr>
        <p:spPr>
          <a:xfrm>
            <a:off x="52791" y="4003433"/>
            <a:ext cx="2692203" cy="707886"/>
          </a:xfrm>
          <a:prstGeom prst="rect">
            <a:avLst/>
          </a:prstGeom>
        </p:spPr>
        <p:txBody>
          <a:bodyPr wrap="square">
            <a:spAutoFit/>
          </a:bodyPr>
          <a:lstStyle/>
          <a:p>
            <a:r>
              <a:rPr lang="en-US" sz="2000" dirty="0">
                <a:solidFill>
                  <a:srgbClr val="FF0000"/>
                </a:solidFill>
              </a:rPr>
              <a:t>Boundary condition</a:t>
            </a:r>
          </a:p>
          <a:p>
            <a:r>
              <a:rPr lang="en-US" sz="2000" dirty="0">
                <a:solidFill>
                  <a:srgbClr val="FF0000"/>
                </a:solidFill>
              </a:rPr>
              <a:t>needed here</a:t>
            </a:r>
          </a:p>
        </p:txBody>
      </p:sp>
      <p:sp>
        <p:nvSpPr>
          <p:cNvPr id="22" name="Rectangle 21">
            <a:extLst>
              <a:ext uri="{FF2B5EF4-FFF2-40B4-BE49-F238E27FC236}">
                <a16:creationId xmlns:a16="http://schemas.microsoft.com/office/drawing/2014/main" id="{27629F1B-DE45-A94B-9562-64243F628801}"/>
              </a:ext>
            </a:extLst>
          </p:cNvPr>
          <p:cNvSpPr/>
          <p:nvPr/>
        </p:nvSpPr>
        <p:spPr>
          <a:xfrm>
            <a:off x="5182305" y="2290579"/>
            <a:ext cx="2692203" cy="707886"/>
          </a:xfrm>
          <a:prstGeom prst="rect">
            <a:avLst/>
          </a:prstGeom>
        </p:spPr>
        <p:txBody>
          <a:bodyPr wrap="square">
            <a:spAutoFit/>
          </a:bodyPr>
          <a:lstStyle/>
          <a:p>
            <a:r>
              <a:rPr lang="en-US" sz="2000" dirty="0">
                <a:solidFill>
                  <a:srgbClr val="FF0000"/>
                </a:solidFill>
              </a:rPr>
              <a:t>Boundary condition</a:t>
            </a:r>
          </a:p>
          <a:p>
            <a:r>
              <a:rPr lang="en-US" sz="2000" dirty="0">
                <a:solidFill>
                  <a:srgbClr val="FF0000"/>
                </a:solidFill>
              </a:rPr>
              <a:t>needed here</a:t>
            </a:r>
          </a:p>
        </p:txBody>
      </p:sp>
      <p:sp>
        <p:nvSpPr>
          <p:cNvPr id="23" name="Rectangle 22">
            <a:extLst>
              <a:ext uri="{FF2B5EF4-FFF2-40B4-BE49-F238E27FC236}">
                <a16:creationId xmlns:a16="http://schemas.microsoft.com/office/drawing/2014/main" id="{FBF93CAC-A172-A840-AF60-E5CEAC3F0F46}"/>
              </a:ext>
            </a:extLst>
          </p:cNvPr>
          <p:cNvSpPr/>
          <p:nvPr/>
        </p:nvSpPr>
        <p:spPr>
          <a:xfrm>
            <a:off x="4971781" y="6163346"/>
            <a:ext cx="2692203" cy="707886"/>
          </a:xfrm>
          <a:prstGeom prst="rect">
            <a:avLst/>
          </a:prstGeom>
        </p:spPr>
        <p:txBody>
          <a:bodyPr wrap="square">
            <a:spAutoFit/>
          </a:bodyPr>
          <a:lstStyle/>
          <a:p>
            <a:r>
              <a:rPr lang="en-US" sz="2000" dirty="0">
                <a:solidFill>
                  <a:srgbClr val="FF0000"/>
                </a:solidFill>
              </a:rPr>
              <a:t>Boundary condition</a:t>
            </a:r>
          </a:p>
          <a:p>
            <a:r>
              <a:rPr lang="en-US" sz="2000" dirty="0">
                <a:solidFill>
                  <a:srgbClr val="FF0000"/>
                </a:solidFill>
              </a:rPr>
              <a:t>needed here</a:t>
            </a:r>
          </a:p>
        </p:txBody>
      </p:sp>
    </p:spTree>
    <p:extLst>
      <p:ext uri="{BB962C8B-B14F-4D97-AF65-F5344CB8AC3E}">
        <p14:creationId xmlns:p14="http://schemas.microsoft.com/office/powerpoint/2010/main" val="357216210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DCE2F9-F4C3-DA4C-B0FC-7FF6F22D148C}"/>
              </a:ext>
            </a:extLst>
          </p:cNvPr>
          <p:cNvSpPr>
            <a:spLocks noGrp="1"/>
          </p:cNvSpPr>
          <p:nvPr>
            <p:ph type="title"/>
          </p:nvPr>
        </p:nvSpPr>
        <p:spPr>
          <a:xfrm>
            <a:off x="838200" y="0"/>
            <a:ext cx="10515600" cy="1325563"/>
          </a:xfrm>
        </p:spPr>
        <p:txBody>
          <a:bodyPr/>
          <a:lstStyle/>
          <a:p>
            <a:r>
              <a:rPr lang="en-US" dirty="0"/>
              <a:t>Boundary conditions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5C4FD65-F675-944D-A379-3A5FFFAEB784}"/>
                  </a:ext>
                </a:extLst>
              </p:cNvPr>
              <p:cNvSpPr>
                <a:spLocks noGrp="1"/>
              </p:cNvSpPr>
              <p:nvPr>
                <p:ph idx="1"/>
              </p:nvPr>
            </p:nvSpPr>
            <p:spPr>
              <a:xfrm>
                <a:off x="560408" y="1204819"/>
                <a:ext cx="10515600" cy="2445738"/>
              </a:xfrm>
            </p:spPr>
            <p:txBody>
              <a:bodyPr>
                <a:normAutofit/>
              </a:bodyPr>
              <a:lstStyle/>
              <a:p>
                <a:r>
                  <a:rPr lang="en-US" dirty="0"/>
                  <a:t>Several types of BCs (e.g. on the left boundary):</a:t>
                </a:r>
              </a:p>
              <a:p>
                <a:pPr lvl="1"/>
                <a:r>
                  <a:rPr lang="en-US" dirty="0"/>
                  <a:t>Dirichlet : </a:t>
                </a:r>
                <a14:m>
                  <m:oMath xmlns:m="http://schemas.openxmlformats.org/officeDocument/2006/math">
                    <m:r>
                      <a:rPr lang="en-US" b="0" i="1" smtClean="0">
                        <a:latin typeface="Cambria Math" panose="02040503050406030204" pitchFamily="18" charset="0"/>
                      </a:rPr>
                      <m:t>𝜙</m:t>
                    </m:r>
                    <m:d>
                      <m:dPr>
                        <m:ctrlPr>
                          <a:rPr lang="en-US" b="0" i="1" smtClean="0">
                            <a:latin typeface="Cambria Math" panose="02040503050406030204" pitchFamily="18" charset="0"/>
                          </a:rPr>
                        </m:ctrlPr>
                      </m:dPr>
                      <m:e>
                        <m:r>
                          <a:rPr lang="en-US" b="0" i="1" smtClean="0">
                            <a:latin typeface="Cambria Math" panose="02040503050406030204" pitchFamily="18" charset="0"/>
                          </a:rPr>
                          <m:t>0, </m:t>
                        </m:r>
                        <m:r>
                          <a:rPr lang="en-US" b="0" i="1" smtClean="0">
                            <a:latin typeface="Cambria Math" panose="02040503050406030204" pitchFamily="18" charset="0"/>
                          </a:rPr>
                          <m:t>𝑦</m:t>
                        </m:r>
                      </m:e>
                    </m:d>
                    <m:r>
                      <a:rPr lang="en-US" b="0" i="1" smtClean="0">
                        <a:latin typeface="Cambria Math" panose="02040503050406030204" pitchFamily="18" charset="0"/>
                      </a:rPr>
                      <m:t>=</m:t>
                    </m:r>
                    <m:r>
                      <a:rPr lang="en-US" b="0" i="1" smtClean="0">
                        <a:latin typeface="Cambria Math" panose="02040503050406030204" pitchFamily="18" charset="0"/>
                      </a:rPr>
                      <m:t>𝐴</m:t>
                    </m:r>
                  </m:oMath>
                </a14:m>
                <a:endParaRPr lang="en-US" dirty="0"/>
              </a:p>
              <a:p>
                <a:pPr lvl="1"/>
                <a:r>
                  <a:rPr lang="en-US" dirty="0"/>
                  <a:t>Neuman : </a:t>
                </a: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𝜙</m:t>
                        </m:r>
                      </m:e>
                      <m:sup>
                        <m:r>
                          <a:rPr lang="en-US" b="0" i="1" smtClean="0">
                            <a:latin typeface="Cambria Math" panose="02040503050406030204" pitchFamily="18" charset="0"/>
                          </a:rPr>
                          <m:t>′</m:t>
                        </m:r>
                      </m:sup>
                    </m:sSup>
                    <m:d>
                      <m:dPr>
                        <m:ctrlPr>
                          <a:rPr lang="en-US" b="0" i="1" smtClean="0">
                            <a:latin typeface="Cambria Math" panose="02040503050406030204" pitchFamily="18" charset="0"/>
                          </a:rPr>
                        </m:ctrlPr>
                      </m:dPr>
                      <m:e>
                        <m:r>
                          <a:rPr lang="en-US" b="0" i="1" smtClean="0">
                            <a:latin typeface="Cambria Math" panose="02040503050406030204" pitchFamily="18" charset="0"/>
                          </a:rPr>
                          <m:t>0, </m:t>
                        </m:r>
                        <m:r>
                          <a:rPr lang="en-US" b="0" i="1" smtClean="0">
                            <a:latin typeface="Cambria Math" panose="02040503050406030204" pitchFamily="18" charset="0"/>
                          </a:rPr>
                          <m:t>𝑦</m:t>
                        </m:r>
                      </m:e>
                    </m:d>
                    <m:r>
                      <a:rPr lang="en-US" b="0" i="1" smtClean="0">
                        <a:latin typeface="Cambria Math" panose="02040503050406030204" pitchFamily="18" charset="0"/>
                      </a:rPr>
                      <m:t>=</m:t>
                    </m:r>
                    <m:r>
                      <a:rPr lang="en-US" b="0" i="1" smtClean="0">
                        <a:latin typeface="Cambria Math" panose="02040503050406030204" pitchFamily="18" charset="0"/>
                      </a:rPr>
                      <m:t>𝐶</m:t>
                    </m:r>
                  </m:oMath>
                </a14:m>
                <a:endParaRPr lang="en-US" dirty="0"/>
              </a:p>
              <a:p>
                <a:pPr lvl="1"/>
                <a:r>
                  <a:rPr lang="en-US" dirty="0"/>
                  <a:t>Robin, a linear combination of the two : </a:t>
                </a:r>
                <a14:m>
                  <m:oMath xmlns:m="http://schemas.openxmlformats.org/officeDocument/2006/math">
                    <m:r>
                      <a:rPr lang="en-US" b="0" i="1" smtClean="0">
                        <a:latin typeface="Cambria Math" panose="02040503050406030204" pitchFamily="18" charset="0"/>
                      </a:rPr>
                      <m:t>𝛼𝜙</m:t>
                    </m:r>
                    <m:d>
                      <m:dPr>
                        <m:ctrlPr>
                          <a:rPr lang="en-US" b="0" i="1" smtClean="0">
                            <a:latin typeface="Cambria Math" panose="02040503050406030204" pitchFamily="18" charset="0"/>
                          </a:rPr>
                        </m:ctrlPr>
                      </m:dPr>
                      <m:e>
                        <m:r>
                          <a:rPr lang="en-US" b="0" i="1" smtClean="0">
                            <a:latin typeface="Cambria Math" panose="02040503050406030204" pitchFamily="18" charset="0"/>
                          </a:rPr>
                          <m:t>0, </m:t>
                        </m:r>
                        <m:r>
                          <a:rPr lang="en-US" b="0" i="1" smtClean="0">
                            <a:latin typeface="Cambria Math" panose="02040503050406030204" pitchFamily="18" charset="0"/>
                          </a:rPr>
                          <m:t>𝑦</m:t>
                        </m:r>
                      </m:e>
                    </m:d>
                    <m:r>
                      <a:rPr lang="en-US" b="0" i="1" smtClean="0">
                        <a:latin typeface="Cambria Math" panose="02040503050406030204" pitchFamily="18" charset="0"/>
                      </a:rPr>
                      <m:t>+</m:t>
                    </m:r>
                    <m:r>
                      <a:rPr lang="en-US" b="0" i="1" smtClean="0">
                        <a:latin typeface="Cambria Math" panose="02040503050406030204" pitchFamily="18" charset="0"/>
                      </a:rPr>
                      <m:t>𝛽</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𝜙</m:t>
                        </m:r>
                      </m:e>
                      <m:sup>
                        <m:r>
                          <a:rPr lang="en-US" b="0" i="1" smtClean="0">
                            <a:latin typeface="Cambria Math" panose="02040503050406030204" pitchFamily="18" charset="0"/>
                          </a:rPr>
                          <m:t>′</m:t>
                        </m:r>
                      </m:sup>
                    </m:sSup>
                    <m:d>
                      <m:dPr>
                        <m:ctrlPr>
                          <a:rPr lang="en-US" b="0" i="1" smtClean="0">
                            <a:latin typeface="Cambria Math" panose="02040503050406030204" pitchFamily="18" charset="0"/>
                          </a:rPr>
                        </m:ctrlPr>
                      </m:dPr>
                      <m:e>
                        <m:r>
                          <a:rPr lang="en-US" b="0" i="1" smtClean="0">
                            <a:latin typeface="Cambria Math" panose="02040503050406030204" pitchFamily="18" charset="0"/>
                          </a:rPr>
                          <m:t>0, </m:t>
                        </m:r>
                        <m:r>
                          <a:rPr lang="en-US" b="0" i="1" smtClean="0">
                            <a:latin typeface="Cambria Math" panose="02040503050406030204" pitchFamily="18" charset="0"/>
                          </a:rPr>
                          <m:t>𝑦</m:t>
                        </m:r>
                      </m:e>
                    </m:d>
                    <m:r>
                      <a:rPr lang="en-US" b="0" i="1" smtClean="0">
                        <a:latin typeface="Cambria Math" panose="02040503050406030204" pitchFamily="18" charset="0"/>
                      </a:rPr>
                      <m:t>=</m:t>
                    </m:r>
                    <m:r>
                      <a:rPr lang="en-US" b="0" i="1" smtClean="0">
                        <a:latin typeface="Cambria Math" panose="02040503050406030204" pitchFamily="18" charset="0"/>
                      </a:rPr>
                      <m:t>𝛾</m:t>
                    </m:r>
                  </m:oMath>
                </a14:m>
                <a:endParaRPr lang="en-US" dirty="0"/>
              </a:p>
              <a:p>
                <a:pPr lvl="1"/>
                <a:r>
                  <a:rPr lang="en-US" dirty="0"/>
                  <a:t>Periodic: </a:t>
                </a:r>
                <a14:m>
                  <m:oMath xmlns:m="http://schemas.openxmlformats.org/officeDocument/2006/math">
                    <m:r>
                      <a:rPr lang="en-US" b="0" i="1" smtClean="0">
                        <a:latin typeface="Cambria Math" panose="02040503050406030204" pitchFamily="18" charset="0"/>
                      </a:rPr>
                      <m:t>𝜙</m:t>
                    </m:r>
                    <m:d>
                      <m:dPr>
                        <m:ctrlPr>
                          <a:rPr lang="en-US" b="0" i="1" smtClean="0">
                            <a:latin typeface="Cambria Math" panose="02040503050406030204" pitchFamily="18" charset="0"/>
                          </a:rPr>
                        </m:ctrlPr>
                      </m:dPr>
                      <m:e>
                        <m:r>
                          <a:rPr lang="en-US" b="0" i="1" smtClean="0">
                            <a:latin typeface="Cambria Math" panose="02040503050406030204" pitchFamily="18" charset="0"/>
                          </a:rPr>
                          <m:t>0,</m:t>
                        </m:r>
                        <m:r>
                          <a:rPr lang="en-US" b="0" i="1" smtClean="0">
                            <a:latin typeface="Cambria Math" panose="02040503050406030204" pitchFamily="18" charset="0"/>
                          </a:rPr>
                          <m:t>𝑦</m:t>
                        </m:r>
                      </m:e>
                    </m:d>
                    <m:r>
                      <a:rPr lang="en-US" b="0" i="1" smtClean="0">
                        <a:latin typeface="Cambria Math" panose="02040503050406030204" pitchFamily="18" charset="0"/>
                      </a:rPr>
                      <m:t>=</m:t>
                    </m:r>
                    <m:r>
                      <a:rPr lang="en-US" b="0" i="1" smtClean="0">
                        <a:latin typeface="Cambria Math" panose="02040503050406030204" pitchFamily="18" charset="0"/>
                      </a:rPr>
                      <m:t>𝜙</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𝐿</m:t>
                        </m:r>
                      </m:e>
                      <m:sub>
                        <m:r>
                          <a:rPr lang="en-US" b="0" i="1" smtClean="0">
                            <a:latin typeface="Cambria Math" panose="02040503050406030204" pitchFamily="18" charset="0"/>
                          </a:rPr>
                          <m:t>𝑥</m:t>
                        </m:r>
                      </m:sub>
                    </m:sSub>
                    <m:r>
                      <a:rPr lang="en-US" b="0" i="1" smtClean="0">
                        <a:latin typeface="Cambria Math" panose="02040503050406030204" pitchFamily="18" charset="0"/>
                      </a:rPr>
                      <m:t>,</m:t>
                    </m:r>
                    <m:r>
                      <a:rPr lang="en-US" b="0" i="1" smtClean="0">
                        <a:latin typeface="Cambria Math" panose="02040503050406030204" pitchFamily="18" charset="0"/>
                      </a:rPr>
                      <m:t>𝑦</m:t>
                    </m:r>
                    <m:r>
                      <a:rPr lang="en-US" b="0" i="1" smtClean="0">
                        <a:latin typeface="Cambria Math" panose="02040503050406030204" pitchFamily="18" charset="0"/>
                      </a:rPr>
                      <m:t>)</m:t>
                    </m:r>
                  </m:oMath>
                </a14:m>
                <a:endParaRPr lang="en-US" dirty="0"/>
              </a:p>
            </p:txBody>
          </p:sp>
        </mc:Choice>
        <mc:Fallback xmlns="">
          <p:sp>
            <p:nvSpPr>
              <p:cNvPr id="3" name="Content Placeholder 2">
                <a:extLst>
                  <a:ext uri="{FF2B5EF4-FFF2-40B4-BE49-F238E27FC236}">
                    <a16:creationId xmlns:a16="http://schemas.microsoft.com/office/drawing/2014/main" id="{15C4FD65-F675-944D-A379-3A5FFFAEB784}"/>
                  </a:ext>
                </a:extLst>
              </p:cNvPr>
              <p:cNvSpPr>
                <a:spLocks noGrp="1" noRot="1" noChangeAspect="1" noMove="1" noResize="1" noEditPoints="1" noAdjustHandles="1" noChangeArrowheads="1" noChangeShapeType="1" noTextEdit="1"/>
              </p:cNvSpPr>
              <p:nvPr>
                <p:ph idx="1"/>
              </p:nvPr>
            </p:nvSpPr>
            <p:spPr>
              <a:xfrm>
                <a:off x="560408" y="1204819"/>
                <a:ext cx="10515600" cy="2445738"/>
              </a:xfrm>
              <a:blipFill>
                <a:blip r:embed="rId2"/>
                <a:stretch>
                  <a:fillRect l="-965" t="-4145"/>
                </a:stretch>
              </a:blipFill>
            </p:spPr>
            <p:txBody>
              <a:bodyPr/>
              <a:lstStyle/>
              <a:p>
                <a:r>
                  <a:rPr lang="en-US">
                    <a:noFill/>
                  </a:rPr>
                  <a:t> </a:t>
                </a:r>
              </a:p>
            </p:txBody>
          </p:sp>
        </mc:Fallback>
      </mc:AlternateContent>
      <p:sp>
        <p:nvSpPr>
          <p:cNvPr id="4" name="Rectangle 3">
            <a:extLst>
              <a:ext uri="{FF2B5EF4-FFF2-40B4-BE49-F238E27FC236}">
                <a16:creationId xmlns:a16="http://schemas.microsoft.com/office/drawing/2014/main" id="{A5E6B829-955A-5445-843C-2561C8F1931E}"/>
              </a:ext>
            </a:extLst>
          </p:cNvPr>
          <p:cNvSpPr/>
          <p:nvPr/>
        </p:nvSpPr>
        <p:spPr>
          <a:xfrm>
            <a:off x="3467753" y="3771302"/>
            <a:ext cx="5549153" cy="2465294"/>
          </a:xfrm>
          <a:prstGeom prst="rect">
            <a:avLst/>
          </a:prstGeom>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t>Solution determined in this</a:t>
            </a:r>
          </a:p>
          <a:p>
            <a:pPr algn="ctr"/>
            <a:r>
              <a:rPr lang="en-US" sz="2800" dirty="0"/>
              <a:t>region of parameter space</a:t>
            </a:r>
          </a:p>
        </p:txBody>
      </p:sp>
      <p:cxnSp>
        <p:nvCxnSpPr>
          <p:cNvPr id="7" name="Straight Arrow Connector 6">
            <a:extLst>
              <a:ext uri="{FF2B5EF4-FFF2-40B4-BE49-F238E27FC236}">
                <a16:creationId xmlns:a16="http://schemas.microsoft.com/office/drawing/2014/main" id="{1AAB4667-DA72-1F4C-A53D-91EFFBB00996}"/>
              </a:ext>
            </a:extLst>
          </p:cNvPr>
          <p:cNvCxnSpPr/>
          <p:nvPr/>
        </p:nvCxnSpPr>
        <p:spPr>
          <a:xfrm>
            <a:off x="3405000" y="6308314"/>
            <a:ext cx="5844988" cy="0"/>
          </a:xfrm>
          <a:prstGeom prst="straightConnector1">
            <a:avLst/>
          </a:prstGeom>
          <a:ln w="381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0409EB22-638B-034E-9361-91F32071F3A9}"/>
              </a:ext>
            </a:extLst>
          </p:cNvPr>
          <p:cNvCxnSpPr>
            <a:cxnSpLocks/>
          </p:cNvCxnSpPr>
          <p:nvPr/>
        </p:nvCxnSpPr>
        <p:spPr>
          <a:xfrm flipV="1">
            <a:off x="3405000" y="3444260"/>
            <a:ext cx="0" cy="2864053"/>
          </a:xfrm>
          <a:prstGeom prst="straightConnector1">
            <a:avLst/>
          </a:prstGeom>
          <a:ln w="381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EA6329F2-9E40-DF4B-9CBA-F1E181569C87}"/>
                  </a:ext>
                </a:extLst>
              </p:cNvPr>
              <p:cNvSpPr txBox="1"/>
              <p:nvPr/>
            </p:nvSpPr>
            <p:spPr>
              <a:xfrm>
                <a:off x="5959509" y="6334780"/>
                <a:ext cx="468077"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800" b="0" i="1" smtClean="0">
                          <a:latin typeface="Cambria Math" panose="02040503050406030204" pitchFamily="18" charset="0"/>
                        </a:rPr>
                        <m:t>𝑥</m:t>
                      </m:r>
                    </m:oMath>
                  </m:oMathPara>
                </a14:m>
                <a:endParaRPr lang="en-US" sz="2800" dirty="0"/>
              </a:p>
            </p:txBody>
          </p:sp>
        </mc:Choice>
        <mc:Fallback xmlns="">
          <p:sp>
            <p:nvSpPr>
              <p:cNvPr id="11" name="TextBox 10">
                <a:extLst>
                  <a:ext uri="{FF2B5EF4-FFF2-40B4-BE49-F238E27FC236}">
                    <a16:creationId xmlns:a16="http://schemas.microsoft.com/office/drawing/2014/main" id="{EA6329F2-9E40-DF4B-9CBA-F1E181569C87}"/>
                  </a:ext>
                </a:extLst>
              </p:cNvPr>
              <p:cNvSpPr txBox="1">
                <a:spLocks noRot="1" noChangeAspect="1" noMove="1" noResize="1" noEditPoints="1" noAdjustHandles="1" noChangeArrowheads="1" noChangeShapeType="1" noTextEdit="1"/>
              </p:cNvSpPr>
              <p:nvPr/>
            </p:nvSpPr>
            <p:spPr>
              <a:xfrm>
                <a:off x="5959509" y="6334780"/>
                <a:ext cx="468077" cy="523220"/>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2AF652D7-078D-1249-8A2A-7733D7BD282A}"/>
                  </a:ext>
                </a:extLst>
              </p:cNvPr>
              <p:cNvSpPr txBox="1"/>
              <p:nvPr/>
            </p:nvSpPr>
            <p:spPr>
              <a:xfrm>
                <a:off x="2671509" y="4614676"/>
                <a:ext cx="472950"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800" b="0" i="1" smtClean="0">
                          <a:latin typeface="Cambria Math" panose="02040503050406030204" pitchFamily="18" charset="0"/>
                        </a:rPr>
                        <m:t>𝑦</m:t>
                      </m:r>
                    </m:oMath>
                  </m:oMathPara>
                </a14:m>
                <a:endParaRPr lang="en-US" sz="2800" dirty="0"/>
              </a:p>
            </p:txBody>
          </p:sp>
        </mc:Choice>
        <mc:Fallback xmlns="">
          <p:sp>
            <p:nvSpPr>
              <p:cNvPr id="12" name="TextBox 11">
                <a:extLst>
                  <a:ext uri="{FF2B5EF4-FFF2-40B4-BE49-F238E27FC236}">
                    <a16:creationId xmlns:a16="http://schemas.microsoft.com/office/drawing/2014/main" id="{2AF652D7-078D-1249-8A2A-7733D7BD282A}"/>
                  </a:ext>
                </a:extLst>
              </p:cNvPr>
              <p:cNvSpPr txBox="1">
                <a:spLocks noRot="1" noChangeAspect="1" noMove="1" noResize="1" noEditPoints="1" noAdjustHandles="1" noChangeArrowheads="1" noChangeShapeType="1" noTextEdit="1"/>
              </p:cNvSpPr>
              <p:nvPr/>
            </p:nvSpPr>
            <p:spPr>
              <a:xfrm>
                <a:off x="2671509" y="4614676"/>
                <a:ext cx="472950" cy="523220"/>
              </a:xfrm>
              <a:prstGeom prst="rect">
                <a:avLst/>
              </a:prstGeom>
              <a:blipFill>
                <a:blip r:embed="rId4"/>
                <a:stretch>
                  <a:fillRect b="-697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3BE33C99-72F0-E84D-89C9-A769CBCD92AB}"/>
                  </a:ext>
                </a:extLst>
              </p:cNvPr>
              <p:cNvSpPr txBox="1"/>
              <p:nvPr/>
            </p:nvSpPr>
            <p:spPr>
              <a:xfrm>
                <a:off x="8782867" y="6334780"/>
                <a:ext cx="568937"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𝐿</m:t>
                          </m:r>
                        </m:e>
                        <m:sub>
                          <m:r>
                            <a:rPr lang="en-US" sz="2400" b="0" i="1" smtClean="0">
                              <a:latin typeface="Cambria Math" panose="02040503050406030204" pitchFamily="18" charset="0"/>
                            </a:rPr>
                            <m:t>𝑥</m:t>
                          </m:r>
                        </m:sub>
                      </m:sSub>
                    </m:oMath>
                  </m:oMathPara>
                </a14:m>
                <a:endParaRPr lang="en-US" sz="2400" dirty="0"/>
              </a:p>
            </p:txBody>
          </p:sp>
        </mc:Choice>
        <mc:Fallback xmlns="">
          <p:sp>
            <p:nvSpPr>
              <p:cNvPr id="14" name="TextBox 13">
                <a:extLst>
                  <a:ext uri="{FF2B5EF4-FFF2-40B4-BE49-F238E27FC236}">
                    <a16:creationId xmlns:a16="http://schemas.microsoft.com/office/drawing/2014/main" id="{3BE33C99-72F0-E84D-89C9-A769CBCD92AB}"/>
                  </a:ext>
                </a:extLst>
              </p:cNvPr>
              <p:cNvSpPr txBox="1">
                <a:spLocks noRot="1" noChangeAspect="1" noMove="1" noResize="1" noEditPoints="1" noAdjustHandles="1" noChangeArrowheads="1" noChangeShapeType="1" noTextEdit="1"/>
              </p:cNvSpPr>
              <p:nvPr/>
            </p:nvSpPr>
            <p:spPr>
              <a:xfrm>
                <a:off x="8782867" y="6334780"/>
                <a:ext cx="568937" cy="461665"/>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C1C9D193-168D-AE47-845D-48416A5965D5}"/>
                  </a:ext>
                </a:extLst>
              </p:cNvPr>
              <p:cNvSpPr txBox="1"/>
              <p:nvPr/>
            </p:nvSpPr>
            <p:spPr>
              <a:xfrm>
                <a:off x="3193243" y="6318971"/>
                <a:ext cx="423513"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0</m:t>
                      </m:r>
                    </m:oMath>
                  </m:oMathPara>
                </a14:m>
                <a:endParaRPr lang="en-US" sz="2400" dirty="0"/>
              </a:p>
            </p:txBody>
          </p:sp>
        </mc:Choice>
        <mc:Fallback xmlns="">
          <p:sp>
            <p:nvSpPr>
              <p:cNvPr id="16" name="TextBox 15">
                <a:extLst>
                  <a:ext uri="{FF2B5EF4-FFF2-40B4-BE49-F238E27FC236}">
                    <a16:creationId xmlns:a16="http://schemas.microsoft.com/office/drawing/2014/main" id="{C1C9D193-168D-AE47-845D-48416A5965D5}"/>
                  </a:ext>
                </a:extLst>
              </p:cNvPr>
              <p:cNvSpPr txBox="1">
                <a:spLocks noRot="1" noChangeAspect="1" noMove="1" noResize="1" noEditPoints="1" noAdjustHandles="1" noChangeArrowheads="1" noChangeShapeType="1" noTextEdit="1"/>
              </p:cNvSpPr>
              <p:nvPr/>
            </p:nvSpPr>
            <p:spPr>
              <a:xfrm>
                <a:off x="3193243" y="6318971"/>
                <a:ext cx="423513" cy="461665"/>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8A2795E4-5B99-C441-BE75-FF27C7EF8436}"/>
                  </a:ext>
                </a:extLst>
              </p:cNvPr>
              <p:cNvSpPr txBox="1"/>
              <p:nvPr/>
            </p:nvSpPr>
            <p:spPr>
              <a:xfrm>
                <a:off x="2981486" y="6077480"/>
                <a:ext cx="423513"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0</m:t>
                      </m:r>
                    </m:oMath>
                  </m:oMathPara>
                </a14:m>
                <a:endParaRPr lang="en-US" sz="2400" dirty="0"/>
              </a:p>
            </p:txBody>
          </p:sp>
        </mc:Choice>
        <mc:Fallback xmlns="">
          <p:sp>
            <p:nvSpPr>
              <p:cNvPr id="17" name="TextBox 16">
                <a:extLst>
                  <a:ext uri="{FF2B5EF4-FFF2-40B4-BE49-F238E27FC236}">
                    <a16:creationId xmlns:a16="http://schemas.microsoft.com/office/drawing/2014/main" id="{8A2795E4-5B99-C441-BE75-FF27C7EF8436}"/>
                  </a:ext>
                </a:extLst>
              </p:cNvPr>
              <p:cNvSpPr txBox="1">
                <a:spLocks noRot="1" noChangeAspect="1" noMove="1" noResize="1" noEditPoints="1" noAdjustHandles="1" noChangeArrowheads="1" noChangeShapeType="1" noTextEdit="1"/>
              </p:cNvSpPr>
              <p:nvPr/>
            </p:nvSpPr>
            <p:spPr>
              <a:xfrm>
                <a:off x="2981486" y="6077480"/>
                <a:ext cx="423513" cy="461665"/>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B276FF8B-FAD9-104D-AAAF-9F3A83E07D4D}"/>
                  </a:ext>
                </a:extLst>
              </p:cNvPr>
              <p:cNvSpPr txBox="1"/>
              <p:nvPr/>
            </p:nvSpPr>
            <p:spPr>
              <a:xfrm>
                <a:off x="2908773" y="3466596"/>
                <a:ext cx="577979" cy="49084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𝐿</m:t>
                          </m:r>
                        </m:e>
                        <m:sub>
                          <m:r>
                            <a:rPr lang="en-US" sz="2400" b="0" i="1" smtClean="0">
                              <a:latin typeface="Cambria Math" panose="02040503050406030204" pitchFamily="18" charset="0"/>
                            </a:rPr>
                            <m:t>𝑦</m:t>
                          </m:r>
                        </m:sub>
                      </m:sSub>
                    </m:oMath>
                  </m:oMathPara>
                </a14:m>
                <a:endParaRPr lang="en-US" sz="2400" dirty="0"/>
              </a:p>
            </p:txBody>
          </p:sp>
        </mc:Choice>
        <mc:Fallback xmlns="">
          <p:sp>
            <p:nvSpPr>
              <p:cNvPr id="18" name="TextBox 17">
                <a:extLst>
                  <a:ext uri="{FF2B5EF4-FFF2-40B4-BE49-F238E27FC236}">
                    <a16:creationId xmlns:a16="http://schemas.microsoft.com/office/drawing/2014/main" id="{B276FF8B-FAD9-104D-AAAF-9F3A83E07D4D}"/>
                  </a:ext>
                </a:extLst>
              </p:cNvPr>
              <p:cNvSpPr txBox="1">
                <a:spLocks noRot="1" noChangeAspect="1" noMove="1" noResize="1" noEditPoints="1" noAdjustHandles="1" noChangeArrowheads="1" noChangeShapeType="1" noTextEdit="1"/>
              </p:cNvSpPr>
              <p:nvPr/>
            </p:nvSpPr>
            <p:spPr>
              <a:xfrm>
                <a:off x="2908773" y="3466596"/>
                <a:ext cx="577979" cy="490840"/>
              </a:xfrm>
              <a:prstGeom prst="rect">
                <a:avLst/>
              </a:prstGeom>
              <a:blipFill>
                <a:blip r:embed="rId8"/>
                <a:stretch>
                  <a:fillRect b="-2500"/>
                </a:stretch>
              </a:blipFill>
            </p:spPr>
            <p:txBody>
              <a:bodyPr/>
              <a:lstStyle/>
              <a:p>
                <a:r>
                  <a:rPr lang="en-US">
                    <a:noFill/>
                  </a:rPr>
                  <a:t> </a:t>
                </a:r>
              </a:p>
            </p:txBody>
          </p:sp>
        </mc:Fallback>
      </mc:AlternateContent>
    </p:spTree>
    <p:extLst>
      <p:ext uri="{BB962C8B-B14F-4D97-AF65-F5344CB8AC3E}">
        <p14:creationId xmlns:p14="http://schemas.microsoft.com/office/powerpoint/2010/main" val="393033781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DCE2F9-F4C3-DA4C-B0FC-7FF6F22D148C}"/>
              </a:ext>
            </a:extLst>
          </p:cNvPr>
          <p:cNvSpPr>
            <a:spLocks noGrp="1"/>
          </p:cNvSpPr>
          <p:nvPr>
            <p:ph type="title"/>
          </p:nvPr>
        </p:nvSpPr>
        <p:spPr>
          <a:xfrm>
            <a:off x="838200" y="0"/>
            <a:ext cx="10515600" cy="1325563"/>
          </a:xfrm>
        </p:spPr>
        <p:txBody>
          <a:bodyPr/>
          <a:lstStyle/>
          <a:p>
            <a:r>
              <a:rPr lang="en-US" dirty="0"/>
              <a:t>Boundary conditions</a:t>
            </a:r>
          </a:p>
        </p:txBody>
      </p:sp>
      <p:sp>
        <p:nvSpPr>
          <p:cNvPr id="3" name="Content Placeholder 2">
            <a:extLst>
              <a:ext uri="{FF2B5EF4-FFF2-40B4-BE49-F238E27FC236}">
                <a16:creationId xmlns:a16="http://schemas.microsoft.com/office/drawing/2014/main" id="{15C4FD65-F675-944D-A379-3A5FFFAEB784}"/>
              </a:ext>
            </a:extLst>
          </p:cNvPr>
          <p:cNvSpPr>
            <a:spLocks noGrp="1"/>
          </p:cNvSpPr>
          <p:nvPr>
            <p:ph idx="1"/>
          </p:nvPr>
        </p:nvSpPr>
        <p:spPr>
          <a:xfrm>
            <a:off x="560408" y="1204819"/>
            <a:ext cx="10515600" cy="2445738"/>
          </a:xfrm>
        </p:spPr>
        <p:txBody>
          <a:bodyPr>
            <a:normAutofit/>
          </a:bodyPr>
          <a:lstStyle/>
          <a:p>
            <a:r>
              <a:rPr lang="en-US" dirty="0"/>
              <a:t>We can have different BCs on each boundary</a:t>
            </a:r>
          </a:p>
          <a:p>
            <a:r>
              <a:rPr lang="en-US" dirty="0"/>
              <a:t>If the values are set to zero the BCs are called </a:t>
            </a:r>
            <a:r>
              <a:rPr lang="en-US" dirty="0">
                <a:solidFill>
                  <a:srgbClr val="FF0000"/>
                </a:solidFill>
              </a:rPr>
              <a:t>homogeneous</a:t>
            </a:r>
            <a:r>
              <a:rPr lang="en-US" dirty="0"/>
              <a:t>, otherwise they are called</a:t>
            </a:r>
            <a:r>
              <a:rPr lang="en-US" dirty="0">
                <a:solidFill>
                  <a:srgbClr val="FF0000"/>
                </a:solidFill>
              </a:rPr>
              <a:t> inhomogeneous</a:t>
            </a:r>
            <a:r>
              <a:rPr lang="en-US" dirty="0"/>
              <a:t>.</a:t>
            </a:r>
          </a:p>
        </p:txBody>
      </p:sp>
      <p:sp>
        <p:nvSpPr>
          <p:cNvPr id="4" name="Rectangle 3">
            <a:extLst>
              <a:ext uri="{FF2B5EF4-FFF2-40B4-BE49-F238E27FC236}">
                <a16:creationId xmlns:a16="http://schemas.microsoft.com/office/drawing/2014/main" id="{A5E6B829-955A-5445-843C-2561C8F1931E}"/>
              </a:ext>
            </a:extLst>
          </p:cNvPr>
          <p:cNvSpPr/>
          <p:nvPr/>
        </p:nvSpPr>
        <p:spPr>
          <a:xfrm>
            <a:off x="3467753" y="3771302"/>
            <a:ext cx="5549153" cy="2465294"/>
          </a:xfrm>
          <a:prstGeom prst="rect">
            <a:avLst/>
          </a:prstGeom>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t>Solution determined in this</a:t>
            </a:r>
          </a:p>
          <a:p>
            <a:pPr algn="ctr"/>
            <a:r>
              <a:rPr lang="en-US" sz="2800" dirty="0"/>
              <a:t>region of parameter space</a:t>
            </a:r>
          </a:p>
        </p:txBody>
      </p:sp>
      <p:cxnSp>
        <p:nvCxnSpPr>
          <p:cNvPr id="7" name="Straight Arrow Connector 6">
            <a:extLst>
              <a:ext uri="{FF2B5EF4-FFF2-40B4-BE49-F238E27FC236}">
                <a16:creationId xmlns:a16="http://schemas.microsoft.com/office/drawing/2014/main" id="{1AAB4667-DA72-1F4C-A53D-91EFFBB00996}"/>
              </a:ext>
            </a:extLst>
          </p:cNvPr>
          <p:cNvCxnSpPr/>
          <p:nvPr/>
        </p:nvCxnSpPr>
        <p:spPr>
          <a:xfrm>
            <a:off x="3405000" y="6308314"/>
            <a:ext cx="5844988" cy="0"/>
          </a:xfrm>
          <a:prstGeom prst="straightConnector1">
            <a:avLst/>
          </a:prstGeom>
          <a:ln w="381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0409EB22-638B-034E-9361-91F32071F3A9}"/>
              </a:ext>
            </a:extLst>
          </p:cNvPr>
          <p:cNvCxnSpPr>
            <a:cxnSpLocks/>
          </p:cNvCxnSpPr>
          <p:nvPr/>
        </p:nvCxnSpPr>
        <p:spPr>
          <a:xfrm flipV="1">
            <a:off x="3405000" y="3444260"/>
            <a:ext cx="0" cy="2864053"/>
          </a:xfrm>
          <a:prstGeom prst="straightConnector1">
            <a:avLst/>
          </a:prstGeom>
          <a:ln w="381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EA6329F2-9E40-DF4B-9CBA-F1E181569C87}"/>
                  </a:ext>
                </a:extLst>
              </p:cNvPr>
              <p:cNvSpPr txBox="1"/>
              <p:nvPr/>
            </p:nvSpPr>
            <p:spPr>
              <a:xfrm>
                <a:off x="5959509" y="6334780"/>
                <a:ext cx="468077"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800" b="0" i="1" smtClean="0">
                          <a:latin typeface="Cambria Math" panose="02040503050406030204" pitchFamily="18" charset="0"/>
                        </a:rPr>
                        <m:t>𝑥</m:t>
                      </m:r>
                    </m:oMath>
                  </m:oMathPara>
                </a14:m>
                <a:endParaRPr lang="en-US" sz="2800" dirty="0"/>
              </a:p>
            </p:txBody>
          </p:sp>
        </mc:Choice>
        <mc:Fallback xmlns="">
          <p:sp>
            <p:nvSpPr>
              <p:cNvPr id="11" name="TextBox 10">
                <a:extLst>
                  <a:ext uri="{FF2B5EF4-FFF2-40B4-BE49-F238E27FC236}">
                    <a16:creationId xmlns:a16="http://schemas.microsoft.com/office/drawing/2014/main" id="{EA6329F2-9E40-DF4B-9CBA-F1E181569C87}"/>
                  </a:ext>
                </a:extLst>
              </p:cNvPr>
              <p:cNvSpPr txBox="1">
                <a:spLocks noRot="1" noChangeAspect="1" noMove="1" noResize="1" noEditPoints="1" noAdjustHandles="1" noChangeArrowheads="1" noChangeShapeType="1" noTextEdit="1"/>
              </p:cNvSpPr>
              <p:nvPr/>
            </p:nvSpPr>
            <p:spPr>
              <a:xfrm>
                <a:off x="5959509" y="6334780"/>
                <a:ext cx="468077" cy="523220"/>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2AF652D7-078D-1249-8A2A-7733D7BD282A}"/>
                  </a:ext>
                </a:extLst>
              </p:cNvPr>
              <p:cNvSpPr txBox="1"/>
              <p:nvPr/>
            </p:nvSpPr>
            <p:spPr>
              <a:xfrm>
                <a:off x="2671509" y="4614676"/>
                <a:ext cx="472950"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800" b="0" i="1" smtClean="0">
                          <a:latin typeface="Cambria Math" panose="02040503050406030204" pitchFamily="18" charset="0"/>
                        </a:rPr>
                        <m:t>𝑦</m:t>
                      </m:r>
                    </m:oMath>
                  </m:oMathPara>
                </a14:m>
                <a:endParaRPr lang="en-US" sz="2800" dirty="0"/>
              </a:p>
            </p:txBody>
          </p:sp>
        </mc:Choice>
        <mc:Fallback xmlns="">
          <p:sp>
            <p:nvSpPr>
              <p:cNvPr id="12" name="TextBox 11">
                <a:extLst>
                  <a:ext uri="{FF2B5EF4-FFF2-40B4-BE49-F238E27FC236}">
                    <a16:creationId xmlns:a16="http://schemas.microsoft.com/office/drawing/2014/main" id="{2AF652D7-078D-1249-8A2A-7733D7BD282A}"/>
                  </a:ext>
                </a:extLst>
              </p:cNvPr>
              <p:cNvSpPr txBox="1">
                <a:spLocks noRot="1" noChangeAspect="1" noMove="1" noResize="1" noEditPoints="1" noAdjustHandles="1" noChangeArrowheads="1" noChangeShapeType="1" noTextEdit="1"/>
              </p:cNvSpPr>
              <p:nvPr/>
            </p:nvSpPr>
            <p:spPr>
              <a:xfrm>
                <a:off x="2671509" y="4614676"/>
                <a:ext cx="472950" cy="523220"/>
              </a:xfrm>
              <a:prstGeom prst="rect">
                <a:avLst/>
              </a:prstGeom>
              <a:blipFill>
                <a:blip r:embed="rId3"/>
                <a:stretch>
                  <a:fillRect b="-697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3BE33C99-72F0-E84D-89C9-A769CBCD92AB}"/>
                  </a:ext>
                </a:extLst>
              </p:cNvPr>
              <p:cNvSpPr txBox="1"/>
              <p:nvPr/>
            </p:nvSpPr>
            <p:spPr>
              <a:xfrm>
                <a:off x="8782867" y="6334780"/>
                <a:ext cx="568937"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𝐿</m:t>
                          </m:r>
                        </m:e>
                        <m:sub>
                          <m:r>
                            <a:rPr lang="en-US" sz="2400" b="0" i="1" smtClean="0">
                              <a:latin typeface="Cambria Math" panose="02040503050406030204" pitchFamily="18" charset="0"/>
                            </a:rPr>
                            <m:t>𝑥</m:t>
                          </m:r>
                        </m:sub>
                      </m:sSub>
                    </m:oMath>
                  </m:oMathPara>
                </a14:m>
                <a:endParaRPr lang="en-US" sz="2400" dirty="0"/>
              </a:p>
            </p:txBody>
          </p:sp>
        </mc:Choice>
        <mc:Fallback xmlns="">
          <p:sp>
            <p:nvSpPr>
              <p:cNvPr id="14" name="TextBox 13">
                <a:extLst>
                  <a:ext uri="{FF2B5EF4-FFF2-40B4-BE49-F238E27FC236}">
                    <a16:creationId xmlns:a16="http://schemas.microsoft.com/office/drawing/2014/main" id="{3BE33C99-72F0-E84D-89C9-A769CBCD92AB}"/>
                  </a:ext>
                </a:extLst>
              </p:cNvPr>
              <p:cNvSpPr txBox="1">
                <a:spLocks noRot="1" noChangeAspect="1" noMove="1" noResize="1" noEditPoints="1" noAdjustHandles="1" noChangeArrowheads="1" noChangeShapeType="1" noTextEdit="1"/>
              </p:cNvSpPr>
              <p:nvPr/>
            </p:nvSpPr>
            <p:spPr>
              <a:xfrm>
                <a:off x="8782867" y="6334780"/>
                <a:ext cx="568937" cy="461665"/>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C1C9D193-168D-AE47-845D-48416A5965D5}"/>
                  </a:ext>
                </a:extLst>
              </p:cNvPr>
              <p:cNvSpPr txBox="1"/>
              <p:nvPr/>
            </p:nvSpPr>
            <p:spPr>
              <a:xfrm>
                <a:off x="3193243" y="6318971"/>
                <a:ext cx="423513"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0</m:t>
                      </m:r>
                    </m:oMath>
                  </m:oMathPara>
                </a14:m>
                <a:endParaRPr lang="en-US" sz="2400" dirty="0"/>
              </a:p>
            </p:txBody>
          </p:sp>
        </mc:Choice>
        <mc:Fallback xmlns="">
          <p:sp>
            <p:nvSpPr>
              <p:cNvPr id="16" name="TextBox 15">
                <a:extLst>
                  <a:ext uri="{FF2B5EF4-FFF2-40B4-BE49-F238E27FC236}">
                    <a16:creationId xmlns:a16="http://schemas.microsoft.com/office/drawing/2014/main" id="{C1C9D193-168D-AE47-845D-48416A5965D5}"/>
                  </a:ext>
                </a:extLst>
              </p:cNvPr>
              <p:cNvSpPr txBox="1">
                <a:spLocks noRot="1" noChangeAspect="1" noMove="1" noResize="1" noEditPoints="1" noAdjustHandles="1" noChangeArrowheads="1" noChangeShapeType="1" noTextEdit="1"/>
              </p:cNvSpPr>
              <p:nvPr/>
            </p:nvSpPr>
            <p:spPr>
              <a:xfrm>
                <a:off x="3193243" y="6318971"/>
                <a:ext cx="423513" cy="461665"/>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8A2795E4-5B99-C441-BE75-FF27C7EF8436}"/>
                  </a:ext>
                </a:extLst>
              </p:cNvPr>
              <p:cNvSpPr txBox="1"/>
              <p:nvPr/>
            </p:nvSpPr>
            <p:spPr>
              <a:xfrm>
                <a:off x="2981486" y="6077480"/>
                <a:ext cx="423513"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0</m:t>
                      </m:r>
                    </m:oMath>
                  </m:oMathPara>
                </a14:m>
                <a:endParaRPr lang="en-US" sz="2400" dirty="0"/>
              </a:p>
            </p:txBody>
          </p:sp>
        </mc:Choice>
        <mc:Fallback xmlns="">
          <p:sp>
            <p:nvSpPr>
              <p:cNvPr id="17" name="TextBox 16">
                <a:extLst>
                  <a:ext uri="{FF2B5EF4-FFF2-40B4-BE49-F238E27FC236}">
                    <a16:creationId xmlns:a16="http://schemas.microsoft.com/office/drawing/2014/main" id="{8A2795E4-5B99-C441-BE75-FF27C7EF8436}"/>
                  </a:ext>
                </a:extLst>
              </p:cNvPr>
              <p:cNvSpPr txBox="1">
                <a:spLocks noRot="1" noChangeAspect="1" noMove="1" noResize="1" noEditPoints="1" noAdjustHandles="1" noChangeArrowheads="1" noChangeShapeType="1" noTextEdit="1"/>
              </p:cNvSpPr>
              <p:nvPr/>
            </p:nvSpPr>
            <p:spPr>
              <a:xfrm>
                <a:off x="2981486" y="6077480"/>
                <a:ext cx="423513" cy="461665"/>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B276FF8B-FAD9-104D-AAAF-9F3A83E07D4D}"/>
                  </a:ext>
                </a:extLst>
              </p:cNvPr>
              <p:cNvSpPr txBox="1"/>
              <p:nvPr/>
            </p:nvSpPr>
            <p:spPr>
              <a:xfrm>
                <a:off x="2908773" y="3466596"/>
                <a:ext cx="577979" cy="49084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𝐿</m:t>
                          </m:r>
                        </m:e>
                        <m:sub>
                          <m:r>
                            <a:rPr lang="en-US" sz="2400" b="0" i="1" smtClean="0">
                              <a:latin typeface="Cambria Math" panose="02040503050406030204" pitchFamily="18" charset="0"/>
                            </a:rPr>
                            <m:t>𝑦</m:t>
                          </m:r>
                        </m:sub>
                      </m:sSub>
                    </m:oMath>
                  </m:oMathPara>
                </a14:m>
                <a:endParaRPr lang="en-US" sz="2400" dirty="0"/>
              </a:p>
            </p:txBody>
          </p:sp>
        </mc:Choice>
        <mc:Fallback xmlns="">
          <p:sp>
            <p:nvSpPr>
              <p:cNvPr id="18" name="TextBox 17">
                <a:extLst>
                  <a:ext uri="{FF2B5EF4-FFF2-40B4-BE49-F238E27FC236}">
                    <a16:creationId xmlns:a16="http://schemas.microsoft.com/office/drawing/2014/main" id="{B276FF8B-FAD9-104D-AAAF-9F3A83E07D4D}"/>
                  </a:ext>
                </a:extLst>
              </p:cNvPr>
              <p:cNvSpPr txBox="1">
                <a:spLocks noRot="1" noChangeAspect="1" noMove="1" noResize="1" noEditPoints="1" noAdjustHandles="1" noChangeArrowheads="1" noChangeShapeType="1" noTextEdit="1"/>
              </p:cNvSpPr>
              <p:nvPr/>
            </p:nvSpPr>
            <p:spPr>
              <a:xfrm>
                <a:off x="2908773" y="3466596"/>
                <a:ext cx="577979" cy="490840"/>
              </a:xfrm>
              <a:prstGeom prst="rect">
                <a:avLst/>
              </a:prstGeom>
              <a:blipFill>
                <a:blip r:embed="rId7"/>
                <a:stretch>
                  <a:fillRect b="-2500"/>
                </a:stretch>
              </a:blipFill>
            </p:spPr>
            <p:txBody>
              <a:bodyPr/>
              <a:lstStyle/>
              <a:p>
                <a:r>
                  <a:rPr lang="en-US">
                    <a:noFill/>
                  </a:rPr>
                  <a:t> </a:t>
                </a:r>
              </a:p>
            </p:txBody>
          </p:sp>
        </mc:Fallback>
      </mc:AlternateContent>
    </p:spTree>
    <p:extLst>
      <p:ext uri="{BB962C8B-B14F-4D97-AF65-F5344CB8AC3E}">
        <p14:creationId xmlns:p14="http://schemas.microsoft.com/office/powerpoint/2010/main" val="272383624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DCE2F9-F4C3-DA4C-B0FC-7FF6F22D148C}"/>
              </a:ext>
            </a:extLst>
          </p:cNvPr>
          <p:cNvSpPr>
            <a:spLocks noGrp="1"/>
          </p:cNvSpPr>
          <p:nvPr>
            <p:ph type="title"/>
          </p:nvPr>
        </p:nvSpPr>
        <p:spPr>
          <a:xfrm>
            <a:off x="838200" y="0"/>
            <a:ext cx="10515600" cy="1325563"/>
          </a:xfrm>
        </p:spPr>
        <p:txBody>
          <a:bodyPr/>
          <a:lstStyle/>
          <a:p>
            <a:r>
              <a:rPr lang="en-US" dirty="0"/>
              <a:t>Solution methods</a:t>
            </a:r>
          </a:p>
        </p:txBody>
      </p:sp>
      <p:sp>
        <p:nvSpPr>
          <p:cNvPr id="3" name="Content Placeholder 2">
            <a:extLst>
              <a:ext uri="{FF2B5EF4-FFF2-40B4-BE49-F238E27FC236}">
                <a16:creationId xmlns:a16="http://schemas.microsoft.com/office/drawing/2014/main" id="{15C4FD65-F675-944D-A379-3A5FFFAEB784}"/>
              </a:ext>
            </a:extLst>
          </p:cNvPr>
          <p:cNvSpPr>
            <a:spLocks noGrp="1"/>
          </p:cNvSpPr>
          <p:nvPr>
            <p:ph idx="1"/>
          </p:nvPr>
        </p:nvSpPr>
        <p:spPr>
          <a:xfrm>
            <a:off x="838200" y="1325562"/>
            <a:ext cx="10515600" cy="5532437"/>
          </a:xfrm>
        </p:spPr>
        <p:txBody>
          <a:bodyPr/>
          <a:lstStyle/>
          <a:p>
            <a:pPr marL="0" indent="0">
              <a:buNone/>
            </a:pPr>
            <a:r>
              <a:rPr lang="en-US" sz="3200" dirty="0"/>
              <a:t>There are several methods to solve elliptic PDE</a:t>
            </a:r>
          </a:p>
          <a:p>
            <a:pPr marL="514350" indent="-514350">
              <a:buFont typeface="+mj-lt"/>
              <a:buAutoNum type="arabicPeriod"/>
            </a:pPr>
            <a:r>
              <a:rPr lang="en-US" b="1" dirty="0"/>
              <a:t>Fourier Method : </a:t>
            </a:r>
            <a:r>
              <a:rPr lang="en-US" dirty="0"/>
              <a:t>Requires conducting a Fourier transform. Works only for periodic boundary conditions (See M. </a:t>
            </a:r>
            <a:r>
              <a:rPr lang="en-US" dirty="0" err="1"/>
              <a:t>Zingale</a:t>
            </a:r>
            <a:r>
              <a:rPr lang="en-US" dirty="0"/>
              <a:t> book).</a:t>
            </a:r>
          </a:p>
          <a:p>
            <a:pPr marL="514350" indent="-514350">
              <a:buFont typeface="+mj-lt"/>
              <a:buAutoNum type="arabicPeriod"/>
            </a:pPr>
            <a:r>
              <a:rPr lang="en-US" b="1" dirty="0"/>
              <a:t>Relaxation Method : </a:t>
            </a:r>
            <a:r>
              <a:rPr lang="en-US" dirty="0"/>
              <a:t>An iterative method, requires an initial guess and (slowly) converges to the solution. Also provides the basis for the multigrid technique. </a:t>
            </a:r>
          </a:p>
          <a:p>
            <a:pPr marL="514350" indent="-514350">
              <a:buFont typeface="+mj-lt"/>
              <a:buAutoNum type="arabicPeriod"/>
            </a:pPr>
            <a:endParaRPr lang="en-US" b="1" dirty="0"/>
          </a:p>
          <a:p>
            <a:pPr marL="514350" indent="-514350">
              <a:buFont typeface="+mj-lt"/>
              <a:buAutoNum type="arabicPeriod"/>
            </a:pPr>
            <a:endParaRPr lang="en-US" dirty="0"/>
          </a:p>
        </p:txBody>
      </p:sp>
    </p:spTree>
    <p:extLst>
      <p:ext uri="{BB962C8B-B14F-4D97-AF65-F5344CB8AC3E}">
        <p14:creationId xmlns:p14="http://schemas.microsoft.com/office/powerpoint/2010/main" val="258070781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DCE2F9-F4C3-DA4C-B0FC-7FF6F22D148C}"/>
              </a:ext>
            </a:extLst>
          </p:cNvPr>
          <p:cNvSpPr>
            <a:spLocks noGrp="1"/>
          </p:cNvSpPr>
          <p:nvPr>
            <p:ph type="title"/>
          </p:nvPr>
        </p:nvSpPr>
        <p:spPr>
          <a:xfrm>
            <a:off x="462987" y="0"/>
            <a:ext cx="11331615" cy="1325563"/>
          </a:xfrm>
        </p:spPr>
        <p:txBody>
          <a:bodyPr/>
          <a:lstStyle/>
          <a:p>
            <a:r>
              <a:rPr lang="en-US" dirty="0"/>
              <a:t>The relaxation method for the Poisson problem:</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5C4FD65-F675-944D-A379-3A5FFFAEB784}"/>
                  </a:ext>
                </a:extLst>
              </p:cNvPr>
              <p:cNvSpPr>
                <a:spLocks noGrp="1"/>
              </p:cNvSpPr>
              <p:nvPr>
                <p:ph idx="1"/>
              </p:nvPr>
            </p:nvSpPr>
            <p:spPr>
              <a:xfrm>
                <a:off x="838200" y="1325562"/>
                <a:ext cx="10515600" cy="5532437"/>
              </a:xfrm>
            </p:spPr>
            <p:txBody>
              <a:bodyPr>
                <a:normAutofit/>
              </a:bodyPr>
              <a:lstStyle/>
              <a:p>
                <a:pPr>
                  <a:lnSpc>
                    <a:spcPct val="150000"/>
                  </a:lnSpc>
                </a:pPr>
                <a:r>
                  <a:rPr lang="en-US" dirty="0"/>
                  <a:t>Consider the Poisson equation on a 2D grid:</a:t>
                </a:r>
              </a:p>
              <a:p>
                <a:pPr marL="0" indent="0">
                  <a:lnSpc>
                    <a:spcPct val="150000"/>
                  </a:lnSpc>
                  <a:buNone/>
                </a:pPr>
                <a14:m>
                  <m:oMathPara xmlns:m="http://schemas.openxmlformats.org/officeDocument/2006/math">
                    <m:oMathParaPr>
                      <m:jc m:val="centerGroup"/>
                    </m:oMathParaPr>
                    <m:oMath xmlns:m="http://schemas.openxmlformats.org/officeDocument/2006/math">
                      <m:sSup>
                        <m:sSupPr>
                          <m:ctrlPr>
                            <a:rPr lang="en-US" i="1">
                              <a:latin typeface="Cambria Math" panose="02040503050406030204" pitchFamily="18" charset="0"/>
                            </a:rPr>
                          </m:ctrlPr>
                        </m:sSupPr>
                        <m:e>
                          <m:r>
                            <m:rPr>
                              <m:sty m:val="p"/>
                            </m:rPr>
                            <a:rPr lang="en-US">
                              <a:latin typeface="Cambria Math" panose="02040503050406030204" pitchFamily="18" charset="0"/>
                            </a:rPr>
                            <m:t>∇</m:t>
                          </m:r>
                        </m:e>
                        <m:sup>
                          <m:r>
                            <a:rPr lang="en-US" i="1">
                              <a:latin typeface="Cambria Math" panose="02040503050406030204" pitchFamily="18" charset="0"/>
                            </a:rPr>
                            <m:t>2</m:t>
                          </m:r>
                        </m:sup>
                      </m:sSup>
                      <m:sSub>
                        <m:sSubPr>
                          <m:ctrlPr>
                            <a:rPr lang="en-US" b="0" i="1" smtClean="0">
                              <a:latin typeface="Cambria Math" panose="02040503050406030204" pitchFamily="18" charset="0"/>
                            </a:rPr>
                          </m:ctrlPr>
                        </m:sSubPr>
                        <m:e>
                          <m:r>
                            <a:rPr lang="en-US" i="1">
                              <a:latin typeface="Cambria Math" panose="02040503050406030204" pitchFamily="18" charset="0"/>
                            </a:rPr>
                            <m:t>𝜙</m:t>
                          </m:r>
                        </m:e>
                        <m:sub>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𝑗</m:t>
                          </m:r>
                        </m:sub>
                      </m:sSub>
                      <m:r>
                        <a:rPr lang="en-US" i="1">
                          <a:latin typeface="Cambria Math" panose="02040503050406030204" pitchFamily="18" charset="0"/>
                        </a:rPr>
                        <m:t>=</m:t>
                      </m:r>
                      <m:sSub>
                        <m:sSubPr>
                          <m:ctrlPr>
                            <a:rPr lang="en-US" b="0" i="1" smtClean="0">
                              <a:latin typeface="Cambria Math" panose="02040503050406030204" pitchFamily="18" charset="0"/>
                            </a:rPr>
                          </m:ctrlPr>
                        </m:sSubPr>
                        <m:e>
                          <m:r>
                            <a:rPr lang="en-US" i="1">
                              <a:latin typeface="Cambria Math" panose="02040503050406030204" pitchFamily="18" charset="0"/>
                            </a:rPr>
                            <m:t>𝑓</m:t>
                          </m:r>
                        </m:e>
                        <m:sub>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𝑗</m:t>
                          </m:r>
                        </m:sub>
                      </m:sSub>
                    </m:oMath>
                  </m:oMathPara>
                </a14:m>
                <a:endParaRPr lang="en-US" dirty="0"/>
              </a:p>
              <a:p>
                <a:pPr>
                  <a:lnSpc>
                    <a:spcPct val="150000"/>
                  </a:lnSpc>
                </a:pPr>
                <a:r>
                  <a:rPr lang="en-US" dirty="0"/>
                  <a:t>A second order accurate discretization of the second derivative is:</a:t>
                </a:r>
              </a:p>
              <a:p>
                <a:pPr marL="0" indent="0">
                  <a:lnSpc>
                    <a:spcPct val="150000"/>
                  </a:lnSpc>
                  <a:buNone/>
                </a:pPr>
                <a14:m>
                  <m:oMathPara xmlns:m="http://schemas.openxmlformats.org/officeDocument/2006/math">
                    <m:oMathParaPr>
                      <m:jc m:val="centerGroup"/>
                    </m:oMathParaPr>
                    <m:oMath xmlns:m="http://schemas.openxmlformats.org/officeDocument/2006/math">
                      <m:f>
                        <m:fPr>
                          <m:ctrlPr>
                            <a:rPr lang="en-US" b="0" i="1" smtClean="0">
                              <a:latin typeface="Cambria Math" panose="02040503050406030204" pitchFamily="18" charset="0"/>
                            </a:rPr>
                          </m:ctrlPr>
                        </m:fPr>
                        <m:num>
                          <m:sSup>
                            <m:sSupPr>
                              <m:ctrlPr>
                                <a:rPr lang="en-US" b="0" i="1" smtClean="0">
                                  <a:latin typeface="Cambria Math" panose="02040503050406030204" pitchFamily="18" charset="0"/>
                                </a:rPr>
                              </m:ctrlPr>
                            </m:sSupPr>
                            <m:e>
                              <m:r>
                                <a:rPr lang="en-US" b="0" i="1" smtClean="0">
                                  <a:latin typeface="Cambria Math" panose="02040503050406030204" pitchFamily="18" charset="0"/>
                                </a:rPr>
                                <m:t>𝜕</m:t>
                              </m:r>
                            </m:e>
                            <m:sup>
                              <m:r>
                                <a:rPr lang="en-US" b="0" i="1" smtClean="0">
                                  <a:latin typeface="Cambria Math" panose="02040503050406030204" pitchFamily="18" charset="0"/>
                                </a:rPr>
                                <m:t>2</m:t>
                              </m:r>
                            </m:sup>
                          </m:sSup>
                          <m:sSub>
                            <m:sSubPr>
                              <m:ctrlPr>
                                <a:rPr lang="en-US" b="0" i="1" smtClean="0">
                                  <a:latin typeface="Cambria Math" panose="02040503050406030204" pitchFamily="18" charset="0"/>
                                </a:rPr>
                              </m:ctrlPr>
                            </m:sSubPr>
                            <m:e>
                              <m:r>
                                <a:rPr lang="en-US" b="0" i="1" smtClean="0">
                                  <a:latin typeface="Cambria Math" panose="02040503050406030204" pitchFamily="18" charset="0"/>
                                </a:rPr>
                                <m:t>𝜙</m:t>
                              </m:r>
                            </m:e>
                            <m:sub>
                              <m:r>
                                <a:rPr lang="en-US" b="0" i="1" smtClean="0">
                                  <a:latin typeface="Cambria Math" panose="02040503050406030204" pitchFamily="18" charset="0"/>
                                </a:rPr>
                                <m:t>𝑖</m:t>
                              </m:r>
                            </m:sub>
                          </m:sSub>
                        </m:num>
                        <m:den>
                          <m:r>
                            <a:rPr lang="en-US" b="0" i="1" smtClean="0">
                              <a:latin typeface="Cambria Math" panose="02040503050406030204" pitchFamily="18" charset="0"/>
                            </a:rPr>
                            <m:t>𝜕</m:t>
                          </m:r>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𝑥</m:t>
                              </m:r>
                            </m:e>
                            <m:sub>
                              <m:r>
                                <a:rPr lang="en-US" b="0" i="1" smtClean="0">
                                  <a:latin typeface="Cambria Math" panose="02040503050406030204" pitchFamily="18" charset="0"/>
                                </a:rPr>
                                <m:t>𝑖</m:t>
                              </m:r>
                            </m:sub>
                            <m:sup>
                              <m:r>
                                <a:rPr lang="en-US" b="0" i="1" smtClean="0">
                                  <a:latin typeface="Cambria Math" panose="02040503050406030204" pitchFamily="18" charset="0"/>
                                </a:rPr>
                                <m:t>2</m:t>
                              </m:r>
                            </m:sup>
                          </m:sSubSup>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sSub>
                            <m:sSubPr>
                              <m:ctrlPr>
                                <a:rPr lang="en-US" b="0" i="1" smtClean="0">
                                  <a:latin typeface="Cambria Math" panose="02040503050406030204" pitchFamily="18" charset="0"/>
                                </a:rPr>
                              </m:ctrlPr>
                            </m:sSubPr>
                            <m:e>
                              <m:d>
                                <m:dPr>
                                  <m:begChr m:val="["/>
                                  <m:endChr m:val="]"/>
                                  <m:ctrlPr>
                                    <a:rPr lang="en-US" b="0" i="1" smtClean="0">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𝜙</m:t>
                                      </m:r>
                                    </m:e>
                                    <m:sub>
                                      <m:r>
                                        <a:rPr lang="en-US" i="1">
                                          <a:latin typeface="Cambria Math" panose="02040503050406030204" pitchFamily="18" charset="0"/>
                                        </a:rPr>
                                        <m:t>𝑖</m:t>
                                      </m:r>
                                      <m:r>
                                        <a:rPr lang="en-US" i="1">
                                          <a:latin typeface="Cambria Math" panose="02040503050406030204" pitchFamily="18" charset="0"/>
                                        </a:rPr>
                                        <m:t>+1/2</m:t>
                                      </m:r>
                                    </m:sub>
                                  </m:sSub>
                                </m:e>
                              </m:d>
                            </m:e>
                            <m:sub>
                              <m:r>
                                <a:rPr lang="en-US" b="0" i="1" smtClean="0">
                                  <a:latin typeface="Cambria Math" panose="02040503050406030204" pitchFamily="18" charset="0"/>
                                </a:rPr>
                                <m:t>𝑥</m:t>
                              </m:r>
                            </m:sub>
                          </m:sSub>
                          <m:r>
                            <a:rPr lang="en-US" b="0" i="1" smtClean="0">
                              <a:latin typeface="Cambria Math" panose="02040503050406030204" pitchFamily="18" charset="0"/>
                            </a:rPr>
                            <m:t>−</m:t>
                          </m:r>
                          <m:sSub>
                            <m:sSubPr>
                              <m:ctrlPr>
                                <a:rPr lang="en-US" i="1">
                                  <a:latin typeface="Cambria Math" panose="02040503050406030204" pitchFamily="18" charset="0"/>
                                </a:rPr>
                              </m:ctrlPr>
                            </m:sSubPr>
                            <m:e>
                              <m:d>
                                <m:dPr>
                                  <m:begChr m:val="["/>
                                  <m:endChr m:val="]"/>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𝜙</m:t>
                                      </m:r>
                                    </m:e>
                                    <m:sub>
                                      <m:r>
                                        <a:rPr lang="en-US" i="1">
                                          <a:latin typeface="Cambria Math" panose="02040503050406030204" pitchFamily="18" charset="0"/>
                                        </a:rPr>
                                        <m:t>𝑖</m:t>
                                      </m:r>
                                      <m:r>
                                        <a:rPr lang="en-US" b="0" i="1" smtClean="0">
                                          <a:latin typeface="Cambria Math" panose="02040503050406030204" pitchFamily="18" charset="0"/>
                                        </a:rPr>
                                        <m:t>−</m:t>
                                      </m:r>
                                      <m:r>
                                        <a:rPr lang="en-US" i="1">
                                          <a:latin typeface="Cambria Math" panose="02040503050406030204" pitchFamily="18" charset="0"/>
                                        </a:rPr>
                                        <m:t>1/2</m:t>
                                      </m:r>
                                    </m:sub>
                                  </m:sSub>
                                </m:e>
                              </m:d>
                            </m:e>
                            <m:sub>
                              <m:r>
                                <a:rPr lang="en-US" i="1">
                                  <a:latin typeface="Cambria Math" panose="02040503050406030204" pitchFamily="18" charset="0"/>
                                </a:rPr>
                                <m:t>𝑥</m:t>
                              </m:r>
                            </m:sub>
                          </m:sSub>
                        </m:num>
                        <m:den>
                          <m:r>
                            <m:rPr>
                              <m:sty m:val="p"/>
                            </m:rPr>
                            <a:rPr lang="en-US" b="0" i="0" smtClean="0">
                              <a:latin typeface="Cambria Math" panose="02040503050406030204" pitchFamily="18" charset="0"/>
                            </a:rPr>
                            <m:t>Δ</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𝑖</m:t>
                              </m:r>
                            </m:sub>
                          </m:sSub>
                        </m:den>
                      </m:f>
                      <m:r>
                        <a:rPr lang="en-US" b="0" i="1" smtClean="0">
                          <a:latin typeface="Cambria Math" panose="02040503050406030204" pitchFamily="18" charset="0"/>
                        </a:rPr>
                        <m:t>=</m:t>
                      </m:r>
                      <m:f>
                        <m:fPr>
                          <m:ctrlPr>
                            <a:rPr lang="en-US" i="1" smtClean="0">
                              <a:latin typeface="Cambria Math" panose="02040503050406030204" pitchFamily="18" charset="0"/>
                            </a:rPr>
                          </m:ctrlPr>
                        </m:fPr>
                        <m:num>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𝜙</m:t>
                                  </m:r>
                                </m:e>
                                <m:sub>
                                  <m:r>
                                    <a:rPr lang="en-US" b="0" i="1" smtClean="0">
                                      <a:latin typeface="Cambria Math" panose="02040503050406030204" pitchFamily="18" charset="0"/>
                                    </a:rPr>
                                    <m:t>𝑖</m:t>
                                  </m:r>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𝜙</m:t>
                                  </m:r>
                                </m:e>
                                <m:sub>
                                  <m:r>
                                    <a:rPr lang="en-US" b="0" i="1" smtClean="0">
                                      <a:latin typeface="Cambria Math" panose="02040503050406030204" pitchFamily="18" charset="0"/>
                                    </a:rPr>
                                    <m:t>𝑖</m:t>
                                  </m:r>
                                </m:sub>
                              </m:sSub>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𝜙</m:t>
                              </m:r>
                            </m:e>
                            <m:sub>
                              <m:r>
                                <a:rPr lang="en-US" b="0" i="1" smtClean="0">
                                  <a:latin typeface="Cambria Math" panose="02040503050406030204" pitchFamily="18" charset="0"/>
                                </a:rPr>
                                <m:t>𝑖</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𝜙</m:t>
                              </m:r>
                            </m:e>
                            <m:sub>
                              <m:r>
                                <a:rPr lang="en-US" b="0" i="1" smtClean="0">
                                  <a:latin typeface="Cambria Math" panose="02040503050406030204" pitchFamily="18" charset="0"/>
                                </a:rPr>
                                <m:t>𝑖</m:t>
                              </m:r>
                              <m:r>
                                <a:rPr lang="en-US" b="0" i="1" smtClean="0">
                                  <a:latin typeface="Cambria Math" panose="02040503050406030204" pitchFamily="18" charset="0"/>
                                </a:rPr>
                                <m:t>−1</m:t>
                              </m:r>
                            </m:sub>
                          </m:sSub>
                          <m:r>
                            <a:rPr lang="en-US" b="0" i="1" smtClean="0">
                              <a:latin typeface="Cambria Math" panose="02040503050406030204" pitchFamily="18" charset="0"/>
                            </a:rPr>
                            <m:t>)</m:t>
                          </m:r>
                        </m:num>
                        <m:den>
                          <m:r>
                            <m:rPr>
                              <m:sty m:val="p"/>
                            </m:rPr>
                            <a:rPr lang="en-US" b="0" i="0" smtClean="0">
                              <a:latin typeface="Cambria Math" panose="02040503050406030204" pitchFamily="18" charset="0"/>
                            </a:rPr>
                            <m:t>Δ</m:t>
                          </m:r>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𝑥</m:t>
                              </m:r>
                            </m:e>
                            <m:sub>
                              <m:r>
                                <a:rPr lang="en-US" b="0" i="1" smtClean="0">
                                  <a:latin typeface="Cambria Math" panose="02040503050406030204" pitchFamily="18" charset="0"/>
                                </a:rPr>
                                <m:t>𝑖</m:t>
                              </m:r>
                            </m:sub>
                            <m:sup>
                              <m:r>
                                <a:rPr lang="en-US" b="0" i="1" smtClean="0">
                                  <a:latin typeface="Cambria Math" panose="02040503050406030204" pitchFamily="18" charset="0"/>
                                </a:rPr>
                                <m:t>2</m:t>
                              </m:r>
                            </m:sup>
                          </m:sSubSup>
                        </m:den>
                      </m:f>
                    </m:oMath>
                  </m:oMathPara>
                </a14:m>
                <a:endParaRPr lang="en-US" dirty="0"/>
              </a:p>
            </p:txBody>
          </p:sp>
        </mc:Choice>
        <mc:Fallback xmlns="">
          <p:sp>
            <p:nvSpPr>
              <p:cNvPr id="3" name="Content Placeholder 2">
                <a:extLst>
                  <a:ext uri="{FF2B5EF4-FFF2-40B4-BE49-F238E27FC236}">
                    <a16:creationId xmlns:a16="http://schemas.microsoft.com/office/drawing/2014/main" id="{15C4FD65-F675-944D-A379-3A5FFFAEB784}"/>
                  </a:ext>
                </a:extLst>
              </p:cNvPr>
              <p:cNvSpPr>
                <a:spLocks noGrp="1" noRot="1" noChangeAspect="1" noMove="1" noResize="1" noEditPoints="1" noAdjustHandles="1" noChangeArrowheads="1" noChangeShapeType="1" noTextEdit="1"/>
              </p:cNvSpPr>
              <p:nvPr>
                <p:ph idx="1"/>
              </p:nvPr>
            </p:nvSpPr>
            <p:spPr>
              <a:xfrm>
                <a:off x="838200" y="1325562"/>
                <a:ext cx="10515600" cy="5532437"/>
              </a:xfrm>
              <a:blipFill>
                <a:blip r:embed="rId3"/>
                <a:stretch>
                  <a:fillRect l="-965"/>
                </a:stretch>
              </a:blipFill>
            </p:spPr>
            <p:txBody>
              <a:bodyPr/>
              <a:lstStyle/>
              <a:p>
                <a:r>
                  <a:rPr lang="en-US">
                    <a:noFill/>
                  </a:rPr>
                  <a:t> </a:t>
                </a:r>
              </a:p>
            </p:txBody>
          </p:sp>
        </mc:Fallback>
      </mc:AlternateContent>
    </p:spTree>
    <p:extLst>
      <p:ext uri="{BB962C8B-B14F-4D97-AF65-F5344CB8AC3E}">
        <p14:creationId xmlns:p14="http://schemas.microsoft.com/office/powerpoint/2010/main" val="255325949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DCE2F9-F4C3-DA4C-B0FC-7FF6F22D148C}"/>
              </a:ext>
            </a:extLst>
          </p:cNvPr>
          <p:cNvSpPr>
            <a:spLocks noGrp="1"/>
          </p:cNvSpPr>
          <p:nvPr>
            <p:ph type="title"/>
          </p:nvPr>
        </p:nvSpPr>
        <p:spPr>
          <a:xfrm>
            <a:off x="462987" y="0"/>
            <a:ext cx="11331615" cy="1325563"/>
          </a:xfrm>
        </p:spPr>
        <p:txBody>
          <a:bodyPr/>
          <a:lstStyle/>
          <a:p>
            <a:r>
              <a:rPr lang="en-US" dirty="0"/>
              <a:t>The relaxation method for the Poisson problem:</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5C4FD65-F675-944D-A379-3A5FFFAEB784}"/>
                  </a:ext>
                </a:extLst>
              </p:cNvPr>
              <p:cNvSpPr>
                <a:spLocks noGrp="1"/>
              </p:cNvSpPr>
              <p:nvPr>
                <p:ph idx="1"/>
              </p:nvPr>
            </p:nvSpPr>
            <p:spPr>
              <a:xfrm>
                <a:off x="838200" y="1325562"/>
                <a:ext cx="10515600" cy="5532437"/>
              </a:xfrm>
            </p:spPr>
            <p:txBody>
              <a:bodyPr>
                <a:normAutofit/>
              </a:bodyPr>
              <a:lstStyle/>
              <a:p>
                <a:pPr>
                  <a:lnSpc>
                    <a:spcPct val="150000"/>
                  </a:lnSpc>
                </a:pPr>
                <a:r>
                  <a:rPr lang="en-US" dirty="0"/>
                  <a:t>Consider the Poisson equation on a 2D grid:</a:t>
                </a:r>
              </a:p>
              <a:p>
                <a:pPr marL="0" indent="0">
                  <a:lnSpc>
                    <a:spcPct val="150000"/>
                  </a:lnSpc>
                  <a:buNone/>
                </a:pPr>
                <a14:m>
                  <m:oMathPara xmlns:m="http://schemas.openxmlformats.org/officeDocument/2006/math">
                    <m:oMathParaPr>
                      <m:jc m:val="centerGroup"/>
                    </m:oMathParaPr>
                    <m:oMath xmlns:m="http://schemas.openxmlformats.org/officeDocument/2006/math">
                      <m:sSup>
                        <m:sSupPr>
                          <m:ctrlPr>
                            <a:rPr lang="en-US" i="1">
                              <a:latin typeface="Cambria Math" panose="02040503050406030204" pitchFamily="18" charset="0"/>
                            </a:rPr>
                          </m:ctrlPr>
                        </m:sSupPr>
                        <m:e>
                          <m:r>
                            <m:rPr>
                              <m:sty m:val="p"/>
                            </m:rPr>
                            <a:rPr lang="en-US">
                              <a:latin typeface="Cambria Math" panose="02040503050406030204" pitchFamily="18" charset="0"/>
                            </a:rPr>
                            <m:t>∇</m:t>
                          </m:r>
                        </m:e>
                        <m:sup>
                          <m:r>
                            <a:rPr lang="en-US" i="1">
                              <a:latin typeface="Cambria Math" panose="02040503050406030204" pitchFamily="18" charset="0"/>
                            </a:rPr>
                            <m:t>2</m:t>
                          </m:r>
                        </m:sup>
                      </m:sSup>
                      <m:sSub>
                        <m:sSubPr>
                          <m:ctrlPr>
                            <a:rPr lang="en-US" b="0" i="1" smtClean="0">
                              <a:latin typeface="Cambria Math" panose="02040503050406030204" pitchFamily="18" charset="0"/>
                            </a:rPr>
                          </m:ctrlPr>
                        </m:sSubPr>
                        <m:e>
                          <m:r>
                            <a:rPr lang="en-US" i="1">
                              <a:latin typeface="Cambria Math" panose="02040503050406030204" pitchFamily="18" charset="0"/>
                            </a:rPr>
                            <m:t>𝜙</m:t>
                          </m:r>
                        </m:e>
                        <m:sub>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𝑗</m:t>
                          </m:r>
                        </m:sub>
                      </m:sSub>
                      <m:r>
                        <a:rPr lang="en-US" i="1">
                          <a:latin typeface="Cambria Math" panose="02040503050406030204" pitchFamily="18" charset="0"/>
                        </a:rPr>
                        <m:t>=</m:t>
                      </m:r>
                      <m:sSub>
                        <m:sSubPr>
                          <m:ctrlPr>
                            <a:rPr lang="en-US" b="0" i="1" smtClean="0">
                              <a:latin typeface="Cambria Math" panose="02040503050406030204" pitchFamily="18" charset="0"/>
                            </a:rPr>
                          </m:ctrlPr>
                        </m:sSubPr>
                        <m:e>
                          <m:r>
                            <a:rPr lang="en-US" i="1">
                              <a:latin typeface="Cambria Math" panose="02040503050406030204" pitchFamily="18" charset="0"/>
                            </a:rPr>
                            <m:t>𝑓</m:t>
                          </m:r>
                        </m:e>
                        <m:sub>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𝑗</m:t>
                          </m:r>
                        </m:sub>
                      </m:sSub>
                    </m:oMath>
                  </m:oMathPara>
                </a14:m>
                <a:endParaRPr lang="en-US" dirty="0"/>
              </a:p>
              <a:p>
                <a:pPr>
                  <a:lnSpc>
                    <a:spcPct val="150000"/>
                  </a:lnSpc>
                </a:pPr>
                <a:r>
                  <a:rPr lang="en-US" dirty="0"/>
                  <a:t>A second order accurate discretization of the second derivative is:</a:t>
                </a:r>
              </a:p>
              <a:p>
                <a:pPr marL="0" indent="0">
                  <a:lnSpc>
                    <a:spcPct val="150000"/>
                  </a:lnSpc>
                  <a:buNone/>
                </a:pPr>
                <a14:m>
                  <m:oMathPara xmlns:m="http://schemas.openxmlformats.org/officeDocument/2006/math">
                    <m:oMathParaPr>
                      <m:jc m:val="centerGroup"/>
                    </m:oMathParaPr>
                    <m:oMath xmlns:m="http://schemas.openxmlformats.org/officeDocument/2006/math">
                      <m:f>
                        <m:fPr>
                          <m:ctrlPr>
                            <a:rPr lang="en-US" b="0" i="1" smtClean="0">
                              <a:latin typeface="Cambria Math" panose="02040503050406030204" pitchFamily="18" charset="0"/>
                            </a:rPr>
                          </m:ctrlPr>
                        </m:fPr>
                        <m:num>
                          <m:sSup>
                            <m:sSupPr>
                              <m:ctrlPr>
                                <a:rPr lang="en-US" b="0" i="1" smtClean="0">
                                  <a:latin typeface="Cambria Math" panose="02040503050406030204" pitchFamily="18" charset="0"/>
                                </a:rPr>
                              </m:ctrlPr>
                            </m:sSupPr>
                            <m:e>
                              <m:r>
                                <a:rPr lang="en-US" b="0" i="1" smtClean="0">
                                  <a:latin typeface="Cambria Math" panose="02040503050406030204" pitchFamily="18" charset="0"/>
                                </a:rPr>
                                <m:t>𝜕</m:t>
                              </m:r>
                            </m:e>
                            <m:sup>
                              <m:r>
                                <a:rPr lang="en-US" b="0" i="1" smtClean="0">
                                  <a:latin typeface="Cambria Math" panose="02040503050406030204" pitchFamily="18" charset="0"/>
                                </a:rPr>
                                <m:t>2</m:t>
                              </m:r>
                            </m:sup>
                          </m:sSup>
                          <m:sSub>
                            <m:sSubPr>
                              <m:ctrlPr>
                                <a:rPr lang="en-US" b="0" i="1" smtClean="0">
                                  <a:latin typeface="Cambria Math" panose="02040503050406030204" pitchFamily="18" charset="0"/>
                                </a:rPr>
                              </m:ctrlPr>
                            </m:sSubPr>
                            <m:e>
                              <m:r>
                                <a:rPr lang="en-US" b="0" i="1" smtClean="0">
                                  <a:latin typeface="Cambria Math" panose="02040503050406030204" pitchFamily="18" charset="0"/>
                                </a:rPr>
                                <m:t>𝜙</m:t>
                              </m:r>
                            </m:e>
                            <m:sub>
                              <m:r>
                                <a:rPr lang="en-US" b="0" i="1" smtClean="0">
                                  <a:latin typeface="Cambria Math" panose="02040503050406030204" pitchFamily="18" charset="0"/>
                                </a:rPr>
                                <m:t>𝑖</m:t>
                              </m:r>
                            </m:sub>
                          </m:sSub>
                        </m:num>
                        <m:den>
                          <m:r>
                            <a:rPr lang="en-US" b="0" i="1" smtClean="0">
                              <a:latin typeface="Cambria Math" panose="02040503050406030204" pitchFamily="18" charset="0"/>
                            </a:rPr>
                            <m:t>𝜕</m:t>
                          </m:r>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𝑥</m:t>
                              </m:r>
                            </m:e>
                            <m:sub>
                              <m:r>
                                <a:rPr lang="en-US" b="0" i="1" smtClean="0">
                                  <a:latin typeface="Cambria Math" panose="02040503050406030204" pitchFamily="18" charset="0"/>
                                </a:rPr>
                                <m:t>𝑖</m:t>
                              </m:r>
                            </m:sub>
                            <m:sup>
                              <m:r>
                                <a:rPr lang="en-US" b="0" i="1" smtClean="0">
                                  <a:latin typeface="Cambria Math" panose="02040503050406030204" pitchFamily="18" charset="0"/>
                                </a:rPr>
                                <m:t>2</m:t>
                              </m:r>
                            </m:sup>
                          </m:sSubSup>
                        </m:den>
                      </m:f>
                      <m:r>
                        <a:rPr lang="en-US" b="0" i="1" smtClean="0">
                          <a:latin typeface="Cambria Math" panose="02040503050406030204" pitchFamily="18" charset="0"/>
                        </a:rPr>
                        <m:t>=</m:t>
                      </m:r>
                      <m:f>
                        <m:fPr>
                          <m:ctrlPr>
                            <a:rPr lang="en-US" i="1">
                              <a:latin typeface="Cambria Math" panose="02040503050406030204" pitchFamily="18" charset="0"/>
                            </a:rPr>
                          </m:ctrlPr>
                        </m:fPr>
                        <m:num>
                          <m:sSub>
                            <m:sSubPr>
                              <m:ctrlPr>
                                <a:rPr lang="en-US" i="1">
                                  <a:latin typeface="Cambria Math" panose="02040503050406030204" pitchFamily="18" charset="0"/>
                                </a:rPr>
                              </m:ctrlPr>
                            </m:sSubPr>
                            <m:e>
                              <m:d>
                                <m:dPr>
                                  <m:begChr m:val="["/>
                                  <m:endChr m:val="]"/>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𝜙</m:t>
                                      </m:r>
                                    </m:e>
                                    <m:sub>
                                      <m:r>
                                        <a:rPr lang="en-US" i="1">
                                          <a:latin typeface="Cambria Math" panose="02040503050406030204" pitchFamily="18" charset="0"/>
                                        </a:rPr>
                                        <m:t>𝑖</m:t>
                                      </m:r>
                                      <m:r>
                                        <a:rPr lang="en-US" i="1">
                                          <a:latin typeface="Cambria Math" panose="02040503050406030204" pitchFamily="18" charset="0"/>
                                        </a:rPr>
                                        <m:t>+1/2</m:t>
                                      </m:r>
                                    </m:sub>
                                  </m:sSub>
                                </m:e>
                              </m:d>
                            </m:e>
                            <m:sub>
                              <m:r>
                                <a:rPr lang="en-US" i="1">
                                  <a:latin typeface="Cambria Math" panose="02040503050406030204" pitchFamily="18" charset="0"/>
                                </a:rPr>
                                <m:t>𝑥</m:t>
                              </m:r>
                            </m:sub>
                          </m:sSub>
                          <m:r>
                            <a:rPr lang="en-US" i="1">
                              <a:latin typeface="Cambria Math" panose="02040503050406030204" pitchFamily="18" charset="0"/>
                            </a:rPr>
                            <m:t>−</m:t>
                          </m:r>
                          <m:sSub>
                            <m:sSubPr>
                              <m:ctrlPr>
                                <a:rPr lang="en-US" i="1">
                                  <a:latin typeface="Cambria Math" panose="02040503050406030204" pitchFamily="18" charset="0"/>
                                </a:rPr>
                              </m:ctrlPr>
                            </m:sSubPr>
                            <m:e>
                              <m:d>
                                <m:dPr>
                                  <m:begChr m:val="["/>
                                  <m:endChr m:val="]"/>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𝜙</m:t>
                                      </m:r>
                                    </m:e>
                                    <m:sub>
                                      <m:r>
                                        <a:rPr lang="en-US" i="1">
                                          <a:latin typeface="Cambria Math" panose="02040503050406030204" pitchFamily="18" charset="0"/>
                                        </a:rPr>
                                        <m:t>𝑖</m:t>
                                      </m:r>
                                      <m:r>
                                        <a:rPr lang="en-US" i="1">
                                          <a:latin typeface="Cambria Math" panose="02040503050406030204" pitchFamily="18" charset="0"/>
                                        </a:rPr>
                                        <m:t>−1/2</m:t>
                                      </m:r>
                                    </m:sub>
                                  </m:sSub>
                                </m:e>
                              </m:d>
                            </m:e>
                            <m:sub>
                              <m:r>
                                <a:rPr lang="en-US" i="1">
                                  <a:latin typeface="Cambria Math" panose="02040503050406030204" pitchFamily="18" charset="0"/>
                                </a:rPr>
                                <m:t>𝑥</m:t>
                              </m:r>
                            </m:sub>
                          </m:sSub>
                        </m:num>
                        <m:den>
                          <m:r>
                            <m:rPr>
                              <m:sty m:val="p"/>
                            </m:rPr>
                            <a:rPr lang="en-US">
                              <a:latin typeface="Cambria Math" panose="02040503050406030204" pitchFamily="18" charset="0"/>
                            </a:rPr>
                            <m:t>Δ</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𝑖</m:t>
                              </m:r>
                            </m:sub>
                          </m:sSub>
                        </m:den>
                      </m:f>
                      <m:r>
                        <a:rPr lang="en-US" b="0" i="1" smtClean="0">
                          <a:latin typeface="Cambria Math" panose="02040503050406030204" pitchFamily="18" charset="0"/>
                        </a:rPr>
                        <m:t>=</m:t>
                      </m:r>
                      <m:f>
                        <m:fPr>
                          <m:ctrlPr>
                            <a:rPr lang="en-US" i="1" smtClean="0">
                              <a:latin typeface="Cambria Math" panose="02040503050406030204" pitchFamily="18" charset="0"/>
                            </a:rPr>
                          </m:ctrlPr>
                        </m:fPr>
                        <m:num>
                          <m:r>
                            <a:rPr lang="en-US" b="0" i="1" smtClean="0">
                              <a:latin typeface="Cambria Math" panose="02040503050406030204" pitchFamily="18" charset="0"/>
                            </a:rPr>
                            <m:t>       </m:t>
                          </m:r>
                          <m:sSub>
                            <m:sSubPr>
                              <m:ctrlPr>
                                <a:rPr lang="en-US" i="1">
                                  <a:latin typeface="Cambria Math" panose="02040503050406030204" pitchFamily="18" charset="0"/>
                                </a:rPr>
                              </m:ctrlPr>
                            </m:sSubPr>
                            <m:e>
                              <m:r>
                                <a:rPr lang="en-US" i="1">
                                  <a:latin typeface="Cambria Math" panose="02040503050406030204" pitchFamily="18" charset="0"/>
                                </a:rPr>
                                <m:t>𝜙</m:t>
                              </m:r>
                            </m:e>
                            <m:sub>
                              <m:r>
                                <a:rPr lang="en-US" i="1">
                                  <a:latin typeface="Cambria Math" panose="02040503050406030204" pitchFamily="18" charset="0"/>
                                </a:rPr>
                                <m:t>𝑖</m:t>
                              </m:r>
                              <m:r>
                                <a:rPr lang="en-US" i="1">
                                  <a:latin typeface="Cambria Math" panose="02040503050406030204" pitchFamily="18" charset="0"/>
                                </a:rPr>
                                <m:t>+1</m:t>
                              </m:r>
                            </m:sub>
                          </m:sSub>
                          <m:r>
                            <a:rPr lang="en-US" i="1">
                              <a:latin typeface="Cambria Math" panose="02040503050406030204" pitchFamily="18" charset="0"/>
                            </a:rPr>
                            <m:t>−</m:t>
                          </m:r>
                          <m:r>
                            <a:rPr lang="en-US" b="0" i="1" smtClean="0">
                              <a:solidFill>
                                <a:schemeClr val="tx1"/>
                              </a:solidFill>
                              <a:latin typeface="Cambria Math" panose="02040503050406030204" pitchFamily="18" charset="0"/>
                            </a:rPr>
                            <m:t>2</m:t>
                          </m:r>
                          <m:sSub>
                            <m:sSubPr>
                              <m:ctrlPr>
                                <a:rPr lang="en-US" i="1">
                                  <a:solidFill>
                                    <a:schemeClr val="tx1"/>
                                  </a:solidFill>
                                  <a:latin typeface="Cambria Math" panose="02040503050406030204" pitchFamily="18" charset="0"/>
                                </a:rPr>
                              </m:ctrlPr>
                            </m:sSubPr>
                            <m:e>
                              <m:r>
                                <a:rPr lang="en-US" i="1">
                                  <a:solidFill>
                                    <a:schemeClr val="tx1"/>
                                  </a:solidFill>
                                  <a:latin typeface="Cambria Math" panose="02040503050406030204" pitchFamily="18" charset="0"/>
                                </a:rPr>
                                <m:t>𝜙</m:t>
                              </m:r>
                            </m:e>
                            <m:sub>
                              <m:r>
                                <a:rPr lang="en-US" i="1">
                                  <a:solidFill>
                                    <a:schemeClr val="tx1"/>
                                  </a:solidFill>
                                  <a:latin typeface="Cambria Math" panose="02040503050406030204" pitchFamily="18" charset="0"/>
                                </a:rPr>
                                <m:t>𝑖</m:t>
                              </m:r>
                            </m:sub>
                          </m:sSub>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𝜙</m:t>
                              </m:r>
                            </m:e>
                            <m:sub>
                              <m:r>
                                <a:rPr lang="en-US" i="1">
                                  <a:latin typeface="Cambria Math" panose="02040503050406030204" pitchFamily="18" charset="0"/>
                                </a:rPr>
                                <m:t>𝑖</m:t>
                              </m:r>
                              <m:r>
                                <a:rPr lang="en-US" i="1">
                                  <a:latin typeface="Cambria Math" panose="02040503050406030204" pitchFamily="18" charset="0"/>
                                </a:rPr>
                                <m:t>−1</m:t>
                              </m:r>
                            </m:sub>
                          </m:sSub>
                          <m:r>
                            <a:rPr lang="en-US" b="0" i="1" smtClean="0">
                              <a:latin typeface="Cambria Math" panose="02040503050406030204" pitchFamily="18" charset="0"/>
                            </a:rPr>
                            <m:t>        </m:t>
                          </m:r>
                        </m:num>
                        <m:den>
                          <m:r>
                            <m:rPr>
                              <m:sty m:val="p"/>
                            </m:rPr>
                            <a:rPr lang="en-US" b="0" i="0" smtClean="0">
                              <a:latin typeface="Cambria Math" panose="02040503050406030204" pitchFamily="18" charset="0"/>
                            </a:rPr>
                            <m:t>Δ</m:t>
                          </m:r>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𝑥</m:t>
                              </m:r>
                            </m:e>
                            <m:sub>
                              <m:r>
                                <a:rPr lang="en-US" b="0" i="1" smtClean="0">
                                  <a:latin typeface="Cambria Math" panose="02040503050406030204" pitchFamily="18" charset="0"/>
                                </a:rPr>
                                <m:t>𝑖</m:t>
                              </m:r>
                            </m:sub>
                            <m:sup>
                              <m:r>
                                <a:rPr lang="en-US" b="0" i="1" smtClean="0">
                                  <a:latin typeface="Cambria Math" panose="02040503050406030204" pitchFamily="18" charset="0"/>
                                </a:rPr>
                                <m:t>2</m:t>
                              </m:r>
                            </m:sup>
                          </m:sSubSup>
                        </m:den>
                      </m:f>
                    </m:oMath>
                  </m:oMathPara>
                </a14:m>
                <a:endParaRPr lang="en-US" dirty="0"/>
              </a:p>
            </p:txBody>
          </p:sp>
        </mc:Choice>
        <mc:Fallback xmlns="">
          <p:sp>
            <p:nvSpPr>
              <p:cNvPr id="3" name="Content Placeholder 2">
                <a:extLst>
                  <a:ext uri="{FF2B5EF4-FFF2-40B4-BE49-F238E27FC236}">
                    <a16:creationId xmlns:a16="http://schemas.microsoft.com/office/drawing/2014/main" id="{15C4FD65-F675-944D-A379-3A5FFFAEB784}"/>
                  </a:ext>
                </a:extLst>
              </p:cNvPr>
              <p:cNvSpPr>
                <a:spLocks noGrp="1" noRot="1" noChangeAspect="1" noMove="1" noResize="1" noEditPoints="1" noAdjustHandles="1" noChangeArrowheads="1" noChangeShapeType="1" noTextEdit="1"/>
              </p:cNvSpPr>
              <p:nvPr>
                <p:ph idx="1"/>
              </p:nvPr>
            </p:nvSpPr>
            <p:spPr>
              <a:xfrm>
                <a:off x="838200" y="1325562"/>
                <a:ext cx="10515600" cy="5532437"/>
              </a:xfrm>
              <a:blipFill>
                <a:blip r:embed="rId3"/>
                <a:stretch>
                  <a:fillRect l="-965"/>
                </a:stretch>
              </a:blipFill>
            </p:spPr>
            <p:txBody>
              <a:bodyPr/>
              <a:lstStyle/>
              <a:p>
                <a:r>
                  <a:rPr lang="en-US">
                    <a:noFill/>
                  </a:rPr>
                  <a:t> </a:t>
                </a:r>
              </a:p>
            </p:txBody>
          </p:sp>
        </mc:Fallback>
      </mc:AlternateContent>
    </p:spTree>
    <p:extLst>
      <p:ext uri="{BB962C8B-B14F-4D97-AF65-F5344CB8AC3E}">
        <p14:creationId xmlns:p14="http://schemas.microsoft.com/office/powerpoint/2010/main" val="101154244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DCE2F9-F4C3-DA4C-B0FC-7FF6F22D148C}"/>
              </a:ext>
            </a:extLst>
          </p:cNvPr>
          <p:cNvSpPr>
            <a:spLocks noGrp="1"/>
          </p:cNvSpPr>
          <p:nvPr>
            <p:ph type="title"/>
          </p:nvPr>
        </p:nvSpPr>
        <p:spPr>
          <a:xfrm>
            <a:off x="462987" y="0"/>
            <a:ext cx="11331615" cy="1325563"/>
          </a:xfrm>
        </p:spPr>
        <p:txBody>
          <a:bodyPr/>
          <a:lstStyle/>
          <a:p>
            <a:r>
              <a:rPr lang="en-US" dirty="0"/>
              <a:t>The relaxation method for the Poisson problem:</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5C4FD65-F675-944D-A379-3A5FFFAEB784}"/>
                  </a:ext>
                </a:extLst>
              </p:cNvPr>
              <p:cNvSpPr>
                <a:spLocks noGrp="1"/>
              </p:cNvSpPr>
              <p:nvPr>
                <p:ph idx="1"/>
              </p:nvPr>
            </p:nvSpPr>
            <p:spPr>
              <a:xfrm>
                <a:off x="838200" y="1325562"/>
                <a:ext cx="10515600" cy="5532437"/>
              </a:xfrm>
            </p:spPr>
            <p:txBody>
              <a:bodyPr/>
              <a:lstStyle/>
              <a:p>
                <a:pPr>
                  <a:lnSpc>
                    <a:spcPct val="150000"/>
                  </a:lnSpc>
                </a:pPr>
                <a:r>
                  <a:rPr lang="en-US" dirty="0"/>
                  <a:t>Consider the Poisson equation on a 2D grid:</a:t>
                </a:r>
              </a:p>
              <a:p>
                <a:pPr marL="0" indent="0">
                  <a:lnSpc>
                    <a:spcPct val="150000"/>
                  </a:lnSpc>
                  <a:buNone/>
                </a:pPr>
                <a14:m>
                  <m:oMathPara xmlns:m="http://schemas.openxmlformats.org/officeDocument/2006/math">
                    <m:oMathParaPr>
                      <m:jc m:val="centerGroup"/>
                    </m:oMathParaPr>
                    <m:oMath xmlns:m="http://schemas.openxmlformats.org/officeDocument/2006/math">
                      <m:sSup>
                        <m:sSupPr>
                          <m:ctrlPr>
                            <a:rPr lang="en-US" i="1">
                              <a:latin typeface="Cambria Math" panose="02040503050406030204" pitchFamily="18" charset="0"/>
                            </a:rPr>
                          </m:ctrlPr>
                        </m:sSupPr>
                        <m:e>
                          <m:r>
                            <m:rPr>
                              <m:sty m:val="p"/>
                            </m:rPr>
                            <a:rPr lang="en-US">
                              <a:latin typeface="Cambria Math" panose="02040503050406030204" pitchFamily="18" charset="0"/>
                            </a:rPr>
                            <m:t>∇</m:t>
                          </m:r>
                        </m:e>
                        <m:sup>
                          <m:r>
                            <a:rPr lang="en-US" i="1">
                              <a:latin typeface="Cambria Math" panose="02040503050406030204" pitchFamily="18" charset="0"/>
                            </a:rPr>
                            <m:t>2</m:t>
                          </m:r>
                        </m:sup>
                      </m:sSup>
                      <m:sSub>
                        <m:sSubPr>
                          <m:ctrlPr>
                            <a:rPr lang="en-US" b="0" i="1" smtClean="0">
                              <a:latin typeface="Cambria Math" panose="02040503050406030204" pitchFamily="18" charset="0"/>
                            </a:rPr>
                          </m:ctrlPr>
                        </m:sSubPr>
                        <m:e>
                          <m:r>
                            <a:rPr lang="en-US" i="1">
                              <a:latin typeface="Cambria Math" panose="02040503050406030204" pitchFamily="18" charset="0"/>
                            </a:rPr>
                            <m:t>𝜙</m:t>
                          </m:r>
                        </m:e>
                        <m:sub>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𝑗</m:t>
                          </m:r>
                        </m:sub>
                      </m:sSub>
                      <m:r>
                        <a:rPr lang="en-US" i="1">
                          <a:latin typeface="Cambria Math" panose="02040503050406030204" pitchFamily="18" charset="0"/>
                        </a:rPr>
                        <m:t>=</m:t>
                      </m:r>
                      <m:sSub>
                        <m:sSubPr>
                          <m:ctrlPr>
                            <a:rPr lang="en-US" b="0" i="1" smtClean="0">
                              <a:latin typeface="Cambria Math" panose="02040503050406030204" pitchFamily="18" charset="0"/>
                            </a:rPr>
                          </m:ctrlPr>
                        </m:sSubPr>
                        <m:e>
                          <m:r>
                            <a:rPr lang="en-US" i="1">
                              <a:latin typeface="Cambria Math" panose="02040503050406030204" pitchFamily="18" charset="0"/>
                            </a:rPr>
                            <m:t>𝑓</m:t>
                          </m:r>
                        </m:e>
                        <m:sub>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𝑗</m:t>
                          </m:r>
                        </m:sub>
                      </m:sSub>
                    </m:oMath>
                  </m:oMathPara>
                </a14:m>
                <a:endParaRPr lang="en-US" dirty="0"/>
              </a:p>
              <a:p>
                <a:pPr>
                  <a:lnSpc>
                    <a:spcPct val="150000"/>
                  </a:lnSpc>
                </a:pPr>
                <a:r>
                  <a:rPr lang="en-US" dirty="0"/>
                  <a:t>A second order accurate discretization of the second derivative is:</a:t>
                </a:r>
              </a:p>
              <a:p>
                <a:pPr marL="0" indent="0">
                  <a:lnSpc>
                    <a:spcPct val="150000"/>
                  </a:lnSpc>
                  <a:buNone/>
                </a:pPr>
                <a14:m>
                  <m:oMathPara xmlns:m="http://schemas.openxmlformats.org/officeDocument/2006/math">
                    <m:oMathParaPr>
                      <m:jc m:val="centerGroup"/>
                    </m:oMathParaPr>
                    <m:oMath xmlns:m="http://schemas.openxmlformats.org/officeDocument/2006/math">
                      <m:sSup>
                        <m:sSupPr>
                          <m:ctrlPr>
                            <a:rPr lang="en-US" i="1">
                              <a:latin typeface="Cambria Math" panose="02040503050406030204" pitchFamily="18" charset="0"/>
                            </a:rPr>
                          </m:ctrlPr>
                        </m:sSupPr>
                        <m:e>
                          <m:r>
                            <m:rPr>
                              <m:sty m:val="p"/>
                            </m:rPr>
                            <a:rPr lang="en-US">
                              <a:latin typeface="Cambria Math" panose="02040503050406030204" pitchFamily="18" charset="0"/>
                            </a:rPr>
                            <m:t>∇</m:t>
                          </m:r>
                        </m:e>
                        <m:sup>
                          <m:r>
                            <a:rPr lang="en-US" i="1">
                              <a:latin typeface="Cambria Math" panose="02040503050406030204" pitchFamily="18" charset="0"/>
                            </a:rPr>
                            <m:t>2</m:t>
                          </m:r>
                        </m:sup>
                      </m:sSup>
                      <m:sSub>
                        <m:sSubPr>
                          <m:ctrlPr>
                            <a:rPr lang="en-US" i="1">
                              <a:latin typeface="Cambria Math" panose="02040503050406030204" pitchFamily="18" charset="0"/>
                            </a:rPr>
                          </m:ctrlPr>
                        </m:sSubPr>
                        <m:e>
                          <m:r>
                            <a:rPr lang="en-US" i="1">
                              <a:latin typeface="Cambria Math" panose="02040503050406030204" pitchFamily="18" charset="0"/>
                            </a:rPr>
                            <m:t>𝜙</m:t>
                          </m:r>
                        </m:e>
                        <m:sub>
                          <m:r>
                            <a:rPr lang="en-US" i="1">
                              <a:latin typeface="Cambria Math" panose="02040503050406030204" pitchFamily="18" charset="0"/>
                            </a:rPr>
                            <m:t>𝑖</m:t>
                          </m:r>
                          <m:r>
                            <a:rPr lang="en-US" i="1">
                              <a:latin typeface="Cambria Math" panose="02040503050406030204" pitchFamily="18" charset="0"/>
                            </a:rPr>
                            <m:t>,</m:t>
                          </m:r>
                          <m:r>
                            <a:rPr lang="en-US" i="1">
                              <a:latin typeface="Cambria Math" panose="02040503050406030204" pitchFamily="18" charset="0"/>
                            </a:rPr>
                            <m:t>𝑗</m:t>
                          </m:r>
                        </m:sub>
                      </m:sSub>
                      <m:r>
                        <a:rPr lang="en-US" i="1">
                          <a:latin typeface="Cambria Math" panose="02040503050406030204" pitchFamily="18" charset="0"/>
                        </a:rPr>
                        <m:t>=</m:t>
                      </m:r>
                      <m:f>
                        <m:fPr>
                          <m:ctrlPr>
                            <a:rPr lang="en-US" i="1" smtClean="0">
                              <a:latin typeface="Cambria Math" panose="02040503050406030204" pitchFamily="18" charset="0"/>
                            </a:rPr>
                          </m:ctrlPr>
                        </m:fPr>
                        <m:num>
                          <m:sSub>
                            <m:sSubPr>
                              <m:ctrlPr>
                                <a:rPr lang="en-US" b="0" i="1" smtClean="0">
                                  <a:latin typeface="Cambria Math" panose="02040503050406030204" pitchFamily="18" charset="0"/>
                                </a:rPr>
                              </m:ctrlPr>
                            </m:sSubPr>
                            <m:e>
                              <m:r>
                                <a:rPr lang="en-US" b="0" i="1" smtClean="0">
                                  <a:latin typeface="Cambria Math" panose="02040503050406030204" pitchFamily="18" charset="0"/>
                                </a:rPr>
                                <m:t>𝜙</m:t>
                              </m:r>
                            </m:e>
                            <m:sub>
                              <m:r>
                                <a:rPr lang="en-US" b="0" i="1" smtClean="0">
                                  <a:latin typeface="Cambria Math" panose="02040503050406030204" pitchFamily="18" charset="0"/>
                                </a:rPr>
                                <m:t>𝑖</m:t>
                              </m:r>
                              <m:r>
                                <a:rPr lang="en-US" b="0" i="1" smtClean="0">
                                  <a:latin typeface="Cambria Math" panose="02040503050406030204" pitchFamily="18" charset="0"/>
                                </a:rPr>
                                <m:t>+1,</m:t>
                              </m:r>
                              <m:r>
                                <a:rPr lang="en-US" b="0" i="1" smtClean="0">
                                  <a:latin typeface="Cambria Math" panose="02040503050406030204" pitchFamily="18" charset="0"/>
                                </a:rPr>
                                <m:t>𝑗</m:t>
                              </m:r>
                            </m:sub>
                          </m:sSub>
                          <m:r>
                            <a:rPr lang="en-US" b="0" i="1" smtClean="0">
                              <a:latin typeface="Cambria Math" panose="02040503050406030204" pitchFamily="18" charset="0"/>
                            </a:rPr>
                            <m:t>−2</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𝜙</m:t>
                              </m:r>
                            </m:e>
                            <m:sub>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𝑗</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𝜙</m:t>
                              </m:r>
                            </m:e>
                            <m:sub>
                              <m:r>
                                <a:rPr lang="en-US" b="0" i="1" smtClean="0">
                                  <a:latin typeface="Cambria Math" panose="02040503050406030204" pitchFamily="18" charset="0"/>
                                </a:rPr>
                                <m:t>𝑖</m:t>
                              </m:r>
                              <m:r>
                                <a:rPr lang="en-US" b="0" i="1" smtClean="0">
                                  <a:latin typeface="Cambria Math" panose="02040503050406030204" pitchFamily="18" charset="0"/>
                                </a:rPr>
                                <m:t>−1,</m:t>
                              </m:r>
                              <m:r>
                                <a:rPr lang="en-US" b="0" i="1" smtClean="0">
                                  <a:latin typeface="Cambria Math" panose="02040503050406030204" pitchFamily="18" charset="0"/>
                                </a:rPr>
                                <m:t>𝑗</m:t>
                              </m:r>
                            </m:sub>
                          </m:sSub>
                        </m:num>
                        <m:den>
                          <m:r>
                            <m:rPr>
                              <m:sty m:val="p"/>
                            </m:rPr>
                            <a:rPr lang="en-US" b="0" i="0" smtClean="0">
                              <a:latin typeface="Cambria Math" panose="02040503050406030204" pitchFamily="18" charset="0"/>
                            </a:rPr>
                            <m:t>Δ</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𝑥</m:t>
                              </m:r>
                            </m:e>
                            <m:sup>
                              <m:r>
                                <a:rPr lang="en-US" b="0" i="1" smtClean="0">
                                  <a:latin typeface="Cambria Math" panose="02040503050406030204" pitchFamily="18" charset="0"/>
                                </a:rPr>
                                <m:t>2</m:t>
                              </m:r>
                            </m:sup>
                          </m:sSup>
                        </m:den>
                      </m:f>
                      <m:r>
                        <a:rPr lang="en-US" b="0" i="1" smtClean="0">
                          <a:latin typeface="Cambria Math" panose="02040503050406030204" pitchFamily="18" charset="0"/>
                        </a:rPr>
                        <m:t>+</m:t>
                      </m:r>
                      <m:f>
                        <m:fPr>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𝜙</m:t>
                              </m:r>
                            </m:e>
                            <m:sub>
                              <m:r>
                                <a:rPr lang="en-US" i="1">
                                  <a:latin typeface="Cambria Math" panose="02040503050406030204" pitchFamily="18" charset="0"/>
                                </a:rPr>
                                <m:t>𝑖</m:t>
                              </m:r>
                              <m:r>
                                <a:rPr lang="en-US" i="1">
                                  <a:latin typeface="Cambria Math" panose="02040503050406030204" pitchFamily="18" charset="0"/>
                                </a:rPr>
                                <m:t>,</m:t>
                              </m:r>
                              <m:r>
                                <a:rPr lang="en-US" i="1">
                                  <a:latin typeface="Cambria Math" panose="02040503050406030204" pitchFamily="18" charset="0"/>
                                </a:rPr>
                                <m:t>𝑗</m:t>
                              </m:r>
                              <m:r>
                                <a:rPr lang="en-US" b="0" i="1" smtClean="0">
                                  <a:latin typeface="Cambria Math" panose="02040503050406030204" pitchFamily="18" charset="0"/>
                                </a:rPr>
                                <m:t>+1</m:t>
                              </m:r>
                            </m:sub>
                          </m:sSub>
                          <m:r>
                            <a:rPr lang="en-US" i="1">
                              <a:latin typeface="Cambria Math" panose="02040503050406030204" pitchFamily="18" charset="0"/>
                            </a:rPr>
                            <m:t>−2</m:t>
                          </m:r>
                          <m:sSub>
                            <m:sSubPr>
                              <m:ctrlPr>
                                <a:rPr lang="en-US" i="1">
                                  <a:latin typeface="Cambria Math" panose="02040503050406030204" pitchFamily="18" charset="0"/>
                                </a:rPr>
                              </m:ctrlPr>
                            </m:sSubPr>
                            <m:e>
                              <m:r>
                                <a:rPr lang="en-US" i="1">
                                  <a:latin typeface="Cambria Math" panose="02040503050406030204" pitchFamily="18" charset="0"/>
                                </a:rPr>
                                <m:t>𝜙</m:t>
                              </m:r>
                            </m:e>
                            <m:sub>
                              <m:r>
                                <a:rPr lang="en-US" i="1">
                                  <a:latin typeface="Cambria Math" panose="02040503050406030204" pitchFamily="18" charset="0"/>
                                </a:rPr>
                                <m:t>𝑖</m:t>
                              </m:r>
                              <m:r>
                                <a:rPr lang="en-US" i="1">
                                  <a:latin typeface="Cambria Math" panose="02040503050406030204" pitchFamily="18" charset="0"/>
                                </a:rPr>
                                <m:t>,</m:t>
                              </m:r>
                              <m:r>
                                <a:rPr lang="en-US" i="1">
                                  <a:latin typeface="Cambria Math" panose="02040503050406030204" pitchFamily="18" charset="0"/>
                                </a:rPr>
                                <m:t>𝑗</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𝜙</m:t>
                              </m:r>
                            </m:e>
                            <m:sub>
                              <m:r>
                                <a:rPr lang="en-US" i="1">
                                  <a:latin typeface="Cambria Math" panose="02040503050406030204" pitchFamily="18" charset="0"/>
                                </a:rPr>
                                <m:t>𝑖</m:t>
                              </m:r>
                              <m:r>
                                <a:rPr lang="en-US" i="1">
                                  <a:latin typeface="Cambria Math" panose="02040503050406030204" pitchFamily="18" charset="0"/>
                                </a:rPr>
                                <m:t>,</m:t>
                              </m:r>
                              <m:r>
                                <a:rPr lang="en-US" i="1">
                                  <a:latin typeface="Cambria Math" panose="02040503050406030204" pitchFamily="18" charset="0"/>
                                </a:rPr>
                                <m:t>𝑗</m:t>
                              </m:r>
                              <m:r>
                                <a:rPr lang="en-US" b="0" i="1" smtClean="0">
                                  <a:latin typeface="Cambria Math" panose="02040503050406030204" pitchFamily="18" charset="0"/>
                                </a:rPr>
                                <m:t>−1</m:t>
                              </m:r>
                            </m:sub>
                          </m:sSub>
                        </m:num>
                        <m:den>
                          <m:r>
                            <m:rPr>
                              <m:sty m:val="p"/>
                            </m:rPr>
                            <a:rPr lang="en-US">
                              <a:latin typeface="Cambria Math" panose="02040503050406030204" pitchFamily="18" charset="0"/>
                            </a:rPr>
                            <m:t>Δ</m:t>
                          </m:r>
                          <m:sSup>
                            <m:sSupPr>
                              <m:ctrlPr>
                                <a:rPr lang="en-US" i="1">
                                  <a:latin typeface="Cambria Math" panose="02040503050406030204" pitchFamily="18" charset="0"/>
                                </a:rPr>
                              </m:ctrlPr>
                            </m:sSupPr>
                            <m:e>
                              <m:r>
                                <a:rPr lang="en-US" b="0" i="1" smtClean="0">
                                  <a:latin typeface="Cambria Math" panose="02040503050406030204" pitchFamily="18" charset="0"/>
                                </a:rPr>
                                <m:t>𝑦</m:t>
                              </m:r>
                            </m:e>
                            <m:sup>
                              <m:r>
                                <a:rPr lang="en-US" i="1">
                                  <a:latin typeface="Cambria Math" panose="02040503050406030204" pitchFamily="18" charset="0"/>
                                </a:rPr>
                                <m:t>2</m:t>
                              </m:r>
                            </m:sup>
                          </m:sSup>
                        </m:den>
                      </m:f>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𝑓</m:t>
                          </m:r>
                        </m:e>
                        <m:sub>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𝑗</m:t>
                          </m:r>
                        </m:sub>
                      </m:sSub>
                    </m:oMath>
                  </m:oMathPara>
                </a14:m>
                <a:endParaRPr lang="en-US" dirty="0"/>
              </a:p>
              <a:p>
                <a:pPr>
                  <a:lnSpc>
                    <a:spcPct val="100000"/>
                  </a:lnSpc>
                </a:pPr>
                <a:r>
                  <a:rPr lang="en-US" dirty="0"/>
                  <a:t>For each zone </a:t>
                </a:r>
                <a14:m>
                  <m:oMath xmlns:m="http://schemas.openxmlformats.org/officeDocument/2006/math">
                    <m:r>
                      <a:rPr lang="en-US" i="1" dirty="0" smtClean="0">
                        <a:latin typeface="Cambria Math" panose="02040503050406030204" pitchFamily="18" charset="0"/>
                      </a:rPr>
                      <m:t>(</m:t>
                    </m:r>
                    <m:r>
                      <a:rPr lang="en-US" i="1" dirty="0" smtClean="0">
                        <a:latin typeface="Cambria Math" panose="02040503050406030204" pitchFamily="18" charset="0"/>
                      </a:rPr>
                      <m:t>𝑖</m:t>
                    </m:r>
                    <m:r>
                      <a:rPr lang="en-US" i="1" dirty="0" smtClean="0">
                        <a:latin typeface="Cambria Math" panose="02040503050406030204" pitchFamily="18" charset="0"/>
                      </a:rPr>
                      <m:t>, </m:t>
                    </m:r>
                    <m:r>
                      <a:rPr lang="en-US" i="1" dirty="0" smtClean="0">
                        <a:latin typeface="Cambria Math" panose="02040503050406030204" pitchFamily="18" charset="0"/>
                      </a:rPr>
                      <m:t>𝑗</m:t>
                    </m:r>
                    <m:r>
                      <a:rPr lang="en-US" i="1" dirty="0" smtClean="0">
                        <a:latin typeface="Cambria Math" panose="02040503050406030204" pitchFamily="18" charset="0"/>
                      </a:rPr>
                      <m:t>)</m:t>
                    </m:r>
                  </m:oMath>
                </a14:m>
                <a:r>
                  <a:rPr lang="en-US" dirty="0"/>
                  <a:t>, we couple in the zones </a:t>
                </a:r>
                <a14:m>
                  <m:oMath xmlns:m="http://schemas.openxmlformats.org/officeDocument/2006/math">
                    <m:r>
                      <a:rPr lang="en-US" i="1" dirty="0" smtClean="0">
                        <a:latin typeface="Cambria Math" panose="02040503050406030204" pitchFamily="18" charset="0"/>
                      </a:rPr>
                      <m:t>±1</m:t>
                    </m:r>
                  </m:oMath>
                </a14:m>
                <a:r>
                  <a:rPr lang="en-US" dirty="0"/>
                  <a:t> in </a:t>
                </a:r>
                <a14:m>
                  <m:oMath xmlns:m="http://schemas.openxmlformats.org/officeDocument/2006/math">
                    <m:r>
                      <a:rPr lang="en-US" i="1" dirty="0" smtClean="0">
                        <a:latin typeface="Cambria Math" panose="02040503050406030204" pitchFamily="18" charset="0"/>
                      </a:rPr>
                      <m:t>𝑥</m:t>
                    </m:r>
                  </m:oMath>
                </a14:m>
                <a:r>
                  <a:rPr lang="en-US" i="1" dirty="0"/>
                  <a:t> </a:t>
                </a:r>
                <a:r>
                  <a:rPr lang="en-US" dirty="0"/>
                  <a:t>and </a:t>
                </a:r>
                <a14:m>
                  <m:oMath xmlns:m="http://schemas.openxmlformats.org/officeDocument/2006/math">
                    <m:r>
                      <a:rPr lang="en-US" i="1" dirty="0" smtClean="0">
                        <a:latin typeface="Cambria Math" panose="02040503050406030204" pitchFamily="18" charset="0"/>
                      </a:rPr>
                      <m:t>±1</m:t>
                    </m:r>
                  </m:oMath>
                </a14:m>
                <a:r>
                  <a:rPr lang="en-US" dirty="0"/>
                  <a:t> in </a:t>
                </a:r>
                <a14:m>
                  <m:oMath xmlns:m="http://schemas.openxmlformats.org/officeDocument/2006/math">
                    <m:r>
                      <a:rPr lang="en-US" i="1" dirty="0" smtClean="0">
                        <a:latin typeface="Cambria Math" panose="02040503050406030204" pitchFamily="18" charset="0"/>
                      </a:rPr>
                      <m:t>𝑦</m:t>
                    </m:r>
                  </m:oMath>
                </a14:m>
                <a:r>
                  <a:rPr lang="en-US" dirty="0"/>
                  <a:t>. </a:t>
                </a:r>
              </a:p>
              <a:p>
                <a:pPr>
                  <a:lnSpc>
                    <a:spcPct val="100000"/>
                  </a:lnSpc>
                </a:pPr>
                <a:r>
                  <a:rPr lang="en-US" dirty="0"/>
                  <a:t>For the moment, consider the case where </a:t>
                </a:r>
                <a14:m>
                  <m:oMath xmlns:m="http://schemas.openxmlformats.org/officeDocument/2006/math">
                    <m:r>
                      <a:rPr lang="en-US" i="1" dirty="0" smtClean="0">
                        <a:latin typeface="Cambria Math" panose="02040503050406030204" pitchFamily="18" charset="0"/>
                      </a:rPr>
                      <m:t>∆</m:t>
                    </m:r>
                    <m:r>
                      <a:rPr lang="en-US" i="1" dirty="0" smtClean="0">
                        <a:latin typeface="Cambria Math" panose="02040503050406030204" pitchFamily="18" charset="0"/>
                      </a:rPr>
                      <m:t>𝑥</m:t>
                    </m:r>
                    <m:r>
                      <a:rPr lang="en-US" i="1" dirty="0" smtClean="0">
                        <a:latin typeface="Cambria Math" panose="02040503050406030204" pitchFamily="18" charset="0"/>
                      </a:rPr>
                      <m:t> = ∆</m:t>
                    </m:r>
                    <m:r>
                      <a:rPr lang="en-US" i="1" dirty="0" smtClean="0">
                        <a:latin typeface="Cambria Math" panose="02040503050406030204" pitchFamily="18" charset="0"/>
                      </a:rPr>
                      <m:t>𝑦</m:t>
                    </m:r>
                  </m:oMath>
                </a14:m>
                <a:endParaRPr lang="en-US" dirty="0"/>
              </a:p>
            </p:txBody>
          </p:sp>
        </mc:Choice>
        <mc:Fallback xmlns="">
          <p:sp>
            <p:nvSpPr>
              <p:cNvPr id="3" name="Content Placeholder 2">
                <a:extLst>
                  <a:ext uri="{FF2B5EF4-FFF2-40B4-BE49-F238E27FC236}">
                    <a16:creationId xmlns:a16="http://schemas.microsoft.com/office/drawing/2014/main" id="{15C4FD65-F675-944D-A379-3A5FFFAEB784}"/>
                  </a:ext>
                </a:extLst>
              </p:cNvPr>
              <p:cNvSpPr>
                <a:spLocks noGrp="1" noRot="1" noChangeAspect="1" noMove="1" noResize="1" noEditPoints="1" noAdjustHandles="1" noChangeArrowheads="1" noChangeShapeType="1" noTextEdit="1"/>
              </p:cNvSpPr>
              <p:nvPr>
                <p:ph idx="1"/>
              </p:nvPr>
            </p:nvSpPr>
            <p:spPr>
              <a:xfrm>
                <a:off x="838200" y="1325562"/>
                <a:ext cx="10515600" cy="5532437"/>
              </a:xfrm>
              <a:blipFill>
                <a:blip r:embed="rId3"/>
                <a:stretch>
                  <a:fillRect l="-965"/>
                </a:stretch>
              </a:blipFill>
            </p:spPr>
            <p:txBody>
              <a:bodyPr/>
              <a:lstStyle/>
              <a:p>
                <a:r>
                  <a:rPr lang="en-US">
                    <a:noFill/>
                  </a:rPr>
                  <a:t> </a:t>
                </a:r>
              </a:p>
            </p:txBody>
          </p:sp>
        </mc:Fallback>
      </mc:AlternateContent>
    </p:spTree>
    <p:extLst>
      <p:ext uri="{BB962C8B-B14F-4D97-AF65-F5344CB8AC3E}">
        <p14:creationId xmlns:p14="http://schemas.microsoft.com/office/powerpoint/2010/main" val="78145376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F50FDC97-309E-244D-A79E-16046EA31BE9}"/>
              </a:ext>
            </a:extLst>
          </p:cNvPr>
          <p:cNvPicPr>
            <a:picLocks noChangeAspect="1"/>
          </p:cNvPicPr>
          <p:nvPr/>
        </p:nvPicPr>
        <p:blipFill rotWithShape="1">
          <a:blip r:embed="rId2"/>
          <a:srcRect l="3558" r="5335"/>
          <a:stretch/>
        </p:blipFill>
        <p:spPr>
          <a:xfrm>
            <a:off x="2282707" y="382001"/>
            <a:ext cx="6123119" cy="6232854"/>
          </a:xfrm>
          <a:prstGeom prst="rect">
            <a:avLst/>
          </a:prstGeom>
        </p:spPr>
      </p:pic>
      <p:sp>
        <p:nvSpPr>
          <p:cNvPr id="2" name="Rectangle 1">
            <a:extLst>
              <a:ext uri="{FF2B5EF4-FFF2-40B4-BE49-F238E27FC236}">
                <a16:creationId xmlns:a16="http://schemas.microsoft.com/office/drawing/2014/main" id="{F14AEAC3-F8C3-9949-828A-36FDD49BF9B1}"/>
              </a:ext>
            </a:extLst>
          </p:cNvPr>
          <p:cNvSpPr/>
          <p:nvPr/>
        </p:nvSpPr>
        <p:spPr>
          <a:xfrm>
            <a:off x="4665306" y="2631231"/>
            <a:ext cx="1604867" cy="1623528"/>
          </a:xfrm>
          <a:prstGeom prst="rect">
            <a:avLst/>
          </a:prstGeom>
          <a:solidFill>
            <a:schemeClr val="bg1">
              <a:lumMod val="8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3" name="Rectangle 2">
                <a:extLst>
                  <a:ext uri="{FF2B5EF4-FFF2-40B4-BE49-F238E27FC236}">
                    <a16:creationId xmlns:a16="http://schemas.microsoft.com/office/drawing/2014/main" id="{F83DD759-612A-AD4D-83E3-A461708EE52D}"/>
                  </a:ext>
                </a:extLst>
              </p:cNvPr>
              <p:cNvSpPr/>
              <p:nvPr/>
            </p:nvSpPr>
            <p:spPr>
              <a:xfrm>
                <a:off x="5177964" y="3302605"/>
                <a:ext cx="588879" cy="391646"/>
              </a:xfrm>
              <a:prstGeom prst="rect">
                <a:avLst/>
              </a:prstGeom>
              <a:solidFill>
                <a:schemeClr val="bg1">
                  <a:lumMod val="85000"/>
                </a:schemeClr>
              </a:solidFill>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𝜙</m:t>
                          </m:r>
                        </m:e>
                        <m:sub>
                          <m:r>
                            <a:rPr lang="en-US" i="1">
                              <a:latin typeface="Cambria Math" panose="02040503050406030204" pitchFamily="18" charset="0"/>
                            </a:rPr>
                            <m:t>𝑖</m:t>
                          </m:r>
                          <m:r>
                            <a:rPr lang="en-US" i="1">
                              <a:latin typeface="Cambria Math" panose="02040503050406030204" pitchFamily="18" charset="0"/>
                            </a:rPr>
                            <m:t>,</m:t>
                          </m:r>
                          <m:r>
                            <a:rPr lang="en-US" i="1">
                              <a:latin typeface="Cambria Math" panose="02040503050406030204" pitchFamily="18" charset="0"/>
                            </a:rPr>
                            <m:t>𝑗</m:t>
                          </m:r>
                        </m:sub>
                      </m:sSub>
                    </m:oMath>
                  </m:oMathPara>
                </a14:m>
                <a:endParaRPr lang="en-US" dirty="0"/>
              </a:p>
            </p:txBody>
          </p:sp>
        </mc:Choice>
        <mc:Fallback xmlns="">
          <p:sp>
            <p:nvSpPr>
              <p:cNvPr id="3" name="Rectangle 2">
                <a:extLst>
                  <a:ext uri="{FF2B5EF4-FFF2-40B4-BE49-F238E27FC236}">
                    <a16:creationId xmlns:a16="http://schemas.microsoft.com/office/drawing/2014/main" id="{F83DD759-612A-AD4D-83E3-A461708EE52D}"/>
                  </a:ext>
                </a:extLst>
              </p:cNvPr>
              <p:cNvSpPr>
                <a:spLocks noRot="1" noChangeAspect="1" noMove="1" noResize="1" noEditPoints="1" noAdjustHandles="1" noChangeArrowheads="1" noChangeShapeType="1" noTextEdit="1"/>
              </p:cNvSpPr>
              <p:nvPr/>
            </p:nvSpPr>
            <p:spPr>
              <a:xfrm>
                <a:off x="5177964" y="3302605"/>
                <a:ext cx="588879" cy="391646"/>
              </a:xfrm>
              <a:prstGeom prst="rect">
                <a:avLst/>
              </a:prstGeom>
              <a:blipFill>
                <a:blip r:embed="rId3"/>
                <a:stretch>
                  <a:fillRect b="-625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Rectangle 6">
                <a:extLst>
                  <a:ext uri="{FF2B5EF4-FFF2-40B4-BE49-F238E27FC236}">
                    <a16:creationId xmlns:a16="http://schemas.microsoft.com/office/drawing/2014/main" id="{1A9EE74C-EB98-0B40-AF4D-B6D95DAE2697}"/>
                  </a:ext>
                </a:extLst>
              </p:cNvPr>
              <p:cNvSpPr/>
              <p:nvPr/>
            </p:nvSpPr>
            <p:spPr>
              <a:xfrm>
                <a:off x="6810821" y="3302605"/>
                <a:ext cx="808491" cy="391646"/>
              </a:xfrm>
              <a:prstGeom prst="rect">
                <a:avLst/>
              </a:prstGeom>
              <a:solidFill>
                <a:schemeClr val="bg1">
                  <a:lumMod val="85000"/>
                </a:schemeClr>
              </a:solidFill>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i="1">
                              <a:latin typeface="Cambria Math" panose="02040503050406030204" pitchFamily="18" charset="0"/>
                            </a:rPr>
                            <m:t>𝜙</m:t>
                          </m:r>
                        </m:e>
                        <m:sub>
                          <m:r>
                            <a:rPr lang="en-US" i="1">
                              <a:latin typeface="Cambria Math" panose="02040503050406030204" pitchFamily="18" charset="0"/>
                            </a:rPr>
                            <m:t>𝑖</m:t>
                          </m:r>
                          <m:r>
                            <a:rPr lang="en-US" b="0" i="1" smtClean="0">
                              <a:latin typeface="Cambria Math" panose="02040503050406030204" pitchFamily="18" charset="0"/>
                            </a:rPr>
                            <m:t>+1</m:t>
                          </m:r>
                          <m:r>
                            <a:rPr lang="en-US" i="1">
                              <a:latin typeface="Cambria Math" panose="02040503050406030204" pitchFamily="18" charset="0"/>
                            </a:rPr>
                            <m:t>,</m:t>
                          </m:r>
                          <m:r>
                            <a:rPr lang="en-US" i="1">
                              <a:latin typeface="Cambria Math" panose="02040503050406030204" pitchFamily="18" charset="0"/>
                            </a:rPr>
                            <m:t>𝑗</m:t>
                          </m:r>
                        </m:sub>
                      </m:sSub>
                    </m:oMath>
                  </m:oMathPara>
                </a14:m>
                <a:endParaRPr lang="en-US" dirty="0"/>
              </a:p>
            </p:txBody>
          </p:sp>
        </mc:Choice>
        <mc:Fallback xmlns="">
          <p:sp>
            <p:nvSpPr>
              <p:cNvPr id="7" name="Rectangle 6">
                <a:extLst>
                  <a:ext uri="{FF2B5EF4-FFF2-40B4-BE49-F238E27FC236}">
                    <a16:creationId xmlns:a16="http://schemas.microsoft.com/office/drawing/2014/main" id="{1A9EE74C-EB98-0B40-AF4D-B6D95DAE2697}"/>
                  </a:ext>
                </a:extLst>
              </p:cNvPr>
              <p:cNvSpPr>
                <a:spLocks noRot="1" noChangeAspect="1" noMove="1" noResize="1" noEditPoints="1" noAdjustHandles="1" noChangeArrowheads="1" noChangeShapeType="1" noTextEdit="1"/>
              </p:cNvSpPr>
              <p:nvPr/>
            </p:nvSpPr>
            <p:spPr>
              <a:xfrm>
                <a:off x="6810821" y="3302605"/>
                <a:ext cx="808491" cy="391646"/>
              </a:xfrm>
              <a:prstGeom prst="rect">
                <a:avLst/>
              </a:prstGeom>
              <a:blipFill>
                <a:blip r:embed="rId4"/>
                <a:stretch>
                  <a:fillRect b="-625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Rectangle 7">
                <a:extLst>
                  <a:ext uri="{FF2B5EF4-FFF2-40B4-BE49-F238E27FC236}">
                    <a16:creationId xmlns:a16="http://schemas.microsoft.com/office/drawing/2014/main" id="{661C6F2F-7250-E44A-A974-F912D26CCACD}"/>
                  </a:ext>
                </a:extLst>
              </p:cNvPr>
              <p:cNvSpPr/>
              <p:nvPr/>
            </p:nvSpPr>
            <p:spPr>
              <a:xfrm>
                <a:off x="3385354" y="3302605"/>
                <a:ext cx="808491" cy="391646"/>
              </a:xfrm>
              <a:prstGeom prst="rect">
                <a:avLst/>
              </a:prstGeom>
              <a:solidFill>
                <a:schemeClr val="bg1">
                  <a:lumMod val="85000"/>
                </a:schemeClr>
              </a:solidFill>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i="1">
                              <a:latin typeface="Cambria Math" panose="02040503050406030204" pitchFamily="18" charset="0"/>
                            </a:rPr>
                            <m:t>𝜙</m:t>
                          </m:r>
                        </m:e>
                        <m:sub>
                          <m:r>
                            <a:rPr lang="en-US" i="1">
                              <a:latin typeface="Cambria Math" panose="02040503050406030204" pitchFamily="18" charset="0"/>
                            </a:rPr>
                            <m:t>𝑖</m:t>
                          </m:r>
                          <m:r>
                            <a:rPr lang="en-US" b="0" i="1" smtClean="0">
                              <a:latin typeface="Cambria Math" panose="02040503050406030204" pitchFamily="18" charset="0"/>
                            </a:rPr>
                            <m:t>−1</m:t>
                          </m:r>
                          <m:r>
                            <a:rPr lang="en-US" i="1">
                              <a:latin typeface="Cambria Math" panose="02040503050406030204" pitchFamily="18" charset="0"/>
                            </a:rPr>
                            <m:t>,</m:t>
                          </m:r>
                          <m:r>
                            <a:rPr lang="en-US" i="1">
                              <a:latin typeface="Cambria Math" panose="02040503050406030204" pitchFamily="18" charset="0"/>
                            </a:rPr>
                            <m:t>𝑗</m:t>
                          </m:r>
                        </m:sub>
                      </m:sSub>
                    </m:oMath>
                  </m:oMathPara>
                </a14:m>
                <a:endParaRPr lang="en-US" dirty="0"/>
              </a:p>
            </p:txBody>
          </p:sp>
        </mc:Choice>
        <mc:Fallback xmlns="">
          <p:sp>
            <p:nvSpPr>
              <p:cNvPr id="8" name="Rectangle 7">
                <a:extLst>
                  <a:ext uri="{FF2B5EF4-FFF2-40B4-BE49-F238E27FC236}">
                    <a16:creationId xmlns:a16="http://schemas.microsoft.com/office/drawing/2014/main" id="{661C6F2F-7250-E44A-A974-F912D26CCACD}"/>
                  </a:ext>
                </a:extLst>
              </p:cNvPr>
              <p:cNvSpPr>
                <a:spLocks noRot="1" noChangeAspect="1" noMove="1" noResize="1" noEditPoints="1" noAdjustHandles="1" noChangeArrowheads="1" noChangeShapeType="1" noTextEdit="1"/>
              </p:cNvSpPr>
              <p:nvPr/>
            </p:nvSpPr>
            <p:spPr>
              <a:xfrm>
                <a:off x="3385354" y="3302605"/>
                <a:ext cx="808491" cy="391646"/>
              </a:xfrm>
              <a:prstGeom prst="rect">
                <a:avLst/>
              </a:prstGeom>
              <a:blipFill>
                <a:blip r:embed="rId5"/>
                <a:stretch>
                  <a:fillRect b="-625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Rectangle 8">
                <a:extLst>
                  <a:ext uri="{FF2B5EF4-FFF2-40B4-BE49-F238E27FC236}">
                    <a16:creationId xmlns:a16="http://schemas.microsoft.com/office/drawing/2014/main" id="{E8122F40-C799-434D-9B0C-BCC38F730242}"/>
                  </a:ext>
                </a:extLst>
              </p:cNvPr>
              <p:cNvSpPr/>
              <p:nvPr/>
            </p:nvSpPr>
            <p:spPr>
              <a:xfrm>
                <a:off x="5068157" y="1560891"/>
                <a:ext cx="808491" cy="391646"/>
              </a:xfrm>
              <a:prstGeom prst="rect">
                <a:avLst/>
              </a:prstGeom>
              <a:solidFill>
                <a:schemeClr val="bg1">
                  <a:lumMod val="85000"/>
                </a:schemeClr>
              </a:solidFill>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i="1">
                              <a:latin typeface="Cambria Math" panose="02040503050406030204" pitchFamily="18" charset="0"/>
                            </a:rPr>
                            <m:t>𝜙</m:t>
                          </m:r>
                        </m:e>
                        <m:sub>
                          <m:r>
                            <a:rPr lang="en-US" i="1">
                              <a:latin typeface="Cambria Math" panose="02040503050406030204" pitchFamily="18" charset="0"/>
                            </a:rPr>
                            <m:t>𝑖</m:t>
                          </m:r>
                          <m:r>
                            <a:rPr lang="en-US" i="1">
                              <a:latin typeface="Cambria Math" panose="02040503050406030204" pitchFamily="18" charset="0"/>
                            </a:rPr>
                            <m:t>,</m:t>
                          </m:r>
                          <m:r>
                            <a:rPr lang="en-US" i="1">
                              <a:latin typeface="Cambria Math" panose="02040503050406030204" pitchFamily="18" charset="0"/>
                            </a:rPr>
                            <m:t>𝑗</m:t>
                          </m:r>
                          <m:r>
                            <a:rPr lang="en-US" b="0" i="1" smtClean="0">
                              <a:latin typeface="Cambria Math" panose="02040503050406030204" pitchFamily="18" charset="0"/>
                            </a:rPr>
                            <m:t>+1</m:t>
                          </m:r>
                        </m:sub>
                      </m:sSub>
                    </m:oMath>
                  </m:oMathPara>
                </a14:m>
                <a:endParaRPr lang="en-US" dirty="0"/>
              </a:p>
            </p:txBody>
          </p:sp>
        </mc:Choice>
        <mc:Fallback xmlns="">
          <p:sp>
            <p:nvSpPr>
              <p:cNvPr id="9" name="Rectangle 8">
                <a:extLst>
                  <a:ext uri="{FF2B5EF4-FFF2-40B4-BE49-F238E27FC236}">
                    <a16:creationId xmlns:a16="http://schemas.microsoft.com/office/drawing/2014/main" id="{E8122F40-C799-434D-9B0C-BCC38F730242}"/>
                  </a:ext>
                </a:extLst>
              </p:cNvPr>
              <p:cNvSpPr>
                <a:spLocks noRot="1" noChangeAspect="1" noMove="1" noResize="1" noEditPoints="1" noAdjustHandles="1" noChangeArrowheads="1" noChangeShapeType="1" noTextEdit="1"/>
              </p:cNvSpPr>
              <p:nvPr/>
            </p:nvSpPr>
            <p:spPr>
              <a:xfrm>
                <a:off x="5068157" y="1560891"/>
                <a:ext cx="808491" cy="391646"/>
              </a:xfrm>
              <a:prstGeom prst="rect">
                <a:avLst/>
              </a:prstGeom>
              <a:blipFill>
                <a:blip r:embed="rId6"/>
                <a:stretch>
                  <a:fillRect b="-625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Rectangle 9">
                <a:extLst>
                  <a:ext uri="{FF2B5EF4-FFF2-40B4-BE49-F238E27FC236}">
                    <a16:creationId xmlns:a16="http://schemas.microsoft.com/office/drawing/2014/main" id="{D78607A4-505C-4544-87C2-41A8CFDC3EB4}"/>
                  </a:ext>
                </a:extLst>
              </p:cNvPr>
              <p:cNvSpPr/>
              <p:nvPr/>
            </p:nvSpPr>
            <p:spPr>
              <a:xfrm>
                <a:off x="5068157" y="4891803"/>
                <a:ext cx="808491" cy="391646"/>
              </a:xfrm>
              <a:prstGeom prst="rect">
                <a:avLst/>
              </a:prstGeom>
              <a:solidFill>
                <a:schemeClr val="bg1">
                  <a:lumMod val="85000"/>
                </a:schemeClr>
              </a:solidFill>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i="1">
                              <a:latin typeface="Cambria Math" panose="02040503050406030204" pitchFamily="18" charset="0"/>
                            </a:rPr>
                            <m:t>𝜙</m:t>
                          </m:r>
                        </m:e>
                        <m:sub>
                          <m:r>
                            <a:rPr lang="en-US" i="1">
                              <a:latin typeface="Cambria Math" panose="02040503050406030204" pitchFamily="18" charset="0"/>
                            </a:rPr>
                            <m:t>𝑖</m:t>
                          </m:r>
                          <m:r>
                            <a:rPr lang="en-US" i="1">
                              <a:latin typeface="Cambria Math" panose="02040503050406030204" pitchFamily="18" charset="0"/>
                            </a:rPr>
                            <m:t>,</m:t>
                          </m:r>
                          <m:r>
                            <a:rPr lang="en-US" i="1">
                              <a:latin typeface="Cambria Math" panose="02040503050406030204" pitchFamily="18" charset="0"/>
                            </a:rPr>
                            <m:t>𝑗</m:t>
                          </m:r>
                          <m:r>
                            <a:rPr lang="en-US" b="0" i="1" smtClean="0">
                              <a:latin typeface="Cambria Math" panose="02040503050406030204" pitchFamily="18" charset="0"/>
                            </a:rPr>
                            <m:t>−1</m:t>
                          </m:r>
                        </m:sub>
                      </m:sSub>
                    </m:oMath>
                  </m:oMathPara>
                </a14:m>
                <a:endParaRPr lang="en-US" dirty="0"/>
              </a:p>
            </p:txBody>
          </p:sp>
        </mc:Choice>
        <mc:Fallback xmlns="">
          <p:sp>
            <p:nvSpPr>
              <p:cNvPr id="10" name="Rectangle 9">
                <a:extLst>
                  <a:ext uri="{FF2B5EF4-FFF2-40B4-BE49-F238E27FC236}">
                    <a16:creationId xmlns:a16="http://schemas.microsoft.com/office/drawing/2014/main" id="{D78607A4-505C-4544-87C2-41A8CFDC3EB4}"/>
                  </a:ext>
                </a:extLst>
              </p:cNvPr>
              <p:cNvSpPr>
                <a:spLocks noRot="1" noChangeAspect="1" noMove="1" noResize="1" noEditPoints="1" noAdjustHandles="1" noChangeArrowheads="1" noChangeShapeType="1" noTextEdit="1"/>
              </p:cNvSpPr>
              <p:nvPr/>
            </p:nvSpPr>
            <p:spPr>
              <a:xfrm>
                <a:off x="5068157" y="4891803"/>
                <a:ext cx="808491" cy="391646"/>
              </a:xfrm>
              <a:prstGeom prst="rect">
                <a:avLst/>
              </a:prstGeom>
              <a:blipFill>
                <a:blip r:embed="rId7"/>
                <a:stretch>
                  <a:fillRect b="-625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FBEF99EE-38B7-AF46-8D49-EFCE5BC58C20}"/>
                  </a:ext>
                </a:extLst>
              </p:cNvPr>
              <p:cNvSpPr txBox="1"/>
              <p:nvPr/>
            </p:nvSpPr>
            <p:spPr>
              <a:xfrm>
                <a:off x="5308432" y="6245523"/>
                <a:ext cx="318613" cy="369332"/>
              </a:xfrm>
              <a:prstGeom prst="rect">
                <a:avLst/>
              </a:prstGeom>
              <a:solidFill>
                <a:schemeClr val="bg1"/>
              </a:solid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𝑖</m:t>
                      </m:r>
                    </m:oMath>
                  </m:oMathPara>
                </a14:m>
                <a:endParaRPr lang="en-US" dirty="0"/>
              </a:p>
            </p:txBody>
          </p:sp>
        </mc:Choice>
        <mc:Fallback xmlns="">
          <p:sp>
            <p:nvSpPr>
              <p:cNvPr id="4" name="TextBox 3">
                <a:extLst>
                  <a:ext uri="{FF2B5EF4-FFF2-40B4-BE49-F238E27FC236}">
                    <a16:creationId xmlns:a16="http://schemas.microsoft.com/office/drawing/2014/main" id="{FBEF99EE-38B7-AF46-8D49-EFCE5BC58C20}"/>
                  </a:ext>
                </a:extLst>
              </p:cNvPr>
              <p:cNvSpPr txBox="1">
                <a:spLocks noRot="1" noChangeAspect="1" noMove="1" noResize="1" noEditPoints="1" noAdjustHandles="1" noChangeArrowheads="1" noChangeShapeType="1" noTextEdit="1"/>
              </p:cNvSpPr>
              <p:nvPr/>
            </p:nvSpPr>
            <p:spPr>
              <a:xfrm>
                <a:off x="5308432" y="6245523"/>
                <a:ext cx="318613" cy="369332"/>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64E3F947-4599-244F-80BF-D10759998BAD}"/>
                  </a:ext>
                </a:extLst>
              </p:cNvPr>
              <p:cNvSpPr txBox="1"/>
              <p:nvPr/>
            </p:nvSpPr>
            <p:spPr>
              <a:xfrm>
                <a:off x="6810821" y="6245523"/>
                <a:ext cx="722570" cy="369332"/>
              </a:xfrm>
              <a:prstGeom prst="rect">
                <a:avLst/>
              </a:prstGeom>
              <a:solidFill>
                <a:schemeClr val="bg1"/>
              </a:solid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𝑖</m:t>
                      </m:r>
                      <m:r>
                        <a:rPr lang="en-US" b="0" i="1" smtClean="0">
                          <a:latin typeface="Cambria Math" panose="02040503050406030204" pitchFamily="18" charset="0"/>
                        </a:rPr>
                        <m:t>+1</m:t>
                      </m:r>
                    </m:oMath>
                  </m:oMathPara>
                </a14:m>
                <a:endParaRPr lang="en-US" dirty="0"/>
              </a:p>
            </p:txBody>
          </p:sp>
        </mc:Choice>
        <mc:Fallback xmlns="">
          <p:sp>
            <p:nvSpPr>
              <p:cNvPr id="13" name="TextBox 12">
                <a:extLst>
                  <a:ext uri="{FF2B5EF4-FFF2-40B4-BE49-F238E27FC236}">
                    <a16:creationId xmlns:a16="http://schemas.microsoft.com/office/drawing/2014/main" id="{64E3F947-4599-244F-80BF-D10759998BAD}"/>
                  </a:ext>
                </a:extLst>
              </p:cNvPr>
              <p:cNvSpPr txBox="1">
                <a:spLocks noRot="1" noChangeAspect="1" noMove="1" noResize="1" noEditPoints="1" noAdjustHandles="1" noChangeArrowheads="1" noChangeShapeType="1" noTextEdit="1"/>
              </p:cNvSpPr>
              <p:nvPr/>
            </p:nvSpPr>
            <p:spPr>
              <a:xfrm>
                <a:off x="6810821" y="6245523"/>
                <a:ext cx="722570" cy="369332"/>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4E5ED4B0-C6BE-C24F-8B6F-52AA43777D11}"/>
                  </a:ext>
                </a:extLst>
              </p:cNvPr>
              <p:cNvSpPr txBox="1"/>
              <p:nvPr/>
            </p:nvSpPr>
            <p:spPr>
              <a:xfrm>
                <a:off x="3471275" y="6245523"/>
                <a:ext cx="722570" cy="369332"/>
              </a:xfrm>
              <a:prstGeom prst="rect">
                <a:avLst/>
              </a:prstGeom>
              <a:solidFill>
                <a:schemeClr val="bg1"/>
              </a:solid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𝑖</m:t>
                      </m:r>
                      <m:r>
                        <a:rPr lang="en-US" b="0" i="1" smtClean="0">
                          <a:latin typeface="Cambria Math" panose="02040503050406030204" pitchFamily="18" charset="0"/>
                        </a:rPr>
                        <m:t>−1</m:t>
                      </m:r>
                    </m:oMath>
                  </m:oMathPara>
                </a14:m>
                <a:endParaRPr lang="en-US" dirty="0"/>
              </a:p>
            </p:txBody>
          </p:sp>
        </mc:Choice>
        <mc:Fallback xmlns="">
          <p:sp>
            <p:nvSpPr>
              <p:cNvPr id="14" name="TextBox 13">
                <a:extLst>
                  <a:ext uri="{FF2B5EF4-FFF2-40B4-BE49-F238E27FC236}">
                    <a16:creationId xmlns:a16="http://schemas.microsoft.com/office/drawing/2014/main" id="{4E5ED4B0-C6BE-C24F-8B6F-52AA43777D11}"/>
                  </a:ext>
                </a:extLst>
              </p:cNvPr>
              <p:cNvSpPr txBox="1">
                <a:spLocks noRot="1" noChangeAspect="1" noMove="1" noResize="1" noEditPoints="1" noAdjustHandles="1" noChangeArrowheads="1" noChangeShapeType="1" noTextEdit="1"/>
              </p:cNvSpPr>
              <p:nvPr/>
            </p:nvSpPr>
            <p:spPr>
              <a:xfrm>
                <a:off x="3471275" y="6245523"/>
                <a:ext cx="722570" cy="369332"/>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BBC88A3D-789A-DA46-91A4-C16187FF5263}"/>
                  </a:ext>
                </a:extLst>
              </p:cNvPr>
              <p:cNvSpPr txBox="1"/>
              <p:nvPr/>
            </p:nvSpPr>
            <p:spPr>
              <a:xfrm>
                <a:off x="2177694" y="4914117"/>
                <a:ext cx="728854" cy="369332"/>
              </a:xfrm>
              <a:prstGeom prst="rect">
                <a:avLst/>
              </a:prstGeom>
              <a:solidFill>
                <a:schemeClr val="bg1"/>
              </a:solid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𝑗</m:t>
                      </m:r>
                      <m:r>
                        <a:rPr lang="en-US" b="0" i="1" smtClean="0">
                          <a:latin typeface="Cambria Math" panose="02040503050406030204" pitchFamily="18" charset="0"/>
                        </a:rPr>
                        <m:t>−1</m:t>
                      </m:r>
                    </m:oMath>
                  </m:oMathPara>
                </a14:m>
                <a:endParaRPr lang="en-US" dirty="0"/>
              </a:p>
            </p:txBody>
          </p:sp>
        </mc:Choice>
        <mc:Fallback xmlns="">
          <p:sp>
            <p:nvSpPr>
              <p:cNvPr id="15" name="TextBox 14">
                <a:extLst>
                  <a:ext uri="{FF2B5EF4-FFF2-40B4-BE49-F238E27FC236}">
                    <a16:creationId xmlns:a16="http://schemas.microsoft.com/office/drawing/2014/main" id="{BBC88A3D-789A-DA46-91A4-C16187FF5263}"/>
                  </a:ext>
                </a:extLst>
              </p:cNvPr>
              <p:cNvSpPr txBox="1">
                <a:spLocks noRot="1" noChangeAspect="1" noMove="1" noResize="1" noEditPoints="1" noAdjustHandles="1" noChangeArrowheads="1" noChangeShapeType="1" noTextEdit="1"/>
              </p:cNvSpPr>
              <p:nvPr/>
            </p:nvSpPr>
            <p:spPr>
              <a:xfrm>
                <a:off x="2177694" y="4914117"/>
                <a:ext cx="728854" cy="369332"/>
              </a:xfrm>
              <a:prstGeom prst="rect">
                <a:avLst/>
              </a:prstGeom>
              <a:blipFill>
                <a:blip r:embed="rId11"/>
                <a:stretch>
                  <a:fillRect b="-13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C278CA0F-CEE7-2245-B8F9-57FB37F02050}"/>
                  </a:ext>
                </a:extLst>
              </p:cNvPr>
              <p:cNvSpPr txBox="1"/>
              <p:nvPr/>
            </p:nvSpPr>
            <p:spPr>
              <a:xfrm>
                <a:off x="2177694" y="1583205"/>
                <a:ext cx="728854" cy="369332"/>
              </a:xfrm>
              <a:prstGeom prst="rect">
                <a:avLst/>
              </a:prstGeom>
              <a:solidFill>
                <a:schemeClr val="bg1"/>
              </a:solid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𝑗</m:t>
                      </m:r>
                      <m:r>
                        <a:rPr lang="en-US" b="0" i="1" smtClean="0">
                          <a:latin typeface="Cambria Math" panose="02040503050406030204" pitchFamily="18" charset="0"/>
                        </a:rPr>
                        <m:t>+1</m:t>
                      </m:r>
                    </m:oMath>
                  </m:oMathPara>
                </a14:m>
                <a:endParaRPr lang="en-US" dirty="0"/>
              </a:p>
            </p:txBody>
          </p:sp>
        </mc:Choice>
        <mc:Fallback xmlns="">
          <p:sp>
            <p:nvSpPr>
              <p:cNvPr id="17" name="TextBox 16">
                <a:extLst>
                  <a:ext uri="{FF2B5EF4-FFF2-40B4-BE49-F238E27FC236}">
                    <a16:creationId xmlns:a16="http://schemas.microsoft.com/office/drawing/2014/main" id="{C278CA0F-CEE7-2245-B8F9-57FB37F02050}"/>
                  </a:ext>
                </a:extLst>
              </p:cNvPr>
              <p:cNvSpPr txBox="1">
                <a:spLocks noRot="1" noChangeAspect="1" noMove="1" noResize="1" noEditPoints="1" noAdjustHandles="1" noChangeArrowheads="1" noChangeShapeType="1" noTextEdit="1"/>
              </p:cNvSpPr>
              <p:nvPr/>
            </p:nvSpPr>
            <p:spPr>
              <a:xfrm>
                <a:off x="2177694" y="1583205"/>
                <a:ext cx="728854" cy="369332"/>
              </a:xfrm>
              <a:prstGeom prst="rect">
                <a:avLst/>
              </a:prstGeom>
              <a:blipFill>
                <a:blip r:embed="rId12"/>
                <a:stretch>
                  <a:fillRect b="-10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D93E1F0E-81C9-AA48-B1DE-7C678E0311D9}"/>
                  </a:ext>
                </a:extLst>
              </p:cNvPr>
              <p:cNvSpPr txBox="1"/>
              <p:nvPr/>
            </p:nvSpPr>
            <p:spPr>
              <a:xfrm>
                <a:off x="2282707" y="3258329"/>
                <a:ext cx="324897" cy="369332"/>
              </a:xfrm>
              <a:prstGeom prst="rect">
                <a:avLst/>
              </a:prstGeom>
              <a:solidFill>
                <a:schemeClr val="bg1"/>
              </a:solid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𝑗</m:t>
                      </m:r>
                    </m:oMath>
                  </m:oMathPara>
                </a14:m>
                <a:endParaRPr lang="en-US" dirty="0"/>
              </a:p>
            </p:txBody>
          </p:sp>
        </mc:Choice>
        <mc:Fallback xmlns="">
          <p:sp>
            <p:nvSpPr>
              <p:cNvPr id="18" name="TextBox 17">
                <a:extLst>
                  <a:ext uri="{FF2B5EF4-FFF2-40B4-BE49-F238E27FC236}">
                    <a16:creationId xmlns:a16="http://schemas.microsoft.com/office/drawing/2014/main" id="{D93E1F0E-81C9-AA48-B1DE-7C678E0311D9}"/>
                  </a:ext>
                </a:extLst>
              </p:cNvPr>
              <p:cNvSpPr txBox="1">
                <a:spLocks noRot="1" noChangeAspect="1" noMove="1" noResize="1" noEditPoints="1" noAdjustHandles="1" noChangeArrowheads="1" noChangeShapeType="1" noTextEdit="1"/>
              </p:cNvSpPr>
              <p:nvPr/>
            </p:nvSpPr>
            <p:spPr>
              <a:xfrm>
                <a:off x="2282707" y="3258329"/>
                <a:ext cx="324897" cy="369332"/>
              </a:xfrm>
              <a:prstGeom prst="rect">
                <a:avLst/>
              </a:prstGeom>
              <a:blipFill>
                <a:blip r:embed="rId13"/>
                <a:stretch>
                  <a:fillRect b="-10000"/>
                </a:stretch>
              </a:blipFill>
            </p:spPr>
            <p:txBody>
              <a:bodyPr/>
              <a:lstStyle/>
              <a:p>
                <a:r>
                  <a:rPr lang="en-US">
                    <a:noFill/>
                  </a:rPr>
                  <a:t> </a:t>
                </a:r>
              </a:p>
            </p:txBody>
          </p:sp>
        </mc:Fallback>
      </mc:AlternateContent>
    </p:spTree>
    <p:extLst>
      <p:ext uri="{BB962C8B-B14F-4D97-AF65-F5344CB8AC3E}">
        <p14:creationId xmlns:p14="http://schemas.microsoft.com/office/powerpoint/2010/main" val="313992481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DCE2F9-F4C3-DA4C-B0FC-7FF6F22D148C}"/>
              </a:ext>
            </a:extLst>
          </p:cNvPr>
          <p:cNvSpPr>
            <a:spLocks noGrp="1"/>
          </p:cNvSpPr>
          <p:nvPr>
            <p:ph type="title"/>
          </p:nvPr>
        </p:nvSpPr>
        <p:spPr>
          <a:xfrm>
            <a:off x="462987" y="0"/>
            <a:ext cx="11331615" cy="1325563"/>
          </a:xfrm>
        </p:spPr>
        <p:txBody>
          <a:bodyPr/>
          <a:lstStyle/>
          <a:p>
            <a:r>
              <a:rPr lang="en-US" dirty="0"/>
              <a:t>The relaxation method for the Poisson problem:</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5C4FD65-F675-944D-A379-3A5FFFAEB784}"/>
                  </a:ext>
                </a:extLst>
              </p:cNvPr>
              <p:cNvSpPr>
                <a:spLocks noGrp="1"/>
              </p:cNvSpPr>
              <p:nvPr>
                <p:ph idx="1"/>
              </p:nvPr>
            </p:nvSpPr>
            <p:spPr>
              <a:xfrm>
                <a:off x="838200" y="1325562"/>
                <a:ext cx="10515600" cy="5532437"/>
              </a:xfrm>
            </p:spPr>
            <p:txBody>
              <a:bodyPr/>
              <a:lstStyle/>
              <a:p>
                <a:pPr>
                  <a:lnSpc>
                    <a:spcPct val="150000"/>
                  </a:lnSpc>
                </a:pPr>
                <a:r>
                  <a:rPr lang="en-US" dirty="0"/>
                  <a:t>A second order accurate discretization of the second derivative is:</a:t>
                </a:r>
              </a:p>
              <a:p>
                <a:pPr marL="0" indent="0">
                  <a:lnSpc>
                    <a:spcPct val="150000"/>
                  </a:lnSpc>
                  <a:buNone/>
                </a:pPr>
                <a14:m>
                  <m:oMathPara xmlns:m="http://schemas.openxmlformats.org/officeDocument/2006/math">
                    <m:oMathParaPr>
                      <m:jc m:val="centerGroup"/>
                    </m:oMathParaPr>
                    <m:oMath xmlns:m="http://schemas.openxmlformats.org/officeDocument/2006/math">
                      <m:sSup>
                        <m:sSupPr>
                          <m:ctrlPr>
                            <a:rPr lang="en-US" i="1">
                              <a:latin typeface="Cambria Math" panose="02040503050406030204" pitchFamily="18" charset="0"/>
                            </a:rPr>
                          </m:ctrlPr>
                        </m:sSupPr>
                        <m:e>
                          <m:r>
                            <m:rPr>
                              <m:sty m:val="p"/>
                            </m:rPr>
                            <a:rPr lang="en-US">
                              <a:latin typeface="Cambria Math" panose="02040503050406030204" pitchFamily="18" charset="0"/>
                            </a:rPr>
                            <m:t>∇</m:t>
                          </m:r>
                        </m:e>
                        <m:sup>
                          <m:r>
                            <a:rPr lang="en-US" i="1">
                              <a:latin typeface="Cambria Math" panose="02040503050406030204" pitchFamily="18" charset="0"/>
                            </a:rPr>
                            <m:t>2</m:t>
                          </m:r>
                        </m:sup>
                      </m:sSup>
                      <m:sSub>
                        <m:sSubPr>
                          <m:ctrlPr>
                            <a:rPr lang="en-US" i="1">
                              <a:latin typeface="Cambria Math" panose="02040503050406030204" pitchFamily="18" charset="0"/>
                            </a:rPr>
                          </m:ctrlPr>
                        </m:sSubPr>
                        <m:e>
                          <m:r>
                            <a:rPr lang="en-US" i="1">
                              <a:latin typeface="Cambria Math" panose="02040503050406030204" pitchFamily="18" charset="0"/>
                            </a:rPr>
                            <m:t>𝜙</m:t>
                          </m:r>
                        </m:e>
                        <m:sub>
                          <m:r>
                            <a:rPr lang="en-US" i="1">
                              <a:latin typeface="Cambria Math" panose="02040503050406030204" pitchFamily="18" charset="0"/>
                            </a:rPr>
                            <m:t>𝑖</m:t>
                          </m:r>
                          <m:r>
                            <a:rPr lang="en-US" i="1">
                              <a:latin typeface="Cambria Math" panose="02040503050406030204" pitchFamily="18" charset="0"/>
                            </a:rPr>
                            <m:t>,</m:t>
                          </m:r>
                          <m:r>
                            <a:rPr lang="en-US" i="1">
                              <a:latin typeface="Cambria Math" panose="02040503050406030204" pitchFamily="18" charset="0"/>
                            </a:rPr>
                            <m:t>𝑗</m:t>
                          </m:r>
                        </m:sub>
                      </m:sSub>
                      <m:r>
                        <a:rPr lang="en-US" i="1">
                          <a:latin typeface="Cambria Math" panose="02040503050406030204" pitchFamily="18" charset="0"/>
                        </a:rPr>
                        <m:t>=</m:t>
                      </m:r>
                      <m:f>
                        <m:fPr>
                          <m:ctrlPr>
                            <a:rPr lang="en-US" i="1" smtClean="0">
                              <a:latin typeface="Cambria Math" panose="02040503050406030204" pitchFamily="18" charset="0"/>
                            </a:rPr>
                          </m:ctrlPr>
                        </m:fPr>
                        <m:num>
                          <m:sSub>
                            <m:sSubPr>
                              <m:ctrlPr>
                                <a:rPr lang="en-US" b="0" i="1" smtClean="0">
                                  <a:latin typeface="Cambria Math" panose="02040503050406030204" pitchFamily="18" charset="0"/>
                                </a:rPr>
                              </m:ctrlPr>
                            </m:sSubPr>
                            <m:e>
                              <m:r>
                                <a:rPr lang="en-US" b="0" i="1" smtClean="0">
                                  <a:latin typeface="Cambria Math" panose="02040503050406030204" pitchFamily="18" charset="0"/>
                                </a:rPr>
                                <m:t>𝜙</m:t>
                              </m:r>
                            </m:e>
                            <m:sub>
                              <m:r>
                                <a:rPr lang="en-US" b="0" i="1" smtClean="0">
                                  <a:latin typeface="Cambria Math" panose="02040503050406030204" pitchFamily="18" charset="0"/>
                                </a:rPr>
                                <m:t>𝑖</m:t>
                              </m:r>
                              <m:r>
                                <a:rPr lang="en-US" b="0" i="1" smtClean="0">
                                  <a:latin typeface="Cambria Math" panose="02040503050406030204" pitchFamily="18" charset="0"/>
                                </a:rPr>
                                <m:t>+1,</m:t>
                              </m:r>
                              <m:r>
                                <a:rPr lang="en-US" b="0" i="1" smtClean="0">
                                  <a:latin typeface="Cambria Math" panose="02040503050406030204" pitchFamily="18" charset="0"/>
                                </a:rPr>
                                <m:t>𝑗</m:t>
                              </m:r>
                            </m:sub>
                          </m:sSub>
                          <m:r>
                            <a:rPr lang="en-US" b="0" i="1" smtClean="0">
                              <a:latin typeface="Cambria Math" panose="02040503050406030204" pitchFamily="18" charset="0"/>
                            </a:rPr>
                            <m:t>−2</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𝜙</m:t>
                              </m:r>
                            </m:e>
                            <m:sub>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𝑗</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𝜙</m:t>
                              </m:r>
                            </m:e>
                            <m:sub>
                              <m:r>
                                <a:rPr lang="en-US" b="0" i="1" smtClean="0">
                                  <a:latin typeface="Cambria Math" panose="02040503050406030204" pitchFamily="18" charset="0"/>
                                </a:rPr>
                                <m:t>𝑖</m:t>
                              </m:r>
                              <m:r>
                                <a:rPr lang="en-US" b="0" i="1" smtClean="0">
                                  <a:latin typeface="Cambria Math" panose="02040503050406030204" pitchFamily="18" charset="0"/>
                                </a:rPr>
                                <m:t>−1,</m:t>
                              </m:r>
                              <m:r>
                                <a:rPr lang="en-US" b="0" i="1" smtClean="0">
                                  <a:latin typeface="Cambria Math" panose="02040503050406030204" pitchFamily="18" charset="0"/>
                                </a:rPr>
                                <m:t>𝑗</m:t>
                              </m:r>
                            </m:sub>
                          </m:sSub>
                        </m:num>
                        <m:den>
                          <m:r>
                            <m:rPr>
                              <m:sty m:val="p"/>
                            </m:rPr>
                            <a:rPr lang="en-US" b="0" i="0" smtClean="0">
                              <a:latin typeface="Cambria Math" panose="02040503050406030204" pitchFamily="18" charset="0"/>
                            </a:rPr>
                            <m:t>Δ</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𝑥</m:t>
                              </m:r>
                            </m:e>
                            <m:sup>
                              <m:r>
                                <a:rPr lang="en-US" b="0" i="1" smtClean="0">
                                  <a:latin typeface="Cambria Math" panose="02040503050406030204" pitchFamily="18" charset="0"/>
                                </a:rPr>
                                <m:t>2</m:t>
                              </m:r>
                            </m:sup>
                          </m:sSup>
                        </m:den>
                      </m:f>
                      <m:r>
                        <a:rPr lang="en-US" b="0" i="1" smtClean="0">
                          <a:latin typeface="Cambria Math" panose="02040503050406030204" pitchFamily="18" charset="0"/>
                        </a:rPr>
                        <m:t>+</m:t>
                      </m:r>
                      <m:f>
                        <m:fPr>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𝜙</m:t>
                              </m:r>
                            </m:e>
                            <m:sub>
                              <m:r>
                                <a:rPr lang="en-US" i="1">
                                  <a:latin typeface="Cambria Math" panose="02040503050406030204" pitchFamily="18" charset="0"/>
                                </a:rPr>
                                <m:t>𝑖</m:t>
                              </m:r>
                              <m:r>
                                <a:rPr lang="en-US" i="1">
                                  <a:latin typeface="Cambria Math" panose="02040503050406030204" pitchFamily="18" charset="0"/>
                                </a:rPr>
                                <m:t>,</m:t>
                              </m:r>
                              <m:r>
                                <a:rPr lang="en-US" i="1">
                                  <a:latin typeface="Cambria Math" panose="02040503050406030204" pitchFamily="18" charset="0"/>
                                </a:rPr>
                                <m:t>𝑗</m:t>
                              </m:r>
                              <m:r>
                                <a:rPr lang="en-US" b="0" i="1" smtClean="0">
                                  <a:latin typeface="Cambria Math" panose="02040503050406030204" pitchFamily="18" charset="0"/>
                                </a:rPr>
                                <m:t>+1</m:t>
                              </m:r>
                            </m:sub>
                          </m:sSub>
                          <m:r>
                            <a:rPr lang="en-US" i="1">
                              <a:latin typeface="Cambria Math" panose="02040503050406030204" pitchFamily="18" charset="0"/>
                            </a:rPr>
                            <m:t>−2</m:t>
                          </m:r>
                          <m:sSub>
                            <m:sSubPr>
                              <m:ctrlPr>
                                <a:rPr lang="en-US" i="1">
                                  <a:latin typeface="Cambria Math" panose="02040503050406030204" pitchFamily="18" charset="0"/>
                                </a:rPr>
                              </m:ctrlPr>
                            </m:sSubPr>
                            <m:e>
                              <m:r>
                                <a:rPr lang="en-US" i="1">
                                  <a:latin typeface="Cambria Math" panose="02040503050406030204" pitchFamily="18" charset="0"/>
                                </a:rPr>
                                <m:t>𝜙</m:t>
                              </m:r>
                            </m:e>
                            <m:sub>
                              <m:r>
                                <a:rPr lang="en-US" i="1">
                                  <a:latin typeface="Cambria Math" panose="02040503050406030204" pitchFamily="18" charset="0"/>
                                </a:rPr>
                                <m:t>𝑖</m:t>
                              </m:r>
                              <m:r>
                                <a:rPr lang="en-US" i="1">
                                  <a:latin typeface="Cambria Math" panose="02040503050406030204" pitchFamily="18" charset="0"/>
                                </a:rPr>
                                <m:t>,</m:t>
                              </m:r>
                              <m:r>
                                <a:rPr lang="en-US" i="1">
                                  <a:latin typeface="Cambria Math" panose="02040503050406030204" pitchFamily="18" charset="0"/>
                                </a:rPr>
                                <m:t>𝑗</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𝜙</m:t>
                              </m:r>
                            </m:e>
                            <m:sub>
                              <m:r>
                                <a:rPr lang="en-US" i="1">
                                  <a:latin typeface="Cambria Math" panose="02040503050406030204" pitchFamily="18" charset="0"/>
                                </a:rPr>
                                <m:t>𝑖</m:t>
                              </m:r>
                              <m:r>
                                <a:rPr lang="en-US" i="1">
                                  <a:latin typeface="Cambria Math" panose="02040503050406030204" pitchFamily="18" charset="0"/>
                                </a:rPr>
                                <m:t>,</m:t>
                              </m:r>
                              <m:r>
                                <a:rPr lang="en-US" i="1">
                                  <a:latin typeface="Cambria Math" panose="02040503050406030204" pitchFamily="18" charset="0"/>
                                </a:rPr>
                                <m:t>𝑗</m:t>
                              </m:r>
                              <m:r>
                                <a:rPr lang="en-US" b="0" i="1" smtClean="0">
                                  <a:latin typeface="Cambria Math" panose="02040503050406030204" pitchFamily="18" charset="0"/>
                                </a:rPr>
                                <m:t>−1</m:t>
                              </m:r>
                            </m:sub>
                          </m:sSub>
                        </m:num>
                        <m:den>
                          <m:r>
                            <m:rPr>
                              <m:sty m:val="p"/>
                            </m:rPr>
                            <a:rPr lang="en-US">
                              <a:latin typeface="Cambria Math" panose="02040503050406030204" pitchFamily="18" charset="0"/>
                            </a:rPr>
                            <m:t>Δ</m:t>
                          </m:r>
                          <m:sSup>
                            <m:sSupPr>
                              <m:ctrlPr>
                                <a:rPr lang="en-US" i="1">
                                  <a:latin typeface="Cambria Math" panose="02040503050406030204" pitchFamily="18" charset="0"/>
                                </a:rPr>
                              </m:ctrlPr>
                            </m:sSupPr>
                            <m:e>
                              <m:r>
                                <a:rPr lang="en-US" b="0" i="1" smtClean="0">
                                  <a:latin typeface="Cambria Math" panose="02040503050406030204" pitchFamily="18" charset="0"/>
                                </a:rPr>
                                <m:t>𝑦</m:t>
                              </m:r>
                            </m:e>
                            <m:sup>
                              <m:r>
                                <a:rPr lang="en-US" i="1">
                                  <a:latin typeface="Cambria Math" panose="02040503050406030204" pitchFamily="18" charset="0"/>
                                </a:rPr>
                                <m:t>2</m:t>
                              </m:r>
                            </m:sup>
                          </m:sSup>
                        </m:den>
                      </m:f>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𝑓</m:t>
                          </m:r>
                        </m:e>
                        <m:sub>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𝑗</m:t>
                          </m:r>
                        </m:sub>
                      </m:sSub>
                    </m:oMath>
                  </m:oMathPara>
                </a14:m>
                <a:endParaRPr lang="en-US" dirty="0"/>
              </a:p>
              <a:p>
                <a:pPr>
                  <a:lnSpc>
                    <a:spcPct val="100000"/>
                  </a:lnSpc>
                </a:pPr>
                <a:r>
                  <a:rPr lang="en-US" dirty="0"/>
                  <a:t>For each zone </a:t>
                </a:r>
                <a14:m>
                  <m:oMath xmlns:m="http://schemas.openxmlformats.org/officeDocument/2006/math">
                    <m:r>
                      <a:rPr lang="en-US" i="1" dirty="0" smtClean="0">
                        <a:latin typeface="Cambria Math" panose="02040503050406030204" pitchFamily="18" charset="0"/>
                      </a:rPr>
                      <m:t>(</m:t>
                    </m:r>
                    <m:r>
                      <a:rPr lang="en-US" i="1" dirty="0" err="1">
                        <a:latin typeface="Cambria Math" panose="02040503050406030204" pitchFamily="18" charset="0"/>
                      </a:rPr>
                      <m:t>𝑖</m:t>
                    </m:r>
                    <m:r>
                      <a:rPr lang="en-US" i="1" dirty="0">
                        <a:latin typeface="Cambria Math" panose="02040503050406030204" pitchFamily="18" charset="0"/>
                      </a:rPr>
                      <m:t>, </m:t>
                    </m:r>
                    <m:r>
                      <a:rPr lang="en-US" i="1" dirty="0">
                        <a:latin typeface="Cambria Math" panose="02040503050406030204" pitchFamily="18" charset="0"/>
                      </a:rPr>
                      <m:t>𝑗</m:t>
                    </m:r>
                    <m:r>
                      <a:rPr lang="en-US" i="1" dirty="0">
                        <a:latin typeface="Cambria Math" panose="02040503050406030204" pitchFamily="18" charset="0"/>
                      </a:rPr>
                      <m:t>)</m:t>
                    </m:r>
                  </m:oMath>
                </a14:m>
                <a:r>
                  <a:rPr lang="en-US" dirty="0"/>
                  <a:t>, we couple in the zones </a:t>
                </a:r>
                <a14:m>
                  <m:oMath xmlns:m="http://schemas.openxmlformats.org/officeDocument/2006/math">
                    <m:r>
                      <a:rPr lang="en-US" i="1" dirty="0" smtClean="0">
                        <a:latin typeface="Cambria Math" panose="02040503050406030204" pitchFamily="18" charset="0"/>
                      </a:rPr>
                      <m:t>±1</m:t>
                    </m:r>
                  </m:oMath>
                </a14:m>
                <a:r>
                  <a:rPr lang="en-US" dirty="0"/>
                  <a:t> in </a:t>
                </a:r>
                <a14:m>
                  <m:oMath xmlns:m="http://schemas.openxmlformats.org/officeDocument/2006/math">
                    <m:r>
                      <a:rPr lang="en-US" i="1" dirty="0" smtClean="0">
                        <a:latin typeface="Cambria Math" panose="02040503050406030204" pitchFamily="18" charset="0"/>
                      </a:rPr>
                      <m:t>𝑥</m:t>
                    </m:r>
                  </m:oMath>
                </a14:m>
                <a:r>
                  <a:rPr lang="en-US" i="1" dirty="0"/>
                  <a:t> </a:t>
                </a:r>
                <a:r>
                  <a:rPr lang="en-US" dirty="0"/>
                  <a:t>and </a:t>
                </a:r>
                <a14:m>
                  <m:oMath xmlns:m="http://schemas.openxmlformats.org/officeDocument/2006/math">
                    <m:r>
                      <a:rPr lang="en-US" i="1" dirty="0" smtClean="0">
                        <a:latin typeface="Cambria Math" panose="02040503050406030204" pitchFamily="18" charset="0"/>
                      </a:rPr>
                      <m:t>±1</m:t>
                    </m:r>
                  </m:oMath>
                </a14:m>
                <a:r>
                  <a:rPr lang="en-US" dirty="0"/>
                  <a:t> in </a:t>
                </a:r>
                <a14:m>
                  <m:oMath xmlns:m="http://schemas.openxmlformats.org/officeDocument/2006/math">
                    <m:r>
                      <a:rPr lang="en-US" i="1" dirty="0" smtClean="0">
                        <a:latin typeface="Cambria Math" panose="02040503050406030204" pitchFamily="18" charset="0"/>
                      </a:rPr>
                      <m:t>𝑦</m:t>
                    </m:r>
                  </m:oMath>
                </a14:m>
                <a:r>
                  <a:rPr lang="en-US" dirty="0"/>
                  <a:t>. </a:t>
                </a:r>
              </a:p>
              <a:p>
                <a:pPr>
                  <a:lnSpc>
                    <a:spcPct val="100000"/>
                  </a:lnSpc>
                </a:pPr>
                <a:r>
                  <a:rPr lang="en-US" dirty="0"/>
                  <a:t>For the moment, consider the case where </a:t>
                </a:r>
                <a14:m>
                  <m:oMath xmlns:m="http://schemas.openxmlformats.org/officeDocument/2006/math">
                    <m:r>
                      <a:rPr lang="en-US" i="1" dirty="0" smtClean="0">
                        <a:latin typeface="Cambria Math" panose="02040503050406030204" pitchFamily="18" charset="0"/>
                      </a:rPr>
                      <m:t>∆</m:t>
                    </m:r>
                    <m:r>
                      <a:rPr lang="en-US" i="1" dirty="0" smtClean="0">
                        <a:latin typeface="Cambria Math" panose="02040503050406030204" pitchFamily="18" charset="0"/>
                      </a:rPr>
                      <m:t>𝑥</m:t>
                    </m:r>
                    <m:r>
                      <a:rPr lang="en-US" i="1" dirty="0" smtClean="0">
                        <a:latin typeface="Cambria Math" panose="02040503050406030204" pitchFamily="18" charset="0"/>
                      </a:rPr>
                      <m:t> = ∆</m:t>
                    </m:r>
                    <m:r>
                      <a:rPr lang="en-US" i="1" dirty="0" smtClean="0">
                        <a:latin typeface="Cambria Math" panose="02040503050406030204" pitchFamily="18" charset="0"/>
                      </a:rPr>
                      <m:t>𝑦</m:t>
                    </m:r>
                    <m:r>
                      <a:rPr lang="en-US" i="1" dirty="0" smtClean="0">
                        <a:latin typeface="Cambria Math" panose="02040503050406030204" pitchFamily="18" charset="0"/>
                      </a:rPr>
                      <m:t>. </m:t>
                    </m:r>
                  </m:oMath>
                </a14:m>
                <a:endParaRPr lang="en-US" dirty="0"/>
              </a:p>
              <a:p>
                <a:pPr>
                  <a:lnSpc>
                    <a:spcPct val="100000"/>
                  </a:lnSpc>
                </a:pPr>
                <a:r>
                  <a:rPr lang="en-US" dirty="0"/>
                  <a:t>If we solve for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𝜙</m:t>
                        </m:r>
                      </m:e>
                      <m:sub>
                        <m:r>
                          <a:rPr lang="en-US" i="1">
                            <a:latin typeface="Cambria Math" panose="02040503050406030204" pitchFamily="18" charset="0"/>
                          </a:rPr>
                          <m:t>𝑖</m:t>
                        </m:r>
                        <m:r>
                          <a:rPr lang="en-US" i="1">
                            <a:latin typeface="Cambria Math" panose="02040503050406030204" pitchFamily="18" charset="0"/>
                          </a:rPr>
                          <m:t>,</m:t>
                        </m:r>
                        <m:r>
                          <a:rPr lang="en-US" i="1">
                            <a:latin typeface="Cambria Math" panose="02040503050406030204" pitchFamily="18" charset="0"/>
                          </a:rPr>
                          <m:t>𝑗</m:t>
                        </m:r>
                      </m:sub>
                    </m:sSub>
                  </m:oMath>
                </a14:m>
                <a:r>
                  <a:rPr lang="en-US" dirty="0"/>
                  <a:t> we get:</a:t>
                </a:r>
              </a:p>
              <a:p>
                <a:pPr marL="0" indent="0">
                  <a:lnSpc>
                    <a:spcPct val="150000"/>
                  </a:lnSpc>
                  <a:buNone/>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𝜙</m:t>
                          </m:r>
                        </m:e>
                        <m:sub>
                          <m:r>
                            <a:rPr lang="en-US" i="1">
                              <a:latin typeface="Cambria Math" panose="02040503050406030204" pitchFamily="18" charset="0"/>
                            </a:rPr>
                            <m:t>𝑖</m:t>
                          </m:r>
                          <m:r>
                            <a:rPr lang="en-US" i="1">
                              <a:latin typeface="Cambria Math" panose="02040503050406030204" pitchFamily="18" charset="0"/>
                            </a:rPr>
                            <m:t>,</m:t>
                          </m:r>
                          <m:r>
                            <a:rPr lang="en-US" i="1">
                              <a:latin typeface="Cambria Math" panose="02040503050406030204" pitchFamily="18" charset="0"/>
                            </a:rPr>
                            <m:t>𝑗</m:t>
                          </m:r>
                        </m:sub>
                      </m:sSub>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4</m:t>
                          </m:r>
                        </m:den>
                      </m:f>
                      <m:d>
                        <m:dPr>
                          <m:ctrlPr>
                            <a:rPr lang="en-US" b="0" i="1" smtClean="0">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𝜙</m:t>
                              </m:r>
                            </m:e>
                            <m:sub>
                              <m:r>
                                <a:rPr lang="en-US" i="1">
                                  <a:latin typeface="Cambria Math" panose="02040503050406030204" pitchFamily="18" charset="0"/>
                                </a:rPr>
                                <m:t>𝑖</m:t>
                              </m:r>
                              <m:r>
                                <a:rPr lang="en-US" i="1">
                                  <a:latin typeface="Cambria Math" panose="02040503050406030204" pitchFamily="18" charset="0"/>
                                </a:rPr>
                                <m:t>+1,</m:t>
                              </m:r>
                              <m:r>
                                <a:rPr lang="en-US" i="1">
                                  <a:latin typeface="Cambria Math" panose="02040503050406030204" pitchFamily="18" charset="0"/>
                                </a:rPr>
                                <m:t>𝑗</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𝜙</m:t>
                              </m:r>
                            </m:e>
                            <m:sub>
                              <m:r>
                                <a:rPr lang="en-US" i="1">
                                  <a:latin typeface="Cambria Math" panose="02040503050406030204" pitchFamily="18" charset="0"/>
                                </a:rPr>
                                <m:t>𝑖</m:t>
                              </m:r>
                              <m:r>
                                <a:rPr lang="en-US" i="1">
                                  <a:latin typeface="Cambria Math" panose="02040503050406030204" pitchFamily="18" charset="0"/>
                                </a:rPr>
                                <m:t>−1,</m:t>
                              </m:r>
                              <m:r>
                                <a:rPr lang="en-US" i="1">
                                  <a:latin typeface="Cambria Math" panose="02040503050406030204" pitchFamily="18" charset="0"/>
                                </a:rPr>
                                <m:t>𝑗</m:t>
                              </m:r>
                            </m:sub>
                          </m:sSub>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𝜙</m:t>
                              </m:r>
                            </m:e>
                            <m:sub>
                              <m:r>
                                <a:rPr lang="en-US" i="1">
                                  <a:latin typeface="Cambria Math" panose="02040503050406030204" pitchFamily="18" charset="0"/>
                                </a:rPr>
                                <m:t>𝑖</m:t>
                              </m:r>
                              <m:r>
                                <a:rPr lang="en-US" i="1">
                                  <a:latin typeface="Cambria Math" panose="02040503050406030204" pitchFamily="18" charset="0"/>
                                </a:rPr>
                                <m:t>,</m:t>
                              </m:r>
                              <m:r>
                                <a:rPr lang="en-US" i="1">
                                  <a:latin typeface="Cambria Math" panose="02040503050406030204" pitchFamily="18" charset="0"/>
                                </a:rPr>
                                <m:t>𝑗</m:t>
                              </m:r>
                              <m:r>
                                <a:rPr lang="en-US" i="1">
                                  <a:latin typeface="Cambria Math" panose="02040503050406030204" pitchFamily="18" charset="0"/>
                                </a:rPr>
                                <m:t>+1</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𝜙</m:t>
                              </m:r>
                            </m:e>
                            <m:sub>
                              <m:r>
                                <a:rPr lang="en-US" i="1">
                                  <a:latin typeface="Cambria Math" panose="02040503050406030204" pitchFamily="18" charset="0"/>
                                </a:rPr>
                                <m:t>𝑖</m:t>
                              </m:r>
                              <m:r>
                                <a:rPr lang="en-US" i="1">
                                  <a:latin typeface="Cambria Math" panose="02040503050406030204" pitchFamily="18" charset="0"/>
                                </a:rPr>
                                <m:t>,</m:t>
                              </m:r>
                              <m:r>
                                <a:rPr lang="en-US" i="1">
                                  <a:latin typeface="Cambria Math" panose="02040503050406030204" pitchFamily="18" charset="0"/>
                                </a:rPr>
                                <m:t>𝑗</m:t>
                              </m:r>
                              <m:r>
                                <a:rPr lang="en-US" i="1">
                                  <a:latin typeface="Cambria Math" panose="02040503050406030204" pitchFamily="18" charset="0"/>
                                </a:rPr>
                                <m:t>−1</m:t>
                              </m:r>
                            </m:sub>
                          </m:sSub>
                          <m:r>
                            <a:rPr lang="en-US" b="0" i="1" smtClean="0">
                              <a:latin typeface="Cambria Math" panose="02040503050406030204" pitchFamily="18" charset="0"/>
                            </a:rPr>
                            <m:t>−</m:t>
                          </m:r>
                          <m:r>
                            <m:rPr>
                              <m:sty m:val="p"/>
                            </m:rPr>
                            <a:rPr lang="en-US" b="0" i="0" smtClean="0">
                              <a:latin typeface="Cambria Math" panose="02040503050406030204" pitchFamily="18" charset="0"/>
                            </a:rPr>
                            <m:t>Δ</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𝑥</m:t>
                              </m:r>
                            </m:e>
                            <m:sup>
                              <m:r>
                                <a:rPr lang="en-US" b="0" i="1" smtClean="0">
                                  <a:latin typeface="Cambria Math" panose="02040503050406030204" pitchFamily="18" charset="0"/>
                                </a:rPr>
                                <m:t>2</m:t>
                              </m:r>
                            </m:sup>
                          </m:sSup>
                          <m:sSub>
                            <m:sSubPr>
                              <m:ctrlPr>
                                <a:rPr lang="en-US" b="0" i="1" smtClean="0">
                                  <a:latin typeface="Cambria Math" panose="02040503050406030204" pitchFamily="18" charset="0"/>
                                </a:rPr>
                              </m:ctrlPr>
                            </m:sSubPr>
                            <m:e>
                              <m:r>
                                <a:rPr lang="en-US" b="0" i="1" smtClean="0">
                                  <a:latin typeface="Cambria Math" panose="02040503050406030204" pitchFamily="18" charset="0"/>
                                </a:rPr>
                                <m:t>𝑓</m:t>
                              </m:r>
                            </m:e>
                            <m:sub>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𝑗</m:t>
                              </m:r>
                            </m:sub>
                          </m:sSub>
                        </m:e>
                      </m:d>
                    </m:oMath>
                  </m:oMathPara>
                </a14:m>
                <a:endParaRPr lang="en-US" dirty="0"/>
              </a:p>
            </p:txBody>
          </p:sp>
        </mc:Choice>
        <mc:Fallback xmlns="">
          <p:sp>
            <p:nvSpPr>
              <p:cNvPr id="3" name="Content Placeholder 2">
                <a:extLst>
                  <a:ext uri="{FF2B5EF4-FFF2-40B4-BE49-F238E27FC236}">
                    <a16:creationId xmlns:a16="http://schemas.microsoft.com/office/drawing/2014/main" id="{15C4FD65-F675-944D-A379-3A5FFFAEB784}"/>
                  </a:ext>
                </a:extLst>
              </p:cNvPr>
              <p:cNvSpPr>
                <a:spLocks noGrp="1" noRot="1" noChangeAspect="1" noMove="1" noResize="1" noEditPoints="1" noAdjustHandles="1" noChangeArrowheads="1" noChangeShapeType="1" noTextEdit="1"/>
              </p:cNvSpPr>
              <p:nvPr>
                <p:ph idx="1"/>
              </p:nvPr>
            </p:nvSpPr>
            <p:spPr>
              <a:xfrm>
                <a:off x="838200" y="1325562"/>
                <a:ext cx="10515600" cy="5532437"/>
              </a:xfrm>
              <a:blipFill>
                <a:blip r:embed="rId2"/>
                <a:stretch>
                  <a:fillRect l="-965"/>
                </a:stretch>
              </a:blipFill>
            </p:spPr>
            <p:txBody>
              <a:bodyPr/>
              <a:lstStyle/>
              <a:p>
                <a:r>
                  <a:rPr lang="en-US">
                    <a:noFill/>
                  </a:rPr>
                  <a:t> </a:t>
                </a:r>
              </a:p>
            </p:txBody>
          </p:sp>
        </mc:Fallback>
      </mc:AlternateContent>
    </p:spTree>
    <p:extLst>
      <p:ext uri="{BB962C8B-B14F-4D97-AF65-F5344CB8AC3E}">
        <p14:creationId xmlns:p14="http://schemas.microsoft.com/office/powerpoint/2010/main" val="316834087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5C4FD65-F675-944D-A379-3A5FFFAEB784}"/>
                  </a:ext>
                </a:extLst>
              </p:cNvPr>
              <p:cNvSpPr>
                <a:spLocks noGrp="1"/>
              </p:cNvSpPr>
              <p:nvPr>
                <p:ph idx="1"/>
              </p:nvPr>
            </p:nvSpPr>
            <p:spPr>
              <a:xfrm>
                <a:off x="838200" y="1325562"/>
                <a:ext cx="10515600" cy="5532437"/>
              </a:xfrm>
            </p:spPr>
            <p:txBody>
              <a:bodyPr/>
              <a:lstStyle/>
              <a:p>
                <a:r>
                  <a:rPr lang="en-US" dirty="0"/>
                  <a:t>A similar expression exists for every zone </a:t>
                </a:r>
                <a14:m>
                  <m:oMath xmlns:m="http://schemas.openxmlformats.org/officeDocument/2006/math">
                    <m:r>
                      <a:rPr lang="en-US" i="1" dirty="0">
                        <a:latin typeface="Cambria Math" panose="02040503050406030204" pitchFamily="18" charset="0"/>
                      </a:rPr>
                      <m:t>(</m:t>
                    </m:r>
                    <m:r>
                      <a:rPr lang="en-US" i="1" dirty="0" err="1">
                        <a:latin typeface="Cambria Math" panose="02040503050406030204" pitchFamily="18" charset="0"/>
                      </a:rPr>
                      <m:t>𝑖</m:t>
                    </m:r>
                    <m:r>
                      <a:rPr lang="en-US" i="1" dirty="0">
                        <a:latin typeface="Cambria Math" panose="02040503050406030204" pitchFamily="18" charset="0"/>
                      </a:rPr>
                      <m:t>, </m:t>
                    </m:r>
                    <m:r>
                      <a:rPr lang="en-US" i="1" dirty="0">
                        <a:latin typeface="Cambria Math" panose="02040503050406030204" pitchFamily="18" charset="0"/>
                      </a:rPr>
                      <m:t>𝑗</m:t>
                    </m:r>
                    <m:r>
                      <a:rPr lang="en-US" i="1" dirty="0">
                        <a:latin typeface="Cambria Math" panose="02040503050406030204" pitchFamily="18" charset="0"/>
                      </a:rPr>
                      <m:t>)</m:t>
                    </m:r>
                  </m:oMath>
                </a14:m>
                <a:r>
                  <a:rPr lang="en-US" dirty="0"/>
                  <a:t> in our domain, coupling all the zones together. </a:t>
                </a:r>
              </a:p>
              <a:p>
                <a:r>
                  <a:rPr lang="en-US" dirty="0"/>
                  <a:t>We can’t separate the solution of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𝜙</m:t>
                        </m:r>
                      </m:e>
                      <m:sub>
                        <m:r>
                          <a:rPr lang="en-US" i="1">
                            <a:latin typeface="Cambria Math" panose="02040503050406030204" pitchFamily="18" charset="0"/>
                          </a:rPr>
                          <m:t>𝑖</m:t>
                        </m:r>
                        <m:r>
                          <a:rPr lang="en-US" i="1">
                            <a:latin typeface="Cambria Math" panose="02040503050406030204" pitchFamily="18" charset="0"/>
                          </a:rPr>
                          <m:t>,</m:t>
                        </m:r>
                        <m:r>
                          <a:rPr lang="en-US" i="1">
                            <a:latin typeface="Cambria Math" panose="02040503050406030204" pitchFamily="18" charset="0"/>
                          </a:rPr>
                          <m:t>𝑗</m:t>
                        </m:r>
                      </m:sub>
                    </m:sSub>
                  </m:oMath>
                </a14:m>
                <a:r>
                  <a:rPr lang="en-US" i="1" dirty="0"/>
                  <a:t> </a:t>
                </a:r>
                <a:r>
                  <a:rPr lang="en-US" dirty="0"/>
                  <a:t>for the neighboring zones.</a:t>
                </a:r>
              </a:p>
              <a:p>
                <a:r>
                  <a:rPr lang="en-US" dirty="0"/>
                  <a:t>Instead, we can apply an iterative technique called </a:t>
                </a:r>
                <a:r>
                  <a:rPr lang="en-US" i="1" dirty="0"/>
                  <a:t>relaxation</a:t>
                </a:r>
                <a:r>
                  <a:rPr lang="en-US" dirty="0"/>
                  <a:t> </a:t>
                </a:r>
              </a:p>
              <a:p>
                <a:pPr marL="514350" indent="-514350">
                  <a:buFont typeface="+mj-lt"/>
                  <a:buAutoNum type="arabicPeriod"/>
                </a:pPr>
                <a:r>
                  <a:rPr lang="en-US" dirty="0"/>
                  <a:t>Imagine an initial guess to </a:t>
                </a:r>
                <a14:m>
                  <m:oMath xmlns:m="http://schemas.openxmlformats.org/officeDocument/2006/math">
                    <m:r>
                      <a:rPr lang="en-US" b="0" i="1" dirty="0" smtClean="0">
                        <a:latin typeface="Cambria Math" panose="02040503050406030204" pitchFamily="18" charset="0"/>
                      </a:rPr>
                      <m:t>𝜙</m:t>
                    </m:r>
                    <m:r>
                      <a:rPr lang="el-GR" i="1" dirty="0" smtClean="0">
                        <a:latin typeface="Cambria Math" panose="02040503050406030204" pitchFamily="18" charset="0"/>
                      </a:rPr>
                      <m:t>:</m:t>
                    </m:r>
                    <m:r>
                      <a:rPr lang="en-US" b="0" i="1" dirty="0" smtClean="0">
                        <a:latin typeface="Cambria Math" panose="02040503050406030204" pitchFamily="18" charset="0"/>
                      </a:rPr>
                      <m:t> </m:t>
                    </m:r>
                    <m:sSubSup>
                      <m:sSubSupPr>
                        <m:ctrlPr>
                          <a:rPr lang="en-US" b="0" i="1" dirty="0" smtClean="0">
                            <a:latin typeface="Cambria Math" panose="02040503050406030204" pitchFamily="18" charset="0"/>
                          </a:rPr>
                        </m:ctrlPr>
                      </m:sSubSupPr>
                      <m:e>
                        <m:r>
                          <a:rPr lang="en-US" b="0" i="1" dirty="0" smtClean="0">
                            <a:latin typeface="Cambria Math" panose="02040503050406030204" pitchFamily="18" charset="0"/>
                          </a:rPr>
                          <m:t>𝜙</m:t>
                        </m:r>
                      </m:e>
                      <m:sub>
                        <m:r>
                          <a:rPr lang="en-US" b="0" i="1" dirty="0" smtClean="0">
                            <a:latin typeface="Cambria Math" panose="02040503050406030204" pitchFamily="18" charset="0"/>
                          </a:rPr>
                          <m:t>𝑖</m:t>
                        </m:r>
                        <m:r>
                          <a:rPr lang="en-US" b="0" i="1" dirty="0" smtClean="0">
                            <a:latin typeface="Cambria Math" panose="02040503050406030204" pitchFamily="18" charset="0"/>
                          </a:rPr>
                          <m:t>,</m:t>
                        </m:r>
                        <m:r>
                          <a:rPr lang="en-US" b="0" i="1" dirty="0" smtClean="0">
                            <a:latin typeface="Cambria Math" panose="02040503050406030204" pitchFamily="18" charset="0"/>
                          </a:rPr>
                          <m:t>𝑗</m:t>
                        </m:r>
                      </m:sub>
                      <m:sup>
                        <m:r>
                          <a:rPr lang="en-US" b="0" i="1" dirty="0" smtClean="0">
                            <a:latin typeface="Cambria Math" panose="02040503050406030204" pitchFamily="18" charset="0"/>
                          </a:rPr>
                          <m:t>(0)</m:t>
                        </m:r>
                      </m:sup>
                    </m:sSubSup>
                  </m:oMath>
                </a14:m>
                <a:endParaRPr lang="en-US" dirty="0"/>
              </a:p>
              <a:p>
                <a:pPr marL="514350" indent="-514350">
                  <a:buFont typeface="+mj-lt"/>
                  <a:buAutoNum type="arabicPeriod"/>
                </a:pPr>
                <a:r>
                  <a:rPr lang="en-US" dirty="0"/>
                  <a:t>We can improve this guess by using our difference equation to define a new value of </a:t>
                </a:r>
                <a14:m>
                  <m:oMath xmlns:m="http://schemas.openxmlformats.org/officeDocument/2006/math">
                    <m:r>
                      <a:rPr lang="en-US" i="1" dirty="0">
                        <a:latin typeface="Cambria Math" panose="02040503050406030204" pitchFamily="18" charset="0"/>
                      </a:rPr>
                      <m:t>𝜙</m:t>
                    </m:r>
                    <m:r>
                      <a:rPr lang="el-GR" i="1" dirty="0">
                        <a:latin typeface="Cambria Math" panose="02040503050406030204" pitchFamily="18" charset="0"/>
                      </a:rPr>
                      <m:t>:</m:t>
                    </m:r>
                    <m:r>
                      <a:rPr lang="en-US" b="0" i="1" dirty="0" smtClean="0">
                        <a:latin typeface="Cambria Math" panose="02040503050406030204" pitchFamily="18" charset="0"/>
                      </a:rPr>
                      <m:t> </m:t>
                    </m:r>
                    <m:sSubSup>
                      <m:sSubSupPr>
                        <m:ctrlPr>
                          <a:rPr lang="en-US" i="1" dirty="0">
                            <a:latin typeface="Cambria Math" panose="02040503050406030204" pitchFamily="18" charset="0"/>
                          </a:rPr>
                        </m:ctrlPr>
                      </m:sSubSupPr>
                      <m:e>
                        <m:r>
                          <a:rPr lang="en-US" i="1" dirty="0">
                            <a:latin typeface="Cambria Math" panose="02040503050406030204" pitchFamily="18" charset="0"/>
                          </a:rPr>
                          <m:t>𝜙</m:t>
                        </m:r>
                      </m:e>
                      <m:sub>
                        <m:r>
                          <a:rPr lang="en-US" i="1" dirty="0">
                            <a:latin typeface="Cambria Math" panose="02040503050406030204" pitchFamily="18" charset="0"/>
                          </a:rPr>
                          <m:t>𝑖</m:t>
                        </m:r>
                        <m:r>
                          <a:rPr lang="en-US" i="1" dirty="0">
                            <a:latin typeface="Cambria Math" panose="02040503050406030204" pitchFamily="18" charset="0"/>
                          </a:rPr>
                          <m:t>,</m:t>
                        </m:r>
                        <m:r>
                          <a:rPr lang="en-US" i="1" dirty="0">
                            <a:latin typeface="Cambria Math" panose="02040503050406030204" pitchFamily="18" charset="0"/>
                          </a:rPr>
                          <m:t>𝑗</m:t>
                        </m:r>
                      </m:sub>
                      <m:sup>
                        <m:r>
                          <a:rPr lang="en-US" i="1" dirty="0">
                            <a:latin typeface="Cambria Math" panose="02040503050406030204" pitchFamily="18" charset="0"/>
                          </a:rPr>
                          <m:t>(</m:t>
                        </m:r>
                        <m:r>
                          <a:rPr lang="en-US" b="0" i="1" dirty="0" smtClean="0">
                            <a:latin typeface="Cambria Math" panose="02040503050406030204" pitchFamily="18" charset="0"/>
                          </a:rPr>
                          <m:t>1</m:t>
                        </m:r>
                        <m:r>
                          <a:rPr lang="en-US" i="1" dirty="0">
                            <a:latin typeface="Cambria Math" panose="02040503050406030204" pitchFamily="18" charset="0"/>
                          </a:rPr>
                          <m:t>)</m:t>
                        </m:r>
                      </m:sup>
                    </m:sSubSup>
                  </m:oMath>
                </a14:m>
                <a:endParaRPr lang="en-US" dirty="0"/>
              </a:p>
              <a:p>
                <a:pPr marL="0" indent="0">
                  <a:lnSpc>
                    <a:spcPct val="150000"/>
                  </a:lnSpc>
                  <a:buNone/>
                </a:pPr>
                <a14:m>
                  <m:oMathPara xmlns:m="http://schemas.openxmlformats.org/officeDocument/2006/math">
                    <m:oMathParaPr>
                      <m:jc m:val="centerGroup"/>
                    </m:oMathParaPr>
                    <m:oMath xmlns:m="http://schemas.openxmlformats.org/officeDocument/2006/math">
                      <m:sSubSup>
                        <m:sSubSupPr>
                          <m:ctrlPr>
                            <a:rPr lang="en-US" b="0" i="1" smtClean="0">
                              <a:latin typeface="Cambria Math" panose="02040503050406030204" pitchFamily="18" charset="0"/>
                            </a:rPr>
                          </m:ctrlPr>
                        </m:sSubSupPr>
                        <m:e>
                          <m:r>
                            <a:rPr lang="en-US" i="1">
                              <a:latin typeface="Cambria Math" panose="02040503050406030204" pitchFamily="18" charset="0"/>
                            </a:rPr>
                            <m:t>𝜙</m:t>
                          </m:r>
                        </m:e>
                        <m:sub>
                          <m:r>
                            <a:rPr lang="en-US" i="1">
                              <a:latin typeface="Cambria Math" panose="02040503050406030204" pitchFamily="18" charset="0"/>
                            </a:rPr>
                            <m:t>𝑖</m:t>
                          </m:r>
                          <m:r>
                            <a:rPr lang="en-US" i="1">
                              <a:latin typeface="Cambria Math" panose="02040503050406030204" pitchFamily="18" charset="0"/>
                            </a:rPr>
                            <m:t>,</m:t>
                          </m:r>
                          <m:r>
                            <a:rPr lang="en-US" i="1">
                              <a:latin typeface="Cambria Math" panose="02040503050406030204" pitchFamily="18" charset="0"/>
                            </a:rPr>
                            <m:t>𝑗</m:t>
                          </m:r>
                        </m:sub>
                        <m:sup>
                          <m:r>
                            <a:rPr lang="en-US" b="0" i="1" smtClean="0">
                              <a:latin typeface="Cambria Math" panose="02040503050406030204" pitchFamily="18" charset="0"/>
                            </a:rPr>
                            <m:t>(1)</m:t>
                          </m:r>
                        </m:sup>
                      </m:sSubSup>
                      <m:r>
                        <a:rPr lang="en-US" i="1">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1</m:t>
                          </m:r>
                        </m:num>
                        <m:den>
                          <m:r>
                            <a:rPr lang="en-US" i="1">
                              <a:latin typeface="Cambria Math" panose="02040503050406030204" pitchFamily="18" charset="0"/>
                            </a:rPr>
                            <m:t>4</m:t>
                          </m:r>
                        </m:den>
                      </m:f>
                      <m:d>
                        <m:dPr>
                          <m:ctrlPr>
                            <a:rPr lang="en-US" i="1">
                              <a:latin typeface="Cambria Math" panose="02040503050406030204" pitchFamily="18" charset="0"/>
                            </a:rPr>
                          </m:ctrlPr>
                        </m:dPr>
                        <m:e>
                          <m:sSubSup>
                            <m:sSubSupPr>
                              <m:ctrlPr>
                                <a:rPr lang="en-US" b="0" i="1" smtClean="0">
                                  <a:latin typeface="Cambria Math" panose="02040503050406030204" pitchFamily="18" charset="0"/>
                                </a:rPr>
                              </m:ctrlPr>
                            </m:sSubSupPr>
                            <m:e>
                              <m:r>
                                <a:rPr lang="en-US" i="1">
                                  <a:latin typeface="Cambria Math" panose="02040503050406030204" pitchFamily="18" charset="0"/>
                                </a:rPr>
                                <m:t>𝜙</m:t>
                              </m:r>
                            </m:e>
                            <m:sub>
                              <m:r>
                                <a:rPr lang="en-US" i="1">
                                  <a:latin typeface="Cambria Math" panose="02040503050406030204" pitchFamily="18" charset="0"/>
                                </a:rPr>
                                <m:t>𝑖</m:t>
                              </m:r>
                              <m:r>
                                <a:rPr lang="en-US" i="1">
                                  <a:latin typeface="Cambria Math" panose="02040503050406030204" pitchFamily="18" charset="0"/>
                                </a:rPr>
                                <m:t>+1,</m:t>
                              </m:r>
                              <m:r>
                                <a:rPr lang="en-US" i="1">
                                  <a:latin typeface="Cambria Math" panose="02040503050406030204" pitchFamily="18" charset="0"/>
                                </a:rPr>
                                <m:t>𝑗</m:t>
                              </m:r>
                            </m:sub>
                            <m:sup>
                              <m:r>
                                <a:rPr lang="en-US" b="0" i="1" smtClean="0">
                                  <a:latin typeface="Cambria Math" panose="02040503050406030204" pitchFamily="18" charset="0"/>
                                </a:rPr>
                                <m:t>(0)</m:t>
                              </m:r>
                            </m:sup>
                          </m:sSubSup>
                          <m:r>
                            <a:rPr lang="en-US" i="1">
                              <a:latin typeface="Cambria Math" panose="02040503050406030204" pitchFamily="18" charset="0"/>
                            </a:rPr>
                            <m:t>+</m:t>
                          </m:r>
                          <m:sSubSup>
                            <m:sSubSupPr>
                              <m:ctrlPr>
                                <a:rPr lang="en-US" b="0" i="1" smtClean="0">
                                  <a:latin typeface="Cambria Math" panose="02040503050406030204" pitchFamily="18" charset="0"/>
                                </a:rPr>
                              </m:ctrlPr>
                            </m:sSubSupPr>
                            <m:e>
                              <m:r>
                                <a:rPr lang="en-US" i="1">
                                  <a:latin typeface="Cambria Math" panose="02040503050406030204" pitchFamily="18" charset="0"/>
                                </a:rPr>
                                <m:t>𝜙</m:t>
                              </m:r>
                            </m:e>
                            <m:sub>
                              <m:r>
                                <a:rPr lang="en-US" i="1">
                                  <a:latin typeface="Cambria Math" panose="02040503050406030204" pitchFamily="18" charset="0"/>
                                </a:rPr>
                                <m:t>𝑖</m:t>
                              </m:r>
                              <m:r>
                                <a:rPr lang="en-US" i="1">
                                  <a:latin typeface="Cambria Math" panose="02040503050406030204" pitchFamily="18" charset="0"/>
                                </a:rPr>
                                <m:t>−1,</m:t>
                              </m:r>
                              <m:r>
                                <a:rPr lang="en-US" i="1">
                                  <a:latin typeface="Cambria Math" panose="02040503050406030204" pitchFamily="18" charset="0"/>
                                </a:rPr>
                                <m:t>𝑗</m:t>
                              </m:r>
                            </m:sub>
                            <m:sup>
                              <m:r>
                                <a:rPr lang="en-US" b="0" i="1" smtClean="0">
                                  <a:latin typeface="Cambria Math" panose="02040503050406030204" pitchFamily="18" charset="0"/>
                                </a:rPr>
                                <m:t>(0)</m:t>
                              </m:r>
                            </m:sup>
                          </m:sSubSup>
                          <m:r>
                            <a:rPr lang="en-US" i="1">
                              <a:latin typeface="Cambria Math" panose="02040503050406030204" pitchFamily="18" charset="0"/>
                            </a:rPr>
                            <m:t>+</m:t>
                          </m:r>
                          <m:sSubSup>
                            <m:sSubSupPr>
                              <m:ctrlPr>
                                <a:rPr lang="en-US" b="0" i="1" smtClean="0">
                                  <a:latin typeface="Cambria Math" panose="02040503050406030204" pitchFamily="18" charset="0"/>
                                </a:rPr>
                              </m:ctrlPr>
                            </m:sSubSupPr>
                            <m:e>
                              <m:r>
                                <a:rPr lang="en-US" i="1">
                                  <a:latin typeface="Cambria Math" panose="02040503050406030204" pitchFamily="18" charset="0"/>
                                </a:rPr>
                                <m:t>𝜙</m:t>
                              </m:r>
                            </m:e>
                            <m:sub>
                              <m:r>
                                <a:rPr lang="en-US" i="1">
                                  <a:latin typeface="Cambria Math" panose="02040503050406030204" pitchFamily="18" charset="0"/>
                                </a:rPr>
                                <m:t>𝑖</m:t>
                              </m:r>
                              <m:r>
                                <a:rPr lang="en-US" i="1">
                                  <a:latin typeface="Cambria Math" panose="02040503050406030204" pitchFamily="18" charset="0"/>
                                </a:rPr>
                                <m:t>,</m:t>
                              </m:r>
                              <m:r>
                                <a:rPr lang="en-US" i="1">
                                  <a:latin typeface="Cambria Math" panose="02040503050406030204" pitchFamily="18" charset="0"/>
                                </a:rPr>
                                <m:t>𝑗</m:t>
                              </m:r>
                              <m:r>
                                <a:rPr lang="en-US" i="1">
                                  <a:latin typeface="Cambria Math" panose="02040503050406030204" pitchFamily="18" charset="0"/>
                                </a:rPr>
                                <m:t>+1</m:t>
                              </m:r>
                            </m:sub>
                            <m:sup>
                              <m:r>
                                <a:rPr lang="en-US" b="0" i="1" smtClean="0">
                                  <a:latin typeface="Cambria Math" panose="02040503050406030204" pitchFamily="18" charset="0"/>
                                </a:rPr>
                                <m:t>(0)</m:t>
                              </m:r>
                            </m:sup>
                          </m:sSubSup>
                          <m:r>
                            <a:rPr lang="en-US" i="1">
                              <a:latin typeface="Cambria Math" panose="02040503050406030204" pitchFamily="18" charset="0"/>
                            </a:rPr>
                            <m:t>+</m:t>
                          </m:r>
                          <m:sSubSup>
                            <m:sSubSupPr>
                              <m:ctrlPr>
                                <a:rPr lang="en-US" b="0" i="1" smtClean="0">
                                  <a:latin typeface="Cambria Math" panose="02040503050406030204" pitchFamily="18" charset="0"/>
                                </a:rPr>
                              </m:ctrlPr>
                            </m:sSubSupPr>
                            <m:e>
                              <m:r>
                                <a:rPr lang="en-US" i="1">
                                  <a:latin typeface="Cambria Math" panose="02040503050406030204" pitchFamily="18" charset="0"/>
                                </a:rPr>
                                <m:t>𝜙</m:t>
                              </m:r>
                            </m:e>
                            <m:sub>
                              <m:r>
                                <a:rPr lang="en-US" i="1">
                                  <a:latin typeface="Cambria Math" panose="02040503050406030204" pitchFamily="18" charset="0"/>
                                </a:rPr>
                                <m:t>𝑖</m:t>
                              </m:r>
                              <m:r>
                                <a:rPr lang="en-US" i="1">
                                  <a:latin typeface="Cambria Math" panose="02040503050406030204" pitchFamily="18" charset="0"/>
                                </a:rPr>
                                <m:t>,</m:t>
                              </m:r>
                              <m:r>
                                <a:rPr lang="en-US" i="1">
                                  <a:latin typeface="Cambria Math" panose="02040503050406030204" pitchFamily="18" charset="0"/>
                                </a:rPr>
                                <m:t>𝑗</m:t>
                              </m:r>
                              <m:r>
                                <a:rPr lang="en-US" i="1">
                                  <a:latin typeface="Cambria Math" panose="02040503050406030204" pitchFamily="18" charset="0"/>
                                </a:rPr>
                                <m:t>−1</m:t>
                              </m:r>
                            </m:sub>
                            <m:sup>
                              <m:r>
                                <a:rPr lang="en-US" b="0" i="1" smtClean="0">
                                  <a:latin typeface="Cambria Math" panose="02040503050406030204" pitchFamily="18" charset="0"/>
                                </a:rPr>
                                <m:t>(0)</m:t>
                              </m:r>
                            </m:sup>
                          </m:sSubSup>
                          <m:r>
                            <a:rPr lang="en-US" i="1">
                              <a:latin typeface="Cambria Math" panose="02040503050406030204" pitchFamily="18" charset="0"/>
                            </a:rPr>
                            <m:t>−</m:t>
                          </m:r>
                          <m:r>
                            <m:rPr>
                              <m:sty m:val="p"/>
                            </m:rPr>
                            <a:rPr lang="en-US">
                              <a:latin typeface="Cambria Math" panose="02040503050406030204" pitchFamily="18" charset="0"/>
                            </a:rPr>
                            <m:t>Δ</m:t>
                          </m:r>
                          <m:sSup>
                            <m:sSupPr>
                              <m:ctrlPr>
                                <a:rPr lang="en-US" i="1">
                                  <a:latin typeface="Cambria Math" panose="02040503050406030204" pitchFamily="18" charset="0"/>
                                </a:rPr>
                              </m:ctrlPr>
                            </m:sSupPr>
                            <m:e>
                              <m:r>
                                <a:rPr lang="en-US" i="1">
                                  <a:latin typeface="Cambria Math" panose="02040503050406030204" pitchFamily="18" charset="0"/>
                                </a:rPr>
                                <m:t>𝑥</m:t>
                              </m:r>
                            </m:e>
                            <m:sup>
                              <m:r>
                                <a:rPr lang="en-US" i="1">
                                  <a:latin typeface="Cambria Math" panose="02040503050406030204" pitchFamily="18" charset="0"/>
                                </a:rPr>
                                <m:t>2</m:t>
                              </m:r>
                            </m:sup>
                          </m:sSup>
                          <m:sSub>
                            <m:sSubPr>
                              <m:ctrlPr>
                                <a:rPr lang="en-US" i="1">
                                  <a:latin typeface="Cambria Math" panose="02040503050406030204" pitchFamily="18" charset="0"/>
                                </a:rPr>
                              </m:ctrlPr>
                            </m:sSubPr>
                            <m:e>
                              <m:r>
                                <a:rPr lang="en-US" i="1">
                                  <a:latin typeface="Cambria Math" panose="02040503050406030204" pitchFamily="18" charset="0"/>
                                </a:rPr>
                                <m:t>𝑓</m:t>
                              </m:r>
                            </m:e>
                            <m:sub>
                              <m:r>
                                <a:rPr lang="en-US" i="1">
                                  <a:latin typeface="Cambria Math" panose="02040503050406030204" pitchFamily="18" charset="0"/>
                                </a:rPr>
                                <m:t>𝑖</m:t>
                              </m:r>
                              <m:r>
                                <a:rPr lang="en-US" i="1">
                                  <a:latin typeface="Cambria Math" panose="02040503050406030204" pitchFamily="18" charset="0"/>
                                </a:rPr>
                                <m:t>,</m:t>
                              </m:r>
                              <m:r>
                                <a:rPr lang="en-US" i="1">
                                  <a:latin typeface="Cambria Math" panose="02040503050406030204" pitchFamily="18" charset="0"/>
                                </a:rPr>
                                <m:t>𝑗</m:t>
                              </m:r>
                            </m:sub>
                          </m:sSub>
                        </m:e>
                      </m:d>
                    </m:oMath>
                  </m:oMathPara>
                </a14:m>
                <a:endParaRPr lang="el-GR" dirty="0"/>
              </a:p>
              <a:p>
                <a:pPr marL="0" indent="0">
                  <a:buNone/>
                </a:pPr>
                <a:endParaRPr lang="en-US" dirty="0"/>
              </a:p>
              <a:p>
                <a:pPr marL="514350" indent="-514350">
                  <a:buFont typeface="+mj-lt"/>
                  <a:buAutoNum type="arabicPeriod" startAt="3"/>
                </a:pPr>
                <a:endParaRPr lang="el-GR" dirty="0"/>
              </a:p>
              <a:p>
                <a:endParaRPr lang="en-US" dirty="0"/>
              </a:p>
            </p:txBody>
          </p:sp>
        </mc:Choice>
        <mc:Fallback xmlns="">
          <p:sp>
            <p:nvSpPr>
              <p:cNvPr id="3" name="Content Placeholder 2">
                <a:extLst>
                  <a:ext uri="{FF2B5EF4-FFF2-40B4-BE49-F238E27FC236}">
                    <a16:creationId xmlns:a16="http://schemas.microsoft.com/office/drawing/2014/main" id="{15C4FD65-F675-944D-A379-3A5FFFAEB784}"/>
                  </a:ext>
                </a:extLst>
              </p:cNvPr>
              <p:cNvSpPr>
                <a:spLocks noGrp="1" noRot="1" noChangeAspect="1" noMove="1" noResize="1" noEditPoints="1" noAdjustHandles="1" noChangeArrowheads="1" noChangeShapeType="1" noTextEdit="1"/>
              </p:cNvSpPr>
              <p:nvPr>
                <p:ph idx="1"/>
              </p:nvPr>
            </p:nvSpPr>
            <p:spPr>
              <a:xfrm>
                <a:off x="838200" y="1325562"/>
                <a:ext cx="10515600" cy="5532437"/>
              </a:xfrm>
              <a:blipFill>
                <a:blip r:embed="rId2"/>
                <a:stretch>
                  <a:fillRect l="-1086" t="-1602"/>
                </a:stretch>
              </a:blipFill>
            </p:spPr>
            <p:txBody>
              <a:bodyPr/>
              <a:lstStyle/>
              <a:p>
                <a:r>
                  <a:rPr lang="en-US">
                    <a:noFill/>
                  </a:rPr>
                  <a:t> </a:t>
                </a:r>
              </a:p>
            </p:txBody>
          </p:sp>
        </mc:Fallback>
      </mc:AlternateContent>
      <p:sp>
        <p:nvSpPr>
          <p:cNvPr id="4" name="Title 1">
            <a:extLst>
              <a:ext uri="{FF2B5EF4-FFF2-40B4-BE49-F238E27FC236}">
                <a16:creationId xmlns:a16="http://schemas.microsoft.com/office/drawing/2014/main" id="{91778DB4-F5D9-3347-9B37-EF8C81AD9879}"/>
              </a:ext>
            </a:extLst>
          </p:cNvPr>
          <p:cNvSpPr>
            <a:spLocks noGrp="1"/>
          </p:cNvSpPr>
          <p:nvPr>
            <p:ph type="title"/>
          </p:nvPr>
        </p:nvSpPr>
        <p:spPr>
          <a:xfrm>
            <a:off x="462987" y="0"/>
            <a:ext cx="11331615" cy="1325563"/>
          </a:xfrm>
        </p:spPr>
        <p:txBody>
          <a:bodyPr/>
          <a:lstStyle/>
          <a:p>
            <a:r>
              <a:rPr lang="en-US" dirty="0"/>
              <a:t>The relaxation method for the Poisson problem:</a:t>
            </a:r>
          </a:p>
        </p:txBody>
      </p:sp>
    </p:spTree>
    <p:extLst>
      <p:ext uri="{BB962C8B-B14F-4D97-AF65-F5344CB8AC3E}">
        <p14:creationId xmlns:p14="http://schemas.microsoft.com/office/powerpoint/2010/main" val="223091557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5C4FD65-F675-944D-A379-3A5FFFAEB784}"/>
                  </a:ext>
                </a:extLst>
              </p:cNvPr>
              <p:cNvSpPr>
                <a:spLocks noGrp="1"/>
              </p:cNvSpPr>
              <p:nvPr>
                <p:ph idx="1"/>
              </p:nvPr>
            </p:nvSpPr>
            <p:spPr>
              <a:xfrm>
                <a:off x="838200" y="1325562"/>
                <a:ext cx="10515600" cy="5532437"/>
              </a:xfrm>
            </p:spPr>
            <p:txBody>
              <a:bodyPr/>
              <a:lstStyle/>
              <a:p>
                <a:pPr marL="514350" indent="-514350">
                  <a:buFont typeface="+mj-lt"/>
                  <a:buAutoNum type="arabicPeriod"/>
                </a:pPr>
                <a:r>
                  <a:rPr lang="en-US" dirty="0"/>
                  <a:t>Imagine an initial guess to </a:t>
                </a:r>
                <a14:m>
                  <m:oMath xmlns:m="http://schemas.openxmlformats.org/officeDocument/2006/math">
                    <m:r>
                      <a:rPr lang="en-US" b="0" i="1" dirty="0" smtClean="0">
                        <a:latin typeface="Cambria Math" panose="02040503050406030204" pitchFamily="18" charset="0"/>
                      </a:rPr>
                      <m:t>𝜙</m:t>
                    </m:r>
                    <m:r>
                      <a:rPr lang="el-GR" i="1" dirty="0" smtClean="0">
                        <a:latin typeface="Cambria Math" panose="02040503050406030204" pitchFamily="18" charset="0"/>
                      </a:rPr>
                      <m:t>:</m:t>
                    </m:r>
                    <m:r>
                      <a:rPr lang="en-US" b="0" i="1" dirty="0" smtClean="0">
                        <a:latin typeface="Cambria Math" panose="02040503050406030204" pitchFamily="18" charset="0"/>
                      </a:rPr>
                      <m:t> </m:t>
                    </m:r>
                    <m:sSubSup>
                      <m:sSubSupPr>
                        <m:ctrlPr>
                          <a:rPr lang="en-US" b="0" i="1" dirty="0" smtClean="0">
                            <a:latin typeface="Cambria Math" panose="02040503050406030204" pitchFamily="18" charset="0"/>
                          </a:rPr>
                        </m:ctrlPr>
                      </m:sSubSupPr>
                      <m:e>
                        <m:r>
                          <a:rPr lang="en-US" b="0" i="1" dirty="0" smtClean="0">
                            <a:latin typeface="Cambria Math" panose="02040503050406030204" pitchFamily="18" charset="0"/>
                          </a:rPr>
                          <m:t>𝜙</m:t>
                        </m:r>
                      </m:e>
                      <m:sub>
                        <m:r>
                          <a:rPr lang="en-US" b="0" i="1" dirty="0" smtClean="0">
                            <a:latin typeface="Cambria Math" panose="02040503050406030204" pitchFamily="18" charset="0"/>
                          </a:rPr>
                          <m:t>𝑖</m:t>
                        </m:r>
                        <m:r>
                          <a:rPr lang="en-US" b="0" i="1" dirty="0" smtClean="0">
                            <a:latin typeface="Cambria Math" panose="02040503050406030204" pitchFamily="18" charset="0"/>
                          </a:rPr>
                          <m:t>,</m:t>
                        </m:r>
                        <m:r>
                          <a:rPr lang="en-US" b="0" i="1" dirty="0" smtClean="0">
                            <a:latin typeface="Cambria Math" panose="02040503050406030204" pitchFamily="18" charset="0"/>
                          </a:rPr>
                          <m:t>𝑗</m:t>
                        </m:r>
                      </m:sub>
                      <m:sup>
                        <m:r>
                          <a:rPr lang="en-US" b="0" i="1" dirty="0" smtClean="0">
                            <a:latin typeface="Cambria Math" panose="02040503050406030204" pitchFamily="18" charset="0"/>
                          </a:rPr>
                          <m:t>(0)</m:t>
                        </m:r>
                      </m:sup>
                    </m:sSubSup>
                    <m:r>
                      <a:rPr lang="el-GR" i="1" dirty="0" smtClean="0">
                        <a:latin typeface="Cambria Math" panose="02040503050406030204" pitchFamily="18" charset="0"/>
                      </a:rPr>
                      <m:t> </m:t>
                    </m:r>
                  </m:oMath>
                </a14:m>
                <a:endParaRPr lang="en-US" dirty="0"/>
              </a:p>
              <a:p>
                <a:pPr marL="514350" indent="-514350">
                  <a:buFont typeface="+mj-lt"/>
                  <a:buAutoNum type="arabicPeriod"/>
                </a:pPr>
                <a:r>
                  <a:rPr lang="en-US" dirty="0"/>
                  <a:t>We can improve this guess by using our difference equation to define a new value of </a:t>
                </a:r>
                <a14:m>
                  <m:oMath xmlns:m="http://schemas.openxmlformats.org/officeDocument/2006/math">
                    <m:r>
                      <a:rPr lang="en-US" i="1" dirty="0">
                        <a:latin typeface="Cambria Math" panose="02040503050406030204" pitchFamily="18" charset="0"/>
                      </a:rPr>
                      <m:t>𝜙</m:t>
                    </m:r>
                    <m:r>
                      <a:rPr lang="el-GR" i="1" dirty="0">
                        <a:latin typeface="Cambria Math" panose="02040503050406030204" pitchFamily="18" charset="0"/>
                      </a:rPr>
                      <m:t>:</m:t>
                    </m:r>
                    <m:r>
                      <a:rPr lang="en-US" b="0" i="1" dirty="0" smtClean="0">
                        <a:latin typeface="Cambria Math" panose="02040503050406030204" pitchFamily="18" charset="0"/>
                      </a:rPr>
                      <m:t> </m:t>
                    </m:r>
                    <m:sSubSup>
                      <m:sSubSupPr>
                        <m:ctrlPr>
                          <a:rPr lang="en-US" i="1" dirty="0">
                            <a:latin typeface="Cambria Math" panose="02040503050406030204" pitchFamily="18" charset="0"/>
                          </a:rPr>
                        </m:ctrlPr>
                      </m:sSubSupPr>
                      <m:e>
                        <m:r>
                          <a:rPr lang="en-US" i="1" dirty="0">
                            <a:latin typeface="Cambria Math" panose="02040503050406030204" pitchFamily="18" charset="0"/>
                          </a:rPr>
                          <m:t>𝜙</m:t>
                        </m:r>
                      </m:e>
                      <m:sub>
                        <m:r>
                          <a:rPr lang="en-US" i="1" dirty="0">
                            <a:latin typeface="Cambria Math" panose="02040503050406030204" pitchFamily="18" charset="0"/>
                          </a:rPr>
                          <m:t>𝑖</m:t>
                        </m:r>
                        <m:r>
                          <a:rPr lang="en-US" i="1" dirty="0">
                            <a:latin typeface="Cambria Math" panose="02040503050406030204" pitchFamily="18" charset="0"/>
                          </a:rPr>
                          <m:t>,</m:t>
                        </m:r>
                        <m:r>
                          <a:rPr lang="en-US" i="1" dirty="0">
                            <a:latin typeface="Cambria Math" panose="02040503050406030204" pitchFamily="18" charset="0"/>
                          </a:rPr>
                          <m:t>𝑗</m:t>
                        </m:r>
                      </m:sub>
                      <m:sup>
                        <m:r>
                          <a:rPr lang="en-US" i="1" dirty="0">
                            <a:latin typeface="Cambria Math" panose="02040503050406030204" pitchFamily="18" charset="0"/>
                          </a:rPr>
                          <m:t>(</m:t>
                        </m:r>
                        <m:r>
                          <a:rPr lang="en-US" b="0" i="1" dirty="0" smtClean="0">
                            <a:latin typeface="Cambria Math" panose="02040503050406030204" pitchFamily="18" charset="0"/>
                          </a:rPr>
                          <m:t>1</m:t>
                        </m:r>
                        <m:r>
                          <a:rPr lang="en-US" i="1" dirty="0">
                            <a:latin typeface="Cambria Math" panose="02040503050406030204" pitchFamily="18" charset="0"/>
                          </a:rPr>
                          <m:t>)</m:t>
                        </m:r>
                      </m:sup>
                    </m:sSubSup>
                  </m:oMath>
                </a14:m>
                <a:endParaRPr lang="en-US" dirty="0"/>
              </a:p>
              <a:p>
                <a:pPr marL="0" indent="0">
                  <a:lnSpc>
                    <a:spcPct val="150000"/>
                  </a:lnSpc>
                  <a:buNone/>
                </a:pPr>
                <a14:m>
                  <m:oMathPara xmlns:m="http://schemas.openxmlformats.org/officeDocument/2006/math">
                    <m:oMathParaPr>
                      <m:jc m:val="centerGroup"/>
                    </m:oMathParaPr>
                    <m:oMath xmlns:m="http://schemas.openxmlformats.org/officeDocument/2006/math">
                      <m:sSubSup>
                        <m:sSubSupPr>
                          <m:ctrlPr>
                            <a:rPr lang="en-US" b="0" i="1" smtClean="0">
                              <a:latin typeface="Cambria Math" panose="02040503050406030204" pitchFamily="18" charset="0"/>
                            </a:rPr>
                          </m:ctrlPr>
                        </m:sSubSupPr>
                        <m:e>
                          <m:r>
                            <a:rPr lang="en-US" i="1">
                              <a:latin typeface="Cambria Math" panose="02040503050406030204" pitchFamily="18" charset="0"/>
                            </a:rPr>
                            <m:t>𝜙</m:t>
                          </m:r>
                        </m:e>
                        <m:sub>
                          <m:r>
                            <a:rPr lang="en-US" i="1">
                              <a:latin typeface="Cambria Math" panose="02040503050406030204" pitchFamily="18" charset="0"/>
                            </a:rPr>
                            <m:t>𝑖</m:t>
                          </m:r>
                          <m:r>
                            <a:rPr lang="en-US" i="1">
                              <a:latin typeface="Cambria Math" panose="02040503050406030204" pitchFamily="18" charset="0"/>
                            </a:rPr>
                            <m:t>,</m:t>
                          </m:r>
                          <m:r>
                            <a:rPr lang="en-US" i="1">
                              <a:latin typeface="Cambria Math" panose="02040503050406030204" pitchFamily="18" charset="0"/>
                            </a:rPr>
                            <m:t>𝑗</m:t>
                          </m:r>
                        </m:sub>
                        <m:sup>
                          <m:r>
                            <a:rPr lang="en-US" b="0" i="1" smtClean="0">
                              <a:latin typeface="Cambria Math" panose="02040503050406030204" pitchFamily="18" charset="0"/>
                            </a:rPr>
                            <m:t>(1)</m:t>
                          </m:r>
                        </m:sup>
                      </m:sSubSup>
                      <m:r>
                        <a:rPr lang="en-US" i="1">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1</m:t>
                          </m:r>
                        </m:num>
                        <m:den>
                          <m:r>
                            <a:rPr lang="en-US" i="1">
                              <a:latin typeface="Cambria Math" panose="02040503050406030204" pitchFamily="18" charset="0"/>
                            </a:rPr>
                            <m:t>4</m:t>
                          </m:r>
                        </m:den>
                      </m:f>
                      <m:d>
                        <m:dPr>
                          <m:ctrlPr>
                            <a:rPr lang="en-US" i="1">
                              <a:latin typeface="Cambria Math" panose="02040503050406030204" pitchFamily="18" charset="0"/>
                            </a:rPr>
                          </m:ctrlPr>
                        </m:dPr>
                        <m:e>
                          <m:sSubSup>
                            <m:sSubSupPr>
                              <m:ctrlPr>
                                <a:rPr lang="en-US" b="0" i="1" smtClean="0">
                                  <a:latin typeface="Cambria Math" panose="02040503050406030204" pitchFamily="18" charset="0"/>
                                </a:rPr>
                              </m:ctrlPr>
                            </m:sSubSupPr>
                            <m:e>
                              <m:r>
                                <a:rPr lang="en-US" i="1">
                                  <a:latin typeface="Cambria Math" panose="02040503050406030204" pitchFamily="18" charset="0"/>
                                </a:rPr>
                                <m:t>𝜙</m:t>
                              </m:r>
                            </m:e>
                            <m:sub>
                              <m:r>
                                <a:rPr lang="en-US" i="1">
                                  <a:latin typeface="Cambria Math" panose="02040503050406030204" pitchFamily="18" charset="0"/>
                                </a:rPr>
                                <m:t>𝑖</m:t>
                              </m:r>
                              <m:r>
                                <a:rPr lang="en-US" i="1">
                                  <a:latin typeface="Cambria Math" panose="02040503050406030204" pitchFamily="18" charset="0"/>
                                </a:rPr>
                                <m:t>+1,</m:t>
                              </m:r>
                              <m:r>
                                <a:rPr lang="en-US" i="1">
                                  <a:latin typeface="Cambria Math" panose="02040503050406030204" pitchFamily="18" charset="0"/>
                                </a:rPr>
                                <m:t>𝑗</m:t>
                              </m:r>
                            </m:sub>
                            <m:sup>
                              <m:r>
                                <a:rPr lang="en-US" b="0" i="1" smtClean="0">
                                  <a:latin typeface="Cambria Math" panose="02040503050406030204" pitchFamily="18" charset="0"/>
                                </a:rPr>
                                <m:t>(0)</m:t>
                              </m:r>
                            </m:sup>
                          </m:sSubSup>
                          <m:r>
                            <a:rPr lang="en-US" i="1">
                              <a:latin typeface="Cambria Math" panose="02040503050406030204" pitchFamily="18" charset="0"/>
                            </a:rPr>
                            <m:t>+</m:t>
                          </m:r>
                          <m:sSubSup>
                            <m:sSubSupPr>
                              <m:ctrlPr>
                                <a:rPr lang="en-US" b="0" i="1" smtClean="0">
                                  <a:latin typeface="Cambria Math" panose="02040503050406030204" pitchFamily="18" charset="0"/>
                                </a:rPr>
                              </m:ctrlPr>
                            </m:sSubSupPr>
                            <m:e>
                              <m:r>
                                <a:rPr lang="en-US" i="1">
                                  <a:latin typeface="Cambria Math" panose="02040503050406030204" pitchFamily="18" charset="0"/>
                                </a:rPr>
                                <m:t>𝜙</m:t>
                              </m:r>
                            </m:e>
                            <m:sub>
                              <m:r>
                                <a:rPr lang="en-US" i="1">
                                  <a:latin typeface="Cambria Math" panose="02040503050406030204" pitchFamily="18" charset="0"/>
                                </a:rPr>
                                <m:t>𝑖</m:t>
                              </m:r>
                              <m:r>
                                <a:rPr lang="en-US" i="1">
                                  <a:latin typeface="Cambria Math" panose="02040503050406030204" pitchFamily="18" charset="0"/>
                                </a:rPr>
                                <m:t>−1,</m:t>
                              </m:r>
                              <m:r>
                                <a:rPr lang="en-US" i="1">
                                  <a:latin typeface="Cambria Math" panose="02040503050406030204" pitchFamily="18" charset="0"/>
                                </a:rPr>
                                <m:t>𝑗</m:t>
                              </m:r>
                            </m:sub>
                            <m:sup>
                              <m:r>
                                <a:rPr lang="en-US" b="0" i="1" smtClean="0">
                                  <a:latin typeface="Cambria Math" panose="02040503050406030204" pitchFamily="18" charset="0"/>
                                </a:rPr>
                                <m:t>(0)</m:t>
                              </m:r>
                            </m:sup>
                          </m:sSubSup>
                          <m:r>
                            <a:rPr lang="en-US" i="1">
                              <a:latin typeface="Cambria Math" panose="02040503050406030204" pitchFamily="18" charset="0"/>
                            </a:rPr>
                            <m:t>+</m:t>
                          </m:r>
                          <m:sSubSup>
                            <m:sSubSupPr>
                              <m:ctrlPr>
                                <a:rPr lang="en-US" b="0" i="1" smtClean="0">
                                  <a:latin typeface="Cambria Math" panose="02040503050406030204" pitchFamily="18" charset="0"/>
                                </a:rPr>
                              </m:ctrlPr>
                            </m:sSubSupPr>
                            <m:e>
                              <m:r>
                                <a:rPr lang="en-US" i="1">
                                  <a:latin typeface="Cambria Math" panose="02040503050406030204" pitchFamily="18" charset="0"/>
                                </a:rPr>
                                <m:t>𝜙</m:t>
                              </m:r>
                            </m:e>
                            <m:sub>
                              <m:r>
                                <a:rPr lang="en-US" i="1">
                                  <a:latin typeface="Cambria Math" panose="02040503050406030204" pitchFamily="18" charset="0"/>
                                </a:rPr>
                                <m:t>𝑖</m:t>
                              </m:r>
                              <m:r>
                                <a:rPr lang="en-US" i="1">
                                  <a:latin typeface="Cambria Math" panose="02040503050406030204" pitchFamily="18" charset="0"/>
                                </a:rPr>
                                <m:t>,</m:t>
                              </m:r>
                              <m:r>
                                <a:rPr lang="en-US" i="1">
                                  <a:latin typeface="Cambria Math" panose="02040503050406030204" pitchFamily="18" charset="0"/>
                                </a:rPr>
                                <m:t>𝑗</m:t>
                              </m:r>
                              <m:r>
                                <a:rPr lang="en-US" i="1">
                                  <a:latin typeface="Cambria Math" panose="02040503050406030204" pitchFamily="18" charset="0"/>
                                </a:rPr>
                                <m:t>+1</m:t>
                              </m:r>
                            </m:sub>
                            <m:sup>
                              <m:r>
                                <a:rPr lang="en-US" b="0" i="1" smtClean="0">
                                  <a:latin typeface="Cambria Math" panose="02040503050406030204" pitchFamily="18" charset="0"/>
                                </a:rPr>
                                <m:t>(0)</m:t>
                              </m:r>
                            </m:sup>
                          </m:sSubSup>
                          <m:r>
                            <a:rPr lang="en-US" i="1">
                              <a:latin typeface="Cambria Math" panose="02040503050406030204" pitchFamily="18" charset="0"/>
                            </a:rPr>
                            <m:t>+</m:t>
                          </m:r>
                          <m:sSubSup>
                            <m:sSubSupPr>
                              <m:ctrlPr>
                                <a:rPr lang="en-US" b="0" i="1" smtClean="0">
                                  <a:latin typeface="Cambria Math" panose="02040503050406030204" pitchFamily="18" charset="0"/>
                                </a:rPr>
                              </m:ctrlPr>
                            </m:sSubSupPr>
                            <m:e>
                              <m:r>
                                <a:rPr lang="en-US" i="1">
                                  <a:latin typeface="Cambria Math" panose="02040503050406030204" pitchFamily="18" charset="0"/>
                                </a:rPr>
                                <m:t>𝜙</m:t>
                              </m:r>
                            </m:e>
                            <m:sub>
                              <m:r>
                                <a:rPr lang="en-US" i="1">
                                  <a:latin typeface="Cambria Math" panose="02040503050406030204" pitchFamily="18" charset="0"/>
                                </a:rPr>
                                <m:t>𝑖</m:t>
                              </m:r>
                              <m:r>
                                <a:rPr lang="en-US" i="1">
                                  <a:latin typeface="Cambria Math" panose="02040503050406030204" pitchFamily="18" charset="0"/>
                                </a:rPr>
                                <m:t>,</m:t>
                              </m:r>
                              <m:r>
                                <a:rPr lang="en-US" i="1">
                                  <a:latin typeface="Cambria Math" panose="02040503050406030204" pitchFamily="18" charset="0"/>
                                </a:rPr>
                                <m:t>𝑗</m:t>
                              </m:r>
                              <m:r>
                                <a:rPr lang="en-US" i="1">
                                  <a:latin typeface="Cambria Math" panose="02040503050406030204" pitchFamily="18" charset="0"/>
                                </a:rPr>
                                <m:t>−1</m:t>
                              </m:r>
                            </m:sub>
                            <m:sup>
                              <m:r>
                                <a:rPr lang="en-US" b="0" i="1" smtClean="0">
                                  <a:latin typeface="Cambria Math" panose="02040503050406030204" pitchFamily="18" charset="0"/>
                                </a:rPr>
                                <m:t>(0)</m:t>
                              </m:r>
                            </m:sup>
                          </m:sSubSup>
                          <m:r>
                            <a:rPr lang="en-US" i="1">
                              <a:latin typeface="Cambria Math" panose="02040503050406030204" pitchFamily="18" charset="0"/>
                            </a:rPr>
                            <m:t>−</m:t>
                          </m:r>
                          <m:r>
                            <m:rPr>
                              <m:sty m:val="p"/>
                            </m:rPr>
                            <a:rPr lang="en-US">
                              <a:latin typeface="Cambria Math" panose="02040503050406030204" pitchFamily="18" charset="0"/>
                            </a:rPr>
                            <m:t>Δ</m:t>
                          </m:r>
                          <m:sSup>
                            <m:sSupPr>
                              <m:ctrlPr>
                                <a:rPr lang="en-US" i="1">
                                  <a:latin typeface="Cambria Math" panose="02040503050406030204" pitchFamily="18" charset="0"/>
                                </a:rPr>
                              </m:ctrlPr>
                            </m:sSupPr>
                            <m:e>
                              <m:r>
                                <a:rPr lang="en-US" i="1">
                                  <a:latin typeface="Cambria Math" panose="02040503050406030204" pitchFamily="18" charset="0"/>
                                </a:rPr>
                                <m:t>𝑥</m:t>
                              </m:r>
                            </m:e>
                            <m:sup>
                              <m:r>
                                <a:rPr lang="en-US" i="1">
                                  <a:latin typeface="Cambria Math" panose="02040503050406030204" pitchFamily="18" charset="0"/>
                                </a:rPr>
                                <m:t>2</m:t>
                              </m:r>
                            </m:sup>
                          </m:sSup>
                          <m:sSub>
                            <m:sSubPr>
                              <m:ctrlPr>
                                <a:rPr lang="en-US" i="1">
                                  <a:latin typeface="Cambria Math" panose="02040503050406030204" pitchFamily="18" charset="0"/>
                                </a:rPr>
                              </m:ctrlPr>
                            </m:sSubPr>
                            <m:e>
                              <m:r>
                                <a:rPr lang="en-US" i="1">
                                  <a:latin typeface="Cambria Math" panose="02040503050406030204" pitchFamily="18" charset="0"/>
                                </a:rPr>
                                <m:t>𝑓</m:t>
                              </m:r>
                            </m:e>
                            <m:sub>
                              <m:r>
                                <a:rPr lang="en-US" i="1">
                                  <a:latin typeface="Cambria Math" panose="02040503050406030204" pitchFamily="18" charset="0"/>
                                </a:rPr>
                                <m:t>𝑖</m:t>
                              </m:r>
                              <m:r>
                                <a:rPr lang="en-US" i="1">
                                  <a:latin typeface="Cambria Math" panose="02040503050406030204" pitchFamily="18" charset="0"/>
                                </a:rPr>
                                <m:t>,</m:t>
                              </m:r>
                              <m:r>
                                <a:rPr lang="en-US" i="1">
                                  <a:latin typeface="Cambria Math" panose="02040503050406030204" pitchFamily="18" charset="0"/>
                                </a:rPr>
                                <m:t>𝑗</m:t>
                              </m:r>
                            </m:sub>
                          </m:sSub>
                        </m:e>
                      </m:d>
                    </m:oMath>
                  </m:oMathPara>
                </a14:m>
                <a:endParaRPr lang="el-GR" dirty="0"/>
              </a:p>
              <a:p>
                <a:pPr marL="514350" indent="-514350">
                  <a:buFont typeface="+mj-lt"/>
                  <a:buAutoNum type="arabicPeriod" startAt="3"/>
                </a:pPr>
                <a:r>
                  <a:rPr lang="en-US" dirty="0"/>
                  <a:t>generally, the </a:t>
                </a:r>
                <a14:m>
                  <m:oMath xmlns:m="http://schemas.openxmlformats.org/officeDocument/2006/math">
                    <m:r>
                      <a:rPr lang="en-US" i="1" dirty="0" smtClean="0">
                        <a:latin typeface="Cambria Math" panose="02040503050406030204" pitchFamily="18" charset="0"/>
                      </a:rPr>
                      <m:t>𝑘</m:t>
                    </m:r>
                    <m:r>
                      <a:rPr lang="en-US" i="1" dirty="0" smtClean="0">
                        <a:latin typeface="Cambria Math" panose="02040503050406030204" pitchFamily="18" charset="0"/>
                      </a:rPr>
                      <m:t>+1 </m:t>
                    </m:r>
                  </m:oMath>
                </a14:m>
                <a:r>
                  <a:rPr lang="en-US" dirty="0"/>
                  <a:t>iteration will see: </a:t>
                </a:r>
              </a:p>
              <a:p>
                <a:pPr marL="0" indent="0">
                  <a:buNone/>
                </a:pPr>
                <a:endParaRPr lang="en-US" dirty="0"/>
              </a:p>
              <a:p>
                <a:pPr marL="0" indent="0">
                  <a:buNone/>
                </a:pPr>
                <a14:m>
                  <m:oMathPara xmlns:m="http://schemas.openxmlformats.org/officeDocument/2006/math">
                    <m:oMathParaPr>
                      <m:jc m:val="centerGroup"/>
                    </m:oMathParaPr>
                    <m:oMath xmlns:m="http://schemas.openxmlformats.org/officeDocument/2006/math">
                      <m:sSubSup>
                        <m:sSubSupPr>
                          <m:ctrlPr>
                            <a:rPr lang="en-US" i="1">
                              <a:latin typeface="Cambria Math" panose="02040503050406030204" pitchFamily="18" charset="0"/>
                            </a:rPr>
                          </m:ctrlPr>
                        </m:sSubSupPr>
                        <m:e>
                          <m:r>
                            <a:rPr lang="en-US" i="1">
                              <a:latin typeface="Cambria Math" panose="02040503050406030204" pitchFamily="18" charset="0"/>
                            </a:rPr>
                            <m:t>𝜙</m:t>
                          </m:r>
                        </m:e>
                        <m:sub>
                          <m:r>
                            <a:rPr lang="en-US" i="1">
                              <a:latin typeface="Cambria Math" panose="02040503050406030204" pitchFamily="18" charset="0"/>
                            </a:rPr>
                            <m:t>𝑖</m:t>
                          </m:r>
                          <m:r>
                            <a:rPr lang="en-US" i="1">
                              <a:latin typeface="Cambria Math" panose="02040503050406030204" pitchFamily="18" charset="0"/>
                            </a:rPr>
                            <m:t>,</m:t>
                          </m:r>
                          <m:r>
                            <a:rPr lang="en-US" i="1">
                              <a:latin typeface="Cambria Math" panose="02040503050406030204" pitchFamily="18" charset="0"/>
                            </a:rPr>
                            <m:t>𝑗</m:t>
                          </m:r>
                        </m:sub>
                        <m:sup>
                          <m:r>
                            <a:rPr lang="en-US" i="1">
                              <a:latin typeface="Cambria Math" panose="02040503050406030204" pitchFamily="18" charset="0"/>
                            </a:rPr>
                            <m:t>(</m:t>
                          </m:r>
                          <m:r>
                            <a:rPr lang="en-US" b="0" i="1" smtClean="0">
                              <a:latin typeface="Cambria Math" panose="02040503050406030204" pitchFamily="18" charset="0"/>
                            </a:rPr>
                            <m:t>𝑘</m:t>
                          </m:r>
                          <m:r>
                            <a:rPr lang="en-US" b="0" i="1" smtClean="0">
                              <a:latin typeface="Cambria Math" panose="02040503050406030204" pitchFamily="18" charset="0"/>
                            </a:rPr>
                            <m:t>+1)</m:t>
                          </m:r>
                        </m:sup>
                      </m:sSubSup>
                      <m:r>
                        <a:rPr lang="en-US" i="1">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1</m:t>
                          </m:r>
                        </m:num>
                        <m:den>
                          <m:r>
                            <a:rPr lang="en-US" i="1">
                              <a:latin typeface="Cambria Math" panose="02040503050406030204" pitchFamily="18" charset="0"/>
                            </a:rPr>
                            <m:t>4</m:t>
                          </m:r>
                        </m:den>
                      </m:f>
                      <m:d>
                        <m:dPr>
                          <m:ctrlPr>
                            <a:rPr lang="en-US" i="1">
                              <a:latin typeface="Cambria Math" panose="02040503050406030204" pitchFamily="18" charset="0"/>
                            </a:rPr>
                          </m:ctrlPr>
                        </m:dPr>
                        <m:e>
                          <m:sSubSup>
                            <m:sSubSupPr>
                              <m:ctrlPr>
                                <a:rPr lang="en-US" i="1">
                                  <a:latin typeface="Cambria Math" panose="02040503050406030204" pitchFamily="18" charset="0"/>
                                </a:rPr>
                              </m:ctrlPr>
                            </m:sSubSupPr>
                            <m:e>
                              <m:r>
                                <a:rPr lang="en-US" i="1">
                                  <a:latin typeface="Cambria Math" panose="02040503050406030204" pitchFamily="18" charset="0"/>
                                </a:rPr>
                                <m:t>𝜙</m:t>
                              </m:r>
                            </m:e>
                            <m:sub>
                              <m:r>
                                <a:rPr lang="en-US" i="1">
                                  <a:latin typeface="Cambria Math" panose="02040503050406030204" pitchFamily="18" charset="0"/>
                                </a:rPr>
                                <m:t>𝑖</m:t>
                              </m:r>
                              <m:r>
                                <a:rPr lang="en-US" i="1">
                                  <a:latin typeface="Cambria Math" panose="02040503050406030204" pitchFamily="18" charset="0"/>
                                </a:rPr>
                                <m:t>+1,</m:t>
                              </m:r>
                              <m:r>
                                <a:rPr lang="en-US" i="1">
                                  <a:latin typeface="Cambria Math" panose="02040503050406030204" pitchFamily="18" charset="0"/>
                                </a:rPr>
                                <m:t>𝑗</m:t>
                              </m:r>
                            </m:sub>
                            <m:sup>
                              <m:r>
                                <a:rPr lang="en-US" i="1">
                                  <a:latin typeface="Cambria Math" panose="02040503050406030204" pitchFamily="18" charset="0"/>
                                </a:rPr>
                                <m:t>(</m:t>
                              </m:r>
                              <m:r>
                                <a:rPr lang="en-US" b="0" i="1" smtClean="0">
                                  <a:latin typeface="Cambria Math" panose="02040503050406030204" pitchFamily="18" charset="0"/>
                                </a:rPr>
                                <m:t>𝑘</m:t>
                              </m:r>
                              <m:r>
                                <a:rPr lang="en-US" i="1">
                                  <a:latin typeface="Cambria Math" panose="02040503050406030204" pitchFamily="18" charset="0"/>
                                </a:rPr>
                                <m:t>)</m:t>
                              </m:r>
                            </m:sup>
                          </m:sSubSup>
                          <m:r>
                            <a:rPr lang="en-US" i="1">
                              <a:latin typeface="Cambria Math" panose="02040503050406030204" pitchFamily="18" charset="0"/>
                            </a:rPr>
                            <m:t>+</m:t>
                          </m:r>
                          <m:sSubSup>
                            <m:sSubSupPr>
                              <m:ctrlPr>
                                <a:rPr lang="en-US" i="1">
                                  <a:latin typeface="Cambria Math" panose="02040503050406030204" pitchFamily="18" charset="0"/>
                                </a:rPr>
                              </m:ctrlPr>
                            </m:sSubSupPr>
                            <m:e>
                              <m:r>
                                <a:rPr lang="en-US" i="1">
                                  <a:latin typeface="Cambria Math" panose="02040503050406030204" pitchFamily="18" charset="0"/>
                                </a:rPr>
                                <m:t>𝜙</m:t>
                              </m:r>
                            </m:e>
                            <m:sub>
                              <m:r>
                                <a:rPr lang="en-US" i="1">
                                  <a:latin typeface="Cambria Math" panose="02040503050406030204" pitchFamily="18" charset="0"/>
                                </a:rPr>
                                <m:t>𝑖</m:t>
                              </m:r>
                              <m:r>
                                <a:rPr lang="en-US" i="1">
                                  <a:latin typeface="Cambria Math" panose="02040503050406030204" pitchFamily="18" charset="0"/>
                                </a:rPr>
                                <m:t>−1,</m:t>
                              </m:r>
                              <m:r>
                                <a:rPr lang="en-US" i="1">
                                  <a:latin typeface="Cambria Math" panose="02040503050406030204" pitchFamily="18" charset="0"/>
                                </a:rPr>
                                <m:t>𝑗</m:t>
                              </m:r>
                            </m:sub>
                            <m:sup>
                              <m:r>
                                <a:rPr lang="en-US" i="1">
                                  <a:latin typeface="Cambria Math" panose="02040503050406030204" pitchFamily="18" charset="0"/>
                                </a:rPr>
                                <m:t>(</m:t>
                              </m:r>
                              <m:r>
                                <a:rPr lang="en-US" b="0" i="1" smtClean="0">
                                  <a:latin typeface="Cambria Math" panose="02040503050406030204" pitchFamily="18" charset="0"/>
                                </a:rPr>
                                <m:t>𝑘</m:t>
                              </m:r>
                              <m:r>
                                <a:rPr lang="en-US" i="1">
                                  <a:latin typeface="Cambria Math" panose="02040503050406030204" pitchFamily="18" charset="0"/>
                                </a:rPr>
                                <m:t>)</m:t>
                              </m:r>
                            </m:sup>
                          </m:sSubSup>
                          <m:r>
                            <a:rPr lang="en-US" i="1">
                              <a:latin typeface="Cambria Math" panose="02040503050406030204" pitchFamily="18" charset="0"/>
                            </a:rPr>
                            <m:t>+</m:t>
                          </m:r>
                          <m:sSubSup>
                            <m:sSubSupPr>
                              <m:ctrlPr>
                                <a:rPr lang="en-US" i="1">
                                  <a:latin typeface="Cambria Math" panose="02040503050406030204" pitchFamily="18" charset="0"/>
                                </a:rPr>
                              </m:ctrlPr>
                            </m:sSubSupPr>
                            <m:e>
                              <m:r>
                                <a:rPr lang="en-US" i="1">
                                  <a:latin typeface="Cambria Math" panose="02040503050406030204" pitchFamily="18" charset="0"/>
                                </a:rPr>
                                <m:t>𝜙</m:t>
                              </m:r>
                            </m:e>
                            <m:sub>
                              <m:r>
                                <a:rPr lang="en-US" i="1">
                                  <a:latin typeface="Cambria Math" panose="02040503050406030204" pitchFamily="18" charset="0"/>
                                </a:rPr>
                                <m:t>𝑖</m:t>
                              </m:r>
                              <m:r>
                                <a:rPr lang="en-US" i="1">
                                  <a:latin typeface="Cambria Math" panose="02040503050406030204" pitchFamily="18" charset="0"/>
                                </a:rPr>
                                <m:t>,</m:t>
                              </m:r>
                              <m:r>
                                <a:rPr lang="en-US" i="1">
                                  <a:latin typeface="Cambria Math" panose="02040503050406030204" pitchFamily="18" charset="0"/>
                                </a:rPr>
                                <m:t>𝑗</m:t>
                              </m:r>
                              <m:r>
                                <a:rPr lang="en-US" i="1">
                                  <a:latin typeface="Cambria Math" panose="02040503050406030204" pitchFamily="18" charset="0"/>
                                </a:rPr>
                                <m:t>+1</m:t>
                              </m:r>
                            </m:sub>
                            <m:sup>
                              <m:r>
                                <a:rPr lang="en-US" i="1">
                                  <a:latin typeface="Cambria Math" panose="02040503050406030204" pitchFamily="18" charset="0"/>
                                </a:rPr>
                                <m:t>(</m:t>
                              </m:r>
                              <m:r>
                                <a:rPr lang="en-US" b="0" i="1" smtClean="0">
                                  <a:latin typeface="Cambria Math" panose="02040503050406030204" pitchFamily="18" charset="0"/>
                                </a:rPr>
                                <m:t>𝑘</m:t>
                              </m:r>
                              <m:r>
                                <a:rPr lang="en-US" i="1">
                                  <a:latin typeface="Cambria Math" panose="02040503050406030204" pitchFamily="18" charset="0"/>
                                </a:rPr>
                                <m:t>)</m:t>
                              </m:r>
                            </m:sup>
                          </m:sSubSup>
                          <m:r>
                            <a:rPr lang="en-US" i="1">
                              <a:latin typeface="Cambria Math" panose="02040503050406030204" pitchFamily="18" charset="0"/>
                            </a:rPr>
                            <m:t>+</m:t>
                          </m:r>
                          <m:sSubSup>
                            <m:sSubSupPr>
                              <m:ctrlPr>
                                <a:rPr lang="en-US" i="1">
                                  <a:latin typeface="Cambria Math" panose="02040503050406030204" pitchFamily="18" charset="0"/>
                                </a:rPr>
                              </m:ctrlPr>
                            </m:sSubSupPr>
                            <m:e>
                              <m:r>
                                <a:rPr lang="en-US" i="1">
                                  <a:latin typeface="Cambria Math" panose="02040503050406030204" pitchFamily="18" charset="0"/>
                                </a:rPr>
                                <m:t>𝜙</m:t>
                              </m:r>
                            </m:e>
                            <m:sub>
                              <m:r>
                                <a:rPr lang="en-US" i="1">
                                  <a:latin typeface="Cambria Math" panose="02040503050406030204" pitchFamily="18" charset="0"/>
                                </a:rPr>
                                <m:t>𝑖</m:t>
                              </m:r>
                              <m:r>
                                <a:rPr lang="en-US" i="1">
                                  <a:latin typeface="Cambria Math" panose="02040503050406030204" pitchFamily="18" charset="0"/>
                                </a:rPr>
                                <m:t>,</m:t>
                              </m:r>
                              <m:r>
                                <a:rPr lang="en-US" i="1">
                                  <a:latin typeface="Cambria Math" panose="02040503050406030204" pitchFamily="18" charset="0"/>
                                </a:rPr>
                                <m:t>𝑗</m:t>
                              </m:r>
                              <m:r>
                                <a:rPr lang="en-US" i="1">
                                  <a:latin typeface="Cambria Math" panose="02040503050406030204" pitchFamily="18" charset="0"/>
                                </a:rPr>
                                <m:t>−1</m:t>
                              </m:r>
                            </m:sub>
                            <m:sup>
                              <m:r>
                                <a:rPr lang="en-US" i="1">
                                  <a:latin typeface="Cambria Math" panose="02040503050406030204" pitchFamily="18" charset="0"/>
                                </a:rPr>
                                <m:t>(</m:t>
                              </m:r>
                              <m:r>
                                <a:rPr lang="en-US" b="0" i="1" smtClean="0">
                                  <a:latin typeface="Cambria Math" panose="02040503050406030204" pitchFamily="18" charset="0"/>
                                </a:rPr>
                                <m:t>𝑘</m:t>
                              </m:r>
                              <m:r>
                                <a:rPr lang="en-US" i="1">
                                  <a:latin typeface="Cambria Math" panose="02040503050406030204" pitchFamily="18" charset="0"/>
                                </a:rPr>
                                <m:t>)</m:t>
                              </m:r>
                            </m:sup>
                          </m:sSubSup>
                          <m:r>
                            <a:rPr lang="en-US" i="1">
                              <a:latin typeface="Cambria Math" panose="02040503050406030204" pitchFamily="18" charset="0"/>
                            </a:rPr>
                            <m:t>−</m:t>
                          </m:r>
                          <m:r>
                            <m:rPr>
                              <m:sty m:val="p"/>
                            </m:rPr>
                            <a:rPr lang="en-US">
                              <a:latin typeface="Cambria Math" panose="02040503050406030204" pitchFamily="18" charset="0"/>
                            </a:rPr>
                            <m:t>Δ</m:t>
                          </m:r>
                          <m:sSup>
                            <m:sSupPr>
                              <m:ctrlPr>
                                <a:rPr lang="en-US" i="1">
                                  <a:latin typeface="Cambria Math" panose="02040503050406030204" pitchFamily="18" charset="0"/>
                                </a:rPr>
                              </m:ctrlPr>
                            </m:sSupPr>
                            <m:e>
                              <m:r>
                                <a:rPr lang="en-US" i="1">
                                  <a:latin typeface="Cambria Math" panose="02040503050406030204" pitchFamily="18" charset="0"/>
                                </a:rPr>
                                <m:t>𝑥</m:t>
                              </m:r>
                            </m:e>
                            <m:sup>
                              <m:r>
                                <a:rPr lang="en-US" i="1">
                                  <a:latin typeface="Cambria Math" panose="02040503050406030204" pitchFamily="18" charset="0"/>
                                </a:rPr>
                                <m:t>2</m:t>
                              </m:r>
                            </m:sup>
                          </m:sSup>
                          <m:sSub>
                            <m:sSubPr>
                              <m:ctrlPr>
                                <a:rPr lang="en-US" i="1">
                                  <a:latin typeface="Cambria Math" panose="02040503050406030204" pitchFamily="18" charset="0"/>
                                </a:rPr>
                              </m:ctrlPr>
                            </m:sSubPr>
                            <m:e>
                              <m:r>
                                <a:rPr lang="en-US" i="1">
                                  <a:latin typeface="Cambria Math" panose="02040503050406030204" pitchFamily="18" charset="0"/>
                                </a:rPr>
                                <m:t>𝑓</m:t>
                              </m:r>
                            </m:e>
                            <m:sub>
                              <m:r>
                                <a:rPr lang="en-US" i="1">
                                  <a:latin typeface="Cambria Math" panose="02040503050406030204" pitchFamily="18" charset="0"/>
                                </a:rPr>
                                <m:t>𝑖</m:t>
                              </m:r>
                              <m:r>
                                <a:rPr lang="en-US" i="1">
                                  <a:latin typeface="Cambria Math" panose="02040503050406030204" pitchFamily="18" charset="0"/>
                                </a:rPr>
                                <m:t>,</m:t>
                              </m:r>
                              <m:r>
                                <a:rPr lang="en-US" i="1">
                                  <a:latin typeface="Cambria Math" panose="02040503050406030204" pitchFamily="18" charset="0"/>
                                </a:rPr>
                                <m:t>𝑗</m:t>
                              </m:r>
                            </m:sub>
                          </m:sSub>
                        </m:e>
                      </m:d>
                    </m:oMath>
                  </m:oMathPara>
                </a14:m>
                <a:endParaRPr lang="el-GR" dirty="0"/>
              </a:p>
              <a:p>
                <a:endParaRPr lang="en-US" dirty="0"/>
              </a:p>
            </p:txBody>
          </p:sp>
        </mc:Choice>
        <mc:Fallback xmlns="">
          <p:sp>
            <p:nvSpPr>
              <p:cNvPr id="3" name="Content Placeholder 2">
                <a:extLst>
                  <a:ext uri="{FF2B5EF4-FFF2-40B4-BE49-F238E27FC236}">
                    <a16:creationId xmlns:a16="http://schemas.microsoft.com/office/drawing/2014/main" id="{15C4FD65-F675-944D-A379-3A5FFFAEB784}"/>
                  </a:ext>
                </a:extLst>
              </p:cNvPr>
              <p:cNvSpPr>
                <a:spLocks noGrp="1" noRot="1" noChangeAspect="1" noMove="1" noResize="1" noEditPoints="1" noAdjustHandles="1" noChangeArrowheads="1" noChangeShapeType="1" noTextEdit="1"/>
              </p:cNvSpPr>
              <p:nvPr>
                <p:ph idx="1"/>
              </p:nvPr>
            </p:nvSpPr>
            <p:spPr>
              <a:xfrm>
                <a:off x="838200" y="1325562"/>
                <a:ext cx="10515600" cy="5532437"/>
              </a:xfrm>
              <a:blipFill>
                <a:blip r:embed="rId2"/>
                <a:stretch>
                  <a:fillRect l="-1086" t="-229"/>
                </a:stretch>
              </a:blipFill>
            </p:spPr>
            <p:txBody>
              <a:bodyPr/>
              <a:lstStyle/>
              <a:p>
                <a:r>
                  <a:rPr lang="en-US">
                    <a:noFill/>
                  </a:rPr>
                  <a:t> </a:t>
                </a:r>
              </a:p>
            </p:txBody>
          </p:sp>
        </mc:Fallback>
      </mc:AlternateContent>
      <p:sp>
        <p:nvSpPr>
          <p:cNvPr id="4" name="Title 1">
            <a:extLst>
              <a:ext uri="{FF2B5EF4-FFF2-40B4-BE49-F238E27FC236}">
                <a16:creationId xmlns:a16="http://schemas.microsoft.com/office/drawing/2014/main" id="{91778DB4-F5D9-3347-9B37-EF8C81AD9879}"/>
              </a:ext>
            </a:extLst>
          </p:cNvPr>
          <p:cNvSpPr>
            <a:spLocks noGrp="1"/>
          </p:cNvSpPr>
          <p:nvPr>
            <p:ph type="title"/>
          </p:nvPr>
        </p:nvSpPr>
        <p:spPr>
          <a:xfrm>
            <a:off x="462987" y="0"/>
            <a:ext cx="11331615" cy="1325563"/>
          </a:xfrm>
        </p:spPr>
        <p:txBody>
          <a:bodyPr/>
          <a:lstStyle/>
          <a:p>
            <a:r>
              <a:rPr lang="en-US" dirty="0"/>
              <a:t>The relaxation method for the Poisson problem:</a:t>
            </a:r>
          </a:p>
        </p:txBody>
      </p:sp>
    </p:spTree>
    <p:extLst>
      <p:ext uri="{BB962C8B-B14F-4D97-AF65-F5344CB8AC3E}">
        <p14:creationId xmlns:p14="http://schemas.microsoft.com/office/powerpoint/2010/main" val="282390184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5C4FD65-F675-944D-A379-3A5FFFAEB784}"/>
                  </a:ext>
                </a:extLst>
              </p:cNvPr>
              <p:cNvSpPr>
                <a:spLocks noGrp="1"/>
              </p:cNvSpPr>
              <p:nvPr>
                <p:ph idx="1"/>
              </p:nvPr>
            </p:nvSpPr>
            <p:spPr>
              <a:xfrm>
                <a:off x="838200" y="1325562"/>
                <a:ext cx="11153172" cy="5532437"/>
              </a:xfrm>
            </p:spPr>
            <p:txBody>
              <a:bodyPr/>
              <a:lstStyle/>
              <a:p>
                <a:r>
                  <a:rPr lang="en-US" dirty="0"/>
                  <a:t>This will (slowly) converge to the true solution.</a:t>
                </a:r>
              </a:p>
              <a:p>
                <a:r>
                  <a:rPr lang="en-US" dirty="0"/>
                  <a:t>Formally, convergence is only guaranteed if the matrix in our linear system is </a:t>
                </a:r>
                <a:r>
                  <a:rPr lang="en-US" i="1" dirty="0"/>
                  <a:t>diagonally dominant</a:t>
                </a:r>
                <a:r>
                  <a:rPr lang="en-US" dirty="0"/>
                  <a:t>. The Laplacian used here is not quite diagonally dominant, but these methods still converge. </a:t>
                </a:r>
              </a:p>
              <a:p>
                <a:r>
                  <a:rPr lang="en-US" dirty="0"/>
                  <a:t>This form of relaxation is called </a:t>
                </a:r>
                <a:r>
                  <a:rPr lang="en-US" i="1" dirty="0"/>
                  <a:t>Jacobi iteration</a:t>
                </a:r>
                <a:r>
                  <a:rPr lang="en-US" dirty="0"/>
                  <a:t>. </a:t>
                </a:r>
              </a:p>
              <a:p>
                <a:r>
                  <a:rPr lang="en-US" dirty="0"/>
                  <a:t>It requires two copies of </a:t>
                </a:r>
                <a14:m>
                  <m:oMath xmlns:m="http://schemas.openxmlformats.org/officeDocument/2006/math">
                    <m:r>
                      <a:rPr lang="en-US" b="0" i="1" dirty="0" smtClean="0">
                        <a:latin typeface="Cambria Math" panose="02040503050406030204" pitchFamily="18" charset="0"/>
                      </a:rPr>
                      <m:t>𝜙</m:t>
                    </m:r>
                  </m:oMath>
                </a14:m>
                <a:r>
                  <a:rPr lang="el-GR" dirty="0"/>
                  <a:t>—</a:t>
                </a:r>
                <a:r>
                  <a:rPr lang="en-US" dirty="0"/>
                  <a:t>the old iteration value and a new value. </a:t>
                </a:r>
              </a:p>
              <a:p>
                <a:pPr marL="0" indent="0">
                  <a:buNone/>
                </a:pPr>
                <a:endParaRPr lang="en-US" dirty="0"/>
              </a:p>
              <a:p>
                <a:endParaRPr lang="en-US" dirty="0"/>
              </a:p>
              <a:p>
                <a:endParaRPr lang="en-US" dirty="0"/>
              </a:p>
              <a:p>
                <a:endParaRPr lang="en-US" dirty="0"/>
              </a:p>
              <a:p>
                <a:endParaRPr lang="en-US" dirty="0"/>
              </a:p>
            </p:txBody>
          </p:sp>
        </mc:Choice>
        <mc:Fallback xmlns="">
          <p:sp>
            <p:nvSpPr>
              <p:cNvPr id="3" name="Content Placeholder 2">
                <a:extLst>
                  <a:ext uri="{FF2B5EF4-FFF2-40B4-BE49-F238E27FC236}">
                    <a16:creationId xmlns:a16="http://schemas.microsoft.com/office/drawing/2014/main" id="{15C4FD65-F675-944D-A379-3A5FFFAEB784}"/>
                  </a:ext>
                </a:extLst>
              </p:cNvPr>
              <p:cNvSpPr>
                <a:spLocks noGrp="1" noRot="1" noChangeAspect="1" noMove="1" noResize="1" noEditPoints="1" noAdjustHandles="1" noChangeArrowheads="1" noChangeShapeType="1" noTextEdit="1"/>
              </p:cNvSpPr>
              <p:nvPr>
                <p:ph idx="1"/>
              </p:nvPr>
            </p:nvSpPr>
            <p:spPr>
              <a:xfrm>
                <a:off x="838200" y="1325562"/>
                <a:ext cx="11153172" cy="5532437"/>
              </a:xfrm>
              <a:blipFill>
                <a:blip r:embed="rId2"/>
                <a:stretch>
                  <a:fillRect l="-910" t="-1602" r="-1479"/>
                </a:stretch>
              </a:blipFill>
            </p:spPr>
            <p:txBody>
              <a:bodyPr/>
              <a:lstStyle/>
              <a:p>
                <a:r>
                  <a:rPr lang="en-US">
                    <a:noFill/>
                  </a:rPr>
                  <a:t> </a:t>
                </a:r>
              </a:p>
            </p:txBody>
          </p:sp>
        </mc:Fallback>
      </mc:AlternateContent>
      <p:sp>
        <p:nvSpPr>
          <p:cNvPr id="4" name="Title 1">
            <a:extLst>
              <a:ext uri="{FF2B5EF4-FFF2-40B4-BE49-F238E27FC236}">
                <a16:creationId xmlns:a16="http://schemas.microsoft.com/office/drawing/2014/main" id="{B498BACC-5D33-094B-BF2F-D5E5C169C0D1}"/>
              </a:ext>
            </a:extLst>
          </p:cNvPr>
          <p:cNvSpPr>
            <a:spLocks noGrp="1"/>
          </p:cNvSpPr>
          <p:nvPr>
            <p:ph type="title"/>
          </p:nvPr>
        </p:nvSpPr>
        <p:spPr>
          <a:xfrm>
            <a:off x="462987" y="0"/>
            <a:ext cx="11331615" cy="1325563"/>
          </a:xfrm>
        </p:spPr>
        <p:txBody>
          <a:bodyPr/>
          <a:lstStyle/>
          <a:p>
            <a:r>
              <a:rPr lang="en-US" dirty="0"/>
              <a:t>The relaxation method for the Poisson problem:</a:t>
            </a:r>
          </a:p>
        </p:txBody>
      </p:sp>
      <mc:AlternateContent xmlns:mc="http://schemas.openxmlformats.org/markup-compatibility/2006" xmlns:a14="http://schemas.microsoft.com/office/drawing/2010/main">
        <mc:Choice Requires="a14">
          <p:sp>
            <p:nvSpPr>
              <p:cNvPr id="5" name="Rectangle 4">
                <a:extLst>
                  <a:ext uri="{FF2B5EF4-FFF2-40B4-BE49-F238E27FC236}">
                    <a16:creationId xmlns:a16="http://schemas.microsoft.com/office/drawing/2014/main" id="{D5BE01A7-8DB3-DD4E-B8D4-46757255C565}"/>
                  </a:ext>
                </a:extLst>
              </p:cNvPr>
              <p:cNvSpPr/>
              <p:nvPr/>
            </p:nvSpPr>
            <p:spPr>
              <a:xfrm>
                <a:off x="1799693" y="5058657"/>
                <a:ext cx="8594404" cy="89896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Sup>
                        <m:sSubSupPr>
                          <m:ctrlPr>
                            <a:rPr lang="en-US" sz="2800" i="1">
                              <a:latin typeface="Cambria Math" panose="02040503050406030204" pitchFamily="18" charset="0"/>
                            </a:rPr>
                          </m:ctrlPr>
                        </m:sSubSupPr>
                        <m:e>
                          <m:r>
                            <a:rPr lang="en-US" sz="2800" i="1">
                              <a:latin typeface="Cambria Math" panose="02040503050406030204" pitchFamily="18" charset="0"/>
                            </a:rPr>
                            <m:t>𝜙</m:t>
                          </m:r>
                        </m:e>
                        <m:sub>
                          <m:r>
                            <a:rPr lang="en-US" sz="2800" i="1">
                              <a:latin typeface="Cambria Math" panose="02040503050406030204" pitchFamily="18" charset="0"/>
                            </a:rPr>
                            <m:t>𝑖</m:t>
                          </m:r>
                          <m:r>
                            <a:rPr lang="en-US" sz="2800" i="1">
                              <a:latin typeface="Cambria Math" panose="02040503050406030204" pitchFamily="18" charset="0"/>
                            </a:rPr>
                            <m:t>,</m:t>
                          </m:r>
                          <m:r>
                            <a:rPr lang="en-US" sz="2800" i="1">
                              <a:latin typeface="Cambria Math" panose="02040503050406030204" pitchFamily="18" charset="0"/>
                            </a:rPr>
                            <m:t>𝑗</m:t>
                          </m:r>
                        </m:sub>
                        <m:sup>
                          <m:r>
                            <a:rPr lang="en-US" sz="2800" i="1">
                              <a:latin typeface="Cambria Math" panose="02040503050406030204" pitchFamily="18" charset="0"/>
                            </a:rPr>
                            <m:t>(</m:t>
                          </m:r>
                          <m:r>
                            <a:rPr lang="en-US" sz="2800" i="1">
                              <a:latin typeface="Cambria Math" panose="02040503050406030204" pitchFamily="18" charset="0"/>
                            </a:rPr>
                            <m:t>𝑘</m:t>
                          </m:r>
                          <m:r>
                            <a:rPr lang="en-US" sz="2800" i="1">
                              <a:latin typeface="Cambria Math" panose="02040503050406030204" pitchFamily="18" charset="0"/>
                            </a:rPr>
                            <m:t>+1)</m:t>
                          </m:r>
                        </m:sup>
                      </m:sSubSup>
                      <m:r>
                        <a:rPr lang="en-US" sz="2800" i="1">
                          <a:latin typeface="Cambria Math" panose="02040503050406030204" pitchFamily="18" charset="0"/>
                        </a:rPr>
                        <m:t>=</m:t>
                      </m:r>
                      <m:f>
                        <m:fPr>
                          <m:ctrlPr>
                            <a:rPr lang="en-US" sz="2800" i="1">
                              <a:latin typeface="Cambria Math" panose="02040503050406030204" pitchFamily="18" charset="0"/>
                            </a:rPr>
                          </m:ctrlPr>
                        </m:fPr>
                        <m:num>
                          <m:r>
                            <a:rPr lang="en-US" sz="2800" i="1">
                              <a:latin typeface="Cambria Math" panose="02040503050406030204" pitchFamily="18" charset="0"/>
                            </a:rPr>
                            <m:t>1</m:t>
                          </m:r>
                        </m:num>
                        <m:den>
                          <m:r>
                            <a:rPr lang="en-US" sz="2800" i="1">
                              <a:latin typeface="Cambria Math" panose="02040503050406030204" pitchFamily="18" charset="0"/>
                            </a:rPr>
                            <m:t>4</m:t>
                          </m:r>
                        </m:den>
                      </m:f>
                      <m:d>
                        <m:dPr>
                          <m:ctrlPr>
                            <a:rPr lang="en-US" sz="2800" i="1">
                              <a:latin typeface="Cambria Math" panose="02040503050406030204" pitchFamily="18" charset="0"/>
                            </a:rPr>
                          </m:ctrlPr>
                        </m:dPr>
                        <m:e>
                          <m:sSubSup>
                            <m:sSubSupPr>
                              <m:ctrlPr>
                                <a:rPr lang="en-US" sz="2800" i="1">
                                  <a:latin typeface="Cambria Math" panose="02040503050406030204" pitchFamily="18" charset="0"/>
                                </a:rPr>
                              </m:ctrlPr>
                            </m:sSubSupPr>
                            <m:e>
                              <m:r>
                                <a:rPr lang="en-US" sz="2800" i="1">
                                  <a:latin typeface="Cambria Math" panose="02040503050406030204" pitchFamily="18" charset="0"/>
                                </a:rPr>
                                <m:t>𝜙</m:t>
                              </m:r>
                            </m:e>
                            <m:sub>
                              <m:r>
                                <a:rPr lang="en-US" sz="2800" i="1">
                                  <a:latin typeface="Cambria Math" panose="02040503050406030204" pitchFamily="18" charset="0"/>
                                </a:rPr>
                                <m:t>𝑖</m:t>
                              </m:r>
                              <m:r>
                                <a:rPr lang="en-US" sz="2800" i="1">
                                  <a:latin typeface="Cambria Math" panose="02040503050406030204" pitchFamily="18" charset="0"/>
                                </a:rPr>
                                <m:t>+1,</m:t>
                              </m:r>
                              <m:r>
                                <a:rPr lang="en-US" sz="2800" i="1">
                                  <a:latin typeface="Cambria Math" panose="02040503050406030204" pitchFamily="18" charset="0"/>
                                </a:rPr>
                                <m:t>𝑗</m:t>
                              </m:r>
                            </m:sub>
                            <m:sup>
                              <m:r>
                                <a:rPr lang="en-US" sz="2800" i="1">
                                  <a:latin typeface="Cambria Math" panose="02040503050406030204" pitchFamily="18" charset="0"/>
                                </a:rPr>
                                <m:t>(</m:t>
                              </m:r>
                              <m:r>
                                <a:rPr lang="en-US" sz="2800" i="1">
                                  <a:latin typeface="Cambria Math" panose="02040503050406030204" pitchFamily="18" charset="0"/>
                                </a:rPr>
                                <m:t>𝑘</m:t>
                              </m:r>
                              <m:r>
                                <a:rPr lang="en-US" sz="2800" i="1">
                                  <a:latin typeface="Cambria Math" panose="02040503050406030204" pitchFamily="18" charset="0"/>
                                </a:rPr>
                                <m:t>)</m:t>
                              </m:r>
                            </m:sup>
                          </m:sSubSup>
                          <m:r>
                            <a:rPr lang="en-US" sz="2800" i="1">
                              <a:latin typeface="Cambria Math" panose="02040503050406030204" pitchFamily="18" charset="0"/>
                            </a:rPr>
                            <m:t>+</m:t>
                          </m:r>
                          <m:sSubSup>
                            <m:sSubSupPr>
                              <m:ctrlPr>
                                <a:rPr lang="en-US" sz="2800" i="1">
                                  <a:latin typeface="Cambria Math" panose="02040503050406030204" pitchFamily="18" charset="0"/>
                                </a:rPr>
                              </m:ctrlPr>
                            </m:sSubSupPr>
                            <m:e>
                              <m:r>
                                <a:rPr lang="en-US" sz="2800" i="1">
                                  <a:latin typeface="Cambria Math" panose="02040503050406030204" pitchFamily="18" charset="0"/>
                                </a:rPr>
                                <m:t>𝜙</m:t>
                              </m:r>
                            </m:e>
                            <m:sub>
                              <m:r>
                                <a:rPr lang="en-US" sz="2800" i="1">
                                  <a:latin typeface="Cambria Math" panose="02040503050406030204" pitchFamily="18" charset="0"/>
                                </a:rPr>
                                <m:t>𝑖</m:t>
                              </m:r>
                              <m:r>
                                <a:rPr lang="en-US" sz="2800" i="1">
                                  <a:latin typeface="Cambria Math" panose="02040503050406030204" pitchFamily="18" charset="0"/>
                                </a:rPr>
                                <m:t>−1,</m:t>
                              </m:r>
                              <m:r>
                                <a:rPr lang="en-US" sz="2800" i="1">
                                  <a:latin typeface="Cambria Math" panose="02040503050406030204" pitchFamily="18" charset="0"/>
                                </a:rPr>
                                <m:t>𝑗</m:t>
                              </m:r>
                            </m:sub>
                            <m:sup>
                              <m:r>
                                <a:rPr lang="en-US" sz="2800" i="1">
                                  <a:latin typeface="Cambria Math" panose="02040503050406030204" pitchFamily="18" charset="0"/>
                                </a:rPr>
                                <m:t>(</m:t>
                              </m:r>
                              <m:r>
                                <a:rPr lang="en-US" sz="2800" i="1">
                                  <a:latin typeface="Cambria Math" panose="02040503050406030204" pitchFamily="18" charset="0"/>
                                </a:rPr>
                                <m:t>𝑘</m:t>
                              </m:r>
                              <m:r>
                                <a:rPr lang="en-US" sz="2800" i="1">
                                  <a:latin typeface="Cambria Math" panose="02040503050406030204" pitchFamily="18" charset="0"/>
                                </a:rPr>
                                <m:t>)</m:t>
                              </m:r>
                            </m:sup>
                          </m:sSubSup>
                          <m:r>
                            <a:rPr lang="en-US" sz="2800" i="1">
                              <a:latin typeface="Cambria Math" panose="02040503050406030204" pitchFamily="18" charset="0"/>
                            </a:rPr>
                            <m:t>+</m:t>
                          </m:r>
                          <m:sSubSup>
                            <m:sSubSupPr>
                              <m:ctrlPr>
                                <a:rPr lang="en-US" sz="2800" i="1">
                                  <a:latin typeface="Cambria Math" panose="02040503050406030204" pitchFamily="18" charset="0"/>
                                </a:rPr>
                              </m:ctrlPr>
                            </m:sSubSupPr>
                            <m:e>
                              <m:r>
                                <a:rPr lang="en-US" sz="2800" i="1">
                                  <a:latin typeface="Cambria Math" panose="02040503050406030204" pitchFamily="18" charset="0"/>
                                </a:rPr>
                                <m:t>𝜙</m:t>
                              </m:r>
                            </m:e>
                            <m:sub>
                              <m:r>
                                <a:rPr lang="en-US" sz="2800" i="1">
                                  <a:latin typeface="Cambria Math" panose="02040503050406030204" pitchFamily="18" charset="0"/>
                                </a:rPr>
                                <m:t>𝑖</m:t>
                              </m:r>
                              <m:r>
                                <a:rPr lang="en-US" sz="2800" i="1">
                                  <a:latin typeface="Cambria Math" panose="02040503050406030204" pitchFamily="18" charset="0"/>
                                </a:rPr>
                                <m:t>,</m:t>
                              </m:r>
                              <m:r>
                                <a:rPr lang="en-US" sz="2800" i="1">
                                  <a:latin typeface="Cambria Math" panose="02040503050406030204" pitchFamily="18" charset="0"/>
                                </a:rPr>
                                <m:t>𝑗</m:t>
                              </m:r>
                              <m:r>
                                <a:rPr lang="en-US" sz="2800" i="1">
                                  <a:latin typeface="Cambria Math" panose="02040503050406030204" pitchFamily="18" charset="0"/>
                                </a:rPr>
                                <m:t>+1</m:t>
                              </m:r>
                            </m:sub>
                            <m:sup>
                              <m:r>
                                <a:rPr lang="en-US" sz="2800" i="1">
                                  <a:latin typeface="Cambria Math" panose="02040503050406030204" pitchFamily="18" charset="0"/>
                                </a:rPr>
                                <m:t>(</m:t>
                              </m:r>
                              <m:r>
                                <a:rPr lang="en-US" sz="2800" i="1">
                                  <a:latin typeface="Cambria Math" panose="02040503050406030204" pitchFamily="18" charset="0"/>
                                </a:rPr>
                                <m:t>𝑘</m:t>
                              </m:r>
                              <m:r>
                                <a:rPr lang="en-US" sz="2800" i="1">
                                  <a:latin typeface="Cambria Math" panose="02040503050406030204" pitchFamily="18" charset="0"/>
                                </a:rPr>
                                <m:t>)</m:t>
                              </m:r>
                            </m:sup>
                          </m:sSubSup>
                          <m:r>
                            <a:rPr lang="en-US" sz="2800" i="1">
                              <a:latin typeface="Cambria Math" panose="02040503050406030204" pitchFamily="18" charset="0"/>
                            </a:rPr>
                            <m:t>+</m:t>
                          </m:r>
                          <m:sSubSup>
                            <m:sSubSupPr>
                              <m:ctrlPr>
                                <a:rPr lang="en-US" sz="2800" i="1">
                                  <a:latin typeface="Cambria Math" panose="02040503050406030204" pitchFamily="18" charset="0"/>
                                </a:rPr>
                              </m:ctrlPr>
                            </m:sSubSupPr>
                            <m:e>
                              <m:r>
                                <a:rPr lang="en-US" sz="2800" i="1">
                                  <a:latin typeface="Cambria Math" panose="02040503050406030204" pitchFamily="18" charset="0"/>
                                </a:rPr>
                                <m:t>𝜙</m:t>
                              </m:r>
                            </m:e>
                            <m:sub>
                              <m:r>
                                <a:rPr lang="en-US" sz="2800" i="1">
                                  <a:latin typeface="Cambria Math" panose="02040503050406030204" pitchFamily="18" charset="0"/>
                                </a:rPr>
                                <m:t>𝑖</m:t>
                              </m:r>
                              <m:r>
                                <a:rPr lang="en-US" sz="2800" i="1">
                                  <a:latin typeface="Cambria Math" panose="02040503050406030204" pitchFamily="18" charset="0"/>
                                </a:rPr>
                                <m:t>,</m:t>
                              </m:r>
                              <m:r>
                                <a:rPr lang="en-US" sz="2800" i="1">
                                  <a:latin typeface="Cambria Math" panose="02040503050406030204" pitchFamily="18" charset="0"/>
                                </a:rPr>
                                <m:t>𝑗</m:t>
                              </m:r>
                              <m:r>
                                <a:rPr lang="en-US" sz="2800" i="1">
                                  <a:latin typeface="Cambria Math" panose="02040503050406030204" pitchFamily="18" charset="0"/>
                                </a:rPr>
                                <m:t>−1</m:t>
                              </m:r>
                            </m:sub>
                            <m:sup>
                              <m:r>
                                <a:rPr lang="en-US" sz="2800" i="1">
                                  <a:latin typeface="Cambria Math" panose="02040503050406030204" pitchFamily="18" charset="0"/>
                                </a:rPr>
                                <m:t>(</m:t>
                              </m:r>
                              <m:r>
                                <a:rPr lang="en-US" sz="2800" i="1">
                                  <a:latin typeface="Cambria Math" panose="02040503050406030204" pitchFamily="18" charset="0"/>
                                </a:rPr>
                                <m:t>𝑘</m:t>
                              </m:r>
                              <m:r>
                                <a:rPr lang="en-US" sz="2800" i="1">
                                  <a:latin typeface="Cambria Math" panose="02040503050406030204" pitchFamily="18" charset="0"/>
                                </a:rPr>
                                <m:t>)</m:t>
                              </m:r>
                            </m:sup>
                          </m:sSubSup>
                          <m:r>
                            <a:rPr lang="en-US" sz="2800" i="1">
                              <a:latin typeface="Cambria Math" panose="02040503050406030204" pitchFamily="18" charset="0"/>
                            </a:rPr>
                            <m:t>−</m:t>
                          </m:r>
                          <m:r>
                            <m:rPr>
                              <m:sty m:val="p"/>
                            </m:rPr>
                            <a:rPr lang="en-US" sz="2800">
                              <a:latin typeface="Cambria Math" panose="02040503050406030204" pitchFamily="18" charset="0"/>
                            </a:rPr>
                            <m:t>Δ</m:t>
                          </m:r>
                          <m:sSup>
                            <m:sSupPr>
                              <m:ctrlPr>
                                <a:rPr lang="en-US" sz="2800" i="1">
                                  <a:latin typeface="Cambria Math" panose="02040503050406030204" pitchFamily="18" charset="0"/>
                                </a:rPr>
                              </m:ctrlPr>
                            </m:sSupPr>
                            <m:e>
                              <m:r>
                                <a:rPr lang="en-US" sz="2800" i="1">
                                  <a:latin typeface="Cambria Math" panose="02040503050406030204" pitchFamily="18" charset="0"/>
                                </a:rPr>
                                <m:t>𝑥</m:t>
                              </m:r>
                            </m:e>
                            <m:sup>
                              <m:r>
                                <a:rPr lang="en-US" sz="2800" i="1">
                                  <a:latin typeface="Cambria Math" panose="02040503050406030204" pitchFamily="18" charset="0"/>
                                </a:rPr>
                                <m:t>2</m:t>
                              </m:r>
                            </m:sup>
                          </m:sSup>
                          <m:sSub>
                            <m:sSubPr>
                              <m:ctrlPr>
                                <a:rPr lang="en-US" sz="2800" i="1">
                                  <a:latin typeface="Cambria Math" panose="02040503050406030204" pitchFamily="18" charset="0"/>
                                </a:rPr>
                              </m:ctrlPr>
                            </m:sSubPr>
                            <m:e>
                              <m:r>
                                <a:rPr lang="en-US" sz="2800" i="1">
                                  <a:latin typeface="Cambria Math" panose="02040503050406030204" pitchFamily="18" charset="0"/>
                                </a:rPr>
                                <m:t>𝑓</m:t>
                              </m:r>
                            </m:e>
                            <m:sub>
                              <m:r>
                                <a:rPr lang="en-US" sz="2800" i="1">
                                  <a:latin typeface="Cambria Math" panose="02040503050406030204" pitchFamily="18" charset="0"/>
                                </a:rPr>
                                <m:t>𝑖</m:t>
                              </m:r>
                              <m:r>
                                <a:rPr lang="en-US" sz="2800" i="1">
                                  <a:latin typeface="Cambria Math" panose="02040503050406030204" pitchFamily="18" charset="0"/>
                                </a:rPr>
                                <m:t>,</m:t>
                              </m:r>
                              <m:r>
                                <a:rPr lang="en-US" sz="2800" i="1">
                                  <a:latin typeface="Cambria Math" panose="02040503050406030204" pitchFamily="18" charset="0"/>
                                </a:rPr>
                                <m:t>𝑗</m:t>
                              </m:r>
                            </m:sub>
                          </m:sSub>
                        </m:e>
                      </m:d>
                    </m:oMath>
                  </m:oMathPara>
                </a14:m>
                <a:endParaRPr lang="en-US" sz="2800" dirty="0"/>
              </a:p>
            </p:txBody>
          </p:sp>
        </mc:Choice>
        <mc:Fallback xmlns="">
          <p:sp>
            <p:nvSpPr>
              <p:cNvPr id="5" name="Rectangle 4">
                <a:extLst>
                  <a:ext uri="{FF2B5EF4-FFF2-40B4-BE49-F238E27FC236}">
                    <a16:creationId xmlns:a16="http://schemas.microsoft.com/office/drawing/2014/main" id="{D5BE01A7-8DB3-DD4E-B8D4-46757255C565}"/>
                  </a:ext>
                </a:extLst>
              </p:cNvPr>
              <p:cNvSpPr>
                <a:spLocks noRot="1" noChangeAspect="1" noMove="1" noResize="1" noEditPoints="1" noAdjustHandles="1" noChangeArrowheads="1" noChangeShapeType="1" noTextEdit="1"/>
              </p:cNvSpPr>
              <p:nvPr/>
            </p:nvSpPr>
            <p:spPr>
              <a:xfrm>
                <a:off x="1799693" y="5058657"/>
                <a:ext cx="8594404" cy="898964"/>
              </a:xfrm>
              <a:prstGeom prst="rect">
                <a:avLst/>
              </a:prstGeom>
              <a:blipFill>
                <a:blip r:embed="rId3"/>
                <a:stretch>
                  <a:fillRect b="-5556"/>
                </a:stretch>
              </a:blipFill>
            </p:spPr>
            <p:txBody>
              <a:bodyPr/>
              <a:lstStyle/>
              <a:p>
                <a:r>
                  <a:rPr lang="en-US">
                    <a:noFill/>
                  </a:rPr>
                  <a:t> </a:t>
                </a:r>
              </a:p>
            </p:txBody>
          </p:sp>
        </mc:Fallback>
      </mc:AlternateContent>
    </p:spTree>
    <p:extLst>
      <p:ext uri="{BB962C8B-B14F-4D97-AF65-F5344CB8AC3E}">
        <p14:creationId xmlns:p14="http://schemas.microsoft.com/office/powerpoint/2010/main" val="341019625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5C4FD65-F675-944D-A379-3A5FFFAEB784}"/>
                  </a:ext>
                </a:extLst>
              </p:cNvPr>
              <p:cNvSpPr>
                <a:spLocks noGrp="1"/>
              </p:cNvSpPr>
              <p:nvPr>
                <p:ph idx="1"/>
              </p:nvPr>
            </p:nvSpPr>
            <p:spPr>
              <a:xfrm>
                <a:off x="838200" y="1325562"/>
                <a:ext cx="11153172" cy="5532437"/>
              </a:xfrm>
            </p:spPr>
            <p:txBody>
              <a:bodyPr/>
              <a:lstStyle/>
              <a:p>
                <a:r>
                  <a:rPr lang="en-US" dirty="0"/>
                  <a:t>Alternatively we can just update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𝜙</m:t>
                        </m:r>
                      </m:e>
                      <m:sub>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𝑗</m:t>
                        </m:r>
                      </m:sub>
                    </m:sSub>
                  </m:oMath>
                </a14:m>
                <a:r>
                  <a:rPr lang="en-US" dirty="0"/>
                  <a:t> in place as soon as the new value is known. </a:t>
                </a:r>
              </a:p>
              <a:p>
                <a:r>
                  <a:rPr lang="en-US" dirty="0"/>
                  <a:t>The neighboring cells in this case will see a mix of the old and new solutions. We can express this updating as: </a:t>
                </a:r>
              </a:p>
              <a:p>
                <a:pPr marL="0" indent="0">
                  <a:lnSpc>
                    <a:spcPct val="150000"/>
                  </a:lnSpc>
                  <a:spcAft>
                    <a:spcPts val="1200"/>
                  </a:spcAft>
                  <a:buNone/>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𝜙</m:t>
                          </m:r>
                        </m:e>
                        <m:sub>
                          <m:r>
                            <a:rPr lang="en-US" i="1">
                              <a:latin typeface="Cambria Math" panose="02040503050406030204" pitchFamily="18" charset="0"/>
                            </a:rPr>
                            <m:t>𝑖</m:t>
                          </m:r>
                          <m:r>
                            <a:rPr lang="en-US" i="1">
                              <a:latin typeface="Cambria Math" panose="02040503050406030204" pitchFamily="18" charset="0"/>
                            </a:rPr>
                            <m:t>,</m:t>
                          </m:r>
                          <m:r>
                            <a:rPr lang="en-US" i="1">
                              <a:latin typeface="Cambria Math" panose="02040503050406030204" pitchFamily="18" charset="0"/>
                            </a:rPr>
                            <m:t>𝑗</m:t>
                          </m:r>
                        </m:sub>
                      </m:sSub>
                      <m:r>
                        <a:rPr lang="en-US" b="0" i="1" smtClean="0">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1</m:t>
                          </m:r>
                        </m:num>
                        <m:den>
                          <m:r>
                            <a:rPr lang="en-US" i="1">
                              <a:latin typeface="Cambria Math" panose="02040503050406030204" pitchFamily="18" charset="0"/>
                            </a:rPr>
                            <m:t>4</m:t>
                          </m:r>
                        </m:den>
                      </m:f>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𝜙</m:t>
                              </m:r>
                            </m:e>
                            <m:sub>
                              <m:r>
                                <a:rPr lang="en-US" i="1">
                                  <a:latin typeface="Cambria Math" panose="02040503050406030204" pitchFamily="18" charset="0"/>
                                </a:rPr>
                                <m:t>𝑖</m:t>
                              </m:r>
                              <m:r>
                                <a:rPr lang="en-US" i="1">
                                  <a:latin typeface="Cambria Math" panose="02040503050406030204" pitchFamily="18" charset="0"/>
                                </a:rPr>
                                <m:t>+1,</m:t>
                              </m:r>
                              <m:r>
                                <a:rPr lang="en-US" i="1">
                                  <a:latin typeface="Cambria Math" panose="02040503050406030204" pitchFamily="18" charset="0"/>
                                </a:rPr>
                                <m:t>𝑗</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𝜙</m:t>
                              </m:r>
                            </m:e>
                            <m:sub>
                              <m:r>
                                <a:rPr lang="en-US" i="1">
                                  <a:latin typeface="Cambria Math" panose="02040503050406030204" pitchFamily="18" charset="0"/>
                                </a:rPr>
                                <m:t>𝑖</m:t>
                              </m:r>
                              <m:r>
                                <a:rPr lang="en-US" i="1">
                                  <a:latin typeface="Cambria Math" panose="02040503050406030204" pitchFamily="18" charset="0"/>
                                </a:rPr>
                                <m:t>−1,</m:t>
                              </m:r>
                              <m:r>
                                <a:rPr lang="en-US" i="1">
                                  <a:latin typeface="Cambria Math" panose="02040503050406030204" pitchFamily="18" charset="0"/>
                                </a:rPr>
                                <m:t>𝑗</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𝜙</m:t>
                              </m:r>
                            </m:e>
                            <m:sub>
                              <m:r>
                                <a:rPr lang="en-US" i="1">
                                  <a:latin typeface="Cambria Math" panose="02040503050406030204" pitchFamily="18" charset="0"/>
                                </a:rPr>
                                <m:t>𝑖</m:t>
                              </m:r>
                              <m:r>
                                <a:rPr lang="en-US" i="1">
                                  <a:latin typeface="Cambria Math" panose="02040503050406030204" pitchFamily="18" charset="0"/>
                                </a:rPr>
                                <m:t>,</m:t>
                              </m:r>
                              <m:r>
                                <a:rPr lang="en-US" i="1">
                                  <a:latin typeface="Cambria Math" panose="02040503050406030204" pitchFamily="18" charset="0"/>
                                </a:rPr>
                                <m:t>𝑗</m:t>
                              </m:r>
                              <m:r>
                                <a:rPr lang="en-US" i="1">
                                  <a:latin typeface="Cambria Math" panose="02040503050406030204" pitchFamily="18" charset="0"/>
                                </a:rPr>
                                <m:t>+1</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𝜙</m:t>
                              </m:r>
                            </m:e>
                            <m:sub>
                              <m:r>
                                <a:rPr lang="en-US" i="1">
                                  <a:latin typeface="Cambria Math" panose="02040503050406030204" pitchFamily="18" charset="0"/>
                                </a:rPr>
                                <m:t>𝑖</m:t>
                              </m:r>
                              <m:r>
                                <a:rPr lang="en-US" i="1">
                                  <a:latin typeface="Cambria Math" panose="02040503050406030204" pitchFamily="18" charset="0"/>
                                </a:rPr>
                                <m:t>,</m:t>
                              </m:r>
                              <m:r>
                                <a:rPr lang="en-US" i="1">
                                  <a:latin typeface="Cambria Math" panose="02040503050406030204" pitchFamily="18" charset="0"/>
                                </a:rPr>
                                <m:t>𝑗</m:t>
                              </m:r>
                              <m:r>
                                <a:rPr lang="en-US" i="1">
                                  <a:latin typeface="Cambria Math" panose="02040503050406030204" pitchFamily="18" charset="0"/>
                                </a:rPr>
                                <m:t>−1</m:t>
                              </m:r>
                            </m:sub>
                          </m:sSub>
                          <m:r>
                            <a:rPr lang="en-US" i="1">
                              <a:latin typeface="Cambria Math" panose="02040503050406030204" pitchFamily="18" charset="0"/>
                            </a:rPr>
                            <m:t>−</m:t>
                          </m:r>
                          <m:r>
                            <m:rPr>
                              <m:sty m:val="p"/>
                            </m:rPr>
                            <a:rPr lang="en-US">
                              <a:latin typeface="Cambria Math" panose="02040503050406030204" pitchFamily="18" charset="0"/>
                            </a:rPr>
                            <m:t>Δ</m:t>
                          </m:r>
                          <m:sSup>
                            <m:sSupPr>
                              <m:ctrlPr>
                                <a:rPr lang="en-US" i="1">
                                  <a:latin typeface="Cambria Math" panose="02040503050406030204" pitchFamily="18" charset="0"/>
                                </a:rPr>
                              </m:ctrlPr>
                            </m:sSupPr>
                            <m:e>
                              <m:r>
                                <a:rPr lang="en-US" i="1">
                                  <a:latin typeface="Cambria Math" panose="02040503050406030204" pitchFamily="18" charset="0"/>
                                </a:rPr>
                                <m:t>𝑥</m:t>
                              </m:r>
                            </m:e>
                            <m:sup>
                              <m:r>
                                <a:rPr lang="en-US" i="1">
                                  <a:latin typeface="Cambria Math" panose="02040503050406030204" pitchFamily="18" charset="0"/>
                                </a:rPr>
                                <m:t>2</m:t>
                              </m:r>
                            </m:sup>
                          </m:sSup>
                          <m:sSub>
                            <m:sSubPr>
                              <m:ctrlPr>
                                <a:rPr lang="en-US" i="1">
                                  <a:latin typeface="Cambria Math" panose="02040503050406030204" pitchFamily="18" charset="0"/>
                                </a:rPr>
                              </m:ctrlPr>
                            </m:sSubPr>
                            <m:e>
                              <m:r>
                                <a:rPr lang="en-US" i="1">
                                  <a:latin typeface="Cambria Math" panose="02040503050406030204" pitchFamily="18" charset="0"/>
                                </a:rPr>
                                <m:t>𝑓</m:t>
                              </m:r>
                            </m:e>
                            <m:sub>
                              <m:r>
                                <a:rPr lang="en-US" i="1">
                                  <a:latin typeface="Cambria Math" panose="02040503050406030204" pitchFamily="18" charset="0"/>
                                </a:rPr>
                                <m:t>𝑖</m:t>
                              </m:r>
                              <m:r>
                                <a:rPr lang="en-US" i="1">
                                  <a:latin typeface="Cambria Math" panose="02040503050406030204" pitchFamily="18" charset="0"/>
                                </a:rPr>
                                <m:t>,</m:t>
                              </m:r>
                              <m:r>
                                <a:rPr lang="en-US" i="1">
                                  <a:latin typeface="Cambria Math" panose="02040503050406030204" pitchFamily="18" charset="0"/>
                                </a:rPr>
                                <m:t>𝑗</m:t>
                              </m:r>
                            </m:sub>
                          </m:sSub>
                        </m:e>
                      </m:d>
                    </m:oMath>
                  </m:oMathPara>
                </a14:m>
                <a:endParaRPr lang="en-US" dirty="0"/>
              </a:p>
              <a:p>
                <a:r>
                  <a:rPr lang="en-US" dirty="0"/>
                  <a:t>This only requires a single copy of </a:t>
                </a:r>
                <a14:m>
                  <m:oMath xmlns:m="http://schemas.openxmlformats.org/officeDocument/2006/math">
                    <m:r>
                      <a:rPr lang="en-US" b="0" i="1" dirty="0" smtClean="0">
                        <a:latin typeface="Cambria Math" panose="02040503050406030204" pitchFamily="18" charset="0"/>
                      </a:rPr>
                      <m:t>𝜙</m:t>
                    </m:r>
                  </m:oMath>
                </a14:m>
                <a:r>
                  <a:rPr lang="el-GR" i="1" dirty="0"/>
                  <a:t> </a:t>
                </a:r>
                <a:r>
                  <a:rPr lang="en-US" dirty="0"/>
                  <a:t>to be stored. </a:t>
                </a:r>
              </a:p>
              <a:p>
                <a:r>
                  <a:rPr lang="en-US" dirty="0"/>
                  <a:t>This technique is called </a:t>
                </a:r>
                <a:r>
                  <a:rPr lang="en-US" i="1" dirty="0"/>
                  <a:t>Gauss-Seidel iteration</a:t>
                </a:r>
                <a:r>
                  <a:rPr lang="en-US" dirty="0"/>
                  <a:t>. </a:t>
                </a:r>
              </a:p>
              <a:p>
                <a:r>
                  <a:rPr lang="en-US" dirty="0"/>
                  <a:t>Other relaxation methods exist, e.g. a linear combinations of these two. </a:t>
                </a:r>
              </a:p>
              <a:p>
                <a:pPr marL="0" indent="0">
                  <a:buNone/>
                </a:pPr>
                <a:endParaRPr lang="en-US" dirty="0"/>
              </a:p>
              <a:p>
                <a:endParaRPr lang="en-US" dirty="0"/>
              </a:p>
              <a:p>
                <a:endParaRPr lang="en-US" dirty="0"/>
              </a:p>
              <a:p>
                <a:endParaRPr lang="en-US" dirty="0"/>
              </a:p>
              <a:p>
                <a:endParaRPr lang="en-US" dirty="0"/>
              </a:p>
              <a:p>
                <a:endParaRPr lang="en-US" dirty="0"/>
              </a:p>
              <a:p>
                <a:endParaRPr lang="en-US" dirty="0"/>
              </a:p>
            </p:txBody>
          </p:sp>
        </mc:Choice>
        <mc:Fallback xmlns="">
          <p:sp>
            <p:nvSpPr>
              <p:cNvPr id="3" name="Content Placeholder 2">
                <a:extLst>
                  <a:ext uri="{FF2B5EF4-FFF2-40B4-BE49-F238E27FC236}">
                    <a16:creationId xmlns:a16="http://schemas.microsoft.com/office/drawing/2014/main" id="{15C4FD65-F675-944D-A379-3A5FFFAEB784}"/>
                  </a:ext>
                </a:extLst>
              </p:cNvPr>
              <p:cNvSpPr>
                <a:spLocks noGrp="1" noRot="1" noChangeAspect="1" noMove="1" noResize="1" noEditPoints="1" noAdjustHandles="1" noChangeArrowheads="1" noChangeShapeType="1" noTextEdit="1"/>
              </p:cNvSpPr>
              <p:nvPr>
                <p:ph idx="1"/>
              </p:nvPr>
            </p:nvSpPr>
            <p:spPr>
              <a:xfrm>
                <a:off x="838200" y="1325562"/>
                <a:ext cx="11153172" cy="5532437"/>
              </a:xfrm>
              <a:blipFill>
                <a:blip r:embed="rId2"/>
                <a:stretch>
                  <a:fillRect l="-910" t="-1373"/>
                </a:stretch>
              </a:blipFill>
            </p:spPr>
            <p:txBody>
              <a:bodyPr/>
              <a:lstStyle/>
              <a:p>
                <a:r>
                  <a:rPr lang="en-US">
                    <a:noFill/>
                  </a:rPr>
                  <a:t> </a:t>
                </a:r>
              </a:p>
            </p:txBody>
          </p:sp>
        </mc:Fallback>
      </mc:AlternateContent>
      <p:sp>
        <p:nvSpPr>
          <p:cNvPr id="4" name="Title 1">
            <a:extLst>
              <a:ext uri="{FF2B5EF4-FFF2-40B4-BE49-F238E27FC236}">
                <a16:creationId xmlns:a16="http://schemas.microsoft.com/office/drawing/2014/main" id="{B498BACC-5D33-094B-BF2F-D5E5C169C0D1}"/>
              </a:ext>
            </a:extLst>
          </p:cNvPr>
          <p:cNvSpPr>
            <a:spLocks noGrp="1"/>
          </p:cNvSpPr>
          <p:nvPr>
            <p:ph type="title"/>
          </p:nvPr>
        </p:nvSpPr>
        <p:spPr>
          <a:xfrm>
            <a:off x="462987" y="0"/>
            <a:ext cx="11331615" cy="1325563"/>
          </a:xfrm>
        </p:spPr>
        <p:txBody>
          <a:bodyPr/>
          <a:lstStyle/>
          <a:p>
            <a:r>
              <a:rPr lang="en-US" dirty="0"/>
              <a:t>The relaxation method for the Poisson problem:</a:t>
            </a:r>
          </a:p>
        </p:txBody>
      </p:sp>
    </p:spTree>
    <p:extLst>
      <p:ext uri="{BB962C8B-B14F-4D97-AF65-F5344CB8AC3E}">
        <p14:creationId xmlns:p14="http://schemas.microsoft.com/office/powerpoint/2010/main" val="371400252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DCE2F9-F4C3-DA4C-B0FC-7FF6F22D148C}"/>
              </a:ext>
            </a:extLst>
          </p:cNvPr>
          <p:cNvSpPr>
            <a:spLocks noGrp="1"/>
          </p:cNvSpPr>
          <p:nvPr>
            <p:ph type="title"/>
          </p:nvPr>
        </p:nvSpPr>
        <p:spPr>
          <a:xfrm>
            <a:off x="838200" y="0"/>
            <a:ext cx="10515600" cy="1325563"/>
          </a:xfrm>
        </p:spPr>
        <p:txBody>
          <a:bodyPr/>
          <a:lstStyle/>
          <a:p>
            <a:r>
              <a:rPr lang="en-US" dirty="0"/>
              <a:t>Boundary conditions </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15C4FD65-F675-944D-A379-3A5FFFAEB784}"/>
                  </a:ext>
                </a:extLst>
              </p:cNvPr>
              <p:cNvSpPr>
                <a:spLocks noGrp="1"/>
              </p:cNvSpPr>
              <p:nvPr>
                <p:ph idx="1"/>
              </p:nvPr>
            </p:nvSpPr>
            <p:spPr>
              <a:xfrm>
                <a:off x="838200" y="1325562"/>
                <a:ext cx="10515600" cy="5532437"/>
              </a:xfrm>
            </p:spPr>
            <p:txBody>
              <a:bodyPr/>
              <a:lstStyle/>
              <a:p>
                <a:r>
                  <a:rPr lang="en-US" dirty="0"/>
                  <a:t>Set the function value on the boundaries of the domain: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𝜙</m:t>
                        </m:r>
                      </m:e>
                      <m:sub>
                        <m:r>
                          <a:rPr lang="en-US" b="0" i="1" smtClean="0">
                            <a:latin typeface="Cambria Math" panose="02040503050406030204" pitchFamily="18" charset="0"/>
                          </a:rPr>
                          <m:t>𝑙𝑜</m:t>
                        </m:r>
                      </m:sub>
                    </m:sSub>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𝜙</m:t>
                        </m:r>
                      </m:e>
                      <m:sub>
                        <m:r>
                          <a:rPr lang="en-US" b="0" i="1" smtClean="0">
                            <a:latin typeface="Cambria Math" panose="02040503050406030204" pitchFamily="18" charset="0"/>
                          </a:rPr>
                          <m:t>h𝑖</m:t>
                        </m:r>
                      </m:sub>
                    </m:sSub>
                  </m:oMath>
                </a14:m>
                <a:r>
                  <a:rPr lang="en-US" dirty="0"/>
                  <a:t>. </a:t>
                </a:r>
              </a:p>
              <a:p>
                <a:r>
                  <a:rPr lang="en-US" dirty="0"/>
                  <a:t>When using face-centered grid, the function values are given on the boundaries.</a:t>
                </a:r>
              </a:p>
              <a:p>
                <a:r>
                  <a:rPr lang="en-US" dirty="0"/>
                  <a:t>When using a cell-centered grid, no points fall exactly on the boundary, so ghost cells are needed to specify boundary conditions. </a:t>
                </a:r>
              </a:p>
              <a:p>
                <a:r>
                  <a:rPr lang="en-US" dirty="0"/>
                  <a:t>A single ghost cell is sufficient for the </a:t>
                </a:r>
                <a:r>
                  <a:rPr lang="en-US" i="1" dirty="0"/>
                  <a:t>5-point stencil </a:t>
                </a:r>
                <a:r>
                  <a:rPr lang="en-US" dirty="0"/>
                  <a:t>used here. </a:t>
                </a:r>
              </a:p>
              <a:p>
                <a:endParaRPr lang="en-US" dirty="0"/>
              </a:p>
              <a:p>
                <a:endParaRPr lang="en-US" dirty="0"/>
              </a:p>
            </p:txBody>
          </p:sp>
        </mc:Choice>
        <mc:Fallback>
          <p:sp>
            <p:nvSpPr>
              <p:cNvPr id="3" name="Content Placeholder 2">
                <a:extLst>
                  <a:ext uri="{FF2B5EF4-FFF2-40B4-BE49-F238E27FC236}">
                    <a16:creationId xmlns:a16="http://schemas.microsoft.com/office/drawing/2014/main" id="{15C4FD65-F675-944D-A379-3A5FFFAEB784}"/>
                  </a:ext>
                </a:extLst>
              </p:cNvPr>
              <p:cNvSpPr>
                <a:spLocks noGrp="1" noRot="1" noChangeAspect="1" noMove="1" noResize="1" noEditPoints="1" noAdjustHandles="1" noChangeArrowheads="1" noChangeShapeType="1" noTextEdit="1"/>
              </p:cNvSpPr>
              <p:nvPr>
                <p:ph idx="1"/>
              </p:nvPr>
            </p:nvSpPr>
            <p:spPr>
              <a:xfrm>
                <a:off x="838200" y="1325562"/>
                <a:ext cx="10515600" cy="5532437"/>
              </a:xfrm>
              <a:blipFill>
                <a:blip r:embed="rId2"/>
                <a:stretch>
                  <a:fillRect l="-965" t="-1602"/>
                </a:stretch>
              </a:blipFill>
            </p:spPr>
            <p:txBody>
              <a:bodyPr/>
              <a:lstStyle/>
              <a:p>
                <a:r>
                  <a:rPr lang="en-US">
                    <a:noFill/>
                  </a:rPr>
                  <a:t> </a:t>
                </a:r>
              </a:p>
            </p:txBody>
          </p:sp>
        </mc:Fallback>
      </mc:AlternateContent>
    </p:spTree>
    <p:extLst>
      <p:ext uri="{BB962C8B-B14F-4D97-AF65-F5344CB8AC3E}">
        <p14:creationId xmlns:p14="http://schemas.microsoft.com/office/powerpoint/2010/main" val="356281179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DCE2F9-F4C3-DA4C-B0FC-7FF6F22D148C}"/>
              </a:ext>
            </a:extLst>
          </p:cNvPr>
          <p:cNvSpPr>
            <a:spLocks noGrp="1"/>
          </p:cNvSpPr>
          <p:nvPr>
            <p:ph type="title"/>
          </p:nvPr>
        </p:nvSpPr>
        <p:spPr>
          <a:xfrm>
            <a:off x="838200" y="0"/>
            <a:ext cx="10515600" cy="1325563"/>
          </a:xfrm>
        </p:spPr>
        <p:txBody>
          <a:bodyPr/>
          <a:lstStyle/>
          <a:p>
            <a:r>
              <a:rPr lang="en-US" dirty="0"/>
              <a:t>Boundary conditions</a:t>
            </a:r>
          </a:p>
        </p:txBody>
      </p:sp>
      <p:pic>
        <p:nvPicPr>
          <p:cNvPr id="5" name="Content Placeholder 4">
            <a:extLst>
              <a:ext uri="{FF2B5EF4-FFF2-40B4-BE49-F238E27FC236}">
                <a16:creationId xmlns:a16="http://schemas.microsoft.com/office/drawing/2014/main" id="{D44CA677-F16D-AE4D-BD3F-84F217C69AC6}"/>
              </a:ext>
            </a:extLst>
          </p:cNvPr>
          <p:cNvPicPr>
            <a:picLocks noGrp="1" noChangeAspect="1"/>
          </p:cNvPicPr>
          <p:nvPr>
            <p:ph idx="1"/>
          </p:nvPr>
        </p:nvPicPr>
        <p:blipFill>
          <a:blip r:embed="rId2"/>
          <a:stretch>
            <a:fillRect/>
          </a:stretch>
        </p:blipFill>
        <p:spPr>
          <a:xfrm>
            <a:off x="1412147" y="1325563"/>
            <a:ext cx="9367705" cy="5532437"/>
          </a:xfrm>
        </p:spPr>
      </p:pic>
      <p:sp>
        <p:nvSpPr>
          <p:cNvPr id="6" name="TextBox 5">
            <a:extLst>
              <a:ext uri="{FF2B5EF4-FFF2-40B4-BE49-F238E27FC236}">
                <a16:creationId xmlns:a16="http://schemas.microsoft.com/office/drawing/2014/main" id="{0DE95A4E-2E2D-C34D-A58C-9BE3CEE8B7FB}"/>
              </a:ext>
            </a:extLst>
          </p:cNvPr>
          <p:cNvSpPr txBox="1"/>
          <p:nvPr/>
        </p:nvSpPr>
        <p:spPr>
          <a:xfrm>
            <a:off x="0" y="2465407"/>
            <a:ext cx="1932645" cy="830997"/>
          </a:xfrm>
          <a:prstGeom prst="rect">
            <a:avLst/>
          </a:prstGeom>
          <a:noFill/>
        </p:spPr>
        <p:txBody>
          <a:bodyPr wrap="none" rtlCol="0">
            <a:spAutoFit/>
          </a:bodyPr>
          <a:lstStyle/>
          <a:p>
            <a:pPr algn="ctr"/>
            <a:r>
              <a:rPr lang="en-US" sz="2400" dirty="0"/>
              <a:t>Face centered</a:t>
            </a:r>
          </a:p>
          <a:p>
            <a:pPr algn="ctr"/>
            <a:r>
              <a:rPr lang="en-US" sz="2400" dirty="0"/>
              <a:t>grid</a:t>
            </a:r>
          </a:p>
        </p:txBody>
      </p:sp>
      <p:sp>
        <p:nvSpPr>
          <p:cNvPr id="7" name="TextBox 6">
            <a:extLst>
              <a:ext uri="{FF2B5EF4-FFF2-40B4-BE49-F238E27FC236}">
                <a16:creationId xmlns:a16="http://schemas.microsoft.com/office/drawing/2014/main" id="{7F140128-74F7-F84C-B6DE-918549F43633}"/>
              </a:ext>
            </a:extLst>
          </p:cNvPr>
          <p:cNvSpPr txBox="1"/>
          <p:nvPr/>
        </p:nvSpPr>
        <p:spPr>
          <a:xfrm>
            <a:off x="52771" y="4661703"/>
            <a:ext cx="1827103" cy="830997"/>
          </a:xfrm>
          <a:prstGeom prst="rect">
            <a:avLst/>
          </a:prstGeom>
          <a:noFill/>
        </p:spPr>
        <p:txBody>
          <a:bodyPr wrap="none" rtlCol="0">
            <a:spAutoFit/>
          </a:bodyPr>
          <a:lstStyle/>
          <a:p>
            <a:pPr algn="ctr"/>
            <a:r>
              <a:rPr lang="en-US" sz="2400" dirty="0"/>
              <a:t>Cell centered</a:t>
            </a:r>
          </a:p>
          <a:p>
            <a:pPr algn="ctr"/>
            <a:r>
              <a:rPr lang="en-US" sz="2400" dirty="0"/>
              <a:t>grid</a:t>
            </a:r>
          </a:p>
        </p:txBody>
      </p:sp>
      <p:sp>
        <p:nvSpPr>
          <p:cNvPr id="8" name="Oval 7">
            <a:extLst>
              <a:ext uri="{FF2B5EF4-FFF2-40B4-BE49-F238E27FC236}">
                <a16:creationId xmlns:a16="http://schemas.microsoft.com/office/drawing/2014/main" id="{71BA0693-B1DB-2646-AC7E-D8C37825CD46}"/>
              </a:ext>
            </a:extLst>
          </p:cNvPr>
          <p:cNvSpPr/>
          <p:nvPr/>
        </p:nvSpPr>
        <p:spPr>
          <a:xfrm>
            <a:off x="2438399" y="4876799"/>
            <a:ext cx="64008" cy="64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C1B1CCEF-FD13-8345-9109-0A725957269A}"/>
              </a:ext>
            </a:extLst>
          </p:cNvPr>
          <p:cNvSpPr/>
          <p:nvPr/>
        </p:nvSpPr>
        <p:spPr>
          <a:xfrm>
            <a:off x="10111277" y="5029199"/>
            <a:ext cx="64008" cy="64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3BE600F2-CA09-7C43-B481-FE8CE08C730E}"/>
              </a:ext>
            </a:extLst>
          </p:cNvPr>
          <p:cNvSpPr txBox="1"/>
          <p:nvPr/>
        </p:nvSpPr>
        <p:spPr>
          <a:xfrm>
            <a:off x="2775099" y="3110616"/>
            <a:ext cx="344966" cy="338554"/>
          </a:xfrm>
          <a:prstGeom prst="rect">
            <a:avLst/>
          </a:prstGeom>
          <a:noFill/>
        </p:spPr>
        <p:txBody>
          <a:bodyPr wrap="none" rtlCol="0">
            <a:spAutoFit/>
          </a:bodyPr>
          <a:lstStyle/>
          <a:p>
            <a:r>
              <a:rPr lang="en-US" sz="1600" dirty="0">
                <a:latin typeface="Times New Roman" panose="02020603050405020304" pitchFamily="18" charset="0"/>
                <a:cs typeface="Times New Roman" panose="02020603050405020304" pitchFamily="18" charset="0"/>
              </a:rPr>
              <a:t>lo</a:t>
            </a:r>
          </a:p>
        </p:txBody>
      </p:sp>
      <p:sp>
        <p:nvSpPr>
          <p:cNvPr id="10" name="TextBox 9">
            <a:extLst>
              <a:ext uri="{FF2B5EF4-FFF2-40B4-BE49-F238E27FC236}">
                <a16:creationId xmlns:a16="http://schemas.microsoft.com/office/drawing/2014/main" id="{8D96BE65-2602-8343-A53E-F4F23F928FFA}"/>
              </a:ext>
            </a:extLst>
          </p:cNvPr>
          <p:cNvSpPr txBox="1"/>
          <p:nvPr/>
        </p:nvSpPr>
        <p:spPr>
          <a:xfrm>
            <a:off x="9551583" y="3110616"/>
            <a:ext cx="344966" cy="338554"/>
          </a:xfrm>
          <a:prstGeom prst="rect">
            <a:avLst/>
          </a:prstGeom>
          <a:noFill/>
        </p:spPr>
        <p:txBody>
          <a:bodyPr wrap="none" rtlCol="0">
            <a:spAutoFit/>
          </a:bodyPr>
          <a:lstStyle/>
          <a:p>
            <a:r>
              <a:rPr lang="en-US" sz="1600" dirty="0">
                <a:latin typeface="Times New Roman" panose="02020603050405020304" pitchFamily="18" charset="0"/>
                <a:cs typeface="Times New Roman" panose="02020603050405020304" pitchFamily="18" charset="0"/>
              </a:rPr>
              <a:t>hi</a:t>
            </a:r>
          </a:p>
        </p:txBody>
      </p:sp>
    </p:spTree>
    <p:extLst>
      <p:ext uri="{BB962C8B-B14F-4D97-AF65-F5344CB8AC3E}">
        <p14:creationId xmlns:p14="http://schemas.microsoft.com/office/powerpoint/2010/main" val="401081774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DCE2F9-F4C3-DA4C-B0FC-7FF6F22D148C}"/>
              </a:ext>
            </a:extLst>
          </p:cNvPr>
          <p:cNvSpPr>
            <a:spLocks noGrp="1"/>
          </p:cNvSpPr>
          <p:nvPr>
            <p:ph type="title"/>
          </p:nvPr>
        </p:nvSpPr>
        <p:spPr>
          <a:xfrm>
            <a:off x="838200" y="0"/>
            <a:ext cx="10515600" cy="1325563"/>
          </a:xfrm>
        </p:spPr>
        <p:txBody>
          <a:bodyPr/>
          <a:lstStyle/>
          <a:p>
            <a:r>
              <a:rPr lang="en-US" dirty="0"/>
              <a:t>Boundary conditions : Dirichlet</a:t>
            </a:r>
          </a:p>
        </p:txBody>
      </p:sp>
      <p:pic>
        <p:nvPicPr>
          <p:cNvPr id="5" name="Content Placeholder 4">
            <a:extLst>
              <a:ext uri="{FF2B5EF4-FFF2-40B4-BE49-F238E27FC236}">
                <a16:creationId xmlns:a16="http://schemas.microsoft.com/office/drawing/2014/main" id="{D44CA677-F16D-AE4D-BD3F-84F217C69AC6}"/>
              </a:ext>
            </a:extLst>
          </p:cNvPr>
          <p:cNvPicPr>
            <a:picLocks noGrp="1" noChangeAspect="1"/>
          </p:cNvPicPr>
          <p:nvPr>
            <p:ph idx="1"/>
          </p:nvPr>
        </p:nvPicPr>
        <p:blipFill rotWithShape="1">
          <a:blip r:embed="rId2"/>
          <a:srcRect t="53041"/>
          <a:stretch/>
        </p:blipFill>
        <p:spPr>
          <a:xfrm>
            <a:off x="1422905" y="4260028"/>
            <a:ext cx="9367705" cy="2597972"/>
          </a:xfrm>
        </p:spPr>
      </p:pic>
      <p:sp>
        <p:nvSpPr>
          <p:cNvPr id="7" name="TextBox 6">
            <a:extLst>
              <a:ext uri="{FF2B5EF4-FFF2-40B4-BE49-F238E27FC236}">
                <a16:creationId xmlns:a16="http://schemas.microsoft.com/office/drawing/2014/main" id="{7F140128-74F7-F84C-B6DE-918549F43633}"/>
              </a:ext>
            </a:extLst>
          </p:cNvPr>
          <p:cNvSpPr txBox="1"/>
          <p:nvPr/>
        </p:nvSpPr>
        <p:spPr>
          <a:xfrm>
            <a:off x="52771" y="4661703"/>
            <a:ext cx="1827103" cy="830997"/>
          </a:xfrm>
          <a:prstGeom prst="rect">
            <a:avLst/>
          </a:prstGeom>
          <a:noFill/>
        </p:spPr>
        <p:txBody>
          <a:bodyPr wrap="none" rtlCol="0">
            <a:spAutoFit/>
          </a:bodyPr>
          <a:lstStyle/>
          <a:p>
            <a:pPr algn="ctr"/>
            <a:r>
              <a:rPr lang="en-US" sz="2400" dirty="0"/>
              <a:t>Cell centered</a:t>
            </a:r>
          </a:p>
          <a:p>
            <a:pPr algn="ctr"/>
            <a:r>
              <a:rPr lang="en-US" sz="2400" dirty="0"/>
              <a:t>grid</a:t>
            </a:r>
          </a:p>
        </p:txBody>
      </p:sp>
      <p:sp>
        <p:nvSpPr>
          <p:cNvPr id="8" name="Oval 7">
            <a:extLst>
              <a:ext uri="{FF2B5EF4-FFF2-40B4-BE49-F238E27FC236}">
                <a16:creationId xmlns:a16="http://schemas.microsoft.com/office/drawing/2014/main" id="{71BA0693-B1DB-2646-AC7E-D8C37825CD46}"/>
              </a:ext>
            </a:extLst>
          </p:cNvPr>
          <p:cNvSpPr/>
          <p:nvPr/>
        </p:nvSpPr>
        <p:spPr>
          <a:xfrm>
            <a:off x="2438399" y="4876799"/>
            <a:ext cx="64008" cy="64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4A56E524-BCDC-7442-B251-AC63EC5DF9B6}"/>
              </a:ext>
            </a:extLst>
          </p:cNvPr>
          <p:cNvSpPr/>
          <p:nvPr/>
        </p:nvSpPr>
        <p:spPr>
          <a:xfrm>
            <a:off x="10099637" y="5045197"/>
            <a:ext cx="64008" cy="64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0" name="Content Placeholder 2">
                <a:extLst>
                  <a:ext uri="{FF2B5EF4-FFF2-40B4-BE49-F238E27FC236}">
                    <a16:creationId xmlns:a16="http://schemas.microsoft.com/office/drawing/2014/main" id="{468888CE-F7C1-2742-A5B9-2B8389532DDC}"/>
                  </a:ext>
                </a:extLst>
              </p:cNvPr>
              <p:cNvSpPr txBox="1">
                <a:spLocks/>
              </p:cNvSpPr>
              <p:nvPr/>
            </p:nvSpPr>
            <p:spPr>
              <a:xfrm>
                <a:off x="838200" y="1129624"/>
                <a:ext cx="10515600" cy="32487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Value on the boundary is an average of the two agent cells:</a:t>
                </a:r>
              </a:p>
              <a:p>
                <a:pPr marL="0" indent="0">
                  <a:lnSpc>
                    <a:spcPct val="100000"/>
                  </a:lnSpc>
                  <a:buNone/>
                </a:pPr>
                <a14:m>
                  <m:oMathPara xmlns:m="http://schemas.openxmlformats.org/officeDocument/2006/math">
                    <m:oMathParaPr>
                      <m:jc m:val="centerGroup"/>
                    </m:oMathParaPr>
                    <m:oMath xmlns:m="http://schemas.openxmlformats.org/officeDocument/2006/math">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𝜙</m:t>
                          </m:r>
                        </m:e>
                        <m:sub>
                          <m:r>
                            <a:rPr lang="en-US" b="0" i="1" dirty="0" smtClean="0">
                              <a:latin typeface="Cambria Math" panose="02040503050406030204" pitchFamily="18" charset="0"/>
                            </a:rPr>
                            <m:t>𝑙</m:t>
                          </m:r>
                        </m:sub>
                      </m:sSub>
                      <m:r>
                        <a:rPr lang="en-US" b="0" i="1" dirty="0" smtClean="0">
                          <a:latin typeface="Cambria Math" panose="02040503050406030204" pitchFamily="18" charset="0"/>
                        </a:rPr>
                        <m:t>=</m:t>
                      </m:r>
                      <m:f>
                        <m:fPr>
                          <m:ctrlPr>
                            <a:rPr lang="en-US" b="0" i="1" dirty="0" smtClean="0">
                              <a:latin typeface="Cambria Math" panose="02040503050406030204" pitchFamily="18" charset="0"/>
                            </a:rPr>
                          </m:ctrlPr>
                        </m:fPr>
                        <m:num>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𝜙</m:t>
                              </m:r>
                            </m:e>
                            <m:sub>
                              <m:r>
                                <a:rPr lang="en-US" b="0" i="1" dirty="0" smtClean="0">
                                  <a:latin typeface="Cambria Math" panose="02040503050406030204" pitchFamily="18" charset="0"/>
                                </a:rPr>
                                <m:t>𝑙𝑜</m:t>
                              </m:r>
                            </m:sub>
                          </m:sSub>
                          <m:r>
                            <a:rPr lang="en-US" b="0" i="1" dirty="0" smtClean="0">
                              <a:latin typeface="Cambria Math" panose="02040503050406030204" pitchFamily="18" charset="0"/>
                            </a:rPr>
                            <m:t>+</m:t>
                          </m:r>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𝜙</m:t>
                              </m:r>
                            </m:e>
                            <m:sub>
                              <m:r>
                                <a:rPr lang="en-US" b="0" i="1" dirty="0" smtClean="0">
                                  <a:latin typeface="Cambria Math" panose="02040503050406030204" pitchFamily="18" charset="0"/>
                                </a:rPr>
                                <m:t>𝑙𝑜</m:t>
                              </m:r>
                              <m:r>
                                <a:rPr lang="en-US" b="0" i="1" dirty="0" smtClean="0">
                                  <a:latin typeface="Cambria Math" panose="02040503050406030204" pitchFamily="18" charset="0"/>
                                </a:rPr>
                                <m:t>−1</m:t>
                              </m:r>
                            </m:sub>
                          </m:sSub>
                        </m:num>
                        <m:den>
                          <m:r>
                            <a:rPr lang="en-US" b="0" i="1" dirty="0" smtClean="0">
                              <a:latin typeface="Cambria Math" panose="02040503050406030204" pitchFamily="18" charset="0"/>
                            </a:rPr>
                            <m:t>2</m:t>
                          </m:r>
                        </m:den>
                      </m:f>
                    </m:oMath>
                  </m:oMathPara>
                </a14:m>
                <a:endParaRPr lang="en-US" b="0" i="1" dirty="0">
                  <a:latin typeface="Cambria Math" panose="02040503050406030204" pitchFamily="18" charset="0"/>
                </a:endParaRPr>
              </a:p>
              <a:p>
                <a:pPr marL="0" indent="0">
                  <a:lnSpc>
                    <a:spcPct val="100000"/>
                  </a:lnSpc>
                  <a:buNone/>
                </a:pPr>
                <a14:m>
                  <m:oMathPara xmlns:m="http://schemas.openxmlformats.org/officeDocument/2006/math">
                    <m:oMathParaPr>
                      <m:jc m:val="centerGroup"/>
                    </m:oMathParaPr>
                    <m:oMath xmlns:m="http://schemas.openxmlformats.org/officeDocument/2006/math">
                      <m:sSub>
                        <m:sSubPr>
                          <m:ctrlPr>
                            <a:rPr lang="en-US" i="1" dirty="0">
                              <a:latin typeface="Cambria Math" panose="02040503050406030204" pitchFamily="18" charset="0"/>
                            </a:rPr>
                          </m:ctrlPr>
                        </m:sSubPr>
                        <m:e>
                          <m:r>
                            <a:rPr lang="en-US" i="1" dirty="0">
                              <a:latin typeface="Cambria Math" panose="02040503050406030204" pitchFamily="18" charset="0"/>
                            </a:rPr>
                            <m:t>𝜙</m:t>
                          </m:r>
                        </m:e>
                        <m:sub>
                          <m:r>
                            <a:rPr lang="en-US" b="0" i="1" dirty="0" smtClean="0">
                              <a:latin typeface="Cambria Math" panose="02040503050406030204" pitchFamily="18" charset="0"/>
                            </a:rPr>
                            <m:t>𝑟</m:t>
                          </m:r>
                        </m:sub>
                      </m:sSub>
                      <m:r>
                        <a:rPr lang="en-US" i="1" dirty="0">
                          <a:latin typeface="Cambria Math" panose="02040503050406030204" pitchFamily="18" charset="0"/>
                        </a:rPr>
                        <m:t>=</m:t>
                      </m:r>
                      <m:f>
                        <m:fPr>
                          <m:ctrlPr>
                            <a:rPr lang="en-US" i="1" dirty="0">
                              <a:latin typeface="Cambria Math" panose="02040503050406030204" pitchFamily="18" charset="0"/>
                            </a:rPr>
                          </m:ctrlPr>
                        </m:fPr>
                        <m:num>
                          <m:sSub>
                            <m:sSubPr>
                              <m:ctrlPr>
                                <a:rPr lang="en-US" i="1" dirty="0">
                                  <a:latin typeface="Cambria Math" panose="02040503050406030204" pitchFamily="18" charset="0"/>
                                </a:rPr>
                              </m:ctrlPr>
                            </m:sSubPr>
                            <m:e>
                              <m:r>
                                <a:rPr lang="en-US" i="1" dirty="0">
                                  <a:latin typeface="Cambria Math" panose="02040503050406030204" pitchFamily="18" charset="0"/>
                                </a:rPr>
                                <m:t>𝜙</m:t>
                              </m:r>
                            </m:e>
                            <m:sub>
                              <m:r>
                                <a:rPr lang="en-US" b="0" i="1" dirty="0" smtClean="0">
                                  <a:latin typeface="Cambria Math" panose="02040503050406030204" pitchFamily="18" charset="0"/>
                                </a:rPr>
                                <m:t>h𝑖</m:t>
                              </m:r>
                            </m:sub>
                          </m:sSub>
                          <m:r>
                            <a:rPr lang="en-US" i="1" dirty="0">
                              <a:latin typeface="Cambria Math" panose="02040503050406030204" pitchFamily="18" charset="0"/>
                            </a:rPr>
                            <m:t>+</m:t>
                          </m:r>
                          <m:sSub>
                            <m:sSubPr>
                              <m:ctrlPr>
                                <a:rPr lang="en-US" i="1" dirty="0">
                                  <a:latin typeface="Cambria Math" panose="02040503050406030204" pitchFamily="18" charset="0"/>
                                </a:rPr>
                              </m:ctrlPr>
                            </m:sSubPr>
                            <m:e>
                              <m:r>
                                <a:rPr lang="en-US" i="1" dirty="0">
                                  <a:latin typeface="Cambria Math" panose="02040503050406030204" pitchFamily="18" charset="0"/>
                                </a:rPr>
                                <m:t>𝜙</m:t>
                              </m:r>
                            </m:e>
                            <m:sub>
                              <m:r>
                                <a:rPr lang="en-US" b="0" i="1" dirty="0" smtClean="0">
                                  <a:latin typeface="Cambria Math" panose="02040503050406030204" pitchFamily="18" charset="0"/>
                                </a:rPr>
                                <m:t>h𝑖</m:t>
                              </m:r>
                              <m:r>
                                <a:rPr lang="en-US" b="0" i="1" dirty="0" smtClean="0">
                                  <a:latin typeface="Cambria Math" panose="02040503050406030204" pitchFamily="18" charset="0"/>
                                </a:rPr>
                                <m:t>+1</m:t>
                              </m:r>
                            </m:sub>
                          </m:sSub>
                        </m:num>
                        <m:den>
                          <m:r>
                            <a:rPr lang="en-US" i="1" dirty="0">
                              <a:latin typeface="Cambria Math" panose="02040503050406030204" pitchFamily="18" charset="0"/>
                            </a:rPr>
                            <m:t>2</m:t>
                          </m:r>
                        </m:den>
                      </m:f>
                    </m:oMath>
                  </m:oMathPara>
                </a14:m>
                <a:endParaRPr lang="en-US" i="1" dirty="0">
                  <a:latin typeface="Cambria Math" panose="02040503050406030204" pitchFamily="18" charset="0"/>
                </a:endParaRPr>
              </a:p>
              <a:p>
                <a:pPr marL="0" indent="0">
                  <a:lnSpc>
                    <a:spcPct val="100000"/>
                  </a:lnSpc>
                  <a:buNone/>
                </a:pPr>
                <a:endParaRPr lang="en-US" i="1" dirty="0">
                  <a:latin typeface="Cambria Math" panose="02040503050406030204" pitchFamily="18" charset="0"/>
                </a:endParaRPr>
              </a:p>
              <a:p>
                <a:pPr marL="0" indent="0">
                  <a:buNone/>
                </a:pPr>
                <a:endParaRPr lang="en-US" b="0" i="1" dirty="0">
                  <a:latin typeface="Cambria Math" panose="02040503050406030204" pitchFamily="18" charset="0"/>
                </a:endParaRPr>
              </a:p>
              <a:p>
                <a:pPr marL="0" indent="0">
                  <a:buNone/>
                </a:pPr>
                <a:endParaRPr lang="en-US" dirty="0"/>
              </a:p>
            </p:txBody>
          </p:sp>
        </mc:Choice>
        <mc:Fallback xmlns="">
          <p:sp>
            <p:nvSpPr>
              <p:cNvPr id="10" name="Content Placeholder 2">
                <a:extLst>
                  <a:ext uri="{FF2B5EF4-FFF2-40B4-BE49-F238E27FC236}">
                    <a16:creationId xmlns:a16="http://schemas.microsoft.com/office/drawing/2014/main" id="{468888CE-F7C1-2742-A5B9-2B8389532DDC}"/>
                  </a:ext>
                </a:extLst>
              </p:cNvPr>
              <p:cNvSpPr txBox="1">
                <a:spLocks noRot="1" noChangeAspect="1" noMove="1" noResize="1" noEditPoints="1" noAdjustHandles="1" noChangeArrowheads="1" noChangeShapeType="1" noTextEdit="1"/>
              </p:cNvSpPr>
              <p:nvPr/>
            </p:nvSpPr>
            <p:spPr>
              <a:xfrm>
                <a:off x="838200" y="1129624"/>
                <a:ext cx="10515600" cy="3248738"/>
              </a:xfrm>
              <a:prstGeom prst="rect">
                <a:avLst/>
              </a:prstGeom>
              <a:blipFill>
                <a:blip r:embed="rId3"/>
                <a:stretch>
                  <a:fillRect l="-965" t="-3113"/>
                </a:stretch>
              </a:blipFill>
            </p:spPr>
            <p:txBody>
              <a:bodyPr/>
              <a:lstStyle/>
              <a:p>
                <a:r>
                  <a:rPr lang="en-US">
                    <a:noFill/>
                  </a:rPr>
                  <a:t> </a:t>
                </a:r>
              </a:p>
            </p:txBody>
          </p:sp>
        </mc:Fallback>
      </mc:AlternateContent>
    </p:spTree>
    <p:extLst>
      <p:ext uri="{BB962C8B-B14F-4D97-AF65-F5344CB8AC3E}">
        <p14:creationId xmlns:p14="http://schemas.microsoft.com/office/powerpoint/2010/main" val="178231033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DCE2F9-F4C3-DA4C-B0FC-7FF6F22D148C}"/>
              </a:ext>
            </a:extLst>
          </p:cNvPr>
          <p:cNvSpPr>
            <a:spLocks noGrp="1"/>
          </p:cNvSpPr>
          <p:nvPr>
            <p:ph type="title"/>
          </p:nvPr>
        </p:nvSpPr>
        <p:spPr>
          <a:xfrm>
            <a:off x="838200" y="0"/>
            <a:ext cx="10515600" cy="1325563"/>
          </a:xfrm>
        </p:spPr>
        <p:txBody>
          <a:bodyPr/>
          <a:lstStyle/>
          <a:p>
            <a:r>
              <a:rPr lang="en-US" dirty="0"/>
              <a:t>Boundary conditions : Dirichlet</a:t>
            </a:r>
          </a:p>
        </p:txBody>
      </p:sp>
      <p:pic>
        <p:nvPicPr>
          <p:cNvPr id="5" name="Content Placeholder 4">
            <a:extLst>
              <a:ext uri="{FF2B5EF4-FFF2-40B4-BE49-F238E27FC236}">
                <a16:creationId xmlns:a16="http://schemas.microsoft.com/office/drawing/2014/main" id="{D44CA677-F16D-AE4D-BD3F-84F217C69AC6}"/>
              </a:ext>
            </a:extLst>
          </p:cNvPr>
          <p:cNvPicPr>
            <a:picLocks noGrp="1" noChangeAspect="1"/>
          </p:cNvPicPr>
          <p:nvPr>
            <p:ph idx="1"/>
          </p:nvPr>
        </p:nvPicPr>
        <p:blipFill rotWithShape="1">
          <a:blip r:embed="rId2"/>
          <a:srcRect t="53041"/>
          <a:stretch/>
        </p:blipFill>
        <p:spPr>
          <a:xfrm>
            <a:off x="1422905" y="4260028"/>
            <a:ext cx="9367705" cy="2597972"/>
          </a:xfrm>
        </p:spPr>
      </p:pic>
      <p:sp>
        <p:nvSpPr>
          <p:cNvPr id="7" name="TextBox 6">
            <a:extLst>
              <a:ext uri="{FF2B5EF4-FFF2-40B4-BE49-F238E27FC236}">
                <a16:creationId xmlns:a16="http://schemas.microsoft.com/office/drawing/2014/main" id="{7F140128-74F7-F84C-B6DE-918549F43633}"/>
              </a:ext>
            </a:extLst>
          </p:cNvPr>
          <p:cNvSpPr txBox="1"/>
          <p:nvPr/>
        </p:nvSpPr>
        <p:spPr>
          <a:xfrm>
            <a:off x="52771" y="4661703"/>
            <a:ext cx="1827103" cy="830997"/>
          </a:xfrm>
          <a:prstGeom prst="rect">
            <a:avLst/>
          </a:prstGeom>
          <a:noFill/>
        </p:spPr>
        <p:txBody>
          <a:bodyPr wrap="none" rtlCol="0">
            <a:spAutoFit/>
          </a:bodyPr>
          <a:lstStyle/>
          <a:p>
            <a:pPr algn="ctr"/>
            <a:r>
              <a:rPr lang="en-US" sz="2400" dirty="0"/>
              <a:t>Cell centered</a:t>
            </a:r>
          </a:p>
          <a:p>
            <a:pPr algn="ctr"/>
            <a:r>
              <a:rPr lang="en-US" sz="2400" dirty="0"/>
              <a:t>grid</a:t>
            </a:r>
          </a:p>
        </p:txBody>
      </p:sp>
      <p:sp>
        <p:nvSpPr>
          <p:cNvPr id="8" name="Oval 7">
            <a:extLst>
              <a:ext uri="{FF2B5EF4-FFF2-40B4-BE49-F238E27FC236}">
                <a16:creationId xmlns:a16="http://schemas.microsoft.com/office/drawing/2014/main" id="{71BA0693-B1DB-2646-AC7E-D8C37825CD46}"/>
              </a:ext>
            </a:extLst>
          </p:cNvPr>
          <p:cNvSpPr/>
          <p:nvPr/>
        </p:nvSpPr>
        <p:spPr>
          <a:xfrm>
            <a:off x="2438399" y="4876799"/>
            <a:ext cx="64008" cy="64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4A56E524-BCDC-7442-B251-AC63EC5DF9B6}"/>
              </a:ext>
            </a:extLst>
          </p:cNvPr>
          <p:cNvSpPr/>
          <p:nvPr/>
        </p:nvSpPr>
        <p:spPr>
          <a:xfrm>
            <a:off x="10099637" y="5045197"/>
            <a:ext cx="64008" cy="64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0" name="Content Placeholder 2">
                <a:extLst>
                  <a:ext uri="{FF2B5EF4-FFF2-40B4-BE49-F238E27FC236}">
                    <a16:creationId xmlns:a16="http://schemas.microsoft.com/office/drawing/2014/main" id="{468888CE-F7C1-2742-A5B9-2B8389532DDC}"/>
                  </a:ext>
                </a:extLst>
              </p:cNvPr>
              <p:cNvSpPr txBox="1">
                <a:spLocks/>
              </p:cNvSpPr>
              <p:nvPr/>
            </p:nvSpPr>
            <p:spPr>
              <a:xfrm>
                <a:off x="838200" y="1129624"/>
                <a:ext cx="10515600" cy="273782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The assigned values will be:</a:t>
                </a:r>
              </a:p>
              <a:p>
                <a:pPr marL="0" indent="0">
                  <a:lnSpc>
                    <a:spcPct val="150000"/>
                  </a:lnSpc>
                  <a:buNone/>
                </a:pPr>
                <a14:m>
                  <m:oMathPara xmlns:m="http://schemas.openxmlformats.org/officeDocument/2006/math">
                    <m:oMathParaPr>
                      <m:jc m:val="centerGroup"/>
                    </m:oMathParaPr>
                    <m:oMath xmlns:m="http://schemas.openxmlformats.org/officeDocument/2006/math">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𝜙</m:t>
                          </m:r>
                        </m:e>
                        <m:sub>
                          <m:r>
                            <a:rPr lang="en-US" b="0" i="1" dirty="0" smtClean="0">
                              <a:latin typeface="Cambria Math" panose="02040503050406030204" pitchFamily="18" charset="0"/>
                            </a:rPr>
                            <m:t>𝑙𝑜</m:t>
                          </m:r>
                          <m:r>
                            <a:rPr lang="en-US" b="0" i="1" dirty="0" smtClean="0">
                              <a:latin typeface="Cambria Math" panose="02040503050406030204" pitchFamily="18" charset="0"/>
                            </a:rPr>
                            <m:t>−1</m:t>
                          </m:r>
                        </m:sub>
                      </m:sSub>
                      <m:r>
                        <a:rPr lang="en-US" b="0" i="1" dirty="0" smtClean="0">
                          <a:latin typeface="Cambria Math" panose="02040503050406030204" pitchFamily="18" charset="0"/>
                        </a:rPr>
                        <m:t>=</m:t>
                      </m:r>
                      <m:sSub>
                        <m:sSubPr>
                          <m:ctrlPr>
                            <a:rPr lang="en-US" i="1" dirty="0">
                              <a:latin typeface="Cambria Math" panose="02040503050406030204" pitchFamily="18" charset="0"/>
                            </a:rPr>
                          </m:ctrlPr>
                        </m:sSubPr>
                        <m:e>
                          <m:r>
                            <a:rPr lang="en-US" b="0" i="1" dirty="0" smtClean="0">
                              <a:latin typeface="Cambria Math" panose="02040503050406030204" pitchFamily="18" charset="0"/>
                            </a:rPr>
                            <m:t>2</m:t>
                          </m:r>
                          <m:r>
                            <a:rPr lang="en-US" i="1" dirty="0">
                              <a:latin typeface="Cambria Math" panose="02040503050406030204" pitchFamily="18" charset="0"/>
                            </a:rPr>
                            <m:t>𝜙</m:t>
                          </m:r>
                        </m:e>
                        <m:sub>
                          <m:r>
                            <a:rPr lang="en-US" i="1" dirty="0">
                              <a:latin typeface="Cambria Math" panose="02040503050406030204" pitchFamily="18" charset="0"/>
                            </a:rPr>
                            <m:t>𝑙𝑜</m:t>
                          </m:r>
                        </m:sub>
                      </m:sSub>
                      <m:r>
                        <a:rPr lang="en-US" b="0" i="1" dirty="0" smtClean="0">
                          <a:latin typeface="Cambria Math" panose="02040503050406030204" pitchFamily="18" charset="0"/>
                        </a:rPr>
                        <m:t>−</m:t>
                      </m:r>
                      <m:sSub>
                        <m:sSubPr>
                          <m:ctrlPr>
                            <a:rPr lang="en-US" i="1" dirty="0">
                              <a:latin typeface="Cambria Math" panose="02040503050406030204" pitchFamily="18" charset="0"/>
                            </a:rPr>
                          </m:ctrlPr>
                        </m:sSubPr>
                        <m:e>
                          <m:r>
                            <a:rPr lang="en-US" i="1" dirty="0">
                              <a:latin typeface="Cambria Math" panose="02040503050406030204" pitchFamily="18" charset="0"/>
                            </a:rPr>
                            <m:t>𝜙</m:t>
                          </m:r>
                        </m:e>
                        <m:sub>
                          <m:r>
                            <a:rPr lang="en-US" i="1" dirty="0">
                              <a:latin typeface="Cambria Math" panose="02040503050406030204" pitchFamily="18" charset="0"/>
                            </a:rPr>
                            <m:t>𝑙</m:t>
                          </m:r>
                        </m:sub>
                      </m:sSub>
                    </m:oMath>
                  </m:oMathPara>
                </a14:m>
                <a:endParaRPr lang="en-US" b="0" i="1" dirty="0">
                  <a:latin typeface="Cambria Math" panose="02040503050406030204" pitchFamily="18" charset="0"/>
                </a:endParaRPr>
              </a:p>
              <a:p>
                <a:pPr marL="0" indent="0">
                  <a:lnSpc>
                    <a:spcPct val="150000"/>
                  </a:lnSpc>
                  <a:buNone/>
                </a:pPr>
                <a14:m>
                  <m:oMathPara xmlns:m="http://schemas.openxmlformats.org/officeDocument/2006/math">
                    <m:oMathParaPr>
                      <m:jc m:val="centerGroup"/>
                    </m:oMathParaPr>
                    <m:oMath xmlns:m="http://schemas.openxmlformats.org/officeDocument/2006/math">
                      <m:sSub>
                        <m:sSubPr>
                          <m:ctrlPr>
                            <a:rPr lang="en-US" i="1" dirty="0">
                              <a:latin typeface="Cambria Math" panose="02040503050406030204" pitchFamily="18" charset="0"/>
                            </a:rPr>
                          </m:ctrlPr>
                        </m:sSubPr>
                        <m:e>
                          <m:r>
                            <a:rPr lang="en-US" i="1" dirty="0">
                              <a:latin typeface="Cambria Math" panose="02040503050406030204" pitchFamily="18" charset="0"/>
                            </a:rPr>
                            <m:t>𝜙</m:t>
                          </m:r>
                        </m:e>
                        <m:sub>
                          <m:r>
                            <a:rPr lang="en-US" b="0" i="1" dirty="0" smtClean="0">
                              <a:latin typeface="Cambria Math" panose="02040503050406030204" pitchFamily="18" charset="0"/>
                            </a:rPr>
                            <m:t>h𝑖</m:t>
                          </m:r>
                          <m:r>
                            <a:rPr lang="en-US" b="0" i="1" dirty="0" smtClean="0">
                              <a:latin typeface="Cambria Math" panose="02040503050406030204" pitchFamily="18" charset="0"/>
                            </a:rPr>
                            <m:t>+1</m:t>
                          </m:r>
                        </m:sub>
                      </m:sSub>
                      <m:r>
                        <a:rPr lang="en-US" i="1" dirty="0">
                          <a:latin typeface="Cambria Math" panose="02040503050406030204" pitchFamily="18" charset="0"/>
                        </a:rPr>
                        <m:t>=</m:t>
                      </m:r>
                      <m:sSub>
                        <m:sSubPr>
                          <m:ctrlPr>
                            <a:rPr lang="en-US" i="1" dirty="0">
                              <a:latin typeface="Cambria Math" panose="02040503050406030204" pitchFamily="18" charset="0"/>
                            </a:rPr>
                          </m:ctrlPr>
                        </m:sSubPr>
                        <m:e>
                          <m:r>
                            <a:rPr lang="en-US" i="1" dirty="0">
                              <a:latin typeface="Cambria Math" panose="02040503050406030204" pitchFamily="18" charset="0"/>
                            </a:rPr>
                            <m:t>2</m:t>
                          </m:r>
                          <m:r>
                            <a:rPr lang="en-US" i="1" dirty="0">
                              <a:latin typeface="Cambria Math" panose="02040503050406030204" pitchFamily="18" charset="0"/>
                            </a:rPr>
                            <m:t>𝜙</m:t>
                          </m:r>
                        </m:e>
                        <m:sub>
                          <m:r>
                            <a:rPr lang="en-US" b="0" i="1" dirty="0" smtClean="0">
                              <a:latin typeface="Cambria Math" panose="02040503050406030204" pitchFamily="18" charset="0"/>
                            </a:rPr>
                            <m:t>h𝑖</m:t>
                          </m:r>
                        </m:sub>
                      </m:sSub>
                      <m:r>
                        <a:rPr lang="en-US" i="1" dirty="0">
                          <a:latin typeface="Cambria Math" panose="02040503050406030204" pitchFamily="18" charset="0"/>
                        </a:rPr>
                        <m:t>−</m:t>
                      </m:r>
                      <m:sSub>
                        <m:sSubPr>
                          <m:ctrlPr>
                            <a:rPr lang="en-US" i="1" dirty="0">
                              <a:latin typeface="Cambria Math" panose="02040503050406030204" pitchFamily="18" charset="0"/>
                            </a:rPr>
                          </m:ctrlPr>
                        </m:sSubPr>
                        <m:e>
                          <m:r>
                            <a:rPr lang="en-US" i="1" dirty="0">
                              <a:latin typeface="Cambria Math" panose="02040503050406030204" pitchFamily="18" charset="0"/>
                            </a:rPr>
                            <m:t>𝜙</m:t>
                          </m:r>
                        </m:e>
                        <m:sub>
                          <m:r>
                            <a:rPr lang="en-US" b="0" i="1" dirty="0" smtClean="0">
                              <a:latin typeface="Cambria Math" panose="02040503050406030204" pitchFamily="18" charset="0"/>
                            </a:rPr>
                            <m:t>𝑟</m:t>
                          </m:r>
                        </m:sub>
                      </m:sSub>
                    </m:oMath>
                  </m:oMathPara>
                </a14:m>
                <a:endParaRPr lang="en-US" i="1" dirty="0">
                  <a:latin typeface="Cambria Math" panose="02040503050406030204" pitchFamily="18" charset="0"/>
                </a:endParaRPr>
              </a:p>
              <a:p>
                <a:pPr marL="0" indent="0">
                  <a:buNone/>
                </a:pPr>
                <a:endParaRPr lang="en-US" b="0" i="1" dirty="0">
                  <a:latin typeface="Cambria Math" panose="02040503050406030204" pitchFamily="18" charset="0"/>
                </a:endParaRPr>
              </a:p>
              <a:p>
                <a:pPr marL="0" indent="0">
                  <a:buNone/>
                </a:pPr>
                <a:endParaRPr lang="en-US" dirty="0"/>
              </a:p>
            </p:txBody>
          </p:sp>
        </mc:Choice>
        <mc:Fallback xmlns="">
          <p:sp>
            <p:nvSpPr>
              <p:cNvPr id="10" name="Content Placeholder 2">
                <a:extLst>
                  <a:ext uri="{FF2B5EF4-FFF2-40B4-BE49-F238E27FC236}">
                    <a16:creationId xmlns:a16="http://schemas.microsoft.com/office/drawing/2014/main" id="{468888CE-F7C1-2742-A5B9-2B8389532DDC}"/>
                  </a:ext>
                </a:extLst>
              </p:cNvPr>
              <p:cNvSpPr txBox="1">
                <a:spLocks noRot="1" noChangeAspect="1" noMove="1" noResize="1" noEditPoints="1" noAdjustHandles="1" noChangeArrowheads="1" noChangeShapeType="1" noTextEdit="1"/>
              </p:cNvSpPr>
              <p:nvPr/>
            </p:nvSpPr>
            <p:spPr>
              <a:xfrm>
                <a:off x="838200" y="1129624"/>
                <a:ext cx="10515600" cy="2737820"/>
              </a:xfrm>
              <a:prstGeom prst="rect">
                <a:avLst/>
              </a:prstGeom>
              <a:blipFill>
                <a:blip r:embed="rId3"/>
                <a:stretch>
                  <a:fillRect l="-965" t="-3687"/>
                </a:stretch>
              </a:blipFill>
            </p:spPr>
            <p:txBody>
              <a:bodyPr/>
              <a:lstStyle/>
              <a:p>
                <a:r>
                  <a:rPr lang="en-US">
                    <a:noFill/>
                  </a:rPr>
                  <a:t> </a:t>
                </a:r>
              </a:p>
            </p:txBody>
          </p:sp>
        </mc:Fallback>
      </mc:AlternateContent>
    </p:spTree>
    <p:extLst>
      <p:ext uri="{BB962C8B-B14F-4D97-AF65-F5344CB8AC3E}">
        <p14:creationId xmlns:p14="http://schemas.microsoft.com/office/powerpoint/2010/main" val="382561082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DCE2F9-F4C3-DA4C-B0FC-7FF6F22D148C}"/>
              </a:ext>
            </a:extLst>
          </p:cNvPr>
          <p:cNvSpPr>
            <a:spLocks noGrp="1"/>
          </p:cNvSpPr>
          <p:nvPr>
            <p:ph type="title"/>
          </p:nvPr>
        </p:nvSpPr>
        <p:spPr>
          <a:xfrm>
            <a:off x="838200" y="0"/>
            <a:ext cx="10515600" cy="1325563"/>
          </a:xfrm>
        </p:spPr>
        <p:txBody>
          <a:bodyPr/>
          <a:lstStyle/>
          <a:p>
            <a:r>
              <a:rPr lang="en-US" dirty="0"/>
              <a:t>Boundary conditions : Neumann </a:t>
            </a:r>
          </a:p>
        </p:txBody>
      </p:sp>
      <p:pic>
        <p:nvPicPr>
          <p:cNvPr id="5" name="Content Placeholder 4">
            <a:extLst>
              <a:ext uri="{FF2B5EF4-FFF2-40B4-BE49-F238E27FC236}">
                <a16:creationId xmlns:a16="http://schemas.microsoft.com/office/drawing/2014/main" id="{D44CA677-F16D-AE4D-BD3F-84F217C69AC6}"/>
              </a:ext>
            </a:extLst>
          </p:cNvPr>
          <p:cNvPicPr>
            <a:picLocks noGrp="1" noChangeAspect="1"/>
          </p:cNvPicPr>
          <p:nvPr>
            <p:ph idx="1"/>
          </p:nvPr>
        </p:nvPicPr>
        <p:blipFill rotWithShape="1">
          <a:blip r:embed="rId2"/>
          <a:srcRect t="53041"/>
          <a:stretch/>
        </p:blipFill>
        <p:spPr>
          <a:xfrm>
            <a:off x="1422905" y="4260028"/>
            <a:ext cx="9367705" cy="2597972"/>
          </a:xfrm>
        </p:spPr>
      </p:pic>
      <p:sp>
        <p:nvSpPr>
          <p:cNvPr id="7" name="TextBox 6">
            <a:extLst>
              <a:ext uri="{FF2B5EF4-FFF2-40B4-BE49-F238E27FC236}">
                <a16:creationId xmlns:a16="http://schemas.microsoft.com/office/drawing/2014/main" id="{7F140128-74F7-F84C-B6DE-918549F43633}"/>
              </a:ext>
            </a:extLst>
          </p:cNvPr>
          <p:cNvSpPr txBox="1"/>
          <p:nvPr/>
        </p:nvSpPr>
        <p:spPr>
          <a:xfrm>
            <a:off x="52771" y="4661703"/>
            <a:ext cx="1827103" cy="830997"/>
          </a:xfrm>
          <a:prstGeom prst="rect">
            <a:avLst/>
          </a:prstGeom>
          <a:noFill/>
        </p:spPr>
        <p:txBody>
          <a:bodyPr wrap="none" rtlCol="0">
            <a:spAutoFit/>
          </a:bodyPr>
          <a:lstStyle/>
          <a:p>
            <a:pPr algn="ctr"/>
            <a:r>
              <a:rPr lang="en-US" sz="2400" dirty="0"/>
              <a:t>Cell centered</a:t>
            </a:r>
          </a:p>
          <a:p>
            <a:pPr algn="ctr"/>
            <a:r>
              <a:rPr lang="en-US" sz="2400" dirty="0"/>
              <a:t>grid</a:t>
            </a:r>
          </a:p>
        </p:txBody>
      </p:sp>
      <p:sp>
        <p:nvSpPr>
          <p:cNvPr id="8" name="Oval 7">
            <a:extLst>
              <a:ext uri="{FF2B5EF4-FFF2-40B4-BE49-F238E27FC236}">
                <a16:creationId xmlns:a16="http://schemas.microsoft.com/office/drawing/2014/main" id="{71BA0693-B1DB-2646-AC7E-D8C37825CD46}"/>
              </a:ext>
            </a:extLst>
          </p:cNvPr>
          <p:cNvSpPr/>
          <p:nvPr/>
        </p:nvSpPr>
        <p:spPr>
          <a:xfrm>
            <a:off x="2438399" y="4876799"/>
            <a:ext cx="64008" cy="64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4A56E524-BCDC-7442-B251-AC63EC5DF9B6}"/>
              </a:ext>
            </a:extLst>
          </p:cNvPr>
          <p:cNvSpPr/>
          <p:nvPr/>
        </p:nvSpPr>
        <p:spPr>
          <a:xfrm>
            <a:off x="10099637" y="5045197"/>
            <a:ext cx="64008" cy="64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0" name="Content Placeholder 2">
                <a:extLst>
                  <a:ext uri="{FF2B5EF4-FFF2-40B4-BE49-F238E27FC236}">
                    <a16:creationId xmlns:a16="http://schemas.microsoft.com/office/drawing/2014/main" id="{468888CE-F7C1-2742-A5B9-2B8389532DDC}"/>
                  </a:ext>
                </a:extLst>
              </p:cNvPr>
              <p:cNvSpPr txBox="1">
                <a:spLocks/>
              </p:cNvSpPr>
              <p:nvPr/>
            </p:nvSpPr>
            <p:spPr>
              <a:xfrm>
                <a:off x="838200" y="1129624"/>
                <a:ext cx="10515600" cy="32487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Specify values of the derivative on the boundaries: </a:t>
                </a:r>
              </a:p>
              <a:p>
                <a:pPr marL="0" indent="0">
                  <a:lnSpc>
                    <a:spcPct val="100000"/>
                  </a:lnSpc>
                  <a:buNone/>
                </a:pPr>
                <a14:m>
                  <m:oMathPara xmlns:m="http://schemas.openxmlformats.org/officeDocument/2006/math">
                    <m:oMathParaPr>
                      <m:jc m:val="centerGroup"/>
                    </m:oMathParaPr>
                    <m:oMath xmlns:m="http://schemas.openxmlformats.org/officeDocument/2006/math">
                      <m:sSub>
                        <m:sSubPr>
                          <m:ctrlPr>
                            <a:rPr lang="en-US" b="0" i="1" dirty="0" smtClean="0">
                              <a:latin typeface="Cambria Math" panose="02040503050406030204" pitchFamily="18" charset="0"/>
                            </a:rPr>
                          </m:ctrlPr>
                        </m:sSubPr>
                        <m:e>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m:t>
                              </m:r>
                            </m:e>
                            <m:sub>
                              <m:r>
                                <a:rPr lang="en-US" b="0" i="1" dirty="0" smtClean="0">
                                  <a:latin typeface="Cambria Math" panose="02040503050406030204" pitchFamily="18" charset="0"/>
                                </a:rPr>
                                <m:t>𝑥</m:t>
                              </m:r>
                            </m:sub>
                          </m:sSub>
                          <m:r>
                            <a:rPr lang="en-US" b="0" i="1" dirty="0" smtClean="0">
                              <a:latin typeface="Cambria Math" panose="02040503050406030204" pitchFamily="18" charset="0"/>
                            </a:rPr>
                            <m:t>𝜙</m:t>
                          </m:r>
                        </m:e>
                        <m:sub>
                          <m:r>
                            <a:rPr lang="en-US" b="0" i="1" dirty="0" smtClean="0">
                              <a:latin typeface="Cambria Math" panose="02040503050406030204" pitchFamily="18" charset="0"/>
                            </a:rPr>
                            <m:t>𝑙</m:t>
                          </m:r>
                        </m:sub>
                      </m:sSub>
                      <m:r>
                        <a:rPr lang="en-US" b="0" i="1" dirty="0" smtClean="0">
                          <a:latin typeface="Cambria Math" panose="02040503050406030204" pitchFamily="18" charset="0"/>
                        </a:rPr>
                        <m:t>=</m:t>
                      </m:r>
                      <m:f>
                        <m:fPr>
                          <m:ctrlPr>
                            <a:rPr lang="en-US" b="0" i="1" dirty="0" smtClean="0">
                              <a:latin typeface="Cambria Math" panose="02040503050406030204" pitchFamily="18" charset="0"/>
                            </a:rPr>
                          </m:ctrlPr>
                        </m:fPr>
                        <m:num>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𝜙</m:t>
                              </m:r>
                            </m:e>
                            <m:sub>
                              <m:r>
                                <a:rPr lang="en-US" b="0" i="1" dirty="0" smtClean="0">
                                  <a:latin typeface="Cambria Math" panose="02040503050406030204" pitchFamily="18" charset="0"/>
                                </a:rPr>
                                <m:t>𝑙𝑜</m:t>
                              </m:r>
                            </m:sub>
                          </m:sSub>
                          <m:r>
                            <a:rPr lang="en-US" b="0" i="1" dirty="0" smtClean="0">
                              <a:latin typeface="Cambria Math" panose="02040503050406030204" pitchFamily="18" charset="0"/>
                            </a:rPr>
                            <m:t>−</m:t>
                          </m:r>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𝜙</m:t>
                              </m:r>
                            </m:e>
                            <m:sub>
                              <m:r>
                                <a:rPr lang="en-US" b="0" i="1" dirty="0" smtClean="0">
                                  <a:latin typeface="Cambria Math" panose="02040503050406030204" pitchFamily="18" charset="0"/>
                                </a:rPr>
                                <m:t>𝑙𝑜</m:t>
                              </m:r>
                              <m:r>
                                <a:rPr lang="en-US" b="0" i="1" dirty="0" smtClean="0">
                                  <a:latin typeface="Cambria Math" panose="02040503050406030204" pitchFamily="18" charset="0"/>
                                </a:rPr>
                                <m:t>−1</m:t>
                              </m:r>
                            </m:sub>
                          </m:sSub>
                        </m:num>
                        <m:den>
                          <m:r>
                            <m:rPr>
                              <m:sty m:val="p"/>
                            </m:rPr>
                            <a:rPr lang="en-US" b="0" i="0" dirty="0" smtClean="0">
                              <a:latin typeface="Cambria Math" panose="02040503050406030204" pitchFamily="18" charset="0"/>
                            </a:rPr>
                            <m:t>Δ</m:t>
                          </m:r>
                          <m:r>
                            <a:rPr lang="en-US" b="0" i="1" dirty="0" smtClean="0">
                              <a:latin typeface="Cambria Math" panose="02040503050406030204" pitchFamily="18" charset="0"/>
                            </a:rPr>
                            <m:t>𝑥</m:t>
                          </m:r>
                        </m:den>
                      </m:f>
                    </m:oMath>
                  </m:oMathPara>
                </a14:m>
                <a:endParaRPr lang="en-US" b="0" i="1" dirty="0">
                  <a:latin typeface="Cambria Math" panose="02040503050406030204" pitchFamily="18" charset="0"/>
                </a:endParaRPr>
              </a:p>
              <a:p>
                <a:pPr marL="0" indent="0">
                  <a:lnSpc>
                    <a:spcPct val="100000"/>
                  </a:lnSpc>
                  <a:buNone/>
                </a:pPr>
                <a14:m>
                  <m:oMathPara xmlns:m="http://schemas.openxmlformats.org/officeDocument/2006/math">
                    <m:oMathParaPr>
                      <m:jc m:val="centerGroup"/>
                    </m:oMathParaPr>
                    <m:oMath xmlns:m="http://schemas.openxmlformats.org/officeDocument/2006/math">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m:t>
                          </m:r>
                        </m:e>
                        <m:sub>
                          <m:r>
                            <a:rPr lang="en-US" b="0" i="1" dirty="0" smtClean="0">
                              <a:latin typeface="Cambria Math" panose="02040503050406030204" pitchFamily="18" charset="0"/>
                            </a:rPr>
                            <m:t>𝑥</m:t>
                          </m:r>
                        </m:sub>
                      </m:sSub>
                      <m:sSub>
                        <m:sSubPr>
                          <m:ctrlPr>
                            <a:rPr lang="en-US" i="1" dirty="0">
                              <a:latin typeface="Cambria Math" panose="02040503050406030204" pitchFamily="18" charset="0"/>
                            </a:rPr>
                          </m:ctrlPr>
                        </m:sSubPr>
                        <m:e>
                          <m:r>
                            <a:rPr lang="en-US" i="1" dirty="0">
                              <a:latin typeface="Cambria Math" panose="02040503050406030204" pitchFamily="18" charset="0"/>
                            </a:rPr>
                            <m:t>𝜙</m:t>
                          </m:r>
                        </m:e>
                        <m:sub>
                          <m:r>
                            <a:rPr lang="en-US" b="0" i="1" dirty="0" smtClean="0">
                              <a:latin typeface="Cambria Math" panose="02040503050406030204" pitchFamily="18" charset="0"/>
                            </a:rPr>
                            <m:t>𝑟</m:t>
                          </m:r>
                        </m:sub>
                      </m:sSub>
                      <m:r>
                        <a:rPr lang="en-US" i="1" dirty="0">
                          <a:latin typeface="Cambria Math" panose="02040503050406030204" pitchFamily="18" charset="0"/>
                        </a:rPr>
                        <m:t>=</m:t>
                      </m:r>
                      <m:f>
                        <m:fPr>
                          <m:ctrlPr>
                            <a:rPr lang="en-US" i="1" dirty="0">
                              <a:latin typeface="Cambria Math" panose="02040503050406030204" pitchFamily="18" charset="0"/>
                            </a:rPr>
                          </m:ctrlPr>
                        </m:fPr>
                        <m:num>
                          <m:sSub>
                            <m:sSubPr>
                              <m:ctrlPr>
                                <a:rPr lang="en-US" i="1" dirty="0">
                                  <a:latin typeface="Cambria Math" panose="02040503050406030204" pitchFamily="18" charset="0"/>
                                </a:rPr>
                              </m:ctrlPr>
                            </m:sSubPr>
                            <m:e>
                              <m:sSub>
                                <m:sSubPr>
                                  <m:ctrlPr>
                                    <a:rPr lang="en-US" i="1" dirty="0">
                                      <a:latin typeface="Cambria Math" panose="02040503050406030204" pitchFamily="18" charset="0"/>
                                    </a:rPr>
                                  </m:ctrlPr>
                                </m:sSubPr>
                                <m:e>
                                  <m:r>
                                    <a:rPr lang="en-US" i="1" dirty="0">
                                      <a:latin typeface="Cambria Math" panose="02040503050406030204" pitchFamily="18" charset="0"/>
                                    </a:rPr>
                                    <m:t>𝜙</m:t>
                                  </m:r>
                                </m:e>
                                <m:sub>
                                  <m:r>
                                    <a:rPr lang="en-US" i="1" dirty="0">
                                      <a:latin typeface="Cambria Math" panose="02040503050406030204" pitchFamily="18" charset="0"/>
                                    </a:rPr>
                                    <m:t>h𝑖</m:t>
                                  </m:r>
                                  <m:r>
                                    <a:rPr lang="en-US" i="1" dirty="0">
                                      <a:latin typeface="Cambria Math" panose="02040503050406030204" pitchFamily="18" charset="0"/>
                                    </a:rPr>
                                    <m:t>+1</m:t>
                                  </m:r>
                                </m:sub>
                              </m:sSub>
                              <m:r>
                                <a:rPr lang="en-US" b="0" i="1" dirty="0" smtClean="0">
                                  <a:latin typeface="Cambria Math" panose="02040503050406030204" pitchFamily="18" charset="0"/>
                                </a:rPr>
                                <m:t>−</m:t>
                              </m:r>
                              <m:r>
                                <a:rPr lang="en-US" i="1" dirty="0">
                                  <a:latin typeface="Cambria Math" panose="02040503050406030204" pitchFamily="18" charset="0"/>
                                </a:rPr>
                                <m:t>𝜙</m:t>
                              </m:r>
                            </m:e>
                            <m:sub>
                              <m:r>
                                <a:rPr lang="en-US" b="0" i="1" dirty="0" smtClean="0">
                                  <a:latin typeface="Cambria Math" panose="02040503050406030204" pitchFamily="18" charset="0"/>
                                </a:rPr>
                                <m:t>h𝑖</m:t>
                              </m:r>
                            </m:sub>
                          </m:sSub>
                        </m:num>
                        <m:den>
                          <m:r>
                            <m:rPr>
                              <m:sty m:val="p"/>
                            </m:rPr>
                            <a:rPr lang="en-US" b="0" i="0" dirty="0" smtClean="0">
                              <a:latin typeface="Cambria Math" panose="02040503050406030204" pitchFamily="18" charset="0"/>
                            </a:rPr>
                            <m:t>Δ</m:t>
                          </m:r>
                          <m:r>
                            <a:rPr lang="en-US" b="0" i="1" dirty="0" smtClean="0">
                              <a:latin typeface="Cambria Math" panose="02040503050406030204" pitchFamily="18" charset="0"/>
                            </a:rPr>
                            <m:t>𝑥</m:t>
                          </m:r>
                        </m:den>
                      </m:f>
                    </m:oMath>
                  </m:oMathPara>
                </a14:m>
                <a:endParaRPr lang="en-US" i="1" dirty="0">
                  <a:latin typeface="Cambria Math" panose="02040503050406030204" pitchFamily="18" charset="0"/>
                </a:endParaRPr>
              </a:p>
              <a:p>
                <a:pPr marL="0" indent="0">
                  <a:lnSpc>
                    <a:spcPct val="100000"/>
                  </a:lnSpc>
                  <a:buNone/>
                </a:pPr>
                <a:endParaRPr lang="en-US" i="1" dirty="0">
                  <a:latin typeface="Cambria Math" panose="02040503050406030204" pitchFamily="18" charset="0"/>
                </a:endParaRPr>
              </a:p>
              <a:p>
                <a:pPr marL="0" indent="0">
                  <a:buNone/>
                </a:pPr>
                <a:endParaRPr lang="en-US" b="0" i="1" dirty="0">
                  <a:latin typeface="Cambria Math" panose="02040503050406030204" pitchFamily="18" charset="0"/>
                </a:endParaRPr>
              </a:p>
              <a:p>
                <a:pPr marL="0" indent="0">
                  <a:buNone/>
                </a:pPr>
                <a:endParaRPr lang="en-US" dirty="0"/>
              </a:p>
            </p:txBody>
          </p:sp>
        </mc:Choice>
        <mc:Fallback xmlns="">
          <p:sp>
            <p:nvSpPr>
              <p:cNvPr id="10" name="Content Placeholder 2">
                <a:extLst>
                  <a:ext uri="{FF2B5EF4-FFF2-40B4-BE49-F238E27FC236}">
                    <a16:creationId xmlns:a16="http://schemas.microsoft.com/office/drawing/2014/main" id="{468888CE-F7C1-2742-A5B9-2B8389532DDC}"/>
                  </a:ext>
                </a:extLst>
              </p:cNvPr>
              <p:cNvSpPr txBox="1">
                <a:spLocks noRot="1" noChangeAspect="1" noMove="1" noResize="1" noEditPoints="1" noAdjustHandles="1" noChangeArrowheads="1" noChangeShapeType="1" noTextEdit="1"/>
              </p:cNvSpPr>
              <p:nvPr/>
            </p:nvSpPr>
            <p:spPr>
              <a:xfrm>
                <a:off x="838200" y="1129624"/>
                <a:ext cx="10515600" cy="3248738"/>
              </a:xfrm>
              <a:prstGeom prst="rect">
                <a:avLst/>
              </a:prstGeom>
              <a:blipFill>
                <a:blip r:embed="rId3"/>
                <a:stretch>
                  <a:fillRect l="-965" t="-3113"/>
                </a:stretch>
              </a:blipFill>
            </p:spPr>
            <p:txBody>
              <a:bodyPr/>
              <a:lstStyle/>
              <a:p>
                <a:r>
                  <a:rPr lang="en-US">
                    <a:noFill/>
                  </a:rPr>
                  <a:t> </a:t>
                </a:r>
              </a:p>
            </p:txBody>
          </p:sp>
        </mc:Fallback>
      </mc:AlternateContent>
    </p:spTree>
    <p:extLst>
      <p:ext uri="{BB962C8B-B14F-4D97-AF65-F5344CB8AC3E}">
        <p14:creationId xmlns:p14="http://schemas.microsoft.com/office/powerpoint/2010/main" val="21321172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DCE2F9-F4C3-DA4C-B0FC-7FF6F22D148C}"/>
              </a:ext>
            </a:extLst>
          </p:cNvPr>
          <p:cNvSpPr>
            <a:spLocks noGrp="1"/>
          </p:cNvSpPr>
          <p:nvPr>
            <p:ph type="title"/>
          </p:nvPr>
        </p:nvSpPr>
        <p:spPr>
          <a:xfrm>
            <a:off x="838200" y="0"/>
            <a:ext cx="10515600" cy="1325563"/>
          </a:xfrm>
        </p:spPr>
        <p:txBody>
          <a:bodyPr/>
          <a:lstStyle/>
          <a:p>
            <a:r>
              <a:rPr lang="en-US" dirty="0"/>
              <a:t>Boundary conditions : Neumann</a:t>
            </a:r>
          </a:p>
        </p:txBody>
      </p:sp>
      <p:pic>
        <p:nvPicPr>
          <p:cNvPr id="5" name="Content Placeholder 4">
            <a:extLst>
              <a:ext uri="{FF2B5EF4-FFF2-40B4-BE49-F238E27FC236}">
                <a16:creationId xmlns:a16="http://schemas.microsoft.com/office/drawing/2014/main" id="{D44CA677-F16D-AE4D-BD3F-84F217C69AC6}"/>
              </a:ext>
            </a:extLst>
          </p:cNvPr>
          <p:cNvPicPr>
            <a:picLocks noGrp="1" noChangeAspect="1"/>
          </p:cNvPicPr>
          <p:nvPr>
            <p:ph idx="1"/>
          </p:nvPr>
        </p:nvPicPr>
        <p:blipFill rotWithShape="1">
          <a:blip r:embed="rId2"/>
          <a:srcRect t="53041"/>
          <a:stretch/>
        </p:blipFill>
        <p:spPr>
          <a:xfrm>
            <a:off x="1422905" y="4260028"/>
            <a:ext cx="9367705" cy="2597972"/>
          </a:xfrm>
        </p:spPr>
      </p:pic>
      <p:sp>
        <p:nvSpPr>
          <p:cNvPr id="7" name="TextBox 6">
            <a:extLst>
              <a:ext uri="{FF2B5EF4-FFF2-40B4-BE49-F238E27FC236}">
                <a16:creationId xmlns:a16="http://schemas.microsoft.com/office/drawing/2014/main" id="{7F140128-74F7-F84C-B6DE-918549F43633}"/>
              </a:ext>
            </a:extLst>
          </p:cNvPr>
          <p:cNvSpPr txBox="1"/>
          <p:nvPr/>
        </p:nvSpPr>
        <p:spPr>
          <a:xfrm>
            <a:off x="52771" y="4661703"/>
            <a:ext cx="1827103" cy="830997"/>
          </a:xfrm>
          <a:prstGeom prst="rect">
            <a:avLst/>
          </a:prstGeom>
          <a:noFill/>
        </p:spPr>
        <p:txBody>
          <a:bodyPr wrap="none" rtlCol="0">
            <a:spAutoFit/>
          </a:bodyPr>
          <a:lstStyle/>
          <a:p>
            <a:pPr algn="ctr"/>
            <a:r>
              <a:rPr lang="en-US" sz="2400" dirty="0"/>
              <a:t>Cell centered</a:t>
            </a:r>
          </a:p>
          <a:p>
            <a:pPr algn="ctr"/>
            <a:r>
              <a:rPr lang="en-US" sz="2400" dirty="0"/>
              <a:t>grid</a:t>
            </a:r>
          </a:p>
        </p:txBody>
      </p:sp>
      <p:sp>
        <p:nvSpPr>
          <p:cNvPr id="8" name="Oval 7">
            <a:extLst>
              <a:ext uri="{FF2B5EF4-FFF2-40B4-BE49-F238E27FC236}">
                <a16:creationId xmlns:a16="http://schemas.microsoft.com/office/drawing/2014/main" id="{71BA0693-B1DB-2646-AC7E-D8C37825CD46}"/>
              </a:ext>
            </a:extLst>
          </p:cNvPr>
          <p:cNvSpPr/>
          <p:nvPr/>
        </p:nvSpPr>
        <p:spPr>
          <a:xfrm>
            <a:off x="2438399" y="4876799"/>
            <a:ext cx="64008" cy="64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4A56E524-BCDC-7442-B251-AC63EC5DF9B6}"/>
              </a:ext>
            </a:extLst>
          </p:cNvPr>
          <p:cNvSpPr/>
          <p:nvPr/>
        </p:nvSpPr>
        <p:spPr>
          <a:xfrm>
            <a:off x="10099637" y="5045197"/>
            <a:ext cx="64008" cy="64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0" name="Content Placeholder 2">
                <a:extLst>
                  <a:ext uri="{FF2B5EF4-FFF2-40B4-BE49-F238E27FC236}">
                    <a16:creationId xmlns:a16="http://schemas.microsoft.com/office/drawing/2014/main" id="{468888CE-F7C1-2742-A5B9-2B8389532DDC}"/>
                  </a:ext>
                </a:extLst>
              </p:cNvPr>
              <p:cNvSpPr txBox="1">
                <a:spLocks/>
              </p:cNvSpPr>
              <p:nvPr/>
            </p:nvSpPr>
            <p:spPr>
              <a:xfrm>
                <a:off x="838200" y="1129624"/>
                <a:ext cx="10515600" cy="273782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The assigned values will be:</a:t>
                </a:r>
              </a:p>
              <a:p>
                <a:pPr marL="0" indent="0">
                  <a:lnSpc>
                    <a:spcPct val="150000"/>
                  </a:lnSpc>
                  <a:buNone/>
                </a:pPr>
                <a14:m>
                  <m:oMathPara xmlns:m="http://schemas.openxmlformats.org/officeDocument/2006/math">
                    <m:oMathParaPr>
                      <m:jc m:val="centerGroup"/>
                    </m:oMathParaPr>
                    <m:oMath xmlns:m="http://schemas.openxmlformats.org/officeDocument/2006/math">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𝜙</m:t>
                          </m:r>
                        </m:e>
                        <m:sub>
                          <m:r>
                            <a:rPr lang="en-US" b="0" i="1" dirty="0" smtClean="0">
                              <a:latin typeface="Cambria Math" panose="02040503050406030204" pitchFamily="18" charset="0"/>
                            </a:rPr>
                            <m:t>𝑙𝑜</m:t>
                          </m:r>
                          <m:r>
                            <a:rPr lang="en-US" b="0" i="1" dirty="0" smtClean="0">
                              <a:latin typeface="Cambria Math" panose="02040503050406030204" pitchFamily="18" charset="0"/>
                            </a:rPr>
                            <m:t>−1</m:t>
                          </m:r>
                        </m:sub>
                      </m:sSub>
                      <m:r>
                        <a:rPr lang="en-US" b="0" i="1" dirty="0" smtClean="0">
                          <a:latin typeface="Cambria Math" panose="02040503050406030204" pitchFamily="18" charset="0"/>
                        </a:rPr>
                        <m:t>=</m:t>
                      </m:r>
                      <m:sSub>
                        <m:sSubPr>
                          <m:ctrlPr>
                            <a:rPr lang="en-US" i="1" dirty="0">
                              <a:latin typeface="Cambria Math" panose="02040503050406030204" pitchFamily="18" charset="0"/>
                            </a:rPr>
                          </m:ctrlPr>
                        </m:sSubPr>
                        <m:e>
                          <m:r>
                            <a:rPr lang="en-US" i="1" dirty="0">
                              <a:latin typeface="Cambria Math" panose="02040503050406030204" pitchFamily="18" charset="0"/>
                            </a:rPr>
                            <m:t>𝜙</m:t>
                          </m:r>
                        </m:e>
                        <m:sub>
                          <m:r>
                            <a:rPr lang="en-US" i="1" dirty="0">
                              <a:latin typeface="Cambria Math" panose="02040503050406030204" pitchFamily="18" charset="0"/>
                            </a:rPr>
                            <m:t>𝑙𝑜</m:t>
                          </m:r>
                        </m:sub>
                      </m:sSub>
                      <m:r>
                        <a:rPr lang="en-US" b="0" i="1" dirty="0" smtClean="0">
                          <a:latin typeface="Cambria Math" panose="02040503050406030204" pitchFamily="18" charset="0"/>
                        </a:rPr>
                        <m:t>−</m:t>
                      </m:r>
                      <m:sSub>
                        <m:sSubPr>
                          <m:ctrlPr>
                            <a:rPr lang="en-US" i="1" dirty="0">
                              <a:latin typeface="Cambria Math" panose="02040503050406030204" pitchFamily="18" charset="0"/>
                            </a:rPr>
                          </m:ctrlPr>
                        </m:sSubPr>
                        <m:e>
                          <m:sSub>
                            <m:sSubPr>
                              <m:ctrlPr>
                                <a:rPr lang="en-US" i="1" dirty="0">
                                  <a:latin typeface="Cambria Math" panose="02040503050406030204" pitchFamily="18" charset="0"/>
                                </a:rPr>
                              </m:ctrlPr>
                            </m:sSubPr>
                            <m:e>
                              <m:r>
                                <m:rPr>
                                  <m:sty m:val="p"/>
                                </m:rPr>
                                <a:rPr lang="en-US" b="0" i="0" dirty="0" smtClean="0">
                                  <a:latin typeface="Cambria Math" panose="02040503050406030204" pitchFamily="18" charset="0"/>
                                </a:rPr>
                                <m:t>Δ</m:t>
                              </m:r>
                              <m:r>
                                <a:rPr lang="en-US" b="0" i="1" dirty="0" smtClean="0">
                                  <a:latin typeface="Cambria Math" panose="02040503050406030204" pitchFamily="18" charset="0"/>
                                </a:rPr>
                                <m:t>𝑥</m:t>
                              </m:r>
                              <m:r>
                                <a:rPr lang="en-US" b="0" i="1" dirty="0" smtClean="0">
                                  <a:latin typeface="Cambria Math" panose="02040503050406030204" pitchFamily="18" charset="0"/>
                                </a:rPr>
                                <m:t>⋅</m:t>
                              </m:r>
                              <m:r>
                                <a:rPr lang="en-US" i="1" dirty="0">
                                  <a:latin typeface="Cambria Math" panose="02040503050406030204" pitchFamily="18" charset="0"/>
                                </a:rPr>
                                <m:t>𝜕</m:t>
                              </m:r>
                            </m:e>
                            <m:sub>
                              <m:r>
                                <a:rPr lang="en-US" i="1" dirty="0">
                                  <a:latin typeface="Cambria Math" panose="02040503050406030204" pitchFamily="18" charset="0"/>
                                </a:rPr>
                                <m:t>𝑥</m:t>
                              </m:r>
                            </m:sub>
                          </m:sSub>
                          <m:r>
                            <a:rPr lang="en-US" i="1" dirty="0">
                              <a:latin typeface="Cambria Math" panose="02040503050406030204" pitchFamily="18" charset="0"/>
                            </a:rPr>
                            <m:t>𝜙</m:t>
                          </m:r>
                        </m:e>
                        <m:sub>
                          <m:r>
                            <a:rPr lang="en-US" i="1" dirty="0">
                              <a:latin typeface="Cambria Math" panose="02040503050406030204" pitchFamily="18" charset="0"/>
                            </a:rPr>
                            <m:t>𝑙</m:t>
                          </m:r>
                        </m:sub>
                      </m:sSub>
                    </m:oMath>
                  </m:oMathPara>
                </a14:m>
                <a:endParaRPr lang="en-US" b="0" i="1" dirty="0">
                  <a:latin typeface="Cambria Math" panose="02040503050406030204" pitchFamily="18" charset="0"/>
                </a:endParaRPr>
              </a:p>
              <a:p>
                <a:pPr marL="0" indent="0">
                  <a:lnSpc>
                    <a:spcPct val="150000"/>
                  </a:lnSpc>
                  <a:buNone/>
                </a:pPr>
                <a14:m>
                  <m:oMathPara xmlns:m="http://schemas.openxmlformats.org/officeDocument/2006/math">
                    <m:oMathParaPr>
                      <m:jc m:val="centerGroup"/>
                    </m:oMathParaPr>
                    <m:oMath xmlns:m="http://schemas.openxmlformats.org/officeDocument/2006/math">
                      <m:sSub>
                        <m:sSubPr>
                          <m:ctrlPr>
                            <a:rPr lang="en-US" i="1" dirty="0">
                              <a:latin typeface="Cambria Math" panose="02040503050406030204" pitchFamily="18" charset="0"/>
                            </a:rPr>
                          </m:ctrlPr>
                        </m:sSubPr>
                        <m:e>
                          <m:r>
                            <a:rPr lang="en-US" i="1" dirty="0">
                              <a:latin typeface="Cambria Math" panose="02040503050406030204" pitchFamily="18" charset="0"/>
                            </a:rPr>
                            <m:t>𝜙</m:t>
                          </m:r>
                        </m:e>
                        <m:sub>
                          <m:r>
                            <a:rPr lang="en-US" b="0" i="1" dirty="0" smtClean="0">
                              <a:latin typeface="Cambria Math" panose="02040503050406030204" pitchFamily="18" charset="0"/>
                            </a:rPr>
                            <m:t>h𝑖</m:t>
                          </m:r>
                          <m:r>
                            <a:rPr lang="en-US" b="0" i="1" dirty="0" smtClean="0">
                              <a:latin typeface="Cambria Math" panose="02040503050406030204" pitchFamily="18" charset="0"/>
                            </a:rPr>
                            <m:t>+1</m:t>
                          </m:r>
                        </m:sub>
                      </m:sSub>
                      <m:r>
                        <a:rPr lang="en-US" i="1" dirty="0">
                          <a:latin typeface="Cambria Math" panose="02040503050406030204" pitchFamily="18" charset="0"/>
                        </a:rPr>
                        <m:t>=</m:t>
                      </m:r>
                      <m:sSub>
                        <m:sSubPr>
                          <m:ctrlPr>
                            <a:rPr lang="en-US" i="1" dirty="0">
                              <a:latin typeface="Cambria Math" panose="02040503050406030204" pitchFamily="18" charset="0"/>
                            </a:rPr>
                          </m:ctrlPr>
                        </m:sSubPr>
                        <m:e>
                          <m:r>
                            <a:rPr lang="en-US" i="1" dirty="0">
                              <a:latin typeface="Cambria Math" panose="02040503050406030204" pitchFamily="18" charset="0"/>
                            </a:rPr>
                            <m:t>𝜙</m:t>
                          </m:r>
                        </m:e>
                        <m:sub>
                          <m:r>
                            <a:rPr lang="en-US" b="0" i="1" dirty="0" smtClean="0">
                              <a:latin typeface="Cambria Math" panose="02040503050406030204" pitchFamily="18" charset="0"/>
                            </a:rPr>
                            <m:t>h𝑖</m:t>
                          </m:r>
                        </m:sub>
                      </m:sSub>
                      <m:r>
                        <a:rPr lang="en-US" b="0" i="1" dirty="0" smtClean="0">
                          <a:latin typeface="Cambria Math" panose="02040503050406030204" pitchFamily="18" charset="0"/>
                        </a:rPr>
                        <m:t>+</m:t>
                      </m:r>
                      <m:sSub>
                        <m:sSubPr>
                          <m:ctrlPr>
                            <a:rPr lang="en-US" i="1" dirty="0">
                              <a:latin typeface="Cambria Math" panose="02040503050406030204" pitchFamily="18" charset="0"/>
                            </a:rPr>
                          </m:ctrlPr>
                        </m:sSubPr>
                        <m:e>
                          <m:sSub>
                            <m:sSubPr>
                              <m:ctrlPr>
                                <a:rPr lang="en-US" i="1" dirty="0">
                                  <a:latin typeface="Cambria Math" panose="02040503050406030204" pitchFamily="18" charset="0"/>
                                </a:rPr>
                              </m:ctrlPr>
                            </m:sSubPr>
                            <m:e>
                              <m:r>
                                <m:rPr>
                                  <m:sty m:val="p"/>
                                </m:rPr>
                                <a:rPr lang="en-US" dirty="0">
                                  <a:latin typeface="Cambria Math" panose="02040503050406030204" pitchFamily="18" charset="0"/>
                                </a:rPr>
                                <m:t>Δ</m:t>
                              </m:r>
                              <m:r>
                                <a:rPr lang="en-US" i="1" dirty="0">
                                  <a:latin typeface="Cambria Math" panose="02040503050406030204" pitchFamily="18" charset="0"/>
                                </a:rPr>
                                <m:t>𝑥</m:t>
                              </m:r>
                              <m:r>
                                <a:rPr lang="en-US" i="1" dirty="0">
                                  <a:latin typeface="Cambria Math" panose="02040503050406030204" pitchFamily="18" charset="0"/>
                                </a:rPr>
                                <m:t>⋅</m:t>
                              </m:r>
                              <m:r>
                                <a:rPr lang="en-US" i="1" dirty="0">
                                  <a:latin typeface="Cambria Math" panose="02040503050406030204" pitchFamily="18" charset="0"/>
                                </a:rPr>
                                <m:t>𝜕</m:t>
                              </m:r>
                            </m:e>
                            <m:sub>
                              <m:r>
                                <a:rPr lang="en-US" i="1" dirty="0">
                                  <a:latin typeface="Cambria Math" panose="02040503050406030204" pitchFamily="18" charset="0"/>
                                </a:rPr>
                                <m:t>𝑥</m:t>
                              </m:r>
                            </m:sub>
                          </m:sSub>
                          <m:r>
                            <a:rPr lang="en-US" i="1" dirty="0">
                              <a:latin typeface="Cambria Math" panose="02040503050406030204" pitchFamily="18" charset="0"/>
                            </a:rPr>
                            <m:t>𝜙</m:t>
                          </m:r>
                        </m:e>
                        <m:sub>
                          <m:r>
                            <a:rPr lang="en-US" b="0" i="1" dirty="0" smtClean="0">
                              <a:latin typeface="Cambria Math" panose="02040503050406030204" pitchFamily="18" charset="0"/>
                            </a:rPr>
                            <m:t>𝑟</m:t>
                          </m:r>
                        </m:sub>
                      </m:sSub>
                    </m:oMath>
                  </m:oMathPara>
                </a14:m>
                <a:endParaRPr lang="en-US" i="1" dirty="0">
                  <a:latin typeface="Cambria Math" panose="02040503050406030204" pitchFamily="18" charset="0"/>
                </a:endParaRPr>
              </a:p>
              <a:p>
                <a:pPr marL="0" indent="0">
                  <a:buNone/>
                </a:pPr>
                <a:endParaRPr lang="en-US" b="0" i="1" dirty="0">
                  <a:latin typeface="Cambria Math" panose="02040503050406030204" pitchFamily="18" charset="0"/>
                </a:endParaRPr>
              </a:p>
              <a:p>
                <a:pPr marL="0" indent="0">
                  <a:buNone/>
                </a:pPr>
                <a:endParaRPr lang="en-US" dirty="0"/>
              </a:p>
            </p:txBody>
          </p:sp>
        </mc:Choice>
        <mc:Fallback xmlns="">
          <p:sp>
            <p:nvSpPr>
              <p:cNvPr id="10" name="Content Placeholder 2">
                <a:extLst>
                  <a:ext uri="{FF2B5EF4-FFF2-40B4-BE49-F238E27FC236}">
                    <a16:creationId xmlns:a16="http://schemas.microsoft.com/office/drawing/2014/main" id="{468888CE-F7C1-2742-A5B9-2B8389532DDC}"/>
                  </a:ext>
                </a:extLst>
              </p:cNvPr>
              <p:cNvSpPr txBox="1">
                <a:spLocks noRot="1" noChangeAspect="1" noMove="1" noResize="1" noEditPoints="1" noAdjustHandles="1" noChangeArrowheads="1" noChangeShapeType="1" noTextEdit="1"/>
              </p:cNvSpPr>
              <p:nvPr/>
            </p:nvSpPr>
            <p:spPr>
              <a:xfrm>
                <a:off x="838200" y="1129624"/>
                <a:ext cx="10515600" cy="2737820"/>
              </a:xfrm>
              <a:prstGeom prst="rect">
                <a:avLst/>
              </a:prstGeom>
              <a:blipFill>
                <a:blip r:embed="rId3"/>
                <a:stretch>
                  <a:fillRect l="-965" t="-3687"/>
                </a:stretch>
              </a:blipFill>
            </p:spPr>
            <p:txBody>
              <a:bodyPr/>
              <a:lstStyle/>
              <a:p>
                <a:r>
                  <a:rPr lang="en-US">
                    <a:noFill/>
                  </a:rPr>
                  <a:t> </a:t>
                </a:r>
              </a:p>
            </p:txBody>
          </p:sp>
        </mc:Fallback>
      </mc:AlternateContent>
    </p:spTree>
    <p:extLst>
      <p:ext uri="{BB962C8B-B14F-4D97-AF65-F5344CB8AC3E}">
        <p14:creationId xmlns:p14="http://schemas.microsoft.com/office/powerpoint/2010/main" val="399519945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DCE2F9-F4C3-DA4C-B0FC-7FF6F22D148C}"/>
              </a:ext>
            </a:extLst>
          </p:cNvPr>
          <p:cNvSpPr>
            <a:spLocks noGrp="1"/>
          </p:cNvSpPr>
          <p:nvPr>
            <p:ph type="title"/>
          </p:nvPr>
        </p:nvSpPr>
        <p:spPr>
          <a:xfrm>
            <a:off x="838200" y="0"/>
            <a:ext cx="10515600" cy="1325563"/>
          </a:xfrm>
        </p:spPr>
        <p:txBody>
          <a:bodyPr/>
          <a:lstStyle/>
          <a:p>
            <a:r>
              <a:rPr lang="en-US" dirty="0"/>
              <a:t>Residuals and errors </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15C4FD65-F675-944D-A379-3A5FFFAEB784}"/>
                  </a:ext>
                </a:extLst>
              </p:cNvPr>
              <p:cNvSpPr>
                <a:spLocks noGrp="1"/>
              </p:cNvSpPr>
              <p:nvPr>
                <p:ph idx="1"/>
              </p:nvPr>
            </p:nvSpPr>
            <p:spPr>
              <a:xfrm>
                <a:off x="570155" y="1325562"/>
                <a:ext cx="11621845" cy="5532437"/>
              </a:xfrm>
            </p:spPr>
            <p:txBody>
              <a:bodyPr/>
              <a:lstStyle/>
              <a:p>
                <a:r>
                  <a:rPr lang="en-US" dirty="0"/>
                  <a:t>An iterative method needs a stopping condition. </a:t>
                </a:r>
              </a:p>
              <a:p>
                <a:r>
                  <a:rPr lang="en-US" dirty="0"/>
                  <a:t>We can evaluate using the a criterion on the errors in our calculation.</a:t>
                </a:r>
              </a:p>
              <a:p>
                <a:r>
                  <a:rPr lang="en-US" dirty="0"/>
                  <a:t>The residuals with respect to the discrete calculation can be defined as:</a:t>
                </a:r>
              </a:p>
              <a:p>
                <a:pPr marL="0" indent="0">
                  <a:lnSpc>
                    <a:spcPct val="150000"/>
                  </a:lnSpc>
                  <a:buNone/>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𝑟</m:t>
                          </m:r>
                        </m:e>
                        <m:sub>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𝑗</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𝑓</m:t>
                          </m:r>
                        </m:e>
                        <m:sub>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𝑗</m:t>
                          </m:r>
                        </m:sub>
                      </m:sSub>
                      <m:r>
                        <a:rPr lang="en-US" b="0" i="1" smtClean="0">
                          <a:latin typeface="Cambria Math" panose="02040503050406030204" pitchFamily="18" charset="0"/>
                        </a:rPr>
                        <m:t>−</m:t>
                      </m:r>
                      <m:r>
                        <a:rPr lang="en-US" b="0" i="1" smtClean="0">
                          <a:latin typeface="Cambria Math" panose="02040503050406030204" pitchFamily="18" charset="0"/>
                        </a:rPr>
                        <m:t>𝐿</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𝜙</m:t>
                          </m:r>
                        </m:e>
                        <m:sub>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𝑗</m:t>
                          </m:r>
                        </m:sub>
                      </m:sSub>
                    </m:oMath>
                  </m:oMathPara>
                </a14:m>
                <a:endParaRPr lang="en-US" b="0" dirty="0"/>
              </a:p>
              <a:p>
                <a:pPr marL="0" indent="0">
                  <a:buNone/>
                </a:pPr>
                <a:r>
                  <a:rPr lang="en-US" dirty="0"/>
                  <a:t>   where </a:t>
                </a:r>
                <a14:m>
                  <m:oMath xmlns:m="http://schemas.openxmlformats.org/officeDocument/2006/math">
                    <m:r>
                      <a:rPr lang="en-US" b="0" i="1" smtClean="0">
                        <a:latin typeface="Cambria Math" panose="02040503050406030204" pitchFamily="18" charset="0"/>
                      </a:rPr>
                      <m:t>𝐿</m:t>
                    </m:r>
                  </m:oMath>
                </a14:m>
                <a:r>
                  <a:rPr lang="en-US" dirty="0"/>
                  <a:t> represents the discretized Laplacian, and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𝑓</m:t>
                        </m:r>
                      </m:e>
                      <m:sub>
                        <m:r>
                          <a:rPr lang="en-US" i="1">
                            <a:latin typeface="Cambria Math" panose="02040503050406030204" pitchFamily="18" charset="0"/>
                          </a:rPr>
                          <m:t>𝑖</m:t>
                        </m:r>
                        <m:r>
                          <a:rPr lang="en-US" i="1">
                            <a:latin typeface="Cambria Math" panose="02040503050406030204" pitchFamily="18" charset="0"/>
                          </a:rPr>
                          <m:t>,</m:t>
                        </m:r>
                        <m:r>
                          <a:rPr lang="en-US" i="1">
                            <a:latin typeface="Cambria Math" panose="02040503050406030204" pitchFamily="18" charset="0"/>
                          </a:rPr>
                          <m:t>𝑗</m:t>
                        </m:r>
                      </m:sub>
                    </m:sSub>
                  </m:oMath>
                </a14:m>
                <a:r>
                  <a:rPr lang="en-US" dirty="0"/>
                  <a:t> is given.</a:t>
                </a:r>
              </a:p>
              <a:p>
                <a:r>
                  <a:rPr lang="en-US" dirty="0"/>
                  <a:t>The residual error will be</a:t>
                </a:r>
              </a:p>
              <a:p>
                <a:pPr marL="0" indent="0">
                  <a:buNone/>
                </a:pPr>
                <a14:m>
                  <m:oMathPara xmlns:m="http://schemas.openxmlformats.org/officeDocument/2006/math">
                    <m:oMathParaPr>
                      <m:jc m:val="centerGroup"/>
                    </m:oMathParaPr>
                    <m:oMath xmlns:m="http://schemas.openxmlformats.org/officeDocument/2006/math">
                      <m:sSup>
                        <m:sSupPr>
                          <m:ctrlPr>
                            <a:rPr lang="en-US" b="0" i="1" dirty="0" smtClean="0">
                              <a:latin typeface="Cambria Math" panose="02040503050406030204" pitchFamily="18" charset="0"/>
                            </a:rPr>
                          </m:ctrlPr>
                        </m:sSupPr>
                        <m:e>
                          <m:r>
                            <a:rPr lang="el-GR" i="1" dirty="0" smtClean="0">
                              <a:latin typeface="Cambria Math" panose="02040503050406030204" pitchFamily="18" charset="0"/>
                            </a:rPr>
                            <m:t>𝜀</m:t>
                          </m:r>
                        </m:e>
                        <m:sup>
                          <m:r>
                            <a:rPr lang="en-US" b="0" i="1" dirty="0" smtClean="0">
                              <a:latin typeface="Cambria Math" panose="02040503050406030204" pitchFamily="18" charset="0"/>
                            </a:rPr>
                            <m:t>(</m:t>
                          </m:r>
                          <m:r>
                            <a:rPr lang="en-US" i="1" dirty="0">
                              <a:latin typeface="Cambria Math" panose="02040503050406030204" pitchFamily="18" charset="0"/>
                            </a:rPr>
                            <m:t>𝑟</m:t>
                          </m:r>
                          <m:r>
                            <a:rPr lang="en-US" b="0" i="1" dirty="0" smtClean="0">
                              <a:latin typeface="Cambria Math" panose="02040503050406030204" pitchFamily="18" charset="0"/>
                            </a:rPr>
                            <m:t>)</m:t>
                          </m:r>
                        </m:sup>
                      </m:sSup>
                      <m:r>
                        <a:rPr lang="en-US" i="1" dirty="0">
                          <a:latin typeface="Cambria Math" panose="02040503050406030204" pitchFamily="18" charset="0"/>
                        </a:rPr>
                        <m:t>= ∥</m:t>
                      </m:r>
                      <m:sSub>
                        <m:sSubPr>
                          <m:ctrlPr>
                            <a:rPr lang="en-US" b="0" i="1" dirty="0" smtClean="0">
                              <a:latin typeface="Cambria Math" panose="02040503050406030204" pitchFamily="18" charset="0"/>
                            </a:rPr>
                          </m:ctrlPr>
                        </m:sSubPr>
                        <m:e>
                          <m:r>
                            <a:rPr lang="en-US" i="1" dirty="0">
                              <a:latin typeface="Cambria Math" panose="02040503050406030204" pitchFamily="18" charset="0"/>
                            </a:rPr>
                            <m:t>𝑟</m:t>
                          </m:r>
                        </m:e>
                        <m:sub>
                          <m:r>
                            <a:rPr lang="en-US" b="0" i="1" dirty="0" smtClean="0">
                              <a:latin typeface="Cambria Math" panose="02040503050406030204" pitchFamily="18" charset="0"/>
                            </a:rPr>
                            <m:t>𝑖</m:t>
                          </m:r>
                          <m:r>
                            <a:rPr lang="en-US" b="0" i="1" dirty="0" smtClean="0">
                              <a:latin typeface="Cambria Math" panose="02040503050406030204" pitchFamily="18" charset="0"/>
                            </a:rPr>
                            <m:t>,</m:t>
                          </m:r>
                          <m:r>
                            <a:rPr lang="en-US" b="0" i="1" dirty="0" smtClean="0">
                              <a:latin typeface="Cambria Math" panose="02040503050406030204" pitchFamily="18" charset="0"/>
                            </a:rPr>
                            <m:t>𝑗</m:t>
                          </m:r>
                        </m:sub>
                      </m:sSub>
                      <m:r>
                        <a:rPr lang="en-US" i="1" dirty="0">
                          <a:latin typeface="Cambria Math" panose="02040503050406030204" pitchFamily="18" charset="0"/>
                        </a:rPr>
                        <m:t>∥ </m:t>
                      </m:r>
                    </m:oMath>
                  </m:oMathPara>
                </a14:m>
                <a:endParaRPr lang="en-US" dirty="0"/>
              </a:p>
              <a:p>
                <a:pPr marL="0" indent="0">
                  <a:buNone/>
                </a:pPr>
                <a:r>
                  <a:rPr lang="en-US" dirty="0"/>
                  <a:t>   where </a:t>
                </a:r>
                <a14:m>
                  <m:oMath xmlns:m="http://schemas.openxmlformats.org/officeDocument/2006/math">
                    <m:r>
                      <a:rPr lang="en-US" i="1" dirty="0" smtClean="0">
                        <a:latin typeface="Cambria Math" panose="02040503050406030204" pitchFamily="18" charset="0"/>
                      </a:rPr>
                      <m:t>∥</m:t>
                    </m:r>
                    <m:sSub>
                      <m:sSubPr>
                        <m:ctrlPr>
                          <a:rPr lang="en-US" i="1" dirty="0">
                            <a:latin typeface="Cambria Math" panose="02040503050406030204" pitchFamily="18" charset="0"/>
                          </a:rPr>
                        </m:ctrlPr>
                      </m:sSubPr>
                      <m:e>
                        <m:r>
                          <a:rPr lang="en-US" i="1" dirty="0">
                            <a:latin typeface="Cambria Math" panose="02040503050406030204" pitchFamily="18" charset="0"/>
                          </a:rPr>
                          <m:t>𝑟</m:t>
                        </m:r>
                      </m:e>
                      <m:sub>
                        <m:r>
                          <a:rPr lang="en-US" i="1" dirty="0">
                            <a:latin typeface="Cambria Math" panose="02040503050406030204" pitchFamily="18" charset="0"/>
                          </a:rPr>
                          <m:t>𝑖</m:t>
                        </m:r>
                        <m:r>
                          <a:rPr lang="en-US" i="1" dirty="0">
                            <a:latin typeface="Cambria Math" panose="02040503050406030204" pitchFamily="18" charset="0"/>
                          </a:rPr>
                          <m:t>,</m:t>
                        </m:r>
                        <m:r>
                          <a:rPr lang="en-US" i="1" dirty="0">
                            <a:latin typeface="Cambria Math" panose="02040503050406030204" pitchFamily="18" charset="0"/>
                          </a:rPr>
                          <m:t>𝑗</m:t>
                        </m:r>
                      </m:sub>
                    </m:sSub>
                    <m:r>
                      <a:rPr lang="en-US" i="1" dirty="0">
                        <a:latin typeface="Cambria Math" panose="02040503050406030204" pitchFamily="18" charset="0"/>
                      </a:rPr>
                      <m:t>∥</m:t>
                    </m:r>
                  </m:oMath>
                </a14:m>
                <a:r>
                  <a:rPr lang="en-US" dirty="0"/>
                  <a:t> is some normalization of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𝑟</m:t>
                        </m:r>
                      </m:e>
                      <m:sub>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𝑗</m:t>
                        </m:r>
                      </m:sub>
                    </m:sSub>
                  </m:oMath>
                </a14:m>
                <a:r>
                  <a:rPr lang="en-US" dirty="0"/>
                  <a:t> ,  discussed later.</a:t>
                </a:r>
              </a:p>
              <a:p>
                <a:endParaRPr lang="en-US" dirty="0"/>
              </a:p>
            </p:txBody>
          </p:sp>
        </mc:Choice>
        <mc:Fallback>
          <p:sp>
            <p:nvSpPr>
              <p:cNvPr id="3" name="Content Placeholder 2">
                <a:extLst>
                  <a:ext uri="{FF2B5EF4-FFF2-40B4-BE49-F238E27FC236}">
                    <a16:creationId xmlns:a16="http://schemas.microsoft.com/office/drawing/2014/main" id="{15C4FD65-F675-944D-A379-3A5FFFAEB784}"/>
                  </a:ext>
                </a:extLst>
              </p:cNvPr>
              <p:cNvSpPr>
                <a:spLocks noGrp="1" noRot="1" noChangeAspect="1" noMove="1" noResize="1" noEditPoints="1" noAdjustHandles="1" noChangeArrowheads="1" noChangeShapeType="1" noTextEdit="1"/>
              </p:cNvSpPr>
              <p:nvPr>
                <p:ph idx="1"/>
              </p:nvPr>
            </p:nvSpPr>
            <p:spPr>
              <a:xfrm>
                <a:off x="570155" y="1325562"/>
                <a:ext cx="11621845" cy="5532437"/>
              </a:xfrm>
              <a:blipFill>
                <a:blip r:embed="rId2"/>
                <a:stretch>
                  <a:fillRect l="-873" t="-1602"/>
                </a:stretch>
              </a:blipFill>
            </p:spPr>
            <p:txBody>
              <a:bodyPr/>
              <a:lstStyle/>
              <a:p>
                <a:r>
                  <a:rPr lang="en-US">
                    <a:noFill/>
                  </a:rPr>
                  <a:t> </a:t>
                </a:r>
              </a:p>
            </p:txBody>
          </p:sp>
        </mc:Fallback>
      </mc:AlternateContent>
    </p:spTree>
    <p:extLst>
      <p:ext uri="{BB962C8B-B14F-4D97-AF65-F5344CB8AC3E}">
        <p14:creationId xmlns:p14="http://schemas.microsoft.com/office/powerpoint/2010/main" val="317820973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DCE2F9-F4C3-DA4C-B0FC-7FF6F22D148C}"/>
              </a:ext>
            </a:extLst>
          </p:cNvPr>
          <p:cNvSpPr>
            <a:spLocks noGrp="1"/>
          </p:cNvSpPr>
          <p:nvPr>
            <p:ph type="title"/>
          </p:nvPr>
        </p:nvSpPr>
        <p:spPr>
          <a:xfrm>
            <a:off x="838200" y="0"/>
            <a:ext cx="10515600" cy="1325563"/>
          </a:xfrm>
        </p:spPr>
        <p:txBody>
          <a:bodyPr/>
          <a:lstStyle/>
          <a:p>
            <a:r>
              <a:rPr lang="en-US" dirty="0"/>
              <a:t>Residuals and errors </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15C4FD65-F675-944D-A379-3A5FFFAEB784}"/>
                  </a:ext>
                </a:extLst>
              </p:cNvPr>
              <p:cNvSpPr>
                <a:spLocks noGrp="1"/>
              </p:cNvSpPr>
              <p:nvPr>
                <p:ph idx="1"/>
              </p:nvPr>
            </p:nvSpPr>
            <p:spPr>
              <a:xfrm>
                <a:off x="570155" y="1325562"/>
                <a:ext cx="10983557" cy="5532437"/>
              </a:xfrm>
            </p:spPr>
            <p:txBody>
              <a:bodyPr>
                <a:normAutofit/>
              </a:bodyPr>
              <a:lstStyle/>
              <a:p>
                <a:r>
                  <a:rPr lang="en-US" dirty="0"/>
                  <a:t>The true error in each cell is:</a:t>
                </a:r>
              </a:p>
              <a:p>
                <a:pPr marL="0" indent="0">
                  <a:lnSpc>
                    <a:spcPct val="150000"/>
                  </a:lnSpc>
                  <a:buNone/>
                </a:pPr>
                <a14:m>
                  <m:oMathPara xmlns:m="http://schemas.openxmlformats.org/officeDocument/2006/math">
                    <m:oMathParaPr>
                      <m:jc m:val="centerGroup"/>
                    </m:oMathParaPr>
                    <m:oMath xmlns:m="http://schemas.openxmlformats.org/officeDocument/2006/math">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𝑒</m:t>
                          </m:r>
                        </m:e>
                        <m:sub>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𝑗</m:t>
                          </m:r>
                        </m:sub>
                        <m:sup>
                          <m:r>
                            <a:rPr lang="en-US" b="0" i="1" smtClean="0">
                              <a:latin typeface="Cambria Math" panose="02040503050406030204" pitchFamily="18" charset="0"/>
                            </a:rPr>
                            <m:t>𝑡𝑟𝑢𝑒</m:t>
                          </m:r>
                        </m:sup>
                      </m:sSubSup>
                      <m:r>
                        <a:rPr lang="en-US" b="0" i="1" smtClean="0">
                          <a:latin typeface="Cambria Math" panose="02040503050406030204" pitchFamily="18" charset="0"/>
                        </a:rPr>
                        <m:t>=</m:t>
                      </m:r>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𝜙</m:t>
                          </m:r>
                        </m:e>
                        <m:sub>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𝑗</m:t>
                          </m:r>
                        </m:sub>
                        <m:sup>
                          <m:r>
                            <a:rPr lang="en-US" b="0" i="1" smtClean="0">
                              <a:latin typeface="Cambria Math" panose="02040503050406030204" pitchFamily="18" charset="0"/>
                            </a:rPr>
                            <m:t>𝑡𝑟𝑢𝑒</m:t>
                          </m:r>
                        </m:sup>
                      </m:sSubSup>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𝜙</m:t>
                          </m:r>
                        </m:e>
                        <m:sub>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𝑗</m:t>
                          </m:r>
                        </m:sub>
                      </m:sSub>
                    </m:oMath>
                  </m:oMathPara>
                </a14:m>
                <a:endParaRPr lang="en-US" dirty="0"/>
              </a:p>
              <a:p>
                <a:pPr marL="0" indent="0">
                  <a:lnSpc>
                    <a:spcPct val="150000"/>
                  </a:lnSpc>
                  <a:buNone/>
                </a:pPr>
                <a:r>
                  <a:rPr lang="en-US" dirty="0"/>
                  <a:t>  where </a:t>
                </a:r>
                <a14:m>
                  <m:oMath xmlns:m="http://schemas.openxmlformats.org/officeDocument/2006/math">
                    <m:sSup>
                      <m:sSupPr>
                        <m:ctrlPr>
                          <a:rPr lang="en-US" b="0" i="1" smtClean="0">
                            <a:latin typeface="Cambria Math" panose="02040503050406030204" pitchFamily="18" charset="0"/>
                          </a:rPr>
                        </m:ctrlPr>
                      </m:sSupPr>
                      <m:e>
                        <m:r>
                          <m:rPr>
                            <m:sty m:val="p"/>
                          </m:rPr>
                          <a:rPr lang="en-US" b="0" i="0" smtClean="0">
                            <a:latin typeface="Cambria Math" panose="02040503050406030204" pitchFamily="18" charset="0"/>
                          </a:rPr>
                          <m:t>∇</m:t>
                        </m:r>
                      </m:e>
                      <m:sup>
                        <m:r>
                          <a:rPr lang="en-US" b="0" i="1" smtClean="0">
                            <a:latin typeface="Cambria Math" panose="02040503050406030204" pitchFamily="18" charset="0"/>
                          </a:rPr>
                          <m:t>2</m:t>
                        </m:r>
                      </m:sup>
                    </m:sSup>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𝜙</m:t>
                        </m:r>
                      </m:e>
                      <m:sub>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𝑗</m:t>
                        </m:r>
                      </m:sub>
                      <m:sup>
                        <m:r>
                          <a:rPr lang="en-US" b="0" i="1" smtClean="0">
                            <a:latin typeface="Cambria Math" panose="02040503050406030204" pitchFamily="18" charset="0"/>
                          </a:rPr>
                          <m:t>𝑡𝑟𝑢𝑒</m:t>
                        </m:r>
                      </m:sup>
                    </m:sSubSup>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𝑓</m:t>
                        </m:r>
                      </m:e>
                      <m:sub>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𝑗</m:t>
                        </m:r>
                      </m:sub>
                    </m:sSub>
                  </m:oMath>
                </a14:m>
                <a:r>
                  <a:rPr lang="en-US" dirty="0"/>
                  <a:t>  </a:t>
                </a:r>
              </a:p>
              <a:p>
                <a:pPr>
                  <a:lnSpc>
                    <a:spcPct val="150000"/>
                  </a:lnSpc>
                </a:pPr>
                <a:r>
                  <a:rPr lang="en-US" dirty="0"/>
                  <a:t>Thus the true error is</a:t>
                </a:r>
              </a:p>
              <a:p>
                <a:pPr marL="0" indent="0">
                  <a:buNone/>
                </a:pPr>
                <a14:m>
                  <m:oMathPara xmlns:m="http://schemas.openxmlformats.org/officeDocument/2006/math">
                    <m:oMathParaPr>
                      <m:jc m:val="centerGroup"/>
                    </m:oMathParaPr>
                    <m:oMath xmlns:m="http://schemas.openxmlformats.org/officeDocument/2006/math">
                      <m:sSup>
                        <m:sSupPr>
                          <m:ctrlPr>
                            <a:rPr lang="en-US" b="0" i="1" dirty="0" smtClean="0">
                              <a:latin typeface="Cambria Math" panose="02040503050406030204" pitchFamily="18" charset="0"/>
                            </a:rPr>
                          </m:ctrlPr>
                        </m:sSupPr>
                        <m:e>
                          <m:r>
                            <a:rPr lang="en-US" b="0" i="1" dirty="0" smtClean="0">
                              <a:latin typeface="Cambria Math" panose="02040503050406030204" pitchFamily="18" charset="0"/>
                            </a:rPr>
                            <m:t>𝜖</m:t>
                          </m:r>
                        </m:e>
                        <m:sup>
                          <m:r>
                            <a:rPr lang="en-US" b="0" i="1" dirty="0" smtClean="0">
                              <a:latin typeface="Cambria Math" panose="02040503050406030204" pitchFamily="18" charset="0"/>
                            </a:rPr>
                            <m:t>𝑡𝑟𝑢𝑒</m:t>
                          </m:r>
                        </m:sup>
                      </m:sSup>
                      <m:r>
                        <a:rPr lang="en-US" i="1" dirty="0">
                          <a:latin typeface="Cambria Math" panose="02040503050406030204" pitchFamily="18" charset="0"/>
                        </a:rPr>
                        <m:t> = ∥</m:t>
                      </m:r>
                      <m:sSubSup>
                        <m:sSubSupPr>
                          <m:ctrlPr>
                            <a:rPr lang="en-US" b="0" i="1" dirty="0" smtClean="0">
                              <a:latin typeface="Cambria Math" panose="02040503050406030204" pitchFamily="18" charset="0"/>
                            </a:rPr>
                          </m:ctrlPr>
                        </m:sSubSupPr>
                        <m:e>
                          <m:r>
                            <a:rPr lang="en-US" b="0" i="1" dirty="0" smtClean="0">
                              <a:latin typeface="Cambria Math" panose="02040503050406030204" pitchFamily="18" charset="0"/>
                            </a:rPr>
                            <m:t>𝑒</m:t>
                          </m:r>
                        </m:e>
                        <m:sub>
                          <m:r>
                            <a:rPr lang="en-US" b="0" i="1" dirty="0" smtClean="0">
                              <a:latin typeface="Cambria Math" panose="02040503050406030204" pitchFamily="18" charset="0"/>
                            </a:rPr>
                            <m:t>𝑖</m:t>
                          </m:r>
                          <m:r>
                            <a:rPr lang="en-US" b="0" i="1" dirty="0" smtClean="0">
                              <a:latin typeface="Cambria Math" panose="02040503050406030204" pitchFamily="18" charset="0"/>
                            </a:rPr>
                            <m:t>,</m:t>
                          </m:r>
                          <m:r>
                            <a:rPr lang="en-US" b="0" i="1" dirty="0" smtClean="0">
                              <a:latin typeface="Cambria Math" panose="02040503050406030204" pitchFamily="18" charset="0"/>
                            </a:rPr>
                            <m:t>𝑗</m:t>
                          </m:r>
                        </m:sub>
                        <m:sup>
                          <m:r>
                            <a:rPr lang="en-US" b="0" i="1" dirty="0" smtClean="0">
                              <a:latin typeface="Cambria Math" panose="02040503050406030204" pitchFamily="18" charset="0"/>
                            </a:rPr>
                            <m:t>𝑡𝑟𝑢𝑒</m:t>
                          </m:r>
                        </m:sup>
                      </m:sSubSup>
                      <m:r>
                        <a:rPr lang="en-US" i="1" dirty="0">
                          <a:latin typeface="Cambria Math" panose="02040503050406030204" pitchFamily="18" charset="0"/>
                        </a:rPr>
                        <m:t>∥ </m:t>
                      </m:r>
                    </m:oMath>
                  </m:oMathPara>
                </a14:m>
                <a:endParaRPr lang="en-US" dirty="0"/>
              </a:p>
              <a:p>
                <a:r>
                  <a:rPr lang="en-US" dirty="0"/>
                  <a:t>Since the discrete Laplacian is linear we get:</a:t>
                </a:r>
              </a:p>
              <a:p>
                <a:pPr marL="0" indent="0">
                  <a:lnSpc>
                    <a:spcPct val="150000"/>
                  </a:lnSpc>
                  <a:buNone/>
                </a:pPr>
                <a14:m>
                  <m:oMathPara xmlns:m="http://schemas.openxmlformats.org/officeDocument/2006/math">
                    <m:oMathParaPr>
                      <m:jc m:val="centerGroup"/>
                    </m:oMathParaPr>
                    <m:oMath xmlns:m="http://schemas.openxmlformats.org/officeDocument/2006/math">
                      <m:r>
                        <a:rPr lang="en-US" b="0" i="1" smtClean="0">
                          <a:solidFill>
                            <a:srgbClr val="FF0000"/>
                          </a:solidFill>
                          <a:latin typeface="Cambria Math" panose="02040503050406030204" pitchFamily="18" charset="0"/>
                        </a:rPr>
                        <m:t>𝐿</m:t>
                      </m:r>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𝑒</m:t>
                          </m:r>
                        </m:e>
                        <m:sub>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𝑗</m:t>
                          </m:r>
                        </m:sub>
                        <m:sup>
                          <m:r>
                            <a:rPr lang="en-US" b="0" i="1" smtClean="0">
                              <a:latin typeface="Cambria Math" panose="02040503050406030204" pitchFamily="18" charset="0"/>
                            </a:rPr>
                            <m:t>𝑡𝑟𝑢𝑒</m:t>
                          </m:r>
                        </m:sup>
                      </m:sSubSup>
                      <m:r>
                        <a:rPr lang="en-US" b="0" i="1" smtClean="0">
                          <a:latin typeface="Cambria Math" panose="02040503050406030204" pitchFamily="18" charset="0"/>
                        </a:rPr>
                        <m:t>=</m:t>
                      </m:r>
                      <m:r>
                        <a:rPr lang="en-US" b="0" i="1" smtClean="0">
                          <a:solidFill>
                            <a:srgbClr val="FF0000"/>
                          </a:solidFill>
                          <a:latin typeface="Cambria Math" panose="02040503050406030204" pitchFamily="18" charset="0"/>
                        </a:rPr>
                        <m:t>𝐿</m:t>
                      </m:r>
                      <m:sSubSup>
                        <m:sSubSupPr>
                          <m:ctrlPr>
                            <a:rPr lang="en-US" i="1">
                              <a:latin typeface="Cambria Math" panose="02040503050406030204" pitchFamily="18" charset="0"/>
                            </a:rPr>
                          </m:ctrlPr>
                        </m:sSubSupPr>
                        <m:e>
                          <m:r>
                            <a:rPr lang="en-US" i="1">
                              <a:latin typeface="Cambria Math" panose="02040503050406030204" pitchFamily="18" charset="0"/>
                            </a:rPr>
                            <m:t>𝜙</m:t>
                          </m:r>
                        </m:e>
                        <m:sub>
                          <m:r>
                            <a:rPr lang="en-US" i="1">
                              <a:latin typeface="Cambria Math" panose="02040503050406030204" pitchFamily="18" charset="0"/>
                            </a:rPr>
                            <m:t>𝑖</m:t>
                          </m:r>
                          <m:r>
                            <a:rPr lang="en-US" i="1">
                              <a:latin typeface="Cambria Math" panose="02040503050406030204" pitchFamily="18" charset="0"/>
                            </a:rPr>
                            <m:t>,</m:t>
                          </m:r>
                          <m:r>
                            <a:rPr lang="en-US" i="1">
                              <a:latin typeface="Cambria Math" panose="02040503050406030204" pitchFamily="18" charset="0"/>
                            </a:rPr>
                            <m:t>𝑗</m:t>
                          </m:r>
                        </m:sub>
                        <m:sup>
                          <m:r>
                            <a:rPr lang="en-US" i="1">
                              <a:latin typeface="Cambria Math" panose="02040503050406030204" pitchFamily="18" charset="0"/>
                            </a:rPr>
                            <m:t>𝑡𝑟𝑢𝑒</m:t>
                          </m:r>
                        </m:sup>
                      </m:sSubSup>
                      <m:r>
                        <a:rPr lang="en-US" i="1">
                          <a:latin typeface="Cambria Math" panose="02040503050406030204" pitchFamily="18" charset="0"/>
                        </a:rPr>
                        <m:t>−</m:t>
                      </m:r>
                      <m:sSub>
                        <m:sSubPr>
                          <m:ctrlPr>
                            <a:rPr lang="en-US" i="1">
                              <a:latin typeface="Cambria Math" panose="02040503050406030204" pitchFamily="18" charset="0"/>
                            </a:rPr>
                          </m:ctrlPr>
                        </m:sSubPr>
                        <m:e>
                          <m:r>
                            <a:rPr lang="en-US" b="0" i="1" smtClean="0">
                              <a:solidFill>
                                <a:srgbClr val="FF0000"/>
                              </a:solidFill>
                              <a:latin typeface="Cambria Math" panose="02040503050406030204" pitchFamily="18" charset="0"/>
                            </a:rPr>
                            <m:t>𝐿</m:t>
                          </m:r>
                          <m:r>
                            <a:rPr lang="en-US" i="1">
                              <a:latin typeface="Cambria Math" panose="02040503050406030204" pitchFamily="18" charset="0"/>
                            </a:rPr>
                            <m:t>𝜙</m:t>
                          </m:r>
                        </m:e>
                        <m:sub>
                          <m:r>
                            <a:rPr lang="en-US" i="1">
                              <a:latin typeface="Cambria Math" panose="02040503050406030204" pitchFamily="18" charset="0"/>
                            </a:rPr>
                            <m:t>𝑖</m:t>
                          </m:r>
                          <m:r>
                            <a:rPr lang="en-US" i="1">
                              <a:latin typeface="Cambria Math" panose="02040503050406030204" pitchFamily="18" charset="0"/>
                            </a:rPr>
                            <m:t>,</m:t>
                          </m:r>
                          <m:r>
                            <a:rPr lang="en-US" i="1">
                              <a:latin typeface="Cambria Math" panose="02040503050406030204" pitchFamily="18" charset="0"/>
                            </a:rPr>
                            <m:t>𝑗</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𝑓</m:t>
                          </m:r>
                        </m:e>
                        <m:sub>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𝑗</m:t>
                          </m:r>
                        </m:sub>
                      </m:sSub>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𝐿</m:t>
                          </m:r>
                          <m:r>
                            <a:rPr lang="en-US" i="1">
                              <a:latin typeface="Cambria Math" panose="02040503050406030204" pitchFamily="18" charset="0"/>
                            </a:rPr>
                            <m:t>𝜙</m:t>
                          </m:r>
                        </m:e>
                        <m:sub>
                          <m:r>
                            <a:rPr lang="en-US" i="1">
                              <a:latin typeface="Cambria Math" panose="02040503050406030204" pitchFamily="18" charset="0"/>
                            </a:rPr>
                            <m:t>𝑖</m:t>
                          </m:r>
                          <m:r>
                            <a:rPr lang="en-US" i="1">
                              <a:latin typeface="Cambria Math" panose="02040503050406030204" pitchFamily="18" charset="0"/>
                            </a:rPr>
                            <m:t>,</m:t>
                          </m:r>
                          <m:r>
                            <a:rPr lang="en-US" i="1">
                              <a:latin typeface="Cambria Math" panose="02040503050406030204" pitchFamily="18" charset="0"/>
                            </a:rPr>
                            <m:t>𝑗</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m:t>
                          </m:r>
                          <m:r>
                            <a:rPr lang="en-US" b="0" i="1" smtClean="0">
                              <a:latin typeface="Cambria Math" panose="02040503050406030204" pitchFamily="18" charset="0"/>
                            </a:rPr>
                            <m:t>𝑟</m:t>
                          </m:r>
                        </m:e>
                        <m:sub>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𝑗</m:t>
                          </m:r>
                        </m:sub>
                      </m:sSub>
                    </m:oMath>
                  </m:oMathPara>
                </a14:m>
                <a:br>
                  <a:rPr lang="en-US" dirty="0"/>
                </a:br>
                <a:endParaRPr lang="en-US" dirty="0"/>
              </a:p>
              <a:p>
                <a:r>
                  <a:rPr lang="en-US" dirty="0"/>
                  <a:t>The error in the  solution obeys a Poisson equation with the residual as a source </a:t>
                </a:r>
              </a:p>
              <a:p>
                <a:endParaRPr lang="en-US" dirty="0"/>
              </a:p>
            </p:txBody>
          </p:sp>
        </mc:Choice>
        <mc:Fallback>
          <p:sp>
            <p:nvSpPr>
              <p:cNvPr id="3" name="Content Placeholder 2">
                <a:extLst>
                  <a:ext uri="{FF2B5EF4-FFF2-40B4-BE49-F238E27FC236}">
                    <a16:creationId xmlns:a16="http://schemas.microsoft.com/office/drawing/2014/main" id="{15C4FD65-F675-944D-A379-3A5FFFAEB784}"/>
                  </a:ext>
                </a:extLst>
              </p:cNvPr>
              <p:cNvSpPr>
                <a:spLocks noGrp="1" noRot="1" noChangeAspect="1" noMove="1" noResize="1" noEditPoints="1" noAdjustHandles="1" noChangeArrowheads="1" noChangeShapeType="1" noTextEdit="1"/>
              </p:cNvSpPr>
              <p:nvPr>
                <p:ph idx="1"/>
              </p:nvPr>
            </p:nvSpPr>
            <p:spPr>
              <a:xfrm>
                <a:off x="570155" y="1325562"/>
                <a:ext cx="10983557" cy="5532437"/>
              </a:xfrm>
              <a:blipFill>
                <a:blip r:embed="rId3"/>
                <a:stretch>
                  <a:fillRect l="-924" t="-1602" r="-924" b="-1602"/>
                </a:stretch>
              </a:blipFill>
            </p:spPr>
            <p:txBody>
              <a:bodyPr/>
              <a:lstStyle/>
              <a:p>
                <a:r>
                  <a:rPr lang="en-US">
                    <a:noFill/>
                  </a:rPr>
                  <a:t> </a:t>
                </a:r>
              </a:p>
            </p:txBody>
          </p:sp>
        </mc:Fallback>
      </mc:AlternateContent>
    </p:spTree>
    <p:extLst>
      <p:ext uri="{BB962C8B-B14F-4D97-AF65-F5344CB8AC3E}">
        <p14:creationId xmlns:p14="http://schemas.microsoft.com/office/powerpoint/2010/main" val="285142685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DCE2F9-F4C3-DA4C-B0FC-7FF6F22D148C}"/>
              </a:ext>
            </a:extLst>
          </p:cNvPr>
          <p:cNvSpPr>
            <a:spLocks noGrp="1"/>
          </p:cNvSpPr>
          <p:nvPr>
            <p:ph type="title"/>
          </p:nvPr>
        </p:nvSpPr>
        <p:spPr>
          <a:xfrm>
            <a:off x="838200" y="0"/>
            <a:ext cx="10515600" cy="1325563"/>
          </a:xfrm>
        </p:spPr>
        <p:txBody>
          <a:bodyPr/>
          <a:lstStyle/>
          <a:p>
            <a:r>
              <a:rPr lang="en-US" dirty="0"/>
              <a:t>Residuals and errors </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15C4FD65-F675-944D-A379-3A5FFFAEB784}"/>
                  </a:ext>
                </a:extLst>
              </p:cNvPr>
              <p:cNvSpPr>
                <a:spLocks noGrp="1"/>
              </p:cNvSpPr>
              <p:nvPr>
                <p:ph idx="1"/>
              </p:nvPr>
            </p:nvSpPr>
            <p:spPr>
              <a:xfrm>
                <a:off x="570155" y="1325562"/>
                <a:ext cx="10983557" cy="5532437"/>
              </a:xfrm>
            </p:spPr>
            <p:txBody>
              <a:bodyPr>
                <a:normAutofit/>
              </a:bodyPr>
              <a:lstStyle/>
              <a:p>
                <a:r>
                  <a:rPr lang="en-US" dirty="0"/>
                  <a:t>Since the discrete Laplacian is linear we get:</a:t>
                </a:r>
              </a:p>
              <a:p>
                <a:pPr marL="0" indent="0">
                  <a:lnSpc>
                    <a:spcPct val="150000"/>
                  </a:lnSpc>
                  <a:buNone/>
                </a:pPr>
                <a14:m>
                  <m:oMathPara xmlns:m="http://schemas.openxmlformats.org/officeDocument/2006/math">
                    <m:oMathParaPr>
                      <m:jc m:val="centerGroup"/>
                    </m:oMathParaPr>
                    <m:oMath xmlns:m="http://schemas.openxmlformats.org/officeDocument/2006/math">
                      <m:r>
                        <a:rPr lang="en-US" b="0" i="1" smtClean="0">
                          <a:solidFill>
                            <a:srgbClr val="FF0000"/>
                          </a:solidFill>
                          <a:latin typeface="Cambria Math" panose="02040503050406030204" pitchFamily="18" charset="0"/>
                        </a:rPr>
                        <m:t>𝐿</m:t>
                      </m:r>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𝑒</m:t>
                          </m:r>
                        </m:e>
                        <m:sub>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𝑗</m:t>
                          </m:r>
                        </m:sub>
                        <m:sup>
                          <m:r>
                            <a:rPr lang="en-US" b="0" i="1" smtClean="0">
                              <a:latin typeface="Cambria Math" panose="02040503050406030204" pitchFamily="18" charset="0"/>
                            </a:rPr>
                            <m:t>𝑡𝑟𝑢𝑒</m:t>
                          </m:r>
                        </m:sup>
                      </m:sSubSup>
                      <m:r>
                        <a:rPr lang="en-US" b="0" i="1" smtClean="0">
                          <a:latin typeface="Cambria Math" panose="02040503050406030204" pitchFamily="18" charset="0"/>
                        </a:rPr>
                        <m:t>=</m:t>
                      </m:r>
                      <m:r>
                        <a:rPr lang="en-US" b="0" i="1" smtClean="0">
                          <a:solidFill>
                            <a:srgbClr val="FF0000"/>
                          </a:solidFill>
                          <a:latin typeface="Cambria Math" panose="02040503050406030204" pitchFamily="18" charset="0"/>
                        </a:rPr>
                        <m:t>𝐿</m:t>
                      </m:r>
                      <m:sSubSup>
                        <m:sSubSupPr>
                          <m:ctrlPr>
                            <a:rPr lang="en-US" i="1">
                              <a:latin typeface="Cambria Math" panose="02040503050406030204" pitchFamily="18" charset="0"/>
                            </a:rPr>
                          </m:ctrlPr>
                        </m:sSubSupPr>
                        <m:e>
                          <m:r>
                            <a:rPr lang="en-US" i="1">
                              <a:latin typeface="Cambria Math" panose="02040503050406030204" pitchFamily="18" charset="0"/>
                            </a:rPr>
                            <m:t>𝜙</m:t>
                          </m:r>
                        </m:e>
                        <m:sub>
                          <m:r>
                            <a:rPr lang="en-US" i="1">
                              <a:latin typeface="Cambria Math" panose="02040503050406030204" pitchFamily="18" charset="0"/>
                            </a:rPr>
                            <m:t>𝑖</m:t>
                          </m:r>
                          <m:r>
                            <a:rPr lang="en-US" i="1">
                              <a:latin typeface="Cambria Math" panose="02040503050406030204" pitchFamily="18" charset="0"/>
                            </a:rPr>
                            <m:t>,</m:t>
                          </m:r>
                          <m:r>
                            <a:rPr lang="en-US" i="1">
                              <a:latin typeface="Cambria Math" panose="02040503050406030204" pitchFamily="18" charset="0"/>
                            </a:rPr>
                            <m:t>𝑗</m:t>
                          </m:r>
                        </m:sub>
                        <m:sup>
                          <m:r>
                            <a:rPr lang="en-US" i="1">
                              <a:latin typeface="Cambria Math" panose="02040503050406030204" pitchFamily="18" charset="0"/>
                            </a:rPr>
                            <m:t>𝑡𝑟𝑢𝑒</m:t>
                          </m:r>
                        </m:sup>
                      </m:sSubSup>
                      <m:r>
                        <a:rPr lang="en-US" i="1">
                          <a:latin typeface="Cambria Math" panose="02040503050406030204" pitchFamily="18" charset="0"/>
                        </a:rPr>
                        <m:t>−</m:t>
                      </m:r>
                      <m:sSub>
                        <m:sSubPr>
                          <m:ctrlPr>
                            <a:rPr lang="en-US" i="1">
                              <a:latin typeface="Cambria Math" panose="02040503050406030204" pitchFamily="18" charset="0"/>
                            </a:rPr>
                          </m:ctrlPr>
                        </m:sSubPr>
                        <m:e>
                          <m:r>
                            <a:rPr lang="en-US" b="0" i="1" smtClean="0">
                              <a:solidFill>
                                <a:srgbClr val="FF0000"/>
                              </a:solidFill>
                              <a:latin typeface="Cambria Math" panose="02040503050406030204" pitchFamily="18" charset="0"/>
                            </a:rPr>
                            <m:t>𝐿</m:t>
                          </m:r>
                          <m:r>
                            <a:rPr lang="en-US" i="1">
                              <a:latin typeface="Cambria Math" panose="02040503050406030204" pitchFamily="18" charset="0"/>
                            </a:rPr>
                            <m:t>𝜙</m:t>
                          </m:r>
                        </m:e>
                        <m:sub>
                          <m:r>
                            <a:rPr lang="en-US" i="1">
                              <a:latin typeface="Cambria Math" panose="02040503050406030204" pitchFamily="18" charset="0"/>
                            </a:rPr>
                            <m:t>𝑖</m:t>
                          </m:r>
                          <m:r>
                            <a:rPr lang="en-US" i="1">
                              <a:latin typeface="Cambria Math" panose="02040503050406030204" pitchFamily="18" charset="0"/>
                            </a:rPr>
                            <m:t>,</m:t>
                          </m:r>
                          <m:r>
                            <a:rPr lang="en-US" i="1">
                              <a:latin typeface="Cambria Math" panose="02040503050406030204" pitchFamily="18" charset="0"/>
                            </a:rPr>
                            <m:t>𝑗</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𝑓</m:t>
                          </m:r>
                        </m:e>
                        <m:sub>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𝑗</m:t>
                          </m:r>
                        </m:sub>
                      </m:sSub>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𝐿</m:t>
                          </m:r>
                          <m:r>
                            <a:rPr lang="en-US" i="1">
                              <a:latin typeface="Cambria Math" panose="02040503050406030204" pitchFamily="18" charset="0"/>
                            </a:rPr>
                            <m:t>𝜙</m:t>
                          </m:r>
                        </m:e>
                        <m:sub>
                          <m:r>
                            <a:rPr lang="en-US" i="1">
                              <a:latin typeface="Cambria Math" panose="02040503050406030204" pitchFamily="18" charset="0"/>
                            </a:rPr>
                            <m:t>𝑖</m:t>
                          </m:r>
                          <m:r>
                            <a:rPr lang="en-US" i="1">
                              <a:latin typeface="Cambria Math" panose="02040503050406030204" pitchFamily="18" charset="0"/>
                            </a:rPr>
                            <m:t>,</m:t>
                          </m:r>
                          <m:r>
                            <a:rPr lang="en-US" i="1">
                              <a:latin typeface="Cambria Math" panose="02040503050406030204" pitchFamily="18" charset="0"/>
                            </a:rPr>
                            <m:t>𝑗</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m:t>
                          </m:r>
                          <m:r>
                            <a:rPr lang="en-US" b="0" i="1" smtClean="0">
                              <a:latin typeface="Cambria Math" panose="02040503050406030204" pitchFamily="18" charset="0"/>
                            </a:rPr>
                            <m:t>𝑟</m:t>
                          </m:r>
                        </m:e>
                        <m:sub>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𝑗</m:t>
                          </m:r>
                        </m:sub>
                      </m:sSub>
                    </m:oMath>
                  </m:oMathPara>
                </a14:m>
                <a:br>
                  <a:rPr lang="en-US" dirty="0"/>
                </a:br>
                <a:endParaRPr lang="en-US" dirty="0"/>
              </a:p>
              <a:p>
                <a:r>
                  <a:rPr lang="en-US" dirty="0"/>
                  <a:t>The error in the  solution obeys a Poisson equation with the residual as a source </a:t>
                </a:r>
              </a:p>
              <a:p>
                <a:r>
                  <a:rPr lang="en-US" dirty="0"/>
                  <a:t>The residual error </a:t>
                </a:r>
                <a14:m>
                  <m:oMath xmlns:m="http://schemas.openxmlformats.org/officeDocument/2006/math">
                    <m:sSup>
                      <m:sSupPr>
                        <m:ctrlPr>
                          <a:rPr lang="en-US" i="1" dirty="0" smtClean="0">
                            <a:solidFill>
                              <a:srgbClr val="FF0000"/>
                            </a:solidFill>
                            <a:latin typeface="Cambria Math" panose="02040503050406030204" pitchFamily="18" charset="0"/>
                          </a:rPr>
                        </m:ctrlPr>
                      </m:sSupPr>
                      <m:e>
                        <m:r>
                          <a:rPr lang="el-GR" i="1" dirty="0">
                            <a:solidFill>
                              <a:srgbClr val="FF0000"/>
                            </a:solidFill>
                            <a:latin typeface="Cambria Math" panose="02040503050406030204" pitchFamily="18" charset="0"/>
                          </a:rPr>
                          <m:t>𝜀</m:t>
                        </m:r>
                      </m:e>
                      <m:sup>
                        <m:r>
                          <a:rPr lang="en-US" i="1" dirty="0">
                            <a:solidFill>
                              <a:srgbClr val="FF0000"/>
                            </a:solidFill>
                            <a:latin typeface="Cambria Math" panose="02040503050406030204" pitchFamily="18" charset="0"/>
                          </a:rPr>
                          <m:t>(</m:t>
                        </m:r>
                        <m:r>
                          <a:rPr lang="en-US" i="1" dirty="0">
                            <a:solidFill>
                              <a:srgbClr val="FF0000"/>
                            </a:solidFill>
                            <a:latin typeface="Cambria Math" panose="02040503050406030204" pitchFamily="18" charset="0"/>
                          </a:rPr>
                          <m:t>𝑟</m:t>
                        </m:r>
                        <m:r>
                          <a:rPr lang="en-US" i="1" dirty="0">
                            <a:solidFill>
                              <a:srgbClr val="FF0000"/>
                            </a:solidFill>
                            <a:latin typeface="Cambria Math" panose="02040503050406030204" pitchFamily="18" charset="0"/>
                          </a:rPr>
                          <m:t>)</m:t>
                        </m:r>
                      </m:sup>
                    </m:sSup>
                    <m:r>
                      <a:rPr lang="en-US" i="1" dirty="0">
                        <a:solidFill>
                          <a:srgbClr val="FF0000"/>
                        </a:solidFill>
                        <a:latin typeface="Cambria Math" panose="02040503050406030204" pitchFamily="18" charset="0"/>
                      </a:rPr>
                      <m:t>= ∥</m:t>
                    </m:r>
                    <m:sSub>
                      <m:sSubPr>
                        <m:ctrlPr>
                          <a:rPr lang="en-US" i="1" dirty="0">
                            <a:solidFill>
                              <a:srgbClr val="FF0000"/>
                            </a:solidFill>
                            <a:latin typeface="Cambria Math" panose="02040503050406030204" pitchFamily="18" charset="0"/>
                          </a:rPr>
                        </m:ctrlPr>
                      </m:sSubPr>
                      <m:e>
                        <m:r>
                          <a:rPr lang="en-US" i="1" dirty="0">
                            <a:solidFill>
                              <a:srgbClr val="FF0000"/>
                            </a:solidFill>
                            <a:latin typeface="Cambria Math" panose="02040503050406030204" pitchFamily="18" charset="0"/>
                          </a:rPr>
                          <m:t>𝑟</m:t>
                        </m:r>
                      </m:e>
                      <m:sub>
                        <m:r>
                          <a:rPr lang="en-US" i="1" dirty="0">
                            <a:solidFill>
                              <a:srgbClr val="FF0000"/>
                            </a:solidFill>
                            <a:latin typeface="Cambria Math" panose="02040503050406030204" pitchFamily="18" charset="0"/>
                          </a:rPr>
                          <m:t>𝑖</m:t>
                        </m:r>
                        <m:r>
                          <a:rPr lang="en-US" i="1" dirty="0">
                            <a:solidFill>
                              <a:srgbClr val="FF0000"/>
                            </a:solidFill>
                            <a:latin typeface="Cambria Math" panose="02040503050406030204" pitchFamily="18" charset="0"/>
                          </a:rPr>
                          <m:t>,</m:t>
                        </m:r>
                        <m:r>
                          <a:rPr lang="en-US" i="1" dirty="0">
                            <a:solidFill>
                              <a:srgbClr val="FF0000"/>
                            </a:solidFill>
                            <a:latin typeface="Cambria Math" panose="02040503050406030204" pitchFamily="18" charset="0"/>
                          </a:rPr>
                          <m:t>𝑗</m:t>
                        </m:r>
                      </m:sub>
                    </m:sSub>
                    <m:r>
                      <a:rPr lang="en-US" i="1" dirty="0">
                        <a:solidFill>
                          <a:srgbClr val="FF0000"/>
                        </a:solidFill>
                        <a:latin typeface="Cambria Math" panose="02040503050406030204" pitchFamily="18" charset="0"/>
                      </a:rPr>
                      <m:t>∥</m:t>
                    </m:r>
                  </m:oMath>
                </a14:m>
                <a:r>
                  <a:rPr lang="en-US" dirty="0">
                    <a:solidFill>
                      <a:srgbClr val="FF0000"/>
                    </a:solidFill>
                  </a:rPr>
                  <a:t> </a:t>
                </a:r>
                <a:r>
                  <a:rPr lang="en-US" dirty="0"/>
                  <a:t>is consistent with normalizing the Laplacian of the true error: </a:t>
                </a:r>
                <a14:m>
                  <m:oMath xmlns:m="http://schemas.openxmlformats.org/officeDocument/2006/math">
                    <m:r>
                      <a:rPr lang="en-US" i="1" dirty="0" smtClean="0">
                        <a:solidFill>
                          <a:srgbClr val="FF0000"/>
                        </a:solidFill>
                        <a:latin typeface="Cambria Math" panose="02040503050406030204" pitchFamily="18" charset="0"/>
                      </a:rPr>
                      <m:t>∥</m:t>
                    </m:r>
                    <m:r>
                      <a:rPr lang="en-US" i="1">
                        <a:solidFill>
                          <a:srgbClr val="FF0000"/>
                        </a:solidFill>
                        <a:latin typeface="Cambria Math" panose="02040503050406030204" pitchFamily="18" charset="0"/>
                      </a:rPr>
                      <m:t>𝐿</m:t>
                    </m:r>
                    <m:sSubSup>
                      <m:sSubSupPr>
                        <m:ctrlPr>
                          <a:rPr lang="en-US" i="1">
                            <a:solidFill>
                              <a:srgbClr val="FF0000"/>
                            </a:solidFill>
                            <a:latin typeface="Cambria Math" panose="02040503050406030204" pitchFamily="18" charset="0"/>
                          </a:rPr>
                        </m:ctrlPr>
                      </m:sSubSupPr>
                      <m:e>
                        <m:r>
                          <a:rPr lang="en-US" i="1">
                            <a:solidFill>
                              <a:srgbClr val="FF0000"/>
                            </a:solidFill>
                            <a:latin typeface="Cambria Math" panose="02040503050406030204" pitchFamily="18" charset="0"/>
                          </a:rPr>
                          <m:t>𝑒</m:t>
                        </m:r>
                      </m:e>
                      <m:sub>
                        <m:r>
                          <a:rPr lang="en-US" i="1">
                            <a:solidFill>
                              <a:srgbClr val="FF0000"/>
                            </a:solidFill>
                            <a:latin typeface="Cambria Math" panose="02040503050406030204" pitchFamily="18" charset="0"/>
                          </a:rPr>
                          <m:t>𝑖</m:t>
                        </m:r>
                        <m:r>
                          <a:rPr lang="en-US" i="1">
                            <a:solidFill>
                              <a:srgbClr val="FF0000"/>
                            </a:solidFill>
                            <a:latin typeface="Cambria Math" panose="02040503050406030204" pitchFamily="18" charset="0"/>
                          </a:rPr>
                          <m:t>,</m:t>
                        </m:r>
                        <m:r>
                          <a:rPr lang="en-US" i="1">
                            <a:solidFill>
                              <a:srgbClr val="FF0000"/>
                            </a:solidFill>
                            <a:latin typeface="Cambria Math" panose="02040503050406030204" pitchFamily="18" charset="0"/>
                          </a:rPr>
                          <m:t>𝑗</m:t>
                        </m:r>
                      </m:sub>
                      <m:sup>
                        <m:r>
                          <a:rPr lang="en-US" i="1">
                            <a:solidFill>
                              <a:srgbClr val="FF0000"/>
                            </a:solidFill>
                            <a:latin typeface="Cambria Math" panose="02040503050406030204" pitchFamily="18" charset="0"/>
                          </a:rPr>
                          <m:t>𝑡𝑟𝑢𝑒</m:t>
                        </m:r>
                      </m:sup>
                    </m:sSubSup>
                    <m:r>
                      <a:rPr lang="en-US" i="1" dirty="0">
                        <a:solidFill>
                          <a:srgbClr val="FF0000"/>
                        </a:solidFill>
                        <a:latin typeface="Cambria Math" panose="02040503050406030204" pitchFamily="18" charset="0"/>
                      </a:rPr>
                      <m:t>∥</m:t>
                    </m:r>
                  </m:oMath>
                </a14:m>
                <a:endParaRPr lang="en-US" dirty="0"/>
              </a:p>
              <a:p>
                <a:r>
                  <a:rPr lang="en-US" dirty="0"/>
                  <a:t>Taking  </a:t>
                </a:r>
                <a14:m>
                  <m:oMath xmlns:m="http://schemas.openxmlformats.org/officeDocument/2006/math">
                    <m:sSup>
                      <m:sSupPr>
                        <m:ctrlPr>
                          <a:rPr lang="en-US" i="1" dirty="0">
                            <a:latin typeface="Cambria Math" panose="02040503050406030204" pitchFamily="18" charset="0"/>
                          </a:rPr>
                        </m:ctrlPr>
                      </m:sSupPr>
                      <m:e>
                        <m:r>
                          <a:rPr lang="el-GR" i="1" dirty="0">
                            <a:latin typeface="Cambria Math" panose="02040503050406030204" pitchFamily="18" charset="0"/>
                          </a:rPr>
                          <m:t>𝜀</m:t>
                        </m:r>
                      </m:e>
                      <m:sup>
                        <m:r>
                          <a:rPr lang="en-US" i="1" dirty="0">
                            <a:latin typeface="Cambria Math" panose="02040503050406030204" pitchFamily="18" charset="0"/>
                          </a:rPr>
                          <m:t>(</m:t>
                        </m:r>
                        <m:r>
                          <a:rPr lang="en-US" i="1" dirty="0">
                            <a:latin typeface="Cambria Math" panose="02040503050406030204" pitchFamily="18" charset="0"/>
                          </a:rPr>
                          <m:t>𝑟</m:t>
                        </m:r>
                        <m:r>
                          <a:rPr lang="en-US" i="1" dirty="0">
                            <a:latin typeface="Cambria Math" panose="02040503050406030204" pitchFamily="18" charset="0"/>
                          </a:rPr>
                          <m:t>)</m:t>
                        </m:r>
                      </m:sup>
                    </m:sSup>
                    <m:r>
                      <a:rPr lang="en-US" b="0" i="1" dirty="0" smtClean="0">
                        <a:latin typeface="Cambria Math" panose="02040503050406030204" pitchFamily="18" charset="0"/>
                      </a:rPr>
                      <m:t>→0</m:t>
                    </m:r>
                  </m:oMath>
                </a14:m>
                <a:r>
                  <a:rPr lang="en-US" dirty="0"/>
                  <a:t> is therefore consistent with minimizing </a:t>
                </a:r>
                <a14:m>
                  <m:oMath xmlns:m="http://schemas.openxmlformats.org/officeDocument/2006/math">
                    <m:sSup>
                      <m:sSupPr>
                        <m:ctrlPr>
                          <a:rPr lang="en-US" i="1" dirty="0">
                            <a:latin typeface="Cambria Math" panose="02040503050406030204" pitchFamily="18" charset="0"/>
                          </a:rPr>
                        </m:ctrlPr>
                      </m:sSupPr>
                      <m:e>
                        <m:r>
                          <a:rPr lang="en-US" b="0" i="1" dirty="0" smtClean="0">
                            <a:latin typeface="Cambria Math" panose="02040503050406030204" pitchFamily="18" charset="0"/>
                          </a:rPr>
                          <m:t>𝜖</m:t>
                        </m:r>
                      </m:e>
                      <m:sup>
                        <m:r>
                          <a:rPr lang="en-US" i="1" dirty="0">
                            <a:latin typeface="Cambria Math" panose="02040503050406030204" pitchFamily="18" charset="0"/>
                          </a:rPr>
                          <m:t>𝑡𝑟𝑢𝑒</m:t>
                        </m:r>
                      </m:sup>
                    </m:sSup>
                  </m:oMath>
                </a14:m>
                <a:r>
                  <a:rPr lang="en-US" dirty="0"/>
                  <a:t>.</a:t>
                </a:r>
              </a:p>
              <a:p>
                <a:r>
                  <a:rPr lang="en-US" dirty="0"/>
                  <a:t>Once we reached a sufficiently small </a:t>
                </a:r>
                <a14:m>
                  <m:oMath xmlns:m="http://schemas.openxmlformats.org/officeDocument/2006/math">
                    <m:sSup>
                      <m:sSupPr>
                        <m:ctrlPr>
                          <a:rPr lang="en-US" i="1" dirty="0">
                            <a:latin typeface="Cambria Math" panose="02040503050406030204" pitchFamily="18" charset="0"/>
                          </a:rPr>
                        </m:ctrlPr>
                      </m:sSupPr>
                      <m:e>
                        <m:r>
                          <a:rPr lang="el-GR" i="1" dirty="0">
                            <a:latin typeface="Cambria Math" panose="02040503050406030204" pitchFamily="18" charset="0"/>
                          </a:rPr>
                          <m:t>𝜀</m:t>
                        </m:r>
                      </m:e>
                      <m:sup>
                        <m:r>
                          <a:rPr lang="en-US" i="1" dirty="0">
                            <a:latin typeface="Cambria Math" panose="02040503050406030204" pitchFamily="18" charset="0"/>
                          </a:rPr>
                          <m:t>(</m:t>
                        </m:r>
                        <m:r>
                          <a:rPr lang="en-US" i="1" dirty="0">
                            <a:latin typeface="Cambria Math" panose="02040503050406030204" pitchFamily="18" charset="0"/>
                          </a:rPr>
                          <m:t>𝑟</m:t>
                        </m:r>
                        <m:r>
                          <a:rPr lang="en-US" i="1" dirty="0">
                            <a:latin typeface="Cambria Math" panose="02040503050406030204" pitchFamily="18" charset="0"/>
                          </a:rPr>
                          <m:t>)</m:t>
                        </m:r>
                      </m:sup>
                    </m:sSup>
                  </m:oMath>
                </a14:m>
                <a:r>
                  <a:rPr lang="en-US" dirty="0"/>
                  <a:t>, increasing the number of iteration will no longer improve </a:t>
                </a:r>
                <a14:m>
                  <m:oMath xmlns:m="http://schemas.openxmlformats.org/officeDocument/2006/math">
                    <m:sSup>
                      <m:sSupPr>
                        <m:ctrlPr>
                          <a:rPr lang="en-US" i="1" dirty="0">
                            <a:latin typeface="Cambria Math" panose="02040503050406030204" pitchFamily="18" charset="0"/>
                          </a:rPr>
                        </m:ctrlPr>
                      </m:sSupPr>
                      <m:e>
                        <m:r>
                          <a:rPr lang="en-US" b="0" i="1" dirty="0" smtClean="0">
                            <a:latin typeface="Cambria Math" panose="02040503050406030204" pitchFamily="18" charset="0"/>
                          </a:rPr>
                          <m:t>𝜖</m:t>
                        </m:r>
                      </m:e>
                      <m:sup>
                        <m:r>
                          <a:rPr lang="en-US" i="1" dirty="0">
                            <a:latin typeface="Cambria Math" panose="02040503050406030204" pitchFamily="18" charset="0"/>
                          </a:rPr>
                          <m:t>𝑡𝑟𝑢𝑒</m:t>
                        </m:r>
                      </m:sup>
                    </m:sSup>
                  </m:oMath>
                </a14:m>
                <a:r>
                  <a:rPr lang="en-US" dirty="0"/>
                  <a:t>. </a:t>
                </a:r>
              </a:p>
              <a:p>
                <a:r>
                  <a:rPr lang="en-US" dirty="0"/>
                  <a:t>Further reduction of </a:t>
                </a:r>
                <a14:m>
                  <m:oMath xmlns:m="http://schemas.openxmlformats.org/officeDocument/2006/math">
                    <m:sSup>
                      <m:sSupPr>
                        <m:ctrlPr>
                          <a:rPr lang="en-US" i="1" dirty="0">
                            <a:latin typeface="Cambria Math" panose="02040503050406030204" pitchFamily="18" charset="0"/>
                          </a:rPr>
                        </m:ctrlPr>
                      </m:sSupPr>
                      <m:e>
                        <m:r>
                          <a:rPr lang="en-US" b="0" i="1" dirty="0" smtClean="0">
                            <a:latin typeface="Cambria Math" panose="02040503050406030204" pitchFamily="18" charset="0"/>
                          </a:rPr>
                          <m:t>𝜖</m:t>
                        </m:r>
                      </m:e>
                      <m:sup>
                        <m:r>
                          <a:rPr lang="en-US" i="1" dirty="0">
                            <a:latin typeface="Cambria Math" panose="02040503050406030204" pitchFamily="18" charset="0"/>
                          </a:rPr>
                          <m:t>𝑡𝑟𝑢𝑒</m:t>
                        </m:r>
                      </m:sup>
                    </m:sSup>
                  </m:oMath>
                </a14:m>
                <a:r>
                  <a:rPr lang="en-US" dirty="0"/>
                  <a:t> requires increasing the resolution of the grid. </a:t>
                </a:r>
              </a:p>
              <a:p>
                <a:endParaRPr lang="en-US" dirty="0"/>
              </a:p>
            </p:txBody>
          </p:sp>
        </mc:Choice>
        <mc:Fallback>
          <p:sp>
            <p:nvSpPr>
              <p:cNvPr id="3" name="Content Placeholder 2">
                <a:extLst>
                  <a:ext uri="{FF2B5EF4-FFF2-40B4-BE49-F238E27FC236}">
                    <a16:creationId xmlns:a16="http://schemas.microsoft.com/office/drawing/2014/main" id="{15C4FD65-F675-944D-A379-3A5FFFAEB784}"/>
                  </a:ext>
                </a:extLst>
              </p:cNvPr>
              <p:cNvSpPr>
                <a:spLocks noGrp="1" noRot="1" noChangeAspect="1" noMove="1" noResize="1" noEditPoints="1" noAdjustHandles="1" noChangeArrowheads="1" noChangeShapeType="1" noTextEdit="1"/>
              </p:cNvSpPr>
              <p:nvPr>
                <p:ph idx="1"/>
              </p:nvPr>
            </p:nvSpPr>
            <p:spPr>
              <a:xfrm>
                <a:off x="570155" y="1325562"/>
                <a:ext cx="10983557" cy="5532437"/>
              </a:xfrm>
              <a:blipFill>
                <a:blip r:embed="rId2"/>
                <a:stretch>
                  <a:fillRect l="-924" t="-1602" r="-924"/>
                </a:stretch>
              </a:blipFill>
            </p:spPr>
            <p:txBody>
              <a:bodyPr/>
              <a:lstStyle/>
              <a:p>
                <a:r>
                  <a:rPr lang="en-US">
                    <a:noFill/>
                  </a:rPr>
                  <a:t> </a:t>
                </a:r>
              </a:p>
            </p:txBody>
          </p:sp>
        </mc:Fallback>
      </mc:AlternateContent>
    </p:spTree>
    <p:extLst>
      <p:ext uri="{BB962C8B-B14F-4D97-AF65-F5344CB8AC3E}">
        <p14:creationId xmlns:p14="http://schemas.microsoft.com/office/powerpoint/2010/main" val="311851991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DCE2F9-F4C3-DA4C-B0FC-7FF6F22D148C}"/>
              </a:ext>
            </a:extLst>
          </p:cNvPr>
          <p:cNvSpPr>
            <a:spLocks noGrp="1"/>
          </p:cNvSpPr>
          <p:nvPr>
            <p:ph type="title"/>
          </p:nvPr>
        </p:nvSpPr>
        <p:spPr>
          <a:xfrm>
            <a:off x="838200" y="0"/>
            <a:ext cx="10515600" cy="1325563"/>
          </a:xfrm>
        </p:spPr>
        <p:txBody>
          <a:bodyPr/>
          <a:lstStyle/>
          <a:p>
            <a:r>
              <a:rPr lang="en-US" dirty="0"/>
              <a:t>Normalizations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5C4FD65-F675-944D-A379-3A5FFFAEB784}"/>
                  </a:ext>
                </a:extLst>
              </p:cNvPr>
              <p:cNvSpPr>
                <a:spLocks noGrp="1"/>
              </p:cNvSpPr>
              <p:nvPr>
                <p:ph idx="1"/>
              </p:nvPr>
            </p:nvSpPr>
            <p:spPr>
              <a:xfrm>
                <a:off x="838200" y="1325562"/>
                <a:ext cx="10515600" cy="5532437"/>
              </a:xfrm>
            </p:spPr>
            <p:txBody>
              <a:bodyPr>
                <a:normAutofit fontScale="92500"/>
              </a:bodyPr>
              <a:lstStyle/>
              <a:p>
                <a:r>
                  <a:rPr lang="en-US" dirty="0"/>
                  <a:t>Several types of normalizations are typically used:</a:t>
                </a:r>
              </a:p>
              <a:p>
                <a:pPr marL="514350" indent="-514350">
                  <a:buFont typeface="+mj-lt"/>
                  <a:buAutoNum type="arabicPeriod"/>
                </a:pPr>
                <a:r>
                  <a:rPr lang="en-US" dirty="0"/>
                  <a:t>The </a:t>
                </a:r>
                <a14:m>
                  <m:oMath xmlns:m="http://schemas.openxmlformats.org/officeDocument/2006/math">
                    <m:sSub>
                      <m:sSubPr>
                        <m:ctrlPr>
                          <a:rPr lang="en-US" b="0" i="1" dirty="0" smtClean="0">
                            <a:latin typeface="Cambria Math" panose="02040503050406030204" pitchFamily="18" charset="0"/>
                          </a:rPr>
                        </m:ctrlPr>
                      </m:sSubPr>
                      <m:e>
                        <m:r>
                          <a:rPr lang="en-US" i="1" dirty="0" smtClean="0">
                            <a:latin typeface="Cambria Math" panose="02040503050406030204" pitchFamily="18" charset="0"/>
                          </a:rPr>
                          <m:t>𝐿</m:t>
                        </m:r>
                      </m:e>
                      <m:sub>
                        <m:r>
                          <a:rPr lang="en-US" i="1" dirty="0" smtClean="0">
                            <a:latin typeface="Cambria Math" panose="02040503050406030204" pitchFamily="18" charset="0"/>
                          </a:rPr>
                          <m:t>∞</m:t>
                        </m:r>
                      </m:sub>
                    </m:sSub>
                  </m:oMath>
                </a14:m>
                <a:r>
                  <a:rPr lang="en-US" dirty="0"/>
                  <a:t> norm is just the maximum error on the grid:</a:t>
                </a:r>
              </a:p>
              <a:p>
                <a:pPr marL="0" indent="0">
                  <a:lnSpc>
                    <a:spcPct val="100000"/>
                  </a:lnSpc>
                  <a:buNone/>
                </a:pPr>
                <a14:m>
                  <m:oMathPara xmlns:m="http://schemas.openxmlformats.org/officeDocument/2006/math">
                    <m:oMathParaPr>
                      <m:jc m:val="centerGroup"/>
                    </m:oMathParaPr>
                    <m:oMath xmlns:m="http://schemas.openxmlformats.org/officeDocument/2006/math">
                      <m:r>
                        <m:rPr>
                          <m:nor/>
                        </m:rPr>
                        <a:rPr lang="en-US"/>
                        <m:t> </m:t>
                      </m:r>
                      <m:sSub>
                        <m:sSubPr>
                          <m:ctrlPr>
                            <a:rPr lang="en-US" b="0" i="1" smtClean="0">
                              <a:latin typeface="Cambria Math" panose="02040503050406030204" pitchFamily="18" charset="0"/>
                            </a:rPr>
                          </m:ctrlPr>
                        </m:sSubPr>
                        <m:e>
                          <m:d>
                            <m:dPr>
                              <m:begChr m:val="‖"/>
                              <m:endChr m:val="‖"/>
                              <m:ctrlPr>
                                <a:rPr lang="en-US" i="1" smtClean="0">
                                  <a:latin typeface="Cambria Math" panose="02040503050406030204" pitchFamily="18" charset="0"/>
                                </a:rPr>
                              </m:ctrlPr>
                            </m:dPr>
                            <m:e>
                              <m:r>
                                <a:rPr lang="en-US" b="0" i="1" smtClean="0">
                                  <a:latin typeface="Cambria Math" panose="02040503050406030204" pitchFamily="18" charset="0"/>
                                </a:rPr>
                                <m:t>𝑒</m:t>
                              </m:r>
                            </m:e>
                          </m:d>
                        </m:e>
                        <m:sub>
                          <m:r>
                            <a:rPr lang="en-US" b="0" i="1" smtClean="0">
                              <a:latin typeface="Cambria Math" panose="02040503050406030204" pitchFamily="18" charset="0"/>
                            </a:rPr>
                            <m:t>∞</m:t>
                          </m:r>
                        </m:sub>
                      </m:sSub>
                      <m:r>
                        <m:rPr>
                          <m:nor/>
                        </m:rPr>
                        <a:rPr lang="en-US"/>
                        <m:t>= </m:t>
                      </m:r>
                      <m:func>
                        <m:funcPr>
                          <m:ctrlPr>
                            <a:rPr lang="en-US" i="1" smtClean="0">
                              <a:latin typeface="Cambria Math" panose="02040503050406030204" pitchFamily="18" charset="0"/>
                            </a:rPr>
                          </m:ctrlPr>
                        </m:funcPr>
                        <m:fName>
                          <m:limLow>
                            <m:limLowPr>
                              <m:ctrlPr>
                                <a:rPr lang="en-US" i="1" smtClean="0">
                                  <a:latin typeface="Cambria Math" panose="02040503050406030204" pitchFamily="18" charset="0"/>
                                </a:rPr>
                              </m:ctrlPr>
                            </m:limLowPr>
                            <m:e>
                              <m:r>
                                <m:rPr>
                                  <m:sty m:val="p"/>
                                </m:rPr>
                                <a:rPr lang="en-US" i="0" smtClean="0">
                                  <a:latin typeface="Cambria Math" panose="02040503050406030204" pitchFamily="18" charset="0"/>
                                </a:rPr>
                                <m:t>max</m:t>
                              </m:r>
                            </m:e>
                            <m:lim>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𝑗</m:t>
                              </m:r>
                            </m:lim>
                          </m:limLow>
                        </m:fName>
                        <m:e>
                          <m:d>
                            <m:dPr>
                              <m:begChr m:val="{"/>
                              <m:endChr m:val="}"/>
                              <m:ctrlPr>
                                <a:rPr lang="en-US" i="1" smtClean="0">
                                  <a:latin typeface="Cambria Math" panose="02040503050406030204" pitchFamily="18" charset="0"/>
                                </a:rPr>
                              </m:ctrlPr>
                            </m:dPr>
                            <m:e>
                              <m:d>
                                <m:dPr>
                                  <m:begChr m:val="|"/>
                                  <m:endChr m:val="|"/>
                                  <m:ctrlPr>
                                    <a:rPr lang="en-US"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𝑒</m:t>
                                      </m:r>
                                    </m:e>
                                    <m:sub>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𝑗</m:t>
                                      </m:r>
                                    </m:sub>
                                  </m:sSub>
                                </m:e>
                              </m:d>
                            </m:e>
                          </m:d>
                        </m:e>
                      </m:func>
                    </m:oMath>
                  </m:oMathPara>
                </a14:m>
                <a:endParaRPr lang="en-US" dirty="0"/>
              </a:p>
              <a:p>
                <a:pPr marL="0" indent="0">
                  <a:buNone/>
                </a:pPr>
                <a:r>
                  <a:rPr lang="en-US" dirty="0"/>
                  <a:t>       it picks up on local errors. </a:t>
                </a:r>
              </a:p>
              <a:p>
                <a:pPr marL="514350" indent="-514350">
                  <a:buFont typeface="+mj-lt"/>
                  <a:buAutoNum type="arabicPeriod" startAt="2"/>
                </a:pPr>
                <a:r>
                  <a:rPr lang="en-US" dirty="0"/>
                  <a:t>The </a:t>
                </a:r>
                <a14:m>
                  <m:oMath xmlns:m="http://schemas.openxmlformats.org/officeDocument/2006/math">
                    <m:sSub>
                      <m:sSubPr>
                        <m:ctrlPr>
                          <a:rPr lang="en-US" b="0" i="1" dirty="0" smtClean="0">
                            <a:latin typeface="Cambria Math" panose="02040503050406030204" pitchFamily="18" charset="0"/>
                          </a:rPr>
                        </m:ctrlPr>
                      </m:sSubPr>
                      <m:e>
                        <m:r>
                          <a:rPr lang="en-US" i="1" dirty="0" smtClean="0">
                            <a:latin typeface="Cambria Math" panose="02040503050406030204" pitchFamily="18" charset="0"/>
                          </a:rPr>
                          <m:t>𝐿</m:t>
                        </m:r>
                      </m:e>
                      <m:sub>
                        <m:r>
                          <a:rPr lang="en-US" i="1" dirty="0" smtClean="0">
                            <a:latin typeface="Cambria Math" panose="02040503050406030204" pitchFamily="18" charset="0"/>
                          </a:rPr>
                          <m:t>1</m:t>
                        </m:r>
                      </m:sub>
                    </m:sSub>
                    <m:r>
                      <a:rPr lang="en-US" b="0" i="0" dirty="0" smtClean="0">
                        <a:latin typeface="Cambria Math" panose="02040503050406030204" pitchFamily="18" charset="0"/>
                      </a:rPr>
                      <m:t> </m:t>
                    </m:r>
                  </m:oMath>
                </a14:m>
                <a:r>
                  <a:rPr lang="en-US" dirty="0"/>
                  <a:t>and </a:t>
                </a:r>
                <a14:m>
                  <m:oMath xmlns:m="http://schemas.openxmlformats.org/officeDocument/2006/math">
                    <m:sSub>
                      <m:sSubPr>
                        <m:ctrlPr>
                          <a:rPr lang="en-US" b="0" i="1" dirty="0" smtClean="0">
                            <a:latin typeface="Cambria Math" panose="02040503050406030204" pitchFamily="18" charset="0"/>
                          </a:rPr>
                        </m:ctrlPr>
                      </m:sSubPr>
                      <m:e>
                        <m:r>
                          <a:rPr lang="en-US" i="1" dirty="0" smtClean="0">
                            <a:latin typeface="Cambria Math" panose="02040503050406030204" pitchFamily="18" charset="0"/>
                          </a:rPr>
                          <m:t>𝐿</m:t>
                        </m:r>
                      </m:e>
                      <m:sub>
                        <m:r>
                          <a:rPr lang="en-US" i="1" dirty="0" smtClean="0">
                            <a:latin typeface="Cambria Math" panose="02040503050406030204" pitchFamily="18" charset="0"/>
                          </a:rPr>
                          <m:t>2</m:t>
                        </m:r>
                      </m:sub>
                    </m:sSub>
                  </m:oMath>
                </a14:m>
                <a:r>
                  <a:rPr lang="en-US" dirty="0"/>
                  <a:t> norms are more global:</a:t>
                </a:r>
              </a:p>
              <a:p>
                <a:pPr marL="0" indent="0">
                  <a:lnSpc>
                    <a:spcPct val="100000"/>
                  </a:lnSpc>
                  <a:buNone/>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d>
                            <m:dPr>
                              <m:begChr m:val="‖"/>
                              <m:endChr m:val="‖"/>
                              <m:ctrlPr>
                                <a:rPr lang="en-US" i="1">
                                  <a:latin typeface="Cambria Math" panose="02040503050406030204" pitchFamily="18" charset="0"/>
                                </a:rPr>
                              </m:ctrlPr>
                            </m:dPr>
                            <m:e>
                              <m:r>
                                <a:rPr lang="en-US" i="1">
                                  <a:latin typeface="Cambria Math" panose="02040503050406030204" pitchFamily="18" charset="0"/>
                                </a:rPr>
                                <m:t>𝑒</m:t>
                              </m:r>
                            </m:e>
                          </m:d>
                        </m:e>
                        <m:sub>
                          <m:r>
                            <a:rPr lang="en-US" b="0" i="1" smtClean="0">
                              <a:latin typeface="Cambria Math" panose="02040503050406030204" pitchFamily="18" charset="0"/>
                            </a:rPr>
                            <m:t>1</m:t>
                          </m:r>
                        </m:sub>
                      </m:sSub>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𝑁</m:t>
                          </m:r>
                        </m:den>
                      </m:f>
                      <m:nary>
                        <m:naryPr>
                          <m:chr m:val="∑"/>
                          <m:supHide m:val="on"/>
                          <m:ctrlPr>
                            <a:rPr lang="en-US" b="0" i="1" smtClean="0">
                              <a:latin typeface="Cambria Math" panose="02040503050406030204" pitchFamily="18" charset="0"/>
                            </a:rPr>
                          </m:ctrlPr>
                        </m:naryPr>
                        <m:sub>
                          <m:r>
                            <m:rPr>
                              <m:brk m:alnAt="7"/>
                            </m:rP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𝑗</m:t>
                          </m:r>
                        </m:sub>
                        <m:sup/>
                        <m:e>
                          <m:d>
                            <m:dPr>
                              <m:begChr m:val="|"/>
                              <m:endChr m:val="|"/>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𝑒</m:t>
                                  </m:r>
                                </m:e>
                                <m:sub>
                                  <m:r>
                                    <a:rPr lang="en-US" i="1">
                                      <a:latin typeface="Cambria Math" panose="02040503050406030204" pitchFamily="18" charset="0"/>
                                    </a:rPr>
                                    <m:t>𝑖</m:t>
                                  </m:r>
                                  <m:r>
                                    <a:rPr lang="en-US" i="1">
                                      <a:latin typeface="Cambria Math" panose="02040503050406030204" pitchFamily="18" charset="0"/>
                                    </a:rPr>
                                    <m:t>,</m:t>
                                  </m:r>
                                  <m:r>
                                    <a:rPr lang="en-US" i="1">
                                      <a:latin typeface="Cambria Math" panose="02040503050406030204" pitchFamily="18" charset="0"/>
                                    </a:rPr>
                                    <m:t>𝑗</m:t>
                                  </m:r>
                                </m:sub>
                              </m:sSub>
                            </m:e>
                          </m:d>
                        </m:e>
                      </m:nary>
                    </m:oMath>
                  </m:oMathPara>
                </a14:m>
                <a:endParaRPr lang="en-US" dirty="0"/>
              </a:p>
              <a:p>
                <a:pPr marL="0" indent="0">
                  <a:lnSpc>
                    <a:spcPct val="100000"/>
                  </a:lnSpc>
                  <a:buNone/>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d>
                            <m:dPr>
                              <m:begChr m:val="‖"/>
                              <m:endChr m:val="‖"/>
                              <m:ctrlPr>
                                <a:rPr lang="en-US" i="1">
                                  <a:latin typeface="Cambria Math" panose="02040503050406030204" pitchFamily="18" charset="0"/>
                                </a:rPr>
                              </m:ctrlPr>
                            </m:dPr>
                            <m:e>
                              <m:r>
                                <a:rPr lang="en-US" i="1">
                                  <a:latin typeface="Cambria Math" panose="02040503050406030204" pitchFamily="18" charset="0"/>
                                </a:rPr>
                                <m:t>𝑒</m:t>
                              </m:r>
                            </m:e>
                          </m:d>
                        </m:e>
                        <m:sub>
                          <m:r>
                            <a:rPr lang="en-US" b="0" i="1" smtClean="0">
                              <a:latin typeface="Cambria Math" panose="02040503050406030204" pitchFamily="18" charset="0"/>
                            </a:rPr>
                            <m:t>2</m:t>
                          </m:r>
                        </m:sub>
                      </m:sSub>
                      <m:r>
                        <a:rPr lang="en-US" i="1">
                          <a:latin typeface="Cambria Math" panose="02040503050406030204" pitchFamily="18" charset="0"/>
                        </a:rPr>
                        <m:t>=</m:t>
                      </m:r>
                      <m:sSup>
                        <m:sSupPr>
                          <m:ctrlPr>
                            <a:rPr lang="en-US" b="0" i="1" smtClean="0">
                              <a:latin typeface="Cambria Math" panose="02040503050406030204" pitchFamily="18" charset="0"/>
                            </a:rPr>
                          </m:ctrlPr>
                        </m:sSupPr>
                        <m:e>
                          <m:d>
                            <m:dPr>
                              <m:ctrlPr>
                                <a:rPr lang="en-US" i="1" smtClean="0">
                                  <a:latin typeface="Cambria Math" panose="02040503050406030204" pitchFamily="18" charset="0"/>
                                </a:rPr>
                              </m:ctrlPr>
                            </m:dPr>
                            <m:e>
                              <m:f>
                                <m:fPr>
                                  <m:ctrlPr>
                                    <a:rPr lang="en-US" i="1">
                                      <a:latin typeface="Cambria Math" panose="02040503050406030204" pitchFamily="18" charset="0"/>
                                    </a:rPr>
                                  </m:ctrlPr>
                                </m:fPr>
                                <m:num>
                                  <m:r>
                                    <a:rPr lang="en-US" i="1">
                                      <a:latin typeface="Cambria Math" panose="02040503050406030204" pitchFamily="18" charset="0"/>
                                    </a:rPr>
                                    <m:t>1</m:t>
                                  </m:r>
                                </m:num>
                                <m:den>
                                  <m:r>
                                    <a:rPr lang="en-US" i="1">
                                      <a:latin typeface="Cambria Math" panose="02040503050406030204" pitchFamily="18" charset="0"/>
                                    </a:rPr>
                                    <m:t>𝑁</m:t>
                                  </m:r>
                                </m:den>
                              </m:f>
                              <m:sSup>
                                <m:sSupPr>
                                  <m:ctrlPr>
                                    <a:rPr lang="en-US" b="0" i="1" smtClean="0">
                                      <a:latin typeface="Cambria Math" panose="02040503050406030204" pitchFamily="18" charset="0"/>
                                    </a:rPr>
                                  </m:ctrlPr>
                                </m:sSupPr>
                                <m:e>
                                  <m:nary>
                                    <m:naryPr>
                                      <m:chr m:val="∑"/>
                                      <m:supHide m:val="on"/>
                                      <m:ctrlPr>
                                        <a:rPr lang="en-US" i="1">
                                          <a:latin typeface="Cambria Math" panose="02040503050406030204" pitchFamily="18" charset="0"/>
                                        </a:rPr>
                                      </m:ctrlPr>
                                    </m:naryPr>
                                    <m:sub>
                                      <m:r>
                                        <m:rPr>
                                          <m:brk m:alnAt="7"/>
                                        </m:rPr>
                                        <a:rPr lang="en-US" i="1">
                                          <a:latin typeface="Cambria Math" panose="02040503050406030204" pitchFamily="18" charset="0"/>
                                        </a:rPr>
                                        <m:t>𝑖</m:t>
                                      </m:r>
                                      <m:r>
                                        <a:rPr lang="en-US" i="1">
                                          <a:latin typeface="Cambria Math" panose="02040503050406030204" pitchFamily="18" charset="0"/>
                                        </a:rPr>
                                        <m:t>,</m:t>
                                      </m:r>
                                      <m:r>
                                        <a:rPr lang="en-US" i="1">
                                          <a:latin typeface="Cambria Math" panose="02040503050406030204" pitchFamily="18" charset="0"/>
                                        </a:rPr>
                                        <m:t>𝑗</m:t>
                                      </m:r>
                                    </m:sub>
                                    <m:sup/>
                                    <m:e>
                                      <m:d>
                                        <m:dPr>
                                          <m:begChr m:val="|"/>
                                          <m:endChr m:val="|"/>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𝑒</m:t>
                                              </m:r>
                                            </m:e>
                                            <m:sub>
                                              <m:r>
                                                <a:rPr lang="en-US" i="1">
                                                  <a:latin typeface="Cambria Math" panose="02040503050406030204" pitchFamily="18" charset="0"/>
                                                </a:rPr>
                                                <m:t>𝑖</m:t>
                                              </m:r>
                                              <m:r>
                                                <a:rPr lang="en-US" i="1">
                                                  <a:latin typeface="Cambria Math" panose="02040503050406030204" pitchFamily="18" charset="0"/>
                                                </a:rPr>
                                                <m:t>,</m:t>
                                              </m:r>
                                              <m:r>
                                                <a:rPr lang="en-US" i="1">
                                                  <a:latin typeface="Cambria Math" panose="02040503050406030204" pitchFamily="18" charset="0"/>
                                                </a:rPr>
                                                <m:t>𝑗</m:t>
                                              </m:r>
                                            </m:sub>
                                          </m:sSub>
                                        </m:e>
                                      </m:d>
                                    </m:e>
                                  </m:nary>
                                </m:e>
                                <m:sup>
                                  <m:r>
                                    <a:rPr lang="en-US" b="0" i="1" smtClean="0">
                                      <a:latin typeface="Cambria Math" panose="02040503050406030204" pitchFamily="18" charset="0"/>
                                    </a:rPr>
                                    <m:t>2</m:t>
                                  </m:r>
                                </m:sup>
                              </m:sSup>
                            </m:e>
                          </m:d>
                        </m:e>
                        <m:sup>
                          <m:r>
                            <a:rPr lang="en-US" b="0" i="1" smtClean="0">
                              <a:latin typeface="Cambria Math" panose="02040503050406030204" pitchFamily="18" charset="0"/>
                            </a:rPr>
                            <m:t>1/2</m:t>
                          </m:r>
                        </m:sup>
                      </m:sSup>
                    </m:oMath>
                  </m:oMathPara>
                </a14:m>
                <a:endParaRPr lang="en-US" dirty="0"/>
              </a:p>
              <a:p>
                <a:pPr>
                  <a:lnSpc>
                    <a:spcPct val="100000"/>
                  </a:lnSpc>
                </a:pPr>
                <a:r>
                  <a:rPr lang="en-US" dirty="0"/>
                  <a:t>Generally </a:t>
                </a:r>
                <a14:m>
                  <m:oMath xmlns:m="http://schemas.openxmlformats.org/officeDocument/2006/math">
                    <m:sSub>
                      <m:sSubPr>
                        <m:ctrlPr>
                          <a:rPr lang="en-US" b="0" i="1" dirty="0" smtClean="0">
                            <a:latin typeface="Cambria Math" panose="02040503050406030204" pitchFamily="18" charset="0"/>
                          </a:rPr>
                        </m:ctrlPr>
                      </m:sSubPr>
                      <m:e>
                        <m:r>
                          <a:rPr lang="en-US" i="1" dirty="0" smtClean="0">
                            <a:latin typeface="Cambria Math" panose="02040503050406030204" pitchFamily="18" charset="0"/>
                          </a:rPr>
                          <m:t>𝐿</m:t>
                        </m:r>
                      </m:e>
                      <m:sub>
                        <m:r>
                          <a:rPr lang="en-US" i="1" dirty="0" smtClean="0">
                            <a:latin typeface="Cambria Math" panose="02040503050406030204" pitchFamily="18" charset="0"/>
                          </a:rPr>
                          <m:t>2</m:t>
                        </m:r>
                      </m:sub>
                    </m:sSub>
                  </m:oMath>
                </a14:m>
                <a:r>
                  <a:rPr lang="en-US" dirty="0"/>
                  <a:t> falls between </a:t>
                </a:r>
                <a14:m>
                  <m:oMath xmlns:m="http://schemas.openxmlformats.org/officeDocument/2006/math">
                    <m:sSub>
                      <m:sSubPr>
                        <m:ctrlPr>
                          <a:rPr lang="en-US" i="1" dirty="0">
                            <a:latin typeface="Cambria Math" panose="02040503050406030204" pitchFamily="18" charset="0"/>
                          </a:rPr>
                        </m:ctrlPr>
                      </m:sSubPr>
                      <m:e>
                        <m:r>
                          <a:rPr lang="en-US" i="1" dirty="0">
                            <a:latin typeface="Cambria Math" panose="02040503050406030204" pitchFamily="18" charset="0"/>
                          </a:rPr>
                          <m:t>𝐿</m:t>
                        </m:r>
                      </m:e>
                      <m:sub>
                        <m:r>
                          <a:rPr lang="en-US" i="1" dirty="0">
                            <a:latin typeface="Cambria Math" panose="02040503050406030204" pitchFamily="18" charset="0"/>
                          </a:rPr>
                          <m:t>∞</m:t>
                        </m:r>
                      </m:sub>
                    </m:sSub>
                  </m:oMath>
                </a14:m>
                <a:r>
                  <a:rPr lang="en-US" dirty="0"/>
                  <a:t> and </a:t>
                </a:r>
                <a14:m>
                  <m:oMath xmlns:m="http://schemas.openxmlformats.org/officeDocument/2006/math">
                    <m:sSub>
                      <m:sSubPr>
                        <m:ctrlPr>
                          <a:rPr lang="en-US" i="1" dirty="0">
                            <a:latin typeface="Cambria Math" panose="02040503050406030204" pitchFamily="18" charset="0"/>
                          </a:rPr>
                        </m:ctrlPr>
                      </m:sSubPr>
                      <m:e>
                        <m:r>
                          <a:rPr lang="en-US" i="1" dirty="0">
                            <a:latin typeface="Cambria Math" panose="02040503050406030204" pitchFamily="18" charset="0"/>
                          </a:rPr>
                          <m:t>𝐿</m:t>
                        </m:r>
                      </m:e>
                      <m:sub>
                        <m:r>
                          <a:rPr lang="en-US" i="1" dirty="0">
                            <a:latin typeface="Cambria Math" panose="02040503050406030204" pitchFamily="18" charset="0"/>
                          </a:rPr>
                          <m:t>1</m:t>
                        </m:r>
                      </m:sub>
                    </m:sSub>
                  </m:oMath>
                </a14:m>
                <a:r>
                  <a:rPr lang="en-US" dirty="0"/>
                  <a:t> </a:t>
                </a:r>
              </a:p>
              <a:p>
                <a:pPr>
                  <a:lnSpc>
                    <a:spcPct val="100000"/>
                  </a:lnSpc>
                </a:pPr>
                <a:endParaRPr lang="en-US" dirty="0"/>
              </a:p>
              <a:p>
                <a:pPr marL="514350" indent="-514350">
                  <a:buFont typeface="+mj-lt"/>
                  <a:buAutoNum type="arabicPeriod"/>
                </a:pPr>
                <a:endParaRPr lang="en-US" dirty="0"/>
              </a:p>
              <a:p>
                <a:pPr marL="514350" indent="-514350">
                  <a:buFont typeface="+mj-lt"/>
                  <a:buAutoNum type="arabicPeriod"/>
                </a:pPr>
                <a:endParaRPr lang="en-US" dirty="0"/>
              </a:p>
              <a:p>
                <a:endParaRPr lang="en-US" dirty="0"/>
              </a:p>
            </p:txBody>
          </p:sp>
        </mc:Choice>
        <mc:Fallback xmlns="">
          <p:sp>
            <p:nvSpPr>
              <p:cNvPr id="3" name="Content Placeholder 2">
                <a:extLst>
                  <a:ext uri="{FF2B5EF4-FFF2-40B4-BE49-F238E27FC236}">
                    <a16:creationId xmlns:a16="http://schemas.microsoft.com/office/drawing/2014/main" id="{15C4FD65-F675-944D-A379-3A5FFFAEB784}"/>
                  </a:ext>
                </a:extLst>
              </p:cNvPr>
              <p:cNvSpPr>
                <a:spLocks noGrp="1" noRot="1" noChangeAspect="1" noMove="1" noResize="1" noEditPoints="1" noAdjustHandles="1" noChangeArrowheads="1" noChangeShapeType="1" noTextEdit="1"/>
              </p:cNvSpPr>
              <p:nvPr>
                <p:ph idx="1"/>
              </p:nvPr>
            </p:nvSpPr>
            <p:spPr>
              <a:xfrm>
                <a:off x="838200" y="1325562"/>
                <a:ext cx="10515600" cy="5532437"/>
              </a:xfrm>
              <a:blipFill>
                <a:blip r:embed="rId2"/>
                <a:stretch>
                  <a:fillRect l="-965" t="-1602" b="-21968"/>
                </a:stretch>
              </a:blipFill>
            </p:spPr>
            <p:txBody>
              <a:bodyPr/>
              <a:lstStyle/>
              <a:p>
                <a:r>
                  <a:rPr lang="en-US">
                    <a:noFill/>
                  </a:rPr>
                  <a:t> </a:t>
                </a:r>
              </a:p>
            </p:txBody>
          </p:sp>
        </mc:Fallback>
      </mc:AlternateContent>
    </p:spTree>
    <p:extLst>
      <p:ext uri="{BB962C8B-B14F-4D97-AF65-F5344CB8AC3E}">
        <p14:creationId xmlns:p14="http://schemas.microsoft.com/office/powerpoint/2010/main" val="268794657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DCE2F9-F4C3-DA4C-B0FC-7FF6F22D148C}"/>
              </a:ext>
            </a:extLst>
          </p:cNvPr>
          <p:cNvSpPr>
            <a:spLocks noGrp="1"/>
          </p:cNvSpPr>
          <p:nvPr>
            <p:ph type="title"/>
          </p:nvPr>
        </p:nvSpPr>
        <p:spPr>
          <a:xfrm>
            <a:off x="838200" y="0"/>
            <a:ext cx="10515600" cy="1325563"/>
          </a:xfrm>
        </p:spPr>
        <p:txBody>
          <a:bodyPr/>
          <a:lstStyle/>
          <a:p>
            <a:r>
              <a:rPr lang="en-US" dirty="0"/>
              <a:t>Performance</a:t>
            </a:r>
            <a:r>
              <a:rPr lang="en-US" b="1" dirty="0"/>
              <a:t> </a:t>
            </a:r>
            <a:r>
              <a:rPr lang="en-US" dirty="0"/>
              <a:t> </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5C4FD65-F675-944D-A379-3A5FFFAEB784}"/>
                  </a:ext>
                </a:extLst>
              </p:cNvPr>
              <p:cNvSpPr>
                <a:spLocks noGrp="1"/>
              </p:cNvSpPr>
              <p:nvPr>
                <p:ph idx="1"/>
              </p:nvPr>
            </p:nvSpPr>
            <p:spPr>
              <a:xfrm>
                <a:off x="838200" y="1325562"/>
                <a:ext cx="10515600" cy="5532437"/>
              </a:xfrm>
            </p:spPr>
            <p:txBody>
              <a:bodyPr/>
              <a:lstStyle/>
              <a:p>
                <a:r>
                  <a:rPr lang="en-US" dirty="0"/>
                  <a:t>Consider a simple Poisson problem on </a:t>
                </a:r>
                <a14:m>
                  <m:oMath xmlns:m="http://schemas.openxmlformats.org/officeDocument/2006/math">
                    <m:r>
                      <a:rPr lang="en-US" b="0" i="1" smtClean="0">
                        <a:latin typeface="Cambria Math" panose="02040503050406030204" pitchFamily="18" charset="0"/>
                      </a:rPr>
                      <m:t>𝑥</m:t>
                    </m:r>
                    <m:r>
                      <a:rPr lang="en-US" b="0" i="1" smtClean="0">
                        <a:latin typeface="Cambria Math" panose="02040503050406030204" pitchFamily="18" charset="0"/>
                        <a:ea typeface="Cambria Math" panose="02040503050406030204" pitchFamily="18" charset="0"/>
                      </a:rPr>
                      <m:t>∈</m:t>
                    </m:r>
                    <m:d>
                      <m:dPr>
                        <m:begChr m:val="["/>
                        <m:endChr m:val="]"/>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0,1</m:t>
                        </m:r>
                      </m:e>
                    </m:d>
                    <m:r>
                      <a:rPr lang="en-US" b="0" i="1" smtClean="0">
                        <a:latin typeface="Cambria Math" panose="02040503050406030204" pitchFamily="18" charset="0"/>
                        <a:ea typeface="Cambria Math" panose="02040503050406030204" pitchFamily="18" charset="0"/>
                      </a:rPr>
                      <m:t>:</m:t>
                    </m:r>
                  </m:oMath>
                </a14:m>
                <a:endParaRPr lang="en-US" dirty="0"/>
              </a:p>
              <a:p>
                <a:pPr marL="0" indent="0">
                  <a:lnSpc>
                    <a:spcPct val="150000"/>
                  </a:lnSpc>
                  <a:buNone/>
                </a:pPr>
                <a14:m>
                  <m:oMathPara xmlns:m="http://schemas.openxmlformats.org/officeDocument/2006/math">
                    <m:oMathParaPr>
                      <m:jc m:val="centerGroup"/>
                    </m:oMathParaPr>
                    <m:oMath xmlns:m="http://schemas.openxmlformats.org/officeDocument/2006/math">
                      <m:sSup>
                        <m:sSupPr>
                          <m:ctrlPr>
                            <a:rPr lang="en-US" b="0" i="1" smtClean="0">
                              <a:latin typeface="Cambria Math" panose="02040503050406030204" pitchFamily="18" charset="0"/>
                            </a:rPr>
                          </m:ctrlPr>
                        </m:sSupPr>
                        <m:e>
                          <m:r>
                            <m:rPr>
                              <m:sty m:val="p"/>
                            </m:rPr>
                            <a:rPr lang="en-US" b="0" i="0" smtClean="0">
                              <a:latin typeface="Cambria Math" panose="02040503050406030204" pitchFamily="18" charset="0"/>
                            </a:rPr>
                            <m:t>∇</m:t>
                          </m:r>
                        </m:e>
                        <m:sup>
                          <m:r>
                            <a:rPr lang="en-US" b="0" i="1" smtClean="0">
                              <a:latin typeface="Cambria Math" panose="02040503050406030204" pitchFamily="18" charset="0"/>
                            </a:rPr>
                            <m:t>2</m:t>
                          </m:r>
                        </m:sup>
                      </m:sSup>
                      <m:r>
                        <a:rPr lang="en-US" b="0" i="1" smtClean="0">
                          <a:latin typeface="Cambria Math" panose="02040503050406030204" pitchFamily="18" charset="0"/>
                        </a:rPr>
                        <m:t>𝜙</m:t>
                      </m:r>
                      <m:r>
                        <a:rPr lang="en-US" b="0" i="1" smtClean="0">
                          <a:latin typeface="Cambria Math" panose="02040503050406030204" pitchFamily="18" charset="0"/>
                        </a:rPr>
                        <m:t>=</m:t>
                      </m:r>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sin</m:t>
                          </m:r>
                        </m:fName>
                        <m:e>
                          <m:r>
                            <a:rPr lang="en-US" b="0" i="1" smtClean="0">
                              <a:latin typeface="Cambria Math" panose="02040503050406030204" pitchFamily="18" charset="0"/>
                            </a:rPr>
                            <m:t>𝑥</m:t>
                          </m:r>
                        </m:e>
                      </m:func>
                      <m:r>
                        <a:rPr lang="en-US" b="0" i="1" smtClean="0">
                          <a:latin typeface="Cambria Math" panose="02040503050406030204" pitchFamily="18" charset="0"/>
                        </a:rPr>
                        <m:t>        </m:t>
                      </m:r>
                      <m:r>
                        <a:rPr lang="en-US" b="0" i="1" smtClean="0">
                          <a:latin typeface="Cambria Math" panose="02040503050406030204" pitchFamily="18" charset="0"/>
                        </a:rPr>
                        <m:t>𝜙</m:t>
                      </m:r>
                      <m:d>
                        <m:dPr>
                          <m:ctrlPr>
                            <a:rPr lang="en-US" b="0" i="1" smtClean="0">
                              <a:latin typeface="Cambria Math" panose="02040503050406030204" pitchFamily="18" charset="0"/>
                            </a:rPr>
                          </m:ctrlPr>
                        </m:dPr>
                        <m:e>
                          <m:r>
                            <a:rPr lang="en-US" b="0" i="1" smtClean="0">
                              <a:latin typeface="Cambria Math" panose="02040503050406030204" pitchFamily="18" charset="0"/>
                            </a:rPr>
                            <m:t>0</m:t>
                          </m:r>
                        </m:e>
                      </m:d>
                      <m:r>
                        <a:rPr lang="en-US" b="0" i="1" smtClean="0">
                          <a:latin typeface="Cambria Math" panose="02040503050406030204" pitchFamily="18" charset="0"/>
                        </a:rPr>
                        <m:t>=</m:t>
                      </m:r>
                      <m:r>
                        <a:rPr lang="en-US" b="0" i="1" smtClean="0">
                          <a:latin typeface="Cambria Math" panose="02040503050406030204" pitchFamily="18" charset="0"/>
                        </a:rPr>
                        <m:t>𝜙</m:t>
                      </m:r>
                      <m:d>
                        <m:dPr>
                          <m:ctrlPr>
                            <a:rPr lang="en-US" b="0" i="1" smtClean="0">
                              <a:latin typeface="Cambria Math" panose="02040503050406030204" pitchFamily="18" charset="0"/>
                            </a:rPr>
                          </m:ctrlPr>
                        </m:dPr>
                        <m:e>
                          <m:r>
                            <a:rPr lang="en-US" b="0" i="1" smtClean="0">
                              <a:latin typeface="Cambria Math" panose="02040503050406030204" pitchFamily="18" charset="0"/>
                            </a:rPr>
                            <m:t>1</m:t>
                          </m:r>
                        </m:e>
                      </m:d>
                      <m:r>
                        <a:rPr lang="en-US" b="0" i="1" smtClean="0">
                          <a:latin typeface="Cambria Math" panose="02040503050406030204" pitchFamily="18" charset="0"/>
                        </a:rPr>
                        <m:t>=0</m:t>
                      </m:r>
                    </m:oMath>
                  </m:oMathPara>
                </a14:m>
                <a:br>
                  <a:rPr lang="en-US" dirty="0"/>
                </a:br>
                <a:endParaRPr lang="en-US" dirty="0"/>
              </a:p>
              <a:p>
                <a:r>
                  <a:rPr lang="en-US" dirty="0"/>
                  <a:t>The analytic solution is</a:t>
                </a:r>
              </a:p>
              <a:p>
                <a:pPr marL="0" indent="0">
                  <a:buNone/>
                </a:pPr>
                <a14:m>
                  <m:oMathPara xmlns:m="http://schemas.openxmlformats.org/officeDocument/2006/math">
                    <m:oMathParaPr>
                      <m:jc m:val="centerGroup"/>
                    </m:oMathParaPr>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𝜙</m:t>
                          </m:r>
                        </m:e>
                        <m:sup>
                          <m:r>
                            <a:rPr lang="en-US" b="0" i="1" smtClean="0">
                              <a:latin typeface="Cambria Math" panose="02040503050406030204" pitchFamily="18" charset="0"/>
                            </a:rPr>
                            <m:t>𝑎</m:t>
                          </m:r>
                        </m:sup>
                      </m:sSup>
                      <m:r>
                        <a:rPr lang="en-US" b="0" i="1" smtClean="0">
                          <a:latin typeface="Cambria Math" panose="02040503050406030204" pitchFamily="18" charset="0"/>
                        </a:rPr>
                        <m:t>(</m:t>
                      </m:r>
                      <m:r>
                        <a:rPr lang="en-US" b="0" i="1" smtClean="0">
                          <a:latin typeface="Cambria Math" panose="02040503050406030204" pitchFamily="18" charset="0"/>
                        </a:rPr>
                        <m:t>𝑥</m:t>
                      </m:r>
                      <m:r>
                        <a:rPr lang="en-US" b="0" i="1" smtClean="0">
                          <a:latin typeface="Cambria Math" panose="02040503050406030204" pitchFamily="18" charset="0"/>
                        </a:rPr>
                        <m:t>)=−</m:t>
                      </m:r>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sin</m:t>
                          </m:r>
                        </m:fName>
                        <m:e>
                          <m:r>
                            <a:rPr lang="en-US" b="0" i="1" smtClean="0">
                              <a:latin typeface="Cambria Math" panose="02040503050406030204" pitchFamily="18" charset="0"/>
                            </a:rPr>
                            <m:t>𝑥</m:t>
                          </m:r>
                        </m:e>
                      </m:func>
                      <m:r>
                        <a:rPr lang="en-US" b="0" i="1" smtClean="0">
                          <a:latin typeface="Cambria Math" panose="02040503050406030204" pitchFamily="18" charset="0"/>
                        </a:rPr>
                        <m:t>+</m:t>
                      </m:r>
                      <m:r>
                        <a:rPr lang="en-US" b="0" i="1" smtClean="0">
                          <a:latin typeface="Cambria Math" panose="02040503050406030204" pitchFamily="18" charset="0"/>
                        </a:rPr>
                        <m:t>𝑥</m:t>
                      </m:r>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sin</m:t>
                          </m:r>
                        </m:fName>
                        <m:e>
                          <m:r>
                            <a:rPr lang="en-US" b="0" i="1" smtClean="0">
                              <a:latin typeface="Cambria Math" panose="02040503050406030204" pitchFamily="18" charset="0"/>
                            </a:rPr>
                            <m:t>1</m:t>
                          </m:r>
                        </m:e>
                      </m:func>
                    </m:oMath>
                  </m:oMathPara>
                </a14:m>
                <a:endParaRPr lang="en-US" b="0" dirty="0"/>
              </a:p>
              <a:p>
                <a:r>
                  <a:rPr lang="en-US" dirty="0"/>
                  <a:t>Lets preform the smoothing (relaxation) and compute the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𝐿</m:t>
                        </m:r>
                      </m:e>
                      <m:sub>
                        <m:r>
                          <a:rPr lang="en-US" b="0" i="1" smtClean="0">
                            <a:latin typeface="Cambria Math" panose="02040503050406030204" pitchFamily="18" charset="0"/>
                          </a:rPr>
                          <m:t>2</m:t>
                        </m:r>
                      </m:sub>
                    </m:sSub>
                  </m:oMath>
                </a14:m>
                <a:r>
                  <a:rPr lang="en-US" dirty="0"/>
                  <a:t> norms of the true error (against the analytic solution) :</a:t>
                </a:r>
              </a:p>
              <a:p>
                <a:pPr marL="0" indent="0">
                  <a:lnSpc>
                    <a:spcPct val="150000"/>
                  </a:lnSpc>
                  <a:buNone/>
                </a:pPr>
                <a14:m>
                  <m:oMathPara xmlns:m="http://schemas.openxmlformats.org/officeDocument/2006/math">
                    <m:oMathParaPr>
                      <m:jc m:val="centerGroup"/>
                    </m:oMathParaPr>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𝜖</m:t>
                          </m:r>
                        </m:e>
                        <m:sup>
                          <m:r>
                            <a:rPr lang="en-US" b="0" i="1" smtClean="0">
                              <a:latin typeface="Cambria Math" panose="02040503050406030204" pitchFamily="18" charset="0"/>
                            </a:rPr>
                            <m:t>𝑡𝑟𝑢𝑒</m:t>
                          </m:r>
                        </m:sup>
                      </m:sSup>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d>
                            <m:dPr>
                              <m:begChr m:val="‖"/>
                              <m:endChr m:val="‖"/>
                              <m:ctrlPr>
                                <a:rPr lang="en-US" b="0" i="1" smtClean="0">
                                  <a:latin typeface="Cambria Math" panose="02040503050406030204" pitchFamily="18" charset="0"/>
                                </a:rPr>
                              </m:ctrlPr>
                            </m:dPr>
                            <m:e>
                              <m:sSup>
                                <m:sSupPr>
                                  <m:ctrlPr>
                                    <a:rPr lang="en-US" i="1">
                                      <a:latin typeface="Cambria Math" panose="02040503050406030204" pitchFamily="18" charset="0"/>
                                    </a:rPr>
                                  </m:ctrlPr>
                                </m:sSupPr>
                                <m:e>
                                  <m:r>
                                    <a:rPr lang="en-US" i="1">
                                      <a:latin typeface="Cambria Math" panose="02040503050406030204" pitchFamily="18" charset="0"/>
                                    </a:rPr>
                                    <m:t>𝜙</m:t>
                                  </m:r>
                                </m:e>
                                <m:sup>
                                  <m:r>
                                    <a:rPr lang="en-US" i="1">
                                      <a:latin typeface="Cambria Math" panose="02040503050406030204" pitchFamily="18" charset="0"/>
                                    </a:rPr>
                                    <m:t>𝑎</m:t>
                                  </m:r>
                                </m:sup>
                              </m:sSup>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𝑖</m:t>
                                      </m:r>
                                    </m:sub>
                                  </m:sSub>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𝜙</m:t>
                                  </m:r>
                                </m:e>
                                <m:sub>
                                  <m:r>
                                    <a:rPr lang="en-US" b="0" i="1" smtClean="0">
                                      <a:latin typeface="Cambria Math" panose="02040503050406030204" pitchFamily="18" charset="0"/>
                                    </a:rPr>
                                    <m:t>𝑖</m:t>
                                  </m:r>
                                </m:sub>
                              </m:sSub>
                            </m:e>
                          </m:d>
                        </m:e>
                        <m:sub>
                          <m:r>
                            <a:rPr lang="en-US" b="0" i="1" smtClean="0">
                              <a:latin typeface="Cambria Math" panose="02040503050406030204" pitchFamily="18" charset="0"/>
                            </a:rPr>
                            <m:t>2</m:t>
                          </m:r>
                        </m:sub>
                      </m:sSub>
                    </m:oMath>
                  </m:oMathPara>
                </a14:m>
                <a:endParaRPr lang="en-US" dirty="0"/>
              </a:p>
              <a:p>
                <a:pPr marL="0" indent="0">
                  <a:lnSpc>
                    <a:spcPct val="100000"/>
                  </a:lnSpc>
                  <a:buNone/>
                </a:pPr>
                <a:r>
                  <a:rPr lang="en-US" dirty="0"/>
                  <a:t>   and the residual error</a:t>
                </a:r>
              </a:p>
              <a:p>
                <a:pPr marL="0" indent="0">
                  <a:lnSpc>
                    <a:spcPct val="100000"/>
                  </a:lnSpc>
                  <a:buNone/>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sSup>
                            <m:sSupPr>
                              <m:ctrlPr>
                                <a:rPr lang="en-US" b="0" i="1" smtClean="0">
                                  <a:latin typeface="Cambria Math" panose="02040503050406030204" pitchFamily="18" charset="0"/>
                                </a:rPr>
                              </m:ctrlPr>
                            </m:sSupPr>
                            <m:e>
                              <m:r>
                                <a:rPr lang="en-US" b="0" i="1" smtClean="0">
                                  <a:latin typeface="Cambria Math" panose="02040503050406030204" pitchFamily="18" charset="0"/>
                                </a:rPr>
                                <m:t>𝜖</m:t>
                              </m:r>
                            </m:e>
                            <m:sup>
                              <m:r>
                                <a:rPr lang="en-US" b="0" i="1" smtClean="0">
                                  <a:latin typeface="Cambria Math" panose="02040503050406030204" pitchFamily="18" charset="0"/>
                                </a:rPr>
                                <m:t>𝑟</m:t>
                              </m:r>
                            </m:sup>
                          </m:sSup>
                          <m:r>
                            <a:rPr lang="en-US" b="0" i="1" smtClean="0">
                              <a:latin typeface="Cambria Math" panose="02040503050406030204" pitchFamily="18" charset="0"/>
                            </a:rPr>
                            <m:t>=</m:t>
                          </m:r>
                          <m:d>
                            <m:dPr>
                              <m:begChr m:val="‖"/>
                              <m:endChr m:val="‖"/>
                              <m:ctrlPr>
                                <a:rPr lang="en-US"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𝑟</m:t>
                                  </m:r>
                                </m:e>
                                <m:sub>
                                  <m:r>
                                    <a:rPr lang="en-US" b="0" i="1" smtClean="0">
                                      <a:latin typeface="Cambria Math" panose="02040503050406030204" pitchFamily="18" charset="0"/>
                                    </a:rPr>
                                    <m:t>𝑖</m:t>
                                  </m:r>
                                </m:sub>
                              </m:sSub>
                            </m:e>
                          </m:d>
                        </m:e>
                        <m:sub>
                          <m:r>
                            <a:rPr lang="en-US" b="0" i="1" smtClean="0">
                              <a:latin typeface="Cambria Math" panose="02040503050406030204" pitchFamily="18" charset="0"/>
                            </a:rPr>
                            <m:t>2</m:t>
                          </m:r>
                        </m:sub>
                      </m:sSub>
                    </m:oMath>
                  </m:oMathPara>
                </a14:m>
                <a:endParaRPr lang="en-US" dirty="0"/>
              </a:p>
              <a:p>
                <a:pPr marL="0" indent="0">
                  <a:lnSpc>
                    <a:spcPct val="150000"/>
                  </a:lnSpc>
                  <a:buNone/>
                </a:pPr>
                <a:r>
                  <a:rPr lang="en-US" dirty="0"/>
                  <a:t>   and see how they change with resolution of the grid</a:t>
                </a:r>
              </a:p>
            </p:txBody>
          </p:sp>
        </mc:Choice>
        <mc:Fallback xmlns="">
          <p:sp>
            <p:nvSpPr>
              <p:cNvPr id="3" name="Content Placeholder 2">
                <a:extLst>
                  <a:ext uri="{FF2B5EF4-FFF2-40B4-BE49-F238E27FC236}">
                    <a16:creationId xmlns:a16="http://schemas.microsoft.com/office/drawing/2014/main" id="{15C4FD65-F675-944D-A379-3A5FFFAEB784}"/>
                  </a:ext>
                </a:extLst>
              </p:cNvPr>
              <p:cNvSpPr>
                <a:spLocks noGrp="1" noRot="1" noChangeAspect="1" noMove="1" noResize="1" noEditPoints="1" noAdjustHandles="1" noChangeArrowheads="1" noChangeShapeType="1" noTextEdit="1"/>
              </p:cNvSpPr>
              <p:nvPr>
                <p:ph idx="1"/>
              </p:nvPr>
            </p:nvSpPr>
            <p:spPr>
              <a:xfrm>
                <a:off x="838200" y="1325562"/>
                <a:ext cx="10515600" cy="5532437"/>
              </a:xfrm>
              <a:blipFill>
                <a:blip r:embed="rId2"/>
                <a:stretch>
                  <a:fillRect l="-965" t="-1602"/>
                </a:stretch>
              </a:blipFill>
            </p:spPr>
            <p:txBody>
              <a:bodyPr/>
              <a:lstStyle/>
              <a:p>
                <a:r>
                  <a:rPr lang="en-US">
                    <a:noFill/>
                  </a:rPr>
                  <a:t> </a:t>
                </a:r>
              </a:p>
            </p:txBody>
          </p:sp>
        </mc:Fallback>
      </mc:AlternateContent>
    </p:spTree>
    <p:extLst>
      <p:ext uri="{BB962C8B-B14F-4D97-AF65-F5344CB8AC3E}">
        <p14:creationId xmlns:p14="http://schemas.microsoft.com/office/powerpoint/2010/main" val="275073815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DCE2F9-F4C3-DA4C-B0FC-7FF6F22D148C}"/>
              </a:ext>
            </a:extLst>
          </p:cNvPr>
          <p:cNvSpPr>
            <a:spLocks noGrp="1"/>
          </p:cNvSpPr>
          <p:nvPr>
            <p:ph type="title"/>
          </p:nvPr>
        </p:nvSpPr>
        <p:spPr>
          <a:xfrm>
            <a:off x="0" y="0"/>
            <a:ext cx="10515600" cy="1325563"/>
          </a:xfrm>
        </p:spPr>
        <p:txBody>
          <a:bodyPr/>
          <a:lstStyle/>
          <a:p>
            <a:r>
              <a:rPr lang="en-US" dirty="0"/>
              <a:t>Error decency on normalization </a:t>
            </a:r>
            <a:r>
              <a:rPr lang="en-US" b="1" dirty="0"/>
              <a:t> </a:t>
            </a:r>
            <a:r>
              <a:rPr lang="en-US" dirty="0"/>
              <a:t> </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15C4FD65-F675-944D-A379-3A5FFFAEB784}"/>
                  </a:ext>
                </a:extLst>
              </p:cNvPr>
              <p:cNvSpPr>
                <a:spLocks noGrp="1"/>
              </p:cNvSpPr>
              <p:nvPr>
                <p:ph idx="1"/>
              </p:nvPr>
            </p:nvSpPr>
            <p:spPr>
              <a:xfrm>
                <a:off x="0" y="1205986"/>
                <a:ext cx="5164567" cy="5532437"/>
              </a:xfrm>
            </p:spPr>
            <p:txBody>
              <a:bodyPr>
                <a:normAutofit/>
              </a:bodyPr>
              <a:lstStyle/>
              <a:p>
                <a14:m>
                  <m:oMath xmlns:m="http://schemas.openxmlformats.org/officeDocument/2006/math">
                    <m:sSup>
                      <m:sSupPr>
                        <m:ctrlPr>
                          <a:rPr lang="en-US" sz="2400" i="1" smtClean="0">
                            <a:latin typeface="Cambria Math" panose="02040503050406030204" pitchFamily="18" charset="0"/>
                          </a:rPr>
                        </m:ctrlPr>
                      </m:sSupPr>
                      <m:e>
                        <m:r>
                          <a:rPr lang="en-US" sz="2400" b="0" i="1" smtClean="0">
                            <a:latin typeface="Cambria Math" panose="02040503050406030204" pitchFamily="18" charset="0"/>
                          </a:rPr>
                          <m:t>𝜖</m:t>
                        </m:r>
                      </m:e>
                      <m:sup>
                        <m:r>
                          <a:rPr lang="en-US" sz="2400" i="1">
                            <a:latin typeface="Cambria Math" panose="02040503050406030204" pitchFamily="18" charset="0"/>
                          </a:rPr>
                          <m:t>𝑡𝑟𝑢𝑒</m:t>
                        </m:r>
                      </m:sup>
                    </m:sSup>
                    <m:r>
                      <a:rPr lang="en-US" sz="2400" i="1">
                        <a:latin typeface="Cambria Math" panose="02040503050406030204" pitchFamily="18" charset="0"/>
                      </a:rPr>
                      <m:t> </m:t>
                    </m:r>
                  </m:oMath>
                </a14:m>
                <a:r>
                  <a:rPr lang="en-US" sz="2400" dirty="0"/>
                  <a:t>stalls at a relatively high value.</a:t>
                </a:r>
              </a:p>
              <a:p>
                <a:r>
                  <a:rPr lang="en-US" sz="2400" dirty="0"/>
                  <a:t>This is the truncation error of the method. </a:t>
                </a:r>
              </a:p>
              <a:p>
                <a14:m>
                  <m:oMath xmlns:m="http://schemas.openxmlformats.org/officeDocument/2006/math">
                    <m:sSup>
                      <m:sSupPr>
                        <m:ctrlPr>
                          <a:rPr lang="en-US" sz="2400" i="1">
                            <a:latin typeface="Cambria Math" panose="02040503050406030204" pitchFamily="18" charset="0"/>
                          </a:rPr>
                        </m:ctrlPr>
                      </m:sSupPr>
                      <m:e>
                        <m:r>
                          <a:rPr lang="en-US" sz="2400" b="0" i="1" smtClean="0">
                            <a:latin typeface="Cambria Math" panose="02040503050406030204" pitchFamily="18" charset="0"/>
                          </a:rPr>
                          <m:t>𝜖</m:t>
                        </m:r>
                      </m:e>
                      <m:sup>
                        <m:r>
                          <a:rPr lang="en-US" sz="2400" i="1">
                            <a:latin typeface="Cambria Math" panose="02040503050406030204" pitchFamily="18" charset="0"/>
                          </a:rPr>
                          <m:t>𝑡𝑟𝑢𝑒</m:t>
                        </m:r>
                      </m:sup>
                    </m:sSup>
                    <m:r>
                      <a:rPr lang="en-US" sz="2400" i="1">
                        <a:latin typeface="Cambria Math" panose="02040503050406030204" pitchFamily="18" charset="0"/>
                      </a:rPr>
                      <m:t> </m:t>
                    </m:r>
                  </m:oMath>
                </a14:m>
                <a:r>
                  <a:rPr lang="en-US" sz="2400" dirty="0"/>
                  <a:t>drops as as </a:t>
                </a:r>
                <a14:m>
                  <m:oMath xmlns:m="http://schemas.openxmlformats.org/officeDocument/2006/math">
                    <m:r>
                      <a:rPr lang="en-US" sz="2400" i="1" dirty="0" smtClean="0">
                        <a:latin typeface="Cambria Math" panose="02040503050406030204" pitchFamily="18" charset="0"/>
                      </a:rPr>
                      <m:t>∆</m:t>
                    </m:r>
                    <m:sSup>
                      <m:sSupPr>
                        <m:ctrlPr>
                          <a:rPr lang="en-US" sz="2400" b="0" i="1" dirty="0" smtClean="0">
                            <a:latin typeface="Cambria Math" panose="02040503050406030204" pitchFamily="18" charset="0"/>
                          </a:rPr>
                        </m:ctrlPr>
                      </m:sSupPr>
                      <m:e>
                        <m:r>
                          <a:rPr lang="en-US" sz="2400" i="1" dirty="0" smtClean="0">
                            <a:latin typeface="Cambria Math" panose="02040503050406030204" pitchFamily="18" charset="0"/>
                          </a:rPr>
                          <m:t>𝑥</m:t>
                        </m:r>
                      </m:e>
                      <m:sup>
                        <m:r>
                          <a:rPr lang="en-US" sz="2400" i="1" dirty="0" smtClean="0">
                            <a:latin typeface="Cambria Math" panose="02040503050406030204" pitchFamily="18" charset="0"/>
                          </a:rPr>
                          <m:t>2</m:t>
                        </m:r>
                      </m:sup>
                    </m:sSup>
                  </m:oMath>
                </a14:m>
                <a:r>
                  <a:rPr lang="en-US" sz="2400" dirty="0"/>
                  <a:t> with improved resolution.</a:t>
                </a:r>
                <a:endParaRPr lang="en-US" sz="2400" i="1" dirty="0">
                  <a:latin typeface="Cambria Math" panose="02040503050406030204" pitchFamily="18" charset="0"/>
                </a:endParaRPr>
              </a:p>
              <a:p>
                <a:r>
                  <a:rPr lang="en-US" sz="2400" dirty="0"/>
                  <a:t>In contract, the residual error decreases to machine precision levels.</a:t>
                </a:r>
              </a:p>
              <a:p>
                <a:r>
                  <a:rPr lang="en-US" sz="2400" dirty="0"/>
                  <a:t>We cannot do better than that.</a:t>
                </a:r>
              </a:p>
              <a:p>
                <a:r>
                  <a:rPr lang="en-US" sz="2400" dirty="0"/>
                  <a:t>In practice, we can only monitor the residual error.</a:t>
                </a:r>
              </a:p>
              <a:p>
                <a:r>
                  <a:rPr lang="en-US" sz="2400" dirty="0">
                    <a:solidFill>
                      <a:srgbClr val="FF0000"/>
                    </a:solidFill>
                  </a:rPr>
                  <a:t>What does it mean?</a:t>
                </a:r>
              </a:p>
              <a:p>
                <a:endParaRPr lang="en-US" sz="2400" dirty="0"/>
              </a:p>
              <a:p>
                <a:endParaRPr lang="en-US" sz="2400" dirty="0"/>
              </a:p>
              <a:p>
                <a:endParaRPr lang="en-US" sz="2400" dirty="0"/>
              </a:p>
            </p:txBody>
          </p:sp>
        </mc:Choice>
        <mc:Fallback>
          <p:sp>
            <p:nvSpPr>
              <p:cNvPr id="3" name="Content Placeholder 2">
                <a:extLst>
                  <a:ext uri="{FF2B5EF4-FFF2-40B4-BE49-F238E27FC236}">
                    <a16:creationId xmlns:a16="http://schemas.microsoft.com/office/drawing/2014/main" id="{15C4FD65-F675-944D-A379-3A5FFFAEB784}"/>
                  </a:ext>
                </a:extLst>
              </p:cNvPr>
              <p:cNvSpPr>
                <a:spLocks noGrp="1" noRot="1" noChangeAspect="1" noMove="1" noResize="1" noEditPoints="1" noAdjustHandles="1" noChangeArrowheads="1" noChangeShapeType="1" noTextEdit="1"/>
              </p:cNvSpPr>
              <p:nvPr>
                <p:ph idx="1"/>
              </p:nvPr>
            </p:nvSpPr>
            <p:spPr>
              <a:xfrm>
                <a:off x="0" y="1205986"/>
                <a:ext cx="5164567" cy="5532437"/>
              </a:xfrm>
              <a:blipFill>
                <a:blip r:embed="rId3"/>
                <a:stretch>
                  <a:fillRect l="-1474" t="-1144" r="-983"/>
                </a:stretch>
              </a:blipFill>
            </p:spPr>
            <p:txBody>
              <a:bodyPr/>
              <a:lstStyle/>
              <a:p>
                <a:r>
                  <a:rPr lang="en-US">
                    <a:noFill/>
                  </a:rPr>
                  <a:t> </a:t>
                </a:r>
              </a:p>
            </p:txBody>
          </p:sp>
        </mc:Fallback>
      </mc:AlternateContent>
      <p:pic>
        <p:nvPicPr>
          <p:cNvPr id="5" name="Picture 4">
            <a:extLst>
              <a:ext uri="{FF2B5EF4-FFF2-40B4-BE49-F238E27FC236}">
                <a16:creationId xmlns:a16="http://schemas.microsoft.com/office/drawing/2014/main" id="{9D061998-AC17-1440-B6D7-757FB924A3A9}"/>
              </a:ext>
            </a:extLst>
          </p:cNvPr>
          <p:cNvPicPr>
            <a:picLocks noChangeAspect="1"/>
          </p:cNvPicPr>
          <p:nvPr/>
        </p:nvPicPr>
        <p:blipFill rotWithShape="1">
          <a:blip r:embed="rId4"/>
          <a:srcRect l="5330" r="2331"/>
          <a:stretch/>
        </p:blipFill>
        <p:spPr>
          <a:xfrm>
            <a:off x="5056093" y="1194099"/>
            <a:ext cx="7135907" cy="5360201"/>
          </a:xfrm>
          <a:prstGeom prst="rect">
            <a:avLst/>
          </a:prstGeom>
        </p:spPr>
      </p:pic>
      <mc:AlternateContent xmlns:mc="http://schemas.openxmlformats.org/markup-compatibility/2006" xmlns:a14="http://schemas.microsoft.com/office/drawing/2010/main">
        <mc:Choice Requires="a14">
          <p:sp>
            <p:nvSpPr>
              <p:cNvPr id="6" name="Rectangle 5">
                <a:extLst>
                  <a:ext uri="{FF2B5EF4-FFF2-40B4-BE49-F238E27FC236}">
                    <a16:creationId xmlns:a16="http://schemas.microsoft.com/office/drawing/2014/main" id="{FFB2C93E-C391-D44A-9C61-71DD34ADC43A}"/>
                  </a:ext>
                </a:extLst>
              </p:cNvPr>
              <p:cNvSpPr/>
              <p:nvPr/>
            </p:nvSpPr>
            <p:spPr>
              <a:xfrm>
                <a:off x="6183318" y="1910385"/>
                <a:ext cx="987642"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p>
                        <m:sSupPr>
                          <m:ctrlPr>
                            <a:rPr lang="en-US" sz="2400" i="1" smtClean="0">
                              <a:latin typeface="Cambria Math" panose="02040503050406030204" pitchFamily="18" charset="0"/>
                            </a:rPr>
                          </m:ctrlPr>
                        </m:sSupPr>
                        <m:e>
                          <m:r>
                            <a:rPr lang="en-US" sz="2400" b="0" i="1" smtClean="0">
                              <a:latin typeface="Cambria Math" panose="02040503050406030204" pitchFamily="18" charset="0"/>
                            </a:rPr>
                            <m:t>𝜖</m:t>
                          </m:r>
                        </m:e>
                        <m:sup>
                          <m:r>
                            <a:rPr lang="en-US" sz="2400" i="1">
                              <a:latin typeface="Cambria Math" panose="02040503050406030204" pitchFamily="18" charset="0"/>
                            </a:rPr>
                            <m:t>𝑡𝑟𝑢𝑒</m:t>
                          </m:r>
                        </m:sup>
                      </m:sSup>
                      <m:r>
                        <a:rPr lang="en-US" sz="2400" i="1">
                          <a:latin typeface="Cambria Math" panose="02040503050406030204" pitchFamily="18" charset="0"/>
                        </a:rPr>
                        <m:t> </m:t>
                      </m:r>
                    </m:oMath>
                  </m:oMathPara>
                </a14:m>
                <a:endParaRPr lang="en-US" sz="2400" dirty="0"/>
              </a:p>
            </p:txBody>
          </p:sp>
        </mc:Choice>
        <mc:Fallback xmlns="">
          <p:sp>
            <p:nvSpPr>
              <p:cNvPr id="6" name="Rectangle 5">
                <a:extLst>
                  <a:ext uri="{FF2B5EF4-FFF2-40B4-BE49-F238E27FC236}">
                    <a16:creationId xmlns:a16="http://schemas.microsoft.com/office/drawing/2014/main" id="{FFB2C93E-C391-D44A-9C61-71DD34ADC43A}"/>
                  </a:ext>
                </a:extLst>
              </p:cNvPr>
              <p:cNvSpPr>
                <a:spLocks noRot="1" noChangeAspect="1" noMove="1" noResize="1" noEditPoints="1" noAdjustHandles="1" noChangeArrowheads="1" noChangeShapeType="1" noTextEdit="1"/>
              </p:cNvSpPr>
              <p:nvPr/>
            </p:nvSpPr>
            <p:spPr>
              <a:xfrm>
                <a:off x="6183318" y="1910385"/>
                <a:ext cx="987642" cy="461665"/>
              </a:xfrm>
              <a:prstGeom prst="rect">
                <a:avLst/>
              </a:prstGeom>
              <a:blipFill>
                <a:blip r:embed="rId5"/>
                <a:stretch>
                  <a:fillRect r="-1266" b="-1842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Rectangle 6">
                <a:extLst>
                  <a:ext uri="{FF2B5EF4-FFF2-40B4-BE49-F238E27FC236}">
                    <a16:creationId xmlns:a16="http://schemas.microsoft.com/office/drawing/2014/main" id="{319CE7D8-3094-1343-9524-19A02018951A}"/>
                  </a:ext>
                </a:extLst>
              </p:cNvPr>
              <p:cNvSpPr/>
              <p:nvPr/>
            </p:nvSpPr>
            <p:spPr>
              <a:xfrm>
                <a:off x="8807608" y="3808207"/>
                <a:ext cx="553549"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p>
                        <m:sSupPr>
                          <m:ctrlPr>
                            <a:rPr lang="en-US" sz="2400" b="0" i="1" smtClean="0">
                              <a:latin typeface="Cambria Math" panose="02040503050406030204" pitchFamily="18" charset="0"/>
                            </a:rPr>
                          </m:ctrlPr>
                        </m:sSupPr>
                        <m:e>
                          <m:r>
                            <a:rPr lang="en-US" sz="2400" b="0" i="1" smtClean="0">
                              <a:latin typeface="Cambria Math" panose="02040503050406030204" pitchFamily="18" charset="0"/>
                            </a:rPr>
                            <m:t>𝜖</m:t>
                          </m:r>
                        </m:e>
                        <m:sup>
                          <m:r>
                            <a:rPr lang="en-US" sz="2400" b="0" i="1" smtClean="0">
                              <a:latin typeface="Cambria Math" panose="02040503050406030204" pitchFamily="18" charset="0"/>
                            </a:rPr>
                            <m:t>𝑟</m:t>
                          </m:r>
                        </m:sup>
                      </m:sSup>
                    </m:oMath>
                  </m:oMathPara>
                </a14:m>
                <a:endParaRPr lang="en-US" sz="2400" dirty="0"/>
              </a:p>
            </p:txBody>
          </p:sp>
        </mc:Choice>
        <mc:Fallback xmlns="">
          <p:sp>
            <p:nvSpPr>
              <p:cNvPr id="7" name="Rectangle 6">
                <a:extLst>
                  <a:ext uri="{FF2B5EF4-FFF2-40B4-BE49-F238E27FC236}">
                    <a16:creationId xmlns:a16="http://schemas.microsoft.com/office/drawing/2014/main" id="{319CE7D8-3094-1343-9524-19A02018951A}"/>
                  </a:ext>
                </a:extLst>
              </p:cNvPr>
              <p:cNvSpPr>
                <a:spLocks noRot="1" noChangeAspect="1" noMove="1" noResize="1" noEditPoints="1" noAdjustHandles="1" noChangeArrowheads="1" noChangeShapeType="1" noTextEdit="1"/>
              </p:cNvSpPr>
              <p:nvPr/>
            </p:nvSpPr>
            <p:spPr>
              <a:xfrm>
                <a:off x="8807608" y="3808207"/>
                <a:ext cx="553549" cy="461665"/>
              </a:xfrm>
              <a:prstGeom prst="rect">
                <a:avLst/>
              </a:prstGeom>
              <a:blipFill>
                <a:blip r:embed="rId6"/>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7847618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DCE2F9-F4C3-DA4C-B0FC-7FF6F22D148C}"/>
              </a:ext>
            </a:extLst>
          </p:cNvPr>
          <p:cNvSpPr>
            <a:spLocks noGrp="1"/>
          </p:cNvSpPr>
          <p:nvPr>
            <p:ph type="title"/>
          </p:nvPr>
        </p:nvSpPr>
        <p:spPr>
          <a:xfrm>
            <a:off x="0" y="0"/>
            <a:ext cx="10515600" cy="1325563"/>
          </a:xfrm>
        </p:spPr>
        <p:txBody>
          <a:bodyPr/>
          <a:lstStyle/>
          <a:p>
            <a:r>
              <a:rPr lang="en-US" dirty="0"/>
              <a:t>Error decency on normalization</a:t>
            </a:r>
            <a:r>
              <a:rPr lang="en-US" b="1" dirty="0"/>
              <a:t> </a:t>
            </a:r>
            <a:r>
              <a:rPr lang="en-US" dirty="0"/>
              <a:t> </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5C4FD65-F675-944D-A379-3A5FFFAEB784}"/>
                  </a:ext>
                </a:extLst>
              </p:cNvPr>
              <p:cNvSpPr>
                <a:spLocks noGrp="1"/>
              </p:cNvSpPr>
              <p:nvPr>
                <p:ph idx="1"/>
              </p:nvPr>
            </p:nvSpPr>
            <p:spPr>
              <a:xfrm>
                <a:off x="0" y="1183342"/>
                <a:ext cx="5164567" cy="5532437"/>
              </a:xfrm>
            </p:spPr>
            <p:txBody>
              <a:bodyPr>
                <a:normAutofit/>
              </a:bodyPr>
              <a:lstStyle/>
              <a:p>
                <a:r>
                  <a:rPr lang="en-US" sz="2400" dirty="0"/>
                  <a:t>Behavior qualitatively the same</a:t>
                </a:r>
              </a:p>
              <a:p>
                <a14:m>
                  <m:oMath xmlns:m="http://schemas.openxmlformats.org/officeDocument/2006/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𝐿</m:t>
                        </m:r>
                      </m:e>
                      <m:sub>
                        <m:r>
                          <a:rPr lang="en-US" sz="2400" b="0" i="1" smtClean="0">
                            <a:latin typeface="Cambria Math" panose="02040503050406030204" pitchFamily="18" charset="0"/>
                          </a:rPr>
                          <m:t>2</m:t>
                        </m:r>
                      </m:sub>
                    </m:sSub>
                  </m:oMath>
                </a14:m>
                <a:r>
                  <a:rPr lang="en-US" sz="2400" dirty="0"/>
                  <a:t> is between </a:t>
                </a:r>
                <a14:m>
                  <m:oMath xmlns:m="http://schemas.openxmlformats.org/officeDocument/2006/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𝐿</m:t>
                        </m:r>
                      </m:e>
                      <m:sub>
                        <m:r>
                          <a:rPr lang="en-US" sz="2400" b="0" i="1" smtClean="0">
                            <a:latin typeface="Cambria Math" panose="02040503050406030204" pitchFamily="18" charset="0"/>
                          </a:rPr>
                          <m:t>1</m:t>
                        </m:r>
                      </m:sub>
                    </m:sSub>
                  </m:oMath>
                </a14:m>
                <a:r>
                  <a:rPr lang="en-US" sz="2400" dirty="0"/>
                  <a:t> and </a:t>
                </a:r>
                <a14:m>
                  <m:oMath xmlns:m="http://schemas.openxmlformats.org/officeDocument/2006/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𝐿</m:t>
                        </m:r>
                      </m:e>
                      <m:sub>
                        <m:r>
                          <a:rPr lang="en-US" sz="2400" b="0" i="1" smtClean="0">
                            <a:latin typeface="Cambria Math" panose="02040503050406030204" pitchFamily="18" charset="0"/>
                          </a:rPr>
                          <m:t>∞</m:t>
                        </m:r>
                      </m:sub>
                    </m:sSub>
                  </m:oMath>
                </a14:m>
                <a:endParaRPr lang="en-US" sz="2400" dirty="0"/>
              </a:p>
            </p:txBody>
          </p:sp>
        </mc:Choice>
        <mc:Fallback xmlns="">
          <p:sp>
            <p:nvSpPr>
              <p:cNvPr id="3" name="Content Placeholder 2">
                <a:extLst>
                  <a:ext uri="{FF2B5EF4-FFF2-40B4-BE49-F238E27FC236}">
                    <a16:creationId xmlns:a16="http://schemas.microsoft.com/office/drawing/2014/main" id="{15C4FD65-F675-944D-A379-3A5FFFAEB784}"/>
                  </a:ext>
                </a:extLst>
              </p:cNvPr>
              <p:cNvSpPr>
                <a:spLocks noGrp="1" noRot="1" noChangeAspect="1" noMove="1" noResize="1" noEditPoints="1" noAdjustHandles="1" noChangeArrowheads="1" noChangeShapeType="1" noTextEdit="1"/>
              </p:cNvSpPr>
              <p:nvPr>
                <p:ph idx="1"/>
              </p:nvPr>
            </p:nvSpPr>
            <p:spPr>
              <a:xfrm>
                <a:off x="0" y="1183342"/>
                <a:ext cx="5164567" cy="5532437"/>
              </a:xfrm>
              <a:blipFill>
                <a:blip r:embed="rId2"/>
                <a:stretch>
                  <a:fillRect l="-1474" t="-1144"/>
                </a:stretch>
              </a:blipFill>
            </p:spPr>
            <p:txBody>
              <a:bodyPr/>
              <a:lstStyle/>
              <a:p>
                <a:r>
                  <a:rPr lang="en-US">
                    <a:noFill/>
                  </a:rPr>
                  <a:t> </a:t>
                </a:r>
              </a:p>
            </p:txBody>
          </p:sp>
        </mc:Fallback>
      </mc:AlternateContent>
      <p:pic>
        <p:nvPicPr>
          <p:cNvPr id="5" name="Picture 4">
            <a:extLst>
              <a:ext uri="{FF2B5EF4-FFF2-40B4-BE49-F238E27FC236}">
                <a16:creationId xmlns:a16="http://schemas.microsoft.com/office/drawing/2014/main" id="{9D061998-AC17-1440-B6D7-757FB924A3A9}"/>
              </a:ext>
            </a:extLst>
          </p:cNvPr>
          <p:cNvPicPr>
            <a:picLocks noChangeAspect="1"/>
          </p:cNvPicPr>
          <p:nvPr/>
        </p:nvPicPr>
        <p:blipFill rotWithShape="1">
          <a:blip r:embed="rId3"/>
          <a:srcRect l="5330"/>
          <a:stretch/>
        </p:blipFill>
        <p:spPr>
          <a:xfrm>
            <a:off x="5056093" y="1194099"/>
            <a:ext cx="7135908" cy="5228216"/>
          </a:xfrm>
          <a:prstGeom prst="rect">
            <a:avLst/>
          </a:prstGeom>
        </p:spPr>
      </p:pic>
      <mc:AlternateContent xmlns:mc="http://schemas.openxmlformats.org/markup-compatibility/2006" xmlns:a14="http://schemas.microsoft.com/office/drawing/2010/main">
        <mc:Choice Requires="a14">
          <p:sp>
            <p:nvSpPr>
              <p:cNvPr id="6" name="Rectangle 5">
                <a:extLst>
                  <a:ext uri="{FF2B5EF4-FFF2-40B4-BE49-F238E27FC236}">
                    <a16:creationId xmlns:a16="http://schemas.microsoft.com/office/drawing/2014/main" id="{FFB2C93E-C391-D44A-9C61-71DD34ADC43A}"/>
                  </a:ext>
                </a:extLst>
              </p:cNvPr>
              <p:cNvSpPr/>
              <p:nvPr/>
            </p:nvSpPr>
            <p:spPr>
              <a:xfrm>
                <a:off x="6183318" y="1910385"/>
                <a:ext cx="994952"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p>
                        <m:sSupPr>
                          <m:ctrlPr>
                            <a:rPr lang="en-US" sz="2400" i="1">
                              <a:latin typeface="Cambria Math" panose="02040503050406030204" pitchFamily="18" charset="0"/>
                            </a:rPr>
                          </m:ctrlPr>
                        </m:sSupPr>
                        <m:e>
                          <m:r>
                            <a:rPr lang="en-US" sz="2400" i="1">
                              <a:latin typeface="Cambria Math" panose="02040503050406030204" pitchFamily="18" charset="0"/>
                            </a:rPr>
                            <m:t>𝑒</m:t>
                          </m:r>
                        </m:e>
                        <m:sup>
                          <m:r>
                            <a:rPr lang="en-US" sz="2400" i="1">
                              <a:latin typeface="Cambria Math" panose="02040503050406030204" pitchFamily="18" charset="0"/>
                            </a:rPr>
                            <m:t>𝑡𝑟𝑢𝑒</m:t>
                          </m:r>
                        </m:sup>
                      </m:sSup>
                      <m:r>
                        <a:rPr lang="en-US" sz="2400" i="1">
                          <a:latin typeface="Cambria Math" panose="02040503050406030204" pitchFamily="18" charset="0"/>
                        </a:rPr>
                        <m:t> </m:t>
                      </m:r>
                    </m:oMath>
                  </m:oMathPara>
                </a14:m>
                <a:endParaRPr lang="en-US" sz="2400" dirty="0"/>
              </a:p>
            </p:txBody>
          </p:sp>
        </mc:Choice>
        <mc:Fallback xmlns="">
          <p:sp>
            <p:nvSpPr>
              <p:cNvPr id="6" name="Rectangle 5">
                <a:extLst>
                  <a:ext uri="{FF2B5EF4-FFF2-40B4-BE49-F238E27FC236}">
                    <a16:creationId xmlns:a16="http://schemas.microsoft.com/office/drawing/2014/main" id="{FFB2C93E-C391-D44A-9C61-71DD34ADC43A}"/>
                  </a:ext>
                </a:extLst>
              </p:cNvPr>
              <p:cNvSpPr>
                <a:spLocks noRot="1" noChangeAspect="1" noMove="1" noResize="1" noEditPoints="1" noAdjustHandles="1" noChangeArrowheads="1" noChangeShapeType="1" noTextEdit="1"/>
              </p:cNvSpPr>
              <p:nvPr/>
            </p:nvSpPr>
            <p:spPr>
              <a:xfrm>
                <a:off x="6183318" y="1910385"/>
                <a:ext cx="994952" cy="461665"/>
              </a:xfrm>
              <a:prstGeom prst="rect">
                <a:avLst/>
              </a:prstGeom>
              <a:blipFill>
                <a:blip r:embed="rId4"/>
                <a:stretch>
                  <a:fillRect r="-2532" b="-1842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Rectangle 6">
                <a:extLst>
                  <a:ext uri="{FF2B5EF4-FFF2-40B4-BE49-F238E27FC236}">
                    <a16:creationId xmlns:a16="http://schemas.microsoft.com/office/drawing/2014/main" id="{319CE7D8-3094-1343-9524-19A02018951A}"/>
                  </a:ext>
                </a:extLst>
              </p:cNvPr>
              <p:cNvSpPr/>
              <p:nvPr/>
            </p:nvSpPr>
            <p:spPr>
              <a:xfrm>
                <a:off x="8807608" y="3808207"/>
                <a:ext cx="932756"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sz="2400" i="1">
                              <a:latin typeface="Cambria Math" panose="02040503050406030204" pitchFamily="18" charset="0"/>
                            </a:rPr>
                          </m:ctrlPr>
                        </m:sSubPr>
                        <m:e>
                          <m:d>
                            <m:dPr>
                              <m:begChr m:val="‖"/>
                              <m:endChr m:val="‖"/>
                              <m:ctrlPr>
                                <a:rPr lang="en-US" sz="2400" i="1">
                                  <a:latin typeface="Cambria Math" panose="02040503050406030204" pitchFamily="18" charset="0"/>
                                </a:rPr>
                              </m:ctrlPr>
                            </m:dPr>
                            <m:e>
                              <m:sSub>
                                <m:sSubPr>
                                  <m:ctrlPr>
                                    <a:rPr lang="en-US" sz="2400" i="1">
                                      <a:latin typeface="Cambria Math" panose="02040503050406030204" pitchFamily="18" charset="0"/>
                                    </a:rPr>
                                  </m:ctrlPr>
                                </m:sSubPr>
                                <m:e>
                                  <m:r>
                                    <a:rPr lang="en-US" sz="2400" i="1">
                                      <a:latin typeface="Cambria Math" panose="02040503050406030204" pitchFamily="18" charset="0"/>
                                    </a:rPr>
                                    <m:t>𝑟</m:t>
                                  </m:r>
                                </m:e>
                                <m:sub>
                                  <m:r>
                                    <a:rPr lang="en-US" sz="2400" i="1">
                                      <a:latin typeface="Cambria Math" panose="02040503050406030204" pitchFamily="18" charset="0"/>
                                    </a:rPr>
                                    <m:t>𝑖</m:t>
                                  </m:r>
                                </m:sub>
                              </m:sSub>
                            </m:e>
                          </m:d>
                        </m:e>
                        <m:sub>
                          <m:r>
                            <a:rPr lang="en-US" sz="2400" i="1">
                              <a:latin typeface="Cambria Math" panose="02040503050406030204" pitchFamily="18" charset="0"/>
                            </a:rPr>
                            <m:t>2</m:t>
                          </m:r>
                        </m:sub>
                      </m:sSub>
                    </m:oMath>
                  </m:oMathPara>
                </a14:m>
                <a:endParaRPr lang="en-US" sz="2400" dirty="0"/>
              </a:p>
            </p:txBody>
          </p:sp>
        </mc:Choice>
        <mc:Fallback xmlns="">
          <p:sp>
            <p:nvSpPr>
              <p:cNvPr id="7" name="Rectangle 6">
                <a:extLst>
                  <a:ext uri="{FF2B5EF4-FFF2-40B4-BE49-F238E27FC236}">
                    <a16:creationId xmlns:a16="http://schemas.microsoft.com/office/drawing/2014/main" id="{319CE7D8-3094-1343-9524-19A02018951A}"/>
                  </a:ext>
                </a:extLst>
              </p:cNvPr>
              <p:cNvSpPr>
                <a:spLocks noRot="1" noChangeAspect="1" noMove="1" noResize="1" noEditPoints="1" noAdjustHandles="1" noChangeArrowheads="1" noChangeShapeType="1" noTextEdit="1"/>
              </p:cNvSpPr>
              <p:nvPr/>
            </p:nvSpPr>
            <p:spPr>
              <a:xfrm>
                <a:off x="8807608" y="3808207"/>
                <a:ext cx="932756" cy="461665"/>
              </a:xfrm>
              <a:prstGeom prst="rect">
                <a:avLst/>
              </a:prstGeom>
              <a:blipFill>
                <a:blip r:embed="rId5"/>
                <a:stretch>
                  <a:fillRect b="-2778"/>
                </a:stretch>
              </a:blipFill>
            </p:spPr>
            <p:txBody>
              <a:bodyPr/>
              <a:lstStyle/>
              <a:p>
                <a:r>
                  <a:rPr lang="en-US">
                    <a:noFill/>
                  </a:rPr>
                  <a:t> </a:t>
                </a:r>
              </a:p>
            </p:txBody>
          </p:sp>
        </mc:Fallback>
      </mc:AlternateContent>
      <p:pic>
        <p:nvPicPr>
          <p:cNvPr id="8" name="Picture 7">
            <a:extLst>
              <a:ext uri="{FF2B5EF4-FFF2-40B4-BE49-F238E27FC236}">
                <a16:creationId xmlns:a16="http://schemas.microsoft.com/office/drawing/2014/main" id="{876C46D3-69CC-9F43-89CA-147D49F1EA1E}"/>
              </a:ext>
            </a:extLst>
          </p:cNvPr>
          <p:cNvPicPr>
            <a:picLocks noChangeAspect="1"/>
          </p:cNvPicPr>
          <p:nvPr/>
        </p:nvPicPr>
        <p:blipFill rotWithShape="1">
          <a:blip r:embed="rId6"/>
          <a:srcRect l="478" r="1075"/>
          <a:stretch/>
        </p:blipFill>
        <p:spPr>
          <a:xfrm>
            <a:off x="4936623" y="1194099"/>
            <a:ext cx="7227798" cy="5437113"/>
          </a:xfrm>
          <a:prstGeom prst="rect">
            <a:avLst/>
          </a:prstGeom>
        </p:spPr>
      </p:pic>
      <mc:AlternateContent xmlns:mc="http://schemas.openxmlformats.org/markup-compatibility/2006" xmlns:a14="http://schemas.microsoft.com/office/drawing/2010/main">
        <mc:Choice Requires="a14">
          <p:sp>
            <p:nvSpPr>
              <p:cNvPr id="9" name="Rectangle 8">
                <a:extLst>
                  <a:ext uri="{FF2B5EF4-FFF2-40B4-BE49-F238E27FC236}">
                    <a16:creationId xmlns:a16="http://schemas.microsoft.com/office/drawing/2014/main" id="{12C90D83-B5C6-F44C-9657-66839866FD66}"/>
                  </a:ext>
                </a:extLst>
              </p:cNvPr>
              <p:cNvSpPr/>
              <p:nvPr/>
            </p:nvSpPr>
            <p:spPr>
              <a:xfrm>
                <a:off x="6335718" y="2062785"/>
                <a:ext cx="987642"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p>
                        <m:sSupPr>
                          <m:ctrlPr>
                            <a:rPr lang="en-US" sz="2400" i="1" smtClean="0">
                              <a:latin typeface="Cambria Math" panose="02040503050406030204" pitchFamily="18" charset="0"/>
                            </a:rPr>
                          </m:ctrlPr>
                        </m:sSupPr>
                        <m:e>
                          <m:r>
                            <a:rPr lang="en-US" sz="2400" b="0" i="1" smtClean="0">
                              <a:latin typeface="Cambria Math" panose="02040503050406030204" pitchFamily="18" charset="0"/>
                            </a:rPr>
                            <m:t>𝜖</m:t>
                          </m:r>
                        </m:e>
                        <m:sup>
                          <m:r>
                            <a:rPr lang="en-US" sz="2400" i="1">
                              <a:latin typeface="Cambria Math" panose="02040503050406030204" pitchFamily="18" charset="0"/>
                            </a:rPr>
                            <m:t>𝑡𝑟𝑢𝑒</m:t>
                          </m:r>
                        </m:sup>
                      </m:sSup>
                      <m:r>
                        <a:rPr lang="en-US" sz="2400" i="1">
                          <a:latin typeface="Cambria Math" panose="02040503050406030204" pitchFamily="18" charset="0"/>
                        </a:rPr>
                        <m:t> </m:t>
                      </m:r>
                    </m:oMath>
                  </m:oMathPara>
                </a14:m>
                <a:endParaRPr lang="en-US" sz="2400" dirty="0"/>
              </a:p>
            </p:txBody>
          </p:sp>
        </mc:Choice>
        <mc:Fallback xmlns="">
          <p:sp>
            <p:nvSpPr>
              <p:cNvPr id="9" name="Rectangle 8">
                <a:extLst>
                  <a:ext uri="{FF2B5EF4-FFF2-40B4-BE49-F238E27FC236}">
                    <a16:creationId xmlns:a16="http://schemas.microsoft.com/office/drawing/2014/main" id="{12C90D83-B5C6-F44C-9657-66839866FD66}"/>
                  </a:ext>
                </a:extLst>
              </p:cNvPr>
              <p:cNvSpPr>
                <a:spLocks noRot="1" noChangeAspect="1" noMove="1" noResize="1" noEditPoints="1" noAdjustHandles="1" noChangeArrowheads="1" noChangeShapeType="1" noTextEdit="1"/>
              </p:cNvSpPr>
              <p:nvPr/>
            </p:nvSpPr>
            <p:spPr>
              <a:xfrm>
                <a:off x="6335718" y="2062785"/>
                <a:ext cx="987642" cy="461665"/>
              </a:xfrm>
              <a:prstGeom prst="rect">
                <a:avLst/>
              </a:prstGeom>
              <a:blipFill>
                <a:blip r:embed="rId7"/>
                <a:stretch>
                  <a:fillRect r="-1266" b="-1842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Rectangle 9">
                <a:extLst>
                  <a:ext uri="{FF2B5EF4-FFF2-40B4-BE49-F238E27FC236}">
                    <a16:creationId xmlns:a16="http://schemas.microsoft.com/office/drawing/2014/main" id="{8A02E63F-8C5E-3F40-B9B2-E750299E3601}"/>
                  </a:ext>
                </a:extLst>
              </p:cNvPr>
              <p:cNvSpPr/>
              <p:nvPr/>
            </p:nvSpPr>
            <p:spPr>
              <a:xfrm>
                <a:off x="10401532" y="3912655"/>
                <a:ext cx="553548"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p>
                        <m:sSupPr>
                          <m:ctrlPr>
                            <a:rPr lang="en-US" sz="2400" i="1">
                              <a:latin typeface="Cambria Math" panose="02040503050406030204" pitchFamily="18" charset="0"/>
                            </a:rPr>
                          </m:ctrlPr>
                        </m:sSupPr>
                        <m:e>
                          <m:r>
                            <a:rPr lang="en-US" sz="2400" i="1">
                              <a:latin typeface="Cambria Math" panose="02040503050406030204" pitchFamily="18" charset="0"/>
                            </a:rPr>
                            <m:t>𝜖</m:t>
                          </m:r>
                        </m:e>
                        <m:sup>
                          <m:r>
                            <a:rPr lang="en-US" sz="2400" i="1">
                              <a:latin typeface="Cambria Math" panose="02040503050406030204" pitchFamily="18" charset="0"/>
                            </a:rPr>
                            <m:t>𝑟</m:t>
                          </m:r>
                        </m:sup>
                      </m:sSup>
                    </m:oMath>
                  </m:oMathPara>
                </a14:m>
                <a:endParaRPr lang="en-US" sz="2400" dirty="0"/>
              </a:p>
            </p:txBody>
          </p:sp>
        </mc:Choice>
        <mc:Fallback xmlns="">
          <p:sp>
            <p:nvSpPr>
              <p:cNvPr id="10" name="Rectangle 9">
                <a:extLst>
                  <a:ext uri="{FF2B5EF4-FFF2-40B4-BE49-F238E27FC236}">
                    <a16:creationId xmlns:a16="http://schemas.microsoft.com/office/drawing/2014/main" id="{8A02E63F-8C5E-3F40-B9B2-E750299E3601}"/>
                  </a:ext>
                </a:extLst>
              </p:cNvPr>
              <p:cNvSpPr>
                <a:spLocks noRot="1" noChangeAspect="1" noMove="1" noResize="1" noEditPoints="1" noAdjustHandles="1" noChangeArrowheads="1" noChangeShapeType="1" noTextEdit="1"/>
              </p:cNvSpPr>
              <p:nvPr/>
            </p:nvSpPr>
            <p:spPr>
              <a:xfrm>
                <a:off x="10401532" y="3912655"/>
                <a:ext cx="553548" cy="461665"/>
              </a:xfrm>
              <a:prstGeom prst="rect">
                <a:avLst/>
              </a:prstGeom>
              <a:blipFill>
                <a:blip r:embed="rId8"/>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70789447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E783A8CF-B4D1-3B4E-84A4-EA7DBE035312}"/>
              </a:ext>
            </a:extLst>
          </p:cNvPr>
          <p:cNvPicPr>
            <a:picLocks noChangeAspect="1"/>
          </p:cNvPicPr>
          <p:nvPr/>
        </p:nvPicPr>
        <p:blipFill>
          <a:blip r:embed="rId2"/>
          <a:stretch>
            <a:fillRect/>
          </a:stretch>
        </p:blipFill>
        <p:spPr>
          <a:xfrm>
            <a:off x="4922031" y="1255048"/>
            <a:ext cx="7242389" cy="5376164"/>
          </a:xfrm>
          <a:prstGeom prst="rect">
            <a:avLst/>
          </a:prstGeom>
        </p:spPr>
      </p:pic>
      <p:sp>
        <p:nvSpPr>
          <p:cNvPr id="2" name="Title 1">
            <a:extLst>
              <a:ext uri="{FF2B5EF4-FFF2-40B4-BE49-F238E27FC236}">
                <a16:creationId xmlns:a16="http://schemas.microsoft.com/office/drawing/2014/main" id="{75DCE2F9-F4C3-DA4C-B0FC-7FF6F22D148C}"/>
              </a:ext>
            </a:extLst>
          </p:cNvPr>
          <p:cNvSpPr>
            <a:spLocks noGrp="1"/>
          </p:cNvSpPr>
          <p:nvPr>
            <p:ph type="title"/>
          </p:nvPr>
        </p:nvSpPr>
        <p:spPr>
          <a:xfrm>
            <a:off x="0" y="0"/>
            <a:ext cx="10515600" cy="1325563"/>
          </a:xfrm>
        </p:spPr>
        <p:txBody>
          <a:bodyPr/>
          <a:lstStyle/>
          <a:p>
            <a:r>
              <a:rPr lang="en-US" dirty="0"/>
              <a:t>Error decency on boundary conditions</a:t>
            </a:r>
            <a:r>
              <a:rPr lang="en-US" b="1" dirty="0"/>
              <a:t> </a:t>
            </a:r>
            <a:r>
              <a:rPr lang="en-US" dirty="0"/>
              <a:t> </a:t>
            </a:r>
          </a:p>
        </p:txBody>
      </p:sp>
      <p:sp>
        <p:nvSpPr>
          <p:cNvPr id="3" name="Content Placeholder 2">
            <a:extLst>
              <a:ext uri="{FF2B5EF4-FFF2-40B4-BE49-F238E27FC236}">
                <a16:creationId xmlns:a16="http://schemas.microsoft.com/office/drawing/2014/main" id="{15C4FD65-F675-944D-A379-3A5FFFAEB784}"/>
              </a:ext>
            </a:extLst>
          </p:cNvPr>
          <p:cNvSpPr>
            <a:spLocks noGrp="1"/>
          </p:cNvSpPr>
          <p:nvPr>
            <p:ph idx="1"/>
          </p:nvPr>
        </p:nvSpPr>
        <p:spPr>
          <a:xfrm>
            <a:off x="0" y="1183342"/>
            <a:ext cx="5164567" cy="5532437"/>
          </a:xfrm>
        </p:spPr>
        <p:txBody>
          <a:bodyPr>
            <a:normAutofit/>
          </a:bodyPr>
          <a:lstStyle/>
          <a:p>
            <a:r>
              <a:rPr lang="en-US" sz="2400" dirty="0"/>
              <a:t>Solid lines: First order BC implementation: initializing the ghost cell to the boundary value</a:t>
            </a:r>
          </a:p>
          <a:p>
            <a:r>
              <a:rPr lang="en-US" sz="2400" dirty="0"/>
              <a:t>Dotted lines : Second order BC implementation: average the zone values on either side of the interface to get the boundary condition </a:t>
            </a:r>
          </a:p>
          <a:p>
            <a:endParaRPr lang="en-US" sz="2400" dirty="0"/>
          </a:p>
          <a:p>
            <a:endParaRPr lang="en-US" sz="2400" dirty="0"/>
          </a:p>
          <a:p>
            <a:endParaRPr lang="en-US" sz="2400" dirty="0"/>
          </a:p>
        </p:txBody>
      </p:sp>
      <mc:AlternateContent xmlns:mc="http://schemas.openxmlformats.org/markup-compatibility/2006" xmlns:a14="http://schemas.microsoft.com/office/drawing/2010/main">
        <mc:Choice Requires="a14">
          <p:sp>
            <p:nvSpPr>
              <p:cNvPr id="6" name="Rectangle 5">
                <a:extLst>
                  <a:ext uri="{FF2B5EF4-FFF2-40B4-BE49-F238E27FC236}">
                    <a16:creationId xmlns:a16="http://schemas.microsoft.com/office/drawing/2014/main" id="{FFB2C93E-C391-D44A-9C61-71DD34ADC43A}"/>
                  </a:ext>
                </a:extLst>
              </p:cNvPr>
              <p:cNvSpPr/>
              <p:nvPr/>
            </p:nvSpPr>
            <p:spPr>
              <a:xfrm>
                <a:off x="6645897" y="1802809"/>
                <a:ext cx="987642"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p>
                        <m:sSupPr>
                          <m:ctrlPr>
                            <a:rPr lang="en-US" sz="2400" i="1" smtClean="0">
                              <a:latin typeface="Cambria Math" panose="02040503050406030204" pitchFamily="18" charset="0"/>
                            </a:rPr>
                          </m:ctrlPr>
                        </m:sSupPr>
                        <m:e>
                          <m:r>
                            <a:rPr lang="en-US" sz="2400" b="0" i="1" smtClean="0">
                              <a:latin typeface="Cambria Math" panose="02040503050406030204" pitchFamily="18" charset="0"/>
                            </a:rPr>
                            <m:t>𝜖</m:t>
                          </m:r>
                        </m:e>
                        <m:sup>
                          <m:r>
                            <a:rPr lang="en-US" sz="2400" i="1">
                              <a:latin typeface="Cambria Math" panose="02040503050406030204" pitchFamily="18" charset="0"/>
                            </a:rPr>
                            <m:t>𝑡𝑟𝑢𝑒</m:t>
                          </m:r>
                        </m:sup>
                      </m:sSup>
                      <m:r>
                        <a:rPr lang="en-US" sz="2400" i="1">
                          <a:latin typeface="Cambria Math" panose="02040503050406030204" pitchFamily="18" charset="0"/>
                        </a:rPr>
                        <m:t> </m:t>
                      </m:r>
                    </m:oMath>
                  </m:oMathPara>
                </a14:m>
                <a:endParaRPr lang="en-US" sz="2400" dirty="0"/>
              </a:p>
            </p:txBody>
          </p:sp>
        </mc:Choice>
        <mc:Fallback xmlns="">
          <p:sp>
            <p:nvSpPr>
              <p:cNvPr id="6" name="Rectangle 5">
                <a:extLst>
                  <a:ext uri="{FF2B5EF4-FFF2-40B4-BE49-F238E27FC236}">
                    <a16:creationId xmlns:a16="http://schemas.microsoft.com/office/drawing/2014/main" id="{FFB2C93E-C391-D44A-9C61-71DD34ADC43A}"/>
                  </a:ext>
                </a:extLst>
              </p:cNvPr>
              <p:cNvSpPr>
                <a:spLocks noRot="1" noChangeAspect="1" noMove="1" noResize="1" noEditPoints="1" noAdjustHandles="1" noChangeArrowheads="1" noChangeShapeType="1" noTextEdit="1"/>
              </p:cNvSpPr>
              <p:nvPr/>
            </p:nvSpPr>
            <p:spPr>
              <a:xfrm>
                <a:off x="6645897" y="1802809"/>
                <a:ext cx="987642" cy="461665"/>
              </a:xfrm>
              <a:prstGeom prst="rect">
                <a:avLst/>
              </a:prstGeom>
              <a:blipFill>
                <a:blip r:embed="rId3"/>
                <a:stretch>
                  <a:fillRect r="-1266" b="-2162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Rectangle 11">
                <a:extLst>
                  <a:ext uri="{FF2B5EF4-FFF2-40B4-BE49-F238E27FC236}">
                    <a16:creationId xmlns:a16="http://schemas.microsoft.com/office/drawing/2014/main" id="{CCA94E1F-A90E-794F-8C99-E2377EFC808E}"/>
                  </a:ext>
                </a:extLst>
              </p:cNvPr>
              <p:cNvSpPr/>
              <p:nvPr/>
            </p:nvSpPr>
            <p:spPr>
              <a:xfrm>
                <a:off x="8045749" y="4515529"/>
                <a:ext cx="987642"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p>
                        <m:sSupPr>
                          <m:ctrlPr>
                            <a:rPr lang="en-US" sz="2400" i="1" smtClean="0">
                              <a:latin typeface="Cambria Math" panose="02040503050406030204" pitchFamily="18" charset="0"/>
                            </a:rPr>
                          </m:ctrlPr>
                        </m:sSupPr>
                        <m:e>
                          <m:r>
                            <a:rPr lang="en-US" sz="2400" b="0" i="1" smtClean="0">
                              <a:latin typeface="Cambria Math" panose="02040503050406030204" pitchFamily="18" charset="0"/>
                            </a:rPr>
                            <m:t>𝜖</m:t>
                          </m:r>
                        </m:e>
                        <m:sup>
                          <m:r>
                            <a:rPr lang="en-US" sz="2400" i="1">
                              <a:latin typeface="Cambria Math" panose="02040503050406030204" pitchFamily="18" charset="0"/>
                            </a:rPr>
                            <m:t>𝑡𝑟𝑢𝑒</m:t>
                          </m:r>
                        </m:sup>
                      </m:sSup>
                      <m:r>
                        <a:rPr lang="en-US" sz="2400" i="1">
                          <a:latin typeface="Cambria Math" panose="02040503050406030204" pitchFamily="18" charset="0"/>
                        </a:rPr>
                        <m:t> </m:t>
                      </m:r>
                    </m:oMath>
                  </m:oMathPara>
                </a14:m>
                <a:endParaRPr lang="en-US" sz="2400" dirty="0"/>
              </a:p>
            </p:txBody>
          </p:sp>
        </mc:Choice>
        <mc:Fallback xmlns="">
          <p:sp>
            <p:nvSpPr>
              <p:cNvPr id="12" name="Rectangle 11">
                <a:extLst>
                  <a:ext uri="{FF2B5EF4-FFF2-40B4-BE49-F238E27FC236}">
                    <a16:creationId xmlns:a16="http://schemas.microsoft.com/office/drawing/2014/main" id="{CCA94E1F-A90E-794F-8C99-E2377EFC808E}"/>
                  </a:ext>
                </a:extLst>
              </p:cNvPr>
              <p:cNvSpPr>
                <a:spLocks noRot="1" noChangeAspect="1" noMove="1" noResize="1" noEditPoints="1" noAdjustHandles="1" noChangeArrowheads="1" noChangeShapeType="1" noTextEdit="1"/>
              </p:cNvSpPr>
              <p:nvPr/>
            </p:nvSpPr>
            <p:spPr>
              <a:xfrm>
                <a:off x="8045749" y="4515529"/>
                <a:ext cx="987642" cy="461665"/>
              </a:xfrm>
              <a:prstGeom prst="rect">
                <a:avLst/>
              </a:prstGeom>
              <a:blipFill>
                <a:blip r:embed="rId4"/>
                <a:stretch>
                  <a:fillRect r="-2564" b="-18919"/>
                </a:stretch>
              </a:blipFill>
            </p:spPr>
            <p:txBody>
              <a:bodyPr/>
              <a:lstStyle/>
              <a:p>
                <a:r>
                  <a:rPr lang="en-US">
                    <a:noFill/>
                  </a:rPr>
                  <a:t> </a:t>
                </a:r>
              </a:p>
            </p:txBody>
          </p:sp>
        </mc:Fallback>
      </mc:AlternateContent>
    </p:spTree>
    <p:extLst>
      <p:ext uri="{BB962C8B-B14F-4D97-AF65-F5344CB8AC3E}">
        <p14:creationId xmlns:p14="http://schemas.microsoft.com/office/powerpoint/2010/main" val="81271635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DCE2F9-F4C3-DA4C-B0FC-7FF6F22D148C}"/>
              </a:ext>
            </a:extLst>
          </p:cNvPr>
          <p:cNvSpPr>
            <a:spLocks noGrp="1"/>
          </p:cNvSpPr>
          <p:nvPr>
            <p:ph type="title"/>
          </p:nvPr>
        </p:nvSpPr>
        <p:spPr>
          <a:xfrm>
            <a:off x="838200" y="0"/>
            <a:ext cx="10515600" cy="1325563"/>
          </a:xfrm>
        </p:spPr>
        <p:txBody>
          <a:bodyPr/>
          <a:lstStyle/>
          <a:p>
            <a:r>
              <a:rPr lang="en-US" dirty="0"/>
              <a:t>Behavior of a single mode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5C4FD65-F675-944D-A379-3A5FFFAEB784}"/>
                  </a:ext>
                </a:extLst>
              </p:cNvPr>
              <p:cNvSpPr>
                <a:spLocks noGrp="1"/>
              </p:cNvSpPr>
              <p:nvPr>
                <p:ph idx="1"/>
              </p:nvPr>
            </p:nvSpPr>
            <p:spPr>
              <a:xfrm>
                <a:off x="279699" y="1325562"/>
                <a:ext cx="11575228" cy="6290852"/>
              </a:xfrm>
            </p:spPr>
            <p:txBody>
              <a:bodyPr>
                <a:normAutofit/>
              </a:bodyPr>
              <a:lstStyle/>
              <a:p>
                <a:r>
                  <a:rPr lang="en-US" dirty="0"/>
                  <a:t>Smoothing takes a long time to converge to the solution. </a:t>
                </a:r>
              </a:p>
              <a:p>
                <a:r>
                  <a:rPr lang="en-US" dirty="0"/>
                  <a:t>To understand why this is the case, let’s look at the behavior of a single frequency mode under relaxation. </a:t>
                </a:r>
              </a:p>
              <a:p>
                <a:r>
                  <a:rPr lang="en-US" dirty="0"/>
                  <a:t>We’ll use the Laplace equation:</a:t>
                </a:r>
              </a:p>
              <a:p>
                <a:pPr marL="0" indent="0">
                  <a:buNone/>
                </a:pPr>
                <a14:m>
                  <m:oMathPara xmlns:m="http://schemas.openxmlformats.org/officeDocument/2006/math">
                    <m:oMathParaPr>
                      <m:jc m:val="centerGroup"/>
                    </m:oMathParaPr>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𝜙</m:t>
                          </m:r>
                        </m:e>
                        <m:sup>
                          <m:r>
                            <a:rPr lang="en-US" b="0" i="1" smtClean="0">
                              <a:latin typeface="Cambria Math" panose="02040503050406030204" pitchFamily="18" charset="0"/>
                            </a:rPr>
                            <m:t>′′</m:t>
                          </m:r>
                        </m:sup>
                      </m:sSup>
                      <m:r>
                        <a:rPr lang="en-US" b="0" i="1" smtClean="0">
                          <a:latin typeface="Cambria Math" panose="02040503050406030204" pitchFamily="18" charset="0"/>
                        </a:rPr>
                        <m:t>=0</m:t>
                      </m:r>
                    </m:oMath>
                  </m:oMathPara>
                </a14:m>
                <a:endParaRPr lang="en-US" dirty="0"/>
              </a:p>
              <a:p>
                <a:pPr marL="0" indent="0">
                  <a:buNone/>
                </a:pPr>
                <a:r>
                  <a:rPr lang="en-US" dirty="0"/>
                  <a:t>   on [0,1] with homogeneous BCs as our test case.</a:t>
                </a:r>
              </a:p>
              <a:p>
                <a:r>
                  <a:rPr lang="en-US" dirty="0"/>
                  <a:t>The solution to this is trivial : </a:t>
                </a:r>
                <a14:m>
                  <m:oMath xmlns:m="http://schemas.openxmlformats.org/officeDocument/2006/math">
                    <m:r>
                      <a:rPr lang="en-US" b="0" i="1" smtClean="0">
                        <a:latin typeface="Cambria Math" panose="02040503050406030204" pitchFamily="18" charset="0"/>
                      </a:rPr>
                      <m:t>𝜙</m:t>
                    </m:r>
                    <m:r>
                      <a:rPr lang="en-US" b="0" i="1" smtClean="0">
                        <a:latin typeface="Cambria Math" panose="02040503050406030204" pitchFamily="18" charset="0"/>
                      </a:rPr>
                      <m:t>=0</m:t>
                    </m:r>
                  </m:oMath>
                </a14:m>
                <a:endParaRPr lang="en-US" dirty="0"/>
              </a:p>
              <a:p>
                <a:r>
                  <a:rPr lang="en-US" dirty="0"/>
                  <a:t>So if we initialize the solution with a single-frequency sine wave, and smooth it, we can compute the error easily.</a:t>
                </a:r>
              </a:p>
              <a:p>
                <a:r>
                  <a:rPr lang="en-US" dirty="0"/>
                  <a:t>We’ll use an initial guess of a single mode sine wave:</a:t>
                </a:r>
              </a:p>
              <a:p>
                <a:pPr marL="0" indent="0">
                  <a:lnSpc>
                    <a:spcPct val="150000"/>
                  </a:lnSpc>
                  <a:buNone/>
                </a:pPr>
                <a14:m>
                  <m:oMathPara xmlns:m="http://schemas.openxmlformats.org/officeDocument/2006/math">
                    <m:oMathParaPr>
                      <m:jc m:val="centerGroup"/>
                    </m:oMathParaPr>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𝜙</m:t>
                          </m:r>
                        </m:e>
                        <m:sup>
                          <m:r>
                            <a:rPr lang="en-US" b="0" i="1" smtClean="0">
                              <a:latin typeface="Cambria Math" panose="02040503050406030204" pitchFamily="18" charset="0"/>
                            </a:rPr>
                            <m:t>(0)</m:t>
                          </m:r>
                        </m:sup>
                      </m:sSup>
                      <m:r>
                        <a:rPr lang="en-US" b="0" i="1" smtClean="0">
                          <a:latin typeface="Cambria Math" panose="02040503050406030204" pitchFamily="18" charset="0"/>
                        </a:rPr>
                        <m:t>=</m:t>
                      </m:r>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sin</m:t>
                          </m:r>
                        </m:fName>
                        <m:e>
                          <m:r>
                            <a:rPr lang="en-US" b="0" i="1" smtClean="0">
                              <a:latin typeface="Cambria Math" panose="02040503050406030204" pitchFamily="18" charset="0"/>
                            </a:rPr>
                            <m:t>2</m:t>
                          </m:r>
                          <m:r>
                            <a:rPr lang="en-US" b="0" i="1" smtClean="0">
                              <a:latin typeface="Cambria Math" panose="02040503050406030204" pitchFamily="18" charset="0"/>
                            </a:rPr>
                            <m:t>𝜋</m:t>
                          </m:r>
                          <m:r>
                            <a:rPr lang="en-US" b="0" i="1" smtClean="0">
                              <a:latin typeface="Cambria Math" panose="02040503050406030204" pitchFamily="18" charset="0"/>
                            </a:rPr>
                            <m:t>𝑚𝑥</m:t>
                          </m:r>
                        </m:e>
                      </m:func>
                    </m:oMath>
                  </m:oMathPara>
                </a14:m>
                <a:br>
                  <a:rPr lang="en-US" dirty="0"/>
                </a:br>
                <a:endParaRPr lang="en-US" dirty="0"/>
              </a:p>
            </p:txBody>
          </p:sp>
        </mc:Choice>
        <mc:Fallback xmlns="">
          <p:sp>
            <p:nvSpPr>
              <p:cNvPr id="3" name="Content Placeholder 2">
                <a:extLst>
                  <a:ext uri="{FF2B5EF4-FFF2-40B4-BE49-F238E27FC236}">
                    <a16:creationId xmlns:a16="http://schemas.microsoft.com/office/drawing/2014/main" id="{15C4FD65-F675-944D-A379-3A5FFFAEB784}"/>
                  </a:ext>
                </a:extLst>
              </p:cNvPr>
              <p:cNvSpPr>
                <a:spLocks noGrp="1" noRot="1" noChangeAspect="1" noMove="1" noResize="1" noEditPoints="1" noAdjustHandles="1" noChangeArrowheads="1" noChangeShapeType="1" noTextEdit="1"/>
              </p:cNvSpPr>
              <p:nvPr>
                <p:ph idx="1"/>
              </p:nvPr>
            </p:nvSpPr>
            <p:spPr>
              <a:xfrm>
                <a:off x="279699" y="1325562"/>
                <a:ext cx="11575228" cy="6290852"/>
              </a:xfrm>
              <a:blipFill>
                <a:blip r:embed="rId2"/>
                <a:stretch>
                  <a:fillRect l="-877" t="-1408" r="-877"/>
                </a:stretch>
              </a:blipFill>
            </p:spPr>
            <p:txBody>
              <a:bodyPr/>
              <a:lstStyle/>
              <a:p>
                <a:r>
                  <a:rPr lang="en-US">
                    <a:noFill/>
                  </a:rPr>
                  <a:t> </a:t>
                </a:r>
              </a:p>
            </p:txBody>
          </p:sp>
        </mc:Fallback>
      </mc:AlternateContent>
    </p:spTree>
    <p:extLst>
      <p:ext uri="{BB962C8B-B14F-4D97-AF65-F5344CB8AC3E}">
        <p14:creationId xmlns:p14="http://schemas.microsoft.com/office/powerpoint/2010/main" val="2520808145"/>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87778AD9-BF66-1F42-BE26-32AA60F6CED2}"/>
              </a:ext>
            </a:extLst>
          </p:cNvPr>
          <p:cNvPicPr>
            <a:picLocks noChangeAspect="1"/>
          </p:cNvPicPr>
          <p:nvPr/>
        </p:nvPicPr>
        <p:blipFill>
          <a:blip r:embed="rId2"/>
          <a:stretch>
            <a:fillRect/>
          </a:stretch>
        </p:blipFill>
        <p:spPr>
          <a:xfrm>
            <a:off x="2011680" y="1122194"/>
            <a:ext cx="7833622" cy="5735805"/>
          </a:xfrm>
          <a:prstGeom prst="rect">
            <a:avLst/>
          </a:prstGeom>
        </p:spPr>
      </p:pic>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75DCE2F9-F4C3-DA4C-B0FC-7FF6F22D148C}"/>
                  </a:ext>
                </a:extLst>
              </p:cNvPr>
              <p:cNvSpPr>
                <a:spLocks noGrp="1"/>
              </p:cNvSpPr>
              <p:nvPr>
                <p:ph type="title"/>
              </p:nvPr>
            </p:nvSpPr>
            <p:spPr>
              <a:xfrm>
                <a:off x="838200" y="0"/>
                <a:ext cx="10515600" cy="1325563"/>
              </a:xfrm>
            </p:spPr>
            <p:txBody>
              <a:bodyPr/>
              <a:lstStyle/>
              <a:p>
                <a:r>
                  <a:rPr lang="en-US" dirty="0"/>
                  <a:t>Relaxation with of a sine wave with </a:t>
                </a:r>
                <a14:m>
                  <m:oMath xmlns:m="http://schemas.openxmlformats.org/officeDocument/2006/math">
                    <m:r>
                      <a:rPr lang="en-US" b="0" i="1" smtClean="0">
                        <a:latin typeface="Cambria Math" panose="02040503050406030204" pitchFamily="18" charset="0"/>
                      </a:rPr>
                      <m:t>𝑚</m:t>
                    </m:r>
                    <m:r>
                      <a:rPr lang="en-US" b="0" i="1" smtClean="0">
                        <a:latin typeface="Cambria Math" panose="02040503050406030204" pitchFamily="18" charset="0"/>
                      </a:rPr>
                      <m:t>=1</m:t>
                    </m:r>
                  </m:oMath>
                </a14:m>
                <a:endParaRPr lang="en-US" dirty="0"/>
              </a:p>
            </p:txBody>
          </p:sp>
        </mc:Choice>
        <mc:Fallback xmlns="">
          <p:sp>
            <p:nvSpPr>
              <p:cNvPr id="2" name="Title 1">
                <a:extLst>
                  <a:ext uri="{FF2B5EF4-FFF2-40B4-BE49-F238E27FC236}">
                    <a16:creationId xmlns:a16="http://schemas.microsoft.com/office/drawing/2014/main" id="{75DCE2F9-F4C3-DA4C-B0FC-7FF6F22D148C}"/>
                  </a:ext>
                </a:extLst>
              </p:cNvPr>
              <p:cNvSpPr>
                <a:spLocks noGrp="1" noRot="1" noChangeAspect="1" noMove="1" noResize="1" noEditPoints="1" noAdjustHandles="1" noChangeArrowheads="1" noChangeShapeType="1" noTextEdit="1"/>
              </p:cNvSpPr>
              <p:nvPr>
                <p:ph type="title"/>
              </p:nvPr>
            </p:nvSpPr>
            <p:spPr>
              <a:xfrm>
                <a:off x="838200" y="0"/>
                <a:ext cx="10515600" cy="1325563"/>
              </a:xfrm>
              <a:blipFill>
                <a:blip r:embed="rId3"/>
                <a:stretch>
                  <a:fillRect l="-2292"/>
                </a:stretch>
              </a:blipFill>
            </p:spPr>
            <p:txBody>
              <a:bodyPr/>
              <a:lstStyle/>
              <a:p>
                <a:r>
                  <a:rPr lang="en-US">
                    <a:noFill/>
                  </a:rPr>
                  <a:t> </a:t>
                </a:r>
              </a:p>
            </p:txBody>
          </p:sp>
        </mc:Fallback>
      </mc:AlternateContent>
      <p:sp>
        <p:nvSpPr>
          <p:cNvPr id="7" name="TextBox 6">
            <a:extLst>
              <a:ext uri="{FF2B5EF4-FFF2-40B4-BE49-F238E27FC236}">
                <a16:creationId xmlns:a16="http://schemas.microsoft.com/office/drawing/2014/main" id="{6E798AAA-7099-3640-87BB-1EFAF443DFF2}"/>
              </a:ext>
            </a:extLst>
          </p:cNvPr>
          <p:cNvSpPr txBox="1"/>
          <p:nvPr/>
        </p:nvSpPr>
        <p:spPr>
          <a:xfrm>
            <a:off x="268941" y="1239502"/>
            <a:ext cx="1964256" cy="707886"/>
          </a:xfrm>
          <a:prstGeom prst="rect">
            <a:avLst/>
          </a:prstGeom>
          <a:noFill/>
          <a:ln>
            <a:solidFill>
              <a:srgbClr val="FF0000"/>
            </a:solidFill>
          </a:ln>
        </p:spPr>
        <p:txBody>
          <a:bodyPr wrap="none" rtlCol="0">
            <a:spAutoFit/>
          </a:bodyPr>
          <a:lstStyle/>
          <a:p>
            <a:r>
              <a:rPr lang="en-US" sz="2000" dirty="0">
                <a:solidFill>
                  <a:srgbClr val="FF0000"/>
                </a:solidFill>
              </a:rPr>
              <a:t>The errors are</a:t>
            </a:r>
          </a:p>
          <a:p>
            <a:r>
              <a:rPr lang="en-US" sz="2000" dirty="0">
                <a:solidFill>
                  <a:srgbClr val="FF0000"/>
                </a:solidFill>
              </a:rPr>
              <a:t>deviation from 0 </a:t>
            </a:r>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370C8DAF-D1A2-014E-A775-CEF3C33EBE3F}"/>
                  </a:ext>
                </a:extLst>
              </p:cNvPr>
              <p:cNvSpPr txBox="1"/>
              <p:nvPr/>
            </p:nvSpPr>
            <p:spPr>
              <a:xfrm>
                <a:off x="288947" y="2565065"/>
                <a:ext cx="1944250" cy="707886"/>
              </a:xfrm>
              <a:prstGeom prst="rect">
                <a:avLst/>
              </a:prstGeom>
              <a:noFill/>
              <a:ln>
                <a:solidFill>
                  <a:schemeClr val="tx1"/>
                </a:solidFill>
              </a:ln>
            </p:spPr>
            <p:txBody>
              <a:bodyPr wrap="none" rtlCol="0">
                <a:spAutoFit/>
              </a:bodyPr>
              <a:lstStyle/>
              <a:p>
                <a:r>
                  <a:rPr lang="en-US" sz="2000" dirty="0"/>
                  <a:t>Converges after</a:t>
                </a:r>
              </a:p>
              <a:p>
                <a14:m>
                  <m:oMath xmlns:m="http://schemas.openxmlformats.org/officeDocument/2006/math">
                    <m:r>
                      <a:rPr lang="en-US" sz="2000" b="0" i="1" smtClean="0">
                        <a:latin typeface="Cambria Math" panose="02040503050406030204" pitchFamily="18" charset="0"/>
                      </a:rPr>
                      <m:t>&gt;1000</m:t>
                    </m:r>
                  </m:oMath>
                </a14:m>
                <a:r>
                  <a:rPr lang="en-US" sz="2000" dirty="0"/>
                  <a:t> itrations</a:t>
                </a:r>
              </a:p>
            </p:txBody>
          </p:sp>
        </mc:Choice>
        <mc:Fallback xmlns="">
          <p:sp>
            <p:nvSpPr>
              <p:cNvPr id="13" name="TextBox 12">
                <a:extLst>
                  <a:ext uri="{FF2B5EF4-FFF2-40B4-BE49-F238E27FC236}">
                    <a16:creationId xmlns:a16="http://schemas.microsoft.com/office/drawing/2014/main" id="{370C8DAF-D1A2-014E-A775-CEF3C33EBE3F}"/>
                  </a:ext>
                </a:extLst>
              </p:cNvPr>
              <p:cNvSpPr txBox="1">
                <a:spLocks noRot="1" noChangeAspect="1" noMove="1" noResize="1" noEditPoints="1" noAdjustHandles="1" noChangeArrowheads="1" noChangeShapeType="1" noTextEdit="1"/>
              </p:cNvSpPr>
              <p:nvPr/>
            </p:nvSpPr>
            <p:spPr>
              <a:xfrm>
                <a:off x="288947" y="2565065"/>
                <a:ext cx="1944250" cy="707886"/>
              </a:xfrm>
              <a:prstGeom prst="rect">
                <a:avLst/>
              </a:prstGeom>
              <a:blipFill>
                <a:blip r:embed="rId4"/>
                <a:stretch>
                  <a:fillRect l="-3226" t="-3448" r="-1290" b="-10345"/>
                </a:stretch>
              </a:blipFill>
              <a:ln>
                <a:solidFill>
                  <a:schemeClr val="tx1"/>
                </a:solidFill>
              </a:ln>
            </p:spPr>
            <p:txBody>
              <a:bodyPr/>
              <a:lstStyle/>
              <a:p>
                <a:r>
                  <a:rPr lang="en-US">
                    <a:noFill/>
                  </a:rPr>
                  <a:t> </a:t>
                </a:r>
              </a:p>
            </p:txBody>
          </p:sp>
        </mc:Fallback>
      </mc:AlternateContent>
    </p:spTree>
    <p:extLst>
      <p:ext uri="{BB962C8B-B14F-4D97-AF65-F5344CB8AC3E}">
        <p14:creationId xmlns:p14="http://schemas.microsoft.com/office/powerpoint/2010/main" val="266267864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87778AD9-BF66-1F42-BE26-32AA60F6CED2}"/>
              </a:ext>
            </a:extLst>
          </p:cNvPr>
          <p:cNvPicPr>
            <a:picLocks noChangeAspect="1"/>
          </p:cNvPicPr>
          <p:nvPr/>
        </p:nvPicPr>
        <p:blipFill>
          <a:blip r:embed="rId2"/>
          <a:stretch>
            <a:fillRect/>
          </a:stretch>
        </p:blipFill>
        <p:spPr>
          <a:xfrm>
            <a:off x="2011680" y="1122194"/>
            <a:ext cx="7833622" cy="5735805"/>
          </a:xfrm>
          <a:prstGeom prst="rect">
            <a:avLst/>
          </a:prstGeom>
        </p:spPr>
      </p:pic>
      <p:pic>
        <p:nvPicPr>
          <p:cNvPr id="11" name="Picture 10">
            <a:extLst>
              <a:ext uri="{FF2B5EF4-FFF2-40B4-BE49-F238E27FC236}">
                <a16:creationId xmlns:a16="http://schemas.microsoft.com/office/drawing/2014/main" id="{7AC42CA7-1256-244B-9B3B-ABA12250788A}"/>
              </a:ext>
            </a:extLst>
          </p:cNvPr>
          <p:cNvPicPr>
            <a:picLocks noChangeAspect="1"/>
          </p:cNvPicPr>
          <p:nvPr/>
        </p:nvPicPr>
        <p:blipFill>
          <a:blip r:embed="rId3"/>
          <a:stretch>
            <a:fillRect/>
          </a:stretch>
        </p:blipFill>
        <p:spPr>
          <a:xfrm>
            <a:off x="2011680" y="1122195"/>
            <a:ext cx="7833622" cy="5735805"/>
          </a:xfrm>
          <a:prstGeom prst="rect">
            <a:avLst/>
          </a:prstGeom>
        </p:spPr>
      </p:pic>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75DCE2F9-F4C3-DA4C-B0FC-7FF6F22D148C}"/>
                  </a:ext>
                </a:extLst>
              </p:cNvPr>
              <p:cNvSpPr>
                <a:spLocks noGrp="1"/>
              </p:cNvSpPr>
              <p:nvPr>
                <p:ph type="title"/>
              </p:nvPr>
            </p:nvSpPr>
            <p:spPr>
              <a:xfrm>
                <a:off x="838200" y="0"/>
                <a:ext cx="10515600" cy="1325563"/>
              </a:xfrm>
            </p:spPr>
            <p:txBody>
              <a:bodyPr/>
              <a:lstStyle/>
              <a:p>
                <a:r>
                  <a:rPr lang="en-US" dirty="0"/>
                  <a:t>Relaxation with of a sine wave with </a:t>
                </a:r>
                <a14:m>
                  <m:oMath xmlns:m="http://schemas.openxmlformats.org/officeDocument/2006/math">
                    <m:r>
                      <a:rPr lang="en-US" b="0" i="1" smtClean="0">
                        <a:latin typeface="Cambria Math" panose="02040503050406030204" pitchFamily="18" charset="0"/>
                      </a:rPr>
                      <m:t>𝑚</m:t>
                    </m:r>
                    <m:r>
                      <a:rPr lang="en-US" b="0" i="1" smtClean="0">
                        <a:latin typeface="Cambria Math" panose="02040503050406030204" pitchFamily="18" charset="0"/>
                      </a:rPr>
                      <m:t>=5</m:t>
                    </m:r>
                  </m:oMath>
                </a14:m>
                <a:endParaRPr lang="en-US" dirty="0"/>
              </a:p>
            </p:txBody>
          </p:sp>
        </mc:Choice>
        <mc:Fallback xmlns="">
          <p:sp>
            <p:nvSpPr>
              <p:cNvPr id="2" name="Title 1">
                <a:extLst>
                  <a:ext uri="{FF2B5EF4-FFF2-40B4-BE49-F238E27FC236}">
                    <a16:creationId xmlns:a16="http://schemas.microsoft.com/office/drawing/2014/main" id="{75DCE2F9-F4C3-DA4C-B0FC-7FF6F22D148C}"/>
                  </a:ext>
                </a:extLst>
              </p:cNvPr>
              <p:cNvSpPr>
                <a:spLocks noGrp="1" noRot="1" noChangeAspect="1" noMove="1" noResize="1" noEditPoints="1" noAdjustHandles="1" noChangeArrowheads="1" noChangeShapeType="1" noTextEdit="1"/>
              </p:cNvSpPr>
              <p:nvPr>
                <p:ph type="title"/>
              </p:nvPr>
            </p:nvSpPr>
            <p:spPr>
              <a:xfrm>
                <a:off x="838200" y="0"/>
                <a:ext cx="10515600" cy="1325563"/>
              </a:xfrm>
              <a:blipFill>
                <a:blip r:embed="rId4"/>
                <a:stretch>
                  <a:fillRect l="-2292"/>
                </a:stretch>
              </a:blipFill>
            </p:spPr>
            <p:txBody>
              <a:bodyPr/>
              <a:lstStyle/>
              <a:p>
                <a:r>
                  <a:rPr lang="en-US">
                    <a:noFill/>
                  </a:rPr>
                  <a:t> </a:t>
                </a:r>
              </a:p>
            </p:txBody>
          </p:sp>
        </mc:Fallback>
      </mc:AlternateContent>
      <p:sp>
        <p:nvSpPr>
          <p:cNvPr id="8" name="TextBox 7">
            <a:extLst>
              <a:ext uri="{FF2B5EF4-FFF2-40B4-BE49-F238E27FC236}">
                <a16:creationId xmlns:a16="http://schemas.microsoft.com/office/drawing/2014/main" id="{8F731AF4-38E2-8648-B3C3-C09395672629}"/>
              </a:ext>
            </a:extLst>
          </p:cNvPr>
          <p:cNvSpPr txBox="1"/>
          <p:nvPr/>
        </p:nvSpPr>
        <p:spPr>
          <a:xfrm>
            <a:off x="268941" y="1239502"/>
            <a:ext cx="1964256" cy="707886"/>
          </a:xfrm>
          <a:prstGeom prst="rect">
            <a:avLst/>
          </a:prstGeom>
          <a:noFill/>
          <a:ln>
            <a:solidFill>
              <a:srgbClr val="FF0000"/>
            </a:solidFill>
          </a:ln>
        </p:spPr>
        <p:txBody>
          <a:bodyPr wrap="none" rtlCol="0">
            <a:spAutoFit/>
          </a:bodyPr>
          <a:lstStyle/>
          <a:p>
            <a:r>
              <a:rPr lang="en-US" sz="2000" dirty="0">
                <a:solidFill>
                  <a:srgbClr val="FF0000"/>
                </a:solidFill>
              </a:rPr>
              <a:t>The errors are</a:t>
            </a:r>
          </a:p>
          <a:p>
            <a:r>
              <a:rPr lang="en-US" sz="2000" dirty="0">
                <a:solidFill>
                  <a:srgbClr val="FF0000"/>
                </a:solidFill>
              </a:rPr>
              <a:t>deviation from 0 </a:t>
            </a:r>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B8F6A0BC-27E0-424D-9695-AD5AAD8448BF}"/>
                  </a:ext>
                </a:extLst>
              </p:cNvPr>
              <p:cNvSpPr txBox="1"/>
              <p:nvPr/>
            </p:nvSpPr>
            <p:spPr>
              <a:xfrm>
                <a:off x="288947" y="2565065"/>
                <a:ext cx="1820755" cy="707886"/>
              </a:xfrm>
              <a:prstGeom prst="rect">
                <a:avLst/>
              </a:prstGeom>
              <a:noFill/>
              <a:ln>
                <a:solidFill>
                  <a:schemeClr val="tx1"/>
                </a:solidFill>
              </a:ln>
            </p:spPr>
            <p:txBody>
              <a:bodyPr wrap="none" rtlCol="0">
                <a:spAutoFit/>
              </a:bodyPr>
              <a:lstStyle/>
              <a:p>
                <a:r>
                  <a:rPr lang="en-US" sz="2000" dirty="0"/>
                  <a:t>Converges after</a:t>
                </a:r>
              </a:p>
              <a:p>
                <a14:m>
                  <m:oMath xmlns:m="http://schemas.openxmlformats.org/officeDocument/2006/math">
                    <m:r>
                      <a:rPr lang="en-US" sz="2000" b="0" i="1" smtClean="0">
                        <a:latin typeface="Cambria Math" panose="02040503050406030204" pitchFamily="18" charset="0"/>
                      </a:rPr>
                      <m:t>&gt;100</m:t>
                    </m:r>
                  </m:oMath>
                </a14:m>
                <a:r>
                  <a:rPr lang="en-US" sz="2000" dirty="0"/>
                  <a:t> itrations</a:t>
                </a:r>
              </a:p>
            </p:txBody>
          </p:sp>
        </mc:Choice>
        <mc:Fallback xmlns="">
          <p:sp>
            <p:nvSpPr>
              <p:cNvPr id="9" name="TextBox 8">
                <a:extLst>
                  <a:ext uri="{FF2B5EF4-FFF2-40B4-BE49-F238E27FC236}">
                    <a16:creationId xmlns:a16="http://schemas.microsoft.com/office/drawing/2014/main" id="{B8F6A0BC-27E0-424D-9695-AD5AAD8448BF}"/>
                  </a:ext>
                </a:extLst>
              </p:cNvPr>
              <p:cNvSpPr txBox="1">
                <a:spLocks noRot="1" noChangeAspect="1" noMove="1" noResize="1" noEditPoints="1" noAdjustHandles="1" noChangeArrowheads="1" noChangeShapeType="1" noTextEdit="1"/>
              </p:cNvSpPr>
              <p:nvPr/>
            </p:nvSpPr>
            <p:spPr>
              <a:xfrm>
                <a:off x="288947" y="2565065"/>
                <a:ext cx="1820755" cy="707886"/>
              </a:xfrm>
              <a:prstGeom prst="rect">
                <a:avLst/>
              </a:prstGeom>
              <a:blipFill>
                <a:blip r:embed="rId5"/>
                <a:stretch>
                  <a:fillRect l="-3448" t="-3448" r="-1379" b="-10345"/>
                </a:stretch>
              </a:blipFill>
              <a:ln>
                <a:solidFill>
                  <a:schemeClr val="tx1"/>
                </a:solidFill>
              </a:ln>
            </p:spPr>
            <p:txBody>
              <a:bodyPr/>
              <a:lstStyle/>
              <a:p>
                <a:r>
                  <a:rPr lang="en-US">
                    <a:noFill/>
                  </a:rPr>
                  <a:t> </a:t>
                </a:r>
              </a:p>
            </p:txBody>
          </p:sp>
        </mc:Fallback>
      </mc:AlternateContent>
    </p:spTree>
    <p:extLst>
      <p:ext uri="{BB962C8B-B14F-4D97-AF65-F5344CB8AC3E}">
        <p14:creationId xmlns:p14="http://schemas.microsoft.com/office/powerpoint/2010/main" val="426912813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87778AD9-BF66-1F42-BE26-32AA60F6CED2}"/>
              </a:ext>
            </a:extLst>
          </p:cNvPr>
          <p:cNvPicPr>
            <a:picLocks noChangeAspect="1"/>
          </p:cNvPicPr>
          <p:nvPr/>
        </p:nvPicPr>
        <p:blipFill>
          <a:blip r:embed="rId2"/>
          <a:stretch>
            <a:fillRect/>
          </a:stretch>
        </p:blipFill>
        <p:spPr>
          <a:xfrm>
            <a:off x="2011680" y="1122194"/>
            <a:ext cx="7833622" cy="5735805"/>
          </a:xfrm>
          <a:prstGeom prst="rect">
            <a:avLst/>
          </a:prstGeom>
        </p:spPr>
      </p:pic>
      <p:pic>
        <p:nvPicPr>
          <p:cNvPr id="11" name="Picture 10">
            <a:extLst>
              <a:ext uri="{FF2B5EF4-FFF2-40B4-BE49-F238E27FC236}">
                <a16:creationId xmlns:a16="http://schemas.microsoft.com/office/drawing/2014/main" id="{7AC42CA7-1256-244B-9B3B-ABA12250788A}"/>
              </a:ext>
            </a:extLst>
          </p:cNvPr>
          <p:cNvPicPr>
            <a:picLocks noChangeAspect="1"/>
          </p:cNvPicPr>
          <p:nvPr/>
        </p:nvPicPr>
        <p:blipFill>
          <a:blip r:embed="rId3"/>
          <a:stretch>
            <a:fillRect/>
          </a:stretch>
        </p:blipFill>
        <p:spPr>
          <a:xfrm>
            <a:off x="2011680" y="1122195"/>
            <a:ext cx="7833622" cy="5735805"/>
          </a:xfrm>
          <a:prstGeom prst="rect">
            <a:avLst/>
          </a:prstGeom>
        </p:spPr>
      </p:pic>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75DCE2F9-F4C3-DA4C-B0FC-7FF6F22D148C}"/>
                  </a:ext>
                </a:extLst>
              </p:cNvPr>
              <p:cNvSpPr>
                <a:spLocks noGrp="1"/>
              </p:cNvSpPr>
              <p:nvPr>
                <p:ph type="title"/>
              </p:nvPr>
            </p:nvSpPr>
            <p:spPr>
              <a:xfrm>
                <a:off x="838200" y="0"/>
                <a:ext cx="10515600" cy="1325563"/>
              </a:xfrm>
            </p:spPr>
            <p:txBody>
              <a:bodyPr/>
              <a:lstStyle/>
              <a:p>
                <a:r>
                  <a:rPr lang="en-US" dirty="0"/>
                  <a:t>Relaxation with of a sine wave with </a:t>
                </a:r>
                <a14:m>
                  <m:oMath xmlns:m="http://schemas.openxmlformats.org/officeDocument/2006/math">
                    <m:r>
                      <a:rPr lang="en-US" b="0" i="1" smtClean="0">
                        <a:latin typeface="Cambria Math" panose="02040503050406030204" pitchFamily="18" charset="0"/>
                      </a:rPr>
                      <m:t>𝑚</m:t>
                    </m:r>
                    <m:r>
                      <a:rPr lang="en-US" b="0" i="1" smtClean="0">
                        <a:latin typeface="Cambria Math" panose="02040503050406030204" pitchFamily="18" charset="0"/>
                      </a:rPr>
                      <m:t>=10</m:t>
                    </m:r>
                  </m:oMath>
                </a14:m>
                <a:endParaRPr lang="en-US" dirty="0"/>
              </a:p>
            </p:txBody>
          </p:sp>
        </mc:Choice>
        <mc:Fallback xmlns="">
          <p:sp>
            <p:nvSpPr>
              <p:cNvPr id="2" name="Title 1">
                <a:extLst>
                  <a:ext uri="{FF2B5EF4-FFF2-40B4-BE49-F238E27FC236}">
                    <a16:creationId xmlns:a16="http://schemas.microsoft.com/office/drawing/2014/main" id="{75DCE2F9-F4C3-DA4C-B0FC-7FF6F22D148C}"/>
                  </a:ext>
                </a:extLst>
              </p:cNvPr>
              <p:cNvSpPr>
                <a:spLocks noGrp="1" noRot="1" noChangeAspect="1" noMove="1" noResize="1" noEditPoints="1" noAdjustHandles="1" noChangeArrowheads="1" noChangeShapeType="1" noTextEdit="1"/>
              </p:cNvSpPr>
              <p:nvPr>
                <p:ph type="title"/>
              </p:nvPr>
            </p:nvSpPr>
            <p:spPr>
              <a:xfrm>
                <a:off x="838200" y="0"/>
                <a:ext cx="10515600" cy="1325563"/>
              </a:xfrm>
              <a:blipFill>
                <a:blip r:embed="rId4"/>
                <a:stretch>
                  <a:fillRect l="-2292"/>
                </a:stretch>
              </a:blipFill>
            </p:spPr>
            <p:txBody>
              <a:bodyPr/>
              <a:lstStyle/>
              <a:p>
                <a:r>
                  <a:rPr lang="en-US">
                    <a:noFill/>
                  </a:rPr>
                  <a:t> </a:t>
                </a:r>
              </a:p>
            </p:txBody>
          </p:sp>
        </mc:Fallback>
      </mc:AlternateContent>
      <p:pic>
        <p:nvPicPr>
          <p:cNvPr id="12" name="Picture 11">
            <a:extLst>
              <a:ext uri="{FF2B5EF4-FFF2-40B4-BE49-F238E27FC236}">
                <a16:creationId xmlns:a16="http://schemas.microsoft.com/office/drawing/2014/main" id="{620AC85D-FA6F-F84A-80BA-2F2806B0DEED}"/>
              </a:ext>
            </a:extLst>
          </p:cNvPr>
          <p:cNvPicPr>
            <a:picLocks noChangeAspect="1"/>
          </p:cNvPicPr>
          <p:nvPr/>
        </p:nvPicPr>
        <p:blipFill>
          <a:blip r:embed="rId5"/>
          <a:stretch>
            <a:fillRect/>
          </a:stretch>
        </p:blipFill>
        <p:spPr>
          <a:xfrm>
            <a:off x="2011680" y="1122193"/>
            <a:ext cx="7833624" cy="5735806"/>
          </a:xfrm>
          <a:prstGeom prst="rect">
            <a:avLst/>
          </a:prstGeom>
        </p:spPr>
      </p:pic>
      <p:sp>
        <p:nvSpPr>
          <p:cNvPr id="8" name="TextBox 7">
            <a:extLst>
              <a:ext uri="{FF2B5EF4-FFF2-40B4-BE49-F238E27FC236}">
                <a16:creationId xmlns:a16="http://schemas.microsoft.com/office/drawing/2014/main" id="{318736AF-C56A-514C-BC75-FF24232D721A}"/>
              </a:ext>
            </a:extLst>
          </p:cNvPr>
          <p:cNvSpPr txBox="1"/>
          <p:nvPr/>
        </p:nvSpPr>
        <p:spPr>
          <a:xfrm>
            <a:off x="268941" y="1239502"/>
            <a:ext cx="1964256" cy="707886"/>
          </a:xfrm>
          <a:prstGeom prst="rect">
            <a:avLst/>
          </a:prstGeom>
          <a:noFill/>
          <a:ln>
            <a:solidFill>
              <a:srgbClr val="FF0000"/>
            </a:solidFill>
          </a:ln>
        </p:spPr>
        <p:txBody>
          <a:bodyPr wrap="none" rtlCol="0">
            <a:spAutoFit/>
          </a:bodyPr>
          <a:lstStyle/>
          <a:p>
            <a:r>
              <a:rPr lang="en-US" sz="2000" dirty="0">
                <a:solidFill>
                  <a:srgbClr val="FF0000"/>
                </a:solidFill>
              </a:rPr>
              <a:t>The errors are</a:t>
            </a:r>
          </a:p>
          <a:p>
            <a:r>
              <a:rPr lang="en-US" sz="2000" dirty="0">
                <a:solidFill>
                  <a:srgbClr val="FF0000"/>
                </a:solidFill>
              </a:rPr>
              <a:t>deviation from 0 </a:t>
            </a:r>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9E179850-31FB-8D40-A2EA-F4A94EE62B80}"/>
                  </a:ext>
                </a:extLst>
              </p:cNvPr>
              <p:cNvSpPr txBox="1"/>
              <p:nvPr/>
            </p:nvSpPr>
            <p:spPr>
              <a:xfrm>
                <a:off x="288947" y="2565065"/>
                <a:ext cx="1820755" cy="707886"/>
              </a:xfrm>
              <a:prstGeom prst="rect">
                <a:avLst/>
              </a:prstGeom>
              <a:noFill/>
              <a:ln>
                <a:solidFill>
                  <a:schemeClr val="tx1"/>
                </a:solidFill>
              </a:ln>
            </p:spPr>
            <p:txBody>
              <a:bodyPr wrap="none" rtlCol="0">
                <a:spAutoFit/>
              </a:bodyPr>
              <a:lstStyle/>
              <a:p>
                <a:r>
                  <a:rPr lang="en-US" sz="2000" dirty="0"/>
                  <a:t>Converges after</a:t>
                </a:r>
              </a:p>
              <a:p>
                <a14:m>
                  <m:oMath xmlns:m="http://schemas.openxmlformats.org/officeDocument/2006/math">
                    <m:r>
                      <a:rPr lang="en-US" sz="2000" b="0" i="1" smtClean="0">
                        <a:latin typeface="Cambria Math" panose="02040503050406030204" pitchFamily="18" charset="0"/>
                      </a:rPr>
                      <m:t>&gt;10</m:t>
                    </m:r>
                  </m:oMath>
                </a14:m>
                <a:r>
                  <a:rPr lang="en-US" sz="2000" dirty="0"/>
                  <a:t> itrations</a:t>
                </a:r>
              </a:p>
            </p:txBody>
          </p:sp>
        </mc:Choice>
        <mc:Fallback xmlns="">
          <p:sp>
            <p:nvSpPr>
              <p:cNvPr id="9" name="TextBox 8">
                <a:extLst>
                  <a:ext uri="{FF2B5EF4-FFF2-40B4-BE49-F238E27FC236}">
                    <a16:creationId xmlns:a16="http://schemas.microsoft.com/office/drawing/2014/main" id="{9E179850-31FB-8D40-A2EA-F4A94EE62B80}"/>
                  </a:ext>
                </a:extLst>
              </p:cNvPr>
              <p:cNvSpPr txBox="1">
                <a:spLocks noRot="1" noChangeAspect="1" noMove="1" noResize="1" noEditPoints="1" noAdjustHandles="1" noChangeArrowheads="1" noChangeShapeType="1" noTextEdit="1"/>
              </p:cNvSpPr>
              <p:nvPr/>
            </p:nvSpPr>
            <p:spPr>
              <a:xfrm>
                <a:off x="288947" y="2565065"/>
                <a:ext cx="1820755" cy="707886"/>
              </a:xfrm>
              <a:prstGeom prst="rect">
                <a:avLst/>
              </a:prstGeom>
              <a:blipFill>
                <a:blip r:embed="rId6"/>
                <a:stretch>
                  <a:fillRect l="-3448" t="-3448" r="-1379" b="-10345"/>
                </a:stretch>
              </a:blipFill>
              <a:ln>
                <a:solidFill>
                  <a:schemeClr val="tx1"/>
                </a:solidFill>
              </a:ln>
            </p:spPr>
            <p:txBody>
              <a:bodyPr/>
              <a:lstStyle/>
              <a:p>
                <a:r>
                  <a:rPr lang="en-US">
                    <a:noFill/>
                  </a:rPr>
                  <a:t> </a:t>
                </a:r>
              </a:p>
            </p:txBody>
          </p:sp>
        </mc:Fallback>
      </mc:AlternateContent>
    </p:spTree>
    <p:extLst>
      <p:ext uri="{BB962C8B-B14F-4D97-AF65-F5344CB8AC3E}">
        <p14:creationId xmlns:p14="http://schemas.microsoft.com/office/powerpoint/2010/main" val="4011301083"/>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75DCE2F9-F4C3-DA4C-B0FC-7FF6F22D148C}"/>
                  </a:ext>
                </a:extLst>
              </p:cNvPr>
              <p:cNvSpPr>
                <a:spLocks noGrp="1"/>
              </p:cNvSpPr>
              <p:nvPr>
                <p:ph type="title"/>
              </p:nvPr>
            </p:nvSpPr>
            <p:spPr>
              <a:xfrm>
                <a:off x="838200" y="0"/>
                <a:ext cx="10515600" cy="1325563"/>
              </a:xfrm>
            </p:spPr>
            <p:txBody>
              <a:bodyPr/>
              <a:lstStyle/>
              <a:p>
                <a:r>
                  <a:rPr lang="en-US" dirty="0"/>
                  <a:t>Relaxasion of a 3 wave sine (</a:t>
                </a:r>
                <a14:m>
                  <m:oMath xmlns:m="http://schemas.openxmlformats.org/officeDocument/2006/math">
                    <m:r>
                      <a:rPr lang="en-US" b="0" i="1" smtClean="0">
                        <a:latin typeface="Cambria Math" panose="02040503050406030204" pitchFamily="18" charset="0"/>
                      </a:rPr>
                      <m:t>𝑚</m:t>
                    </m:r>
                    <m:r>
                      <a:rPr lang="en-US" b="0" i="1" smtClean="0">
                        <a:latin typeface="Cambria Math" panose="02040503050406030204" pitchFamily="18" charset="0"/>
                      </a:rPr>
                      <m:t>=1,5,10)</m:t>
                    </m:r>
                  </m:oMath>
                </a14:m>
                <a:endParaRPr lang="en-US" dirty="0"/>
              </a:p>
            </p:txBody>
          </p:sp>
        </mc:Choice>
        <mc:Fallback xmlns="">
          <p:sp>
            <p:nvSpPr>
              <p:cNvPr id="2" name="Title 1">
                <a:extLst>
                  <a:ext uri="{FF2B5EF4-FFF2-40B4-BE49-F238E27FC236}">
                    <a16:creationId xmlns:a16="http://schemas.microsoft.com/office/drawing/2014/main" id="{75DCE2F9-F4C3-DA4C-B0FC-7FF6F22D148C}"/>
                  </a:ext>
                </a:extLst>
              </p:cNvPr>
              <p:cNvSpPr>
                <a:spLocks noGrp="1" noRot="1" noChangeAspect="1" noMove="1" noResize="1" noEditPoints="1" noAdjustHandles="1" noChangeArrowheads="1" noChangeShapeType="1" noTextEdit="1"/>
              </p:cNvSpPr>
              <p:nvPr>
                <p:ph type="title"/>
              </p:nvPr>
            </p:nvSpPr>
            <p:spPr>
              <a:xfrm>
                <a:off x="838200" y="0"/>
                <a:ext cx="10515600" cy="1325563"/>
              </a:xfrm>
              <a:blipFill>
                <a:blip r:embed="rId2"/>
                <a:stretch>
                  <a:fillRect l="-2292"/>
                </a:stretch>
              </a:blipFill>
            </p:spPr>
            <p:txBody>
              <a:bodyPr/>
              <a:lstStyle/>
              <a:p>
                <a:r>
                  <a:rPr lang="en-US">
                    <a:noFill/>
                  </a:rPr>
                  <a:t> </a:t>
                </a:r>
              </a:p>
            </p:txBody>
          </p:sp>
        </mc:Fallback>
      </mc:AlternateContent>
      <p:pic>
        <p:nvPicPr>
          <p:cNvPr id="5" name="Picture 4">
            <a:extLst>
              <a:ext uri="{FF2B5EF4-FFF2-40B4-BE49-F238E27FC236}">
                <a16:creationId xmlns:a16="http://schemas.microsoft.com/office/drawing/2014/main" id="{C69B9E30-C0EA-1C47-9334-27821A6AC55A}"/>
              </a:ext>
            </a:extLst>
          </p:cNvPr>
          <p:cNvPicPr>
            <a:picLocks noChangeAspect="1"/>
          </p:cNvPicPr>
          <p:nvPr/>
        </p:nvPicPr>
        <p:blipFill>
          <a:blip r:embed="rId3"/>
          <a:stretch>
            <a:fillRect/>
          </a:stretch>
        </p:blipFill>
        <p:spPr>
          <a:xfrm>
            <a:off x="2011676" y="1122192"/>
            <a:ext cx="7833627" cy="5735808"/>
          </a:xfrm>
          <a:prstGeom prst="rect">
            <a:avLst/>
          </a:prstGeom>
        </p:spPr>
      </p:pic>
    </p:spTree>
    <p:extLst>
      <p:ext uri="{BB962C8B-B14F-4D97-AF65-F5344CB8AC3E}">
        <p14:creationId xmlns:p14="http://schemas.microsoft.com/office/powerpoint/2010/main" val="1536522812"/>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DCE2F9-F4C3-DA4C-B0FC-7FF6F22D148C}"/>
              </a:ext>
            </a:extLst>
          </p:cNvPr>
          <p:cNvSpPr>
            <a:spLocks noGrp="1"/>
          </p:cNvSpPr>
          <p:nvPr>
            <p:ph type="title"/>
          </p:nvPr>
        </p:nvSpPr>
        <p:spPr>
          <a:xfrm>
            <a:off x="838200" y="0"/>
            <a:ext cx="10515600" cy="1325563"/>
          </a:xfrm>
        </p:spPr>
        <p:txBody>
          <a:bodyPr/>
          <a:lstStyle/>
          <a:p>
            <a:r>
              <a:rPr lang="en-US" dirty="0"/>
              <a:t>Frequency dependent relaxation</a:t>
            </a:r>
          </a:p>
        </p:txBody>
      </p:sp>
      <p:sp>
        <p:nvSpPr>
          <p:cNvPr id="3" name="Content Placeholder 2">
            <a:extLst>
              <a:ext uri="{FF2B5EF4-FFF2-40B4-BE49-F238E27FC236}">
                <a16:creationId xmlns:a16="http://schemas.microsoft.com/office/drawing/2014/main" id="{15C4FD65-F675-944D-A379-3A5FFFAEB784}"/>
              </a:ext>
            </a:extLst>
          </p:cNvPr>
          <p:cNvSpPr>
            <a:spLocks noGrp="1"/>
          </p:cNvSpPr>
          <p:nvPr>
            <p:ph idx="1"/>
          </p:nvPr>
        </p:nvSpPr>
        <p:spPr>
          <a:xfrm>
            <a:off x="387275" y="1325562"/>
            <a:ext cx="11209469" cy="6151003"/>
          </a:xfrm>
        </p:spPr>
        <p:txBody>
          <a:bodyPr/>
          <a:lstStyle/>
          <a:p>
            <a:pPr>
              <a:lnSpc>
                <a:spcPct val="100000"/>
              </a:lnSpc>
            </a:pPr>
            <a:r>
              <a:rPr lang="en-US" dirty="0"/>
              <a:t>Long wavelength modes take a long time to relax away while short wavelength modes relax very quickly.</a:t>
            </a:r>
          </a:p>
          <a:p>
            <a:r>
              <a:rPr lang="en-US" dirty="0"/>
              <a:t>In the calculation every zone is coupled to its closest neighbors. </a:t>
            </a:r>
          </a:p>
          <a:p>
            <a:r>
              <a:rPr lang="en-US" dirty="0"/>
              <a:t>Each iteration increases the coupling length and smooths out variations between more distant cells. </a:t>
            </a:r>
          </a:p>
          <a:p>
            <a:r>
              <a:rPr lang="en-US" dirty="0"/>
              <a:t>Short wavelength noise (</a:t>
            </a:r>
            <a:r>
              <a:rPr lang="en-US" u="sng" dirty="0"/>
              <a:t>in number of cells</a:t>
            </a:r>
            <a:r>
              <a:rPr lang="en-US" dirty="0"/>
              <a:t>) are smoothed out after a few iteration. </a:t>
            </a:r>
          </a:p>
          <a:p>
            <a:r>
              <a:rPr lang="en-US" dirty="0"/>
              <a:t>Very long wavelength error requires  many iterations to be smoothed out.</a:t>
            </a:r>
          </a:p>
          <a:p>
            <a:r>
              <a:rPr lang="en-US" dirty="0"/>
              <a:t>Since functions are superpositions of many waves they can take long time to relax. </a:t>
            </a:r>
          </a:p>
          <a:p>
            <a:r>
              <a:rPr lang="en-US" dirty="0"/>
              <a:t>If the problem can be solved on a coarser grid, the error will be of shorter wavelength, and smoothing will be more efficient. </a:t>
            </a:r>
          </a:p>
          <a:p>
            <a:endParaRPr lang="en-US" dirty="0"/>
          </a:p>
        </p:txBody>
      </p:sp>
    </p:spTree>
    <p:extLst>
      <p:ext uri="{BB962C8B-B14F-4D97-AF65-F5344CB8AC3E}">
        <p14:creationId xmlns:p14="http://schemas.microsoft.com/office/powerpoint/2010/main" val="1525803879"/>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75DCE2F9-F4C3-DA4C-B0FC-7FF6F22D148C}"/>
                  </a:ext>
                </a:extLst>
              </p:cNvPr>
              <p:cNvSpPr>
                <a:spLocks noGrp="1"/>
              </p:cNvSpPr>
              <p:nvPr>
                <p:ph type="title"/>
              </p:nvPr>
            </p:nvSpPr>
            <p:spPr>
              <a:xfrm>
                <a:off x="96819" y="0"/>
                <a:ext cx="11661289" cy="1325563"/>
              </a:xfrm>
            </p:spPr>
            <p:txBody>
              <a:bodyPr/>
              <a:lstStyle/>
              <a:p>
                <a:r>
                  <a:rPr lang="en-US" dirty="0"/>
                  <a:t>Example of coarse grid relaxation,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𝑚</m:t>
                        </m:r>
                        <m:r>
                          <a:rPr lang="en-US" b="0" i="1" smtClean="0">
                            <a:latin typeface="Cambria Math" panose="02040503050406030204" pitchFamily="18" charset="0"/>
                          </a:rPr>
                          <m:t>=2, </m:t>
                        </m:r>
                        <m:r>
                          <a:rPr lang="en-US" b="0" i="1" smtClean="0">
                            <a:latin typeface="Cambria Math" panose="02040503050406030204" pitchFamily="18" charset="0"/>
                          </a:rPr>
                          <m:t>𝑛</m:t>
                        </m:r>
                      </m:e>
                      <m:sub>
                        <m:r>
                          <a:rPr lang="en-US" b="0" i="1" smtClean="0">
                            <a:latin typeface="Cambria Math" panose="02040503050406030204" pitchFamily="18" charset="0"/>
                          </a:rPr>
                          <m:t>𝑥</m:t>
                        </m:r>
                      </m:sub>
                    </m:sSub>
                    <m:r>
                      <a:rPr lang="en-US" b="0" i="1" smtClean="0">
                        <a:latin typeface="Cambria Math" panose="02040503050406030204" pitchFamily="18" charset="0"/>
                      </a:rPr>
                      <m:t>=64</m:t>
                    </m:r>
                  </m:oMath>
                </a14:m>
                <a:endParaRPr lang="en-US" dirty="0"/>
              </a:p>
            </p:txBody>
          </p:sp>
        </mc:Choice>
        <mc:Fallback xmlns="">
          <p:sp>
            <p:nvSpPr>
              <p:cNvPr id="2" name="Title 1">
                <a:extLst>
                  <a:ext uri="{FF2B5EF4-FFF2-40B4-BE49-F238E27FC236}">
                    <a16:creationId xmlns:a16="http://schemas.microsoft.com/office/drawing/2014/main" id="{75DCE2F9-F4C3-DA4C-B0FC-7FF6F22D148C}"/>
                  </a:ext>
                </a:extLst>
              </p:cNvPr>
              <p:cNvSpPr>
                <a:spLocks noGrp="1" noRot="1" noChangeAspect="1" noMove="1" noResize="1" noEditPoints="1" noAdjustHandles="1" noChangeArrowheads="1" noChangeShapeType="1" noTextEdit="1"/>
              </p:cNvSpPr>
              <p:nvPr>
                <p:ph type="title"/>
              </p:nvPr>
            </p:nvSpPr>
            <p:spPr>
              <a:xfrm>
                <a:off x="96819" y="0"/>
                <a:ext cx="11661289" cy="1325563"/>
              </a:xfrm>
              <a:blipFill>
                <a:blip r:embed="rId2"/>
                <a:stretch>
                  <a:fillRect l="-2067"/>
                </a:stretch>
              </a:blipFill>
            </p:spPr>
            <p:txBody>
              <a:bodyPr/>
              <a:lstStyle/>
              <a:p>
                <a:r>
                  <a:rPr lang="en-US">
                    <a:noFill/>
                  </a:rPr>
                  <a:t> </a:t>
                </a:r>
              </a:p>
            </p:txBody>
          </p:sp>
        </mc:Fallback>
      </mc:AlternateContent>
      <p:pic>
        <p:nvPicPr>
          <p:cNvPr id="4" name="Picture 3">
            <a:extLst>
              <a:ext uri="{FF2B5EF4-FFF2-40B4-BE49-F238E27FC236}">
                <a16:creationId xmlns:a16="http://schemas.microsoft.com/office/drawing/2014/main" id="{CDC8696E-4E85-684A-9EAF-2568D622490E}"/>
              </a:ext>
            </a:extLst>
          </p:cNvPr>
          <p:cNvPicPr>
            <a:picLocks noChangeAspect="1"/>
          </p:cNvPicPr>
          <p:nvPr/>
        </p:nvPicPr>
        <p:blipFill>
          <a:blip r:embed="rId3"/>
          <a:stretch>
            <a:fillRect/>
          </a:stretch>
        </p:blipFill>
        <p:spPr>
          <a:xfrm>
            <a:off x="2011676" y="1122192"/>
            <a:ext cx="7833627" cy="5735808"/>
          </a:xfrm>
          <a:prstGeom prst="rect">
            <a:avLst/>
          </a:prstGeom>
        </p:spPr>
      </p:pic>
      <p:sp>
        <p:nvSpPr>
          <p:cNvPr id="5" name="TextBox 4">
            <a:extLst>
              <a:ext uri="{FF2B5EF4-FFF2-40B4-BE49-F238E27FC236}">
                <a16:creationId xmlns:a16="http://schemas.microsoft.com/office/drawing/2014/main" id="{AB44900F-76A6-8F4B-8FDD-5EAC0268EB87}"/>
              </a:ext>
            </a:extLst>
          </p:cNvPr>
          <p:cNvSpPr txBox="1"/>
          <p:nvPr/>
        </p:nvSpPr>
        <p:spPr>
          <a:xfrm>
            <a:off x="268941" y="1239502"/>
            <a:ext cx="1964256" cy="707886"/>
          </a:xfrm>
          <a:prstGeom prst="rect">
            <a:avLst/>
          </a:prstGeom>
          <a:noFill/>
          <a:ln>
            <a:solidFill>
              <a:srgbClr val="FF0000"/>
            </a:solidFill>
          </a:ln>
        </p:spPr>
        <p:txBody>
          <a:bodyPr wrap="none" rtlCol="0">
            <a:spAutoFit/>
          </a:bodyPr>
          <a:lstStyle/>
          <a:p>
            <a:r>
              <a:rPr lang="en-US" sz="2000" dirty="0">
                <a:solidFill>
                  <a:srgbClr val="FF0000"/>
                </a:solidFill>
              </a:rPr>
              <a:t>The errors are</a:t>
            </a:r>
          </a:p>
          <a:p>
            <a:r>
              <a:rPr lang="en-US" sz="2000" dirty="0">
                <a:solidFill>
                  <a:srgbClr val="FF0000"/>
                </a:solidFill>
              </a:rPr>
              <a:t>deviation from 0 </a:t>
            </a: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739767AE-ABE6-1847-90FC-EC99C86F0960}"/>
                  </a:ext>
                </a:extLst>
              </p:cNvPr>
              <p:cNvSpPr txBox="1"/>
              <p:nvPr/>
            </p:nvSpPr>
            <p:spPr>
              <a:xfrm>
                <a:off x="288947" y="2565065"/>
                <a:ext cx="1820755" cy="707886"/>
              </a:xfrm>
              <a:prstGeom prst="rect">
                <a:avLst/>
              </a:prstGeom>
              <a:noFill/>
              <a:ln>
                <a:solidFill>
                  <a:schemeClr val="tx1"/>
                </a:solidFill>
              </a:ln>
            </p:spPr>
            <p:txBody>
              <a:bodyPr wrap="none" rtlCol="0">
                <a:spAutoFit/>
              </a:bodyPr>
              <a:lstStyle/>
              <a:p>
                <a:r>
                  <a:rPr lang="en-US" sz="2000" dirty="0"/>
                  <a:t>Converges after</a:t>
                </a:r>
              </a:p>
              <a:p>
                <a14:m>
                  <m:oMath xmlns:m="http://schemas.openxmlformats.org/officeDocument/2006/math">
                    <m:r>
                      <a:rPr lang="en-US" sz="2000" b="0" i="1" smtClean="0">
                        <a:latin typeface="Cambria Math" panose="02040503050406030204" pitchFamily="18" charset="0"/>
                      </a:rPr>
                      <m:t>&gt;100</m:t>
                    </m:r>
                  </m:oMath>
                </a14:m>
                <a:r>
                  <a:rPr lang="en-US" sz="2000" dirty="0"/>
                  <a:t> itrations</a:t>
                </a:r>
              </a:p>
            </p:txBody>
          </p:sp>
        </mc:Choice>
        <mc:Fallback xmlns="">
          <p:sp>
            <p:nvSpPr>
              <p:cNvPr id="6" name="TextBox 5">
                <a:extLst>
                  <a:ext uri="{FF2B5EF4-FFF2-40B4-BE49-F238E27FC236}">
                    <a16:creationId xmlns:a16="http://schemas.microsoft.com/office/drawing/2014/main" id="{739767AE-ABE6-1847-90FC-EC99C86F0960}"/>
                  </a:ext>
                </a:extLst>
              </p:cNvPr>
              <p:cNvSpPr txBox="1">
                <a:spLocks noRot="1" noChangeAspect="1" noMove="1" noResize="1" noEditPoints="1" noAdjustHandles="1" noChangeArrowheads="1" noChangeShapeType="1" noTextEdit="1"/>
              </p:cNvSpPr>
              <p:nvPr/>
            </p:nvSpPr>
            <p:spPr>
              <a:xfrm>
                <a:off x="288947" y="2565065"/>
                <a:ext cx="1820755" cy="707886"/>
              </a:xfrm>
              <a:prstGeom prst="rect">
                <a:avLst/>
              </a:prstGeom>
              <a:blipFill>
                <a:blip r:embed="rId4"/>
                <a:stretch>
                  <a:fillRect l="-3448" t="-3448" r="-1379" b="-10345"/>
                </a:stretch>
              </a:blipFill>
              <a:ln>
                <a:solidFill>
                  <a:schemeClr val="tx1"/>
                </a:solidFill>
              </a:ln>
            </p:spPr>
            <p:txBody>
              <a:bodyPr/>
              <a:lstStyle/>
              <a:p>
                <a:r>
                  <a:rPr lang="en-US">
                    <a:noFill/>
                  </a:rPr>
                  <a:t> </a:t>
                </a:r>
              </a:p>
            </p:txBody>
          </p:sp>
        </mc:Fallback>
      </mc:AlternateContent>
    </p:spTree>
    <p:extLst>
      <p:ext uri="{BB962C8B-B14F-4D97-AF65-F5344CB8AC3E}">
        <p14:creationId xmlns:p14="http://schemas.microsoft.com/office/powerpoint/2010/main" val="1810810503"/>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84CE250-6EC7-0545-B612-3568F1FFD2E9}"/>
              </a:ext>
            </a:extLst>
          </p:cNvPr>
          <p:cNvPicPr>
            <a:picLocks noChangeAspect="1"/>
          </p:cNvPicPr>
          <p:nvPr/>
        </p:nvPicPr>
        <p:blipFill>
          <a:blip r:embed="rId2"/>
          <a:stretch>
            <a:fillRect/>
          </a:stretch>
        </p:blipFill>
        <p:spPr>
          <a:xfrm>
            <a:off x="2011676" y="1122192"/>
            <a:ext cx="7833627" cy="5735808"/>
          </a:xfrm>
          <a:prstGeom prst="rect">
            <a:avLst/>
          </a:prstGeom>
        </p:spPr>
      </p:pic>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75DCE2F9-F4C3-DA4C-B0FC-7FF6F22D148C}"/>
                  </a:ext>
                </a:extLst>
              </p:cNvPr>
              <p:cNvSpPr>
                <a:spLocks noGrp="1"/>
              </p:cNvSpPr>
              <p:nvPr>
                <p:ph type="title"/>
              </p:nvPr>
            </p:nvSpPr>
            <p:spPr>
              <a:xfrm>
                <a:off x="96819" y="0"/>
                <a:ext cx="11661289" cy="1325563"/>
              </a:xfrm>
            </p:spPr>
            <p:txBody>
              <a:bodyPr/>
              <a:lstStyle/>
              <a:p>
                <a:r>
                  <a:rPr lang="en-US" dirty="0"/>
                  <a:t>Example of coarse grid relaxation,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𝑚</m:t>
                        </m:r>
                        <m:r>
                          <a:rPr lang="en-US" b="0" i="1" smtClean="0">
                            <a:latin typeface="Cambria Math" panose="02040503050406030204" pitchFamily="18" charset="0"/>
                          </a:rPr>
                          <m:t>=2, </m:t>
                        </m:r>
                        <m:r>
                          <a:rPr lang="en-US" b="0" i="1" smtClean="0">
                            <a:latin typeface="Cambria Math" panose="02040503050406030204" pitchFamily="18" charset="0"/>
                          </a:rPr>
                          <m:t>𝑛</m:t>
                        </m:r>
                      </m:e>
                      <m:sub>
                        <m:r>
                          <a:rPr lang="en-US" b="0" i="1" smtClean="0">
                            <a:latin typeface="Cambria Math" panose="02040503050406030204" pitchFamily="18" charset="0"/>
                          </a:rPr>
                          <m:t>𝑥</m:t>
                        </m:r>
                      </m:sub>
                    </m:sSub>
                    <m:r>
                      <a:rPr lang="en-US" b="0" i="1" smtClean="0">
                        <a:latin typeface="Cambria Math" panose="02040503050406030204" pitchFamily="18" charset="0"/>
                      </a:rPr>
                      <m:t>=32</m:t>
                    </m:r>
                  </m:oMath>
                </a14:m>
                <a:endParaRPr lang="en-US" dirty="0"/>
              </a:p>
            </p:txBody>
          </p:sp>
        </mc:Choice>
        <mc:Fallback xmlns="">
          <p:sp>
            <p:nvSpPr>
              <p:cNvPr id="2" name="Title 1">
                <a:extLst>
                  <a:ext uri="{FF2B5EF4-FFF2-40B4-BE49-F238E27FC236}">
                    <a16:creationId xmlns:a16="http://schemas.microsoft.com/office/drawing/2014/main" id="{75DCE2F9-F4C3-DA4C-B0FC-7FF6F22D148C}"/>
                  </a:ext>
                </a:extLst>
              </p:cNvPr>
              <p:cNvSpPr>
                <a:spLocks noGrp="1" noRot="1" noChangeAspect="1" noMove="1" noResize="1" noEditPoints="1" noAdjustHandles="1" noChangeArrowheads="1" noChangeShapeType="1" noTextEdit="1"/>
              </p:cNvSpPr>
              <p:nvPr>
                <p:ph type="title"/>
              </p:nvPr>
            </p:nvSpPr>
            <p:spPr>
              <a:xfrm>
                <a:off x="96819" y="0"/>
                <a:ext cx="11661289" cy="1325563"/>
              </a:xfrm>
              <a:blipFill>
                <a:blip r:embed="rId3"/>
                <a:stretch>
                  <a:fillRect l="-2067"/>
                </a:stretch>
              </a:blipFill>
            </p:spPr>
            <p:txBody>
              <a:bodyPr/>
              <a:lstStyle/>
              <a:p>
                <a:r>
                  <a:rPr lang="en-US">
                    <a:noFill/>
                  </a:rPr>
                  <a:t> </a:t>
                </a:r>
              </a:p>
            </p:txBody>
          </p:sp>
        </mc:Fallback>
      </mc:AlternateContent>
      <p:sp>
        <p:nvSpPr>
          <p:cNvPr id="6" name="TextBox 5">
            <a:extLst>
              <a:ext uri="{FF2B5EF4-FFF2-40B4-BE49-F238E27FC236}">
                <a16:creationId xmlns:a16="http://schemas.microsoft.com/office/drawing/2014/main" id="{A44EF9EA-0BAD-FE49-B83B-2FC75F7A4004}"/>
              </a:ext>
            </a:extLst>
          </p:cNvPr>
          <p:cNvSpPr txBox="1"/>
          <p:nvPr/>
        </p:nvSpPr>
        <p:spPr>
          <a:xfrm>
            <a:off x="268941" y="1239502"/>
            <a:ext cx="1964256" cy="707886"/>
          </a:xfrm>
          <a:prstGeom prst="rect">
            <a:avLst/>
          </a:prstGeom>
          <a:noFill/>
          <a:ln>
            <a:solidFill>
              <a:srgbClr val="FF0000"/>
            </a:solidFill>
          </a:ln>
        </p:spPr>
        <p:txBody>
          <a:bodyPr wrap="none" rtlCol="0">
            <a:spAutoFit/>
          </a:bodyPr>
          <a:lstStyle/>
          <a:p>
            <a:r>
              <a:rPr lang="en-US" sz="2000" dirty="0">
                <a:solidFill>
                  <a:srgbClr val="FF0000"/>
                </a:solidFill>
              </a:rPr>
              <a:t>The errors are</a:t>
            </a:r>
          </a:p>
          <a:p>
            <a:r>
              <a:rPr lang="en-US" sz="2000" dirty="0">
                <a:solidFill>
                  <a:srgbClr val="FF0000"/>
                </a:solidFill>
              </a:rPr>
              <a:t>deviation from 0 </a:t>
            </a: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4634405D-6C9A-2D4A-8346-FF4B46F813AF}"/>
                  </a:ext>
                </a:extLst>
              </p:cNvPr>
              <p:cNvSpPr txBox="1"/>
              <p:nvPr/>
            </p:nvSpPr>
            <p:spPr>
              <a:xfrm>
                <a:off x="288947" y="2565065"/>
                <a:ext cx="1820755" cy="707886"/>
              </a:xfrm>
              <a:prstGeom prst="rect">
                <a:avLst/>
              </a:prstGeom>
              <a:noFill/>
              <a:ln>
                <a:solidFill>
                  <a:schemeClr val="tx1"/>
                </a:solidFill>
              </a:ln>
            </p:spPr>
            <p:txBody>
              <a:bodyPr wrap="none" rtlCol="0">
                <a:spAutoFit/>
              </a:bodyPr>
              <a:lstStyle/>
              <a:p>
                <a:r>
                  <a:rPr lang="en-US" sz="2000" dirty="0"/>
                  <a:t>Converges after</a:t>
                </a:r>
              </a:p>
              <a:p>
                <a14:m>
                  <m:oMath xmlns:m="http://schemas.openxmlformats.org/officeDocument/2006/math">
                    <m:r>
                      <a:rPr lang="en-US" sz="2000" b="0" i="1" smtClean="0">
                        <a:latin typeface="Cambria Math" panose="02040503050406030204" pitchFamily="18" charset="0"/>
                      </a:rPr>
                      <m:t>&gt;10</m:t>
                    </m:r>
                  </m:oMath>
                </a14:m>
                <a:r>
                  <a:rPr lang="en-US" sz="2000" dirty="0"/>
                  <a:t> itrations</a:t>
                </a:r>
              </a:p>
            </p:txBody>
          </p:sp>
        </mc:Choice>
        <mc:Fallback xmlns="">
          <p:sp>
            <p:nvSpPr>
              <p:cNvPr id="7" name="TextBox 6">
                <a:extLst>
                  <a:ext uri="{FF2B5EF4-FFF2-40B4-BE49-F238E27FC236}">
                    <a16:creationId xmlns:a16="http://schemas.microsoft.com/office/drawing/2014/main" id="{4634405D-6C9A-2D4A-8346-FF4B46F813AF}"/>
                  </a:ext>
                </a:extLst>
              </p:cNvPr>
              <p:cNvSpPr txBox="1">
                <a:spLocks noRot="1" noChangeAspect="1" noMove="1" noResize="1" noEditPoints="1" noAdjustHandles="1" noChangeArrowheads="1" noChangeShapeType="1" noTextEdit="1"/>
              </p:cNvSpPr>
              <p:nvPr/>
            </p:nvSpPr>
            <p:spPr>
              <a:xfrm>
                <a:off x="288947" y="2565065"/>
                <a:ext cx="1820755" cy="707886"/>
              </a:xfrm>
              <a:prstGeom prst="rect">
                <a:avLst/>
              </a:prstGeom>
              <a:blipFill>
                <a:blip r:embed="rId4"/>
                <a:stretch>
                  <a:fillRect l="-3448" t="-3448" r="-1379" b="-10345"/>
                </a:stretch>
              </a:blipFill>
              <a:ln>
                <a:solidFill>
                  <a:schemeClr val="tx1"/>
                </a:solidFill>
              </a:ln>
            </p:spPr>
            <p:txBody>
              <a:bodyPr/>
              <a:lstStyle/>
              <a:p>
                <a:r>
                  <a:rPr lang="en-US">
                    <a:noFill/>
                  </a:rPr>
                  <a:t> </a:t>
                </a:r>
              </a:p>
            </p:txBody>
          </p:sp>
        </mc:Fallback>
      </mc:AlternateContent>
    </p:spTree>
    <p:extLst>
      <p:ext uri="{BB962C8B-B14F-4D97-AF65-F5344CB8AC3E}">
        <p14:creationId xmlns:p14="http://schemas.microsoft.com/office/powerpoint/2010/main" val="2746397827"/>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75DCE2F9-F4C3-DA4C-B0FC-7FF6F22D148C}"/>
                  </a:ext>
                </a:extLst>
              </p:cNvPr>
              <p:cNvSpPr>
                <a:spLocks noGrp="1"/>
              </p:cNvSpPr>
              <p:nvPr>
                <p:ph type="title"/>
              </p:nvPr>
            </p:nvSpPr>
            <p:spPr>
              <a:xfrm>
                <a:off x="96819" y="0"/>
                <a:ext cx="11661289" cy="1325563"/>
              </a:xfrm>
            </p:spPr>
            <p:txBody>
              <a:bodyPr/>
              <a:lstStyle/>
              <a:p>
                <a:r>
                  <a:rPr lang="en-US" dirty="0"/>
                  <a:t>Example of coarse grid relaxation,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𝑚</m:t>
                        </m:r>
                        <m:r>
                          <a:rPr lang="en-US" b="0" i="1" smtClean="0">
                            <a:latin typeface="Cambria Math" panose="02040503050406030204" pitchFamily="18" charset="0"/>
                          </a:rPr>
                          <m:t>=2, </m:t>
                        </m:r>
                        <m:r>
                          <a:rPr lang="en-US" b="0" i="1" smtClean="0">
                            <a:latin typeface="Cambria Math" panose="02040503050406030204" pitchFamily="18" charset="0"/>
                          </a:rPr>
                          <m:t>𝑛</m:t>
                        </m:r>
                      </m:e>
                      <m:sub>
                        <m:r>
                          <a:rPr lang="en-US" b="0" i="1" smtClean="0">
                            <a:latin typeface="Cambria Math" panose="02040503050406030204" pitchFamily="18" charset="0"/>
                          </a:rPr>
                          <m:t>𝑥</m:t>
                        </m:r>
                      </m:sub>
                    </m:sSub>
                    <m:r>
                      <a:rPr lang="en-US" b="0" i="1" smtClean="0">
                        <a:latin typeface="Cambria Math" panose="02040503050406030204" pitchFamily="18" charset="0"/>
                      </a:rPr>
                      <m:t>=32</m:t>
                    </m:r>
                  </m:oMath>
                </a14:m>
                <a:endParaRPr lang="en-US" dirty="0"/>
              </a:p>
            </p:txBody>
          </p:sp>
        </mc:Choice>
        <mc:Fallback xmlns="">
          <p:sp>
            <p:nvSpPr>
              <p:cNvPr id="2" name="Title 1">
                <a:extLst>
                  <a:ext uri="{FF2B5EF4-FFF2-40B4-BE49-F238E27FC236}">
                    <a16:creationId xmlns:a16="http://schemas.microsoft.com/office/drawing/2014/main" id="{75DCE2F9-F4C3-DA4C-B0FC-7FF6F22D148C}"/>
                  </a:ext>
                </a:extLst>
              </p:cNvPr>
              <p:cNvSpPr>
                <a:spLocks noGrp="1" noRot="1" noChangeAspect="1" noMove="1" noResize="1" noEditPoints="1" noAdjustHandles="1" noChangeArrowheads="1" noChangeShapeType="1" noTextEdit="1"/>
              </p:cNvSpPr>
              <p:nvPr>
                <p:ph type="title"/>
              </p:nvPr>
            </p:nvSpPr>
            <p:spPr>
              <a:xfrm>
                <a:off x="96819" y="0"/>
                <a:ext cx="11661289" cy="1325563"/>
              </a:xfrm>
              <a:blipFill>
                <a:blip r:embed="rId2"/>
                <a:stretch>
                  <a:fillRect l="-2067"/>
                </a:stretch>
              </a:blipFill>
            </p:spPr>
            <p:txBody>
              <a:bodyPr/>
              <a:lstStyle/>
              <a:p>
                <a:r>
                  <a:rPr lang="en-US">
                    <a:noFill/>
                  </a:rPr>
                  <a:t> </a:t>
                </a:r>
              </a:p>
            </p:txBody>
          </p:sp>
        </mc:Fallback>
      </mc:AlternateContent>
      <p:pic>
        <p:nvPicPr>
          <p:cNvPr id="5" name="Picture 4">
            <a:extLst>
              <a:ext uri="{FF2B5EF4-FFF2-40B4-BE49-F238E27FC236}">
                <a16:creationId xmlns:a16="http://schemas.microsoft.com/office/drawing/2014/main" id="{8ABD37CF-9625-0C44-91DA-7D9C96F20E39}"/>
              </a:ext>
            </a:extLst>
          </p:cNvPr>
          <p:cNvPicPr>
            <a:picLocks noChangeAspect="1"/>
          </p:cNvPicPr>
          <p:nvPr/>
        </p:nvPicPr>
        <p:blipFill>
          <a:blip r:embed="rId3"/>
          <a:stretch>
            <a:fillRect/>
          </a:stretch>
        </p:blipFill>
        <p:spPr>
          <a:xfrm>
            <a:off x="2118574" y="1122192"/>
            <a:ext cx="7780517" cy="5735808"/>
          </a:xfrm>
          <a:prstGeom prst="rect">
            <a:avLst/>
          </a:prstGeom>
        </p:spPr>
      </p:pic>
      <p:sp>
        <p:nvSpPr>
          <p:cNvPr id="6" name="TextBox 5">
            <a:extLst>
              <a:ext uri="{FF2B5EF4-FFF2-40B4-BE49-F238E27FC236}">
                <a16:creationId xmlns:a16="http://schemas.microsoft.com/office/drawing/2014/main" id="{353E432D-B27A-F847-A0D3-813CC20EDCD5}"/>
              </a:ext>
            </a:extLst>
          </p:cNvPr>
          <p:cNvSpPr txBox="1"/>
          <p:nvPr/>
        </p:nvSpPr>
        <p:spPr>
          <a:xfrm>
            <a:off x="268941" y="1239502"/>
            <a:ext cx="1964256" cy="707886"/>
          </a:xfrm>
          <a:prstGeom prst="rect">
            <a:avLst/>
          </a:prstGeom>
          <a:noFill/>
          <a:ln>
            <a:solidFill>
              <a:srgbClr val="FF0000"/>
            </a:solidFill>
          </a:ln>
        </p:spPr>
        <p:txBody>
          <a:bodyPr wrap="none" rtlCol="0">
            <a:spAutoFit/>
          </a:bodyPr>
          <a:lstStyle/>
          <a:p>
            <a:r>
              <a:rPr lang="en-US" sz="2000" dirty="0">
                <a:solidFill>
                  <a:srgbClr val="FF0000"/>
                </a:solidFill>
              </a:rPr>
              <a:t>The errors are</a:t>
            </a:r>
          </a:p>
          <a:p>
            <a:r>
              <a:rPr lang="en-US" sz="2000" dirty="0">
                <a:solidFill>
                  <a:srgbClr val="FF0000"/>
                </a:solidFill>
              </a:rPr>
              <a:t>deviation from 0 </a:t>
            </a: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B948E01C-EC67-2348-A570-61F767120EDF}"/>
                  </a:ext>
                </a:extLst>
              </p:cNvPr>
              <p:cNvSpPr txBox="1"/>
              <p:nvPr/>
            </p:nvSpPr>
            <p:spPr>
              <a:xfrm>
                <a:off x="288947" y="2565065"/>
                <a:ext cx="1820755" cy="707886"/>
              </a:xfrm>
              <a:prstGeom prst="rect">
                <a:avLst/>
              </a:prstGeom>
              <a:noFill/>
              <a:ln>
                <a:solidFill>
                  <a:schemeClr val="tx1"/>
                </a:solidFill>
              </a:ln>
            </p:spPr>
            <p:txBody>
              <a:bodyPr wrap="none" rtlCol="0">
                <a:spAutoFit/>
              </a:bodyPr>
              <a:lstStyle/>
              <a:p>
                <a:r>
                  <a:rPr lang="en-US" sz="2000" dirty="0"/>
                  <a:t>Converges after</a:t>
                </a:r>
              </a:p>
              <a:p>
                <a14:m>
                  <m:oMath xmlns:m="http://schemas.openxmlformats.org/officeDocument/2006/math">
                    <m:r>
                      <a:rPr lang="en-US" sz="2000" b="0" i="1" smtClean="0">
                        <a:latin typeface="Cambria Math" panose="02040503050406030204" pitchFamily="18" charset="0"/>
                      </a:rPr>
                      <m:t>&gt;1</m:t>
                    </m:r>
                  </m:oMath>
                </a14:m>
                <a:r>
                  <a:rPr lang="en-US" sz="2000" dirty="0"/>
                  <a:t> itrations</a:t>
                </a:r>
              </a:p>
            </p:txBody>
          </p:sp>
        </mc:Choice>
        <mc:Fallback xmlns="">
          <p:sp>
            <p:nvSpPr>
              <p:cNvPr id="7" name="TextBox 6">
                <a:extLst>
                  <a:ext uri="{FF2B5EF4-FFF2-40B4-BE49-F238E27FC236}">
                    <a16:creationId xmlns:a16="http://schemas.microsoft.com/office/drawing/2014/main" id="{B948E01C-EC67-2348-A570-61F767120EDF}"/>
                  </a:ext>
                </a:extLst>
              </p:cNvPr>
              <p:cNvSpPr txBox="1">
                <a:spLocks noRot="1" noChangeAspect="1" noMove="1" noResize="1" noEditPoints="1" noAdjustHandles="1" noChangeArrowheads="1" noChangeShapeType="1" noTextEdit="1"/>
              </p:cNvSpPr>
              <p:nvPr/>
            </p:nvSpPr>
            <p:spPr>
              <a:xfrm>
                <a:off x="288947" y="2565065"/>
                <a:ext cx="1820755" cy="707886"/>
              </a:xfrm>
              <a:prstGeom prst="rect">
                <a:avLst/>
              </a:prstGeom>
              <a:blipFill>
                <a:blip r:embed="rId4"/>
                <a:stretch>
                  <a:fillRect l="-3448" t="-3448" r="-1379" b="-10345"/>
                </a:stretch>
              </a:blipFill>
              <a:ln>
                <a:solidFill>
                  <a:schemeClr val="tx1"/>
                </a:solidFill>
              </a:ln>
            </p:spPr>
            <p:txBody>
              <a:bodyPr/>
              <a:lstStyle/>
              <a:p>
                <a:r>
                  <a:rPr lang="en-US">
                    <a:noFill/>
                  </a:rPr>
                  <a:t> </a:t>
                </a:r>
              </a:p>
            </p:txBody>
          </p:sp>
        </mc:Fallback>
      </mc:AlternateContent>
    </p:spTree>
    <p:extLst>
      <p:ext uri="{BB962C8B-B14F-4D97-AF65-F5344CB8AC3E}">
        <p14:creationId xmlns:p14="http://schemas.microsoft.com/office/powerpoint/2010/main" val="922769596"/>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DCE2F9-F4C3-DA4C-B0FC-7FF6F22D148C}"/>
              </a:ext>
            </a:extLst>
          </p:cNvPr>
          <p:cNvSpPr>
            <a:spLocks noGrp="1"/>
          </p:cNvSpPr>
          <p:nvPr>
            <p:ph type="title"/>
          </p:nvPr>
        </p:nvSpPr>
        <p:spPr>
          <a:xfrm>
            <a:off x="838200" y="0"/>
            <a:ext cx="10515600" cy="1325563"/>
          </a:xfrm>
        </p:spPr>
        <p:txBody>
          <a:bodyPr/>
          <a:lstStyle/>
          <a:p>
            <a:r>
              <a:rPr lang="en-US" dirty="0"/>
              <a:t>Multigrid</a:t>
            </a:r>
          </a:p>
        </p:txBody>
      </p:sp>
      <p:sp>
        <p:nvSpPr>
          <p:cNvPr id="3" name="Content Placeholder 2">
            <a:extLst>
              <a:ext uri="{FF2B5EF4-FFF2-40B4-BE49-F238E27FC236}">
                <a16:creationId xmlns:a16="http://schemas.microsoft.com/office/drawing/2014/main" id="{15C4FD65-F675-944D-A379-3A5FFFAEB784}"/>
              </a:ext>
            </a:extLst>
          </p:cNvPr>
          <p:cNvSpPr>
            <a:spLocks noGrp="1"/>
          </p:cNvSpPr>
          <p:nvPr>
            <p:ph idx="1"/>
          </p:nvPr>
        </p:nvSpPr>
        <p:spPr>
          <a:xfrm>
            <a:off x="376518" y="1325562"/>
            <a:ext cx="11446136" cy="5532437"/>
          </a:xfrm>
        </p:spPr>
        <p:txBody>
          <a:bodyPr/>
          <a:lstStyle/>
          <a:p>
            <a:pPr>
              <a:lnSpc>
                <a:spcPct val="100000"/>
              </a:lnSpc>
            </a:pPr>
            <a:r>
              <a:rPr lang="en-US" dirty="0"/>
              <a:t>To build a multigrid algorithm we need a way to coarsen our problem and then bring what we learned on the coarse grid back up to the fine grid. </a:t>
            </a:r>
          </a:p>
          <a:p>
            <a:pPr>
              <a:lnSpc>
                <a:spcPct val="100000"/>
              </a:lnSpc>
            </a:pPr>
            <a:r>
              <a:rPr lang="en-US" dirty="0"/>
              <a:t>We to transfer data between grids at different resolutions and use it to accelerate the convergence of the relaxation.</a:t>
            </a:r>
          </a:p>
          <a:p>
            <a:pPr>
              <a:lnSpc>
                <a:spcPct val="100000"/>
              </a:lnSpc>
            </a:pPr>
            <a:r>
              <a:rPr lang="en-US" dirty="0"/>
              <a:t>The procedure depends on the type of grid we are using. </a:t>
            </a:r>
          </a:p>
          <a:p>
            <a:pPr>
              <a:lnSpc>
                <a:spcPct val="100000"/>
              </a:lnSpc>
            </a:pPr>
            <a:r>
              <a:rPr lang="en-US" dirty="0"/>
              <a:t>We’ll consider a cell-centered finite-difference / finite-volume grid.</a:t>
            </a:r>
          </a:p>
          <a:p>
            <a:pPr>
              <a:lnSpc>
                <a:spcPct val="100000"/>
              </a:lnSpc>
            </a:pPr>
            <a:r>
              <a:rPr lang="en-US" dirty="0"/>
              <a:t>Since the finite-volume method is conservative, we want to ensure that the operations that we do here maintain that conservation. </a:t>
            </a:r>
          </a:p>
        </p:txBody>
      </p:sp>
    </p:spTree>
    <p:extLst>
      <p:ext uri="{BB962C8B-B14F-4D97-AF65-F5344CB8AC3E}">
        <p14:creationId xmlns:p14="http://schemas.microsoft.com/office/powerpoint/2010/main" val="1176061309"/>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11333E9-FF7A-1C4A-B9C4-41AFE1E9D0D6}"/>
              </a:ext>
            </a:extLst>
          </p:cNvPr>
          <p:cNvPicPr>
            <a:picLocks noChangeAspect="1"/>
          </p:cNvPicPr>
          <p:nvPr/>
        </p:nvPicPr>
        <p:blipFill>
          <a:blip r:embed="rId2"/>
          <a:stretch>
            <a:fillRect/>
          </a:stretch>
        </p:blipFill>
        <p:spPr>
          <a:xfrm>
            <a:off x="4785449" y="1033332"/>
            <a:ext cx="6989602" cy="5824668"/>
          </a:xfrm>
          <a:prstGeom prst="rect">
            <a:avLst/>
          </a:prstGeom>
        </p:spPr>
      </p:pic>
      <p:sp>
        <p:nvSpPr>
          <p:cNvPr id="2" name="Title 1">
            <a:extLst>
              <a:ext uri="{FF2B5EF4-FFF2-40B4-BE49-F238E27FC236}">
                <a16:creationId xmlns:a16="http://schemas.microsoft.com/office/drawing/2014/main" id="{75DCE2F9-F4C3-DA4C-B0FC-7FF6F22D148C}"/>
              </a:ext>
            </a:extLst>
          </p:cNvPr>
          <p:cNvSpPr>
            <a:spLocks noGrp="1"/>
          </p:cNvSpPr>
          <p:nvPr>
            <p:ph type="title"/>
          </p:nvPr>
        </p:nvSpPr>
        <p:spPr>
          <a:xfrm>
            <a:off x="838200" y="0"/>
            <a:ext cx="10515600" cy="1325563"/>
          </a:xfrm>
        </p:spPr>
        <p:txBody>
          <a:bodyPr/>
          <a:lstStyle/>
          <a:p>
            <a:r>
              <a:rPr lang="en-US" dirty="0"/>
              <a:t>Restriction and Prolongation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5C4FD65-F675-944D-A379-3A5FFFAEB784}"/>
                  </a:ext>
                </a:extLst>
              </p:cNvPr>
              <p:cNvSpPr>
                <a:spLocks noGrp="1"/>
              </p:cNvSpPr>
              <p:nvPr>
                <p:ph idx="1"/>
              </p:nvPr>
            </p:nvSpPr>
            <p:spPr>
              <a:xfrm>
                <a:off x="69923" y="1325563"/>
                <a:ext cx="5136777" cy="5532437"/>
              </a:xfrm>
            </p:spPr>
            <p:txBody>
              <a:bodyPr>
                <a:normAutofit fontScale="92500"/>
              </a:bodyPr>
              <a:lstStyle/>
              <a:p>
                <a:pPr>
                  <a:lnSpc>
                    <a:spcPct val="100000"/>
                  </a:lnSpc>
                </a:pPr>
                <a:r>
                  <a:rPr lang="en-US" dirty="0"/>
                  <a:t>Consider the following 2 grids</a:t>
                </a:r>
              </a:p>
              <a:p>
                <a:pPr>
                  <a:lnSpc>
                    <a:spcPct val="100000"/>
                  </a:lnSpc>
                </a:pPr>
                <a:r>
                  <a:rPr lang="en-US" dirty="0"/>
                  <a:t>The fine grid (top) is indexed with </a:t>
                </a:r>
                <a14:m>
                  <m:oMath xmlns:m="http://schemas.openxmlformats.org/officeDocument/2006/math">
                    <m:r>
                      <a:rPr lang="en-US" b="0" i="1" smtClean="0">
                        <a:latin typeface="Cambria Math" panose="02040503050406030204" pitchFamily="18" charset="0"/>
                      </a:rPr>
                      <m:t>𝑖</m:t>
                    </m:r>
                  </m:oMath>
                </a14:m>
                <a:r>
                  <a:rPr lang="en-US" dirty="0"/>
                  <a:t> and the coarse grid (bottom) is indexing with </a:t>
                </a:r>
                <a14:m>
                  <m:oMath xmlns:m="http://schemas.openxmlformats.org/officeDocument/2006/math">
                    <m:r>
                      <a:rPr lang="en-US" b="0" i="1" smtClean="0">
                        <a:latin typeface="Cambria Math" panose="02040503050406030204" pitchFamily="18" charset="0"/>
                      </a:rPr>
                      <m:t>𝑗</m:t>
                    </m:r>
                  </m:oMath>
                </a14:m>
                <a:r>
                  <a:rPr lang="en-US" dirty="0"/>
                  <a:t>.</a:t>
                </a:r>
              </a:p>
              <a:p>
                <a:r>
                  <a:rPr lang="en-US" dirty="0"/>
                  <a:t>The grids are properly nested: two fine cells fit exactly into a single coarse cell.</a:t>
                </a:r>
              </a:p>
              <a:p>
                <a:r>
                  <a:rPr lang="en-US" dirty="0"/>
                  <a:t>Transferring data from a fine grid to a coarser grid - </a:t>
                </a:r>
                <a:r>
                  <a:rPr lang="en-US" i="1" dirty="0">
                    <a:solidFill>
                      <a:srgbClr val="FF0000"/>
                    </a:solidFill>
                  </a:rPr>
                  <a:t>restriction</a:t>
                </a:r>
                <a:r>
                  <a:rPr lang="en-US" dirty="0"/>
                  <a:t> </a:t>
                </a:r>
              </a:p>
              <a:p>
                <a:r>
                  <a:rPr lang="en-US" dirty="0"/>
                  <a:t>Transferring data from a coarse grid to a finer grid – </a:t>
                </a:r>
                <a:r>
                  <a:rPr lang="en-US" i="1" dirty="0">
                    <a:solidFill>
                      <a:srgbClr val="4472C4"/>
                    </a:solidFill>
                  </a:rPr>
                  <a:t>prolongation</a:t>
                </a:r>
                <a:endParaRPr lang="en-US" dirty="0">
                  <a:solidFill>
                    <a:srgbClr val="4472C4"/>
                  </a:solidFill>
                </a:endParaRPr>
              </a:p>
              <a:p>
                <a:pPr marL="0" indent="0">
                  <a:buNone/>
                </a:pPr>
                <a:br>
                  <a:rPr lang="en-US" dirty="0"/>
                </a:br>
                <a:endParaRPr lang="en-US" dirty="0"/>
              </a:p>
            </p:txBody>
          </p:sp>
        </mc:Choice>
        <mc:Fallback xmlns="">
          <p:sp>
            <p:nvSpPr>
              <p:cNvPr id="3" name="Content Placeholder 2">
                <a:extLst>
                  <a:ext uri="{FF2B5EF4-FFF2-40B4-BE49-F238E27FC236}">
                    <a16:creationId xmlns:a16="http://schemas.microsoft.com/office/drawing/2014/main" id="{15C4FD65-F675-944D-A379-3A5FFFAEB784}"/>
                  </a:ext>
                </a:extLst>
              </p:cNvPr>
              <p:cNvSpPr>
                <a:spLocks noGrp="1" noRot="1" noChangeAspect="1" noMove="1" noResize="1" noEditPoints="1" noAdjustHandles="1" noChangeArrowheads="1" noChangeShapeType="1" noTextEdit="1"/>
              </p:cNvSpPr>
              <p:nvPr>
                <p:ph idx="1"/>
              </p:nvPr>
            </p:nvSpPr>
            <p:spPr>
              <a:xfrm>
                <a:off x="69923" y="1325563"/>
                <a:ext cx="5136777" cy="5532437"/>
              </a:xfrm>
              <a:blipFill>
                <a:blip r:embed="rId3"/>
                <a:stretch>
                  <a:fillRect l="-1481" t="-915" r="-988"/>
                </a:stretch>
              </a:blipFill>
            </p:spPr>
            <p:txBody>
              <a:bodyPr/>
              <a:lstStyle/>
              <a:p>
                <a:r>
                  <a:rPr lang="en-US">
                    <a:noFill/>
                  </a:rPr>
                  <a:t> </a:t>
                </a:r>
              </a:p>
            </p:txBody>
          </p:sp>
        </mc:Fallback>
      </mc:AlternateContent>
    </p:spTree>
    <p:extLst>
      <p:ext uri="{BB962C8B-B14F-4D97-AF65-F5344CB8AC3E}">
        <p14:creationId xmlns:p14="http://schemas.microsoft.com/office/powerpoint/2010/main" val="1623049800"/>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2DE805A7-6F04-CB40-A912-C9AF44491457}"/>
              </a:ext>
            </a:extLst>
          </p:cNvPr>
          <p:cNvPicPr>
            <a:picLocks noChangeAspect="1"/>
          </p:cNvPicPr>
          <p:nvPr/>
        </p:nvPicPr>
        <p:blipFill rotWithShape="1">
          <a:blip r:embed="rId2"/>
          <a:srcRect b="8341"/>
          <a:stretch/>
        </p:blipFill>
        <p:spPr>
          <a:xfrm>
            <a:off x="3399417" y="3311788"/>
            <a:ext cx="4642730" cy="3546212"/>
          </a:xfrm>
          <a:prstGeom prst="rect">
            <a:avLst/>
          </a:prstGeom>
        </p:spPr>
      </p:pic>
      <p:sp>
        <p:nvSpPr>
          <p:cNvPr id="2" name="Title 1">
            <a:extLst>
              <a:ext uri="{FF2B5EF4-FFF2-40B4-BE49-F238E27FC236}">
                <a16:creationId xmlns:a16="http://schemas.microsoft.com/office/drawing/2014/main" id="{75DCE2F9-F4C3-DA4C-B0FC-7FF6F22D148C}"/>
              </a:ext>
            </a:extLst>
          </p:cNvPr>
          <p:cNvSpPr>
            <a:spLocks noGrp="1"/>
          </p:cNvSpPr>
          <p:nvPr>
            <p:ph type="title"/>
          </p:nvPr>
        </p:nvSpPr>
        <p:spPr>
          <a:xfrm>
            <a:off x="838200" y="0"/>
            <a:ext cx="10515600" cy="1325563"/>
          </a:xfrm>
        </p:spPr>
        <p:txBody>
          <a:bodyPr/>
          <a:lstStyle/>
          <a:p>
            <a:r>
              <a:rPr lang="en-US" dirty="0"/>
              <a:t>Restriction – 1D</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5C4FD65-F675-944D-A379-3A5FFFAEB784}"/>
                  </a:ext>
                </a:extLst>
              </p:cNvPr>
              <p:cNvSpPr>
                <a:spLocks noGrp="1"/>
              </p:cNvSpPr>
              <p:nvPr>
                <p:ph idx="1"/>
              </p:nvPr>
            </p:nvSpPr>
            <p:spPr>
              <a:xfrm>
                <a:off x="838200" y="1325562"/>
                <a:ext cx="10515600" cy="5532437"/>
              </a:xfrm>
            </p:spPr>
            <p:txBody>
              <a:bodyPr/>
              <a:lstStyle/>
              <a:p>
                <a:pPr>
                  <a:lnSpc>
                    <a:spcPct val="100000"/>
                  </a:lnSpc>
                </a:pPr>
                <a:r>
                  <a:rPr lang="en-US" dirty="0"/>
                  <a:t>Transferring data to coarser grid in 1D. </a:t>
                </a:r>
              </a:p>
              <a:p>
                <a:pPr>
                  <a:lnSpc>
                    <a:spcPct val="100000"/>
                  </a:lnSpc>
                </a:pPr>
                <a:r>
                  <a:rPr lang="en-US" dirty="0"/>
                  <a:t>If </a:t>
                </a:r>
                <a14:m>
                  <m:oMath xmlns:m="http://schemas.openxmlformats.org/officeDocument/2006/math">
                    <m:r>
                      <a:rPr lang="en-US" b="0" i="1" dirty="0" smtClean="0">
                        <a:latin typeface="Cambria Math" panose="02040503050406030204" pitchFamily="18" charset="0"/>
                      </a:rPr>
                      <m:t>𝜙</m:t>
                    </m:r>
                  </m:oMath>
                </a14:m>
                <a:r>
                  <a:rPr lang="el-GR" i="1" dirty="0"/>
                  <a:t> </a:t>
                </a:r>
                <a:r>
                  <a:rPr lang="en-US" dirty="0"/>
                  <a:t>represents a density, then conservation requires: </a:t>
                </a:r>
              </a:p>
              <a:p>
                <a:pPr marL="0" indent="0">
                  <a:lnSpc>
                    <a:spcPct val="100000"/>
                  </a:lnSpc>
                  <a:buNone/>
                </a:pPr>
                <a14:m>
                  <m:oMathPara xmlns:m="http://schemas.openxmlformats.org/officeDocument/2006/math">
                    <m:oMathParaPr>
                      <m:jc m:val="centerGroup"/>
                    </m:oMathParaPr>
                    <m:oMath xmlns:m="http://schemas.openxmlformats.org/officeDocument/2006/math">
                      <m:sSubSup>
                        <m:sSubSupPr>
                          <m:ctrlPr>
                            <a:rPr lang="en-US" b="0" i="1" smtClean="0">
                              <a:solidFill>
                                <a:srgbClr val="4472C4"/>
                              </a:solidFill>
                              <a:latin typeface="Cambria Math" panose="02040503050406030204" pitchFamily="18" charset="0"/>
                            </a:rPr>
                          </m:ctrlPr>
                        </m:sSubSupPr>
                        <m:e>
                          <m:r>
                            <a:rPr lang="en-US" b="0" i="1" smtClean="0">
                              <a:solidFill>
                                <a:srgbClr val="4472C4"/>
                              </a:solidFill>
                              <a:latin typeface="Cambria Math" panose="02040503050406030204" pitchFamily="18" charset="0"/>
                            </a:rPr>
                            <m:t>𝜙</m:t>
                          </m:r>
                        </m:e>
                        <m:sub>
                          <m:r>
                            <a:rPr lang="en-US" b="0" i="1" smtClean="0">
                              <a:solidFill>
                                <a:srgbClr val="4472C4"/>
                              </a:solidFill>
                              <a:latin typeface="Cambria Math" panose="02040503050406030204" pitchFamily="18" charset="0"/>
                            </a:rPr>
                            <m:t>𝑗</m:t>
                          </m:r>
                        </m:sub>
                        <m:sup>
                          <m:r>
                            <a:rPr lang="en-US" b="0" i="1" smtClean="0">
                              <a:solidFill>
                                <a:srgbClr val="4472C4"/>
                              </a:solidFill>
                              <a:latin typeface="Cambria Math" panose="02040503050406030204" pitchFamily="18" charset="0"/>
                            </a:rPr>
                            <m:t>𝑐</m:t>
                          </m:r>
                        </m:sup>
                      </m:sSubSup>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m:rPr>
                              <m:sty m:val="p"/>
                            </m:rPr>
                            <a:rPr lang="en-US" b="0" i="0" smtClean="0">
                              <a:latin typeface="Cambria Math" panose="02040503050406030204" pitchFamily="18" charset="0"/>
                            </a:rPr>
                            <m:t>Δ</m:t>
                          </m:r>
                          <m:sSup>
                            <m:sSupPr>
                              <m:ctrlPr>
                                <a:rPr lang="en-US" b="0" i="1" smtClean="0">
                                  <a:latin typeface="Cambria Math" panose="02040503050406030204" pitchFamily="18" charset="0"/>
                                </a:rPr>
                              </m:ctrlPr>
                            </m:sSupPr>
                            <m:e>
                              <m:r>
                                <m:rPr>
                                  <m:sty m:val="p"/>
                                </m:rPr>
                                <a:rPr lang="en-US" b="0" i="0" smtClean="0">
                                  <a:latin typeface="Cambria Math" panose="02040503050406030204" pitchFamily="18" charset="0"/>
                                </a:rPr>
                                <m:t>x</m:t>
                              </m:r>
                            </m:e>
                            <m:sup>
                              <m:r>
                                <a:rPr lang="en-US" b="0" i="1" smtClean="0">
                                  <a:latin typeface="Cambria Math" panose="02040503050406030204" pitchFamily="18" charset="0"/>
                                </a:rPr>
                                <m:t>𝑐</m:t>
                              </m:r>
                            </m:sup>
                          </m:sSup>
                        </m:den>
                      </m:f>
                      <m:d>
                        <m:dPr>
                          <m:ctrlPr>
                            <a:rPr lang="en-US" b="0" i="1" smtClean="0">
                              <a:latin typeface="Cambria Math" panose="02040503050406030204" pitchFamily="18" charset="0"/>
                            </a:rPr>
                          </m:ctrlPr>
                        </m:dPr>
                        <m:e>
                          <m:r>
                            <m:rPr>
                              <m:sty m:val="p"/>
                            </m:rPr>
                            <a:rPr lang="en-US" b="0" i="0" smtClean="0">
                              <a:latin typeface="Cambria Math" panose="02040503050406030204" pitchFamily="18" charset="0"/>
                            </a:rPr>
                            <m:t>Δ</m:t>
                          </m:r>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𝑥</m:t>
                              </m:r>
                            </m:e>
                            <m:sub>
                              <m:r>
                                <a:rPr lang="en-US" b="0" i="1" smtClean="0">
                                  <a:latin typeface="Cambria Math" panose="02040503050406030204" pitchFamily="18" charset="0"/>
                                </a:rPr>
                                <m:t>𝑖</m:t>
                              </m:r>
                            </m:sub>
                            <m:sup>
                              <m:r>
                                <a:rPr lang="en-US" b="0" i="1" smtClean="0">
                                  <a:latin typeface="Cambria Math" panose="02040503050406030204" pitchFamily="18" charset="0"/>
                                </a:rPr>
                                <m:t>𝑓</m:t>
                              </m:r>
                            </m:sup>
                          </m:sSubSup>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𝜙</m:t>
                              </m:r>
                            </m:e>
                            <m:sub>
                              <m:r>
                                <a:rPr lang="en-US" b="0" i="1" smtClean="0">
                                  <a:latin typeface="Cambria Math" panose="02040503050406030204" pitchFamily="18" charset="0"/>
                                </a:rPr>
                                <m:t>𝑖</m:t>
                              </m:r>
                            </m:sub>
                            <m:sup>
                              <m:r>
                                <a:rPr lang="en-US" b="0" i="1" smtClean="0">
                                  <a:latin typeface="Cambria Math" panose="02040503050406030204" pitchFamily="18" charset="0"/>
                                </a:rPr>
                                <m:t>𝑓</m:t>
                              </m:r>
                            </m:sup>
                          </m:sSubSup>
                          <m:r>
                            <a:rPr lang="en-US" b="0" i="1" smtClean="0">
                              <a:latin typeface="Cambria Math" panose="02040503050406030204" pitchFamily="18" charset="0"/>
                            </a:rPr>
                            <m:t>+</m:t>
                          </m:r>
                          <m:r>
                            <m:rPr>
                              <m:sty m:val="p"/>
                            </m:rPr>
                            <a:rPr lang="en-US">
                              <a:latin typeface="Cambria Math" panose="02040503050406030204" pitchFamily="18" charset="0"/>
                            </a:rPr>
                            <m:t>Δ</m:t>
                          </m:r>
                          <m:sSubSup>
                            <m:sSubSupPr>
                              <m:ctrlPr>
                                <a:rPr lang="en-US" i="1">
                                  <a:latin typeface="Cambria Math" panose="02040503050406030204" pitchFamily="18" charset="0"/>
                                </a:rPr>
                              </m:ctrlPr>
                            </m:sSubSupPr>
                            <m:e>
                              <m:r>
                                <a:rPr lang="en-US" i="1">
                                  <a:latin typeface="Cambria Math" panose="02040503050406030204" pitchFamily="18" charset="0"/>
                                </a:rPr>
                                <m:t>𝑥</m:t>
                              </m:r>
                            </m:e>
                            <m:sub>
                              <m:r>
                                <a:rPr lang="en-US" i="1">
                                  <a:latin typeface="Cambria Math" panose="02040503050406030204" pitchFamily="18" charset="0"/>
                                </a:rPr>
                                <m:t>𝑖</m:t>
                              </m:r>
                              <m:r>
                                <a:rPr lang="en-US" b="0" i="1" smtClean="0">
                                  <a:latin typeface="Cambria Math" panose="02040503050406030204" pitchFamily="18" charset="0"/>
                                </a:rPr>
                                <m:t>+1</m:t>
                              </m:r>
                            </m:sub>
                            <m:sup>
                              <m:r>
                                <a:rPr lang="en-US" i="1">
                                  <a:latin typeface="Cambria Math" panose="02040503050406030204" pitchFamily="18" charset="0"/>
                                </a:rPr>
                                <m:t>𝑓</m:t>
                              </m:r>
                            </m:sup>
                          </m:sSubSup>
                          <m:sSubSup>
                            <m:sSubSupPr>
                              <m:ctrlPr>
                                <a:rPr lang="en-US" i="1">
                                  <a:latin typeface="Cambria Math" panose="02040503050406030204" pitchFamily="18" charset="0"/>
                                </a:rPr>
                              </m:ctrlPr>
                            </m:sSubSupPr>
                            <m:e>
                              <m:r>
                                <a:rPr lang="en-US" i="1">
                                  <a:latin typeface="Cambria Math" panose="02040503050406030204" pitchFamily="18" charset="0"/>
                                </a:rPr>
                                <m:t>𝜙</m:t>
                              </m:r>
                            </m:e>
                            <m:sub>
                              <m:r>
                                <a:rPr lang="en-US" i="1">
                                  <a:latin typeface="Cambria Math" panose="02040503050406030204" pitchFamily="18" charset="0"/>
                                </a:rPr>
                                <m:t>𝑖</m:t>
                              </m:r>
                              <m:r>
                                <a:rPr lang="en-US" b="0" i="1" smtClean="0">
                                  <a:latin typeface="Cambria Math" panose="02040503050406030204" pitchFamily="18" charset="0"/>
                                </a:rPr>
                                <m:t>+1</m:t>
                              </m:r>
                            </m:sub>
                            <m:sup>
                              <m:r>
                                <a:rPr lang="en-US" i="1">
                                  <a:latin typeface="Cambria Math" panose="02040503050406030204" pitchFamily="18" charset="0"/>
                                </a:rPr>
                                <m:t>𝑓</m:t>
                              </m:r>
                            </m:sup>
                          </m:sSubSup>
                        </m:e>
                      </m:d>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2</m:t>
                          </m:r>
                        </m:den>
                      </m:f>
                      <m:d>
                        <m:dPr>
                          <m:ctrlPr>
                            <a:rPr lang="en-US" i="1">
                              <a:latin typeface="Cambria Math" panose="02040503050406030204" pitchFamily="18" charset="0"/>
                            </a:rPr>
                          </m:ctrlPr>
                        </m:dPr>
                        <m:e>
                          <m:sSubSup>
                            <m:sSubSupPr>
                              <m:ctrlPr>
                                <a:rPr lang="en-US" i="1" smtClean="0">
                                  <a:solidFill>
                                    <a:srgbClr val="FF0000"/>
                                  </a:solidFill>
                                  <a:latin typeface="Cambria Math" panose="02040503050406030204" pitchFamily="18" charset="0"/>
                                </a:rPr>
                              </m:ctrlPr>
                            </m:sSubSupPr>
                            <m:e>
                              <m:r>
                                <a:rPr lang="en-US" i="1">
                                  <a:solidFill>
                                    <a:srgbClr val="FF0000"/>
                                  </a:solidFill>
                                  <a:latin typeface="Cambria Math" panose="02040503050406030204" pitchFamily="18" charset="0"/>
                                </a:rPr>
                                <m:t>𝜙</m:t>
                              </m:r>
                            </m:e>
                            <m:sub>
                              <m:r>
                                <a:rPr lang="en-US" i="1">
                                  <a:solidFill>
                                    <a:srgbClr val="FF0000"/>
                                  </a:solidFill>
                                  <a:latin typeface="Cambria Math" panose="02040503050406030204" pitchFamily="18" charset="0"/>
                                </a:rPr>
                                <m:t>𝑖</m:t>
                              </m:r>
                            </m:sub>
                            <m:sup>
                              <m:r>
                                <a:rPr lang="en-US" i="1">
                                  <a:solidFill>
                                    <a:srgbClr val="FF0000"/>
                                  </a:solidFill>
                                  <a:latin typeface="Cambria Math" panose="02040503050406030204" pitchFamily="18" charset="0"/>
                                </a:rPr>
                                <m:t>𝑓</m:t>
                              </m:r>
                            </m:sup>
                          </m:sSubSup>
                          <m:r>
                            <a:rPr lang="en-US" i="1">
                              <a:solidFill>
                                <a:srgbClr val="FF0000"/>
                              </a:solidFill>
                              <a:latin typeface="Cambria Math" panose="02040503050406030204" pitchFamily="18" charset="0"/>
                            </a:rPr>
                            <m:t>+</m:t>
                          </m:r>
                          <m:sSubSup>
                            <m:sSubSupPr>
                              <m:ctrlPr>
                                <a:rPr lang="en-US" i="1">
                                  <a:solidFill>
                                    <a:srgbClr val="FF0000"/>
                                  </a:solidFill>
                                  <a:latin typeface="Cambria Math" panose="02040503050406030204" pitchFamily="18" charset="0"/>
                                </a:rPr>
                              </m:ctrlPr>
                            </m:sSubSupPr>
                            <m:e>
                              <m:r>
                                <a:rPr lang="en-US" i="1">
                                  <a:solidFill>
                                    <a:srgbClr val="FF0000"/>
                                  </a:solidFill>
                                  <a:latin typeface="Cambria Math" panose="02040503050406030204" pitchFamily="18" charset="0"/>
                                </a:rPr>
                                <m:t>𝜙</m:t>
                              </m:r>
                            </m:e>
                            <m:sub>
                              <m:r>
                                <a:rPr lang="en-US" i="1">
                                  <a:solidFill>
                                    <a:srgbClr val="FF0000"/>
                                  </a:solidFill>
                                  <a:latin typeface="Cambria Math" panose="02040503050406030204" pitchFamily="18" charset="0"/>
                                </a:rPr>
                                <m:t>𝑖</m:t>
                              </m:r>
                              <m:r>
                                <a:rPr lang="en-US" i="1">
                                  <a:solidFill>
                                    <a:srgbClr val="FF0000"/>
                                  </a:solidFill>
                                  <a:latin typeface="Cambria Math" panose="02040503050406030204" pitchFamily="18" charset="0"/>
                                </a:rPr>
                                <m:t>+1</m:t>
                              </m:r>
                            </m:sub>
                            <m:sup>
                              <m:r>
                                <a:rPr lang="en-US" i="1">
                                  <a:solidFill>
                                    <a:srgbClr val="FF0000"/>
                                  </a:solidFill>
                                  <a:latin typeface="Cambria Math" panose="02040503050406030204" pitchFamily="18" charset="0"/>
                                </a:rPr>
                                <m:t>𝑓</m:t>
                              </m:r>
                            </m:sup>
                          </m:sSubSup>
                        </m:e>
                      </m:d>
                    </m:oMath>
                  </m:oMathPara>
                </a14:m>
                <a:endParaRPr lang="en-US" dirty="0"/>
              </a:p>
              <a:p>
                <a:pPr>
                  <a:lnSpc>
                    <a:spcPct val="100000"/>
                  </a:lnSpc>
                </a:pPr>
                <a:r>
                  <a:rPr lang="en-US" dirty="0"/>
                  <a:t>This is also second-order accurate at the coarse cell, cell-center.</a:t>
                </a:r>
              </a:p>
              <a:p>
                <a:pPr>
                  <a:lnSpc>
                    <a:spcPct val="100000"/>
                  </a:lnSpc>
                </a:pPr>
                <a:endParaRPr lang="en-US" dirty="0"/>
              </a:p>
            </p:txBody>
          </p:sp>
        </mc:Choice>
        <mc:Fallback xmlns="">
          <p:sp>
            <p:nvSpPr>
              <p:cNvPr id="3" name="Content Placeholder 2">
                <a:extLst>
                  <a:ext uri="{FF2B5EF4-FFF2-40B4-BE49-F238E27FC236}">
                    <a16:creationId xmlns:a16="http://schemas.microsoft.com/office/drawing/2014/main" id="{15C4FD65-F675-944D-A379-3A5FFFAEB784}"/>
                  </a:ext>
                </a:extLst>
              </p:cNvPr>
              <p:cNvSpPr>
                <a:spLocks noGrp="1" noRot="1" noChangeAspect="1" noMove="1" noResize="1" noEditPoints="1" noAdjustHandles="1" noChangeArrowheads="1" noChangeShapeType="1" noTextEdit="1"/>
              </p:cNvSpPr>
              <p:nvPr>
                <p:ph idx="1"/>
              </p:nvPr>
            </p:nvSpPr>
            <p:spPr>
              <a:xfrm>
                <a:off x="838200" y="1325562"/>
                <a:ext cx="10515600" cy="5532437"/>
              </a:xfrm>
              <a:blipFill>
                <a:blip r:embed="rId3"/>
                <a:stretch>
                  <a:fillRect l="-965" t="-915"/>
                </a:stretch>
              </a:blipFill>
            </p:spPr>
            <p:txBody>
              <a:bodyPr/>
              <a:lstStyle/>
              <a:p>
                <a:r>
                  <a:rPr lang="en-US">
                    <a:noFill/>
                  </a:rPr>
                  <a:t> </a:t>
                </a:r>
              </a:p>
            </p:txBody>
          </p:sp>
        </mc:Fallback>
      </mc:AlternateContent>
      <p:sp>
        <p:nvSpPr>
          <p:cNvPr id="4" name="TextBox 3">
            <a:extLst>
              <a:ext uri="{FF2B5EF4-FFF2-40B4-BE49-F238E27FC236}">
                <a16:creationId xmlns:a16="http://schemas.microsoft.com/office/drawing/2014/main" id="{57157FF4-32E0-8840-82A8-37D884DC40F4}"/>
              </a:ext>
            </a:extLst>
          </p:cNvPr>
          <p:cNvSpPr txBox="1"/>
          <p:nvPr/>
        </p:nvSpPr>
        <p:spPr>
          <a:xfrm>
            <a:off x="9610827" y="1718510"/>
            <a:ext cx="1469761" cy="400110"/>
          </a:xfrm>
          <a:prstGeom prst="rect">
            <a:avLst/>
          </a:prstGeom>
          <a:noFill/>
          <a:ln>
            <a:solidFill>
              <a:srgbClr val="FF0000"/>
            </a:solidFill>
          </a:ln>
        </p:spPr>
        <p:txBody>
          <a:bodyPr wrap="none" rtlCol="0">
            <a:spAutoFit/>
          </a:bodyPr>
          <a:lstStyle/>
          <a:p>
            <a:r>
              <a:rPr lang="en-US" sz="2000" dirty="0">
                <a:solidFill>
                  <a:srgbClr val="FF0000"/>
                </a:solidFill>
              </a:rPr>
              <a:t>(in our case)</a:t>
            </a:r>
          </a:p>
        </p:txBody>
      </p:sp>
      <p:cxnSp>
        <p:nvCxnSpPr>
          <p:cNvPr id="9" name="Straight Arrow Connector 8">
            <a:extLst>
              <a:ext uri="{FF2B5EF4-FFF2-40B4-BE49-F238E27FC236}">
                <a16:creationId xmlns:a16="http://schemas.microsoft.com/office/drawing/2014/main" id="{425F2257-0715-0F48-90CC-CFDEC0E2AF4F}"/>
              </a:ext>
            </a:extLst>
          </p:cNvPr>
          <p:cNvCxnSpPr/>
          <p:nvPr/>
        </p:nvCxnSpPr>
        <p:spPr>
          <a:xfrm flipH="1">
            <a:off x="8993393" y="1947134"/>
            <a:ext cx="602428" cy="494852"/>
          </a:xfrm>
          <a:prstGeom prst="straightConnector1">
            <a:avLst/>
          </a:prstGeom>
          <a:ln w="19050">
            <a:solidFill>
              <a:srgbClr val="FF0000"/>
            </a:solidFill>
            <a:tailEnd type="triangle"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A80A5C15-A5BF-374E-90F2-FCDC3CE28EC7}"/>
                  </a:ext>
                </a:extLst>
              </p:cNvPr>
              <p:cNvSpPr txBox="1"/>
              <p:nvPr/>
            </p:nvSpPr>
            <p:spPr>
              <a:xfrm>
                <a:off x="6323751" y="5904142"/>
                <a:ext cx="503921" cy="401648"/>
              </a:xfrm>
              <a:prstGeom prst="rect">
                <a:avLst/>
              </a:prstGeom>
              <a:solidFill>
                <a:schemeClr val="bg1"/>
              </a:solid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𝜙</m:t>
                          </m:r>
                        </m:e>
                        <m:sub>
                          <m:r>
                            <a:rPr lang="en-US" b="0" i="1" smtClean="0">
                              <a:latin typeface="Cambria Math" panose="02040503050406030204" pitchFamily="18" charset="0"/>
                            </a:rPr>
                            <m:t>𝑗</m:t>
                          </m:r>
                        </m:sub>
                        <m:sup>
                          <m:r>
                            <a:rPr lang="en-US" b="0" i="1" smtClean="0">
                              <a:latin typeface="Cambria Math" panose="02040503050406030204" pitchFamily="18" charset="0"/>
                            </a:rPr>
                            <m:t>𝑐</m:t>
                          </m:r>
                        </m:sup>
                      </m:sSubSup>
                    </m:oMath>
                  </m:oMathPara>
                </a14:m>
                <a:endParaRPr lang="en-US" dirty="0"/>
              </a:p>
            </p:txBody>
          </p:sp>
        </mc:Choice>
        <mc:Fallback xmlns="">
          <p:sp>
            <p:nvSpPr>
              <p:cNvPr id="12" name="TextBox 11">
                <a:extLst>
                  <a:ext uri="{FF2B5EF4-FFF2-40B4-BE49-F238E27FC236}">
                    <a16:creationId xmlns:a16="http://schemas.microsoft.com/office/drawing/2014/main" id="{A80A5C15-A5BF-374E-90F2-FCDC3CE28EC7}"/>
                  </a:ext>
                </a:extLst>
              </p:cNvPr>
              <p:cNvSpPr txBox="1">
                <a:spLocks noRot="1" noChangeAspect="1" noMove="1" noResize="1" noEditPoints="1" noAdjustHandles="1" noChangeArrowheads="1" noChangeShapeType="1" noTextEdit="1"/>
              </p:cNvSpPr>
              <p:nvPr/>
            </p:nvSpPr>
            <p:spPr>
              <a:xfrm>
                <a:off x="6323751" y="5904142"/>
                <a:ext cx="503921" cy="401648"/>
              </a:xfrm>
              <a:prstGeom prst="rect">
                <a:avLst/>
              </a:prstGeom>
              <a:blipFill>
                <a:blip r:embed="rId4"/>
                <a:stretch>
                  <a:fillRect b="-303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2A507ECD-99C6-4C40-980B-357F1FB738A6}"/>
                  </a:ext>
                </a:extLst>
              </p:cNvPr>
              <p:cNvSpPr txBox="1"/>
              <p:nvPr/>
            </p:nvSpPr>
            <p:spPr>
              <a:xfrm>
                <a:off x="4558838" y="5909520"/>
                <a:ext cx="699102" cy="401648"/>
              </a:xfrm>
              <a:prstGeom prst="rect">
                <a:avLst/>
              </a:prstGeom>
              <a:solidFill>
                <a:schemeClr val="bg1"/>
              </a:solid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𝜙</m:t>
                          </m:r>
                        </m:e>
                        <m:sub>
                          <m:r>
                            <a:rPr lang="en-US" b="0" i="1" smtClean="0">
                              <a:latin typeface="Cambria Math" panose="02040503050406030204" pitchFamily="18" charset="0"/>
                            </a:rPr>
                            <m:t>𝑗</m:t>
                          </m:r>
                          <m:r>
                            <a:rPr lang="en-US" b="0" i="1" smtClean="0">
                              <a:latin typeface="Cambria Math" panose="02040503050406030204" pitchFamily="18" charset="0"/>
                            </a:rPr>
                            <m:t>−1</m:t>
                          </m:r>
                        </m:sub>
                        <m:sup>
                          <m:r>
                            <a:rPr lang="en-US" b="0" i="1" smtClean="0">
                              <a:latin typeface="Cambria Math" panose="02040503050406030204" pitchFamily="18" charset="0"/>
                            </a:rPr>
                            <m:t>𝑐</m:t>
                          </m:r>
                        </m:sup>
                      </m:sSubSup>
                    </m:oMath>
                  </m:oMathPara>
                </a14:m>
                <a:endParaRPr lang="en-US" dirty="0"/>
              </a:p>
            </p:txBody>
          </p:sp>
        </mc:Choice>
        <mc:Fallback xmlns="">
          <p:sp>
            <p:nvSpPr>
              <p:cNvPr id="13" name="TextBox 12">
                <a:extLst>
                  <a:ext uri="{FF2B5EF4-FFF2-40B4-BE49-F238E27FC236}">
                    <a16:creationId xmlns:a16="http://schemas.microsoft.com/office/drawing/2014/main" id="{2A507ECD-99C6-4C40-980B-357F1FB738A6}"/>
                  </a:ext>
                </a:extLst>
              </p:cNvPr>
              <p:cNvSpPr txBox="1">
                <a:spLocks noRot="1" noChangeAspect="1" noMove="1" noResize="1" noEditPoints="1" noAdjustHandles="1" noChangeArrowheads="1" noChangeShapeType="1" noTextEdit="1"/>
              </p:cNvSpPr>
              <p:nvPr/>
            </p:nvSpPr>
            <p:spPr>
              <a:xfrm>
                <a:off x="4558838" y="5909520"/>
                <a:ext cx="699102" cy="401648"/>
              </a:xfrm>
              <a:prstGeom prst="rect">
                <a:avLst/>
              </a:prstGeom>
              <a:blipFill>
                <a:blip r:embed="rId5"/>
                <a:stretch>
                  <a:fillRect b="-303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9ED524B9-A147-3046-9325-894FA7EC71AA}"/>
                  </a:ext>
                </a:extLst>
              </p:cNvPr>
              <p:cNvSpPr txBox="1"/>
              <p:nvPr/>
            </p:nvSpPr>
            <p:spPr>
              <a:xfrm>
                <a:off x="4130331" y="4146194"/>
                <a:ext cx="679866" cy="434478"/>
              </a:xfrm>
              <a:prstGeom prst="rect">
                <a:avLst/>
              </a:prstGeom>
              <a:solidFill>
                <a:schemeClr val="bg1"/>
              </a:solid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𝜙</m:t>
                          </m:r>
                        </m:e>
                        <m:sub>
                          <m:r>
                            <a:rPr lang="en-US" b="0" i="1" smtClean="0">
                              <a:latin typeface="Cambria Math" panose="02040503050406030204" pitchFamily="18" charset="0"/>
                            </a:rPr>
                            <m:t>𝑖</m:t>
                          </m:r>
                          <m:r>
                            <a:rPr lang="en-US" b="0" i="1" smtClean="0">
                              <a:latin typeface="Cambria Math" panose="02040503050406030204" pitchFamily="18" charset="0"/>
                            </a:rPr>
                            <m:t>−2</m:t>
                          </m:r>
                        </m:sub>
                        <m:sup>
                          <m:r>
                            <a:rPr lang="en-US" b="0" i="1" smtClean="0">
                              <a:latin typeface="Cambria Math" panose="02040503050406030204" pitchFamily="18" charset="0"/>
                            </a:rPr>
                            <m:t>𝑓</m:t>
                          </m:r>
                        </m:sup>
                      </m:sSubSup>
                    </m:oMath>
                  </m:oMathPara>
                </a14:m>
                <a:endParaRPr lang="en-US" dirty="0"/>
              </a:p>
            </p:txBody>
          </p:sp>
        </mc:Choice>
        <mc:Fallback xmlns="">
          <p:sp>
            <p:nvSpPr>
              <p:cNvPr id="14" name="TextBox 13">
                <a:extLst>
                  <a:ext uri="{FF2B5EF4-FFF2-40B4-BE49-F238E27FC236}">
                    <a16:creationId xmlns:a16="http://schemas.microsoft.com/office/drawing/2014/main" id="{9ED524B9-A147-3046-9325-894FA7EC71AA}"/>
                  </a:ext>
                </a:extLst>
              </p:cNvPr>
              <p:cNvSpPr txBox="1">
                <a:spLocks noRot="1" noChangeAspect="1" noMove="1" noResize="1" noEditPoints="1" noAdjustHandles="1" noChangeArrowheads="1" noChangeShapeType="1" noTextEdit="1"/>
              </p:cNvSpPr>
              <p:nvPr/>
            </p:nvSpPr>
            <p:spPr>
              <a:xfrm>
                <a:off x="4130331" y="4146194"/>
                <a:ext cx="679866" cy="434478"/>
              </a:xfrm>
              <a:prstGeom prst="rect">
                <a:avLst/>
              </a:prstGeom>
              <a:blipFill>
                <a:blip r:embed="rId6"/>
                <a:stretch>
                  <a:fillRect b="-555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2F8BA459-CAAA-CA45-A9C7-70E565373C9A}"/>
                  </a:ext>
                </a:extLst>
              </p:cNvPr>
              <p:cNvSpPr txBox="1"/>
              <p:nvPr/>
            </p:nvSpPr>
            <p:spPr>
              <a:xfrm>
                <a:off x="4996479" y="4150365"/>
                <a:ext cx="679866" cy="434478"/>
              </a:xfrm>
              <a:prstGeom prst="rect">
                <a:avLst/>
              </a:prstGeom>
              <a:solidFill>
                <a:schemeClr val="bg1"/>
              </a:solid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𝜙</m:t>
                          </m:r>
                        </m:e>
                        <m:sub>
                          <m:r>
                            <a:rPr lang="en-US" b="0" i="1" smtClean="0">
                              <a:latin typeface="Cambria Math" panose="02040503050406030204" pitchFamily="18" charset="0"/>
                            </a:rPr>
                            <m:t>𝑖</m:t>
                          </m:r>
                          <m:r>
                            <a:rPr lang="en-US" b="0" i="1" smtClean="0">
                              <a:latin typeface="Cambria Math" panose="02040503050406030204" pitchFamily="18" charset="0"/>
                            </a:rPr>
                            <m:t>−1</m:t>
                          </m:r>
                        </m:sub>
                        <m:sup>
                          <m:r>
                            <a:rPr lang="en-US" b="0" i="1" smtClean="0">
                              <a:latin typeface="Cambria Math" panose="02040503050406030204" pitchFamily="18" charset="0"/>
                            </a:rPr>
                            <m:t>𝑓</m:t>
                          </m:r>
                        </m:sup>
                      </m:sSubSup>
                    </m:oMath>
                  </m:oMathPara>
                </a14:m>
                <a:endParaRPr lang="en-US" dirty="0"/>
              </a:p>
            </p:txBody>
          </p:sp>
        </mc:Choice>
        <mc:Fallback xmlns="">
          <p:sp>
            <p:nvSpPr>
              <p:cNvPr id="15" name="TextBox 14">
                <a:extLst>
                  <a:ext uri="{FF2B5EF4-FFF2-40B4-BE49-F238E27FC236}">
                    <a16:creationId xmlns:a16="http://schemas.microsoft.com/office/drawing/2014/main" id="{2F8BA459-CAAA-CA45-A9C7-70E565373C9A}"/>
                  </a:ext>
                </a:extLst>
              </p:cNvPr>
              <p:cNvSpPr txBox="1">
                <a:spLocks noRot="1" noChangeAspect="1" noMove="1" noResize="1" noEditPoints="1" noAdjustHandles="1" noChangeArrowheads="1" noChangeShapeType="1" noTextEdit="1"/>
              </p:cNvSpPr>
              <p:nvPr/>
            </p:nvSpPr>
            <p:spPr>
              <a:xfrm>
                <a:off x="4996479" y="4150365"/>
                <a:ext cx="679866" cy="434478"/>
              </a:xfrm>
              <a:prstGeom prst="rect">
                <a:avLst/>
              </a:prstGeom>
              <a:blipFill>
                <a:blip r:embed="rId7"/>
                <a:stretch>
                  <a:fillRect b="-571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1FF2450E-785F-FB4C-B265-D56C0D3A4554}"/>
                  </a:ext>
                </a:extLst>
              </p:cNvPr>
              <p:cNvSpPr txBox="1"/>
              <p:nvPr/>
            </p:nvSpPr>
            <p:spPr>
              <a:xfrm>
                <a:off x="5910276" y="4146194"/>
                <a:ext cx="525657" cy="434478"/>
              </a:xfrm>
              <a:prstGeom prst="rect">
                <a:avLst/>
              </a:prstGeom>
              <a:solidFill>
                <a:schemeClr val="bg1"/>
              </a:solid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𝜙</m:t>
                          </m:r>
                        </m:e>
                        <m:sub>
                          <m:r>
                            <a:rPr lang="en-US" b="0" i="1" smtClean="0">
                              <a:latin typeface="Cambria Math" panose="02040503050406030204" pitchFamily="18" charset="0"/>
                            </a:rPr>
                            <m:t>𝑖</m:t>
                          </m:r>
                        </m:sub>
                        <m:sup>
                          <m:r>
                            <a:rPr lang="en-US" b="0" i="1" smtClean="0">
                              <a:latin typeface="Cambria Math" panose="02040503050406030204" pitchFamily="18" charset="0"/>
                            </a:rPr>
                            <m:t>𝑓</m:t>
                          </m:r>
                        </m:sup>
                      </m:sSubSup>
                    </m:oMath>
                  </m:oMathPara>
                </a14:m>
                <a:endParaRPr lang="en-US" dirty="0"/>
              </a:p>
            </p:txBody>
          </p:sp>
        </mc:Choice>
        <mc:Fallback xmlns="">
          <p:sp>
            <p:nvSpPr>
              <p:cNvPr id="16" name="TextBox 15">
                <a:extLst>
                  <a:ext uri="{FF2B5EF4-FFF2-40B4-BE49-F238E27FC236}">
                    <a16:creationId xmlns:a16="http://schemas.microsoft.com/office/drawing/2014/main" id="{1FF2450E-785F-FB4C-B265-D56C0D3A4554}"/>
                  </a:ext>
                </a:extLst>
              </p:cNvPr>
              <p:cNvSpPr txBox="1">
                <a:spLocks noRot="1" noChangeAspect="1" noMove="1" noResize="1" noEditPoints="1" noAdjustHandles="1" noChangeArrowheads="1" noChangeShapeType="1" noTextEdit="1"/>
              </p:cNvSpPr>
              <p:nvPr/>
            </p:nvSpPr>
            <p:spPr>
              <a:xfrm>
                <a:off x="5910276" y="4146194"/>
                <a:ext cx="525657" cy="434478"/>
              </a:xfrm>
              <a:prstGeom prst="rect">
                <a:avLst/>
              </a:prstGeom>
              <a:blipFill>
                <a:blip r:embed="rId8"/>
                <a:stretch>
                  <a:fillRect b="-555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1EF509F7-ECF2-404A-9184-8C64B3837A4B}"/>
                  </a:ext>
                </a:extLst>
              </p:cNvPr>
              <p:cNvSpPr txBox="1"/>
              <p:nvPr/>
            </p:nvSpPr>
            <p:spPr>
              <a:xfrm>
                <a:off x="6622215" y="4156952"/>
                <a:ext cx="679866" cy="434478"/>
              </a:xfrm>
              <a:prstGeom prst="rect">
                <a:avLst/>
              </a:prstGeom>
              <a:solidFill>
                <a:schemeClr val="bg1"/>
              </a:solid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𝜙</m:t>
                          </m:r>
                        </m:e>
                        <m:sub>
                          <m:r>
                            <a:rPr lang="en-US" b="0" i="1" smtClean="0">
                              <a:latin typeface="Cambria Math" panose="02040503050406030204" pitchFamily="18" charset="0"/>
                            </a:rPr>
                            <m:t>𝑖</m:t>
                          </m:r>
                          <m:r>
                            <a:rPr lang="en-US" b="0" i="1" smtClean="0">
                              <a:latin typeface="Cambria Math" panose="02040503050406030204" pitchFamily="18" charset="0"/>
                            </a:rPr>
                            <m:t>+1</m:t>
                          </m:r>
                        </m:sub>
                        <m:sup>
                          <m:r>
                            <a:rPr lang="en-US" b="0" i="1" smtClean="0">
                              <a:latin typeface="Cambria Math" panose="02040503050406030204" pitchFamily="18" charset="0"/>
                            </a:rPr>
                            <m:t>𝑓</m:t>
                          </m:r>
                        </m:sup>
                      </m:sSubSup>
                    </m:oMath>
                  </m:oMathPara>
                </a14:m>
                <a:endParaRPr lang="en-US" dirty="0"/>
              </a:p>
            </p:txBody>
          </p:sp>
        </mc:Choice>
        <mc:Fallback xmlns="">
          <p:sp>
            <p:nvSpPr>
              <p:cNvPr id="17" name="TextBox 16">
                <a:extLst>
                  <a:ext uri="{FF2B5EF4-FFF2-40B4-BE49-F238E27FC236}">
                    <a16:creationId xmlns:a16="http://schemas.microsoft.com/office/drawing/2014/main" id="{1EF509F7-ECF2-404A-9184-8C64B3837A4B}"/>
                  </a:ext>
                </a:extLst>
              </p:cNvPr>
              <p:cNvSpPr txBox="1">
                <a:spLocks noRot="1" noChangeAspect="1" noMove="1" noResize="1" noEditPoints="1" noAdjustHandles="1" noChangeArrowheads="1" noChangeShapeType="1" noTextEdit="1"/>
              </p:cNvSpPr>
              <p:nvPr/>
            </p:nvSpPr>
            <p:spPr>
              <a:xfrm>
                <a:off x="6622215" y="4156952"/>
                <a:ext cx="679866" cy="434478"/>
              </a:xfrm>
              <a:prstGeom prst="rect">
                <a:avLst/>
              </a:prstGeom>
              <a:blipFill>
                <a:blip r:embed="rId9"/>
                <a:stretch>
                  <a:fillRect b="-5556"/>
                </a:stretch>
              </a:blipFill>
            </p:spPr>
            <p:txBody>
              <a:bodyPr/>
              <a:lstStyle/>
              <a:p>
                <a:r>
                  <a:rPr lang="en-US">
                    <a:noFill/>
                  </a:rPr>
                  <a:t> </a:t>
                </a:r>
              </a:p>
            </p:txBody>
          </p:sp>
        </mc:Fallback>
      </mc:AlternateContent>
      <p:sp>
        <p:nvSpPr>
          <p:cNvPr id="18" name="Rectangle 17">
            <a:extLst>
              <a:ext uri="{FF2B5EF4-FFF2-40B4-BE49-F238E27FC236}">
                <a16:creationId xmlns:a16="http://schemas.microsoft.com/office/drawing/2014/main" id="{07844490-C463-A84B-BD30-3AC4B0E6B2DF}"/>
              </a:ext>
            </a:extLst>
          </p:cNvPr>
          <p:cNvSpPr/>
          <p:nvPr/>
        </p:nvSpPr>
        <p:spPr>
          <a:xfrm>
            <a:off x="4290998" y="6645692"/>
            <a:ext cx="1109962" cy="16927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9363321F-FF88-8B4B-BE84-F7807399264E}"/>
              </a:ext>
            </a:extLst>
          </p:cNvPr>
          <p:cNvSpPr/>
          <p:nvPr/>
        </p:nvSpPr>
        <p:spPr>
          <a:xfrm>
            <a:off x="6020730" y="6636927"/>
            <a:ext cx="1109962" cy="16927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78998458-8C0D-2449-9129-DDB75CD97C98}"/>
              </a:ext>
            </a:extLst>
          </p:cNvPr>
          <p:cNvSpPr/>
          <p:nvPr/>
        </p:nvSpPr>
        <p:spPr>
          <a:xfrm>
            <a:off x="4147978" y="4907163"/>
            <a:ext cx="1252982" cy="20629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E127C126-DB31-6547-8214-751B51B4E0A1}"/>
              </a:ext>
            </a:extLst>
          </p:cNvPr>
          <p:cNvSpPr/>
          <p:nvPr/>
        </p:nvSpPr>
        <p:spPr>
          <a:xfrm>
            <a:off x="5877710" y="4898398"/>
            <a:ext cx="1252982" cy="20629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9BFD976D-408A-5A4B-9CFA-C14F2F973817}"/>
                  </a:ext>
                </a:extLst>
              </p:cNvPr>
              <p:cNvSpPr txBox="1"/>
              <p:nvPr/>
            </p:nvSpPr>
            <p:spPr>
              <a:xfrm>
                <a:off x="6380825" y="6534959"/>
                <a:ext cx="308418" cy="33855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𝑗</m:t>
                      </m:r>
                    </m:oMath>
                  </m:oMathPara>
                </a14:m>
                <a:endParaRPr lang="en-US" sz="1600" b="0" dirty="0"/>
              </a:p>
            </p:txBody>
          </p:sp>
        </mc:Choice>
        <mc:Fallback xmlns="">
          <p:sp>
            <p:nvSpPr>
              <p:cNvPr id="22" name="TextBox 21">
                <a:extLst>
                  <a:ext uri="{FF2B5EF4-FFF2-40B4-BE49-F238E27FC236}">
                    <a16:creationId xmlns:a16="http://schemas.microsoft.com/office/drawing/2014/main" id="{9BFD976D-408A-5A4B-9CFA-C14F2F973817}"/>
                  </a:ext>
                </a:extLst>
              </p:cNvPr>
              <p:cNvSpPr txBox="1">
                <a:spLocks noRot="1" noChangeAspect="1" noMove="1" noResize="1" noEditPoints="1" noAdjustHandles="1" noChangeArrowheads="1" noChangeShapeType="1" noTextEdit="1"/>
              </p:cNvSpPr>
              <p:nvPr/>
            </p:nvSpPr>
            <p:spPr>
              <a:xfrm>
                <a:off x="6380825" y="6534959"/>
                <a:ext cx="308418" cy="338554"/>
              </a:xfrm>
              <a:prstGeom prst="rect">
                <a:avLst/>
              </a:prstGeom>
              <a:blipFill>
                <a:blip r:embed="rId10"/>
                <a:stretch>
                  <a:fillRect b="-740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9744C2A5-4A13-BD43-A78B-E5331083BF6A}"/>
                  </a:ext>
                </a:extLst>
              </p:cNvPr>
              <p:cNvSpPr txBox="1"/>
              <p:nvPr/>
            </p:nvSpPr>
            <p:spPr>
              <a:xfrm>
                <a:off x="4574739" y="6527203"/>
                <a:ext cx="667299" cy="33855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𝑗</m:t>
                      </m:r>
                      <m:r>
                        <a:rPr lang="en-US" sz="1600" b="0" i="1" smtClean="0">
                          <a:latin typeface="Cambria Math" panose="02040503050406030204" pitchFamily="18" charset="0"/>
                        </a:rPr>
                        <m:t>−1</m:t>
                      </m:r>
                    </m:oMath>
                  </m:oMathPara>
                </a14:m>
                <a:endParaRPr lang="en-US" sz="1600" dirty="0"/>
              </a:p>
            </p:txBody>
          </p:sp>
        </mc:Choice>
        <mc:Fallback xmlns="">
          <p:sp>
            <p:nvSpPr>
              <p:cNvPr id="23" name="TextBox 22">
                <a:extLst>
                  <a:ext uri="{FF2B5EF4-FFF2-40B4-BE49-F238E27FC236}">
                    <a16:creationId xmlns:a16="http://schemas.microsoft.com/office/drawing/2014/main" id="{9744C2A5-4A13-BD43-A78B-E5331083BF6A}"/>
                  </a:ext>
                </a:extLst>
              </p:cNvPr>
              <p:cNvSpPr txBox="1">
                <a:spLocks noRot="1" noChangeAspect="1" noMove="1" noResize="1" noEditPoints="1" noAdjustHandles="1" noChangeArrowheads="1" noChangeShapeType="1" noTextEdit="1"/>
              </p:cNvSpPr>
              <p:nvPr/>
            </p:nvSpPr>
            <p:spPr>
              <a:xfrm>
                <a:off x="4574739" y="6527203"/>
                <a:ext cx="667299" cy="338554"/>
              </a:xfrm>
              <a:prstGeom prst="rect">
                <a:avLst/>
              </a:prstGeom>
              <a:blipFill>
                <a:blip r:embed="rId11"/>
                <a:stretch>
                  <a:fillRect b="-357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B6917566-47E7-1E49-8556-8D85A46A8A25}"/>
                  </a:ext>
                </a:extLst>
              </p:cNvPr>
              <p:cNvSpPr txBox="1"/>
              <p:nvPr/>
            </p:nvSpPr>
            <p:spPr>
              <a:xfrm>
                <a:off x="6669547" y="4825116"/>
                <a:ext cx="662297" cy="33855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𝑖</m:t>
                      </m:r>
                      <m:r>
                        <a:rPr lang="en-US" sz="1600" b="0" i="1" smtClean="0">
                          <a:latin typeface="Cambria Math" panose="02040503050406030204" pitchFamily="18" charset="0"/>
                        </a:rPr>
                        <m:t>+1</m:t>
                      </m:r>
                    </m:oMath>
                  </m:oMathPara>
                </a14:m>
                <a:endParaRPr lang="en-US" sz="1600" dirty="0"/>
              </a:p>
            </p:txBody>
          </p:sp>
        </mc:Choice>
        <mc:Fallback xmlns="">
          <p:sp>
            <p:nvSpPr>
              <p:cNvPr id="24" name="TextBox 23">
                <a:extLst>
                  <a:ext uri="{FF2B5EF4-FFF2-40B4-BE49-F238E27FC236}">
                    <a16:creationId xmlns:a16="http://schemas.microsoft.com/office/drawing/2014/main" id="{B6917566-47E7-1E49-8556-8D85A46A8A25}"/>
                  </a:ext>
                </a:extLst>
              </p:cNvPr>
              <p:cNvSpPr txBox="1">
                <a:spLocks noRot="1" noChangeAspect="1" noMove="1" noResize="1" noEditPoints="1" noAdjustHandles="1" noChangeArrowheads="1" noChangeShapeType="1" noTextEdit="1"/>
              </p:cNvSpPr>
              <p:nvPr/>
            </p:nvSpPr>
            <p:spPr>
              <a:xfrm>
                <a:off x="6669547" y="4825116"/>
                <a:ext cx="662297" cy="338554"/>
              </a:xfrm>
              <a:prstGeom prst="rect">
                <a:avLst/>
              </a:prstGeom>
              <a:blipFill>
                <a:blip r:embed="rId1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8B31FFD7-CFFF-4749-B601-68539A4FD3CE}"/>
                  </a:ext>
                </a:extLst>
              </p:cNvPr>
              <p:cNvSpPr txBox="1"/>
              <p:nvPr/>
            </p:nvSpPr>
            <p:spPr>
              <a:xfrm>
                <a:off x="5987287" y="4841281"/>
                <a:ext cx="303416" cy="33855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𝑖</m:t>
                      </m:r>
                    </m:oMath>
                  </m:oMathPara>
                </a14:m>
                <a:endParaRPr lang="en-US" sz="1600" dirty="0"/>
              </a:p>
            </p:txBody>
          </p:sp>
        </mc:Choice>
        <mc:Fallback xmlns="">
          <p:sp>
            <p:nvSpPr>
              <p:cNvPr id="25" name="TextBox 24">
                <a:extLst>
                  <a:ext uri="{FF2B5EF4-FFF2-40B4-BE49-F238E27FC236}">
                    <a16:creationId xmlns:a16="http://schemas.microsoft.com/office/drawing/2014/main" id="{8B31FFD7-CFFF-4749-B601-68539A4FD3CE}"/>
                  </a:ext>
                </a:extLst>
              </p:cNvPr>
              <p:cNvSpPr txBox="1">
                <a:spLocks noRot="1" noChangeAspect="1" noMove="1" noResize="1" noEditPoints="1" noAdjustHandles="1" noChangeArrowheads="1" noChangeShapeType="1" noTextEdit="1"/>
              </p:cNvSpPr>
              <p:nvPr/>
            </p:nvSpPr>
            <p:spPr>
              <a:xfrm>
                <a:off x="5987287" y="4841281"/>
                <a:ext cx="303416" cy="338554"/>
              </a:xfrm>
              <a:prstGeom prst="rect">
                <a:avLst/>
              </a:prstGeom>
              <a:blipFill>
                <a:blip r:embed="rId1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C881404C-6427-104E-8001-113582A5CBEF}"/>
                  </a:ext>
                </a:extLst>
              </p:cNvPr>
              <p:cNvSpPr txBox="1"/>
              <p:nvPr/>
            </p:nvSpPr>
            <p:spPr>
              <a:xfrm>
                <a:off x="5007522" y="4841032"/>
                <a:ext cx="662297" cy="33855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𝑖</m:t>
                      </m:r>
                      <m:r>
                        <a:rPr lang="en-US" sz="1600" b="0" i="1" smtClean="0">
                          <a:latin typeface="Cambria Math" panose="02040503050406030204" pitchFamily="18" charset="0"/>
                        </a:rPr>
                        <m:t>−1</m:t>
                      </m:r>
                    </m:oMath>
                  </m:oMathPara>
                </a14:m>
                <a:endParaRPr lang="en-US" sz="1600" dirty="0"/>
              </a:p>
            </p:txBody>
          </p:sp>
        </mc:Choice>
        <mc:Fallback xmlns="">
          <p:sp>
            <p:nvSpPr>
              <p:cNvPr id="26" name="TextBox 25">
                <a:extLst>
                  <a:ext uri="{FF2B5EF4-FFF2-40B4-BE49-F238E27FC236}">
                    <a16:creationId xmlns:a16="http://schemas.microsoft.com/office/drawing/2014/main" id="{C881404C-6427-104E-8001-113582A5CBEF}"/>
                  </a:ext>
                </a:extLst>
              </p:cNvPr>
              <p:cNvSpPr txBox="1">
                <a:spLocks noRot="1" noChangeAspect="1" noMove="1" noResize="1" noEditPoints="1" noAdjustHandles="1" noChangeArrowheads="1" noChangeShapeType="1" noTextEdit="1"/>
              </p:cNvSpPr>
              <p:nvPr/>
            </p:nvSpPr>
            <p:spPr>
              <a:xfrm>
                <a:off x="5007522" y="4841032"/>
                <a:ext cx="662297" cy="338554"/>
              </a:xfrm>
              <a:prstGeom prst="rect">
                <a:avLst/>
              </a:prstGeom>
              <a:blipFill>
                <a:blip r:embed="rId1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DB56FF2B-8789-BF40-AD83-D90C4E20E62C}"/>
                  </a:ext>
                </a:extLst>
              </p:cNvPr>
              <p:cNvSpPr txBox="1"/>
              <p:nvPr/>
            </p:nvSpPr>
            <p:spPr>
              <a:xfrm>
                <a:off x="4180379" y="4825116"/>
                <a:ext cx="662297" cy="33855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𝑖</m:t>
                      </m:r>
                      <m:r>
                        <a:rPr lang="en-US" sz="1600" b="0" i="1" smtClean="0">
                          <a:latin typeface="Cambria Math" panose="02040503050406030204" pitchFamily="18" charset="0"/>
                        </a:rPr>
                        <m:t>−2</m:t>
                      </m:r>
                    </m:oMath>
                  </m:oMathPara>
                </a14:m>
                <a:endParaRPr lang="en-US" sz="1600" dirty="0"/>
              </a:p>
            </p:txBody>
          </p:sp>
        </mc:Choice>
        <mc:Fallback xmlns="">
          <p:sp>
            <p:nvSpPr>
              <p:cNvPr id="27" name="TextBox 26">
                <a:extLst>
                  <a:ext uri="{FF2B5EF4-FFF2-40B4-BE49-F238E27FC236}">
                    <a16:creationId xmlns:a16="http://schemas.microsoft.com/office/drawing/2014/main" id="{DB56FF2B-8789-BF40-AD83-D90C4E20E62C}"/>
                  </a:ext>
                </a:extLst>
              </p:cNvPr>
              <p:cNvSpPr txBox="1">
                <a:spLocks noRot="1" noChangeAspect="1" noMove="1" noResize="1" noEditPoints="1" noAdjustHandles="1" noChangeArrowheads="1" noChangeShapeType="1" noTextEdit="1"/>
              </p:cNvSpPr>
              <p:nvPr/>
            </p:nvSpPr>
            <p:spPr>
              <a:xfrm>
                <a:off x="4180379" y="4825116"/>
                <a:ext cx="662297" cy="338554"/>
              </a:xfrm>
              <a:prstGeom prst="rect">
                <a:avLst/>
              </a:prstGeom>
              <a:blipFill>
                <a:blip r:embed="rId15"/>
                <a:stretch>
                  <a:fillRect/>
                </a:stretch>
              </a:blipFill>
            </p:spPr>
            <p:txBody>
              <a:bodyPr/>
              <a:lstStyle/>
              <a:p>
                <a:r>
                  <a:rPr lang="en-US">
                    <a:noFill/>
                  </a:rPr>
                  <a:t> </a:t>
                </a:r>
              </a:p>
            </p:txBody>
          </p:sp>
        </mc:Fallback>
      </mc:AlternateContent>
      <p:sp>
        <p:nvSpPr>
          <p:cNvPr id="28" name="Rectangle 27">
            <a:extLst>
              <a:ext uri="{FF2B5EF4-FFF2-40B4-BE49-F238E27FC236}">
                <a16:creationId xmlns:a16="http://schemas.microsoft.com/office/drawing/2014/main" id="{98C7C8D3-0B2E-834F-98DC-E807A399E678}"/>
              </a:ext>
            </a:extLst>
          </p:cNvPr>
          <p:cNvSpPr/>
          <p:nvPr/>
        </p:nvSpPr>
        <p:spPr>
          <a:xfrm>
            <a:off x="5720782" y="5669280"/>
            <a:ext cx="1648206" cy="892885"/>
          </a:xfrm>
          <a:prstGeom prst="rect">
            <a:avLst/>
          </a:prstGeom>
          <a:solidFill>
            <a:srgbClr val="4472C4">
              <a:alpha val="32157"/>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827233F4-295E-0548-8993-4ECFE0835DBD}"/>
              </a:ext>
            </a:extLst>
          </p:cNvPr>
          <p:cNvSpPr/>
          <p:nvPr/>
        </p:nvSpPr>
        <p:spPr>
          <a:xfrm>
            <a:off x="5720782" y="3926541"/>
            <a:ext cx="1648206" cy="882127"/>
          </a:xfrm>
          <a:prstGeom prst="rect">
            <a:avLst/>
          </a:prstGeom>
          <a:solidFill>
            <a:srgbClr val="FF0000">
              <a:alpha val="32157"/>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Curved Left Arrow 4">
            <a:extLst>
              <a:ext uri="{FF2B5EF4-FFF2-40B4-BE49-F238E27FC236}">
                <a16:creationId xmlns:a16="http://schemas.microsoft.com/office/drawing/2014/main" id="{9BEC2E87-572C-C240-8B3E-B1B72BA0F6FE}"/>
              </a:ext>
            </a:extLst>
          </p:cNvPr>
          <p:cNvSpPr/>
          <p:nvPr/>
        </p:nvSpPr>
        <p:spPr>
          <a:xfrm>
            <a:off x="7838020" y="4211299"/>
            <a:ext cx="573101" cy="1932326"/>
          </a:xfrm>
          <a:prstGeom prst="curvedLeftArrow">
            <a:avLst>
              <a:gd name="adj1" fmla="val 25000"/>
              <a:gd name="adj2" fmla="val 59351"/>
              <a:gd name="adj3" fmla="val 25000"/>
            </a:avLst>
          </a:prstGeom>
          <a:gradFill>
            <a:gsLst>
              <a:gs pos="0">
                <a:srgbClr val="FF0000">
                  <a:alpha val="38000"/>
                </a:srgb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1324858009"/>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F50FDC97-309E-244D-A79E-16046EA31BE9}"/>
              </a:ext>
            </a:extLst>
          </p:cNvPr>
          <p:cNvPicPr>
            <a:picLocks noChangeAspect="1"/>
          </p:cNvPicPr>
          <p:nvPr/>
        </p:nvPicPr>
        <p:blipFill rotWithShape="1">
          <a:blip r:embed="rId2"/>
          <a:srcRect l="3558" r="5335"/>
          <a:stretch/>
        </p:blipFill>
        <p:spPr>
          <a:xfrm>
            <a:off x="6024283" y="409993"/>
            <a:ext cx="6123119" cy="6232854"/>
          </a:xfrm>
          <a:prstGeom prst="rect">
            <a:avLst/>
          </a:prstGeom>
        </p:spPr>
      </p:pic>
      <mc:AlternateContent xmlns:mc="http://schemas.openxmlformats.org/markup-compatibility/2006" xmlns:a14="http://schemas.microsoft.com/office/drawing/2010/main">
        <mc:Choice Requires="a14">
          <p:sp>
            <p:nvSpPr>
              <p:cNvPr id="11" name="Rectangle 10">
                <a:extLst>
                  <a:ext uri="{FF2B5EF4-FFF2-40B4-BE49-F238E27FC236}">
                    <a16:creationId xmlns:a16="http://schemas.microsoft.com/office/drawing/2014/main" id="{C6A7DA78-E955-754E-97BC-0F2C691101F6}"/>
                  </a:ext>
                </a:extLst>
              </p:cNvPr>
              <p:cNvSpPr/>
              <p:nvPr/>
            </p:nvSpPr>
            <p:spPr>
              <a:xfrm>
                <a:off x="215153" y="1325563"/>
                <a:ext cx="6096000" cy="2622513"/>
              </a:xfrm>
              <a:prstGeom prst="rect">
                <a:avLst/>
              </a:prstGeom>
            </p:spPr>
            <p:txBody>
              <a:bodyPr>
                <a:spAutoFit/>
              </a:bodyPr>
              <a:lstStyle/>
              <a:p>
                <a:pPr marL="342900" indent="-342900">
                  <a:lnSpc>
                    <a:spcPct val="100000"/>
                  </a:lnSpc>
                  <a:buFont typeface="Arial" panose="020B0604020202020204" pitchFamily="34" charset="0"/>
                  <a:buChar char="•"/>
                </a:pPr>
                <a:r>
                  <a:rPr lang="en-US" sz="2800" dirty="0"/>
                  <a:t>In 2D for proper nested cells we get </a:t>
                </a:r>
              </a:p>
              <a:p>
                <a:pPr/>
                <a14:m>
                  <m:oMathPara xmlns:m="http://schemas.openxmlformats.org/officeDocument/2006/math">
                    <m:oMathParaPr>
                      <m:jc m:val="centerGroup"/>
                    </m:oMathParaPr>
                    <m:oMath xmlns:m="http://schemas.openxmlformats.org/officeDocument/2006/math">
                      <m:sSubSup>
                        <m:sSubSupPr>
                          <m:ctrlPr>
                            <a:rPr lang="en-US" sz="2800" i="1" smtClean="0">
                              <a:solidFill>
                                <a:srgbClr val="0070C0"/>
                              </a:solidFill>
                              <a:latin typeface="Cambria Math" panose="02040503050406030204" pitchFamily="18" charset="0"/>
                            </a:rPr>
                          </m:ctrlPr>
                        </m:sSubSupPr>
                        <m:e>
                          <m:r>
                            <a:rPr lang="en-US" sz="2800" i="1">
                              <a:solidFill>
                                <a:srgbClr val="0070C0"/>
                              </a:solidFill>
                              <a:latin typeface="Cambria Math" panose="02040503050406030204" pitchFamily="18" charset="0"/>
                            </a:rPr>
                            <m:t>𝜙</m:t>
                          </m:r>
                        </m:e>
                        <m:sub>
                          <m:r>
                            <a:rPr lang="en-US" sz="2800" i="1">
                              <a:solidFill>
                                <a:srgbClr val="0070C0"/>
                              </a:solidFill>
                              <a:latin typeface="Cambria Math" panose="02040503050406030204" pitchFamily="18" charset="0"/>
                            </a:rPr>
                            <m:t>𝑖</m:t>
                          </m:r>
                          <m:r>
                            <a:rPr lang="en-US" sz="2800" i="1">
                              <a:solidFill>
                                <a:srgbClr val="0070C0"/>
                              </a:solidFill>
                              <a:latin typeface="Cambria Math" panose="02040503050406030204" pitchFamily="18" charset="0"/>
                            </a:rPr>
                            <m:t>,</m:t>
                          </m:r>
                          <m:r>
                            <a:rPr lang="en-US" sz="2800" i="1">
                              <a:solidFill>
                                <a:srgbClr val="0070C0"/>
                              </a:solidFill>
                              <a:latin typeface="Cambria Math" panose="02040503050406030204" pitchFamily="18" charset="0"/>
                            </a:rPr>
                            <m:t>𝑗</m:t>
                          </m:r>
                        </m:sub>
                        <m:sup>
                          <m:r>
                            <a:rPr lang="en-US" sz="2800" i="1">
                              <a:solidFill>
                                <a:srgbClr val="0070C0"/>
                              </a:solidFill>
                              <a:latin typeface="Cambria Math" panose="02040503050406030204" pitchFamily="18" charset="0"/>
                            </a:rPr>
                            <m:t>𝑐</m:t>
                          </m:r>
                        </m:sup>
                      </m:sSubSup>
                      <m:r>
                        <a:rPr lang="en-US" sz="2800" i="1">
                          <a:latin typeface="Cambria Math" panose="02040503050406030204" pitchFamily="18" charset="0"/>
                        </a:rPr>
                        <m:t>=</m:t>
                      </m:r>
                      <m:f>
                        <m:fPr>
                          <m:ctrlPr>
                            <a:rPr lang="en-US" sz="2800" i="1">
                              <a:latin typeface="Cambria Math" panose="02040503050406030204" pitchFamily="18" charset="0"/>
                            </a:rPr>
                          </m:ctrlPr>
                        </m:fPr>
                        <m:num>
                          <m:r>
                            <a:rPr lang="en-US" sz="2800" i="1">
                              <a:latin typeface="Cambria Math" panose="02040503050406030204" pitchFamily="18" charset="0"/>
                            </a:rPr>
                            <m:t>1</m:t>
                          </m:r>
                        </m:num>
                        <m:den>
                          <m:r>
                            <a:rPr lang="en-US" sz="2800" i="1">
                              <a:latin typeface="Cambria Math" panose="02040503050406030204" pitchFamily="18" charset="0"/>
                            </a:rPr>
                            <m:t>4</m:t>
                          </m:r>
                        </m:den>
                      </m:f>
                      <m:d>
                        <m:dPr>
                          <m:ctrlPr>
                            <a:rPr lang="en-US" sz="2800" i="1">
                              <a:latin typeface="Cambria Math" panose="02040503050406030204" pitchFamily="18" charset="0"/>
                            </a:rPr>
                          </m:ctrlPr>
                        </m:dPr>
                        <m:e>
                          <m:sSubSup>
                            <m:sSubSupPr>
                              <m:ctrlPr>
                                <a:rPr lang="en-US" sz="2800" i="1" smtClean="0">
                                  <a:solidFill>
                                    <a:srgbClr val="FF0000"/>
                                  </a:solidFill>
                                  <a:latin typeface="Cambria Math" panose="02040503050406030204" pitchFamily="18" charset="0"/>
                                </a:rPr>
                              </m:ctrlPr>
                            </m:sSubSupPr>
                            <m:e>
                              <m:r>
                                <a:rPr lang="en-US" sz="2800" i="1">
                                  <a:solidFill>
                                    <a:srgbClr val="FF0000"/>
                                  </a:solidFill>
                                  <a:latin typeface="Cambria Math" panose="02040503050406030204" pitchFamily="18" charset="0"/>
                                </a:rPr>
                                <m:t>𝜙</m:t>
                              </m:r>
                            </m:e>
                            <m:sub>
                              <m:r>
                                <a:rPr lang="en-US" sz="2800" i="1">
                                  <a:solidFill>
                                    <a:srgbClr val="FF0000"/>
                                  </a:solidFill>
                                  <a:latin typeface="Cambria Math" panose="02040503050406030204" pitchFamily="18" charset="0"/>
                                </a:rPr>
                                <m:t>−−</m:t>
                              </m:r>
                            </m:sub>
                            <m:sup>
                              <m:r>
                                <a:rPr lang="en-US" sz="2800" i="1">
                                  <a:solidFill>
                                    <a:srgbClr val="FF0000"/>
                                  </a:solidFill>
                                  <a:latin typeface="Cambria Math" panose="02040503050406030204" pitchFamily="18" charset="0"/>
                                </a:rPr>
                                <m:t>𝑓</m:t>
                              </m:r>
                            </m:sup>
                          </m:sSubSup>
                          <m:r>
                            <a:rPr lang="en-US" sz="2800" i="1">
                              <a:solidFill>
                                <a:srgbClr val="FF0000"/>
                              </a:solidFill>
                              <a:latin typeface="Cambria Math" panose="02040503050406030204" pitchFamily="18" charset="0"/>
                            </a:rPr>
                            <m:t>+</m:t>
                          </m:r>
                          <m:sSubSup>
                            <m:sSubSupPr>
                              <m:ctrlPr>
                                <a:rPr lang="en-US" sz="2800" i="1">
                                  <a:solidFill>
                                    <a:srgbClr val="FF0000"/>
                                  </a:solidFill>
                                  <a:latin typeface="Cambria Math" panose="02040503050406030204" pitchFamily="18" charset="0"/>
                                </a:rPr>
                              </m:ctrlPr>
                            </m:sSubSupPr>
                            <m:e>
                              <m:r>
                                <a:rPr lang="en-US" sz="2800" i="1">
                                  <a:solidFill>
                                    <a:srgbClr val="FF0000"/>
                                  </a:solidFill>
                                  <a:latin typeface="Cambria Math" panose="02040503050406030204" pitchFamily="18" charset="0"/>
                                </a:rPr>
                                <m:t>𝜙</m:t>
                              </m:r>
                            </m:e>
                            <m:sub>
                              <m:r>
                                <a:rPr lang="en-US" sz="2800" i="1">
                                  <a:solidFill>
                                    <a:srgbClr val="FF0000"/>
                                  </a:solidFill>
                                  <a:latin typeface="Cambria Math" panose="02040503050406030204" pitchFamily="18" charset="0"/>
                                </a:rPr>
                                <m:t>+−</m:t>
                              </m:r>
                            </m:sub>
                            <m:sup>
                              <m:r>
                                <a:rPr lang="en-US" sz="2800" i="1">
                                  <a:solidFill>
                                    <a:srgbClr val="FF0000"/>
                                  </a:solidFill>
                                  <a:latin typeface="Cambria Math" panose="02040503050406030204" pitchFamily="18" charset="0"/>
                                </a:rPr>
                                <m:t>𝑓</m:t>
                              </m:r>
                            </m:sup>
                          </m:sSubSup>
                          <m:r>
                            <a:rPr lang="en-US" sz="2800" i="1">
                              <a:solidFill>
                                <a:srgbClr val="FF0000"/>
                              </a:solidFill>
                              <a:latin typeface="Cambria Math" panose="02040503050406030204" pitchFamily="18" charset="0"/>
                            </a:rPr>
                            <m:t>+</m:t>
                          </m:r>
                          <m:sSubSup>
                            <m:sSubSupPr>
                              <m:ctrlPr>
                                <a:rPr lang="en-US" sz="2800" i="1">
                                  <a:solidFill>
                                    <a:srgbClr val="FF0000"/>
                                  </a:solidFill>
                                  <a:latin typeface="Cambria Math" panose="02040503050406030204" pitchFamily="18" charset="0"/>
                                </a:rPr>
                              </m:ctrlPr>
                            </m:sSubSupPr>
                            <m:e>
                              <m:r>
                                <a:rPr lang="en-US" sz="2800" i="1">
                                  <a:solidFill>
                                    <a:srgbClr val="FF0000"/>
                                  </a:solidFill>
                                  <a:latin typeface="Cambria Math" panose="02040503050406030204" pitchFamily="18" charset="0"/>
                                </a:rPr>
                                <m:t>𝜙</m:t>
                              </m:r>
                            </m:e>
                            <m:sub>
                              <m:r>
                                <a:rPr lang="en-US" sz="2800" i="1">
                                  <a:solidFill>
                                    <a:srgbClr val="FF0000"/>
                                  </a:solidFill>
                                  <a:latin typeface="Cambria Math" panose="02040503050406030204" pitchFamily="18" charset="0"/>
                                </a:rPr>
                                <m:t>−+</m:t>
                              </m:r>
                            </m:sub>
                            <m:sup>
                              <m:r>
                                <a:rPr lang="en-US" sz="2800" i="1">
                                  <a:solidFill>
                                    <a:srgbClr val="FF0000"/>
                                  </a:solidFill>
                                  <a:latin typeface="Cambria Math" panose="02040503050406030204" pitchFamily="18" charset="0"/>
                                </a:rPr>
                                <m:t>𝑓</m:t>
                              </m:r>
                            </m:sup>
                          </m:sSubSup>
                          <m:r>
                            <a:rPr lang="en-US" sz="2800" i="1">
                              <a:solidFill>
                                <a:srgbClr val="FF0000"/>
                              </a:solidFill>
                              <a:latin typeface="Cambria Math" panose="02040503050406030204" pitchFamily="18" charset="0"/>
                            </a:rPr>
                            <m:t>+</m:t>
                          </m:r>
                          <m:sSubSup>
                            <m:sSubSupPr>
                              <m:ctrlPr>
                                <a:rPr lang="en-US" sz="2800" i="1">
                                  <a:solidFill>
                                    <a:srgbClr val="FF0000"/>
                                  </a:solidFill>
                                  <a:latin typeface="Cambria Math" panose="02040503050406030204" pitchFamily="18" charset="0"/>
                                </a:rPr>
                              </m:ctrlPr>
                            </m:sSubSupPr>
                            <m:e>
                              <m:r>
                                <a:rPr lang="en-US" sz="2800" i="1">
                                  <a:solidFill>
                                    <a:srgbClr val="FF0000"/>
                                  </a:solidFill>
                                  <a:latin typeface="Cambria Math" panose="02040503050406030204" pitchFamily="18" charset="0"/>
                                </a:rPr>
                                <m:t>𝜙</m:t>
                              </m:r>
                            </m:e>
                            <m:sub>
                              <m:r>
                                <a:rPr lang="en-US" sz="2800" i="1">
                                  <a:solidFill>
                                    <a:srgbClr val="FF0000"/>
                                  </a:solidFill>
                                  <a:latin typeface="Cambria Math" panose="02040503050406030204" pitchFamily="18" charset="0"/>
                                </a:rPr>
                                <m:t>++</m:t>
                              </m:r>
                            </m:sub>
                            <m:sup>
                              <m:r>
                                <a:rPr lang="en-US" sz="2800" i="1">
                                  <a:solidFill>
                                    <a:srgbClr val="FF0000"/>
                                  </a:solidFill>
                                  <a:latin typeface="Cambria Math" panose="02040503050406030204" pitchFamily="18" charset="0"/>
                                </a:rPr>
                                <m:t>𝑓</m:t>
                              </m:r>
                            </m:sup>
                          </m:sSubSup>
                        </m:e>
                      </m:d>
                    </m:oMath>
                  </m:oMathPara>
                </a14:m>
                <a:endParaRPr lang="en-US" sz="2800" dirty="0"/>
              </a:p>
              <a:p>
                <a:endParaRPr lang="en-US" sz="2800" dirty="0"/>
              </a:p>
              <a:p>
                <a:r>
                  <a:rPr lang="en-US" sz="2800" dirty="0"/>
                  <a:t>  again this is just averaging over the </a:t>
                </a:r>
              </a:p>
              <a:p>
                <a:r>
                  <a:rPr lang="en-US" sz="2800" dirty="0"/>
                  <a:t>  densities in the coarse cell.</a:t>
                </a:r>
              </a:p>
            </p:txBody>
          </p:sp>
        </mc:Choice>
        <mc:Fallback xmlns="">
          <p:sp>
            <p:nvSpPr>
              <p:cNvPr id="11" name="Rectangle 10">
                <a:extLst>
                  <a:ext uri="{FF2B5EF4-FFF2-40B4-BE49-F238E27FC236}">
                    <a16:creationId xmlns:a16="http://schemas.microsoft.com/office/drawing/2014/main" id="{C6A7DA78-E955-754E-97BC-0F2C691101F6}"/>
                  </a:ext>
                </a:extLst>
              </p:cNvPr>
              <p:cNvSpPr>
                <a:spLocks noRot="1" noChangeAspect="1" noMove="1" noResize="1" noEditPoints="1" noAdjustHandles="1" noChangeArrowheads="1" noChangeShapeType="1" noTextEdit="1"/>
              </p:cNvSpPr>
              <p:nvPr/>
            </p:nvSpPr>
            <p:spPr>
              <a:xfrm>
                <a:off x="215153" y="1325563"/>
                <a:ext cx="6096000" cy="2622513"/>
              </a:xfrm>
              <a:prstGeom prst="rect">
                <a:avLst/>
              </a:prstGeom>
              <a:blipFill>
                <a:blip r:embed="rId3"/>
                <a:stretch>
                  <a:fillRect l="-1663" t="-1923" b="-5288"/>
                </a:stretch>
              </a:blipFill>
            </p:spPr>
            <p:txBody>
              <a:bodyPr/>
              <a:lstStyle/>
              <a:p>
                <a:r>
                  <a:rPr lang="en-US">
                    <a:noFill/>
                  </a:rPr>
                  <a:t> </a:t>
                </a:r>
              </a:p>
            </p:txBody>
          </p:sp>
        </mc:Fallback>
      </mc:AlternateContent>
      <p:sp>
        <p:nvSpPr>
          <p:cNvPr id="12" name="Title 1">
            <a:extLst>
              <a:ext uri="{FF2B5EF4-FFF2-40B4-BE49-F238E27FC236}">
                <a16:creationId xmlns:a16="http://schemas.microsoft.com/office/drawing/2014/main" id="{647782D1-0820-FF47-8838-A72B397005FC}"/>
              </a:ext>
            </a:extLst>
          </p:cNvPr>
          <p:cNvSpPr>
            <a:spLocks noGrp="1"/>
          </p:cNvSpPr>
          <p:nvPr>
            <p:ph type="title"/>
          </p:nvPr>
        </p:nvSpPr>
        <p:spPr>
          <a:xfrm>
            <a:off x="838200" y="0"/>
            <a:ext cx="10515600" cy="1325563"/>
          </a:xfrm>
        </p:spPr>
        <p:txBody>
          <a:bodyPr/>
          <a:lstStyle/>
          <a:p>
            <a:r>
              <a:rPr lang="en-US" dirty="0"/>
              <a:t>Restriction – 2D</a:t>
            </a:r>
          </a:p>
        </p:txBody>
      </p:sp>
    </p:spTree>
    <p:extLst>
      <p:ext uri="{BB962C8B-B14F-4D97-AF65-F5344CB8AC3E}">
        <p14:creationId xmlns:p14="http://schemas.microsoft.com/office/powerpoint/2010/main" val="2957481449"/>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DCE2F9-F4C3-DA4C-B0FC-7FF6F22D148C}"/>
              </a:ext>
            </a:extLst>
          </p:cNvPr>
          <p:cNvSpPr>
            <a:spLocks noGrp="1"/>
          </p:cNvSpPr>
          <p:nvPr>
            <p:ph type="title"/>
          </p:nvPr>
        </p:nvSpPr>
        <p:spPr>
          <a:xfrm>
            <a:off x="838200" y="0"/>
            <a:ext cx="10515600" cy="1325563"/>
          </a:xfrm>
        </p:spPr>
        <p:txBody>
          <a:bodyPr/>
          <a:lstStyle/>
          <a:p>
            <a:r>
              <a:rPr lang="en-US" dirty="0"/>
              <a:t>Prolongation – 1D (1</a:t>
            </a:r>
            <a:r>
              <a:rPr lang="en-US" baseline="30000" dirty="0"/>
              <a:t>st</a:t>
            </a:r>
            <a:r>
              <a:rPr lang="en-US" dirty="0"/>
              <a:t> order accuracy)</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5C4FD65-F675-944D-A379-3A5FFFAEB784}"/>
                  </a:ext>
                </a:extLst>
              </p:cNvPr>
              <p:cNvSpPr>
                <a:spLocks noGrp="1"/>
              </p:cNvSpPr>
              <p:nvPr>
                <p:ph idx="1"/>
              </p:nvPr>
            </p:nvSpPr>
            <p:spPr>
              <a:xfrm>
                <a:off x="838200" y="1325562"/>
                <a:ext cx="10515600" cy="6021911"/>
              </a:xfrm>
            </p:spPr>
            <p:txBody>
              <a:bodyPr>
                <a:normAutofit/>
              </a:bodyPr>
              <a:lstStyle/>
              <a:p>
                <a:pPr>
                  <a:lnSpc>
                    <a:spcPct val="100000"/>
                  </a:lnSpc>
                </a:pPr>
                <a:r>
                  <a:rPr lang="en-US" dirty="0"/>
                  <a:t>To initialize the two fine cells from a coarse cell, we could simply do</a:t>
                </a:r>
              </a:p>
              <a:p>
                <a:pPr marL="0" indent="0">
                  <a:lnSpc>
                    <a:spcPct val="100000"/>
                  </a:lnSpc>
                  <a:buNone/>
                </a:pPr>
                <a14:m>
                  <m:oMathPara xmlns:m="http://schemas.openxmlformats.org/officeDocument/2006/math">
                    <m:oMathParaPr>
                      <m:jc m:val="centerGroup"/>
                    </m:oMathParaPr>
                    <m:oMath xmlns:m="http://schemas.openxmlformats.org/officeDocument/2006/math">
                      <m:sSubSup>
                        <m:sSubSupPr>
                          <m:ctrlPr>
                            <a:rPr lang="en-US" b="0" i="1" smtClean="0">
                              <a:solidFill>
                                <a:srgbClr val="FF0000"/>
                              </a:solidFill>
                              <a:latin typeface="Cambria Math" panose="02040503050406030204" pitchFamily="18" charset="0"/>
                            </a:rPr>
                          </m:ctrlPr>
                        </m:sSubSupPr>
                        <m:e>
                          <m:r>
                            <a:rPr lang="en-US" b="0" i="1" smtClean="0">
                              <a:solidFill>
                                <a:srgbClr val="FF0000"/>
                              </a:solidFill>
                              <a:latin typeface="Cambria Math" panose="02040503050406030204" pitchFamily="18" charset="0"/>
                            </a:rPr>
                            <m:t>𝜙</m:t>
                          </m:r>
                        </m:e>
                        <m:sub>
                          <m:r>
                            <a:rPr lang="en-US" b="0" i="1" smtClean="0">
                              <a:solidFill>
                                <a:srgbClr val="FF0000"/>
                              </a:solidFill>
                              <a:latin typeface="Cambria Math" panose="02040503050406030204" pitchFamily="18" charset="0"/>
                            </a:rPr>
                            <m:t>𝑖</m:t>
                          </m:r>
                        </m:sub>
                        <m:sup>
                          <m:r>
                            <a:rPr lang="en-US" b="0" i="1" smtClean="0">
                              <a:solidFill>
                                <a:srgbClr val="FF0000"/>
                              </a:solidFill>
                              <a:latin typeface="Cambria Math" panose="02040503050406030204" pitchFamily="18" charset="0"/>
                            </a:rPr>
                            <m:t>𝑓</m:t>
                          </m:r>
                        </m:sup>
                      </m:sSubSup>
                      <m:r>
                        <a:rPr lang="en-US" b="0" i="1" smtClean="0">
                          <a:solidFill>
                            <a:srgbClr val="FF0000"/>
                          </a:solidFill>
                          <a:latin typeface="Cambria Math" panose="02040503050406030204" pitchFamily="18" charset="0"/>
                        </a:rPr>
                        <m:t>=</m:t>
                      </m:r>
                      <m:sSubSup>
                        <m:sSubSupPr>
                          <m:ctrlPr>
                            <a:rPr lang="en-US" b="0" i="1" smtClean="0">
                              <a:solidFill>
                                <a:srgbClr val="FF0000"/>
                              </a:solidFill>
                              <a:latin typeface="Cambria Math" panose="02040503050406030204" pitchFamily="18" charset="0"/>
                            </a:rPr>
                          </m:ctrlPr>
                        </m:sSubSupPr>
                        <m:e>
                          <m:r>
                            <a:rPr lang="en-US" b="0" i="1" smtClean="0">
                              <a:solidFill>
                                <a:srgbClr val="FF0000"/>
                              </a:solidFill>
                              <a:latin typeface="Cambria Math" panose="02040503050406030204" pitchFamily="18" charset="0"/>
                            </a:rPr>
                            <m:t>𝜙</m:t>
                          </m:r>
                        </m:e>
                        <m:sub>
                          <m:r>
                            <a:rPr lang="en-US" b="0" i="1" smtClean="0">
                              <a:solidFill>
                                <a:srgbClr val="FF0000"/>
                              </a:solidFill>
                              <a:latin typeface="Cambria Math" panose="02040503050406030204" pitchFamily="18" charset="0"/>
                            </a:rPr>
                            <m:t>𝑖</m:t>
                          </m:r>
                          <m:r>
                            <a:rPr lang="en-US" b="0" i="1" smtClean="0">
                              <a:solidFill>
                                <a:srgbClr val="FF0000"/>
                              </a:solidFill>
                              <a:latin typeface="Cambria Math" panose="02040503050406030204" pitchFamily="18" charset="0"/>
                            </a:rPr>
                            <m:t>+1</m:t>
                          </m:r>
                        </m:sub>
                        <m:sup>
                          <m:r>
                            <a:rPr lang="en-US" b="0" i="1" smtClean="0">
                              <a:solidFill>
                                <a:srgbClr val="FF0000"/>
                              </a:solidFill>
                              <a:latin typeface="Cambria Math" panose="02040503050406030204" pitchFamily="18" charset="0"/>
                            </a:rPr>
                            <m:t>𝑓</m:t>
                          </m:r>
                        </m:sup>
                      </m:sSubSup>
                      <m:r>
                        <a:rPr lang="en-US" b="0" i="1" smtClean="0">
                          <a:latin typeface="Cambria Math" panose="02040503050406030204" pitchFamily="18" charset="0"/>
                        </a:rPr>
                        <m:t>=</m:t>
                      </m:r>
                      <m:sSubSup>
                        <m:sSubSupPr>
                          <m:ctrlPr>
                            <a:rPr lang="en-US" b="0" i="1" smtClean="0">
                              <a:solidFill>
                                <a:srgbClr val="4472C4"/>
                              </a:solidFill>
                              <a:latin typeface="Cambria Math" panose="02040503050406030204" pitchFamily="18" charset="0"/>
                            </a:rPr>
                          </m:ctrlPr>
                        </m:sSubSupPr>
                        <m:e>
                          <m:r>
                            <a:rPr lang="en-US" b="0" i="1" smtClean="0">
                              <a:solidFill>
                                <a:srgbClr val="4472C4"/>
                              </a:solidFill>
                              <a:latin typeface="Cambria Math" panose="02040503050406030204" pitchFamily="18" charset="0"/>
                            </a:rPr>
                            <m:t>𝜙</m:t>
                          </m:r>
                        </m:e>
                        <m:sub>
                          <m:r>
                            <a:rPr lang="en-US" b="0" i="1" smtClean="0">
                              <a:solidFill>
                                <a:srgbClr val="4472C4"/>
                              </a:solidFill>
                              <a:latin typeface="Cambria Math" panose="02040503050406030204" pitchFamily="18" charset="0"/>
                            </a:rPr>
                            <m:t>𝑗</m:t>
                          </m:r>
                        </m:sub>
                        <m:sup>
                          <m:r>
                            <a:rPr lang="en-US" b="0" i="1" smtClean="0">
                              <a:solidFill>
                                <a:srgbClr val="4472C4"/>
                              </a:solidFill>
                              <a:latin typeface="Cambria Math" panose="02040503050406030204" pitchFamily="18" charset="0"/>
                            </a:rPr>
                            <m:t>𝑐</m:t>
                          </m:r>
                        </m:sup>
                      </m:sSubSup>
                    </m:oMath>
                  </m:oMathPara>
                </a14:m>
                <a:endParaRPr lang="en-US" dirty="0"/>
              </a:p>
              <a:p>
                <a:pPr>
                  <a:lnSpc>
                    <a:spcPct val="100000"/>
                  </a:lnSpc>
                </a:pPr>
                <a:r>
                  <a:rPr lang="en-US" dirty="0"/>
                  <a:t>This is only first order accurate. </a:t>
                </a:r>
              </a:p>
              <a:p>
                <a:pPr>
                  <a:lnSpc>
                    <a:spcPct val="100000"/>
                  </a:lnSpc>
                </a:pPr>
                <a:endParaRPr lang="en-US" dirty="0"/>
              </a:p>
              <a:p>
                <a:pPr marL="0" indent="0">
                  <a:lnSpc>
                    <a:spcPct val="100000"/>
                  </a:lnSpc>
                  <a:buNone/>
                </a:pPr>
                <a:endParaRPr lang="en-US" dirty="0"/>
              </a:p>
            </p:txBody>
          </p:sp>
        </mc:Choice>
        <mc:Fallback xmlns="">
          <p:sp>
            <p:nvSpPr>
              <p:cNvPr id="3" name="Content Placeholder 2">
                <a:extLst>
                  <a:ext uri="{FF2B5EF4-FFF2-40B4-BE49-F238E27FC236}">
                    <a16:creationId xmlns:a16="http://schemas.microsoft.com/office/drawing/2014/main" id="{15C4FD65-F675-944D-A379-3A5FFFAEB784}"/>
                  </a:ext>
                </a:extLst>
              </p:cNvPr>
              <p:cNvSpPr>
                <a:spLocks noGrp="1" noRot="1" noChangeAspect="1" noMove="1" noResize="1" noEditPoints="1" noAdjustHandles="1" noChangeArrowheads="1" noChangeShapeType="1" noTextEdit="1"/>
              </p:cNvSpPr>
              <p:nvPr>
                <p:ph idx="1"/>
              </p:nvPr>
            </p:nvSpPr>
            <p:spPr>
              <a:xfrm>
                <a:off x="838200" y="1325562"/>
                <a:ext cx="10515600" cy="6021911"/>
              </a:xfrm>
              <a:blipFill>
                <a:blip r:embed="rId2"/>
                <a:stretch>
                  <a:fillRect l="-965" t="-840"/>
                </a:stretch>
              </a:blipFill>
            </p:spPr>
            <p:txBody>
              <a:bodyPr/>
              <a:lstStyle/>
              <a:p>
                <a:r>
                  <a:rPr lang="en-US">
                    <a:noFill/>
                  </a:rPr>
                  <a:t> </a:t>
                </a:r>
              </a:p>
            </p:txBody>
          </p:sp>
        </mc:Fallback>
      </mc:AlternateContent>
      <p:pic>
        <p:nvPicPr>
          <p:cNvPr id="5" name="Picture 4">
            <a:extLst>
              <a:ext uri="{FF2B5EF4-FFF2-40B4-BE49-F238E27FC236}">
                <a16:creationId xmlns:a16="http://schemas.microsoft.com/office/drawing/2014/main" id="{AC285B16-5A72-154C-8FD0-6A6B6D2FA708}"/>
              </a:ext>
            </a:extLst>
          </p:cNvPr>
          <p:cNvPicPr>
            <a:picLocks noChangeAspect="1"/>
          </p:cNvPicPr>
          <p:nvPr/>
        </p:nvPicPr>
        <p:blipFill rotWithShape="1">
          <a:blip r:embed="rId3"/>
          <a:srcRect b="8341"/>
          <a:stretch/>
        </p:blipFill>
        <p:spPr>
          <a:xfrm>
            <a:off x="3399417" y="3311788"/>
            <a:ext cx="4642730" cy="3546212"/>
          </a:xfrm>
          <a:prstGeom prst="rect">
            <a:avLst/>
          </a:prstGeom>
        </p:spPr>
      </p:pic>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CAB12BE0-387D-8244-9479-9225D58715BD}"/>
                  </a:ext>
                </a:extLst>
              </p:cNvPr>
              <p:cNvSpPr txBox="1"/>
              <p:nvPr/>
            </p:nvSpPr>
            <p:spPr>
              <a:xfrm>
                <a:off x="6323751" y="5904142"/>
                <a:ext cx="503921" cy="401648"/>
              </a:xfrm>
              <a:prstGeom prst="rect">
                <a:avLst/>
              </a:prstGeom>
              <a:solidFill>
                <a:schemeClr val="bg1"/>
              </a:solid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𝜙</m:t>
                          </m:r>
                        </m:e>
                        <m:sub>
                          <m:r>
                            <a:rPr lang="en-US" b="0" i="1" smtClean="0">
                              <a:latin typeface="Cambria Math" panose="02040503050406030204" pitchFamily="18" charset="0"/>
                            </a:rPr>
                            <m:t>𝑗</m:t>
                          </m:r>
                        </m:sub>
                        <m:sup>
                          <m:r>
                            <a:rPr lang="en-US" b="0" i="1" smtClean="0">
                              <a:latin typeface="Cambria Math" panose="02040503050406030204" pitchFamily="18" charset="0"/>
                            </a:rPr>
                            <m:t>𝑐</m:t>
                          </m:r>
                        </m:sup>
                      </m:sSubSup>
                    </m:oMath>
                  </m:oMathPara>
                </a14:m>
                <a:endParaRPr lang="en-US" dirty="0"/>
              </a:p>
            </p:txBody>
          </p:sp>
        </mc:Choice>
        <mc:Fallback xmlns="">
          <p:sp>
            <p:nvSpPr>
              <p:cNvPr id="9" name="TextBox 8">
                <a:extLst>
                  <a:ext uri="{FF2B5EF4-FFF2-40B4-BE49-F238E27FC236}">
                    <a16:creationId xmlns:a16="http://schemas.microsoft.com/office/drawing/2014/main" id="{CAB12BE0-387D-8244-9479-9225D58715BD}"/>
                  </a:ext>
                </a:extLst>
              </p:cNvPr>
              <p:cNvSpPr txBox="1">
                <a:spLocks noRot="1" noChangeAspect="1" noMove="1" noResize="1" noEditPoints="1" noAdjustHandles="1" noChangeArrowheads="1" noChangeShapeType="1" noTextEdit="1"/>
              </p:cNvSpPr>
              <p:nvPr/>
            </p:nvSpPr>
            <p:spPr>
              <a:xfrm>
                <a:off x="6323751" y="5904142"/>
                <a:ext cx="503921" cy="401648"/>
              </a:xfrm>
              <a:prstGeom prst="rect">
                <a:avLst/>
              </a:prstGeom>
              <a:blipFill>
                <a:blip r:embed="rId4"/>
                <a:stretch>
                  <a:fillRect b="-303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C77D75AB-7E0F-CF49-8D8B-152A0E5069CD}"/>
                  </a:ext>
                </a:extLst>
              </p:cNvPr>
              <p:cNvSpPr txBox="1"/>
              <p:nvPr/>
            </p:nvSpPr>
            <p:spPr>
              <a:xfrm>
                <a:off x="4558838" y="5909520"/>
                <a:ext cx="699102" cy="401648"/>
              </a:xfrm>
              <a:prstGeom prst="rect">
                <a:avLst/>
              </a:prstGeom>
              <a:solidFill>
                <a:schemeClr val="bg1"/>
              </a:solid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𝜙</m:t>
                          </m:r>
                        </m:e>
                        <m:sub>
                          <m:r>
                            <a:rPr lang="en-US" b="0" i="1" smtClean="0">
                              <a:latin typeface="Cambria Math" panose="02040503050406030204" pitchFamily="18" charset="0"/>
                            </a:rPr>
                            <m:t>𝑗</m:t>
                          </m:r>
                          <m:r>
                            <a:rPr lang="en-US" b="0" i="1" smtClean="0">
                              <a:latin typeface="Cambria Math" panose="02040503050406030204" pitchFamily="18" charset="0"/>
                            </a:rPr>
                            <m:t>−1</m:t>
                          </m:r>
                        </m:sub>
                        <m:sup>
                          <m:r>
                            <a:rPr lang="en-US" b="0" i="1" smtClean="0">
                              <a:latin typeface="Cambria Math" panose="02040503050406030204" pitchFamily="18" charset="0"/>
                            </a:rPr>
                            <m:t>𝑐</m:t>
                          </m:r>
                        </m:sup>
                      </m:sSubSup>
                    </m:oMath>
                  </m:oMathPara>
                </a14:m>
                <a:endParaRPr lang="en-US" dirty="0"/>
              </a:p>
            </p:txBody>
          </p:sp>
        </mc:Choice>
        <mc:Fallback xmlns="">
          <p:sp>
            <p:nvSpPr>
              <p:cNvPr id="11" name="TextBox 10">
                <a:extLst>
                  <a:ext uri="{FF2B5EF4-FFF2-40B4-BE49-F238E27FC236}">
                    <a16:creationId xmlns:a16="http://schemas.microsoft.com/office/drawing/2014/main" id="{C77D75AB-7E0F-CF49-8D8B-152A0E5069CD}"/>
                  </a:ext>
                </a:extLst>
              </p:cNvPr>
              <p:cNvSpPr txBox="1">
                <a:spLocks noRot="1" noChangeAspect="1" noMove="1" noResize="1" noEditPoints="1" noAdjustHandles="1" noChangeArrowheads="1" noChangeShapeType="1" noTextEdit="1"/>
              </p:cNvSpPr>
              <p:nvPr/>
            </p:nvSpPr>
            <p:spPr>
              <a:xfrm>
                <a:off x="4558838" y="5909520"/>
                <a:ext cx="699102" cy="401648"/>
              </a:xfrm>
              <a:prstGeom prst="rect">
                <a:avLst/>
              </a:prstGeom>
              <a:blipFill>
                <a:blip r:embed="rId5"/>
                <a:stretch>
                  <a:fillRect b="-303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007DEAE0-630E-2544-86D8-901A12EB8757}"/>
                  </a:ext>
                </a:extLst>
              </p:cNvPr>
              <p:cNvSpPr txBox="1"/>
              <p:nvPr/>
            </p:nvSpPr>
            <p:spPr>
              <a:xfrm>
                <a:off x="4130331" y="4146194"/>
                <a:ext cx="679866" cy="434478"/>
              </a:xfrm>
              <a:prstGeom prst="rect">
                <a:avLst/>
              </a:prstGeom>
              <a:solidFill>
                <a:schemeClr val="bg1"/>
              </a:solid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𝜙</m:t>
                          </m:r>
                        </m:e>
                        <m:sub>
                          <m:r>
                            <a:rPr lang="en-US" b="0" i="1" smtClean="0">
                              <a:latin typeface="Cambria Math" panose="02040503050406030204" pitchFamily="18" charset="0"/>
                            </a:rPr>
                            <m:t>𝑖</m:t>
                          </m:r>
                          <m:r>
                            <a:rPr lang="en-US" b="0" i="1" smtClean="0">
                              <a:latin typeface="Cambria Math" panose="02040503050406030204" pitchFamily="18" charset="0"/>
                            </a:rPr>
                            <m:t>−2</m:t>
                          </m:r>
                        </m:sub>
                        <m:sup>
                          <m:r>
                            <a:rPr lang="en-US" b="0" i="1" smtClean="0">
                              <a:latin typeface="Cambria Math" panose="02040503050406030204" pitchFamily="18" charset="0"/>
                            </a:rPr>
                            <m:t>𝑓</m:t>
                          </m:r>
                        </m:sup>
                      </m:sSubSup>
                    </m:oMath>
                  </m:oMathPara>
                </a14:m>
                <a:endParaRPr lang="en-US" dirty="0"/>
              </a:p>
            </p:txBody>
          </p:sp>
        </mc:Choice>
        <mc:Fallback xmlns="">
          <p:sp>
            <p:nvSpPr>
              <p:cNvPr id="12" name="TextBox 11">
                <a:extLst>
                  <a:ext uri="{FF2B5EF4-FFF2-40B4-BE49-F238E27FC236}">
                    <a16:creationId xmlns:a16="http://schemas.microsoft.com/office/drawing/2014/main" id="{007DEAE0-630E-2544-86D8-901A12EB8757}"/>
                  </a:ext>
                </a:extLst>
              </p:cNvPr>
              <p:cNvSpPr txBox="1">
                <a:spLocks noRot="1" noChangeAspect="1" noMove="1" noResize="1" noEditPoints="1" noAdjustHandles="1" noChangeArrowheads="1" noChangeShapeType="1" noTextEdit="1"/>
              </p:cNvSpPr>
              <p:nvPr/>
            </p:nvSpPr>
            <p:spPr>
              <a:xfrm>
                <a:off x="4130331" y="4146194"/>
                <a:ext cx="679866" cy="434478"/>
              </a:xfrm>
              <a:prstGeom prst="rect">
                <a:avLst/>
              </a:prstGeom>
              <a:blipFill>
                <a:blip r:embed="rId6"/>
                <a:stretch>
                  <a:fillRect b="-555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8D0C580E-BF8D-BA45-8DF2-4C4294A3129B}"/>
                  </a:ext>
                </a:extLst>
              </p:cNvPr>
              <p:cNvSpPr txBox="1"/>
              <p:nvPr/>
            </p:nvSpPr>
            <p:spPr>
              <a:xfrm>
                <a:off x="4996479" y="4150365"/>
                <a:ext cx="679866" cy="434478"/>
              </a:xfrm>
              <a:prstGeom prst="rect">
                <a:avLst/>
              </a:prstGeom>
              <a:solidFill>
                <a:schemeClr val="bg1"/>
              </a:solid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𝜙</m:t>
                          </m:r>
                        </m:e>
                        <m:sub>
                          <m:r>
                            <a:rPr lang="en-US" b="0" i="1" smtClean="0">
                              <a:latin typeface="Cambria Math" panose="02040503050406030204" pitchFamily="18" charset="0"/>
                            </a:rPr>
                            <m:t>𝑖</m:t>
                          </m:r>
                          <m:r>
                            <a:rPr lang="en-US" b="0" i="1" smtClean="0">
                              <a:latin typeface="Cambria Math" panose="02040503050406030204" pitchFamily="18" charset="0"/>
                            </a:rPr>
                            <m:t>−1</m:t>
                          </m:r>
                        </m:sub>
                        <m:sup>
                          <m:r>
                            <a:rPr lang="en-US" b="0" i="1" smtClean="0">
                              <a:latin typeface="Cambria Math" panose="02040503050406030204" pitchFamily="18" charset="0"/>
                            </a:rPr>
                            <m:t>𝑓</m:t>
                          </m:r>
                        </m:sup>
                      </m:sSubSup>
                    </m:oMath>
                  </m:oMathPara>
                </a14:m>
                <a:endParaRPr lang="en-US" dirty="0"/>
              </a:p>
            </p:txBody>
          </p:sp>
        </mc:Choice>
        <mc:Fallback xmlns="">
          <p:sp>
            <p:nvSpPr>
              <p:cNvPr id="13" name="TextBox 12">
                <a:extLst>
                  <a:ext uri="{FF2B5EF4-FFF2-40B4-BE49-F238E27FC236}">
                    <a16:creationId xmlns:a16="http://schemas.microsoft.com/office/drawing/2014/main" id="{8D0C580E-BF8D-BA45-8DF2-4C4294A3129B}"/>
                  </a:ext>
                </a:extLst>
              </p:cNvPr>
              <p:cNvSpPr txBox="1">
                <a:spLocks noRot="1" noChangeAspect="1" noMove="1" noResize="1" noEditPoints="1" noAdjustHandles="1" noChangeArrowheads="1" noChangeShapeType="1" noTextEdit="1"/>
              </p:cNvSpPr>
              <p:nvPr/>
            </p:nvSpPr>
            <p:spPr>
              <a:xfrm>
                <a:off x="4996479" y="4150365"/>
                <a:ext cx="679866" cy="434478"/>
              </a:xfrm>
              <a:prstGeom prst="rect">
                <a:avLst/>
              </a:prstGeom>
              <a:blipFill>
                <a:blip r:embed="rId7"/>
                <a:stretch>
                  <a:fillRect b="-571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B286B082-1B65-2F47-B540-9D380550B08B}"/>
                  </a:ext>
                </a:extLst>
              </p:cNvPr>
              <p:cNvSpPr txBox="1"/>
              <p:nvPr/>
            </p:nvSpPr>
            <p:spPr>
              <a:xfrm>
                <a:off x="5910276" y="4146194"/>
                <a:ext cx="525657" cy="434478"/>
              </a:xfrm>
              <a:prstGeom prst="rect">
                <a:avLst/>
              </a:prstGeom>
              <a:solidFill>
                <a:schemeClr val="bg1"/>
              </a:solid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𝜙</m:t>
                          </m:r>
                        </m:e>
                        <m:sub>
                          <m:r>
                            <a:rPr lang="en-US" b="0" i="1" smtClean="0">
                              <a:latin typeface="Cambria Math" panose="02040503050406030204" pitchFamily="18" charset="0"/>
                            </a:rPr>
                            <m:t>𝑖</m:t>
                          </m:r>
                        </m:sub>
                        <m:sup>
                          <m:r>
                            <a:rPr lang="en-US" b="0" i="1" smtClean="0">
                              <a:latin typeface="Cambria Math" panose="02040503050406030204" pitchFamily="18" charset="0"/>
                            </a:rPr>
                            <m:t>𝑓</m:t>
                          </m:r>
                        </m:sup>
                      </m:sSubSup>
                    </m:oMath>
                  </m:oMathPara>
                </a14:m>
                <a:endParaRPr lang="en-US" dirty="0"/>
              </a:p>
            </p:txBody>
          </p:sp>
        </mc:Choice>
        <mc:Fallback xmlns="">
          <p:sp>
            <p:nvSpPr>
              <p:cNvPr id="14" name="TextBox 13">
                <a:extLst>
                  <a:ext uri="{FF2B5EF4-FFF2-40B4-BE49-F238E27FC236}">
                    <a16:creationId xmlns:a16="http://schemas.microsoft.com/office/drawing/2014/main" id="{B286B082-1B65-2F47-B540-9D380550B08B}"/>
                  </a:ext>
                </a:extLst>
              </p:cNvPr>
              <p:cNvSpPr txBox="1">
                <a:spLocks noRot="1" noChangeAspect="1" noMove="1" noResize="1" noEditPoints="1" noAdjustHandles="1" noChangeArrowheads="1" noChangeShapeType="1" noTextEdit="1"/>
              </p:cNvSpPr>
              <p:nvPr/>
            </p:nvSpPr>
            <p:spPr>
              <a:xfrm>
                <a:off x="5910276" y="4146194"/>
                <a:ext cx="525657" cy="434478"/>
              </a:xfrm>
              <a:prstGeom prst="rect">
                <a:avLst/>
              </a:prstGeom>
              <a:blipFill>
                <a:blip r:embed="rId8"/>
                <a:stretch>
                  <a:fillRect b="-555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42ECD33C-9B6E-EB45-9A0D-5D553F5855D1}"/>
                  </a:ext>
                </a:extLst>
              </p:cNvPr>
              <p:cNvSpPr txBox="1"/>
              <p:nvPr/>
            </p:nvSpPr>
            <p:spPr>
              <a:xfrm>
                <a:off x="6622215" y="4156952"/>
                <a:ext cx="679866" cy="434478"/>
              </a:xfrm>
              <a:prstGeom prst="rect">
                <a:avLst/>
              </a:prstGeom>
              <a:solidFill>
                <a:schemeClr val="bg1"/>
              </a:solid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𝜙</m:t>
                          </m:r>
                        </m:e>
                        <m:sub>
                          <m:r>
                            <a:rPr lang="en-US" b="0" i="1" smtClean="0">
                              <a:latin typeface="Cambria Math" panose="02040503050406030204" pitchFamily="18" charset="0"/>
                            </a:rPr>
                            <m:t>𝑖</m:t>
                          </m:r>
                          <m:r>
                            <a:rPr lang="en-US" b="0" i="1" smtClean="0">
                              <a:latin typeface="Cambria Math" panose="02040503050406030204" pitchFamily="18" charset="0"/>
                            </a:rPr>
                            <m:t>+1</m:t>
                          </m:r>
                        </m:sub>
                        <m:sup>
                          <m:r>
                            <a:rPr lang="en-US" b="0" i="1" smtClean="0">
                              <a:latin typeface="Cambria Math" panose="02040503050406030204" pitchFamily="18" charset="0"/>
                            </a:rPr>
                            <m:t>𝑓</m:t>
                          </m:r>
                        </m:sup>
                      </m:sSubSup>
                    </m:oMath>
                  </m:oMathPara>
                </a14:m>
                <a:endParaRPr lang="en-US" dirty="0"/>
              </a:p>
            </p:txBody>
          </p:sp>
        </mc:Choice>
        <mc:Fallback xmlns="">
          <p:sp>
            <p:nvSpPr>
              <p:cNvPr id="15" name="TextBox 14">
                <a:extLst>
                  <a:ext uri="{FF2B5EF4-FFF2-40B4-BE49-F238E27FC236}">
                    <a16:creationId xmlns:a16="http://schemas.microsoft.com/office/drawing/2014/main" id="{42ECD33C-9B6E-EB45-9A0D-5D553F5855D1}"/>
                  </a:ext>
                </a:extLst>
              </p:cNvPr>
              <p:cNvSpPr txBox="1">
                <a:spLocks noRot="1" noChangeAspect="1" noMove="1" noResize="1" noEditPoints="1" noAdjustHandles="1" noChangeArrowheads="1" noChangeShapeType="1" noTextEdit="1"/>
              </p:cNvSpPr>
              <p:nvPr/>
            </p:nvSpPr>
            <p:spPr>
              <a:xfrm>
                <a:off x="6622215" y="4156952"/>
                <a:ext cx="679866" cy="434478"/>
              </a:xfrm>
              <a:prstGeom prst="rect">
                <a:avLst/>
              </a:prstGeom>
              <a:blipFill>
                <a:blip r:embed="rId9"/>
                <a:stretch>
                  <a:fillRect b="-5556"/>
                </a:stretch>
              </a:blipFill>
            </p:spPr>
            <p:txBody>
              <a:bodyPr/>
              <a:lstStyle/>
              <a:p>
                <a:r>
                  <a:rPr lang="en-US">
                    <a:noFill/>
                  </a:rPr>
                  <a:t> </a:t>
                </a:r>
              </a:p>
            </p:txBody>
          </p:sp>
        </mc:Fallback>
      </mc:AlternateContent>
      <p:sp>
        <p:nvSpPr>
          <p:cNvPr id="18" name="Rectangle 17">
            <a:extLst>
              <a:ext uri="{FF2B5EF4-FFF2-40B4-BE49-F238E27FC236}">
                <a16:creationId xmlns:a16="http://schemas.microsoft.com/office/drawing/2014/main" id="{23B2489C-7DA2-584A-B53D-355D7AB24E43}"/>
              </a:ext>
            </a:extLst>
          </p:cNvPr>
          <p:cNvSpPr/>
          <p:nvPr/>
        </p:nvSpPr>
        <p:spPr>
          <a:xfrm>
            <a:off x="4290998" y="6645692"/>
            <a:ext cx="1109962" cy="16927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3B975D59-2B3C-5644-A1E3-AB5F1077011B}"/>
              </a:ext>
            </a:extLst>
          </p:cNvPr>
          <p:cNvSpPr/>
          <p:nvPr/>
        </p:nvSpPr>
        <p:spPr>
          <a:xfrm>
            <a:off x="6020730" y="6636927"/>
            <a:ext cx="1109962" cy="16927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3D2B97CE-B9C7-7349-8EED-319357AEB08C}"/>
              </a:ext>
            </a:extLst>
          </p:cNvPr>
          <p:cNvSpPr/>
          <p:nvPr/>
        </p:nvSpPr>
        <p:spPr>
          <a:xfrm>
            <a:off x="4147978" y="4907163"/>
            <a:ext cx="1252982" cy="20629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351C01BD-70C3-EE43-BDD1-F040DD7729F7}"/>
              </a:ext>
            </a:extLst>
          </p:cNvPr>
          <p:cNvSpPr/>
          <p:nvPr/>
        </p:nvSpPr>
        <p:spPr>
          <a:xfrm>
            <a:off x="5877710" y="4898398"/>
            <a:ext cx="1252982" cy="20629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C4204134-85F7-D649-9ABB-A6712AADBFB3}"/>
                  </a:ext>
                </a:extLst>
              </p:cNvPr>
              <p:cNvSpPr txBox="1"/>
              <p:nvPr/>
            </p:nvSpPr>
            <p:spPr>
              <a:xfrm>
                <a:off x="6380825" y="6534959"/>
                <a:ext cx="308418" cy="33855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𝑗</m:t>
                      </m:r>
                    </m:oMath>
                  </m:oMathPara>
                </a14:m>
                <a:endParaRPr lang="en-US" sz="1600" b="0" dirty="0"/>
              </a:p>
            </p:txBody>
          </p:sp>
        </mc:Choice>
        <mc:Fallback xmlns="">
          <p:sp>
            <p:nvSpPr>
              <p:cNvPr id="22" name="TextBox 21">
                <a:extLst>
                  <a:ext uri="{FF2B5EF4-FFF2-40B4-BE49-F238E27FC236}">
                    <a16:creationId xmlns:a16="http://schemas.microsoft.com/office/drawing/2014/main" id="{C4204134-85F7-D649-9ABB-A6712AADBFB3}"/>
                  </a:ext>
                </a:extLst>
              </p:cNvPr>
              <p:cNvSpPr txBox="1">
                <a:spLocks noRot="1" noChangeAspect="1" noMove="1" noResize="1" noEditPoints="1" noAdjustHandles="1" noChangeArrowheads="1" noChangeShapeType="1" noTextEdit="1"/>
              </p:cNvSpPr>
              <p:nvPr/>
            </p:nvSpPr>
            <p:spPr>
              <a:xfrm>
                <a:off x="6380825" y="6534959"/>
                <a:ext cx="308418" cy="338554"/>
              </a:xfrm>
              <a:prstGeom prst="rect">
                <a:avLst/>
              </a:prstGeom>
              <a:blipFill>
                <a:blip r:embed="rId10"/>
                <a:stretch>
                  <a:fillRect b="-740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B1060D3D-375B-124F-A48B-7D59C3EA77D2}"/>
                  </a:ext>
                </a:extLst>
              </p:cNvPr>
              <p:cNvSpPr txBox="1"/>
              <p:nvPr/>
            </p:nvSpPr>
            <p:spPr>
              <a:xfrm>
                <a:off x="4574739" y="6527203"/>
                <a:ext cx="667299" cy="33855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𝑗</m:t>
                      </m:r>
                      <m:r>
                        <a:rPr lang="en-US" sz="1600" b="0" i="1" smtClean="0">
                          <a:latin typeface="Cambria Math" panose="02040503050406030204" pitchFamily="18" charset="0"/>
                        </a:rPr>
                        <m:t>−1</m:t>
                      </m:r>
                    </m:oMath>
                  </m:oMathPara>
                </a14:m>
                <a:endParaRPr lang="en-US" sz="1600" dirty="0"/>
              </a:p>
            </p:txBody>
          </p:sp>
        </mc:Choice>
        <mc:Fallback xmlns="">
          <p:sp>
            <p:nvSpPr>
              <p:cNvPr id="23" name="TextBox 22">
                <a:extLst>
                  <a:ext uri="{FF2B5EF4-FFF2-40B4-BE49-F238E27FC236}">
                    <a16:creationId xmlns:a16="http://schemas.microsoft.com/office/drawing/2014/main" id="{B1060D3D-375B-124F-A48B-7D59C3EA77D2}"/>
                  </a:ext>
                </a:extLst>
              </p:cNvPr>
              <p:cNvSpPr txBox="1">
                <a:spLocks noRot="1" noChangeAspect="1" noMove="1" noResize="1" noEditPoints="1" noAdjustHandles="1" noChangeArrowheads="1" noChangeShapeType="1" noTextEdit="1"/>
              </p:cNvSpPr>
              <p:nvPr/>
            </p:nvSpPr>
            <p:spPr>
              <a:xfrm>
                <a:off x="4574739" y="6527203"/>
                <a:ext cx="667299" cy="338554"/>
              </a:xfrm>
              <a:prstGeom prst="rect">
                <a:avLst/>
              </a:prstGeom>
              <a:blipFill>
                <a:blip r:embed="rId11"/>
                <a:stretch>
                  <a:fillRect b="-357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68B94BBE-0A8D-BD4E-A2E2-A331FA3B2DB1}"/>
                  </a:ext>
                </a:extLst>
              </p:cNvPr>
              <p:cNvSpPr txBox="1"/>
              <p:nvPr/>
            </p:nvSpPr>
            <p:spPr>
              <a:xfrm>
                <a:off x="6669547" y="4825116"/>
                <a:ext cx="662297" cy="33855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𝑖</m:t>
                      </m:r>
                      <m:r>
                        <a:rPr lang="en-US" sz="1600" b="0" i="1" smtClean="0">
                          <a:latin typeface="Cambria Math" panose="02040503050406030204" pitchFamily="18" charset="0"/>
                        </a:rPr>
                        <m:t>+1</m:t>
                      </m:r>
                    </m:oMath>
                  </m:oMathPara>
                </a14:m>
                <a:endParaRPr lang="en-US" sz="1600" dirty="0"/>
              </a:p>
            </p:txBody>
          </p:sp>
        </mc:Choice>
        <mc:Fallback xmlns="">
          <p:sp>
            <p:nvSpPr>
              <p:cNvPr id="24" name="TextBox 23">
                <a:extLst>
                  <a:ext uri="{FF2B5EF4-FFF2-40B4-BE49-F238E27FC236}">
                    <a16:creationId xmlns:a16="http://schemas.microsoft.com/office/drawing/2014/main" id="{68B94BBE-0A8D-BD4E-A2E2-A331FA3B2DB1}"/>
                  </a:ext>
                </a:extLst>
              </p:cNvPr>
              <p:cNvSpPr txBox="1">
                <a:spLocks noRot="1" noChangeAspect="1" noMove="1" noResize="1" noEditPoints="1" noAdjustHandles="1" noChangeArrowheads="1" noChangeShapeType="1" noTextEdit="1"/>
              </p:cNvSpPr>
              <p:nvPr/>
            </p:nvSpPr>
            <p:spPr>
              <a:xfrm>
                <a:off x="6669547" y="4825116"/>
                <a:ext cx="662297" cy="338554"/>
              </a:xfrm>
              <a:prstGeom prst="rect">
                <a:avLst/>
              </a:prstGeom>
              <a:blipFill>
                <a:blip r:embed="rId1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7EE709ED-9759-5D45-839B-9B0AFB737DB3}"/>
                  </a:ext>
                </a:extLst>
              </p:cNvPr>
              <p:cNvSpPr txBox="1"/>
              <p:nvPr/>
            </p:nvSpPr>
            <p:spPr>
              <a:xfrm>
                <a:off x="5987287" y="4841281"/>
                <a:ext cx="303416" cy="33855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𝑖</m:t>
                      </m:r>
                    </m:oMath>
                  </m:oMathPara>
                </a14:m>
                <a:endParaRPr lang="en-US" sz="1600" dirty="0"/>
              </a:p>
            </p:txBody>
          </p:sp>
        </mc:Choice>
        <mc:Fallback xmlns="">
          <p:sp>
            <p:nvSpPr>
              <p:cNvPr id="25" name="TextBox 24">
                <a:extLst>
                  <a:ext uri="{FF2B5EF4-FFF2-40B4-BE49-F238E27FC236}">
                    <a16:creationId xmlns:a16="http://schemas.microsoft.com/office/drawing/2014/main" id="{7EE709ED-9759-5D45-839B-9B0AFB737DB3}"/>
                  </a:ext>
                </a:extLst>
              </p:cNvPr>
              <p:cNvSpPr txBox="1">
                <a:spLocks noRot="1" noChangeAspect="1" noMove="1" noResize="1" noEditPoints="1" noAdjustHandles="1" noChangeArrowheads="1" noChangeShapeType="1" noTextEdit="1"/>
              </p:cNvSpPr>
              <p:nvPr/>
            </p:nvSpPr>
            <p:spPr>
              <a:xfrm>
                <a:off x="5987287" y="4841281"/>
                <a:ext cx="303416" cy="338554"/>
              </a:xfrm>
              <a:prstGeom prst="rect">
                <a:avLst/>
              </a:prstGeom>
              <a:blipFill>
                <a:blip r:embed="rId1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0EB4E10B-1C89-E94F-A3AC-972D1E0AC18C}"/>
                  </a:ext>
                </a:extLst>
              </p:cNvPr>
              <p:cNvSpPr txBox="1"/>
              <p:nvPr/>
            </p:nvSpPr>
            <p:spPr>
              <a:xfrm>
                <a:off x="5007522" y="4841032"/>
                <a:ext cx="662297" cy="33855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𝑖</m:t>
                      </m:r>
                      <m:r>
                        <a:rPr lang="en-US" sz="1600" b="0" i="1" smtClean="0">
                          <a:latin typeface="Cambria Math" panose="02040503050406030204" pitchFamily="18" charset="0"/>
                        </a:rPr>
                        <m:t>−1</m:t>
                      </m:r>
                    </m:oMath>
                  </m:oMathPara>
                </a14:m>
                <a:endParaRPr lang="en-US" sz="1600" dirty="0"/>
              </a:p>
            </p:txBody>
          </p:sp>
        </mc:Choice>
        <mc:Fallback xmlns="">
          <p:sp>
            <p:nvSpPr>
              <p:cNvPr id="26" name="TextBox 25">
                <a:extLst>
                  <a:ext uri="{FF2B5EF4-FFF2-40B4-BE49-F238E27FC236}">
                    <a16:creationId xmlns:a16="http://schemas.microsoft.com/office/drawing/2014/main" id="{0EB4E10B-1C89-E94F-A3AC-972D1E0AC18C}"/>
                  </a:ext>
                </a:extLst>
              </p:cNvPr>
              <p:cNvSpPr txBox="1">
                <a:spLocks noRot="1" noChangeAspect="1" noMove="1" noResize="1" noEditPoints="1" noAdjustHandles="1" noChangeArrowheads="1" noChangeShapeType="1" noTextEdit="1"/>
              </p:cNvSpPr>
              <p:nvPr/>
            </p:nvSpPr>
            <p:spPr>
              <a:xfrm>
                <a:off x="5007522" y="4841032"/>
                <a:ext cx="662297" cy="338554"/>
              </a:xfrm>
              <a:prstGeom prst="rect">
                <a:avLst/>
              </a:prstGeom>
              <a:blipFill>
                <a:blip r:embed="rId1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B9AE3718-0493-354D-B1D9-7F4D90E018ED}"/>
                  </a:ext>
                </a:extLst>
              </p:cNvPr>
              <p:cNvSpPr txBox="1"/>
              <p:nvPr/>
            </p:nvSpPr>
            <p:spPr>
              <a:xfrm>
                <a:off x="4180379" y="4825116"/>
                <a:ext cx="662297" cy="33855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𝑖</m:t>
                      </m:r>
                      <m:r>
                        <a:rPr lang="en-US" sz="1600" b="0" i="1" smtClean="0">
                          <a:latin typeface="Cambria Math" panose="02040503050406030204" pitchFamily="18" charset="0"/>
                        </a:rPr>
                        <m:t>−2</m:t>
                      </m:r>
                    </m:oMath>
                  </m:oMathPara>
                </a14:m>
                <a:endParaRPr lang="en-US" sz="1600" dirty="0"/>
              </a:p>
            </p:txBody>
          </p:sp>
        </mc:Choice>
        <mc:Fallback xmlns="">
          <p:sp>
            <p:nvSpPr>
              <p:cNvPr id="27" name="TextBox 26">
                <a:extLst>
                  <a:ext uri="{FF2B5EF4-FFF2-40B4-BE49-F238E27FC236}">
                    <a16:creationId xmlns:a16="http://schemas.microsoft.com/office/drawing/2014/main" id="{B9AE3718-0493-354D-B1D9-7F4D90E018ED}"/>
                  </a:ext>
                </a:extLst>
              </p:cNvPr>
              <p:cNvSpPr txBox="1">
                <a:spLocks noRot="1" noChangeAspect="1" noMove="1" noResize="1" noEditPoints="1" noAdjustHandles="1" noChangeArrowheads="1" noChangeShapeType="1" noTextEdit="1"/>
              </p:cNvSpPr>
              <p:nvPr/>
            </p:nvSpPr>
            <p:spPr>
              <a:xfrm>
                <a:off x="4180379" y="4825116"/>
                <a:ext cx="662297" cy="338554"/>
              </a:xfrm>
              <a:prstGeom prst="rect">
                <a:avLst/>
              </a:prstGeom>
              <a:blipFill>
                <a:blip r:embed="rId15"/>
                <a:stretch>
                  <a:fillRect/>
                </a:stretch>
              </a:blipFill>
            </p:spPr>
            <p:txBody>
              <a:bodyPr/>
              <a:lstStyle/>
              <a:p>
                <a:r>
                  <a:rPr lang="en-US">
                    <a:noFill/>
                  </a:rPr>
                  <a:t> </a:t>
                </a:r>
              </a:p>
            </p:txBody>
          </p:sp>
        </mc:Fallback>
      </mc:AlternateContent>
      <p:sp>
        <p:nvSpPr>
          <p:cNvPr id="6" name="Rectangle 5">
            <a:extLst>
              <a:ext uri="{FF2B5EF4-FFF2-40B4-BE49-F238E27FC236}">
                <a16:creationId xmlns:a16="http://schemas.microsoft.com/office/drawing/2014/main" id="{B428FB73-B99D-9446-9661-C0AE11BC67A1}"/>
              </a:ext>
            </a:extLst>
          </p:cNvPr>
          <p:cNvSpPr/>
          <p:nvPr/>
        </p:nvSpPr>
        <p:spPr>
          <a:xfrm>
            <a:off x="5720782" y="5669280"/>
            <a:ext cx="1648206" cy="892885"/>
          </a:xfrm>
          <a:prstGeom prst="rect">
            <a:avLst/>
          </a:prstGeom>
          <a:solidFill>
            <a:srgbClr val="4472C4">
              <a:alpha val="32157"/>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15E2F67B-6FED-464A-BF1D-E2E75DE76AB5}"/>
              </a:ext>
            </a:extLst>
          </p:cNvPr>
          <p:cNvSpPr/>
          <p:nvPr/>
        </p:nvSpPr>
        <p:spPr>
          <a:xfrm>
            <a:off x="5720782" y="3926541"/>
            <a:ext cx="1648206" cy="882127"/>
          </a:xfrm>
          <a:prstGeom prst="rect">
            <a:avLst/>
          </a:prstGeom>
          <a:solidFill>
            <a:srgbClr val="FF0000">
              <a:alpha val="32157"/>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Curved Left Arrow 27">
            <a:extLst>
              <a:ext uri="{FF2B5EF4-FFF2-40B4-BE49-F238E27FC236}">
                <a16:creationId xmlns:a16="http://schemas.microsoft.com/office/drawing/2014/main" id="{26D45F0F-D5E1-2140-A2C2-42CA9E1BED17}"/>
              </a:ext>
            </a:extLst>
          </p:cNvPr>
          <p:cNvSpPr/>
          <p:nvPr/>
        </p:nvSpPr>
        <p:spPr>
          <a:xfrm>
            <a:off x="7838020" y="4211299"/>
            <a:ext cx="573101" cy="1932326"/>
          </a:xfrm>
          <a:prstGeom prst="curvedLeftArrow">
            <a:avLst>
              <a:gd name="adj1" fmla="val 25000"/>
              <a:gd name="adj2" fmla="val 59351"/>
              <a:gd name="adj3" fmla="val 25000"/>
            </a:avLst>
          </a:prstGeom>
          <a:gradFill flip="none" rotWithShape="1">
            <a:gsLst>
              <a:gs pos="0">
                <a:srgbClr val="FF0000">
                  <a:alpha val="38000"/>
                </a:srgbClr>
              </a:gs>
              <a:gs pos="74000">
                <a:schemeClr val="accent1">
                  <a:lumMod val="45000"/>
                  <a:lumOff val="55000"/>
                </a:schemeClr>
              </a:gs>
              <a:gs pos="83000">
                <a:schemeClr val="accent1">
                  <a:lumMod val="45000"/>
                  <a:lumOff val="55000"/>
                </a:schemeClr>
              </a:gs>
              <a:gs pos="100000">
                <a:schemeClr val="accent1">
                  <a:lumMod val="30000"/>
                  <a:lumOff val="70000"/>
                </a:schemeClr>
              </a:gs>
            </a:gsLst>
            <a:lin ang="16200000" scaled="1"/>
            <a:tileRect/>
          </a:gradFill>
          <a:scene3d>
            <a:camera prst="orthographicFront">
              <a:rot lat="10800000" lon="0" rev="0"/>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1385344257"/>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DCE2F9-F4C3-DA4C-B0FC-7FF6F22D148C}"/>
              </a:ext>
            </a:extLst>
          </p:cNvPr>
          <p:cNvSpPr>
            <a:spLocks noGrp="1"/>
          </p:cNvSpPr>
          <p:nvPr>
            <p:ph type="title"/>
          </p:nvPr>
        </p:nvSpPr>
        <p:spPr>
          <a:xfrm>
            <a:off x="838200" y="0"/>
            <a:ext cx="10515600" cy="1325563"/>
          </a:xfrm>
        </p:spPr>
        <p:txBody>
          <a:bodyPr/>
          <a:lstStyle/>
          <a:p>
            <a:r>
              <a:rPr lang="en-US" dirty="0"/>
              <a:t>Prolongation – 1D (2</a:t>
            </a:r>
            <a:r>
              <a:rPr lang="en-US" baseline="30000" dirty="0"/>
              <a:t>nd</a:t>
            </a:r>
            <a:r>
              <a:rPr lang="en-US" dirty="0"/>
              <a:t> order accuracy)</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5C4FD65-F675-944D-A379-3A5FFFAEB784}"/>
                  </a:ext>
                </a:extLst>
              </p:cNvPr>
              <p:cNvSpPr>
                <a:spLocks noGrp="1"/>
              </p:cNvSpPr>
              <p:nvPr>
                <p:ph idx="1"/>
              </p:nvPr>
            </p:nvSpPr>
            <p:spPr>
              <a:xfrm>
                <a:off x="838200" y="1325562"/>
                <a:ext cx="10515600" cy="6021911"/>
              </a:xfrm>
            </p:spPr>
            <p:txBody>
              <a:bodyPr>
                <a:normAutofit/>
              </a:bodyPr>
              <a:lstStyle/>
              <a:p>
                <a:pPr>
                  <a:lnSpc>
                    <a:spcPct val="100000"/>
                  </a:lnSpc>
                </a:pPr>
                <a:r>
                  <a:rPr lang="en-US" dirty="0"/>
                  <a:t>A second-order accurate method of starts with reconstructing the coarse data linearly:</a:t>
                </a:r>
              </a:p>
              <a:p>
                <a:pPr marL="0" indent="0">
                  <a:lnSpc>
                    <a:spcPct val="100000"/>
                  </a:lnSpc>
                  <a:buNone/>
                </a:pPr>
                <a14:m>
                  <m:oMathPara xmlns:m="http://schemas.openxmlformats.org/officeDocument/2006/math">
                    <m:oMathParaPr>
                      <m:jc m:val="centerGroup"/>
                    </m:oMathParaPr>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𝜙</m:t>
                          </m:r>
                        </m:e>
                        <m:sup>
                          <m:r>
                            <a:rPr lang="en-US" b="0" i="1" smtClean="0">
                              <a:latin typeface="Cambria Math" panose="02040503050406030204" pitchFamily="18" charset="0"/>
                            </a:rPr>
                            <m:t>𝑐</m:t>
                          </m:r>
                        </m:sup>
                      </m:sSup>
                      <m:d>
                        <m:dPr>
                          <m:ctrlPr>
                            <a:rPr lang="en-US" b="0" i="1" smtClean="0">
                              <a:latin typeface="Cambria Math" panose="02040503050406030204" pitchFamily="18" charset="0"/>
                            </a:rPr>
                          </m:ctrlPr>
                        </m:dPr>
                        <m:e>
                          <m:r>
                            <a:rPr lang="en-US" b="0" i="1" smtClean="0">
                              <a:latin typeface="Cambria Math" panose="02040503050406030204" pitchFamily="18" charset="0"/>
                            </a:rPr>
                            <m:t>𝑥</m:t>
                          </m:r>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𝑚</m:t>
                          </m:r>
                        </m:e>
                        <m:sub>
                          <m:r>
                            <a:rPr lang="en-US" b="0" i="1" smtClean="0">
                              <a:latin typeface="Cambria Math" panose="02040503050406030204" pitchFamily="18" charset="0"/>
                            </a:rPr>
                            <m:t>𝑥</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𝑥</m:t>
                          </m:r>
                          <m:r>
                            <a:rPr lang="en-US" b="0" i="1" smtClean="0">
                              <a:latin typeface="Cambria Math" panose="02040503050406030204" pitchFamily="18" charset="0"/>
                            </a:rPr>
                            <m:t>−</m:t>
                          </m:r>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𝑥</m:t>
                              </m:r>
                            </m:e>
                            <m:sub>
                              <m:r>
                                <a:rPr lang="en-US" b="0" i="1" smtClean="0">
                                  <a:latin typeface="Cambria Math" panose="02040503050406030204" pitchFamily="18" charset="0"/>
                                </a:rPr>
                                <m:t>𝑗</m:t>
                              </m:r>
                            </m:sub>
                            <m:sup>
                              <m:r>
                                <a:rPr lang="en-US" b="0" i="1" smtClean="0">
                                  <a:latin typeface="Cambria Math" panose="02040503050406030204" pitchFamily="18" charset="0"/>
                                </a:rPr>
                                <m:t>𝑐</m:t>
                              </m:r>
                            </m:sup>
                          </m:sSubSup>
                        </m:e>
                      </m:d>
                      <m:r>
                        <a:rPr lang="en-US" b="0" i="1" smtClean="0">
                          <a:latin typeface="Cambria Math" panose="02040503050406030204" pitchFamily="18" charset="0"/>
                        </a:rPr>
                        <m:t>+</m:t>
                      </m:r>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𝜙</m:t>
                          </m:r>
                        </m:e>
                        <m:sub>
                          <m:r>
                            <a:rPr lang="en-US" b="0" i="1" smtClean="0">
                              <a:latin typeface="Cambria Math" panose="02040503050406030204" pitchFamily="18" charset="0"/>
                            </a:rPr>
                            <m:t>𝑗</m:t>
                          </m:r>
                        </m:sub>
                        <m:sup>
                          <m:r>
                            <a:rPr lang="en-US" b="0" i="1" smtClean="0">
                              <a:latin typeface="Cambria Math" panose="02040503050406030204" pitchFamily="18" charset="0"/>
                            </a:rPr>
                            <m:t>𝑐</m:t>
                          </m:r>
                        </m:sup>
                      </m:sSubSup>
                      <m:r>
                        <a:rPr lang="en-US" b="0" i="1" smtClean="0">
                          <a:latin typeface="Cambria Math" panose="02040503050406030204" pitchFamily="18" charset="0"/>
                        </a:rPr>
                        <m:t>    ;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𝑚</m:t>
                          </m:r>
                        </m:e>
                        <m:sub>
                          <m:r>
                            <a:rPr lang="en-US" b="0" i="1" smtClean="0">
                              <a:latin typeface="Cambria Math" panose="02040503050406030204" pitchFamily="18" charset="0"/>
                            </a:rPr>
                            <m:t>𝑥</m:t>
                          </m:r>
                        </m:sub>
                      </m:sSub>
                      <m:r>
                        <a:rPr lang="en-US" b="0" i="1" smtClean="0">
                          <a:latin typeface="Cambria Math" panose="02040503050406030204" pitchFamily="18" charset="0"/>
                        </a:rPr>
                        <m:t>=</m:t>
                      </m:r>
                      <m:f>
                        <m:fPr>
                          <m:ctrlPr>
                            <a:rPr lang="en-US" b="0" i="1" smtClean="0">
                              <a:latin typeface="Cambria Math" panose="02040503050406030204" pitchFamily="18" charset="0"/>
                            </a:rPr>
                          </m:ctrlPr>
                        </m:fPr>
                        <m:num>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𝜙</m:t>
                              </m:r>
                            </m:e>
                            <m:sub>
                              <m:r>
                                <a:rPr lang="en-US" b="0" i="1" smtClean="0">
                                  <a:latin typeface="Cambria Math" panose="02040503050406030204" pitchFamily="18" charset="0"/>
                                </a:rPr>
                                <m:t>𝑗</m:t>
                              </m:r>
                              <m:r>
                                <a:rPr lang="en-US" b="0" i="1" smtClean="0">
                                  <a:latin typeface="Cambria Math" panose="02040503050406030204" pitchFamily="18" charset="0"/>
                                </a:rPr>
                                <m:t>+1</m:t>
                              </m:r>
                            </m:sub>
                            <m:sup>
                              <m:r>
                                <a:rPr lang="en-US" b="0" i="1" smtClean="0">
                                  <a:latin typeface="Cambria Math" panose="02040503050406030204" pitchFamily="18" charset="0"/>
                                </a:rPr>
                                <m:t>𝑐</m:t>
                              </m:r>
                            </m:sup>
                          </m:sSubSup>
                          <m:r>
                            <a:rPr lang="en-US" b="0" i="1" smtClean="0">
                              <a:latin typeface="Cambria Math" panose="02040503050406030204" pitchFamily="18" charset="0"/>
                            </a:rPr>
                            <m:t>−</m:t>
                          </m:r>
                          <m:sSubSup>
                            <m:sSubSupPr>
                              <m:ctrlPr>
                                <a:rPr lang="en-US" i="1">
                                  <a:latin typeface="Cambria Math" panose="02040503050406030204" pitchFamily="18" charset="0"/>
                                </a:rPr>
                              </m:ctrlPr>
                            </m:sSubSupPr>
                            <m:e>
                              <m:r>
                                <a:rPr lang="en-US" i="1">
                                  <a:latin typeface="Cambria Math" panose="02040503050406030204" pitchFamily="18" charset="0"/>
                                </a:rPr>
                                <m:t>𝜙</m:t>
                              </m:r>
                            </m:e>
                            <m:sub>
                              <m:r>
                                <a:rPr lang="en-US" i="1">
                                  <a:latin typeface="Cambria Math" panose="02040503050406030204" pitchFamily="18" charset="0"/>
                                </a:rPr>
                                <m:t>𝑗</m:t>
                              </m:r>
                              <m:r>
                                <a:rPr lang="en-US" b="0" i="1" smtClean="0">
                                  <a:latin typeface="Cambria Math" panose="02040503050406030204" pitchFamily="18" charset="0"/>
                                </a:rPr>
                                <m:t>−1</m:t>
                              </m:r>
                            </m:sub>
                            <m:sup>
                              <m:r>
                                <a:rPr lang="en-US" i="1">
                                  <a:latin typeface="Cambria Math" panose="02040503050406030204" pitchFamily="18" charset="0"/>
                                </a:rPr>
                                <m:t>𝑐</m:t>
                              </m:r>
                            </m:sup>
                          </m:sSubSup>
                        </m:num>
                        <m:den>
                          <m:r>
                            <a:rPr lang="en-US" b="0" i="1" smtClean="0">
                              <a:latin typeface="Cambria Math" panose="02040503050406030204" pitchFamily="18" charset="0"/>
                            </a:rPr>
                            <m:t>2</m:t>
                          </m:r>
                          <m:r>
                            <m:rPr>
                              <m:sty m:val="p"/>
                            </m:rPr>
                            <a:rPr lang="en-US" b="0" i="0" smtClean="0">
                              <a:latin typeface="Cambria Math" panose="02040503050406030204" pitchFamily="18" charset="0"/>
                            </a:rPr>
                            <m:t>Δ</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𝑥</m:t>
                              </m:r>
                            </m:e>
                            <m:sup>
                              <m:r>
                                <a:rPr lang="en-US" b="0" i="1" smtClean="0">
                                  <a:latin typeface="Cambria Math" panose="02040503050406030204" pitchFamily="18" charset="0"/>
                                </a:rPr>
                                <m:t>𝑐</m:t>
                              </m:r>
                            </m:sup>
                          </m:sSup>
                        </m:den>
                      </m:f>
                    </m:oMath>
                  </m:oMathPara>
                </a14:m>
                <a:endParaRPr lang="en-US" dirty="0"/>
              </a:p>
              <a:p>
                <a:pPr marL="0" indent="0">
                  <a:lnSpc>
                    <a:spcPct val="100000"/>
                  </a:lnSpc>
                  <a:buNone/>
                </a:pPr>
                <a:endParaRPr lang="en-US" dirty="0"/>
              </a:p>
            </p:txBody>
          </p:sp>
        </mc:Choice>
        <mc:Fallback xmlns="">
          <p:sp>
            <p:nvSpPr>
              <p:cNvPr id="3" name="Content Placeholder 2">
                <a:extLst>
                  <a:ext uri="{FF2B5EF4-FFF2-40B4-BE49-F238E27FC236}">
                    <a16:creationId xmlns:a16="http://schemas.microsoft.com/office/drawing/2014/main" id="{15C4FD65-F675-944D-A379-3A5FFFAEB784}"/>
                  </a:ext>
                </a:extLst>
              </p:cNvPr>
              <p:cNvSpPr>
                <a:spLocks noGrp="1" noRot="1" noChangeAspect="1" noMove="1" noResize="1" noEditPoints="1" noAdjustHandles="1" noChangeArrowheads="1" noChangeShapeType="1" noTextEdit="1"/>
              </p:cNvSpPr>
              <p:nvPr>
                <p:ph idx="1"/>
              </p:nvPr>
            </p:nvSpPr>
            <p:spPr>
              <a:xfrm>
                <a:off x="838200" y="1325562"/>
                <a:ext cx="10515600" cy="6021911"/>
              </a:xfrm>
              <a:blipFill>
                <a:blip r:embed="rId2"/>
                <a:stretch>
                  <a:fillRect l="-965" t="-840"/>
                </a:stretch>
              </a:blipFill>
            </p:spPr>
            <p:txBody>
              <a:bodyPr/>
              <a:lstStyle/>
              <a:p>
                <a:r>
                  <a:rPr lang="en-US">
                    <a:noFill/>
                  </a:rPr>
                  <a:t> </a:t>
                </a:r>
              </a:p>
            </p:txBody>
          </p:sp>
        </mc:Fallback>
      </mc:AlternateContent>
      <p:pic>
        <p:nvPicPr>
          <p:cNvPr id="5" name="Picture 4">
            <a:extLst>
              <a:ext uri="{FF2B5EF4-FFF2-40B4-BE49-F238E27FC236}">
                <a16:creationId xmlns:a16="http://schemas.microsoft.com/office/drawing/2014/main" id="{AC285B16-5A72-154C-8FD0-6A6B6D2FA708}"/>
              </a:ext>
            </a:extLst>
          </p:cNvPr>
          <p:cNvPicPr>
            <a:picLocks noChangeAspect="1"/>
          </p:cNvPicPr>
          <p:nvPr/>
        </p:nvPicPr>
        <p:blipFill rotWithShape="1">
          <a:blip r:embed="rId3"/>
          <a:srcRect b="8341"/>
          <a:stretch/>
        </p:blipFill>
        <p:spPr>
          <a:xfrm>
            <a:off x="3399417" y="3311788"/>
            <a:ext cx="4642730" cy="3546212"/>
          </a:xfrm>
          <a:prstGeom prst="rect">
            <a:avLst/>
          </a:prstGeom>
        </p:spPr>
      </p:pic>
      <p:cxnSp>
        <p:nvCxnSpPr>
          <p:cNvPr id="9" name="Straight Connector 8">
            <a:extLst>
              <a:ext uri="{FF2B5EF4-FFF2-40B4-BE49-F238E27FC236}">
                <a16:creationId xmlns:a16="http://schemas.microsoft.com/office/drawing/2014/main" id="{210F7FFF-FA62-6648-A4AA-7DE3531A5D98}"/>
              </a:ext>
            </a:extLst>
          </p:cNvPr>
          <p:cNvCxnSpPr/>
          <p:nvPr/>
        </p:nvCxnSpPr>
        <p:spPr>
          <a:xfrm>
            <a:off x="4055633" y="6551407"/>
            <a:ext cx="5099125"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55FFF4E7-EB39-FF4B-996F-B8C7080CD332}"/>
              </a:ext>
            </a:extLst>
          </p:cNvPr>
          <p:cNvCxnSpPr>
            <a:cxnSpLocks/>
          </p:cNvCxnSpPr>
          <p:nvPr/>
        </p:nvCxnSpPr>
        <p:spPr>
          <a:xfrm>
            <a:off x="9034137" y="5658523"/>
            <a:ext cx="0" cy="882127"/>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78F9A13D-94A1-7B4C-AFB3-014DB64142AE}"/>
                  </a:ext>
                </a:extLst>
              </p:cNvPr>
              <p:cNvSpPr txBox="1"/>
              <p:nvPr/>
            </p:nvSpPr>
            <p:spPr>
              <a:xfrm>
                <a:off x="7899351" y="5909520"/>
                <a:ext cx="699101" cy="40164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𝜙</m:t>
                          </m:r>
                        </m:e>
                        <m:sub>
                          <m:r>
                            <a:rPr lang="en-US" b="0" i="1" smtClean="0">
                              <a:latin typeface="Cambria Math" panose="02040503050406030204" pitchFamily="18" charset="0"/>
                            </a:rPr>
                            <m:t>𝑗</m:t>
                          </m:r>
                          <m:r>
                            <a:rPr lang="en-US" b="0" i="1" smtClean="0">
                              <a:latin typeface="Cambria Math" panose="02040503050406030204" pitchFamily="18" charset="0"/>
                            </a:rPr>
                            <m:t>+1</m:t>
                          </m:r>
                        </m:sub>
                        <m:sup>
                          <m:r>
                            <a:rPr lang="en-US" b="0" i="1" smtClean="0">
                              <a:latin typeface="Cambria Math" panose="02040503050406030204" pitchFamily="18" charset="0"/>
                            </a:rPr>
                            <m:t>𝑐</m:t>
                          </m:r>
                        </m:sup>
                      </m:sSubSup>
                    </m:oMath>
                  </m:oMathPara>
                </a14:m>
                <a:endParaRPr lang="en-US" dirty="0"/>
              </a:p>
            </p:txBody>
          </p:sp>
        </mc:Choice>
        <mc:Fallback xmlns="">
          <p:sp>
            <p:nvSpPr>
              <p:cNvPr id="13" name="TextBox 12">
                <a:extLst>
                  <a:ext uri="{FF2B5EF4-FFF2-40B4-BE49-F238E27FC236}">
                    <a16:creationId xmlns:a16="http://schemas.microsoft.com/office/drawing/2014/main" id="{78F9A13D-94A1-7B4C-AFB3-014DB64142AE}"/>
                  </a:ext>
                </a:extLst>
              </p:cNvPr>
              <p:cNvSpPr txBox="1">
                <a:spLocks noRot="1" noChangeAspect="1" noMove="1" noResize="1" noEditPoints="1" noAdjustHandles="1" noChangeArrowheads="1" noChangeShapeType="1" noTextEdit="1"/>
              </p:cNvSpPr>
              <p:nvPr/>
            </p:nvSpPr>
            <p:spPr>
              <a:xfrm>
                <a:off x="7899351" y="5909520"/>
                <a:ext cx="699101" cy="401648"/>
              </a:xfrm>
              <a:prstGeom prst="rect">
                <a:avLst/>
              </a:prstGeom>
              <a:blipFill>
                <a:blip r:embed="rId4"/>
                <a:stretch>
                  <a:fillRect b="-303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3E63A101-3816-6247-B9FC-3A8A4F1B7782}"/>
                  </a:ext>
                </a:extLst>
              </p:cNvPr>
              <p:cNvSpPr txBox="1"/>
              <p:nvPr/>
            </p:nvSpPr>
            <p:spPr>
              <a:xfrm>
                <a:off x="6323751" y="5904142"/>
                <a:ext cx="503921" cy="401648"/>
              </a:xfrm>
              <a:prstGeom prst="rect">
                <a:avLst/>
              </a:prstGeom>
              <a:solidFill>
                <a:schemeClr val="bg1"/>
              </a:solid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𝜙</m:t>
                          </m:r>
                        </m:e>
                        <m:sub>
                          <m:r>
                            <a:rPr lang="en-US" b="0" i="1" smtClean="0">
                              <a:latin typeface="Cambria Math" panose="02040503050406030204" pitchFamily="18" charset="0"/>
                            </a:rPr>
                            <m:t>𝑗</m:t>
                          </m:r>
                        </m:sub>
                        <m:sup>
                          <m:r>
                            <a:rPr lang="en-US" b="0" i="1" smtClean="0">
                              <a:latin typeface="Cambria Math" panose="02040503050406030204" pitchFamily="18" charset="0"/>
                            </a:rPr>
                            <m:t>𝑐</m:t>
                          </m:r>
                        </m:sup>
                      </m:sSubSup>
                    </m:oMath>
                  </m:oMathPara>
                </a14:m>
                <a:endParaRPr lang="en-US" dirty="0"/>
              </a:p>
            </p:txBody>
          </p:sp>
        </mc:Choice>
        <mc:Fallback xmlns="">
          <p:sp>
            <p:nvSpPr>
              <p:cNvPr id="14" name="TextBox 13">
                <a:extLst>
                  <a:ext uri="{FF2B5EF4-FFF2-40B4-BE49-F238E27FC236}">
                    <a16:creationId xmlns:a16="http://schemas.microsoft.com/office/drawing/2014/main" id="{3E63A101-3816-6247-B9FC-3A8A4F1B7782}"/>
                  </a:ext>
                </a:extLst>
              </p:cNvPr>
              <p:cNvSpPr txBox="1">
                <a:spLocks noRot="1" noChangeAspect="1" noMove="1" noResize="1" noEditPoints="1" noAdjustHandles="1" noChangeArrowheads="1" noChangeShapeType="1" noTextEdit="1"/>
              </p:cNvSpPr>
              <p:nvPr/>
            </p:nvSpPr>
            <p:spPr>
              <a:xfrm>
                <a:off x="6323751" y="5904142"/>
                <a:ext cx="503921" cy="401648"/>
              </a:xfrm>
              <a:prstGeom prst="rect">
                <a:avLst/>
              </a:prstGeom>
              <a:blipFill>
                <a:blip r:embed="rId5"/>
                <a:stretch>
                  <a:fillRect b="-3030"/>
                </a:stretch>
              </a:blipFill>
            </p:spPr>
            <p:txBody>
              <a:bodyPr/>
              <a:lstStyle/>
              <a:p>
                <a:r>
                  <a:rPr lang="en-US">
                    <a:noFill/>
                  </a:rPr>
                  <a:t> </a:t>
                </a:r>
              </a:p>
            </p:txBody>
          </p:sp>
        </mc:Fallback>
      </mc:AlternateContent>
      <p:sp>
        <p:nvSpPr>
          <p:cNvPr id="6" name="Rectangle 5">
            <a:extLst>
              <a:ext uri="{FF2B5EF4-FFF2-40B4-BE49-F238E27FC236}">
                <a16:creationId xmlns:a16="http://schemas.microsoft.com/office/drawing/2014/main" id="{B428FB73-B99D-9446-9661-C0AE11BC67A1}"/>
              </a:ext>
            </a:extLst>
          </p:cNvPr>
          <p:cNvSpPr/>
          <p:nvPr/>
        </p:nvSpPr>
        <p:spPr>
          <a:xfrm>
            <a:off x="5720782" y="5669280"/>
            <a:ext cx="1648206" cy="892885"/>
          </a:xfrm>
          <a:prstGeom prst="rect">
            <a:avLst/>
          </a:prstGeom>
          <a:solidFill>
            <a:srgbClr val="4472C4">
              <a:alpha val="32157"/>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0B9CE54C-3289-E944-9E6C-8BD8D976F4F6}"/>
                  </a:ext>
                </a:extLst>
              </p:cNvPr>
              <p:cNvSpPr txBox="1"/>
              <p:nvPr/>
            </p:nvSpPr>
            <p:spPr>
              <a:xfrm>
                <a:off x="4558838" y="5909520"/>
                <a:ext cx="699102" cy="401648"/>
              </a:xfrm>
              <a:prstGeom prst="rect">
                <a:avLst/>
              </a:prstGeom>
              <a:solidFill>
                <a:schemeClr val="bg1"/>
              </a:solid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𝜙</m:t>
                          </m:r>
                        </m:e>
                        <m:sub>
                          <m:r>
                            <a:rPr lang="en-US" b="0" i="1" smtClean="0">
                              <a:latin typeface="Cambria Math" panose="02040503050406030204" pitchFamily="18" charset="0"/>
                            </a:rPr>
                            <m:t>𝑗</m:t>
                          </m:r>
                          <m:r>
                            <a:rPr lang="en-US" b="0" i="1" smtClean="0">
                              <a:latin typeface="Cambria Math" panose="02040503050406030204" pitchFamily="18" charset="0"/>
                            </a:rPr>
                            <m:t>−1</m:t>
                          </m:r>
                        </m:sub>
                        <m:sup>
                          <m:r>
                            <a:rPr lang="en-US" b="0" i="1" smtClean="0">
                              <a:latin typeface="Cambria Math" panose="02040503050406030204" pitchFamily="18" charset="0"/>
                            </a:rPr>
                            <m:t>𝑐</m:t>
                          </m:r>
                        </m:sup>
                      </m:sSubSup>
                    </m:oMath>
                  </m:oMathPara>
                </a14:m>
                <a:endParaRPr lang="en-US" dirty="0"/>
              </a:p>
            </p:txBody>
          </p:sp>
        </mc:Choice>
        <mc:Fallback xmlns="">
          <p:sp>
            <p:nvSpPr>
              <p:cNvPr id="15" name="TextBox 14">
                <a:extLst>
                  <a:ext uri="{FF2B5EF4-FFF2-40B4-BE49-F238E27FC236}">
                    <a16:creationId xmlns:a16="http://schemas.microsoft.com/office/drawing/2014/main" id="{0B9CE54C-3289-E944-9E6C-8BD8D976F4F6}"/>
                  </a:ext>
                </a:extLst>
              </p:cNvPr>
              <p:cNvSpPr txBox="1">
                <a:spLocks noRot="1" noChangeAspect="1" noMove="1" noResize="1" noEditPoints="1" noAdjustHandles="1" noChangeArrowheads="1" noChangeShapeType="1" noTextEdit="1"/>
              </p:cNvSpPr>
              <p:nvPr/>
            </p:nvSpPr>
            <p:spPr>
              <a:xfrm>
                <a:off x="4558838" y="5909520"/>
                <a:ext cx="699102" cy="401648"/>
              </a:xfrm>
              <a:prstGeom prst="rect">
                <a:avLst/>
              </a:prstGeom>
              <a:blipFill>
                <a:blip r:embed="rId6"/>
                <a:stretch>
                  <a:fillRect b="-303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3A9341BE-E8A9-4C42-8C35-44C35BFA3A6F}"/>
                  </a:ext>
                </a:extLst>
              </p:cNvPr>
              <p:cNvSpPr txBox="1"/>
              <p:nvPr/>
            </p:nvSpPr>
            <p:spPr>
              <a:xfrm>
                <a:off x="4130331" y="4146194"/>
                <a:ext cx="679866" cy="434478"/>
              </a:xfrm>
              <a:prstGeom prst="rect">
                <a:avLst/>
              </a:prstGeom>
              <a:solidFill>
                <a:schemeClr val="bg1"/>
              </a:solid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𝜙</m:t>
                          </m:r>
                        </m:e>
                        <m:sub>
                          <m:r>
                            <a:rPr lang="en-US" b="0" i="1" smtClean="0">
                              <a:latin typeface="Cambria Math" panose="02040503050406030204" pitchFamily="18" charset="0"/>
                            </a:rPr>
                            <m:t>𝑖</m:t>
                          </m:r>
                          <m:r>
                            <a:rPr lang="en-US" b="0" i="1" smtClean="0">
                              <a:latin typeface="Cambria Math" panose="02040503050406030204" pitchFamily="18" charset="0"/>
                            </a:rPr>
                            <m:t>−2</m:t>
                          </m:r>
                        </m:sub>
                        <m:sup>
                          <m:r>
                            <a:rPr lang="en-US" b="0" i="1" smtClean="0">
                              <a:latin typeface="Cambria Math" panose="02040503050406030204" pitchFamily="18" charset="0"/>
                            </a:rPr>
                            <m:t>𝑓</m:t>
                          </m:r>
                        </m:sup>
                      </m:sSubSup>
                    </m:oMath>
                  </m:oMathPara>
                </a14:m>
                <a:endParaRPr lang="en-US" dirty="0"/>
              </a:p>
            </p:txBody>
          </p:sp>
        </mc:Choice>
        <mc:Fallback xmlns="">
          <p:sp>
            <p:nvSpPr>
              <p:cNvPr id="16" name="TextBox 15">
                <a:extLst>
                  <a:ext uri="{FF2B5EF4-FFF2-40B4-BE49-F238E27FC236}">
                    <a16:creationId xmlns:a16="http://schemas.microsoft.com/office/drawing/2014/main" id="{3A9341BE-E8A9-4C42-8C35-44C35BFA3A6F}"/>
                  </a:ext>
                </a:extLst>
              </p:cNvPr>
              <p:cNvSpPr txBox="1">
                <a:spLocks noRot="1" noChangeAspect="1" noMove="1" noResize="1" noEditPoints="1" noAdjustHandles="1" noChangeArrowheads="1" noChangeShapeType="1" noTextEdit="1"/>
              </p:cNvSpPr>
              <p:nvPr/>
            </p:nvSpPr>
            <p:spPr>
              <a:xfrm>
                <a:off x="4130331" y="4146194"/>
                <a:ext cx="679866" cy="434478"/>
              </a:xfrm>
              <a:prstGeom prst="rect">
                <a:avLst/>
              </a:prstGeom>
              <a:blipFill>
                <a:blip r:embed="rId7"/>
                <a:stretch>
                  <a:fillRect b="-555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A2A88C0F-737D-2A45-B674-BE52EAE84E35}"/>
                  </a:ext>
                </a:extLst>
              </p:cNvPr>
              <p:cNvSpPr txBox="1"/>
              <p:nvPr/>
            </p:nvSpPr>
            <p:spPr>
              <a:xfrm>
                <a:off x="4996479" y="4150365"/>
                <a:ext cx="679866" cy="434478"/>
              </a:xfrm>
              <a:prstGeom prst="rect">
                <a:avLst/>
              </a:prstGeom>
              <a:solidFill>
                <a:schemeClr val="bg1"/>
              </a:solid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𝜙</m:t>
                          </m:r>
                        </m:e>
                        <m:sub>
                          <m:r>
                            <a:rPr lang="en-US" b="0" i="1" smtClean="0">
                              <a:latin typeface="Cambria Math" panose="02040503050406030204" pitchFamily="18" charset="0"/>
                            </a:rPr>
                            <m:t>𝑖</m:t>
                          </m:r>
                          <m:r>
                            <a:rPr lang="en-US" b="0" i="1" smtClean="0">
                              <a:latin typeface="Cambria Math" panose="02040503050406030204" pitchFamily="18" charset="0"/>
                            </a:rPr>
                            <m:t>−1</m:t>
                          </m:r>
                        </m:sub>
                        <m:sup>
                          <m:r>
                            <a:rPr lang="en-US" b="0" i="1" smtClean="0">
                              <a:latin typeface="Cambria Math" panose="02040503050406030204" pitchFamily="18" charset="0"/>
                            </a:rPr>
                            <m:t>𝑓</m:t>
                          </m:r>
                        </m:sup>
                      </m:sSubSup>
                    </m:oMath>
                  </m:oMathPara>
                </a14:m>
                <a:endParaRPr lang="en-US" dirty="0"/>
              </a:p>
            </p:txBody>
          </p:sp>
        </mc:Choice>
        <mc:Fallback xmlns="">
          <p:sp>
            <p:nvSpPr>
              <p:cNvPr id="17" name="TextBox 16">
                <a:extLst>
                  <a:ext uri="{FF2B5EF4-FFF2-40B4-BE49-F238E27FC236}">
                    <a16:creationId xmlns:a16="http://schemas.microsoft.com/office/drawing/2014/main" id="{A2A88C0F-737D-2A45-B674-BE52EAE84E35}"/>
                  </a:ext>
                </a:extLst>
              </p:cNvPr>
              <p:cNvSpPr txBox="1">
                <a:spLocks noRot="1" noChangeAspect="1" noMove="1" noResize="1" noEditPoints="1" noAdjustHandles="1" noChangeArrowheads="1" noChangeShapeType="1" noTextEdit="1"/>
              </p:cNvSpPr>
              <p:nvPr/>
            </p:nvSpPr>
            <p:spPr>
              <a:xfrm>
                <a:off x="4996479" y="4150365"/>
                <a:ext cx="679866" cy="434478"/>
              </a:xfrm>
              <a:prstGeom prst="rect">
                <a:avLst/>
              </a:prstGeom>
              <a:blipFill>
                <a:blip r:embed="rId8"/>
                <a:stretch>
                  <a:fillRect b="-571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91383A36-80A2-8241-A4B9-DDB0B14800B6}"/>
                  </a:ext>
                </a:extLst>
              </p:cNvPr>
              <p:cNvSpPr txBox="1"/>
              <p:nvPr/>
            </p:nvSpPr>
            <p:spPr>
              <a:xfrm>
                <a:off x="5910276" y="4146194"/>
                <a:ext cx="525657" cy="434478"/>
              </a:xfrm>
              <a:prstGeom prst="rect">
                <a:avLst/>
              </a:prstGeom>
              <a:solidFill>
                <a:schemeClr val="bg1"/>
              </a:solid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𝜙</m:t>
                          </m:r>
                        </m:e>
                        <m:sub>
                          <m:r>
                            <a:rPr lang="en-US" b="0" i="1" smtClean="0">
                              <a:latin typeface="Cambria Math" panose="02040503050406030204" pitchFamily="18" charset="0"/>
                            </a:rPr>
                            <m:t>𝑖</m:t>
                          </m:r>
                        </m:sub>
                        <m:sup>
                          <m:r>
                            <a:rPr lang="en-US" b="0" i="1" smtClean="0">
                              <a:latin typeface="Cambria Math" panose="02040503050406030204" pitchFamily="18" charset="0"/>
                            </a:rPr>
                            <m:t>𝑓</m:t>
                          </m:r>
                        </m:sup>
                      </m:sSubSup>
                    </m:oMath>
                  </m:oMathPara>
                </a14:m>
                <a:endParaRPr lang="en-US" dirty="0"/>
              </a:p>
            </p:txBody>
          </p:sp>
        </mc:Choice>
        <mc:Fallback xmlns="">
          <p:sp>
            <p:nvSpPr>
              <p:cNvPr id="18" name="TextBox 17">
                <a:extLst>
                  <a:ext uri="{FF2B5EF4-FFF2-40B4-BE49-F238E27FC236}">
                    <a16:creationId xmlns:a16="http://schemas.microsoft.com/office/drawing/2014/main" id="{91383A36-80A2-8241-A4B9-DDB0B14800B6}"/>
                  </a:ext>
                </a:extLst>
              </p:cNvPr>
              <p:cNvSpPr txBox="1">
                <a:spLocks noRot="1" noChangeAspect="1" noMove="1" noResize="1" noEditPoints="1" noAdjustHandles="1" noChangeArrowheads="1" noChangeShapeType="1" noTextEdit="1"/>
              </p:cNvSpPr>
              <p:nvPr/>
            </p:nvSpPr>
            <p:spPr>
              <a:xfrm>
                <a:off x="5910276" y="4146194"/>
                <a:ext cx="525657" cy="434478"/>
              </a:xfrm>
              <a:prstGeom prst="rect">
                <a:avLst/>
              </a:prstGeom>
              <a:blipFill>
                <a:blip r:embed="rId9"/>
                <a:stretch>
                  <a:fillRect b="-555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FF5E5042-F886-064D-B69F-438D0E71B3D8}"/>
                  </a:ext>
                </a:extLst>
              </p:cNvPr>
              <p:cNvSpPr txBox="1"/>
              <p:nvPr/>
            </p:nvSpPr>
            <p:spPr>
              <a:xfrm>
                <a:off x="6622215" y="4156952"/>
                <a:ext cx="679866" cy="434478"/>
              </a:xfrm>
              <a:prstGeom prst="rect">
                <a:avLst/>
              </a:prstGeom>
              <a:solidFill>
                <a:schemeClr val="bg1"/>
              </a:solid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𝜙</m:t>
                          </m:r>
                        </m:e>
                        <m:sub>
                          <m:r>
                            <a:rPr lang="en-US" b="0" i="1" smtClean="0">
                              <a:latin typeface="Cambria Math" panose="02040503050406030204" pitchFamily="18" charset="0"/>
                            </a:rPr>
                            <m:t>𝑖</m:t>
                          </m:r>
                          <m:r>
                            <a:rPr lang="en-US" b="0" i="1" smtClean="0">
                              <a:latin typeface="Cambria Math" panose="02040503050406030204" pitchFamily="18" charset="0"/>
                            </a:rPr>
                            <m:t>+1</m:t>
                          </m:r>
                        </m:sub>
                        <m:sup>
                          <m:r>
                            <a:rPr lang="en-US" b="0" i="1" smtClean="0">
                              <a:latin typeface="Cambria Math" panose="02040503050406030204" pitchFamily="18" charset="0"/>
                            </a:rPr>
                            <m:t>𝑓</m:t>
                          </m:r>
                        </m:sup>
                      </m:sSubSup>
                    </m:oMath>
                  </m:oMathPara>
                </a14:m>
                <a:endParaRPr lang="en-US" dirty="0"/>
              </a:p>
            </p:txBody>
          </p:sp>
        </mc:Choice>
        <mc:Fallback xmlns="">
          <p:sp>
            <p:nvSpPr>
              <p:cNvPr id="19" name="TextBox 18">
                <a:extLst>
                  <a:ext uri="{FF2B5EF4-FFF2-40B4-BE49-F238E27FC236}">
                    <a16:creationId xmlns:a16="http://schemas.microsoft.com/office/drawing/2014/main" id="{FF5E5042-F886-064D-B69F-438D0E71B3D8}"/>
                  </a:ext>
                </a:extLst>
              </p:cNvPr>
              <p:cNvSpPr txBox="1">
                <a:spLocks noRot="1" noChangeAspect="1" noMove="1" noResize="1" noEditPoints="1" noAdjustHandles="1" noChangeArrowheads="1" noChangeShapeType="1" noTextEdit="1"/>
              </p:cNvSpPr>
              <p:nvPr/>
            </p:nvSpPr>
            <p:spPr>
              <a:xfrm>
                <a:off x="6622215" y="4156952"/>
                <a:ext cx="679866" cy="434478"/>
              </a:xfrm>
              <a:prstGeom prst="rect">
                <a:avLst/>
              </a:prstGeom>
              <a:blipFill>
                <a:blip r:embed="rId10"/>
                <a:stretch>
                  <a:fillRect b="-5556"/>
                </a:stretch>
              </a:blipFill>
            </p:spPr>
            <p:txBody>
              <a:bodyPr/>
              <a:lstStyle/>
              <a:p>
                <a:r>
                  <a:rPr lang="en-US">
                    <a:noFill/>
                  </a:rPr>
                  <a:t> </a:t>
                </a:r>
              </a:p>
            </p:txBody>
          </p:sp>
        </mc:Fallback>
      </mc:AlternateContent>
      <p:sp>
        <p:nvSpPr>
          <p:cNvPr id="7" name="Rectangle 6">
            <a:extLst>
              <a:ext uri="{FF2B5EF4-FFF2-40B4-BE49-F238E27FC236}">
                <a16:creationId xmlns:a16="http://schemas.microsoft.com/office/drawing/2014/main" id="{15E2F67B-6FED-464A-BF1D-E2E75DE76AB5}"/>
              </a:ext>
            </a:extLst>
          </p:cNvPr>
          <p:cNvSpPr/>
          <p:nvPr/>
        </p:nvSpPr>
        <p:spPr>
          <a:xfrm>
            <a:off x="5720782" y="3926541"/>
            <a:ext cx="1648206" cy="882127"/>
          </a:xfrm>
          <a:prstGeom prst="rect">
            <a:avLst/>
          </a:prstGeom>
          <a:solidFill>
            <a:srgbClr val="FF0000">
              <a:alpha val="32157"/>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1ABE1333-6B17-C544-BF4F-C4C4472CB338}"/>
                  </a:ext>
                </a:extLst>
              </p:cNvPr>
              <p:cNvSpPr txBox="1"/>
              <p:nvPr/>
            </p:nvSpPr>
            <p:spPr>
              <a:xfrm>
                <a:off x="7896378" y="6501914"/>
                <a:ext cx="667299" cy="33855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𝑗</m:t>
                      </m:r>
                      <m:r>
                        <a:rPr lang="en-US" sz="1600" b="0" i="1" smtClean="0">
                          <a:latin typeface="Cambria Math" panose="02040503050406030204" pitchFamily="18" charset="0"/>
                        </a:rPr>
                        <m:t>+1</m:t>
                      </m:r>
                    </m:oMath>
                  </m:oMathPara>
                </a14:m>
                <a:endParaRPr lang="en-US" sz="1600" dirty="0"/>
              </a:p>
            </p:txBody>
          </p:sp>
        </mc:Choice>
        <mc:Fallback xmlns="">
          <p:sp>
            <p:nvSpPr>
              <p:cNvPr id="20" name="TextBox 19">
                <a:extLst>
                  <a:ext uri="{FF2B5EF4-FFF2-40B4-BE49-F238E27FC236}">
                    <a16:creationId xmlns:a16="http://schemas.microsoft.com/office/drawing/2014/main" id="{1ABE1333-6B17-C544-BF4F-C4C4472CB338}"/>
                  </a:ext>
                </a:extLst>
              </p:cNvPr>
              <p:cNvSpPr txBox="1">
                <a:spLocks noRot="1" noChangeAspect="1" noMove="1" noResize="1" noEditPoints="1" noAdjustHandles="1" noChangeArrowheads="1" noChangeShapeType="1" noTextEdit="1"/>
              </p:cNvSpPr>
              <p:nvPr/>
            </p:nvSpPr>
            <p:spPr>
              <a:xfrm>
                <a:off x="7896378" y="6501914"/>
                <a:ext cx="667299" cy="338554"/>
              </a:xfrm>
              <a:prstGeom prst="rect">
                <a:avLst/>
              </a:prstGeom>
              <a:blipFill>
                <a:blip r:embed="rId11"/>
                <a:stretch>
                  <a:fillRect b="-3571"/>
                </a:stretch>
              </a:blipFill>
            </p:spPr>
            <p:txBody>
              <a:bodyPr/>
              <a:lstStyle/>
              <a:p>
                <a:r>
                  <a:rPr lang="en-US">
                    <a:noFill/>
                  </a:rPr>
                  <a:t> </a:t>
                </a:r>
              </a:p>
            </p:txBody>
          </p:sp>
        </mc:Fallback>
      </mc:AlternateContent>
      <p:sp>
        <p:nvSpPr>
          <p:cNvPr id="21" name="Rectangle 20">
            <a:extLst>
              <a:ext uri="{FF2B5EF4-FFF2-40B4-BE49-F238E27FC236}">
                <a16:creationId xmlns:a16="http://schemas.microsoft.com/office/drawing/2014/main" id="{00863A43-ECDF-9C41-962A-017D66DF44F0}"/>
              </a:ext>
            </a:extLst>
          </p:cNvPr>
          <p:cNvSpPr/>
          <p:nvPr/>
        </p:nvSpPr>
        <p:spPr>
          <a:xfrm>
            <a:off x="4290998" y="6645692"/>
            <a:ext cx="1109962" cy="16927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6BE5E3F4-26A9-EA4F-9EAA-1DC494584249}"/>
              </a:ext>
            </a:extLst>
          </p:cNvPr>
          <p:cNvSpPr/>
          <p:nvPr/>
        </p:nvSpPr>
        <p:spPr>
          <a:xfrm>
            <a:off x="6020730" y="6636927"/>
            <a:ext cx="1109962" cy="16927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113C09E8-DEDE-6042-84AE-C83FC62F5E06}"/>
              </a:ext>
            </a:extLst>
          </p:cNvPr>
          <p:cNvSpPr/>
          <p:nvPr/>
        </p:nvSpPr>
        <p:spPr>
          <a:xfrm>
            <a:off x="4147978" y="4907163"/>
            <a:ext cx="1252982" cy="20629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6E9CEF6C-C8CC-974D-814B-52EFB8DABB09}"/>
              </a:ext>
            </a:extLst>
          </p:cNvPr>
          <p:cNvSpPr/>
          <p:nvPr/>
        </p:nvSpPr>
        <p:spPr>
          <a:xfrm>
            <a:off x="5877710" y="4898398"/>
            <a:ext cx="1252982" cy="20629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0527A306-E3D6-F243-A3BE-77EF2F213911}"/>
                  </a:ext>
                </a:extLst>
              </p:cNvPr>
              <p:cNvSpPr txBox="1"/>
              <p:nvPr/>
            </p:nvSpPr>
            <p:spPr>
              <a:xfrm>
                <a:off x="6380825" y="6534959"/>
                <a:ext cx="308418" cy="33855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𝑗</m:t>
                      </m:r>
                    </m:oMath>
                  </m:oMathPara>
                </a14:m>
                <a:endParaRPr lang="en-US" sz="1600" b="0" dirty="0"/>
              </a:p>
            </p:txBody>
          </p:sp>
        </mc:Choice>
        <mc:Fallback xmlns="">
          <p:sp>
            <p:nvSpPr>
              <p:cNvPr id="25" name="TextBox 24">
                <a:extLst>
                  <a:ext uri="{FF2B5EF4-FFF2-40B4-BE49-F238E27FC236}">
                    <a16:creationId xmlns:a16="http://schemas.microsoft.com/office/drawing/2014/main" id="{0527A306-E3D6-F243-A3BE-77EF2F213911}"/>
                  </a:ext>
                </a:extLst>
              </p:cNvPr>
              <p:cNvSpPr txBox="1">
                <a:spLocks noRot="1" noChangeAspect="1" noMove="1" noResize="1" noEditPoints="1" noAdjustHandles="1" noChangeArrowheads="1" noChangeShapeType="1" noTextEdit="1"/>
              </p:cNvSpPr>
              <p:nvPr/>
            </p:nvSpPr>
            <p:spPr>
              <a:xfrm>
                <a:off x="6380825" y="6534959"/>
                <a:ext cx="308418" cy="338554"/>
              </a:xfrm>
              <a:prstGeom prst="rect">
                <a:avLst/>
              </a:prstGeom>
              <a:blipFill>
                <a:blip r:embed="rId12"/>
                <a:stretch>
                  <a:fillRect b="-740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B1DDD3D3-9F49-8846-A89A-37A846BE33BB}"/>
                  </a:ext>
                </a:extLst>
              </p:cNvPr>
              <p:cNvSpPr txBox="1"/>
              <p:nvPr/>
            </p:nvSpPr>
            <p:spPr>
              <a:xfrm>
                <a:off x="4574739" y="6527203"/>
                <a:ext cx="667299" cy="33855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𝑗</m:t>
                      </m:r>
                      <m:r>
                        <a:rPr lang="en-US" sz="1600" b="0" i="1" smtClean="0">
                          <a:latin typeface="Cambria Math" panose="02040503050406030204" pitchFamily="18" charset="0"/>
                        </a:rPr>
                        <m:t>−1</m:t>
                      </m:r>
                    </m:oMath>
                  </m:oMathPara>
                </a14:m>
                <a:endParaRPr lang="en-US" sz="1600" dirty="0"/>
              </a:p>
            </p:txBody>
          </p:sp>
        </mc:Choice>
        <mc:Fallback xmlns="">
          <p:sp>
            <p:nvSpPr>
              <p:cNvPr id="26" name="TextBox 25">
                <a:extLst>
                  <a:ext uri="{FF2B5EF4-FFF2-40B4-BE49-F238E27FC236}">
                    <a16:creationId xmlns:a16="http://schemas.microsoft.com/office/drawing/2014/main" id="{B1DDD3D3-9F49-8846-A89A-37A846BE33BB}"/>
                  </a:ext>
                </a:extLst>
              </p:cNvPr>
              <p:cNvSpPr txBox="1">
                <a:spLocks noRot="1" noChangeAspect="1" noMove="1" noResize="1" noEditPoints="1" noAdjustHandles="1" noChangeArrowheads="1" noChangeShapeType="1" noTextEdit="1"/>
              </p:cNvSpPr>
              <p:nvPr/>
            </p:nvSpPr>
            <p:spPr>
              <a:xfrm>
                <a:off x="4574739" y="6527203"/>
                <a:ext cx="667299" cy="338554"/>
              </a:xfrm>
              <a:prstGeom prst="rect">
                <a:avLst/>
              </a:prstGeom>
              <a:blipFill>
                <a:blip r:embed="rId13"/>
                <a:stretch>
                  <a:fillRect b="-357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4E284041-1772-464B-841E-8A43C456E131}"/>
                  </a:ext>
                </a:extLst>
              </p:cNvPr>
              <p:cNvSpPr txBox="1"/>
              <p:nvPr/>
            </p:nvSpPr>
            <p:spPr>
              <a:xfrm>
                <a:off x="6669547" y="4825116"/>
                <a:ext cx="662297" cy="33855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𝑖</m:t>
                      </m:r>
                      <m:r>
                        <a:rPr lang="en-US" sz="1600" b="0" i="1" smtClean="0">
                          <a:latin typeface="Cambria Math" panose="02040503050406030204" pitchFamily="18" charset="0"/>
                        </a:rPr>
                        <m:t>+1</m:t>
                      </m:r>
                    </m:oMath>
                  </m:oMathPara>
                </a14:m>
                <a:endParaRPr lang="en-US" sz="1600" dirty="0"/>
              </a:p>
            </p:txBody>
          </p:sp>
        </mc:Choice>
        <mc:Fallback xmlns="">
          <p:sp>
            <p:nvSpPr>
              <p:cNvPr id="27" name="TextBox 26">
                <a:extLst>
                  <a:ext uri="{FF2B5EF4-FFF2-40B4-BE49-F238E27FC236}">
                    <a16:creationId xmlns:a16="http://schemas.microsoft.com/office/drawing/2014/main" id="{4E284041-1772-464B-841E-8A43C456E131}"/>
                  </a:ext>
                </a:extLst>
              </p:cNvPr>
              <p:cNvSpPr txBox="1">
                <a:spLocks noRot="1" noChangeAspect="1" noMove="1" noResize="1" noEditPoints="1" noAdjustHandles="1" noChangeArrowheads="1" noChangeShapeType="1" noTextEdit="1"/>
              </p:cNvSpPr>
              <p:nvPr/>
            </p:nvSpPr>
            <p:spPr>
              <a:xfrm>
                <a:off x="6669547" y="4825116"/>
                <a:ext cx="662297" cy="338554"/>
              </a:xfrm>
              <a:prstGeom prst="rect">
                <a:avLst/>
              </a:prstGeom>
              <a:blipFill>
                <a:blip r:embed="rId1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2F33D91D-5E0D-974E-A3EC-C7DF5F307A05}"/>
                  </a:ext>
                </a:extLst>
              </p:cNvPr>
              <p:cNvSpPr txBox="1"/>
              <p:nvPr/>
            </p:nvSpPr>
            <p:spPr>
              <a:xfrm>
                <a:off x="5987287" y="4841281"/>
                <a:ext cx="303416" cy="33855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𝑖</m:t>
                      </m:r>
                    </m:oMath>
                  </m:oMathPara>
                </a14:m>
                <a:endParaRPr lang="en-US" sz="1600" dirty="0"/>
              </a:p>
            </p:txBody>
          </p:sp>
        </mc:Choice>
        <mc:Fallback xmlns="">
          <p:sp>
            <p:nvSpPr>
              <p:cNvPr id="28" name="TextBox 27">
                <a:extLst>
                  <a:ext uri="{FF2B5EF4-FFF2-40B4-BE49-F238E27FC236}">
                    <a16:creationId xmlns:a16="http://schemas.microsoft.com/office/drawing/2014/main" id="{2F33D91D-5E0D-974E-A3EC-C7DF5F307A05}"/>
                  </a:ext>
                </a:extLst>
              </p:cNvPr>
              <p:cNvSpPr txBox="1">
                <a:spLocks noRot="1" noChangeAspect="1" noMove="1" noResize="1" noEditPoints="1" noAdjustHandles="1" noChangeArrowheads="1" noChangeShapeType="1" noTextEdit="1"/>
              </p:cNvSpPr>
              <p:nvPr/>
            </p:nvSpPr>
            <p:spPr>
              <a:xfrm>
                <a:off x="5987287" y="4841281"/>
                <a:ext cx="303416" cy="338554"/>
              </a:xfrm>
              <a:prstGeom prst="rect">
                <a:avLst/>
              </a:prstGeom>
              <a:blipFill>
                <a:blip r:embed="rId1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B791AA7D-42AD-DE4D-82FB-C108BFDC6F22}"/>
                  </a:ext>
                </a:extLst>
              </p:cNvPr>
              <p:cNvSpPr txBox="1"/>
              <p:nvPr/>
            </p:nvSpPr>
            <p:spPr>
              <a:xfrm>
                <a:off x="5007522" y="4841032"/>
                <a:ext cx="662297" cy="33855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𝑖</m:t>
                      </m:r>
                      <m:r>
                        <a:rPr lang="en-US" sz="1600" b="0" i="1" smtClean="0">
                          <a:latin typeface="Cambria Math" panose="02040503050406030204" pitchFamily="18" charset="0"/>
                        </a:rPr>
                        <m:t>−1</m:t>
                      </m:r>
                    </m:oMath>
                  </m:oMathPara>
                </a14:m>
                <a:endParaRPr lang="en-US" sz="1600" dirty="0"/>
              </a:p>
            </p:txBody>
          </p:sp>
        </mc:Choice>
        <mc:Fallback xmlns="">
          <p:sp>
            <p:nvSpPr>
              <p:cNvPr id="29" name="TextBox 28">
                <a:extLst>
                  <a:ext uri="{FF2B5EF4-FFF2-40B4-BE49-F238E27FC236}">
                    <a16:creationId xmlns:a16="http://schemas.microsoft.com/office/drawing/2014/main" id="{B791AA7D-42AD-DE4D-82FB-C108BFDC6F22}"/>
                  </a:ext>
                </a:extLst>
              </p:cNvPr>
              <p:cNvSpPr txBox="1">
                <a:spLocks noRot="1" noChangeAspect="1" noMove="1" noResize="1" noEditPoints="1" noAdjustHandles="1" noChangeArrowheads="1" noChangeShapeType="1" noTextEdit="1"/>
              </p:cNvSpPr>
              <p:nvPr/>
            </p:nvSpPr>
            <p:spPr>
              <a:xfrm>
                <a:off x="5007522" y="4841032"/>
                <a:ext cx="662297" cy="338554"/>
              </a:xfrm>
              <a:prstGeom prst="rect">
                <a:avLst/>
              </a:prstGeom>
              <a:blipFill>
                <a:blip r:embed="rId1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58EB9C2B-D5B7-6043-9C11-D164B6B9C3D4}"/>
                  </a:ext>
                </a:extLst>
              </p:cNvPr>
              <p:cNvSpPr txBox="1"/>
              <p:nvPr/>
            </p:nvSpPr>
            <p:spPr>
              <a:xfrm>
                <a:off x="4180379" y="4825116"/>
                <a:ext cx="662297" cy="33855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𝑖</m:t>
                      </m:r>
                      <m:r>
                        <a:rPr lang="en-US" sz="1600" b="0" i="1" smtClean="0">
                          <a:latin typeface="Cambria Math" panose="02040503050406030204" pitchFamily="18" charset="0"/>
                        </a:rPr>
                        <m:t>−2</m:t>
                      </m:r>
                    </m:oMath>
                  </m:oMathPara>
                </a14:m>
                <a:endParaRPr lang="en-US" sz="1600" dirty="0"/>
              </a:p>
            </p:txBody>
          </p:sp>
        </mc:Choice>
        <mc:Fallback xmlns="">
          <p:sp>
            <p:nvSpPr>
              <p:cNvPr id="30" name="TextBox 29">
                <a:extLst>
                  <a:ext uri="{FF2B5EF4-FFF2-40B4-BE49-F238E27FC236}">
                    <a16:creationId xmlns:a16="http://schemas.microsoft.com/office/drawing/2014/main" id="{58EB9C2B-D5B7-6043-9C11-D164B6B9C3D4}"/>
                  </a:ext>
                </a:extLst>
              </p:cNvPr>
              <p:cNvSpPr txBox="1">
                <a:spLocks noRot="1" noChangeAspect="1" noMove="1" noResize="1" noEditPoints="1" noAdjustHandles="1" noChangeArrowheads="1" noChangeShapeType="1" noTextEdit="1"/>
              </p:cNvSpPr>
              <p:nvPr/>
            </p:nvSpPr>
            <p:spPr>
              <a:xfrm>
                <a:off x="4180379" y="4825116"/>
                <a:ext cx="662297" cy="338554"/>
              </a:xfrm>
              <a:prstGeom prst="rect">
                <a:avLst/>
              </a:prstGeom>
              <a:blipFill>
                <a:blip r:embed="rId17"/>
                <a:stretch>
                  <a:fillRect/>
                </a:stretch>
              </a:blipFill>
            </p:spPr>
            <p:txBody>
              <a:bodyPr/>
              <a:lstStyle/>
              <a:p>
                <a:r>
                  <a:rPr lang="en-US">
                    <a:noFill/>
                  </a:rPr>
                  <a:t> </a:t>
                </a:r>
              </a:p>
            </p:txBody>
          </p:sp>
        </mc:Fallback>
      </mc:AlternateContent>
      <p:cxnSp>
        <p:nvCxnSpPr>
          <p:cNvPr id="8" name="Straight Connector 7">
            <a:extLst>
              <a:ext uri="{FF2B5EF4-FFF2-40B4-BE49-F238E27FC236}">
                <a16:creationId xmlns:a16="http://schemas.microsoft.com/office/drawing/2014/main" id="{8F7F3AA7-8672-1640-B285-9060FE6A6C40}"/>
              </a:ext>
            </a:extLst>
          </p:cNvPr>
          <p:cNvCxnSpPr>
            <a:cxnSpLocks/>
            <a:endCxn id="13" idx="2"/>
          </p:cNvCxnSpPr>
          <p:nvPr/>
        </p:nvCxnSpPr>
        <p:spPr>
          <a:xfrm>
            <a:off x="4917233" y="5904142"/>
            <a:ext cx="3331669" cy="407026"/>
          </a:xfrm>
          <a:prstGeom prst="line">
            <a:avLst/>
          </a:prstGeom>
          <a:ln w="19050">
            <a:solidFill>
              <a:srgbClr val="FF0000"/>
            </a:solidFill>
            <a:prstDash val="sysDot"/>
          </a:ln>
        </p:spPr>
        <p:style>
          <a:lnRef idx="1">
            <a:schemeClr val="accent1"/>
          </a:lnRef>
          <a:fillRef idx="0">
            <a:schemeClr val="accent1"/>
          </a:fillRef>
          <a:effectRef idx="0">
            <a:schemeClr val="accent1"/>
          </a:effectRef>
          <a:fontRef idx="minor">
            <a:schemeClr val="tx1"/>
          </a:fontRef>
        </p:style>
      </p:cxnSp>
      <p:sp>
        <p:nvSpPr>
          <p:cNvPr id="32" name="Curved Left Arrow 31">
            <a:extLst>
              <a:ext uri="{FF2B5EF4-FFF2-40B4-BE49-F238E27FC236}">
                <a16:creationId xmlns:a16="http://schemas.microsoft.com/office/drawing/2014/main" id="{ADA57A4B-03D2-9849-8806-05AA8538F79B}"/>
              </a:ext>
            </a:extLst>
          </p:cNvPr>
          <p:cNvSpPr/>
          <p:nvPr/>
        </p:nvSpPr>
        <p:spPr>
          <a:xfrm>
            <a:off x="9523952" y="4211299"/>
            <a:ext cx="573101" cy="1932326"/>
          </a:xfrm>
          <a:prstGeom prst="curvedLeftArrow">
            <a:avLst>
              <a:gd name="adj1" fmla="val 25000"/>
              <a:gd name="adj2" fmla="val 59351"/>
              <a:gd name="adj3" fmla="val 25000"/>
            </a:avLst>
          </a:prstGeom>
          <a:gradFill flip="none" rotWithShape="1">
            <a:gsLst>
              <a:gs pos="0">
                <a:srgbClr val="FF0000">
                  <a:alpha val="38000"/>
                </a:srgbClr>
              </a:gs>
              <a:gs pos="74000">
                <a:schemeClr val="accent1">
                  <a:lumMod val="45000"/>
                  <a:lumOff val="55000"/>
                </a:schemeClr>
              </a:gs>
              <a:gs pos="83000">
                <a:schemeClr val="accent1">
                  <a:lumMod val="45000"/>
                  <a:lumOff val="55000"/>
                </a:schemeClr>
              </a:gs>
              <a:gs pos="100000">
                <a:schemeClr val="accent1">
                  <a:lumMod val="30000"/>
                  <a:lumOff val="70000"/>
                </a:schemeClr>
              </a:gs>
            </a:gsLst>
            <a:lin ang="16200000" scaled="1"/>
            <a:tileRect/>
          </a:gradFill>
          <a:scene3d>
            <a:camera prst="orthographicFront">
              <a:rot lat="10800000" lon="0" rev="0"/>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3740744064"/>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DCE2F9-F4C3-DA4C-B0FC-7FF6F22D148C}"/>
              </a:ext>
            </a:extLst>
          </p:cNvPr>
          <p:cNvSpPr>
            <a:spLocks noGrp="1"/>
          </p:cNvSpPr>
          <p:nvPr>
            <p:ph type="title"/>
          </p:nvPr>
        </p:nvSpPr>
        <p:spPr>
          <a:xfrm>
            <a:off x="838200" y="0"/>
            <a:ext cx="10515600" cy="1325563"/>
          </a:xfrm>
        </p:spPr>
        <p:txBody>
          <a:bodyPr/>
          <a:lstStyle/>
          <a:p>
            <a:r>
              <a:rPr lang="en-US" dirty="0"/>
              <a:t>Prolongation – 1D (2</a:t>
            </a:r>
            <a:r>
              <a:rPr lang="en-US" baseline="30000" dirty="0"/>
              <a:t>nd</a:t>
            </a:r>
            <a:r>
              <a:rPr lang="en-US" dirty="0"/>
              <a:t> order accuracy)</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15C4FD65-F675-944D-A379-3A5FFFAEB784}"/>
                  </a:ext>
                </a:extLst>
              </p:cNvPr>
              <p:cNvSpPr>
                <a:spLocks noGrp="1"/>
              </p:cNvSpPr>
              <p:nvPr>
                <p:ph idx="1"/>
              </p:nvPr>
            </p:nvSpPr>
            <p:spPr>
              <a:xfrm>
                <a:off x="838200" y="1325562"/>
                <a:ext cx="10515600" cy="6021911"/>
              </a:xfrm>
            </p:spPr>
            <p:txBody>
              <a:bodyPr>
                <a:normAutofit/>
              </a:bodyPr>
              <a:lstStyle/>
              <a:p>
                <a:pPr>
                  <a:lnSpc>
                    <a:spcPct val="100000"/>
                  </a:lnSpc>
                </a:pPr>
                <a:r>
                  <a:rPr lang="en-US" dirty="0"/>
                  <a:t>To second-order, we can find the values of </a:t>
                </a:r>
                <a14:m>
                  <m:oMath xmlns:m="http://schemas.openxmlformats.org/officeDocument/2006/math">
                    <m:sSubSup>
                      <m:sSubSupPr>
                        <m:ctrlPr>
                          <a:rPr lang="en-US" i="1">
                            <a:latin typeface="Cambria Math" panose="02040503050406030204" pitchFamily="18" charset="0"/>
                          </a:rPr>
                        </m:ctrlPr>
                      </m:sSubSupPr>
                      <m:e>
                        <m:r>
                          <a:rPr lang="en-US" i="1">
                            <a:latin typeface="Cambria Math" panose="02040503050406030204" pitchFamily="18" charset="0"/>
                          </a:rPr>
                          <m:t>𝜙</m:t>
                        </m:r>
                      </m:e>
                      <m:sub>
                        <m:r>
                          <a:rPr lang="en-US" i="1">
                            <a:latin typeface="Cambria Math" panose="02040503050406030204" pitchFamily="18" charset="0"/>
                          </a:rPr>
                          <m:t>𝑖</m:t>
                        </m:r>
                      </m:sub>
                      <m:sup>
                        <m:r>
                          <a:rPr lang="en-US" i="1">
                            <a:latin typeface="Cambria Math" panose="02040503050406030204" pitchFamily="18" charset="0"/>
                          </a:rPr>
                          <m:t>𝑓</m:t>
                        </m:r>
                      </m:sup>
                    </m:sSubSup>
                  </m:oMath>
                </a14:m>
                <a:r>
                  <a:rPr lang="en-US" i="1" dirty="0"/>
                  <a:t> </a:t>
                </a:r>
                <a:r>
                  <a:rPr lang="en-US" dirty="0"/>
                  <a:t>and </a:t>
                </a:r>
                <a14:m>
                  <m:oMath xmlns:m="http://schemas.openxmlformats.org/officeDocument/2006/math">
                    <m:sSubSup>
                      <m:sSubSupPr>
                        <m:ctrlPr>
                          <a:rPr lang="en-US" i="1">
                            <a:latin typeface="Cambria Math" panose="02040503050406030204" pitchFamily="18" charset="0"/>
                          </a:rPr>
                        </m:ctrlPr>
                      </m:sSubSupPr>
                      <m:e>
                        <m:r>
                          <a:rPr lang="en-US" i="1">
                            <a:latin typeface="Cambria Math" panose="02040503050406030204" pitchFamily="18" charset="0"/>
                          </a:rPr>
                          <m:t>𝜙</m:t>
                        </m:r>
                      </m:e>
                      <m:sub>
                        <m:r>
                          <a:rPr lang="en-US" i="1">
                            <a:latin typeface="Cambria Math" panose="02040503050406030204" pitchFamily="18" charset="0"/>
                          </a:rPr>
                          <m:t>𝑖</m:t>
                        </m:r>
                        <m:r>
                          <a:rPr lang="en-US" i="1">
                            <a:latin typeface="Cambria Math" panose="02040503050406030204" pitchFamily="18" charset="0"/>
                          </a:rPr>
                          <m:t>+1</m:t>
                        </m:r>
                      </m:sub>
                      <m:sup>
                        <m:r>
                          <a:rPr lang="en-US" i="1">
                            <a:latin typeface="Cambria Math" panose="02040503050406030204" pitchFamily="18" charset="0"/>
                          </a:rPr>
                          <m:t>𝑓</m:t>
                        </m:r>
                      </m:sup>
                    </m:sSubSup>
                  </m:oMath>
                </a14:m>
                <a:r>
                  <a:rPr lang="en-US" dirty="0"/>
                  <a:t>by evaluating </a:t>
                </a:r>
                <a14:m>
                  <m:oMath xmlns:m="http://schemas.openxmlformats.org/officeDocument/2006/math">
                    <m:r>
                      <a:rPr lang="en-US" b="0" i="1" smtClean="0">
                        <a:latin typeface="Cambria Math" panose="02040503050406030204" pitchFamily="18" charset="0"/>
                      </a:rPr>
                      <m:t>𝜙</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e>
                    </m:d>
                  </m:oMath>
                </a14:m>
                <a:r>
                  <a:rPr lang="en-US" dirty="0"/>
                  <a:t> at the corresponding </a:t>
                </a:r>
                <a14:m>
                  <m:oMath xmlns:m="http://schemas.openxmlformats.org/officeDocument/2006/math">
                    <m:r>
                      <a:rPr lang="en-US" b="0" i="1" smtClean="0">
                        <a:latin typeface="Cambria Math" panose="02040503050406030204" pitchFamily="18" charset="0"/>
                      </a:rPr>
                      <m:t>𝑥</m:t>
                    </m:r>
                  </m:oMath>
                </a14:m>
                <a:r>
                  <a:rPr lang="en-US" dirty="0"/>
                  <a:t> coordinates:</a:t>
                </a:r>
              </a:p>
              <a:p>
                <a:pPr marL="0" indent="0">
                  <a:lnSpc>
                    <a:spcPct val="100000"/>
                  </a:lnSpc>
                  <a:buNone/>
                </a:pPr>
                <a14:m>
                  <m:oMathPara xmlns:m="http://schemas.openxmlformats.org/officeDocument/2006/math">
                    <m:oMathParaPr>
                      <m:jc m:val="centerGroup"/>
                    </m:oMathParaPr>
                    <m:oMath xmlns:m="http://schemas.openxmlformats.org/officeDocument/2006/math">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𝑥</m:t>
                          </m:r>
                        </m:e>
                        <m:sub>
                          <m:r>
                            <a:rPr lang="en-US" b="0" i="1" smtClean="0">
                              <a:latin typeface="Cambria Math" panose="02040503050406030204" pitchFamily="18" charset="0"/>
                            </a:rPr>
                            <m:t>𝑖</m:t>
                          </m:r>
                        </m:sub>
                        <m:sup>
                          <m:r>
                            <a:rPr lang="en-US" b="0" i="1" smtClean="0">
                              <a:latin typeface="Cambria Math" panose="02040503050406030204" pitchFamily="18" charset="0"/>
                            </a:rPr>
                            <m:t>𝑓</m:t>
                          </m:r>
                        </m:sup>
                      </m:sSubSup>
                      <m:r>
                        <a:rPr lang="en-US" b="0" i="1" smtClean="0">
                          <a:latin typeface="Cambria Math" panose="02040503050406030204" pitchFamily="18" charset="0"/>
                        </a:rPr>
                        <m:t>=</m:t>
                      </m:r>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𝑥</m:t>
                          </m:r>
                        </m:e>
                        <m:sub>
                          <m:r>
                            <a:rPr lang="en-US" b="0" i="1" smtClean="0">
                              <a:latin typeface="Cambria Math" panose="02040503050406030204" pitchFamily="18" charset="0"/>
                            </a:rPr>
                            <m:t>𝑗</m:t>
                          </m:r>
                        </m:sub>
                        <m:sup>
                          <m:r>
                            <a:rPr lang="en-US" b="0" i="1" smtClean="0">
                              <a:latin typeface="Cambria Math" panose="02040503050406030204" pitchFamily="18" charset="0"/>
                            </a:rPr>
                            <m:t>𝑐</m:t>
                          </m:r>
                        </m:sup>
                      </m:sSubSup>
                      <m:r>
                        <a:rPr lang="en-US" b="0" i="1" smtClean="0">
                          <a:latin typeface="Cambria Math" panose="02040503050406030204" pitchFamily="18" charset="0"/>
                        </a:rPr>
                        <m:t>−</m:t>
                      </m:r>
                      <m:f>
                        <m:fPr>
                          <m:ctrlPr>
                            <a:rPr lang="en-US" b="0" i="1" smtClean="0">
                              <a:latin typeface="Cambria Math" panose="02040503050406030204" pitchFamily="18" charset="0"/>
                            </a:rPr>
                          </m:ctrlPr>
                        </m:fPr>
                        <m:num>
                          <m:r>
                            <m:rPr>
                              <m:sty m:val="p"/>
                            </m:rPr>
                            <a:rPr lang="en-US" b="0" i="0" smtClean="0">
                              <a:latin typeface="Cambria Math" panose="02040503050406030204" pitchFamily="18" charset="0"/>
                            </a:rPr>
                            <m:t>Δ</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𝑥</m:t>
                              </m:r>
                            </m:e>
                            <m:sup>
                              <m:r>
                                <a:rPr lang="en-US" b="0" i="1" smtClean="0">
                                  <a:latin typeface="Cambria Math" panose="02040503050406030204" pitchFamily="18" charset="0"/>
                                </a:rPr>
                                <m:t>𝑐</m:t>
                              </m:r>
                            </m:sup>
                          </m:sSup>
                        </m:num>
                        <m:den>
                          <m:r>
                            <a:rPr lang="en-US" b="0" i="1" smtClean="0">
                              <a:latin typeface="Cambria Math" panose="02040503050406030204" pitchFamily="18" charset="0"/>
                            </a:rPr>
                            <m:t>4</m:t>
                          </m:r>
                        </m:den>
                      </m:f>
                      <m:r>
                        <a:rPr lang="en-US" b="0" i="0" smtClean="0">
                          <a:latin typeface="Cambria Math" panose="02040503050406030204" pitchFamily="18" charset="0"/>
                        </a:rPr>
                        <m:t>,         </m:t>
                      </m:r>
                      <m:sSubSup>
                        <m:sSubSupPr>
                          <m:ctrlPr>
                            <a:rPr lang="en-US" i="1">
                              <a:latin typeface="Cambria Math" panose="02040503050406030204" pitchFamily="18" charset="0"/>
                            </a:rPr>
                          </m:ctrlPr>
                        </m:sSubSupPr>
                        <m:e>
                          <m:r>
                            <a:rPr lang="en-US" b="0" i="1" smtClean="0">
                              <a:latin typeface="Cambria Math" panose="02040503050406030204" pitchFamily="18" charset="0"/>
                            </a:rPr>
                            <m:t>𝑥</m:t>
                          </m:r>
                        </m:e>
                        <m:sub>
                          <m:r>
                            <a:rPr lang="en-US" i="1">
                              <a:latin typeface="Cambria Math" panose="02040503050406030204" pitchFamily="18" charset="0"/>
                            </a:rPr>
                            <m:t>𝑖</m:t>
                          </m:r>
                          <m:r>
                            <a:rPr lang="en-US" b="0" i="1" smtClean="0">
                              <a:latin typeface="Cambria Math" panose="02040503050406030204" pitchFamily="18" charset="0"/>
                            </a:rPr>
                            <m:t>+1</m:t>
                          </m:r>
                        </m:sub>
                        <m:sup>
                          <m:r>
                            <a:rPr lang="en-US" i="1">
                              <a:latin typeface="Cambria Math" panose="02040503050406030204" pitchFamily="18" charset="0"/>
                            </a:rPr>
                            <m:t>𝑓</m:t>
                          </m:r>
                        </m:sup>
                      </m:sSubSup>
                      <m:r>
                        <a:rPr lang="en-US" i="1">
                          <a:latin typeface="Cambria Math" panose="02040503050406030204" pitchFamily="18" charset="0"/>
                        </a:rPr>
                        <m:t>=</m:t>
                      </m:r>
                      <m:sSubSup>
                        <m:sSubSupPr>
                          <m:ctrlPr>
                            <a:rPr lang="en-US" i="1" smtClean="0">
                              <a:latin typeface="Cambria Math" panose="02040503050406030204" pitchFamily="18" charset="0"/>
                            </a:rPr>
                          </m:ctrlPr>
                        </m:sSubSupPr>
                        <m:e>
                          <m:r>
                            <a:rPr lang="en-US" b="0" i="1" smtClean="0">
                              <a:latin typeface="Cambria Math" panose="02040503050406030204" pitchFamily="18" charset="0"/>
                            </a:rPr>
                            <m:t>𝑥</m:t>
                          </m:r>
                        </m:e>
                        <m:sub>
                          <m:r>
                            <a:rPr lang="en-US" i="1">
                              <a:latin typeface="Cambria Math" panose="02040503050406030204" pitchFamily="18" charset="0"/>
                            </a:rPr>
                            <m:t>𝑗</m:t>
                          </m:r>
                        </m:sub>
                        <m:sup>
                          <m:r>
                            <a:rPr lang="en-US" i="1">
                              <a:latin typeface="Cambria Math" panose="02040503050406030204" pitchFamily="18" charset="0"/>
                            </a:rPr>
                            <m:t>𝑐</m:t>
                          </m:r>
                        </m:sup>
                      </m:sSubSup>
                      <m:r>
                        <a:rPr lang="en-US" b="0" i="1" smtClean="0">
                          <a:latin typeface="Cambria Math" panose="02040503050406030204" pitchFamily="18" charset="0"/>
                        </a:rPr>
                        <m:t>+</m:t>
                      </m:r>
                      <m:f>
                        <m:fPr>
                          <m:ctrlPr>
                            <a:rPr lang="en-US" i="1">
                              <a:latin typeface="Cambria Math" panose="02040503050406030204" pitchFamily="18" charset="0"/>
                            </a:rPr>
                          </m:ctrlPr>
                        </m:fPr>
                        <m:num>
                          <m:r>
                            <m:rPr>
                              <m:sty m:val="p"/>
                            </m:rPr>
                            <a:rPr lang="en-US">
                              <a:latin typeface="Cambria Math" panose="02040503050406030204" pitchFamily="18" charset="0"/>
                            </a:rPr>
                            <m:t>Δ</m:t>
                          </m:r>
                          <m:sSup>
                            <m:sSupPr>
                              <m:ctrlPr>
                                <a:rPr lang="en-US" i="1">
                                  <a:latin typeface="Cambria Math" panose="02040503050406030204" pitchFamily="18" charset="0"/>
                                </a:rPr>
                              </m:ctrlPr>
                            </m:sSupPr>
                            <m:e>
                              <m:r>
                                <a:rPr lang="en-US" i="1">
                                  <a:latin typeface="Cambria Math" panose="02040503050406030204" pitchFamily="18" charset="0"/>
                                </a:rPr>
                                <m:t>𝑥</m:t>
                              </m:r>
                            </m:e>
                            <m:sup>
                              <m:r>
                                <a:rPr lang="en-US" i="1">
                                  <a:latin typeface="Cambria Math" panose="02040503050406030204" pitchFamily="18" charset="0"/>
                                </a:rPr>
                                <m:t>𝑐</m:t>
                              </m:r>
                            </m:sup>
                          </m:sSup>
                        </m:num>
                        <m:den>
                          <m:r>
                            <a:rPr lang="en-US" i="1">
                              <a:latin typeface="Cambria Math" panose="02040503050406030204" pitchFamily="18" charset="0"/>
                            </a:rPr>
                            <m:t>4</m:t>
                          </m:r>
                        </m:den>
                      </m:f>
                    </m:oMath>
                  </m:oMathPara>
                </a14:m>
                <a:endParaRPr lang="en-US" dirty="0"/>
              </a:p>
              <a:p>
                <a:pPr marL="0" indent="0">
                  <a:lnSpc>
                    <a:spcPct val="100000"/>
                  </a:lnSpc>
                  <a:buNone/>
                </a:pPr>
                <a:endParaRPr lang="en-US" dirty="0"/>
              </a:p>
            </p:txBody>
          </p:sp>
        </mc:Choice>
        <mc:Fallback>
          <p:sp>
            <p:nvSpPr>
              <p:cNvPr id="3" name="Content Placeholder 2">
                <a:extLst>
                  <a:ext uri="{FF2B5EF4-FFF2-40B4-BE49-F238E27FC236}">
                    <a16:creationId xmlns:a16="http://schemas.microsoft.com/office/drawing/2014/main" id="{15C4FD65-F675-944D-A379-3A5FFFAEB784}"/>
                  </a:ext>
                </a:extLst>
              </p:cNvPr>
              <p:cNvSpPr>
                <a:spLocks noGrp="1" noRot="1" noChangeAspect="1" noMove="1" noResize="1" noEditPoints="1" noAdjustHandles="1" noChangeArrowheads="1" noChangeShapeType="1" noTextEdit="1"/>
              </p:cNvSpPr>
              <p:nvPr>
                <p:ph idx="1"/>
              </p:nvPr>
            </p:nvSpPr>
            <p:spPr>
              <a:xfrm>
                <a:off x="838200" y="1325562"/>
                <a:ext cx="10515600" cy="6021911"/>
              </a:xfrm>
              <a:blipFill>
                <a:blip r:embed="rId2"/>
                <a:stretch>
                  <a:fillRect l="-965"/>
                </a:stretch>
              </a:blipFill>
            </p:spPr>
            <p:txBody>
              <a:bodyPr/>
              <a:lstStyle/>
              <a:p>
                <a:r>
                  <a:rPr lang="en-US">
                    <a:noFill/>
                  </a:rPr>
                  <a:t> </a:t>
                </a:r>
              </a:p>
            </p:txBody>
          </p:sp>
        </mc:Fallback>
      </mc:AlternateContent>
      <p:sp>
        <p:nvSpPr>
          <p:cNvPr id="18" name="Rectangle 17">
            <a:extLst>
              <a:ext uri="{FF2B5EF4-FFF2-40B4-BE49-F238E27FC236}">
                <a16:creationId xmlns:a16="http://schemas.microsoft.com/office/drawing/2014/main" id="{47792CBD-2A22-3A4C-AAE7-0FCBE17F4021}"/>
              </a:ext>
            </a:extLst>
          </p:cNvPr>
          <p:cNvSpPr/>
          <p:nvPr/>
        </p:nvSpPr>
        <p:spPr>
          <a:xfrm>
            <a:off x="969300" y="6630179"/>
            <a:ext cx="1109962" cy="16927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A26B319A-F77B-7C4E-A31D-919A5E34AD07}"/>
              </a:ext>
            </a:extLst>
          </p:cNvPr>
          <p:cNvSpPr/>
          <p:nvPr/>
        </p:nvSpPr>
        <p:spPr>
          <a:xfrm>
            <a:off x="2699032" y="6621414"/>
            <a:ext cx="1109962" cy="16927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9" name="Picture 28">
            <a:extLst>
              <a:ext uri="{FF2B5EF4-FFF2-40B4-BE49-F238E27FC236}">
                <a16:creationId xmlns:a16="http://schemas.microsoft.com/office/drawing/2014/main" id="{DFA3907C-21B6-9449-BF0E-BB50BCB6FBB4}"/>
              </a:ext>
            </a:extLst>
          </p:cNvPr>
          <p:cNvPicPr>
            <a:picLocks noChangeAspect="1"/>
          </p:cNvPicPr>
          <p:nvPr/>
        </p:nvPicPr>
        <p:blipFill rotWithShape="1">
          <a:blip r:embed="rId3"/>
          <a:srcRect b="8341"/>
          <a:stretch/>
        </p:blipFill>
        <p:spPr>
          <a:xfrm>
            <a:off x="3399417" y="3311788"/>
            <a:ext cx="4642730" cy="3546212"/>
          </a:xfrm>
          <a:prstGeom prst="rect">
            <a:avLst/>
          </a:prstGeom>
        </p:spPr>
      </p:pic>
      <p:cxnSp>
        <p:nvCxnSpPr>
          <p:cNvPr id="30" name="Straight Connector 29">
            <a:extLst>
              <a:ext uri="{FF2B5EF4-FFF2-40B4-BE49-F238E27FC236}">
                <a16:creationId xmlns:a16="http://schemas.microsoft.com/office/drawing/2014/main" id="{F8CAECA4-D3A7-8946-A9FD-9CD414038E44}"/>
              </a:ext>
            </a:extLst>
          </p:cNvPr>
          <p:cNvCxnSpPr/>
          <p:nvPr/>
        </p:nvCxnSpPr>
        <p:spPr>
          <a:xfrm>
            <a:off x="4055633" y="6551407"/>
            <a:ext cx="5099125"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56FE7829-3FE5-4243-A1D8-00CE962BAB68}"/>
              </a:ext>
            </a:extLst>
          </p:cNvPr>
          <p:cNvCxnSpPr>
            <a:cxnSpLocks/>
          </p:cNvCxnSpPr>
          <p:nvPr/>
        </p:nvCxnSpPr>
        <p:spPr>
          <a:xfrm>
            <a:off x="9034137" y="5658523"/>
            <a:ext cx="0" cy="882127"/>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1D608032-3FD3-734F-A61E-79EDDFEEAD11}"/>
                  </a:ext>
                </a:extLst>
              </p:cNvPr>
              <p:cNvSpPr txBox="1"/>
              <p:nvPr/>
            </p:nvSpPr>
            <p:spPr>
              <a:xfrm>
                <a:off x="7899351" y="5909520"/>
                <a:ext cx="699101" cy="40164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𝜙</m:t>
                          </m:r>
                        </m:e>
                        <m:sub>
                          <m:r>
                            <a:rPr lang="en-US" b="0" i="1" smtClean="0">
                              <a:latin typeface="Cambria Math" panose="02040503050406030204" pitchFamily="18" charset="0"/>
                            </a:rPr>
                            <m:t>𝑗</m:t>
                          </m:r>
                          <m:r>
                            <a:rPr lang="en-US" b="0" i="1" smtClean="0">
                              <a:latin typeface="Cambria Math" panose="02040503050406030204" pitchFamily="18" charset="0"/>
                            </a:rPr>
                            <m:t>+1</m:t>
                          </m:r>
                        </m:sub>
                        <m:sup>
                          <m:r>
                            <a:rPr lang="en-US" b="0" i="1" smtClean="0">
                              <a:latin typeface="Cambria Math" panose="02040503050406030204" pitchFamily="18" charset="0"/>
                            </a:rPr>
                            <m:t>𝑐</m:t>
                          </m:r>
                        </m:sup>
                      </m:sSubSup>
                    </m:oMath>
                  </m:oMathPara>
                </a14:m>
                <a:endParaRPr lang="en-US" dirty="0"/>
              </a:p>
            </p:txBody>
          </p:sp>
        </mc:Choice>
        <mc:Fallback xmlns="">
          <p:sp>
            <p:nvSpPr>
              <p:cNvPr id="32" name="TextBox 31">
                <a:extLst>
                  <a:ext uri="{FF2B5EF4-FFF2-40B4-BE49-F238E27FC236}">
                    <a16:creationId xmlns:a16="http://schemas.microsoft.com/office/drawing/2014/main" id="{1D608032-3FD3-734F-A61E-79EDDFEEAD11}"/>
                  </a:ext>
                </a:extLst>
              </p:cNvPr>
              <p:cNvSpPr txBox="1">
                <a:spLocks noRot="1" noChangeAspect="1" noMove="1" noResize="1" noEditPoints="1" noAdjustHandles="1" noChangeArrowheads="1" noChangeShapeType="1" noTextEdit="1"/>
              </p:cNvSpPr>
              <p:nvPr/>
            </p:nvSpPr>
            <p:spPr>
              <a:xfrm>
                <a:off x="7899351" y="5909520"/>
                <a:ext cx="699101" cy="401648"/>
              </a:xfrm>
              <a:prstGeom prst="rect">
                <a:avLst/>
              </a:prstGeom>
              <a:blipFill>
                <a:blip r:embed="rId4"/>
                <a:stretch>
                  <a:fillRect b="-303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115ABADF-AAA2-E647-A29F-DCD25C465E26}"/>
                  </a:ext>
                </a:extLst>
              </p:cNvPr>
              <p:cNvSpPr txBox="1"/>
              <p:nvPr/>
            </p:nvSpPr>
            <p:spPr>
              <a:xfrm>
                <a:off x="6323751" y="5904142"/>
                <a:ext cx="503921" cy="401648"/>
              </a:xfrm>
              <a:prstGeom prst="rect">
                <a:avLst/>
              </a:prstGeom>
              <a:solidFill>
                <a:schemeClr val="bg1"/>
              </a:solid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𝜙</m:t>
                          </m:r>
                        </m:e>
                        <m:sub>
                          <m:r>
                            <a:rPr lang="en-US" b="0" i="1" smtClean="0">
                              <a:latin typeface="Cambria Math" panose="02040503050406030204" pitchFamily="18" charset="0"/>
                            </a:rPr>
                            <m:t>𝑗</m:t>
                          </m:r>
                        </m:sub>
                        <m:sup>
                          <m:r>
                            <a:rPr lang="en-US" b="0" i="1" smtClean="0">
                              <a:latin typeface="Cambria Math" panose="02040503050406030204" pitchFamily="18" charset="0"/>
                            </a:rPr>
                            <m:t>𝑐</m:t>
                          </m:r>
                        </m:sup>
                      </m:sSubSup>
                    </m:oMath>
                  </m:oMathPara>
                </a14:m>
                <a:endParaRPr lang="en-US" dirty="0"/>
              </a:p>
            </p:txBody>
          </p:sp>
        </mc:Choice>
        <mc:Fallback xmlns="">
          <p:sp>
            <p:nvSpPr>
              <p:cNvPr id="33" name="TextBox 32">
                <a:extLst>
                  <a:ext uri="{FF2B5EF4-FFF2-40B4-BE49-F238E27FC236}">
                    <a16:creationId xmlns:a16="http://schemas.microsoft.com/office/drawing/2014/main" id="{115ABADF-AAA2-E647-A29F-DCD25C465E26}"/>
                  </a:ext>
                </a:extLst>
              </p:cNvPr>
              <p:cNvSpPr txBox="1">
                <a:spLocks noRot="1" noChangeAspect="1" noMove="1" noResize="1" noEditPoints="1" noAdjustHandles="1" noChangeArrowheads="1" noChangeShapeType="1" noTextEdit="1"/>
              </p:cNvSpPr>
              <p:nvPr/>
            </p:nvSpPr>
            <p:spPr>
              <a:xfrm>
                <a:off x="6323751" y="5904142"/>
                <a:ext cx="503921" cy="401648"/>
              </a:xfrm>
              <a:prstGeom prst="rect">
                <a:avLst/>
              </a:prstGeom>
              <a:blipFill>
                <a:blip r:embed="rId5"/>
                <a:stretch>
                  <a:fillRect b="-3030"/>
                </a:stretch>
              </a:blipFill>
            </p:spPr>
            <p:txBody>
              <a:bodyPr/>
              <a:lstStyle/>
              <a:p>
                <a:r>
                  <a:rPr lang="en-US">
                    <a:noFill/>
                  </a:rPr>
                  <a:t> </a:t>
                </a:r>
              </a:p>
            </p:txBody>
          </p:sp>
        </mc:Fallback>
      </mc:AlternateContent>
      <p:sp>
        <p:nvSpPr>
          <p:cNvPr id="34" name="Rectangle 33">
            <a:extLst>
              <a:ext uri="{FF2B5EF4-FFF2-40B4-BE49-F238E27FC236}">
                <a16:creationId xmlns:a16="http://schemas.microsoft.com/office/drawing/2014/main" id="{3041E0E9-DA5F-3C40-B1F7-DB7DC3E662A8}"/>
              </a:ext>
            </a:extLst>
          </p:cNvPr>
          <p:cNvSpPr/>
          <p:nvPr/>
        </p:nvSpPr>
        <p:spPr>
          <a:xfrm>
            <a:off x="5720782" y="5669280"/>
            <a:ext cx="1648206" cy="892885"/>
          </a:xfrm>
          <a:prstGeom prst="rect">
            <a:avLst/>
          </a:prstGeom>
          <a:solidFill>
            <a:srgbClr val="4472C4">
              <a:alpha val="32157"/>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3CDD8AC6-A69C-2A47-93FC-2307489DBFCD}"/>
                  </a:ext>
                </a:extLst>
              </p:cNvPr>
              <p:cNvSpPr txBox="1"/>
              <p:nvPr/>
            </p:nvSpPr>
            <p:spPr>
              <a:xfrm>
                <a:off x="4558838" y="5909520"/>
                <a:ext cx="699102" cy="401648"/>
              </a:xfrm>
              <a:prstGeom prst="rect">
                <a:avLst/>
              </a:prstGeom>
              <a:solidFill>
                <a:schemeClr val="bg1"/>
              </a:solid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𝜙</m:t>
                          </m:r>
                        </m:e>
                        <m:sub>
                          <m:r>
                            <a:rPr lang="en-US" b="0" i="1" smtClean="0">
                              <a:latin typeface="Cambria Math" panose="02040503050406030204" pitchFamily="18" charset="0"/>
                            </a:rPr>
                            <m:t>𝑗</m:t>
                          </m:r>
                          <m:r>
                            <a:rPr lang="en-US" b="0" i="1" smtClean="0">
                              <a:latin typeface="Cambria Math" panose="02040503050406030204" pitchFamily="18" charset="0"/>
                            </a:rPr>
                            <m:t>−1</m:t>
                          </m:r>
                        </m:sub>
                        <m:sup>
                          <m:r>
                            <a:rPr lang="en-US" b="0" i="1" smtClean="0">
                              <a:latin typeface="Cambria Math" panose="02040503050406030204" pitchFamily="18" charset="0"/>
                            </a:rPr>
                            <m:t>𝑐</m:t>
                          </m:r>
                        </m:sup>
                      </m:sSubSup>
                    </m:oMath>
                  </m:oMathPara>
                </a14:m>
                <a:endParaRPr lang="en-US" dirty="0"/>
              </a:p>
            </p:txBody>
          </p:sp>
        </mc:Choice>
        <mc:Fallback xmlns="">
          <p:sp>
            <p:nvSpPr>
              <p:cNvPr id="35" name="TextBox 34">
                <a:extLst>
                  <a:ext uri="{FF2B5EF4-FFF2-40B4-BE49-F238E27FC236}">
                    <a16:creationId xmlns:a16="http://schemas.microsoft.com/office/drawing/2014/main" id="{3CDD8AC6-A69C-2A47-93FC-2307489DBFCD}"/>
                  </a:ext>
                </a:extLst>
              </p:cNvPr>
              <p:cNvSpPr txBox="1">
                <a:spLocks noRot="1" noChangeAspect="1" noMove="1" noResize="1" noEditPoints="1" noAdjustHandles="1" noChangeArrowheads="1" noChangeShapeType="1" noTextEdit="1"/>
              </p:cNvSpPr>
              <p:nvPr/>
            </p:nvSpPr>
            <p:spPr>
              <a:xfrm>
                <a:off x="4558838" y="5909520"/>
                <a:ext cx="699102" cy="401648"/>
              </a:xfrm>
              <a:prstGeom prst="rect">
                <a:avLst/>
              </a:prstGeom>
              <a:blipFill>
                <a:blip r:embed="rId6"/>
                <a:stretch>
                  <a:fillRect b="-303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328C1E14-C664-9D49-9C0F-0A07609873C0}"/>
                  </a:ext>
                </a:extLst>
              </p:cNvPr>
              <p:cNvSpPr txBox="1"/>
              <p:nvPr/>
            </p:nvSpPr>
            <p:spPr>
              <a:xfrm>
                <a:off x="4130331" y="4146194"/>
                <a:ext cx="679866" cy="434478"/>
              </a:xfrm>
              <a:prstGeom prst="rect">
                <a:avLst/>
              </a:prstGeom>
              <a:solidFill>
                <a:schemeClr val="bg1"/>
              </a:solid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𝜙</m:t>
                          </m:r>
                        </m:e>
                        <m:sub>
                          <m:r>
                            <a:rPr lang="en-US" b="0" i="1" smtClean="0">
                              <a:latin typeface="Cambria Math" panose="02040503050406030204" pitchFamily="18" charset="0"/>
                            </a:rPr>
                            <m:t>𝑖</m:t>
                          </m:r>
                          <m:r>
                            <a:rPr lang="en-US" b="0" i="1" smtClean="0">
                              <a:latin typeface="Cambria Math" panose="02040503050406030204" pitchFamily="18" charset="0"/>
                            </a:rPr>
                            <m:t>−2</m:t>
                          </m:r>
                        </m:sub>
                        <m:sup>
                          <m:r>
                            <a:rPr lang="en-US" b="0" i="1" smtClean="0">
                              <a:latin typeface="Cambria Math" panose="02040503050406030204" pitchFamily="18" charset="0"/>
                            </a:rPr>
                            <m:t>𝑓</m:t>
                          </m:r>
                        </m:sup>
                      </m:sSubSup>
                    </m:oMath>
                  </m:oMathPara>
                </a14:m>
                <a:endParaRPr lang="en-US" dirty="0"/>
              </a:p>
            </p:txBody>
          </p:sp>
        </mc:Choice>
        <mc:Fallback xmlns="">
          <p:sp>
            <p:nvSpPr>
              <p:cNvPr id="36" name="TextBox 35">
                <a:extLst>
                  <a:ext uri="{FF2B5EF4-FFF2-40B4-BE49-F238E27FC236}">
                    <a16:creationId xmlns:a16="http://schemas.microsoft.com/office/drawing/2014/main" id="{328C1E14-C664-9D49-9C0F-0A07609873C0}"/>
                  </a:ext>
                </a:extLst>
              </p:cNvPr>
              <p:cNvSpPr txBox="1">
                <a:spLocks noRot="1" noChangeAspect="1" noMove="1" noResize="1" noEditPoints="1" noAdjustHandles="1" noChangeArrowheads="1" noChangeShapeType="1" noTextEdit="1"/>
              </p:cNvSpPr>
              <p:nvPr/>
            </p:nvSpPr>
            <p:spPr>
              <a:xfrm>
                <a:off x="4130331" y="4146194"/>
                <a:ext cx="679866" cy="434478"/>
              </a:xfrm>
              <a:prstGeom prst="rect">
                <a:avLst/>
              </a:prstGeom>
              <a:blipFill>
                <a:blip r:embed="rId7"/>
                <a:stretch>
                  <a:fillRect b="-555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D17F135B-123F-404F-AECC-FF37C1462118}"/>
                  </a:ext>
                </a:extLst>
              </p:cNvPr>
              <p:cNvSpPr txBox="1"/>
              <p:nvPr/>
            </p:nvSpPr>
            <p:spPr>
              <a:xfrm>
                <a:off x="4996479" y="4150365"/>
                <a:ext cx="679866" cy="434478"/>
              </a:xfrm>
              <a:prstGeom prst="rect">
                <a:avLst/>
              </a:prstGeom>
              <a:solidFill>
                <a:schemeClr val="bg1"/>
              </a:solid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𝜙</m:t>
                          </m:r>
                        </m:e>
                        <m:sub>
                          <m:r>
                            <a:rPr lang="en-US" b="0" i="1" smtClean="0">
                              <a:latin typeface="Cambria Math" panose="02040503050406030204" pitchFamily="18" charset="0"/>
                            </a:rPr>
                            <m:t>𝑖</m:t>
                          </m:r>
                          <m:r>
                            <a:rPr lang="en-US" b="0" i="1" smtClean="0">
                              <a:latin typeface="Cambria Math" panose="02040503050406030204" pitchFamily="18" charset="0"/>
                            </a:rPr>
                            <m:t>−1</m:t>
                          </m:r>
                        </m:sub>
                        <m:sup>
                          <m:r>
                            <a:rPr lang="en-US" b="0" i="1" smtClean="0">
                              <a:latin typeface="Cambria Math" panose="02040503050406030204" pitchFamily="18" charset="0"/>
                            </a:rPr>
                            <m:t>𝑓</m:t>
                          </m:r>
                        </m:sup>
                      </m:sSubSup>
                    </m:oMath>
                  </m:oMathPara>
                </a14:m>
                <a:endParaRPr lang="en-US" dirty="0"/>
              </a:p>
            </p:txBody>
          </p:sp>
        </mc:Choice>
        <mc:Fallback xmlns="">
          <p:sp>
            <p:nvSpPr>
              <p:cNvPr id="37" name="TextBox 36">
                <a:extLst>
                  <a:ext uri="{FF2B5EF4-FFF2-40B4-BE49-F238E27FC236}">
                    <a16:creationId xmlns:a16="http://schemas.microsoft.com/office/drawing/2014/main" id="{D17F135B-123F-404F-AECC-FF37C1462118}"/>
                  </a:ext>
                </a:extLst>
              </p:cNvPr>
              <p:cNvSpPr txBox="1">
                <a:spLocks noRot="1" noChangeAspect="1" noMove="1" noResize="1" noEditPoints="1" noAdjustHandles="1" noChangeArrowheads="1" noChangeShapeType="1" noTextEdit="1"/>
              </p:cNvSpPr>
              <p:nvPr/>
            </p:nvSpPr>
            <p:spPr>
              <a:xfrm>
                <a:off x="4996479" y="4150365"/>
                <a:ext cx="679866" cy="434478"/>
              </a:xfrm>
              <a:prstGeom prst="rect">
                <a:avLst/>
              </a:prstGeom>
              <a:blipFill>
                <a:blip r:embed="rId8"/>
                <a:stretch>
                  <a:fillRect b="-571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ED5BEC21-724E-2F49-ADC5-0B8B8BAF217E}"/>
                  </a:ext>
                </a:extLst>
              </p:cNvPr>
              <p:cNvSpPr txBox="1"/>
              <p:nvPr/>
            </p:nvSpPr>
            <p:spPr>
              <a:xfrm>
                <a:off x="5910276" y="4146194"/>
                <a:ext cx="525657" cy="434478"/>
              </a:xfrm>
              <a:prstGeom prst="rect">
                <a:avLst/>
              </a:prstGeom>
              <a:solidFill>
                <a:schemeClr val="bg1"/>
              </a:solid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𝜙</m:t>
                          </m:r>
                        </m:e>
                        <m:sub>
                          <m:r>
                            <a:rPr lang="en-US" b="0" i="1" smtClean="0">
                              <a:latin typeface="Cambria Math" panose="02040503050406030204" pitchFamily="18" charset="0"/>
                            </a:rPr>
                            <m:t>𝑖</m:t>
                          </m:r>
                        </m:sub>
                        <m:sup>
                          <m:r>
                            <a:rPr lang="en-US" b="0" i="1" smtClean="0">
                              <a:latin typeface="Cambria Math" panose="02040503050406030204" pitchFamily="18" charset="0"/>
                            </a:rPr>
                            <m:t>𝑓</m:t>
                          </m:r>
                        </m:sup>
                      </m:sSubSup>
                    </m:oMath>
                  </m:oMathPara>
                </a14:m>
                <a:endParaRPr lang="en-US" dirty="0"/>
              </a:p>
            </p:txBody>
          </p:sp>
        </mc:Choice>
        <mc:Fallback xmlns="">
          <p:sp>
            <p:nvSpPr>
              <p:cNvPr id="38" name="TextBox 37">
                <a:extLst>
                  <a:ext uri="{FF2B5EF4-FFF2-40B4-BE49-F238E27FC236}">
                    <a16:creationId xmlns:a16="http://schemas.microsoft.com/office/drawing/2014/main" id="{ED5BEC21-724E-2F49-ADC5-0B8B8BAF217E}"/>
                  </a:ext>
                </a:extLst>
              </p:cNvPr>
              <p:cNvSpPr txBox="1">
                <a:spLocks noRot="1" noChangeAspect="1" noMove="1" noResize="1" noEditPoints="1" noAdjustHandles="1" noChangeArrowheads="1" noChangeShapeType="1" noTextEdit="1"/>
              </p:cNvSpPr>
              <p:nvPr/>
            </p:nvSpPr>
            <p:spPr>
              <a:xfrm>
                <a:off x="5910276" y="4146194"/>
                <a:ext cx="525657" cy="434478"/>
              </a:xfrm>
              <a:prstGeom prst="rect">
                <a:avLst/>
              </a:prstGeom>
              <a:blipFill>
                <a:blip r:embed="rId9"/>
                <a:stretch>
                  <a:fillRect b="-555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9" name="TextBox 38">
                <a:extLst>
                  <a:ext uri="{FF2B5EF4-FFF2-40B4-BE49-F238E27FC236}">
                    <a16:creationId xmlns:a16="http://schemas.microsoft.com/office/drawing/2014/main" id="{6C40D5D9-3674-2648-A712-290761FF2AAC}"/>
                  </a:ext>
                </a:extLst>
              </p:cNvPr>
              <p:cNvSpPr txBox="1"/>
              <p:nvPr/>
            </p:nvSpPr>
            <p:spPr>
              <a:xfrm>
                <a:off x="6622215" y="4156952"/>
                <a:ext cx="679866" cy="434478"/>
              </a:xfrm>
              <a:prstGeom prst="rect">
                <a:avLst/>
              </a:prstGeom>
              <a:solidFill>
                <a:schemeClr val="bg1"/>
              </a:solid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𝜙</m:t>
                          </m:r>
                        </m:e>
                        <m:sub>
                          <m:r>
                            <a:rPr lang="en-US" b="0" i="1" smtClean="0">
                              <a:latin typeface="Cambria Math" panose="02040503050406030204" pitchFamily="18" charset="0"/>
                            </a:rPr>
                            <m:t>𝑖</m:t>
                          </m:r>
                          <m:r>
                            <a:rPr lang="en-US" b="0" i="1" smtClean="0">
                              <a:latin typeface="Cambria Math" panose="02040503050406030204" pitchFamily="18" charset="0"/>
                            </a:rPr>
                            <m:t>+1</m:t>
                          </m:r>
                        </m:sub>
                        <m:sup>
                          <m:r>
                            <a:rPr lang="en-US" b="0" i="1" smtClean="0">
                              <a:latin typeface="Cambria Math" panose="02040503050406030204" pitchFamily="18" charset="0"/>
                            </a:rPr>
                            <m:t>𝑓</m:t>
                          </m:r>
                        </m:sup>
                      </m:sSubSup>
                    </m:oMath>
                  </m:oMathPara>
                </a14:m>
                <a:endParaRPr lang="en-US" dirty="0"/>
              </a:p>
            </p:txBody>
          </p:sp>
        </mc:Choice>
        <mc:Fallback xmlns="">
          <p:sp>
            <p:nvSpPr>
              <p:cNvPr id="39" name="TextBox 38">
                <a:extLst>
                  <a:ext uri="{FF2B5EF4-FFF2-40B4-BE49-F238E27FC236}">
                    <a16:creationId xmlns:a16="http://schemas.microsoft.com/office/drawing/2014/main" id="{6C40D5D9-3674-2648-A712-290761FF2AAC}"/>
                  </a:ext>
                </a:extLst>
              </p:cNvPr>
              <p:cNvSpPr txBox="1">
                <a:spLocks noRot="1" noChangeAspect="1" noMove="1" noResize="1" noEditPoints="1" noAdjustHandles="1" noChangeArrowheads="1" noChangeShapeType="1" noTextEdit="1"/>
              </p:cNvSpPr>
              <p:nvPr/>
            </p:nvSpPr>
            <p:spPr>
              <a:xfrm>
                <a:off x="6622215" y="4156952"/>
                <a:ext cx="679866" cy="434478"/>
              </a:xfrm>
              <a:prstGeom prst="rect">
                <a:avLst/>
              </a:prstGeom>
              <a:blipFill>
                <a:blip r:embed="rId10"/>
                <a:stretch>
                  <a:fillRect b="-5556"/>
                </a:stretch>
              </a:blipFill>
            </p:spPr>
            <p:txBody>
              <a:bodyPr/>
              <a:lstStyle/>
              <a:p>
                <a:r>
                  <a:rPr lang="en-US">
                    <a:noFill/>
                  </a:rPr>
                  <a:t> </a:t>
                </a:r>
              </a:p>
            </p:txBody>
          </p:sp>
        </mc:Fallback>
      </mc:AlternateContent>
      <p:sp>
        <p:nvSpPr>
          <p:cNvPr id="40" name="Rectangle 39">
            <a:extLst>
              <a:ext uri="{FF2B5EF4-FFF2-40B4-BE49-F238E27FC236}">
                <a16:creationId xmlns:a16="http://schemas.microsoft.com/office/drawing/2014/main" id="{2D8B2AC9-0BBA-DD44-BFD5-921196744D7F}"/>
              </a:ext>
            </a:extLst>
          </p:cNvPr>
          <p:cNvSpPr/>
          <p:nvPr/>
        </p:nvSpPr>
        <p:spPr>
          <a:xfrm>
            <a:off x="5720782" y="3926541"/>
            <a:ext cx="1648206" cy="882127"/>
          </a:xfrm>
          <a:prstGeom prst="rect">
            <a:avLst/>
          </a:prstGeom>
          <a:solidFill>
            <a:srgbClr val="FF0000">
              <a:alpha val="32157"/>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F4ECEE72-4F52-8A49-9F85-B0F1521A40E0}"/>
                  </a:ext>
                </a:extLst>
              </p:cNvPr>
              <p:cNvSpPr txBox="1"/>
              <p:nvPr/>
            </p:nvSpPr>
            <p:spPr>
              <a:xfrm>
                <a:off x="7896378" y="6501914"/>
                <a:ext cx="667299" cy="33855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𝑗</m:t>
                      </m:r>
                      <m:r>
                        <a:rPr lang="en-US" sz="1600" b="0" i="1" smtClean="0">
                          <a:latin typeface="Cambria Math" panose="02040503050406030204" pitchFamily="18" charset="0"/>
                        </a:rPr>
                        <m:t>+1</m:t>
                      </m:r>
                    </m:oMath>
                  </m:oMathPara>
                </a14:m>
                <a:endParaRPr lang="en-US" sz="1600" dirty="0"/>
              </a:p>
            </p:txBody>
          </p:sp>
        </mc:Choice>
        <mc:Fallback xmlns="">
          <p:sp>
            <p:nvSpPr>
              <p:cNvPr id="41" name="TextBox 40">
                <a:extLst>
                  <a:ext uri="{FF2B5EF4-FFF2-40B4-BE49-F238E27FC236}">
                    <a16:creationId xmlns:a16="http://schemas.microsoft.com/office/drawing/2014/main" id="{F4ECEE72-4F52-8A49-9F85-B0F1521A40E0}"/>
                  </a:ext>
                </a:extLst>
              </p:cNvPr>
              <p:cNvSpPr txBox="1">
                <a:spLocks noRot="1" noChangeAspect="1" noMove="1" noResize="1" noEditPoints="1" noAdjustHandles="1" noChangeArrowheads="1" noChangeShapeType="1" noTextEdit="1"/>
              </p:cNvSpPr>
              <p:nvPr/>
            </p:nvSpPr>
            <p:spPr>
              <a:xfrm>
                <a:off x="7896378" y="6501914"/>
                <a:ext cx="667299" cy="338554"/>
              </a:xfrm>
              <a:prstGeom prst="rect">
                <a:avLst/>
              </a:prstGeom>
              <a:blipFill>
                <a:blip r:embed="rId11"/>
                <a:stretch>
                  <a:fillRect b="-3571"/>
                </a:stretch>
              </a:blipFill>
            </p:spPr>
            <p:txBody>
              <a:bodyPr/>
              <a:lstStyle/>
              <a:p>
                <a:r>
                  <a:rPr lang="en-US">
                    <a:noFill/>
                  </a:rPr>
                  <a:t> </a:t>
                </a:r>
              </a:p>
            </p:txBody>
          </p:sp>
        </mc:Fallback>
      </mc:AlternateContent>
      <p:sp>
        <p:nvSpPr>
          <p:cNvPr id="42" name="Rectangle 41">
            <a:extLst>
              <a:ext uri="{FF2B5EF4-FFF2-40B4-BE49-F238E27FC236}">
                <a16:creationId xmlns:a16="http://schemas.microsoft.com/office/drawing/2014/main" id="{9F5AF802-2148-3343-9745-954ACBCB6CD5}"/>
              </a:ext>
            </a:extLst>
          </p:cNvPr>
          <p:cNvSpPr/>
          <p:nvPr/>
        </p:nvSpPr>
        <p:spPr>
          <a:xfrm>
            <a:off x="4147978" y="4907163"/>
            <a:ext cx="1252982" cy="20629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ctangle 42">
            <a:extLst>
              <a:ext uri="{FF2B5EF4-FFF2-40B4-BE49-F238E27FC236}">
                <a16:creationId xmlns:a16="http://schemas.microsoft.com/office/drawing/2014/main" id="{68389DEF-1987-A047-ADEB-E9C387EAC4A6}"/>
              </a:ext>
            </a:extLst>
          </p:cNvPr>
          <p:cNvSpPr/>
          <p:nvPr/>
        </p:nvSpPr>
        <p:spPr>
          <a:xfrm>
            <a:off x="5877710" y="4898398"/>
            <a:ext cx="1252982" cy="20629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C7174F6E-EEDA-D64A-8FFD-C1ECB168F491}"/>
                  </a:ext>
                </a:extLst>
              </p:cNvPr>
              <p:cNvSpPr txBox="1"/>
              <p:nvPr/>
            </p:nvSpPr>
            <p:spPr>
              <a:xfrm>
                <a:off x="6380825" y="6534959"/>
                <a:ext cx="308418" cy="33855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𝑗</m:t>
                      </m:r>
                    </m:oMath>
                  </m:oMathPara>
                </a14:m>
                <a:endParaRPr lang="en-US" sz="1600" b="0" dirty="0"/>
              </a:p>
            </p:txBody>
          </p:sp>
        </mc:Choice>
        <mc:Fallback xmlns="">
          <p:sp>
            <p:nvSpPr>
              <p:cNvPr id="44" name="TextBox 43">
                <a:extLst>
                  <a:ext uri="{FF2B5EF4-FFF2-40B4-BE49-F238E27FC236}">
                    <a16:creationId xmlns:a16="http://schemas.microsoft.com/office/drawing/2014/main" id="{C7174F6E-EEDA-D64A-8FFD-C1ECB168F491}"/>
                  </a:ext>
                </a:extLst>
              </p:cNvPr>
              <p:cNvSpPr txBox="1">
                <a:spLocks noRot="1" noChangeAspect="1" noMove="1" noResize="1" noEditPoints="1" noAdjustHandles="1" noChangeArrowheads="1" noChangeShapeType="1" noTextEdit="1"/>
              </p:cNvSpPr>
              <p:nvPr/>
            </p:nvSpPr>
            <p:spPr>
              <a:xfrm>
                <a:off x="6380825" y="6534959"/>
                <a:ext cx="308418" cy="338554"/>
              </a:xfrm>
              <a:prstGeom prst="rect">
                <a:avLst/>
              </a:prstGeom>
              <a:blipFill>
                <a:blip r:embed="rId12"/>
                <a:stretch>
                  <a:fillRect b="-740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9E2D1122-2BF3-834C-AC8A-0BE3E56F961A}"/>
                  </a:ext>
                </a:extLst>
              </p:cNvPr>
              <p:cNvSpPr txBox="1"/>
              <p:nvPr/>
            </p:nvSpPr>
            <p:spPr>
              <a:xfrm>
                <a:off x="4574739" y="6527203"/>
                <a:ext cx="667299" cy="33855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𝑗</m:t>
                      </m:r>
                      <m:r>
                        <a:rPr lang="en-US" sz="1600" b="0" i="1" smtClean="0">
                          <a:latin typeface="Cambria Math" panose="02040503050406030204" pitchFamily="18" charset="0"/>
                        </a:rPr>
                        <m:t>−1</m:t>
                      </m:r>
                    </m:oMath>
                  </m:oMathPara>
                </a14:m>
                <a:endParaRPr lang="en-US" sz="1600" dirty="0"/>
              </a:p>
            </p:txBody>
          </p:sp>
        </mc:Choice>
        <mc:Fallback xmlns="">
          <p:sp>
            <p:nvSpPr>
              <p:cNvPr id="45" name="TextBox 44">
                <a:extLst>
                  <a:ext uri="{FF2B5EF4-FFF2-40B4-BE49-F238E27FC236}">
                    <a16:creationId xmlns:a16="http://schemas.microsoft.com/office/drawing/2014/main" id="{9E2D1122-2BF3-834C-AC8A-0BE3E56F961A}"/>
                  </a:ext>
                </a:extLst>
              </p:cNvPr>
              <p:cNvSpPr txBox="1">
                <a:spLocks noRot="1" noChangeAspect="1" noMove="1" noResize="1" noEditPoints="1" noAdjustHandles="1" noChangeArrowheads="1" noChangeShapeType="1" noTextEdit="1"/>
              </p:cNvSpPr>
              <p:nvPr/>
            </p:nvSpPr>
            <p:spPr>
              <a:xfrm>
                <a:off x="4574739" y="6527203"/>
                <a:ext cx="667299" cy="338554"/>
              </a:xfrm>
              <a:prstGeom prst="rect">
                <a:avLst/>
              </a:prstGeom>
              <a:blipFill>
                <a:blip r:embed="rId13"/>
                <a:stretch>
                  <a:fillRect b="-357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B645EFFD-F02A-BC46-9B40-7FB495F36DEF}"/>
                  </a:ext>
                </a:extLst>
              </p:cNvPr>
              <p:cNvSpPr txBox="1"/>
              <p:nvPr/>
            </p:nvSpPr>
            <p:spPr>
              <a:xfrm>
                <a:off x="6669547" y="4825116"/>
                <a:ext cx="662297" cy="33855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𝑖</m:t>
                      </m:r>
                      <m:r>
                        <a:rPr lang="en-US" sz="1600" b="0" i="1" smtClean="0">
                          <a:latin typeface="Cambria Math" panose="02040503050406030204" pitchFamily="18" charset="0"/>
                        </a:rPr>
                        <m:t>+1</m:t>
                      </m:r>
                    </m:oMath>
                  </m:oMathPara>
                </a14:m>
                <a:endParaRPr lang="en-US" sz="1600" dirty="0"/>
              </a:p>
            </p:txBody>
          </p:sp>
        </mc:Choice>
        <mc:Fallback xmlns="">
          <p:sp>
            <p:nvSpPr>
              <p:cNvPr id="46" name="TextBox 45">
                <a:extLst>
                  <a:ext uri="{FF2B5EF4-FFF2-40B4-BE49-F238E27FC236}">
                    <a16:creationId xmlns:a16="http://schemas.microsoft.com/office/drawing/2014/main" id="{B645EFFD-F02A-BC46-9B40-7FB495F36DEF}"/>
                  </a:ext>
                </a:extLst>
              </p:cNvPr>
              <p:cNvSpPr txBox="1">
                <a:spLocks noRot="1" noChangeAspect="1" noMove="1" noResize="1" noEditPoints="1" noAdjustHandles="1" noChangeArrowheads="1" noChangeShapeType="1" noTextEdit="1"/>
              </p:cNvSpPr>
              <p:nvPr/>
            </p:nvSpPr>
            <p:spPr>
              <a:xfrm>
                <a:off x="6669547" y="4825116"/>
                <a:ext cx="662297" cy="338554"/>
              </a:xfrm>
              <a:prstGeom prst="rect">
                <a:avLst/>
              </a:prstGeom>
              <a:blipFill>
                <a:blip r:embed="rId1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AA62BF6B-B6D8-0642-970B-EDA93B04FF62}"/>
                  </a:ext>
                </a:extLst>
              </p:cNvPr>
              <p:cNvSpPr txBox="1"/>
              <p:nvPr/>
            </p:nvSpPr>
            <p:spPr>
              <a:xfrm>
                <a:off x="5987287" y="4841281"/>
                <a:ext cx="303416" cy="33855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𝑖</m:t>
                      </m:r>
                    </m:oMath>
                  </m:oMathPara>
                </a14:m>
                <a:endParaRPr lang="en-US" sz="1600" dirty="0"/>
              </a:p>
            </p:txBody>
          </p:sp>
        </mc:Choice>
        <mc:Fallback xmlns="">
          <p:sp>
            <p:nvSpPr>
              <p:cNvPr id="47" name="TextBox 46">
                <a:extLst>
                  <a:ext uri="{FF2B5EF4-FFF2-40B4-BE49-F238E27FC236}">
                    <a16:creationId xmlns:a16="http://schemas.microsoft.com/office/drawing/2014/main" id="{AA62BF6B-B6D8-0642-970B-EDA93B04FF62}"/>
                  </a:ext>
                </a:extLst>
              </p:cNvPr>
              <p:cNvSpPr txBox="1">
                <a:spLocks noRot="1" noChangeAspect="1" noMove="1" noResize="1" noEditPoints="1" noAdjustHandles="1" noChangeArrowheads="1" noChangeShapeType="1" noTextEdit="1"/>
              </p:cNvSpPr>
              <p:nvPr/>
            </p:nvSpPr>
            <p:spPr>
              <a:xfrm>
                <a:off x="5987287" y="4841281"/>
                <a:ext cx="303416" cy="338554"/>
              </a:xfrm>
              <a:prstGeom prst="rect">
                <a:avLst/>
              </a:prstGeom>
              <a:blipFill>
                <a:blip r:embed="rId1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8" name="TextBox 47">
                <a:extLst>
                  <a:ext uri="{FF2B5EF4-FFF2-40B4-BE49-F238E27FC236}">
                    <a16:creationId xmlns:a16="http://schemas.microsoft.com/office/drawing/2014/main" id="{E20E149A-D901-0349-8C03-ACD5E15E4DC4}"/>
                  </a:ext>
                </a:extLst>
              </p:cNvPr>
              <p:cNvSpPr txBox="1"/>
              <p:nvPr/>
            </p:nvSpPr>
            <p:spPr>
              <a:xfrm>
                <a:off x="5007522" y="4841032"/>
                <a:ext cx="662297" cy="33855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𝑖</m:t>
                      </m:r>
                      <m:r>
                        <a:rPr lang="en-US" sz="1600" b="0" i="1" smtClean="0">
                          <a:latin typeface="Cambria Math" panose="02040503050406030204" pitchFamily="18" charset="0"/>
                        </a:rPr>
                        <m:t>−1</m:t>
                      </m:r>
                    </m:oMath>
                  </m:oMathPara>
                </a14:m>
                <a:endParaRPr lang="en-US" sz="1600" dirty="0"/>
              </a:p>
            </p:txBody>
          </p:sp>
        </mc:Choice>
        <mc:Fallback xmlns="">
          <p:sp>
            <p:nvSpPr>
              <p:cNvPr id="48" name="TextBox 47">
                <a:extLst>
                  <a:ext uri="{FF2B5EF4-FFF2-40B4-BE49-F238E27FC236}">
                    <a16:creationId xmlns:a16="http://schemas.microsoft.com/office/drawing/2014/main" id="{E20E149A-D901-0349-8C03-ACD5E15E4DC4}"/>
                  </a:ext>
                </a:extLst>
              </p:cNvPr>
              <p:cNvSpPr txBox="1">
                <a:spLocks noRot="1" noChangeAspect="1" noMove="1" noResize="1" noEditPoints="1" noAdjustHandles="1" noChangeArrowheads="1" noChangeShapeType="1" noTextEdit="1"/>
              </p:cNvSpPr>
              <p:nvPr/>
            </p:nvSpPr>
            <p:spPr>
              <a:xfrm>
                <a:off x="5007522" y="4841032"/>
                <a:ext cx="662297" cy="338554"/>
              </a:xfrm>
              <a:prstGeom prst="rect">
                <a:avLst/>
              </a:prstGeom>
              <a:blipFill>
                <a:blip r:embed="rId1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9" name="TextBox 48">
                <a:extLst>
                  <a:ext uri="{FF2B5EF4-FFF2-40B4-BE49-F238E27FC236}">
                    <a16:creationId xmlns:a16="http://schemas.microsoft.com/office/drawing/2014/main" id="{9B8EBFB4-4EC1-C145-ABE1-9DDAF1592175}"/>
                  </a:ext>
                </a:extLst>
              </p:cNvPr>
              <p:cNvSpPr txBox="1"/>
              <p:nvPr/>
            </p:nvSpPr>
            <p:spPr>
              <a:xfrm>
                <a:off x="4180379" y="4825116"/>
                <a:ext cx="662297" cy="33855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𝑖</m:t>
                      </m:r>
                      <m:r>
                        <a:rPr lang="en-US" sz="1600" b="0" i="1" smtClean="0">
                          <a:latin typeface="Cambria Math" panose="02040503050406030204" pitchFamily="18" charset="0"/>
                        </a:rPr>
                        <m:t>−2</m:t>
                      </m:r>
                    </m:oMath>
                  </m:oMathPara>
                </a14:m>
                <a:endParaRPr lang="en-US" sz="1600" dirty="0"/>
              </a:p>
            </p:txBody>
          </p:sp>
        </mc:Choice>
        <mc:Fallback xmlns="">
          <p:sp>
            <p:nvSpPr>
              <p:cNvPr id="49" name="TextBox 48">
                <a:extLst>
                  <a:ext uri="{FF2B5EF4-FFF2-40B4-BE49-F238E27FC236}">
                    <a16:creationId xmlns:a16="http://schemas.microsoft.com/office/drawing/2014/main" id="{9B8EBFB4-4EC1-C145-ABE1-9DDAF1592175}"/>
                  </a:ext>
                </a:extLst>
              </p:cNvPr>
              <p:cNvSpPr txBox="1">
                <a:spLocks noRot="1" noChangeAspect="1" noMove="1" noResize="1" noEditPoints="1" noAdjustHandles="1" noChangeArrowheads="1" noChangeShapeType="1" noTextEdit="1"/>
              </p:cNvSpPr>
              <p:nvPr/>
            </p:nvSpPr>
            <p:spPr>
              <a:xfrm>
                <a:off x="4180379" y="4825116"/>
                <a:ext cx="662297" cy="338554"/>
              </a:xfrm>
              <a:prstGeom prst="rect">
                <a:avLst/>
              </a:prstGeom>
              <a:blipFill>
                <a:blip r:embed="rId17"/>
                <a:stretch>
                  <a:fillRect/>
                </a:stretch>
              </a:blipFill>
            </p:spPr>
            <p:txBody>
              <a:bodyPr/>
              <a:lstStyle/>
              <a:p>
                <a:r>
                  <a:rPr lang="en-US">
                    <a:noFill/>
                  </a:rPr>
                  <a:t> </a:t>
                </a:r>
              </a:p>
            </p:txBody>
          </p:sp>
        </mc:Fallback>
      </mc:AlternateContent>
      <p:cxnSp>
        <p:nvCxnSpPr>
          <p:cNvPr id="50" name="Straight Connector 49">
            <a:extLst>
              <a:ext uri="{FF2B5EF4-FFF2-40B4-BE49-F238E27FC236}">
                <a16:creationId xmlns:a16="http://schemas.microsoft.com/office/drawing/2014/main" id="{58B11141-D610-5849-B7B4-863111F1667B}"/>
              </a:ext>
            </a:extLst>
          </p:cNvPr>
          <p:cNvCxnSpPr>
            <a:cxnSpLocks/>
            <a:endCxn id="32" idx="2"/>
          </p:cNvCxnSpPr>
          <p:nvPr/>
        </p:nvCxnSpPr>
        <p:spPr>
          <a:xfrm>
            <a:off x="4917233" y="5904142"/>
            <a:ext cx="3331669" cy="407026"/>
          </a:xfrm>
          <a:prstGeom prst="line">
            <a:avLst/>
          </a:prstGeom>
          <a:ln w="19050">
            <a:solidFill>
              <a:srgbClr val="FF0000"/>
            </a:solidFill>
            <a:prstDash val="sysDot"/>
          </a:ln>
        </p:spPr>
        <p:style>
          <a:lnRef idx="1">
            <a:schemeClr val="accent1"/>
          </a:lnRef>
          <a:fillRef idx="0">
            <a:schemeClr val="accent1"/>
          </a:fillRef>
          <a:effectRef idx="0">
            <a:schemeClr val="accent1"/>
          </a:effectRef>
          <a:fontRef idx="minor">
            <a:schemeClr val="tx1"/>
          </a:fontRef>
        </p:style>
      </p:cxnSp>
      <p:sp>
        <p:nvSpPr>
          <p:cNvPr id="28" name="Curved Left Arrow 27">
            <a:extLst>
              <a:ext uri="{FF2B5EF4-FFF2-40B4-BE49-F238E27FC236}">
                <a16:creationId xmlns:a16="http://schemas.microsoft.com/office/drawing/2014/main" id="{5951141C-2CBF-BC41-8E6A-DE4186D77C31}"/>
              </a:ext>
            </a:extLst>
          </p:cNvPr>
          <p:cNvSpPr/>
          <p:nvPr/>
        </p:nvSpPr>
        <p:spPr>
          <a:xfrm>
            <a:off x="9523952" y="4211299"/>
            <a:ext cx="573101" cy="1932326"/>
          </a:xfrm>
          <a:prstGeom prst="curvedLeftArrow">
            <a:avLst>
              <a:gd name="adj1" fmla="val 25000"/>
              <a:gd name="adj2" fmla="val 59351"/>
              <a:gd name="adj3" fmla="val 25000"/>
            </a:avLst>
          </a:prstGeom>
          <a:gradFill flip="none" rotWithShape="1">
            <a:gsLst>
              <a:gs pos="0">
                <a:srgbClr val="FF0000">
                  <a:alpha val="38000"/>
                </a:srgbClr>
              </a:gs>
              <a:gs pos="74000">
                <a:schemeClr val="accent1">
                  <a:lumMod val="45000"/>
                  <a:lumOff val="55000"/>
                </a:schemeClr>
              </a:gs>
              <a:gs pos="83000">
                <a:schemeClr val="accent1">
                  <a:lumMod val="45000"/>
                  <a:lumOff val="55000"/>
                </a:schemeClr>
              </a:gs>
              <a:gs pos="100000">
                <a:schemeClr val="accent1">
                  <a:lumMod val="30000"/>
                  <a:lumOff val="70000"/>
                </a:schemeClr>
              </a:gs>
            </a:gsLst>
            <a:lin ang="16200000" scaled="1"/>
            <a:tileRect/>
          </a:gradFill>
          <a:scene3d>
            <a:camera prst="orthographicFront">
              <a:rot lat="10800000" lon="0" rev="0"/>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2997311536"/>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DCE2F9-F4C3-DA4C-B0FC-7FF6F22D148C}"/>
              </a:ext>
            </a:extLst>
          </p:cNvPr>
          <p:cNvSpPr>
            <a:spLocks noGrp="1"/>
          </p:cNvSpPr>
          <p:nvPr>
            <p:ph type="title"/>
          </p:nvPr>
        </p:nvSpPr>
        <p:spPr>
          <a:xfrm>
            <a:off x="838200" y="0"/>
            <a:ext cx="10515600" cy="1325563"/>
          </a:xfrm>
        </p:spPr>
        <p:txBody>
          <a:bodyPr/>
          <a:lstStyle/>
          <a:p>
            <a:r>
              <a:rPr lang="en-US" dirty="0"/>
              <a:t>Prolongation – 1D (2</a:t>
            </a:r>
            <a:r>
              <a:rPr lang="en-US" baseline="30000" dirty="0"/>
              <a:t>nd</a:t>
            </a:r>
            <a:r>
              <a:rPr lang="en-US" dirty="0"/>
              <a:t> order accuracy)</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15C4FD65-F675-944D-A379-3A5FFFAEB784}"/>
                  </a:ext>
                </a:extLst>
              </p:cNvPr>
              <p:cNvSpPr>
                <a:spLocks noGrp="1"/>
              </p:cNvSpPr>
              <p:nvPr>
                <p:ph idx="1"/>
              </p:nvPr>
            </p:nvSpPr>
            <p:spPr>
              <a:xfrm>
                <a:off x="838200" y="1325562"/>
                <a:ext cx="10515600" cy="6021911"/>
              </a:xfrm>
            </p:spPr>
            <p:txBody>
              <a:bodyPr>
                <a:normAutofit/>
              </a:bodyPr>
              <a:lstStyle/>
              <a:p>
                <a:pPr>
                  <a:lnSpc>
                    <a:spcPct val="100000"/>
                  </a:lnSpc>
                </a:pPr>
                <a:r>
                  <a:rPr lang="en-US" dirty="0"/>
                  <a:t>To second-order, we can find the values of </a:t>
                </a:r>
                <a14:m>
                  <m:oMath xmlns:m="http://schemas.openxmlformats.org/officeDocument/2006/math">
                    <m:sSubSup>
                      <m:sSubSupPr>
                        <m:ctrlPr>
                          <a:rPr lang="en-US" i="1">
                            <a:latin typeface="Cambria Math" panose="02040503050406030204" pitchFamily="18" charset="0"/>
                          </a:rPr>
                        </m:ctrlPr>
                      </m:sSubSupPr>
                      <m:e>
                        <m:r>
                          <a:rPr lang="en-US" i="1">
                            <a:latin typeface="Cambria Math" panose="02040503050406030204" pitchFamily="18" charset="0"/>
                          </a:rPr>
                          <m:t>𝜙</m:t>
                        </m:r>
                      </m:e>
                      <m:sub>
                        <m:r>
                          <a:rPr lang="en-US" i="1">
                            <a:latin typeface="Cambria Math" panose="02040503050406030204" pitchFamily="18" charset="0"/>
                          </a:rPr>
                          <m:t>𝑖</m:t>
                        </m:r>
                      </m:sub>
                      <m:sup>
                        <m:r>
                          <a:rPr lang="en-US" i="1">
                            <a:latin typeface="Cambria Math" panose="02040503050406030204" pitchFamily="18" charset="0"/>
                          </a:rPr>
                          <m:t>𝑓</m:t>
                        </m:r>
                      </m:sup>
                    </m:sSubSup>
                  </m:oMath>
                </a14:m>
                <a:r>
                  <a:rPr lang="en-US" i="1" dirty="0"/>
                  <a:t> </a:t>
                </a:r>
                <a:r>
                  <a:rPr lang="en-US" dirty="0"/>
                  <a:t>and </a:t>
                </a:r>
                <a14:m>
                  <m:oMath xmlns:m="http://schemas.openxmlformats.org/officeDocument/2006/math">
                    <m:sSubSup>
                      <m:sSubSupPr>
                        <m:ctrlPr>
                          <a:rPr lang="en-US" i="1">
                            <a:latin typeface="Cambria Math" panose="02040503050406030204" pitchFamily="18" charset="0"/>
                          </a:rPr>
                        </m:ctrlPr>
                      </m:sSubSupPr>
                      <m:e>
                        <m:r>
                          <a:rPr lang="en-US" i="1">
                            <a:latin typeface="Cambria Math" panose="02040503050406030204" pitchFamily="18" charset="0"/>
                          </a:rPr>
                          <m:t>𝜙</m:t>
                        </m:r>
                      </m:e>
                      <m:sub>
                        <m:r>
                          <a:rPr lang="en-US" i="1">
                            <a:latin typeface="Cambria Math" panose="02040503050406030204" pitchFamily="18" charset="0"/>
                          </a:rPr>
                          <m:t>𝑖</m:t>
                        </m:r>
                        <m:r>
                          <a:rPr lang="en-US" i="1">
                            <a:latin typeface="Cambria Math" panose="02040503050406030204" pitchFamily="18" charset="0"/>
                          </a:rPr>
                          <m:t>+1</m:t>
                        </m:r>
                      </m:sub>
                      <m:sup>
                        <m:r>
                          <a:rPr lang="en-US" i="1">
                            <a:latin typeface="Cambria Math" panose="02040503050406030204" pitchFamily="18" charset="0"/>
                          </a:rPr>
                          <m:t>𝑓</m:t>
                        </m:r>
                      </m:sup>
                    </m:sSubSup>
                  </m:oMath>
                </a14:m>
                <a:r>
                  <a:rPr lang="en-US" dirty="0"/>
                  <a:t>by evaluating </a:t>
                </a:r>
                <a14:m>
                  <m:oMath xmlns:m="http://schemas.openxmlformats.org/officeDocument/2006/math">
                    <m:r>
                      <a:rPr lang="en-US" b="0" i="1" smtClean="0">
                        <a:latin typeface="Cambria Math" panose="02040503050406030204" pitchFamily="18" charset="0"/>
                      </a:rPr>
                      <m:t>𝜙</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e>
                    </m:d>
                  </m:oMath>
                </a14:m>
                <a:r>
                  <a:rPr lang="en-US" dirty="0"/>
                  <a:t> at the corresponding </a:t>
                </a:r>
                <a14:m>
                  <m:oMath xmlns:m="http://schemas.openxmlformats.org/officeDocument/2006/math">
                    <m:r>
                      <a:rPr lang="en-US" b="0" i="1" smtClean="0">
                        <a:latin typeface="Cambria Math" panose="02040503050406030204" pitchFamily="18" charset="0"/>
                      </a:rPr>
                      <m:t>𝑥</m:t>
                    </m:r>
                  </m:oMath>
                </a14:m>
                <a:r>
                  <a:rPr lang="en-US" dirty="0"/>
                  <a:t> coordinates:</a:t>
                </a:r>
              </a:p>
              <a:p>
                <a:pPr marL="0" indent="0">
                  <a:lnSpc>
                    <a:spcPct val="100000"/>
                  </a:lnSpc>
                  <a:buNone/>
                </a:pPr>
                <a14:m>
                  <m:oMathPara xmlns:m="http://schemas.openxmlformats.org/officeDocument/2006/math">
                    <m:oMathParaPr>
                      <m:jc m:val="centerGroup"/>
                    </m:oMathParaPr>
                    <m:oMath xmlns:m="http://schemas.openxmlformats.org/officeDocument/2006/math">
                      <m:sSubSup>
                        <m:sSubSupPr>
                          <m:ctrlPr>
                            <a:rPr lang="en-US" i="1">
                              <a:latin typeface="Cambria Math" panose="02040503050406030204" pitchFamily="18" charset="0"/>
                            </a:rPr>
                          </m:ctrlPr>
                        </m:sSubSupPr>
                        <m:e>
                          <m:r>
                            <a:rPr lang="en-US" i="1">
                              <a:latin typeface="Cambria Math" panose="02040503050406030204" pitchFamily="18" charset="0"/>
                            </a:rPr>
                            <m:t>𝑥</m:t>
                          </m:r>
                        </m:e>
                        <m:sub>
                          <m:r>
                            <a:rPr lang="en-US" i="1">
                              <a:latin typeface="Cambria Math" panose="02040503050406030204" pitchFamily="18" charset="0"/>
                            </a:rPr>
                            <m:t>𝑖</m:t>
                          </m:r>
                        </m:sub>
                        <m:sup>
                          <m:r>
                            <a:rPr lang="en-US" i="1">
                              <a:latin typeface="Cambria Math" panose="02040503050406030204" pitchFamily="18" charset="0"/>
                            </a:rPr>
                            <m:t>𝑓</m:t>
                          </m:r>
                        </m:sup>
                      </m:sSubSup>
                      <m:r>
                        <a:rPr lang="en-US" i="1">
                          <a:latin typeface="Cambria Math" panose="02040503050406030204" pitchFamily="18" charset="0"/>
                        </a:rPr>
                        <m:t>=</m:t>
                      </m:r>
                      <m:sSubSup>
                        <m:sSubSupPr>
                          <m:ctrlPr>
                            <a:rPr lang="en-US" i="1">
                              <a:latin typeface="Cambria Math" panose="02040503050406030204" pitchFamily="18" charset="0"/>
                            </a:rPr>
                          </m:ctrlPr>
                        </m:sSubSupPr>
                        <m:e>
                          <m:r>
                            <a:rPr lang="en-US" b="0" i="1" smtClean="0">
                              <a:latin typeface="Cambria Math" panose="02040503050406030204" pitchFamily="18" charset="0"/>
                            </a:rPr>
                            <m:t>𝑥</m:t>
                          </m:r>
                        </m:e>
                        <m:sub>
                          <m:r>
                            <a:rPr lang="en-US" i="1">
                              <a:latin typeface="Cambria Math" panose="02040503050406030204" pitchFamily="18" charset="0"/>
                            </a:rPr>
                            <m:t>𝑗</m:t>
                          </m:r>
                        </m:sub>
                        <m:sup>
                          <m:r>
                            <a:rPr lang="en-US" i="1">
                              <a:latin typeface="Cambria Math" panose="02040503050406030204" pitchFamily="18" charset="0"/>
                            </a:rPr>
                            <m:t>𝑐</m:t>
                          </m:r>
                        </m:sup>
                      </m:sSubSup>
                      <m:r>
                        <a:rPr lang="en-US" i="1">
                          <a:latin typeface="Cambria Math" panose="02040503050406030204" pitchFamily="18" charset="0"/>
                        </a:rPr>
                        <m:t>−</m:t>
                      </m:r>
                      <m:f>
                        <m:fPr>
                          <m:ctrlPr>
                            <a:rPr lang="en-US" i="1">
                              <a:latin typeface="Cambria Math" panose="02040503050406030204" pitchFamily="18" charset="0"/>
                            </a:rPr>
                          </m:ctrlPr>
                        </m:fPr>
                        <m:num>
                          <m:r>
                            <m:rPr>
                              <m:sty m:val="p"/>
                            </m:rPr>
                            <a:rPr lang="en-US">
                              <a:latin typeface="Cambria Math" panose="02040503050406030204" pitchFamily="18" charset="0"/>
                            </a:rPr>
                            <m:t>Δ</m:t>
                          </m:r>
                          <m:sSup>
                            <m:sSupPr>
                              <m:ctrlPr>
                                <a:rPr lang="en-US" i="1">
                                  <a:latin typeface="Cambria Math" panose="02040503050406030204" pitchFamily="18" charset="0"/>
                                </a:rPr>
                              </m:ctrlPr>
                            </m:sSupPr>
                            <m:e>
                              <m:r>
                                <a:rPr lang="en-US" i="1">
                                  <a:latin typeface="Cambria Math" panose="02040503050406030204" pitchFamily="18" charset="0"/>
                                </a:rPr>
                                <m:t>𝑥</m:t>
                              </m:r>
                            </m:e>
                            <m:sup>
                              <m:r>
                                <a:rPr lang="en-US" i="1">
                                  <a:latin typeface="Cambria Math" panose="02040503050406030204" pitchFamily="18" charset="0"/>
                                </a:rPr>
                                <m:t>𝑐</m:t>
                              </m:r>
                            </m:sup>
                          </m:sSup>
                        </m:num>
                        <m:den>
                          <m:r>
                            <a:rPr lang="en-US" i="1">
                              <a:latin typeface="Cambria Math" panose="02040503050406030204" pitchFamily="18" charset="0"/>
                            </a:rPr>
                            <m:t>4</m:t>
                          </m:r>
                        </m:den>
                      </m:f>
                      <m:r>
                        <a:rPr lang="en-US">
                          <a:latin typeface="Cambria Math" panose="02040503050406030204" pitchFamily="18" charset="0"/>
                        </a:rPr>
                        <m:t>,         </m:t>
                      </m:r>
                      <m:sSubSup>
                        <m:sSubSupPr>
                          <m:ctrlPr>
                            <a:rPr lang="en-US" i="1">
                              <a:latin typeface="Cambria Math" panose="02040503050406030204" pitchFamily="18" charset="0"/>
                            </a:rPr>
                          </m:ctrlPr>
                        </m:sSubSupPr>
                        <m:e>
                          <m:r>
                            <a:rPr lang="en-US" i="1">
                              <a:latin typeface="Cambria Math" panose="02040503050406030204" pitchFamily="18" charset="0"/>
                            </a:rPr>
                            <m:t>𝑥</m:t>
                          </m:r>
                        </m:e>
                        <m:sub>
                          <m:r>
                            <a:rPr lang="en-US" i="1">
                              <a:latin typeface="Cambria Math" panose="02040503050406030204" pitchFamily="18" charset="0"/>
                            </a:rPr>
                            <m:t>𝑖</m:t>
                          </m:r>
                          <m:r>
                            <a:rPr lang="en-US" i="1">
                              <a:latin typeface="Cambria Math" panose="02040503050406030204" pitchFamily="18" charset="0"/>
                            </a:rPr>
                            <m:t>+1</m:t>
                          </m:r>
                        </m:sub>
                        <m:sup>
                          <m:r>
                            <a:rPr lang="en-US" i="1">
                              <a:latin typeface="Cambria Math" panose="02040503050406030204" pitchFamily="18" charset="0"/>
                            </a:rPr>
                            <m:t>𝑓</m:t>
                          </m:r>
                        </m:sup>
                      </m:sSubSup>
                      <m:r>
                        <a:rPr lang="en-US" i="1">
                          <a:latin typeface="Cambria Math" panose="02040503050406030204" pitchFamily="18" charset="0"/>
                        </a:rPr>
                        <m:t>=</m:t>
                      </m:r>
                      <m:sSubSup>
                        <m:sSubSupPr>
                          <m:ctrlPr>
                            <a:rPr lang="en-US" i="1">
                              <a:latin typeface="Cambria Math" panose="02040503050406030204" pitchFamily="18" charset="0"/>
                            </a:rPr>
                          </m:ctrlPr>
                        </m:sSubSupPr>
                        <m:e>
                          <m:r>
                            <a:rPr lang="en-US" b="0" i="1" smtClean="0">
                              <a:latin typeface="Cambria Math" panose="02040503050406030204" pitchFamily="18" charset="0"/>
                            </a:rPr>
                            <m:t>𝑥</m:t>
                          </m:r>
                        </m:e>
                        <m:sub>
                          <m:r>
                            <a:rPr lang="en-US" i="1">
                              <a:latin typeface="Cambria Math" panose="02040503050406030204" pitchFamily="18" charset="0"/>
                            </a:rPr>
                            <m:t>𝑗</m:t>
                          </m:r>
                        </m:sub>
                        <m:sup>
                          <m:r>
                            <a:rPr lang="en-US" i="1">
                              <a:latin typeface="Cambria Math" panose="02040503050406030204" pitchFamily="18" charset="0"/>
                            </a:rPr>
                            <m:t>𝑐</m:t>
                          </m:r>
                        </m:sup>
                      </m:sSubSup>
                      <m:r>
                        <a:rPr lang="en-US" i="1">
                          <a:latin typeface="Cambria Math" panose="02040503050406030204" pitchFamily="18" charset="0"/>
                        </a:rPr>
                        <m:t>+</m:t>
                      </m:r>
                      <m:f>
                        <m:fPr>
                          <m:ctrlPr>
                            <a:rPr lang="en-US" i="1">
                              <a:latin typeface="Cambria Math" panose="02040503050406030204" pitchFamily="18" charset="0"/>
                            </a:rPr>
                          </m:ctrlPr>
                        </m:fPr>
                        <m:num>
                          <m:r>
                            <m:rPr>
                              <m:sty m:val="p"/>
                            </m:rPr>
                            <a:rPr lang="en-US">
                              <a:latin typeface="Cambria Math" panose="02040503050406030204" pitchFamily="18" charset="0"/>
                            </a:rPr>
                            <m:t>Δ</m:t>
                          </m:r>
                          <m:sSup>
                            <m:sSupPr>
                              <m:ctrlPr>
                                <a:rPr lang="en-US" i="1">
                                  <a:latin typeface="Cambria Math" panose="02040503050406030204" pitchFamily="18" charset="0"/>
                                </a:rPr>
                              </m:ctrlPr>
                            </m:sSupPr>
                            <m:e>
                              <m:r>
                                <a:rPr lang="en-US" i="1">
                                  <a:latin typeface="Cambria Math" panose="02040503050406030204" pitchFamily="18" charset="0"/>
                                </a:rPr>
                                <m:t>𝑥</m:t>
                              </m:r>
                            </m:e>
                            <m:sup>
                              <m:r>
                                <a:rPr lang="en-US" i="1">
                                  <a:latin typeface="Cambria Math" panose="02040503050406030204" pitchFamily="18" charset="0"/>
                                </a:rPr>
                                <m:t>𝑐</m:t>
                              </m:r>
                            </m:sup>
                          </m:sSup>
                        </m:num>
                        <m:den>
                          <m:r>
                            <a:rPr lang="en-US" i="1">
                              <a:latin typeface="Cambria Math" panose="02040503050406030204" pitchFamily="18" charset="0"/>
                            </a:rPr>
                            <m:t>4</m:t>
                          </m:r>
                        </m:den>
                      </m:f>
                    </m:oMath>
                  </m:oMathPara>
                </a14:m>
                <a:endParaRPr lang="en-US" dirty="0"/>
              </a:p>
              <a:p>
                <a:pPr marL="0" indent="0">
                  <a:lnSpc>
                    <a:spcPct val="100000"/>
                  </a:lnSpc>
                  <a:buNone/>
                </a:pPr>
                <a:r>
                  <a:rPr lang="en-US" dirty="0"/>
                  <a:t>   giving</a:t>
                </a:r>
              </a:p>
              <a:p>
                <a:pPr marL="0" indent="0">
                  <a:lnSpc>
                    <a:spcPct val="100000"/>
                  </a:lnSpc>
                  <a:buNone/>
                </a:pPr>
                <a14:m>
                  <m:oMathPara xmlns:m="http://schemas.openxmlformats.org/officeDocument/2006/math">
                    <m:oMathParaPr>
                      <m:jc m:val="centerGroup"/>
                    </m:oMathParaPr>
                    <m:oMath xmlns:m="http://schemas.openxmlformats.org/officeDocument/2006/math">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𝜙</m:t>
                          </m:r>
                        </m:e>
                        <m:sub>
                          <m:r>
                            <a:rPr lang="en-US" b="0" i="1" smtClean="0">
                              <a:latin typeface="Cambria Math" panose="02040503050406030204" pitchFamily="18" charset="0"/>
                            </a:rPr>
                            <m:t>𝑖</m:t>
                          </m:r>
                        </m:sub>
                        <m:sup>
                          <m:r>
                            <a:rPr lang="en-US" b="0" i="1" smtClean="0">
                              <a:latin typeface="Cambria Math" panose="02040503050406030204" pitchFamily="18" charset="0"/>
                            </a:rPr>
                            <m:t>𝑓</m:t>
                          </m:r>
                        </m:sup>
                      </m:sSubSup>
                      <m:r>
                        <a:rPr lang="en-US" b="0" i="1" smtClean="0">
                          <a:latin typeface="Cambria Math" panose="02040503050406030204" pitchFamily="18" charset="0"/>
                        </a:rPr>
                        <m:t>=</m:t>
                      </m:r>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𝜙</m:t>
                          </m:r>
                        </m:e>
                        <m:sub>
                          <m:r>
                            <a:rPr lang="en-US" b="0" i="1" smtClean="0">
                              <a:latin typeface="Cambria Math" panose="02040503050406030204" pitchFamily="18" charset="0"/>
                            </a:rPr>
                            <m:t>𝑖</m:t>
                          </m:r>
                        </m:sub>
                        <m:sup>
                          <m:r>
                            <a:rPr lang="en-US" b="0" i="1" smtClean="0">
                              <a:latin typeface="Cambria Math" panose="02040503050406030204" pitchFamily="18" charset="0"/>
                            </a:rPr>
                            <m:t>𝑐</m:t>
                          </m:r>
                        </m:sup>
                      </m:sSubSup>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8</m:t>
                          </m:r>
                        </m:den>
                      </m:f>
                      <m:d>
                        <m:dPr>
                          <m:ctrlPr>
                            <a:rPr lang="en-US" b="0" i="1" smtClean="0">
                              <a:latin typeface="Cambria Math" panose="02040503050406030204" pitchFamily="18" charset="0"/>
                            </a:rPr>
                          </m:ctrlPr>
                        </m:dPr>
                        <m:e>
                          <m:sSubSup>
                            <m:sSubSupPr>
                              <m:ctrlPr>
                                <a:rPr lang="en-US" i="1">
                                  <a:latin typeface="Cambria Math" panose="02040503050406030204" pitchFamily="18" charset="0"/>
                                </a:rPr>
                              </m:ctrlPr>
                            </m:sSubSupPr>
                            <m:e>
                              <m:r>
                                <a:rPr lang="en-US" i="1">
                                  <a:latin typeface="Cambria Math" panose="02040503050406030204" pitchFamily="18" charset="0"/>
                                </a:rPr>
                                <m:t>𝜙</m:t>
                              </m:r>
                            </m:e>
                            <m:sub>
                              <m:r>
                                <a:rPr lang="en-US" i="1">
                                  <a:latin typeface="Cambria Math" panose="02040503050406030204" pitchFamily="18" charset="0"/>
                                </a:rPr>
                                <m:t>𝑗</m:t>
                              </m:r>
                              <m:r>
                                <a:rPr lang="en-US" i="1">
                                  <a:latin typeface="Cambria Math" panose="02040503050406030204" pitchFamily="18" charset="0"/>
                                </a:rPr>
                                <m:t>+1</m:t>
                              </m:r>
                            </m:sub>
                            <m:sup>
                              <m:r>
                                <a:rPr lang="en-US" i="1">
                                  <a:latin typeface="Cambria Math" panose="02040503050406030204" pitchFamily="18" charset="0"/>
                                </a:rPr>
                                <m:t>𝑐</m:t>
                              </m:r>
                            </m:sup>
                          </m:sSubSup>
                          <m:r>
                            <a:rPr lang="en-US" i="1">
                              <a:latin typeface="Cambria Math" panose="02040503050406030204" pitchFamily="18" charset="0"/>
                            </a:rPr>
                            <m:t>−</m:t>
                          </m:r>
                          <m:sSubSup>
                            <m:sSubSupPr>
                              <m:ctrlPr>
                                <a:rPr lang="en-US" i="1">
                                  <a:latin typeface="Cambria Math" panose="02040503050406030204" pitchFamily="18" charset="0"/>
                                </a:rPr>
                              </m:ctrlPr>
                            </m:sSubSupPr>
                            <m:e>
                              <m:r>
                                <a:rPr lang="en-US" i="1">
                                  <a:latin typeface="Cambria Math" panose="02040503050406030204" pitchFamily="18" charset="0"/>
                                </a:rPr>
                                <m:t>𝜙</m:t>
                              </m:r>
                            </m:e>
                            <m:sub>
                              <m:r>
                                <a:rPr lang="en-US" i="1">
                                  <a:latin typeface="Cambria Math" panose="02040503050406030204" pitchFamily="18" charset="0"/>
                                </a:rPr>
                                <m:t>𝑗</m:t>
                              </m:r>
                              <m:r>
                                <a:rPr lang="en-US" i="1">
                                  <a:latin typeface="Cambria Math" panose="02040503050406030204" pitchFamily="18" charset="0"/>
                                </a:rPr>
                                <m:t>−1</m:t>
                              </m:r>
                            </m:sub>
                            <m:sup>
                              <m:r>
                                <a:rPr lang="en-US" i="1">
                                  <a:latin typeface="Cambria Math" panose="02040503050406030204" pitchFamily="18" charset="0"/>
                                </a:rPr>
                                <m:t>𝑐</m:t>
                              </m:r>
                            </m:sup>
                          </m:sSubSup>
                        </m:e>
                      </m:d>
                    </m:oMath>
                  </m:oMathPara>
                </a14:m>
                <a:endParaRPr lang="en-US" dirty="0"/>
              </a:p>
              <a:p>
                <a:pPr marL="0" indent="0">
                  <a:lnSpc>
                    <a:spcPct val="100000"/>
                  </a:lnSpc>
                  <a:buNone/>
                </a:pPr>
                <a14:m>
                  <m:oMathPara xmlns:m="http://schemas.openxmlformats.org/officeDocument/2006/math">
                    <m:oMathParaPr>
                      <m:jc m:val="centerGroup"/>
                    </m:oMathParaPr>
                    <m:oMath xmlns:m="http://schemas.openxmlformats.org/officeDocument/2006/math">
                      <m:sSubSup>
                        <m:sSubSupPr>
                          <m:ctrlPr>
                            <a:rPr lang="en-US" i="1">
                              <a:latin typeface="Cambria Math" panose="02040503050406030204" pitchFamily="18" charset="0"/>
                            </a:rPr>
                          </m:ctrlPr>
                        </m:sSubSupPr>
                        <m:e>
                          <m:r>
                            <a:rPr lang="en-US" i="1">
                              <a:latin typeface="Cambria Math" panose="02040503050406030204" pitchFamily="18" charset="0"/>
                            </a:rPr>
                            <m:t>𝜙</m:t>
                          </m:r>
                        </m:e>
                        <m:sub>
                          <m:r>
                            <a:rPr lang="en-US" i="1">
                              <a:latin typeface="Cambria Math" panose="02040503050406030204" pitchFamily="18" charset="0"/>
                            </a:rPr>
                            <m:t>𝑖</m:t>
                          </m:r>
                          <m:r>
                            <a:rPr lang="en-US" b="0" i="1" smtClean="0">
                              <a:latin typeface="Cambria Math" panose="02040503050406030204" pitchFamily="18" charset="0"/>
                            </a:rPr>
                            <m:t>+1</m:t>
                          </m:r>
                        </m:sub>
                        <m:sup>
                          <m:r>
                            <a:rPr lang="en-US" i="1">
                              <a:latin typeface="Cambria Math" panose="02040503050406030204" pitchFamily="18" charset="0"/>
                            </a:rPr>
                            <m:t>𝑓</m:t>
                          </m:r>
                        </m:sup>
                      </m:sSubSup>
                      <m:r>
                        <a:rPr lang="en-US" i="1">
                          <a:latin typeface="Cambria Math" panose="02040503050406030204" pitchFamily="18" charset="0"/>
                        </a:rPr>
                        <m:t>=</m:t>
                      </m:r>
                      <m:sSubSup>
                        <m:sSubSupPr>
                          <m:ctrlPr>
                            <a:rPr lang="en-US" i="1">
                              <a:latin typeface="Cambria Math" panose="02040503050406030204" pitchFamily="18" charset="0"/>
                            </a:rPr>
                          </m:ctrlPr>
                        </m:sSubSupPr>
                        <m:e>
                          <m:r>
                            <a:rPr lang="en-US" i="1">
                              <a:latin typeface="Cambria Math" panose="02040503050406030204" pitchFamily="18" charset="0"/>
                            </a:rPr>
                            <m:t>𝜙</m:t>
                          </m:r>
                        </m:e>
                        <m:sub>
                          <m:r>
                            <a:rPr lang="en-US" i="1">
                              <a:latin typeface="Cambria Math" panose="02040503050406030204" pitchFamily="18" charset="0"/>
                            </a:rPr>
                            <m:t>𝑖</m:t>
                          </m:r>
                        </m:sub>
                        <m:sup>
                          <m:r>
                            <a:rPr lang="en-US" i="1">
                              <a:latin typeface="Cambria Math" panose="02040503050406030204" pitchFamily="18" charset="0"/>
                            </a:rPr>
                            <m:t>𝑐</m:t>
                          </m:r>
                        </m:sup>
                      </m:sSubSup>
                      <m:r>
                        <a:rPr lang="en-US" b="0" i="1" smtClean="0">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1</m:t>
                          </m:r>
                        </m:num>
                        <m:den>
                          <m:r>
                            <a:rPr lang="en-US" i="1">
                              <a:latin typeface="Cambria Math" panose="02040503050406030204" pitchFamily="18" charset="0"/>
                            </a:rPr>
                            <m:t>8</m:t>
                          </m:r>
                        </m:den>
                      </m:f>
                      <m:d>
                        <m:dPr>
                          <m:ctrlPr>
                            <a:rPr lang="en-US" i="1">
                              <a:latin typeface="Cambria Math" panose="02040503050406030204" pitchFamily="18" charset="0"/>
                            </a:rPr>
                          </m:ctrlPr>
                        </m:dPr>
                        <m:e>
                          <m:sSubSup>
                            <m:sSubSupPr>
                              <m:ctrlPr>
                                <a:rPr lang="en-US" i="1">
                                  <a:latin typeface="Cambria Math" panose="02040503050406030204" pitchFamily="18" charset="0"/>
                                </a:rPr>
                              </m:ctrlPr>
                            </m:sSubSupPr>
                            <m:e>
                              <m:r>
                                <a:rPr lang="en-US" i="1">
                                  <a:latin typeface="Cambria Math" panose="02040503050406030204" pitchFamily="18" charset="0"/>
                                </a:rPr>
                                <m:t>𝜙</m:t>
                              </m:r>
                            </m:e>
                            <m:sub>
                              <m:r>
                                <a:rPr lang="en-US" i="1">
                                  <a:latin typeface="Cambria Math" panose="02040503050406030204" pitchFamily="18" charset="0"/>
                                </a:rPr>
                                <m:t>𝑗</m:t>
                              </m:r>
                              <m:r>
                                <a:rPr lang="en-US" i="1">
                                  <a:latin typeface="Cambria Math" panose="02040503050406030204" pitchFamily="18" charset="0"/>
                                </a:rPr>
                                <m:t>+1</m:t>
                              </m:r>
                            </m:sub>
                            <m:sup>
                              <m:r>
                                <a:rPr lang="en-US" i="1">
                                  <a:latin typeface="Cambria Math" panose="02040503050406030204" pitchFamily="18" charset="0"/>
                                </a:rPr>
                                <m:t>𝑐</m:t>
                              </m:r>
                            </m:sup>
                          </m:sSubSup>
                          <m:r>
                            <a:rPr lang="en-US" i="1">
                              <a:latin typeface="Cambria Math" panose="02040503050406030204" pitchFamily="18" charset="0"/>
                            </a:rPr>
                            <m:t>−</m:t>
                          </m:r>
                          <m:sSubSup>
                            <m:sSubSupPr>
                              <m:ctrlPr>
                                <a:rPr lang="en-US" i="1">
                                  <a:latin typeface="Cambria Math" panose="02040503050406030204" pitchFamily="18" charset="0"/>
                                </a:rPr>
                              </m:ctrlPr>
                            </m:sSubSupPr>
                            <m:e>
                              <m:r>
                                <a:rPr lang="en-US" i="1">
                                  <a:latin typeface="Cambria Math" panose="02040503050406030204" pitchFamily="18" charset="0"/>
                                </a:rPr>
                                <m:t>𝜙</m:t>
                              </m:r>
                            </m:e>
                            <m:sub>
                              <m:r>
                                <a:rPr lang="en-US" i="1">
                                  <a:latin typeface="Cambria Math" panose="02040503050406030204" pitchFamily="18" charset="0"/>
                                </a:rPr>
                                <m:t>𝑗</m:t>
                              </m:r>
                              <m:r>
                                <a:rPr lang="en-US" i="1">
                                  <a:latin typeface="Cambria Math" panose="02040503050406030204" pitchFamily="18" charset="0"/>
                                </a:rPr>
                                <m:t>−1</m:t>
                              </m:r>
                            </m:sub>
                            <m:sup>
                              <m:r>
                                <a:rPr lang="en-US" i="1">
                                  <a:latin typeface="Cambria Math" panose="02040503050406030204" pitchFamily="18" charset="0"/>
                                </a:rPr>
                                <m:t>𝑐</m:t>
                              </m:r>
                            </m:sup>
                          </m:sSubSup>
                        </m:e>
                      </m:d>
                    </m:oMath>
                  </m:oMathPara>
                </a14:m>
                <a:endParaRPr lang="en-US" dirty="0"/>
              </a:p>
              <a:p>
                <a:pPr marL="0" indent="0">
                  <a:lnSpc>
                    <a:spcPct val="100000"/>
                  </a:lnSpc>
                  <a:buNone/>
                </a:pPr>
                <a:r>
                  <a:rPr lang="en-US" dirty="0">
                    <a:solidFill>
                      <a:srgbClr val="FF0000"/>
                    </a:solidFill>
                  </a:rPr>
                  <a:t>*</a:t>
                </a:r>
                <a:r>
                  <a:rPr lang="en-US" dirty="0"/>
                  <a:t> </a:t>
                </a:r>
                <a:r>
                  <a:rPr lang="en-US" dirty="0">
                    <a:solidFill>
                      <a:srgbClr val="FF0000"/>
                    </a:solidFill>
                  </a:rPr>
                  <a:t>The scheme is conservative, since </a:t>
                </a:r>
                <a14:m>
                  <m:oMath xmlns:m="http://schemas.openxmlformats.org/officeDocument/2006/math">
                    <m:r>
                      <m:rPr>
                        <m:sty m:val="p"/>
                      </m:rPr>
                      <a:rPr lang="en-US" b="0" i="0" smtClean="0">
                        <a:solidFill>
                          <a:srgbClr val="FF0000"/>
                        </a:solidFill>
                        <a:latin typeface="Cambria Math" panose="02040503050406030204" pitchFamily="18" charset="0"/>
                      </a:rPr>
                      <m:t>Δ</m:t>
                    </m:r>
                    <m:sSup>
                      <m:sSupPr>
                        <m:ctrlPr>
                          <a:rPr lang="en-US" b="0" i="1" smtClean="0">
                            <a:solidFill>
                              <a:srgbClr val="FF0000"/>
                            </a:solidFill>
                            <a:latin typeface="Cambria Math" panose="02040503050406030204" pitchFamily="18" charset="0"/>
                          </a:rPr>
                        </m:ctrlPr>
                      </m:sSupPr>
                      <m:e>
                        <m:r>
                          <a:rPr lang="en-US" b="0" i="1" smtClean="0">
                            <a:solidFill>
                              <a:srgbClr val="FF0000"/>
                            </a:solidFill>
                            <a:latin typeface="Cambria Math" panose="02040503050406030204" pitchFamily="18" charset="0"/>
                          </a:rPr>
                          <m:t>𝑥</m:t>
                        </m:r>
                      </m:e>
                      <m:sup>
                        <m:r>
                          <a:rPr lang="en-US" b="0" i="1" smtClean="0">
                            <a:solidFill>
                              <a:srgbClr val="FF0000"/>
                            </a:solidFill>
                            <a:latin typeface="Cambria Math" panose="02040503050406030204" pitchFamily="18" charset="0"/>
                          </a:rPr>
                          <m:t>𝑓</m:t>
                        </m:r>
                      </m:sup>
                    </m:sSup>
                    <m:d>
                      <m:dPr>
                        <m:ctrlPr>
                          <a:rPr lang="en-US" b="0" i="1" smtClean="0">
                            <a:solidFill>
                              <a:srgbClr val="FF0000"/>
                            </a:solidFill>
                            <a:latin typeface="Cambria Math" panose="02040503050406030204" pitchFamily="18" charset="0"/>
                          </a:rPr>
                        </m:ctrlPr>
                      </m:dPr>
                      <m:e>
                        <m:sSubSup>
                          <m:sSubSupPr>
                            <m:ctrlPr>
                              <a:rPr lang="en-US" i="1">
                                <a:solidFill>
                                  <a:srgbClr val="FF0000"/>
                                </a:solidFill>
                                <a:latin typeface="Cambria Math" panose="02040503050406030204" pitchFamily="18" charset="0"/>
                              </a:rPr>
                            </m:ctrlPr>
                          </m:sSubSupPr>
                          <m:e>
                            <m:r>
                              <a:rPr lang="en-US" i="1">
                                <a:solidFill>
                                  <a:srgbClr val="FF0000"/>
                                </a:solidFill>
                                <a:latin typeface="Cambria Math" panose="02040503050406030204" pitchFamily="18" charset="0"/>
                              </a:rPr>
                              <m:t>𝜙</m:t>
                            </m:r>
                          </m:e>
                          <m:sub>
                            <m:r>
                              <a:rPr lang="en-US" b="0" i="1" smtClean="0">
                                <a:solidFill>
                                  <a:srgbClr val="FF0000"/>
                                </a:solidFill>
                                <a:latin typeface="Cambria Math" panose="02040503050406030204" pitchFamily="18" charset="0"/>
                              </a:rPr>
                              <m:t>𝑖</m:t>
                            </m:r>
                          </m:sub>
                          <m:sup>
                            <m:r>
                              <a:rPr lang="en-US" b="0" i="1" smtClean="0">
                                <a:solidFill>
                                  <a:srgbClr val="FF0000"/>
                                </a:solidFill>
                                <a:latin typeface="Cambria Math" panose="02040503050406030204" pitchFamily="18" charset="0"/>
                              </a:rPr>
                              <m:t>𝑓</m:t>
                            </m:r>
                          </m:sup>
                        </m:sSubSup>
                        <m:r>
                          <a:rPr lang="en-US" b="0" i="1" smtClean="0">
                            <a:solidFill>
                              <a:srgbClr val="FF0000"/>
                            </a:solidFill>
                            <a:latin typeface="Cambria Math" panose="02040503050406030204" pitchFamily="18" charset="0"/>
                          </a:rPr>
                          <m:t>+</m:t>
                        </m:r>
                        <m:sSubSup>
                          <m:sSubSupPr>
                            <m:ctrlPr>
                              <a:rPr lang="en-US" i="1">
                                <a:solidFill>
                                  <a:srgbClr val="FF0000"/>
                                </a:solidFill>
                                <a:latin typeface="Cambria Math" panose="02040503050406030204" pitchFamily="18" charset="0"/>
                              </a:rPr>
                            </m:ctrlPr>
                          </m:sSubSupPr>
                          <m:e>
                            <m:r>
                              <a:rPr lang="en-US" i="1">
                                <a:solidFill>
                                  <a:srgbClr val="FF0000"/>
                                </a:solidFill>
                                <a:latin typeface="Cambria Math" panose="02040503050406030204" pitchFamily="18" charset="0"/>
                              </a:rPr>
                              <m:t>𝜙</m:t>
                            </m:r>
                          </m:e>
                          <m:sub>
                            <m:r>
                              <a:rPr lang="en-US" b="0" i="1" smtClean="0">
                                <a:solidFill>
                                  <a:srgbClr val="FF0000"/>
                                </a:solidFill>
                                <a:latin typeface="Cambria Math" panose="02040503050406030204" pitchFamily="18" charset="0"/>
                              </a:rPr>
                              <m:t>𝑖</m:t>
                            </m:r>
                            <m:r>
                              <a:rPr lang="en-US" b="0" i="1" smtClean="0">
                                <a:solidFill>
                                  <a:srgbClr val="FF0000"/>
                                </a:solidFill>
                                <a:latin typeface="Cambria Math" panose="02040503050406030204" pitchFamily="18" charset="0"/>
                              </a:rPr>
                              <m:t>+1</m:t>
                            </m:r>
                          </m:sub>
                          <m:sup>
                            <m:r>
                              <a:rPr lang="en-US" b="0" i="1" smtClean="0">
                                <a:solidFill>
                                  <a:srgbClr val="FF0000"/>
                                </a:solidFill>
                                <a:latin typeface="Cambria Math" panose="02040503050406030204" pitchFamily="18" charset="0"/>
                              </a:rPr>
                              <m:t>𝑓</m:t>
                            </m:r>
                          </m:sup>
                        </m:sSubSup>
                      </m:e>
                    </m:d>
                    <m:r>
                      <a:rPr lang="en-US" b="0" i="1" smtClean="0">
                        <a:solidFill>
                          <a:srgbClr val="FF0000"/>
                        </a:solidFill>
                        <a:latin typeface="Cambria Math" panose="02040503050406030204" pitchFamily="18" charset="0"/>
                      </a:rPr>
                      <m:t>=</m:t>
                    </m:r>
                    <m:r>
                      <m:rPr>
                        <m:sty m:val="p"/>
                      </m:rPr>
                      <a:rPr lang="en-US" b="0" i="0" smtClean="0">
                        <a:solidFill>
                          <a:srgbClr val="FF0000"/>
                        </a:solidFill>
                        <a:latin typeface="Cambria Math" panose="02040503050406030204" pitchFamily="18" charset="0"/>
                      </a:rPr>
                      <m:t>Δ</m:t>
                    </m:r>
                    <m:sSup>
                      <m:sSupPr>
                        <m:ctrlPr>
                          <a:rPr lang="en-US" b="0" i="1" smtClean="0">
                            <a:solidFill>
                              <a:srgbClr val="FF0000"/>
                            </a:solidFill>
                            <a:latin typeface="Cambria Math" panose="02040503050406030204" pitchFamily="18" charset="0"/>
                          </a:rPr>
                        </m:ctrlPr>
                      </m:sSupPr>
                      <m:e>
                        <m:r>
                          <a:rPr lang="en-US" b="0" i="1" smtClean="0">
                            <a:solidFill>
                              <a:srgbClr val="FF0000"/>
                            </a:solidFill>
                            <a:latin typeface="Cambria Math" panose="02040503050406030204" pitchFamily="18" charset="0"/>
                          </a:rPr>
                          <m:t>𝑥</m:t>
                        </m:r>
                      </m:e>
                      <m:sup>
                        <m:r>
                          <a:rPr lang="en-US" b="0" i="1" smtClean="0">
                            <a:solidFill>
                              <a:srgbClr val="FF0000"/>
                            </a:solidFill>
                            <a:latin typeface="Cambria Math" panose="02040503050406030204" pitchFamily="18" charset="0"/>
                          </a:rPr>
                          <m:t>𝑐</m:t>
                        </m:r>
                      </m:sup>
                    </m:sSup>
                    <m:sSubSup>
                      <m:sSubSupPr>
                        <m:ctrlPr>
                          <a:rPr lang="en-US" b="0" i="1" smtClean="0">
                            <a:solidFill>
                              <a:srgbClr val="FF0000"/>
                            </a:solidFill>
                            <a:latin typeface="Cambria Math" panose="02040503050406030204" pitchFamily="18" charset="0"/>
                          </a:rPr>
                        </m:ctrlPr>
                      </m:sSubSupPr>
                      <m:e>
                        <m:r>
                          <a:rPr lang="en-US" b="0" i="1" smtClean="0">
                            <a:solidFill>
                              <a:srgbClr val="FF0000"/>
                            </a:solidFill>
                            <a:latin typeface="Cambria Math" panose="02040503050406030204" pitchFamily="18" charset="0"/>
                          </a:rPr>
                          <m:t>𝜙</m:t>
                        </m:r>
                      </m:e>
                      <m:sub>
                        <m:r>
                          <a:rPr lang="en-US" b="0" i="1" smtClean="0">
                            <a:solidFill>
                              <a:srgbClr val="FF0000"/>
                            </a:solidFill>
                            <a:latin typeface="Cambria Math" panose="02040503050406030204" pitchFamily="18" charset="0"/>
                          </a:rPr>
                          <m:t>𝑗</m:t>
                        </m:r>
                      </m:sub>
                      <m:sup>
                        <m:r>
                          <a:rPr lang="en-US" b="0" i="1" smtClean="0">
                            <a:solidFill>
                              <a:srgbClr val="FF0000"/>
                            </a:solidFill>
                            <a:latin typeface="Cambria Math" panose="02040503050406030204" pitchFamily="18" charset="0"/>
                          </a:rPr>
                          <m:t>𝑐</m:t>
                        </m:r>
                      </m:sup>
                    </m:sSubSup>
                  </m:oMath>
                </a14:m>
                <a:endParaRPr lang="en-US" dirty="0"/>
              </a:p>
            </p:txBody>
          </p:sp>
        </mc:Choice>
        <mc:Fallback>
          <p:sp>
            <p:nvSpPr>
              <p:cNvPr id="3" name="Content Placeholder 2">
                <a:extLst>
                  <a:ext uri="{FF2B5EF4-FFF2-40B4-BE49-F238E27FC236}">
                    <a16:creationId xmlns:a16="http://schemas.microsoft.com/office/drawing/2014/main" id="{15C4FD65-F675-944D-A379-3A5FFFAEB784}"/>
                  </a:ext>
                </a:extLst>
              </p:cNvPr>
              <p:cNvSpPr>
                <a:spLocks noGrp="1" noRot="1" noChangeAspect="1" noMove="1" noResize="1" noEditPoints="1" noAdjustHandles="1" noChangeArrowheads="1" noChangeShapeType="1" noTextEdit="1"/>
              </p:cNvSpPr>
              <p:nvPr>
                <p:ph idx="1"/>
              </p:nvPr>
            </p:nvSpPr>
            <p:spPr>
              <a:xfrm>
                <a:off x="838200" y="1325562"/>
                <a:ext cx="10515600" cy="6021911"/>
              </a:xfrm>
              <a:blipFill>
                <a:blip r:embed="rId2"/>
                <a:stretch>
                  <a:fillRect l="-1086"/>
                </a:stretch>
              </a:blipFill>
            </p:spPr>
            <p:txBody>
              <a:bodyPr/>
              <a:lstStyle/>
              <a:p>
                <a:r>
                  <a:rPr lang="en-US">
                    <a:noFill/>
                  </a:rPr>
                  <a:t> </a:t>
                </a:r>
              </a:p>
            </p:txBody>
          </p:sp>
        </mc:Fallback>
      </mc:AlternateContent>
    </p:spTree>
    <p:extLst>
      <p:ext uri="{BB962C8B-B14F-4D97-AF65-F5344CB8AC3E}">
        <p14:creationId xmlns:p14="http://schemas.microsoft.com/office/powerpoint/2010/main" val="1737949619"/>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A694632-4A69-0148-9D13-7036EEF8D63C}"/>
              </a:ext>
            </a:extLst>
          </p:cNvPr>
          <p:cNvPicPr>
            <a:picLocks noChangeAspect="1"/>
          </p:cNvPicPr>
          <p:nvPr/>
        </p:nvPicPr>
        <p:blipFill rotWithShape="1">
          <a:blip r:embed="rId2"/>
          <a:srcRect l="3558" r="5335"/>
          <a:stretch/>
        </p:blipFill>
        <p:spPr>
          <a:xfrm>
            <a:off x="6836857" y="1237129"/>
            <a:ext cx="5310545" cy="5405718"/>
          </a:xfrm>
          <a:prstGeom prst="rect">
            <a:avLst/>
          </a:prstGeom>
        </p:spPr>
      </p:pic>
      <p:sp>
        <p:nvSpPr>
          <p:cNvPr id="2" name="Title 1">
            <a:extLst>
              <a:ext uri="{FF2B5EF4-FFF2-40B4-BE49-F238E27FC236}">
                <a16:creationId xmlns:a16="http://schemas.microsoft.com/office/drawing/2014/main" id="{75DCE2F9-F4C3-DA4C-B0FC-7FF6F22D148C}"/>
              </a:ext>
            </a:extLst>
          </p:cNvPr>
          <p:cNvSpPr>
            <a:spLocks noGrp="1"/>
          </p:cNvSpPr>
          <p:nvPr>
            <p:ph type="title"/>
          </p:nvPr>
        </p:nvSpPr>
        <p:spPr>
          <a:xfrm>
            <a:off x="838200" y="0"/>
            <a:ext cx="10515600" cy="1325563"/>
          </a:xfrm>
        </p:spPr>
        <p:txBody>
          <a:bodyPr/>
          <a:lstStyle/>
          <a:p>
            <a:r>
              <a:rPr lang="en-US" dirty="0"/>
              <a:t>Prolongation – 2D (2</a:t>
            </a:r>
            <a:r>
              <a:rPr lang="en-US" baseline="30000" dirty="0"/>
              <a:t>nd</a:t>
            </a:r>
            <a:r>
              <a:rPr lang="en-US" dirty="0"/>
              <a:t> order accuracy)</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5C4FD65-F675-944D-A379-3A5FFFAEB784}"/>
                  </a:ext>
                </a:extLst>
              </p:cNvPr>
              <p:cNvSpPr>
                <a:spLocks noGrp="1"/>
              </p:cNvSpPr>
              <p:nvPr>
                <p:ph idx="1"/>
              </p:nvPr>
            </p:nvSpPr>
            <p:spPr>
              <a:xfrm>
                <a:off x="0" y="1325562"/>
                <a:ext cx="7016620" cy="5532438"/>
              </a:xfrm>
            </p:spPr>
            <p:txBody>
              <a:bodyPr>
                <a:normAutofit/>
              </a:bodyPr>
              <a:lstStyle/>
              <a:p>
                <a:pPr>
                  <a:lnSpc>
                    <a:spcPct val="100000"/>
                  </a:lnSpc>
                </a:pPr>
                <a:r>
                  <a:rPr lang="en-US" dirty="0"/>
                  <a:t>A linear reconstruction of the coarse data in  </a:t>
                </a:r>
                <a:r>
                  <a:rPr lang="en-US" i="1" dirty="0"/>
                  <a:t>x </a:t>
                </a:r>
                <a:r>
                  <a:rPr lang="en-US" dirty="0"/>
                  <a:t>and </a:t>
                </a:r>
                <a:r>
                  <a:rPr lang="en-US" i="1" dirty="0"/>
                  <a:t>y </a:t>
                </a:r>
                <a:r>
                  <a:rPr lang="en-US" dirty="0"/>
                  <a:t>is </a:t>
                </a:r>
              </a:p>
              <a:p>
                <a:pPr marL="0" indent="0">
                  <a:lnSpc>
                    <a:spcPct val="150000"/>
                  </a:lnSpc>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𝜙</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𝑦</m:t>
                          </m:r>
                        </m:e>
                      </m:d>
                      <m:r>
                        <a:rPr lang="en-US" b="0" i="1" smtClean="0">
                          <a:latin typeface="Cambria Math" panose="02040503050406030204" pitchFamily="18" charset="0"/>
                        </a:rPr>
                        <m:t>=</m:t>
                      </m:r>
                      <m:f>
                        <m:fPr>
                          <m:ctrlPr>
                            <a:rPr lang="en-US" b="0" i="1" smtClean="0">
                              <a:latin typeface="Cambria Math" panose="02040503050406030204" pitchFamily="18" charset="0"/>
                            </a:rPr>
                          </m:ctrlPr>
                        </m:fPr>
                        <m:num>
                          <m:sSub>
                            <m:sSubPr>
                              <m:ctrlPr>
                                <a:rPr lang="en-US" b="0" i="1" smtClean="0">
                                  <a:latin typeface="Cambria Math" panose="02040503050406030204" pitchFamily="18" charset="0"/>
                                </a:rPr>
                              </m:ctrlPr>
                            </m:sSubPr>
                            <m:e>
                              <m:r>
                                <a:rPr lang="en-US" b="0" i="1" smtClean="0">
                                  <a:latin typeface="Cambria Math" panose="02040503050406030204" pitchFamily="18" charset="0"/>
                                </a:rPr>
                                <m:t>𝑚</m:t>
                              </m:r>
                            </m:e>
                            <m:sub>
                              <m:r>
                                <a:rPr lang="en-US" b="0" i="1" smtClean="0">
                                  <a:latin typeface="Cambria Math" panose="02040503050406030204" pitchFamily="18" charset="0"/>
                                </a:rPr>
                                <m:t>𝑥</m:t>
                              </m:r>
                            </m:sub>
                          </m:sSub>
                        </m:num>
                        <m:den>
                          <m:r>
                            <m:rPr>
                              <m:sty m:val="p"/>
                            </m:rPr>
                            <a:rPr lang="en-US" b="0" i="0" smtClean="0">
                              <a:latin typeface="Cambria Math" panose="02040503050406030204" pitchFamily="18" charset="0"/>
                            </a:rPr>
                            <m:t>Δ</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𝑥</m:t>
                              </m:r>
                            </m:e>
                            <m:sup>
                              <m:r>
                                <a:rPr lang="en-US" b="0" i="1" smtClean="0">
                                  <a:latin typeface="Cambria Math" panose="02040503050406030204" pitchFamily="18" charset="0"/>
                                </a:rPr>
                                <m:t>𝑐</m:t>
                              </m:r>
                            </m:sup>
                          </m:sSup>
                        </m:den>
                      </m:f>
                      <m:d>
                        <m:dPr>
                          <m:ctrlPr>
                            <a:rPr lang="en-US" b="0" i="1" smtClean="0">
                              <a:latin typeface="Cambria Math" panose="02040503050406030204" pitchFamily="18" charset="0"/>
                            </a:rPr>
                          </m:ctrlPr>
                        </m:dPr>
                        <m:e>
                          <m:r>
                            <a:rPr lang="en-US" b="0" i="1" smtClean="0">
                              <a:latin typeface="Cambria Math" panose="02040503050406030204" pitchFamily="18" charset="0"/>
                            </a:rPr>
                            <m:t>𝑥</m:t>
                          </m:r>
                          <m:r>
                            <a:rPr lang="en-US" b="0" i="1" smtClean="0">
                              <a:latin typeface="Cambria Math" panose="02040503050406030204" pitchFamily="18" charset="0"/>
                            </a:rPr>
                            <m:t>−</m:t>
                          </m:r>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𝑥</m:t>
                              </m:r>
                            </m:e>
                            <m:sub>
                              <m:r>
                                <a:rPr lang="en-US" b="0" i="1" smtClean="0">
                                  <a:latin typeface="Cambria Math" panose="02040503050406030204" pitchFamily="18" charset="0"/>
                                </a:rPr>
                                <m:t>𝑖</m:t>
                              </m:r>
                            </m:sub>
                            <m:sup>
                              <m:r>
                                <a:rPr lang="en-US" b="0" i="1" smtClean="0">
                                  <a:latin typeface="Cambria Math" panose="02040503050406030204" pitchFamily="18" charset="0"/>
                                </a:rPr>
                                <m:t>𝑐</m:t>
                              </m:r>
                            </m:sup>
                          </m:sSubSup>
                        </m:e>
                      </m:d>
                      <m:r>
                        <a:rPr lang="en-US" b="0" i="1" smtClean="0">
                          <a:latin typeface="Cambria Math" panose="02040503050406030204" pitchFamily="18" charset="0"/>
                        </a:rPr>
                        <m:t>+</m:t>
                      </m:r>
                      <m:f>
                        <m:fPr>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𝑚</m:t>
                              </m:r>
                            </m:e>
                            <m:sub>
                              <m:r>
                                <a:rPr lang="en-US" b="0" i="1" smtClean="0">
                                  <a:latin typeface="Cambria Math" panose="02040503050406030204" pitchFamily="18" charset="0"/>
                                </a:rPr>
                                <m:t>𝑦</m:t>
                              </m:r>
                            </m:sub>
                          </m:sSub>
                        </m:num>
                        <m:den>
                          <m:r>
                            <m:rPr>
                              <m:sty m:val="p"/>
                            </m:rPr>
                            <a:rPr lang="en-US">
                              <a:latin typeface="Cambria Math" panose="02040503050406030204" pitchFamily="18" charset="0"/>
                            </a:rPr>
                            <m:t>Δ</m:t>
                          </m:r>
                          <m:sSup>
                            <m:sSupPr>
                              <m:ctrlPr>
                                <a:rPr lang="en-US" i="1">
                                  <a:latin typeface="Cambria Math" panose="02040503050406030204" pitchFamily="18" charset="0"/>
                                </a:rPr>
                              </m:ctrlPr>
                            </m:sSupPr>
                            <m:e>
                              <m:r>
                                <a:rPr lang="en-US" b="0" i="1" smtClean="0">
                                  <a:latin typeface="Cambria Math" panose="02040503050406030204" pitchFamily="18" charset="0"/>
                                </a:rPr>
                                <m:t>𝑦</m:t>
                              </m:r>
                            </m:e>
                            <m:sup>
                              <m:r>
                                <a:rPr lang="en-US" i="1">
                                  <a:latin typeface="Cambria Math" panose="02040503050406030204" pitchFamily="18" charset="0"/>
                                </a:rPr>
                                <m:t>𝑐</m:t>
                              </m:r>
                            </m:sup>
                          </m:sSup>
                        </m:den>
                      </m:f>
                      <m:d>
                        <m:dPr>
                          <m:ctrlPr>
                            <a:rPr lang="en-US" i="1">
                              <a:latin typeface="Cambria Math" panose="02040503050406030204" pitchFamily="18" charset="0"/>
                            </a:rPr>
                          </m:ctrlPr>
                        </m:dPr>
                        <m:e>
                          <m:r>
                            <a:rPr lang="en-US" b="0" i="1" smtClean="0">
                              <a:latin typeface="Cambria Math" panose="02040503050406030204" pitchFamily="18" charset="0"/>
                            </a:rPr>
                            <m:t>𝑦</m:t>
                          </m:r>
                          <m:r>
                            <a:rPr lang="en-US" i="1">
                              <a:latin typeface="Cambria Math" panose="02040503050406030204" pitchFamily="18" charset="0"/>
                            </a:rPr>
                            <m:t>−</m:t>
                          </m:r>
                          <m:sSubSup>
                            <m:sSubSupPr>
                              <m:ctrlPr>
                                <a:rPr lang="en-US" i="1">
                                  <a:latin typeface="Cambria Math" panose="02040503050406030204" pitchFamily="18" charset="0"/>
                                </a:rPr>
                              </m:ctrlPr>
                            </m:sSubSupPr>
                            <m:e>
                              <m:r>
                                <a:rPr lang="en-US" b="0" i="1" smtClean="0">
                                  <a:latin typeface="Cambria Math" panose="02040503050406030204" pitchFamily="18" charset="0"/>
                                </a:rPr>
                                <m:t>𝑦</m:t>
                              </m:r>
                            </m:e>
                            <m:sub>
                              <m:r>
                                <a:rPr lang="en-US" b="0" i="1" smtClean="0">
                                  <a:latin typeface="Cambria Math" panose="02040503050406030204" pitchFamily="18" charset="0"/>
                                </a:rPr>
                                <m:t>𝑗</m:t>
                              </m:r>
                            </m:sub>
                            <m:sup>
                              <m:r>
                                <a:rPr lang="en-US" i="1">
                                  <a:latin typeface="Cambria Math" panose="02040503050406030204" pitchFamily="18" charset="0"/>
                                </a:rPr>
                                <m:t>𝑐</m:t>
                              </m:r>
                            </m:sup>
                          </m:sSubSup>
                        </m:e>
                      </m:d>
                      <m:r>
                        <a:rPr lang="en-US" b="0" i="1" smtClean="0">
                          <a:latin typeface="Cambria Math" panose="02040503050406030204" pitchFamily="18" charset="0"/>
                        </a:rPr>
                        <m:t>+</m:t>
                      </m:r>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𝜙</m:t>
                          </m:r>
                        </m:e>
                        <m:sub>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𝑗</m:t>
                          </m:r>
                        </m:sub>
                        <m:sup>
                          <m:r>
                            <a:rPr lang="en-US" b="0" i="1" smtClean="0">
                              <a:latin typeface="Cambria Math" panose="02040503050406030204" pitchFamily="18" charset="0"/>
                            </a:rPr>
                            <m:t>𝑐</m:t>
                          </m:r>
                        </m:sup>
                      </m:sSubSup>
                    </m:oMath>
                  </m:oMathPara>
                </a14:m>
                <a:endParaRPr lang="en-US" dirty="0"/>
              </a:p>
              <a:p>
                <a:pPr marL="0" indent="0">
                  <a:lnSpc>
                    <a:spcPct val="100000"/>
                  </a:lnSpc>
                  <a:buNone/>
                </a:pPr>
                <a:r>
                  <a:rPr lang="en-US" dirty="0"/>
                  <a:t>   with slopes</a:t>
                </a:r>
              </a:p>
              <a:p>
                <a:pPr marL="0" indent="0">
                  <a:lnSpc>
                    <a:spcPct val="100000"/>
                  </a:lnSpc>
                  <a:buNone/>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𝑚</m:t>
                          </m:r>
                        </m:e>
                        <m:sub>
                          <m:r>
                            <a:rPr lang="en-US" b="0" i="1" smtClean="0">
                              <a:latin typeface="Cambria Math" panose="02040503050406030204" pitchFamily="18" charset="0"/>
                            </a:rPr>
                            <m:t>𝑥</m:t>
                          </m:r>
                        </m:sub>
                      </m:sSub>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2</m:t>
                          </m:r>
                        </m:den>
                      </m:f>
                      <m:r>
                        <a:rPr lang="en-US" b="0" i="1" smtClean="0">
                          <a:latin typeface="Cambria Math" panose="02040503050406030204" pitchFamily="18" charset="0"/>
                        </a:rPr>
                        <m:t>(</m:t>
                      </m:r>
                      <m:sSubSup>
                        <m:sSubSupPr>
                          <m:ctrlPr>
                            <a:rPr lang="en-US" i="1">
                              <a:latin typeface="Cambria Math" panose="02040503050406030204" pitchFamily="18" charset="0"/>
                            </a:rPr>
                          </m:ctrlPr>
                        </m:sSubSupPr>
                        <m:e>
                          <m:r>
                            <a:rPr lang="en-US" i="1">
                              <a:latin typeface="Cambria Math" panose="02040503050406030204" pitchFamily="18" charset="0"/>
                            </a:rPr>
                            <m:t>𝜙</m:t>
                          </m:r>
                        </m:e>
                        <m:sub>
                          <m:r>
                            <a:rPr lang="en-US" b="0" i="1" smtClean="0">
                              <a:latin typeface="Cambria Math" panose="02040503050406030204" pitchFamily="18" charset="0"/>
                            </a:rPr>
                            <m:t>𝑖</m:t>
                          </m:r>
                          <m:r>
                            <a:rPr lang="en-US" i="1">
                              <a:latin typeface="Cambria Math" panose="02040503050406030204" pitchFamily="18" charset="0"/>
                            </a:rPr>
                            <m:t>+1</m:t>
                          </m:r>
                          <m:r>
                            <a:rPr lang="en-US" b="0" i="1" smtClean="0">
                              <a:latin typeface="Cambria Math" panose="02040503050406030204" pitchFamily="18" charset="0"/>
                            </a:rPr>
                            <m:t>,</m:t>
                          </m:r>
                          <m:r>
                            <a:rPr lang="en-US" b="0" i="1" smtClean="0">
                              <a:latin typeface="Cambria Math" panose="02040503050406030204" pitchFamily="18" charset="0"/>
                            </a:rPr>
                            <m:t>𝑗</m:t>
                          </m:r>
                        </m:sub>
                        <m:sup>
                          <m:r>
                            <a:rPr lang="en-US" i="1">
                              <a:latin typeface="Cambria Math" panose="02040503050406030204" pitchFamily="18" charset="0"/>
                            </a:rPr>
                            <m:t>𝑐</m:t>
                          </m:r>
                        </m:sup>
                      </m:sSubSup>
                      <m:r>
                        <a:rPr lang="en-US" i="1">
                          <a:latin typeface="Cambria Math" panose="02040503050406030204" pitchFamily="18" charset="0"/>
                        </a:rPr>
                        <m:t>−</m:t>
                      </m:r>
                      <m:sSubSup>
                        <m:sSubSupPr>
                          <m:ctrlPr>
                            <a:rPr lang="en-US" i="1">
                              <a:latin typeface="Cambria Math" panose="02040503050406030204" pitchFamily="18" charset="0"/>
                            </a:rPr>
                          </m:ctrlPr>
                        </m:sSubSupPr>
                        <m:e>
                          <m:r>
                            <a:rPr lang="en-US" i="1">
                              <a:latin typeface="Cambria Math" panose="02040503050406030204" pitchFamily="18" charset="0"/>
                            </a:rPr>
                            <m:t>𝜙</m:t>
                          </m:r>
                        </m:e>
                        <m:sub>
                          <m:r>
                            <a:rPr lang="en-US" b="0" i="1" smtClean="0">
                              <a:latin typeface="Cambria Math" panose="02040503050406030204" pitchFamily="18" charset="0"/>
                            </a:rPr>
                            <m:t>𝑖</m:t>
                          </m:r>
                          <m:r>
                            <a:rPr lang="en-US" i="1">
                              <a:latin typeface="Cambria Math" panose="02040503050406030204" pitchFamily="18" charset="0"/>
                            </a:rPr>
                            <m:t>−1</m:t>
                          </m:r>
                          <m:r>
                            <a:rPr lang="en-US" b="0" i="1" smtClean="0">
                              <a:latin typeface="Cambria Math" panose="02040503050406030204" pitchFamily="18" charset="0"/>
                            </a:rPr>
                            <m:t>,</m:t>
                          </m:r>
                          <m:r>
                            <a:rPr lang="en-US" b="0" i="1" smtClean="0">
                              <a:latin typeface="Cambria Math" panose="02040503050406030204" pitchFamily="18" charset="0"/>
                            </a:rPr>
                            <m:t>𝑗</m:t>
                          </m:r>
                        </m:sub>
                        <m:sup>
                          <m:r>
                            <a:rPr lang="en-US" i="1">
                              <a:latin typeface="Cambria Math" panose="02040503050406030204" pitchFamily="18" charset="0"/>
                            </a:rPr>
                            <m:t>𝑐</m:t>
                          </m:r>
                        </m:sup>
                      </m:sSubSup>
                      <m:r>
                        <a:rPr lang="en-US" b="0" i="1" smtClean="0">
                          <a:latin typeface="Cambria Math" panose="02040503050406030204" pitchFamily="18" charset="0"/>
                        </a:rPr>
                        <m:t>)</m:t>
                      </m:r>
                    </m:oMath>
                  </m:oMathPara>
                </a14:m>
                <a:endParaRPr lang="en-US" dirty="0"/>
              </a:p>
              <a:p>
                <a:pPr marL="0" indent="0">
                  <a:lnSpc>
                    <a:spcPct val="100000"/>
                  </a:lnSpc>
                  <a:buNone/>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𝑚</m:t>
                          </m:r>
                        </m:e>
                        <m:sub>
                          <m:r>
                            <a:rPr lang="en-US" b="0" i="1" smtClean="0">
                              <a:latin typeface="Cambria Math" panose="02040503050406030204" pitchFamily="18" charset="0"/>
                            </a:rPr>
                            <m:t>𝑦</m:t>
                          </m:r>
                        </m:sub>
                      </m:sSub>
                      <m:r>
                        <a:rPr lang="en-US" i="1">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1</m:t>
                          </m:r>
                        </m:num>
                        <m:den>
                          <m:r>
                            <a:rPr lang="en-US" i="1">
                              <a:latin typeface="Cambria Math" panose="02040503050406030204" pitchFamily="18" charset="0"/>
                            </a:rPr>
                            <m:t>2</m:t>
                          </m:r>
                        </m:den>
                      </m:f>
                      <m:r>
                        <a:rPr lang="en-US" i="1">
                          <a:latin typeface="Cambria Math" panose="02040503050406030204" pitchFamily="18" charset="0"/>
                        </a:rPr>
                        <m:t>(</m:t>
                      </m:r>
                      <m:sSubSup>
                        <m:sSubSupPr>
                          <m:ctrlPr>
                            <a:rPr lang="en-US" i="1">
                              <a:latin typeface="Cambria Math" panose="02040503050406030204" pitchFamily="18" charset="0"/>
                            </a:rPr>
                          </m:ctrlPr>
                        </m:sSubSupPr>
                        <m:e>
                          <m:r>
                            <a:rPr lang="en-US" i="1">
                              <a:latin typeface="Cambria Math" panose="02040503050406030204" pitchFamily="18" charset="0"/>
                            </a:rPr>
                            <m:t>𝜙</m:t>
                          </m:r>
                        </m:e>
                        <m:sub>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𝑗</m:t>
                          </m:r>
                          <m:r>
                            <a:rPr lang="en-US" i="1">
                              <a:latin typeface="Cambria Math" panose="02040503050406030204" pitchFamily="18" charset="0"/>
                            </a:rPr>
                            <m:t>+1</m:t>
                          </m:r>
                        </m:sub>
                        <m:sup>
                          <m:r>
                            <a:rPr lang="en-US" i="1">
                              <a:latin typeface="Cambria Math" panose="02040503050406030204" pitchFamily="18" charset="0"/>
                            </a:rPr>
                            <m:t>𝑐</m:t>
                          </m:r>
                        </m:sup>
                      </m:sSubSup>
                      <m:r>
                        <a:rPr lang="en-US" i="1">
                          <a:latin typeface="Cambria Math" panose="02040503050406030204" pitchFamily="18" charset="0"/>
                        </a:rPr>
                        <m:t>−</m:t>
                      </m:r>
                      <m:sSubSup>
                        <m:sSubSupPr>
                          <m:ctrlPr>
                            <a:rPr lang="en-US" i="1">
                              <a:latin typeface="Cambria Math" panose="02040503050406030204" pitchFamily="18" charset="0"/>
                            </a:rPr>
                          </m:ctrlPr>
                        </m:sSubSupPr>
                        <m:e>
                          <m:r>
                            <a:rPr lang="en-US" i="1">
                              <a:latin typeface="Cambria Math" panose="02040503050406030204" pitchFamily="18" charset="0"/>
                            </a:rPr>
                            <m:t>𝜙</m:t>
                          </m:r>
                        </m:e>
                        <m:sub>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𝑗</m:t>
                          </m:r>
                          <m:r>
                            <a:rPr lang="en-US" i="1">
                              <a:latin typeface="Cambria Math" panose="02040503050406030204" pitchFamily="18" charset="0"/>
                            </a:rPr>
                            <m:t>−1</m:t>
                          </m:r>
                        </m:sub>
                        <m:sup>
                          <m:r>
                            <a:rPr lang="en-US" i="1">
                              <a:latin typeface="Cambria Math" panose="02040503050406030204" pitchFamily="18" charset="0"/>
                            </a:rPr>
                            <m:t>𝑐</m:t>
                          </m:r>
                        </m:sup>
                      </m:sSubSup>
                      <m:r>
                        <a:rPr lang="en-US" i="1">
                          <a:latin typeface="Cambria Math" panose="02040503050406030204" pitchFamily="18" charset="0"/>
                        </a:rPr>
                        <m:t>)</m:t>
                      </m:r>
                    </m:oMath>
                  </m:oMathPara>
                </a14:m>
                <a:endParaRPr lang="en-US" dirty="0"/>
              </a:p>
            </p:txBody>
          </p:sp>
        </mc:Choice>
        <mc:Fallback xmlns="">
          <p:sp>
            <p:nvSpPr>
              <p:cNvPr id="3" name="Content Placeholder 2">
                <a:extLst>
                  <a:ext uri="{FF2B5EF4-FFF2-40B4-BE49-F238E27FC236}">
                    <a16:creationId xmlns:a16="http://schemas.microsoft.com/office/drawing/2014/main" id="{15C4FD65-F675-944D-A379-3A5FFFAEB784}"/>
                  </a:ext>
                </a:extLst>
              </p:cNvPr>
              <p:cNvSpPr>
                <a:spLocks noGrp="1" noRot="1" noChangeAspect="1" noMove="1" noResize="1" noEditPoints="1" noAdjustHandles="1" noChangeArrowheads="1" noChangeShapeType="1" noTextEdit="1"/>
              </p:cNvSpPr>
              <p:nvPr>
                <p:ph idx="1"/>
              </p:nvPr>
            </p:nvSpPr>
            <p:spPr>
              <a:xfrm>
                <a:off x="0" y="1325562"/>
                <a:ext cx="7016620" cy="5532438"/>
              </a:xfrm>
              <a:blipFill>
                <a:blip r:embed="rId3"/>
                <a:stretch>
                  <a:fillRect l="-1449" t="-915"/>
                </a:stretch>
              </a:blipFill>
            </p:spPr>
            <p:txBody>
              <a:bodyPr/>
              <a:lstStyle/>
              <a:p>
                <a:r>
                  <a:rPr lang="en-US">
                    <a:noFill/>
                  </a:rPr>
                  <a:t> </a:t>
                </a:r>
              </a:p>
            </p:txBody>
          </p:sp>
        </mc:Fallback>
      </mc:AlternateContent>
    </p:spTree>
    <p:extLst>
      <p:ext uri="{BB962C8B-B14F-4D97-AF65-F5344CB8AC3E}">
        <p14:creationId xmlns:p14="http://schemas.microsoft.com/office/powerpoint/2010/main" val="1038636406"/>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F50FDC97-309E-244D-A79E-16046EA31BE9}"/>
              </a:ext>
            </a:extLst>
          </p:cNvPr>
          <p:cNvPicPr>
            <a:picLocks noChangeAspect="1"/>
          </p:cNvPicPr>
          <p:nvPr/>
        </p:nvPicPr>
        <p:blipFill rotWithShape="1">
          <a:blip r:embed="rId2"/>
          <a:srcRect l="3558" r="5335"/>
          <a:stretch/>
        </p:blipFill>
        <p:spPr>
          <a:xfrm>
            <a:off x="6836857" y="1237129"/>
            <a:ext cx="5310545" cy="5405718"/>
          </a:xfrm>
          <a:prstGeom prst="rect">
            <a:avLst/>
          </a:prstGeom>
        </p:spPr>
      </p:pic>
      <p:sp>
        <p:nvSpPr>
          <p:cNvPr id="4" name="Title 1">
            <a:extLst>
              <a:ext uri="{FF2B5EF4-FFF2-40B4-BE49-F238E27FC236}">
                <a16:creationId xmlns:a16="http://schemas.microsoft.com/office/drawing/2014/main" id="{FBD5DFBA-2E54-3049-96D2-AD1DDB775993}"/>
              </a:ext>
            </a:extLst>
          </p:cNvPr>
          <p:cNvSpPr>
            <a:spLocks noGrp="1"/>
          </p:cNvSpPr>
          <p:nvPr>
            <p:ph type="title"/>
          </p:nvPr>
        </p:nvSpPr>
        <p:spPr>
          <a:xfrm>
            <a:off x="838200" y="0"/>
            <a:ext cx="10515600" cy="1325563"/>
          </a:xfrm>
        </p:spPr>
        <p:txBody>
          <a:bodyPr/>
          <a:lstStyle/>
          <a:p>
            <a:r>
              <a:rPr lang="en-US" dirty="0"/>
              <a:t>Prolongation – 2D (2</a:t>
            </a:r>
            <a:r>
              <a:rPr lang="en-US" baseline="30000" dirty="0"/>
              <a:t>nd</a:t>
            </a:r>
            <a:r>
              <a:rPr lang="en-US" dirty="0"/>
              <a:t> order accuracy)</a:t>
            </a:r>
          </a:p>
        </p:txBody>
      </p:sp>
      <mc:AlternateContent xmlns:mc="http://schemas.openxmlformats.org/markup-compatibility/2006" xmlns:a14="http://schemas.microsoft.com/office/drawing/2010/main">
        <mc:Choice Requires="a14">
          <p:sp>
            <p:nvSpPr>
              <p:cNvPr id="5" name="Content Placeholder 4">
                <a:extLst>
                  <a:ext uri="{FF2B5EF4-FFF2-40B4-BE49-F238E27FC236}">
                    <a16:creationId xmlns:a16="http://schemas.microsoft.com/office/drawing/2014/main" id="{A69ABDD9-A2A4-564C-8288-9A6EA8F67E8B}"/>
                  </a:ext>
                </a:extLst>
              </p:cNvPr>
              <p:cNvSpPr>
                <a:spLocks noGrp="1"/>
              </p:cNvSpPr>
              <p:nvPr>
                <p:ph idx="1"/>
              </p:nvPr>
            </p:nvSpPr>
            <p:spPr>
              <a:xfrm>
                <a:off x="0" y="1325563"/>
                <a:ext cx="6734287" cy="5463633"/>
              </a:xfrm>
            </p:spPr>
            <p:txBody>
              <a:bodyPr/>
              <a:lstStyle/>
              <a:p>
                <a:r>
                  <a:rPr lang="en-US" dirty="0"/>
                  <a:t>The fine cells coordinates are</a:t>
                </a:r>
              </a:p>
              <a:p>
                <a:pPr marL="0" indent="0">
                  <a:lnSpc>
                    <a:spcPct val="100000"/>
                  </a:lnSpc>
                  <a:buNone/>
                </a:pPr>
                <a14:m>
                  <m:oMathPara xmlns:m="http://schemas.openxmlformats.org/officeDocument/2006/math">
                    <m:oMathParaPr>
                      <m:jc m:val="centerGroup"/>
                    </m:oMathParaPr>
                    <m:oMath xmlns:m="http://schemas.openxmlformats.org/officeDocument/2006/math">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𝑥</m:t>
                          </m:r>
                        </m:e>
                        <m:sub>
                          <m:r>
                            <a:rPr lang="en-US" b="0" i="1" smtClean="0">
                              <a:latin typeface="Cambria Math" panose="02040503050406030204" pitchFamily="18" charset="0"/>
                            </a:rPr>
                            <m:t>±</m:t>
                          </m:r>
                        </m:sub>
                        <m:sup>
                          <m:r>
                            <a:rPr lang="en-US" b="0" i="1" smtClean="0">
                              <a:latin typeface="Cambria Math" panose="02040503050406030204" pitchFamily="18" charset="0"/>
                            </a:rPr>
                            <m:t>𝑓</m:t>
                          </m:r>
                        </m:sup>
                      </m:sSubSup>
                      <m:r>
                        <a:rPr lang="en-US" b="0" i="1" smtClean="0">
                          <a:latin typeface="Cambria Math" panose="02040503050406030204" pitchFamily="18" charset="0"/>
                        </a:rPr>
                        <m:t>=</m:t>
                      </m:r>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𝑥</m:t>
                          </m:r>
                        </m:e>
                        <m:sub>
                          <m:r>
                            <a:rPr lang="en-US" b="0" i="1" smtClean="0">
                              <a:latin typeface="Cambria Math" panose="02040503050406030204" pitchFamily="18" charset="0"/>
                            </a:rPr>
                            <m:t>𝑖</m:t>
                          </m:r>
                        </m:sub>
                        <m:sup>
                          <m:r>
                            <a:rPr lang="en-US" b="0" i="1" smtClean="0">
                              <a:latin typeface="Cambria Math" panose="02040503050406030204" pitchFamily="18" charset="0"/>
                            </a:rPr>
                            <m:t>𝑐</m:t>
                          </m:r>
                        </m:sup>
                      </m:sSubSup>
                      <m:r>
                        <a:rPr lang="en-US" b="0" i="1" smtClean="0">
                          <a:latin typeface="Cambria Math" panose="02040503050406030204" pitchFamily="18" charset="0"/>
                        </a:rPr>
                        <m:t>±</m:t>
                      </m:r>
                      <m:f>
                        <m:fPr>
                          <m:ctrlPr>
                            <a:rPr lang="en-US" b="0" i="1" smtClean="0">
                              <a:latin typeface="Cambria Math" panose="02040503050406030204" pitchFamily="18" charset="0"/>
                            </a:rPr>
                          </m:ctrlPr>
                        </m:fPr>
                        <m:num>
                          <m:r>
                            <m:rPr>
                              <m:sty m:val="p"/>
                            </m:rPr>
                            <a:rPr lang="en-US" b="0" i="0" smtClean="0">
                              <a:latin typeface="Cambria Math" panose="02040503050406030204" pitchFamily="18" charset="0"/>
                            </a:rPr>
                            <m:t>Δ</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𝑥</m:t>
                              </m:r>
                            </m:e>
                            <m:sup>
                              <m:r>
                                <a:rPr lang="en-US" b="0" i="1" smtClean="0">
                                  <a:latin typeface="Cambria Math" panose="02040503050406030204" pitchFamily="18" charset="0"/>
                                </a:rPr>
                                <m:t>𝑐</m:t>
                              </m:r>
                            </m:sup>
                          </m:sSup>
                        </m:num>
                        <m:den>
                          <m:r>
                            <a:rPr lang="en-US" b="0" i="1" smtClean="0">
                              <a:latin typeface="Cambria Math" panose="02040503050406030204" pitchFamily="18" charset="0"/>
                            </a:rPr>
                            <m:t>4</m:t>
                          </m:r>
                        </m:den>
                      </m:f>
                    </m:oMath>
                  </m:oMathPara>
                </a14:m>
                <a:endParaRPr lang="en-US" dirty="0"/>
              </a:p>
              <a:p>
                <a:pPr marL="0" indent="0">
                  <a:lnSpc>
                    <a:spcPct val="100000"/>
                  </a:lnSpc>
                  <a:buNone/>
                </a:pPr>
                <a14:m>
                  <m:oMathPara xmlns:m="http://schemas.openxmlformats.org/officeDocument/2006/math">
                    <m:oMathParaPr>
                      <m:jc m:val="centerGroup"/>
                    </m:oMathParaPr>
                    <m:oMath xmlns:m="http://schemas.openxmlformats.org/officeDocument/2006/math">
                      <m:sSubSup>
                        <m:sSubSupPr>
                          <m:ctrlPr>
                            <a:rPr lang="en-US" i="1">
                              <a:latin typeface="Cambria Math" panose="02040503050406030204" pitchFamily="18" charset="0"/>
                            </a:rPr>
                          </m:ctrlPr>
                        </m:sSubSupPr>
                        <m:e>
                          <m:r>
                            <a:rPr lang="en-US" b="0" i="1" smtClean="0">
                              <a:latin typeface="Cambria Math" panose="02040503050406030204" pitchFamily="18" charset="0"/>
                            </a:rPr>
                            <m:t>𝑦</m:t>
                          </m:r>
                        </m:e>
                        <m:sub>
                          <m:r>
                            <a:rPr lang="en-US" i="1">
                              <a:latin typeface="Cambria Math" panose="02040503050406030204" pitchFamily="18" charset="0"/>
                            </a:rPr>
                            <m:t>±</m:t>
                          </m:r>
                        </m:sub>
                        <m:sup>
                          <m:r>
                            <a:rPr lang="en-US" i="1">
                              <a:latin typeface="Cambria Math" panose="02040503050406030204" pitchFamily="18" charset="0"/>
                            </a:rPr>
                            <m:t>𝑓</m:t>
                          </m:r>
                        </m:sup>
                      </m:sSubSup>
                      <m:r>
                        <a:rPr lang="en-US" i="1">
                          <a:latin typeface="Cambria Math" panose="02040503050406030204" pitchFamily="18" charset="0"/>
                        </a:rPr>
                        <m:t>=</m:t>
                      </m:r>
                      <m:sSubSup>
                        <m:sSubSupPr>
                          <m:ctrlPr>
                            <a:rPr lang="en-US" i="1" smtClean="0">
                              <a:latin typeface="Cambria Math" panose="02040503050406030204" pitchFamily="18" charset="0"/>
                            </a:rPr>
                          </m:ctrlPr>
                        </m:sSubSupPr>
                        <m:e>
                          <m:r>
                            <a:rPr lang="en-US" b="0" i="1" smtClean="0">
                              <a:latin typeface="Cambria Math" panose="02040503050406030204" pitchFamily="18" charset="0"/>
                            </a:rPr>
                            <m:t>𝑦</m:t>
                          </m:r>
                        </m:e>
                        <m:sub>
                          <m:r>
                            <a:rPr lang="en-US" i="1">
                              <a:latin typeface="Cambria Math" panose="02040503050406030204" pitchFamily="18" charset="0"/>
                            </a:rPr>
                            <m:t>𝑖</m:t>
                          </m:r>
                        </m:sub>
                        <m:sup>
                          <m:r>
                            <a:rPr lang="en-US" i="1">
                              <a:latin typeface="Cambria Math" panose="02040503050406030204" pitchFamily="18" charset="0"/>
                            </a:rPr>
                            <m:t>𝑐</m:t>
                          </m:r>
                        </m:sup>
                      </m:sSubSup>
                      <m:r>
                        <a:rPr lang="en-US" i="1">
                          <a:latin typeface="Cambria Math" panose="02040503050406030204" pitchFamily="18" charset="0"/>
                        </a:rPr>
                        <m:t>±</m:t>
                      </m:r>
                      <m:f>
                        <m:fPr>
                          <m:ctrlPr>
                            <a:rPr lang="en-US" i="1">
                              <a:latin typeface="Cambria Math" panose="02040503050406030204" pitchFamily="18" charset="0"/>
                            </a:rPr>
                          </m:ctrlPr>
                        </m:fPr>
                        <m:num>
                          <m:r>
                            <m:rPr>
                              <m:sty m:val="p"/>
                            </m:rPr>
                            <a:rPr lang="en-US">
                              <a:latin typeface="Cambria Math" panose="02040503050406030204" pitchFamily="18" charset="0"/>
                            </a:rPr>
                            <m:t>Δ</m:t>
                          </m:r>
                          <m:sSup>
                            <m:sSupPr>
                              <m:ctrlPr>
                                <a:rPr lang="en-US" i="1">
                                  <a:latin typeface="Cambria Math" panose="02040503050406030204" pitchFamily="18" charset="0"/>
                                </a:rPr>
                              </m:ctrlPr>
                            </m:sSupPr>
                            <m:e>
                              <m:r>
                                <a:rPr lang="en-US" b="0" i="1" smtClean="0">
                                  <a:latin typeface="Cambria Math" panose="02040503050406030204" pitchFamily="18" charset="0"/>
                                </a:rPr>
                                <m:t>𝑦</m:t>
                              </m:r>
                            </m:e>
                            <m:sup>
                              <m:r>
                                <a:rPr lang="en-US" i="1">
                                  <a:latin typeface="Cambria Math" panose="02040503050406030204" pitchFamily="18" charset="0"/>
                                </a:rPr>
                                <m:t>𝑐</m:t>
                              </m:r>
                            </m:sup>
                          </m:sSup>
                        </m:num>
                        <m:den>
                          <m:r>
                            <a:rPr lang="en-US" i="1">
                              <a:latin typeface="Cambria Math" panose="02040503050406030204" pitchFamily="18" charset="0"/>
                            </a:rPr>
                            <m:t>4</m:t>
                          </m:r>
                        </m:den>
                      </m:f>
                    </m:oMath>
                  </m:oMathPara>
                </a14:m>
                <a:endParaRPr lang="en-US" dirty="0"/>
              </a:p>
              <a:p>
                <a:pPr marL="0" indent="0">
                  <a:lnSpc>
                    <a:spcPct val="100000"/>
                  </a:lnSpc>
                  <a:buNone/>
                </a:pPr>
                <a:r>
                  <a:rPr lang="en-US" dirty="0"/>
                  <a:t>   giving</a:t>
                </a:r>
              </a:p>
              <a:p>
                <a:pPr marL="0" indent="0">
                  <a:lnSpc>
                    <a:spcPct val="100000"/>
                  </a:lnSpc>
                  <a:buNone/>
                </a:pPr>
                <a14:m>
                  <m:oMathPara xmlns:m="http://schemas.openxmlformats.org/officeDocument/2006/math">
                    <m:oMathParaPr>
                      <m:jc m:val="centerGroup"/>
                    </m:oMathParaPr>
                    <m:oMath xmlns:m="http://schemas.openxmlformats.org/officeDocument/2006/math">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𝜙</m:t>
                          </m:r>
                        </m:e>
                        <m:sub>
                          <m:r>
                            <a:rPr lang="en-US" b="0" i="1" smtClean="0">
                              <a:latin typeface="Cambria Math" panose="02040503050406030204" pitchFamily="18" charset="0"/>
                            </a:rPr>
                            <m:t>±±</m:t>
                          </m:r>
                        </m:sub>
                        <m:sup>
                          <m:r>
                            <a:rPr lang="en-US" b="0" i="1" smtClean="0">
                              <a:latin typeface="Cambria Math" panose="02040503050406030204" pitchFamily="18" charset="0"/>
                            </a:rPr>
                            <m:t>𝑓</m:t>
                          </m:r>
                        </m:sup>
                      </m:sSubSup>
                      <m:r>
                        <a:rPr lang="en-US" b="0" i="1" smtClean="0">
                          <a:latin typeface="Cambria Math" panose="02040503050406030204" pitchFamily="18" charset="0"/>
                        </a:rPr>
                        <m:t>=</m:t>
                      </m:r>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𝜙</m:t>
                          </m:r>
                        </m:e>
                        <m:sub>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𝑗</m:t>
                          </m:r>
                          <m:r>
                            <a:rPr lang="en-US" b="0" i="1" smtClean="0">
                              <a:latin typeface="Cambria Math" panose="02040503050406030204" pitchFamily="18" charset="0"/>
                            </a:rPr>
                            <m:t> </m:t>
                          </m:r>
                        </m:sub>
                        <m:sup>
                          <m:r>
                            <a:rPr lang="en-US" b="0" i="1" smtClean="0">
                              <a:latin typeface="Cambria Math" panose="02040503050406030204" pitchFamily="18" charset="0"/>
                            </a:rPr>
                            <m:t>𝑐</m:t>
                          </m:r>
                        </m:sup>
                      </m:sSubSup>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4</m:t>
                          </m:r>
                        </m:den>
                      </m:f>
                      <m:sSub>
                        <m:sSubPr>
                          <m:ctrlPr>
                            <a:rPr lang="en-US" b="0" i="1" smtClean="0">
                              <a:latin typeface="Cambria Math" panose="02040503050406030204" pitchFamily="18" charset="0"/>
                            </a:rPr>
                          </m:ctrlPr>
                        </m:sSubPr>
                        <m:e>
                          <m:r>
                            <a:rPr lang="en-US" b="0" i="1" smtClean="0">
                              <a:latin typeface="Cambria Math" panose="02040503050406030204" pitchFamily="18" charset="0"/>
                            </a:rPr>
                            <m:t>𝑚</m:t>
                          </m:r>
                        </m:e>
                        <m:sub>
                          <m:r>
                            <a:rPr lang="en-US" b="0" i="1" smtClean="0">
                              <a:latin typeface="Cambria Math" panose="02040503050406030204" pitchFamily="18" charset="0"/>
                            </a:rPr>
                            <m:t>𝑥</m:t>
                          </m:r>
                        </m:sub>
                      </m:sSub>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4</m:t>
                          </m:r>
                        </m:den>
                      </m:f>
                      <m:sSub>
                        <m:sSubPr>
                          <m:ctrlPr>
                            <a:rPr lang="en-US" b="0" i="1" smtClean="0">
                              <a:latin typeface="Cambria Math" panose="02040503050406030204" pitchFamily="18" charset="0"/>
                            </a:rPr>
                          </m:ctrlPr>
                        </m:sSubPr>
                        <m:e>
                          <m:r>
                            <a:rPr lang="en-US" b="0" i="1" smtClean="0">
                              <a:latin typeface="Cambria Math" panose="02040503050406030204" pitchFamily="18" charset="0"/>
                            </a:rPr>
                            <m:t>𝑚</m:t>
                          </m:r>
                        </m:e>
                        <m:sub>
                          <m:r>
                            <a:rPr lang="en-US" b="0" i="1" smtClean="0">
                              <a:latin typeface="Cambria Math" panose="02040503050406030204" pitchFamily="18" charset="0"/>
                            </a:rPr>
                            <m:t>𝑦</m:t>
                          </m:r>
                        </m:sub>
                      </m:sSub>
                    </m:oMath>
                  </m:oMathPara>
                </a14:m>
                <a:endParaRPr lang="en-US" dirty="0"/>
              </a:p>
            </p:txBody>
          </p:sp>
        </mc:Choice>
        <mc:Fallback xmlns="">
          <p:sp>
            <p:nvSpPr>
              <p:cNvPr id="5" name="Content Placeholder 4">
                <a:extLst>
                  <a:ext uri="{FF2B5EF4-FFF2-40B4-BE49-F238E27FC236}">
                    <a16:creationId xmlns:a16="http://schemas.microsoft.com/office/drawing/2014/main" id="{A69ABDD9-A2A4-564C-8288-9A6EA8F67E8B}"/>
                  </a:ext>
                </a:extLst>
              </p:cNvPr>
              <p:cNvSpPr>
                <a:spLocks noGrp="1" noRot="1" noChangeAspect="1" noMove="1" noResize="1" noEditPoints="1" noAdjustHandles="1" noChangeArrowheads="1" noChangeShapeType="1" noTextEdit="1"/>
              </p:cNvSpPr>
              <p:nvPr>
                <p:ph idx="1"/>
              </p:nvPr>
            </p:nvSpPr>
            <p:spPr>
              <a:xfrm>
                <a:off x="0" y="1325563"/>
                <a:ext cx="6734287" cy="5463633"/>
              </a:xfrm>
              <a:blipFill>
                <a:blip r:embed="rId3"/>
                <a:stretch>
                  <a:fillRect l="-1509" t="-1620"/>
                </a:stretch>
              </a:blipFill>
            </p:spPr>
            <p:txBody>
              <a:bodyPr/>
              <a:lstStyle/>
              <a:p>
                <a:r>
                  <a:rPr lang="en-US">
                    <a:noFill/>
                  </a:rPr>
                  <a:t> </a:t>
                </a:r>
              </a:p>
            </p:txBody>
          </p:sp>
        </mc:Fallback>
      </mc:AlternateContent>
    </p:spTree>
    <p:extLst>
      <p:ext uri="{BB962C8B-B14F-4D97-AF65-F5344CB8AC3E}">
        <p14:creationId xmlns:p14="http://schemas.microsoft.com/office/powerpoint/2010/main" val="1227034973"/>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1D442A66-0A80-C94B-82D4-AECE4C936D02}"/>
              </a:ext>
            </a:extLst>
          </p:cNvPr>
          <p:cNvPicPr>
            <a:picLocks noChangeAspect="1"/>
          </p:cNvPicPr>
          <p:nvPr/>
        </p:nvPicPr>
        <p:blipFill>
          <a:blip r:embed="rId2"/>
          <a:stretch>
            <a:fillRect/>
          </a:stretch>
        </p:blipFill>
        <p:spPr>
          <a:xfrm>
            <a:off x="7063662" y="1325561"/>
            <a:ext cx="5128338" cy="5430005"/>
          </a:xfrm>
          <a:prstGeom prst="rect">
            <a:avLst/>
          </a:prstGeom>
        </p:spPr>
      </p:pic>
      <p:sp>
        <p:nvSpPr>
          <p:cNvPr id="2" name="Title 1">
            <a:extLst>
              <a:ext uri="{FF2B5EF4-FFF2-40B4-BE49-F238E27FC236}">
                <a16:creationId xmlns:a16="http://schemas.microsoft.com/office/drawing/2014/main" id="{75DCE2F9-F4C3-DA4C-B0FC-7FF6F22D148C}"/>
              </a:ext>
            </a:extLst>
          </p:cNvPr>
          <p:cNvSpPr>
            <a:spLocks noGrp="1"/>
          </p:cNvSpPr>
          <p:nvPr>
            <p:ph type="title"/>
          </p:nvPr>
        </p:nvSpPr>
        <p:spPr>
          <a:xfrm>
            <a:off x="838200" y="0"/>
            <a:ext cx="10515600" cy="1325563"/>
          </a:xfrm>
        </p:spPr>
        <p:txBody>
          <a:bodyPr/>
          <a:lstStyle/>
          <a:p>
            <a:r>
              <a:rPr lang="en-US" dirty="0"/>
              <a:t>Multigrid cycle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5C4FD65-F675-944D-A379-3A5FFFAEB784}"/>
                  </a:ext>
                </a:extLst>
              </p:cNvPr>
              <p:cNvSpPr>
                <a:spLocks noGrp="1"/>
              </p:cNvSpPr>
              <p:nvPr>
                <p:ph idx="1"/>
              </p:nvPr>
            </p:nvSpPr>
            <p:spPr>
              <a:xfrm>
                <a:off x="90319" y="1325561"/>
                <a:ext cx="7074274" cy="5691927"/>
              </a:xfrm>
            </p:spPr>
            <p:txBody>
              <a:bodyPr>
                <a:normAutofit fontScale="92500" lnSpcReduction="10000"/>
              </a:bodyPr>
              <a:lstStyle/>
              <a:p>
                <a:pPr marL="514350" indent="-514350">
                  <a:lnSpc>
                    <a:spcPct val="100000"/>
                  </a:lnSpc>
                  <a:buFont typeface="+mj-lt"/>
                  <a:buAutoNum type="arabicPeriod"/>
                </a:pPr>
                <a:r>
                  <a:rPr lang="en-US" dirty="0"/>
                  <a:t>We smooth on the current grid solving </a:t>
                </a:r>
              </a:p>
              <a:p>
                <a:pPr marL="0" indent="0">
                  <a:lnSpc>
                    <a:spcPct val="100000"/>
                  </a:lnSpc>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𝐿</m:t>
                      </m:r>
                      <m:sSub>
                        <m:sSubPr>
                          <m:ctrlPr>
                            <a:rPr lang="en-US" b="0" i="1" smtClean="0">
                              <a:solidFill>
                                <a:srgbClr val="0070C0"/>
                              </a:solidFill>
                              <a:latin typeface="Cambria Math" panose="02040503050406030204" pitchFamily="18" charset="0"/>
                            </a:rPr>
                          </m:ctrlPr>
                        </m:sSubPr>
                        <m:e>
                          <m:r>
                            <a:rPr lang="en-US" b="0" i="1" smtClean="0">
                              <a:solidFill>
                                <a:srgbClr val="0070C0"/>
                              </a:solidFill>
                              <a:latin typeface="Cambria Math" panose="02040503050406030204" pitchFamily="18" charset="0"/>
                            </a:rPr>
                            <m:t>𝜙</m:t>
                          </m:r>
                        </m:e>
                        <m:sub>
                          <m:r>
                            <a:rPr lang="en-US" b="0" i="1" smtClean="0">
                              <a:solidFill>
                                <a:srgbClr val="0070C0"/>
                              </a:solidFill>
                              <a:latin typeface="Cambria Math" panose="02040503050406030204" pitchFamily="18" charset="0"/>
                            </a:rPr>
                            <m:t>𝑖</m:t>
                          </m:r>
                          <m:r>
                            <a:rPr lang="en-US" b="0" i="1" smtClean="0">
                              <a:solidFill>
                                <a:srgbClr val="0070C0"/>
                              </a:solidFill>
                              <a:latin typeface="Cambria Math" panose="02040503050406030204" pitchFamily="18" charset="0"/>
                            </a:rPr>
                            <m:t>,</m:t>
                          </m:r>
                          <m:r>
                            <a:rPr lang="en-US" b="0" i="1" smtClean="0">
                              <a:solidFill>
                                <a:srgbClr val="0070C0"/>
                              </a:solidFill>
                              <a:latin typeface="Cambria Math" panose="02040503050406030204" pitchFamily="18" charset="0"/>
                            </a:rPr>
                            <m:t>𝑗</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𝑓</m:t>
                          </m:r>
                        </m:e>
                        <m:sub>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𝑗</m:t>
                          </m:r>
                        </m:sub>
                      </m:sSub>
                    </m:oMath>
                  </m:oMathPara>
                </a14:m>
                <a:endParaRPr lang="en-US" dirty="0"/>
              </a:p>
              <a:p>
                <a:pPr marL="0" indent="0">
                  <a:lnSpc>
                    <a:spcPct val="100000"/>
                  </a:lnSpc>
                  <a:buNone/>
                </a:pPr>
                <a:r>
                  <a:rPr lang="en-US" dirty="0"/>
                  <a:t>       compute the residuals,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𝑟</m:t>
                        </m:r>
                      </m:e>
                      <m:sub>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𝑗</m:t>
                        </m:r>
                      </m:sub>
                    </m:sSub>
                    <m:r>
                      <a:rPr lang="en-US" i="1">
                        <a:latin typeface="Cambria Math" panose="02040503050406030204" pitchFamily="18" charset="0"/>
                      </a:rPr>
                      <m:t>=</m:t>
                    </m:r>
                    <m:r>
                      <a:rPr lang="en-US" i="1">
                        <a:latin typeface="Cambria Math" panose="02040503050406030204" pitchFamily="18" charset="0"/>
                      </a:rPr>
                      <m:t>𝐿</m:t>
                    </m:r>
                    <m:sSub>
                      <m:sSubPr>
                        <m:ctrlPr>
                          <a:rPr lang="en-US" i="1">
                            <a:latin typeface="Cambria Math" panose="02040503050406030204" pitchFamily="18" charset="0"/>
                          </a:rPr>
                        </m:ctrlPr>
                      </m:sSubPr>
                      <m:e>
                        <m:r>
                          <a:rPr lang="en-US" i="1">
                            <a:latin typeface="Cambria Math" panose="02040503050406030204" pitchFamily="18" charset="0"/>
                          </a:rPr>
                          <m:t>𝜙</m:t>
                        </m:r>
                      </m:e>
                      <m:sub>
                        <m:r>
                          <a:rPr lang="en-US" i="1">
                            <a:latin typeface="Cambria Math" panose="02040503050406030204" pitchFamily="18" charset="0"/>
                          </a:rPr>
                          <m:t>𝑖</m:t>
                        </m:r>
                        <m:r>
                          <a:rPr lang="en-US" i="1">
                            <a:latin typeface="Cambria Math" panose="02040503050406030204" pitchFamily="18" charset="0"/>
                          </a:rPr>
                          <m:t>,</m:t>
                        </m:r>
                        <m:r>
                          <a:rPr lang="en-US" i="1">
                            <a:latin typeface="Cambria Math" panose="02040503050406030204" pitchFamily="18" charset="0"/>
                          </a:rPr>
                          <m:t>𝑗</m:t>
                        </m:r>
                      </m:sub>
                    </m:sSub>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𝑓</m:t>
                        </m:r>
                      </m:e>
                      <m:sub>
                        <m:r>
                          <a:rPr lang="en-US" i="1">
                            <a:latin typeface="Cambria Math" panose="02040503050406030204" pitchFamily="18" charset="0"/>
                          </a:rPr>
                          <m:t>𝑖</m:t>
                        </m:r>
                        <m:r>
                          <a:rPr lang="en-US" i="1">
                            <a:latin typeface="Cambria Math" panose="02040503050406030204" pitchFamily="18" charset="0"/>
                          </a:rPr>
                          <m:t>,</m:t>
                        </m:r>
                        <m:r>
                          <a:rPr lang="en-US" i="1">
                            <a:latin typeface="Cambria Math" panose="02040503050406030204" pitchFamily="18" charset="0"/>
                          </a:rPr>
                          <m:t>𝑗</m:t>
                        </m:r>
                      </m:sub>
                    </m:sSub>
                  </m:oMath>
                </a14:m>
                <a:endParaRPr lang="en-US" b="0" dirty="0"/>
              </a:p>
              <a:p>
                <a:pPr marL="514350" indent="-514350">
                  <a:lnSpc>
                    <a:spcPct val="100000"/>
                  </a:lnSpc>
                  <a:buFont typeface="+mj-lt"/>
                  <a:buAutoNum type="arabicPeriod" startAt="2"/>
                </a:pPr>
                <a:r>
                  <a:rPr lang="en-US" dirty="0"/>
                  <a:t>We then restrict</a:t>
                </a:r>
                <a:r>
                  <a:rPr lang="en-US" dirty="0">
                    <a:solidFill>
                      <a:srgbClr val="FF0000"/>
                    </a:solidFill>
                  </a:rPr>
                  <a:t> </a:t>
                </a:r>
                <a14:m>
                  <m:oMath xmlns:m="http://schemas.openxmlformats.org/officeDocument/2006/math">
                    <m:sSub>
                      <m:sSubPr>
                        <m:ctrlPr>
                          <a:rPr lang="en-US" b="0" i="1" smtClean="0">
                            <a:solidFill>
                              <a:srgbClr val="FF0000"/>
                            </a:solidFill>
                            <a:latin typeface="Cambria Math" panose="02040503050406030204" pitchFamily="18" charset="0"/>
                          </a:rPr>
                        </m:ctrlPr>
                      </m:sSubPr>
                      <m:e>
                        <m:r>
                          <a:rPr lang="en-US" b="0" i="1" smtClean="0">
                            <a:solidFill>
                              <a:srgbClr val="FF0000"/>
                            </a:solidFill>
                            <a:latin typeface="Cambria Math" panose="02040503050406030204" pitchFamily="18" charset="0"/>
                          </a:rPr>
                          <m:t>𝑟</m:t>
                        </m:r>
                      </m:e>
                      <m:sub>
                        <m:r>
                          <a:rPr lang="en-US" b="0" i="1" smtClean="0">
                            <a:solidFill>
                              <a:srgbClr val="FF0000"/>
                            </a:solidFill>
                            <a:latin typeface="Cambria Math" panose="02040503050406030204" pitchFamily="18" charset="0"/>
                          </a:rPr>
                          <m:t>𝑖</m:t>
                        </m:r>
                        <m:r>
                          <a:rPr lang="en-US" b="0" i="1" smtClean="0">
                            <a:solidFill>
                              <a:srgbClr val="FF0000"/>
                            </a:solidFill>
                            <a:latin typeface="Cambria Math" panose="02040503050406030204" pitchFamily="18" charset="0"/>
                          </a:rPr>
                          <m:t>,</m:t>
                        </m:r>
                        <m:r>
                          <a:rPr lang="en-US" b="0" i="1" smtClean="0">
                            <a:solidFill>
                              <a:srgbClr val="FF0000"/>
                            </a:solidFill>
                            <a:latin typeface="Cambria Math" panose="02040503050406030204" pitchFamily="18" charset="0"/>
                          </a:rPr>
                          <m:t>𝑗</m:t>
                        </m:r>
                      </m:sub>
                    </m:sSub>
                  </m:oMath>
                </a14:m>
                <a:r>
                  <a:rPr lang="en-US" dirty="0"/>
                  <a:t> to a coarser grid and smooth on that grid solving</a:t>
                </a:r>
              </a:p>
              <a:p>
                <a:pPr marL="0" indent="0">
                  <a:lnSpc>
                    <a:spcPct val="100000"/>
                  </a:lnSpc>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𝐿</m:t>
                      </m:r>
                      <m:sSub>
                        <m:sSubPr>
                          <m:ctrlPr>
                            <a:rPr lang="en-US" b="0" i="1" smtClean="0">
                              <a:solidFill>
                                <a:srgbClr val="0070C0"/>
                              </a:solidFill>
                              <a:latin typeface="Cambria Math" panose="02040503050406030204" pitchFamily="18" charset="0"/>
                            </a:rPr>
                          </m:ctrlPr>
                        </m:sSubPr>
                        <m:e>
                          <m:r>
                            <a:rPr lang="en-US" b="0" i="1" smtClean="0">
                              <a:solidFill>
                                <a:srgbClr val="0070C0"/>
                              </a:solidFill>
                              <a:latin typeface="Cambria Math" panose="02040503050406030204" pitchFamily="18" charset="0"/>
                            </a:rPr>
                            <m:t>𝑒</m:t>
                          </m:r>
                        </m:e>
                        <m:sub>
                          <m:r>
                            <a:rPr lang="en-US" b="0" i="1" smtClean="0">
                              <a:solidFill>
                                <a:srgbClr val="0070C0"/>
                              </a:solidFill>
                              <a:latin typeface="Cambria Math" panose="02040503050406030204" pitchFamily="18" charset="0"/>
                            </a:rPr>
                            <m:t>𝑖</m:t>
                          </m:r>
                          <m:r>
                            <a:rPr lang="en-US" b="0" i="1" smtClean="0">
                              <a:solidFill>
                                <a:srgbClr val="0070C0"/>
                              </a:solidFill>
                              <a:latin typeface="Cambria Math" panose="02040503050406030204" pitchFamily="18" charset="0"/>
                            </a:rPr>
                            <m:t>,</m:t>
                          </m:r>
                          <m:r>
                            <a:rPr lang="en-US" b="0" i="1" smtClean="0">
                              <a:solidFill>
                                <a:srgbClr val="0070C0"/>
                              </a:solidFill>
                              <a:latin typeface="Cambria Math" panose="02040503050406030204" pitchFamily="18" charset="0"/>
                            </a:rPr>
                            <m:t>𝑗</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𝑟</m:t>
                          </m:r>
                        </m:e>
                        <m:sub>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𝑗</m:t>
                          </m:r>
                        </m:sub>
                      </m:sSub>
                    </m:oMath>
                  </m:oMathPara>
                </a14:m>
                <a:endParaRPr lang="en-US" dirty="0"/>
              </a:p>
              <a:p>
                <a:pPr marL="0" indent="0">
                  <a:lnSpc>
                    <a:spcPct val="100000"/>
                  </a:lnSpc>
                  <a:buNone/>
                </a:pPr>
                <a:r>
                  <a:rPr lang="en-US" dirty="0"/>
                  <a:t>      compute the new residuals </a:t>
                </a:r>
                <a14:m>
                  <m:oMath xmlns:m="http://schemas.openxmlformats.org/officeDocument/2006/math">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𝑟</m:t>
                        </m:r>
                      </m:e>
                      <m:sub>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𝑗</m:t>
                        </m:r>
                      </m:sub>
                      <m:sup>
                        <m:r>
                          <a:rPr lang="en-US" b="0" i="1" smtClean="0">
                            <a:latin typeface="Cambria Math" panose="02040503050406030204" pitchFamily="18" charset="0"/>
                          </a:rPr>
                          <m:t>𝑘</m:t>
                        </m:r>
                        <m:r>
                          <a:rPr lang="en-US" b="0" i="1" smtClean="0">
                            <a:latin typeface="Cambria Math" panose="02040503050406030204" pitchFamily="18" charset="0"/>
                          </a:rPr>
                          <m:t>+1</m:t>
                        </m:r>
                      </m:sup>
                    </m:sSubSup>
                    <m:r>
                      <a:rPr lang="en-US" i="1">
                        <a:latin typeface="Cambria Math" panose="02040503050406030204" pitchFamily="18" charset="0"/>
                      </a:rPr>
                      <m:t>=</m:t>
                    </m:r>
                    <m:r>
                      <a:rPr lang="en-US" i="1">
                        <a:latin typeface="Cambria Math" panose="02040503050406030204" pitchFamily="18" charset="0"/>
                      </a:rPr>
                      <m:t>𝐿</m:t>
                    </m:r>
                    <m:sSubSup>
                      <m:sSubSupPr>
                        <m:ctrlPr>
                          <a:rPr lang="en-US" b="0" i="1" smtClean="0">
                            <a:solidFill>
                              <a:schemeClr val="tx1"/>
                            </a:solidFill>
                            <a:latin typeface="Cambria Math" panose="02040503050406030204" pitchFamily="18" charset="0"/>
                          </a:rPr>
                        </m:ctrlPr>
                      </m:sSubSupPr>
                      <m:e>
                        <m:r>
                          <a:rPr lang="en-US" i="1">
                            <a:solidFill>
                              <a:schemeClr val="tx1"/>
                            </a:solidFill>
                            <a:latin typeface="Cambria Math" panose="02040503050406030204" pitchFamily="18" charset="0"/>
                          </a:rPr>
                          <m:t>𝑒</m:t>
                        </m:r>
                      </m:e>
                      <m:sub>
                        <m:r>
                          <a:rPr lang="en-US" i="1">
                            <a:solidFill>
                              <a:schemeClr val="tx1"/>
                            </a:solidFill>
                            <a:latin typeface="Cambria Math" panose="02040503050406030204" pitchFamily="18" charset="0"/>
                          </a:rPr>
                          <m:t>𝑖</m:t>
                        </m:r>
                        <m:r>
                          <a:rPr lang="en-US" i="1">
                            <a:solidFill>
                              <a:schemeClr val="tx1"/>
                            </a:solidFill>
                            <a:latin typeface="Cambria Math" panose="02040503050406030204" pitchFamily="18" charset="0"/>
                          </a:rPr>
                          <m:t>,</m:t>
                        </m:r>
                        <m:r>
                          <a:rPr lang="en-US" i="1">
                            <a:solidFill>
                              <a:schemeClr val="tx1"/>
                            </a:solidFill>
                            <a:latin typeface="Cambria Math" panose="02040503050406030204" pitchFamily="18" charset="0"/>
                          </a:rPr>
                          <m:t>𝑗</m:t>
                        </m:r>
                      </m:sub>
                      <m:sup>
                        <m:r>
                          <a:rPr lang="en-US" b="0" i="1" smtClean="0">
                            <a:solidFill>
                              <a:schemeClr val="tx1"/>
                            </a:solidFill>
                            <a:latin typeface="Cambria Math" panose="02040503050406030204" pitchFamily="18" charset="0"/>
                          </a:rPr>
                          <m:t>𝑘</m:t>
                        </m:r>
                      </m:sup>
                    </m:sSubSup>
                    <m:r>
                      <a:rPr lang="en-US" b="0" i="1" smtClean="0">
                        <a:solidFill>
                          <a:schemeClr val="tx1"/>
                        </a:solidFill>
                        <a:latin typeface="Cambria Math" panose="02040503050406030204" pitchFamily="18" charset="0"/>
                      </a:rPr>
                      <m:t>−</m:t>
                    </m:r>
                    <m:sSubSup>
                      <m:sSubSupPr>
                        <m:ctrlPr>
                          <a:rPr lang="en-US" b="0" i="1" smtClean="0">
                            <a:latin typeface="Cambria Math" panose="02040503050406030204" pitchFamily="18" charset="0"/>
                          </a:rPr>
                        </m:ctrlPr>
                      </m:sSubSupPr>
                      <m:e>
                        <m:r>
                          <a:rPr lang="en-US" i="1">
                            <a:latin typeface="Cambria Math" panose="02040503050406030204" pitchFamily="18" charset="0"/>
                          </a:rPr>
                          <m:t>𝑟</m:t>
                        </m:r>
                      </m:e>
                      <m:sub>
                        <m:r>
                          <a:rPr lang="en-US" i="1">
                            <a:latin typeface="Cambria Math" panose="02040503050406030204" pitchFamily="18" charset="0"/>
                          </a:rPr>
                          <m:t>𝑖</m:t>
                        </m:r>
                        <m:r>
                          <a:rPr lang="en-US" i="1">
                            <a:latin typeface="Cambria Math" panose="02040503050406030204" pitchFamily="18" charset="0"/>
                          </a:rPr>
                          <m:t>,</m:t>
                        </m:r>
                        <m:r>
                          <a:rPr lang="en-US" i="1">
                            <a:latin typeface="Cambria Math" panose="02040503050406030204" pitchFamily="18" charset="0"/>
                          </a:rPr>
                          <m:t>𝑗</m:t>
                        </m:r>
                      </m:sub>
                      <m:sup>
                        <m:r>
                          <a:rPr lang="en-US" b="0" i="1" smtClean="0">
                            <a:latin typeface="Cambria Math" panose="02040503050406030204" pitchFamily="18" charset="0"/>
                          </a:rPr>
                          <m:t>𝑘</m:t>
                        </m:r>
                      </m:sup>
                    </m:sSubSup>
                  </m:oMath>
                </a14:m>
                <a:endParaRPr lang="en-US" dirty="0"/>
              </a:p>
              <a:p>
                <a:pPr marL="514350" indent="-514350">
                  <a:lnSpc>
                    <a:spcPct val="100000"/>
                  </a:lnSpc>
                  <a:buFont typeface="+mj-lt"/>
                  <a:buAutoNum type="arabicPeriod" startAt="3"/>
                </a:pPr>
                <a:r>
                  <a:rPr lang="en-US" dirty="0"/>
                  <a:t>We repeat stage 2 with </a:t>
                </a:r>
                <a14:m>
                  <m:oMath xmlns:m="http://schemas.openxmlformats.org/officeDocument/2006/math">
                    <m:sSubSup>
                      <m:sSubSupPr>
                        <m:ctrlPr>
                          <a:rPr lang="en-US" i="1" smtClean="0">
                            <a:solidFill>
                              <a:srgbClr val="FF0000"/>
                            </a:solidFill>
                            <a:latin typeface="Cambria Math" panose="02040503050406030204" pitchFamily="18" charset="0"/>
                          </a:rPr>
                        </m:ctrlPr>
                      </m:sSubSupPr>
                      <m:e>
                        <m:r>
                          <a:rPr lang="en-US" i="1">
                            <a:solidFill>
                              <a:srgbClr val="FF0000"/>
                            </a:solidFill>
                            <a:latin typeface="Cambria Math" panose="02040503050406030204" pitchFamily="18" charset="0"/>
                          </a:rPr>
                          <m:t>𝑟</m:t>
                        </m:r>
                      </m:e>
                      <m:sub>
                        <m:r>
                          <a:rPr lang="en-US" i="1">
                            <a:solidFill>
                              <a:srgbClr val="FF0000"/>
                            </a:solidFill>
                            <a:latin typeface="Cambria Math" panose="02040503050406030204" pitchFamily="18" charset="0"/>
                          </a:rPr>
                          <m:t>𝑖</m:t>
                        </m:r>
                        <m:r>
                          <a:rPr lang="en-US" i="1">
                            <a:solidFill>
                              <a:srgbClr val="FF0000"/>
                            </a:solidFill>
                            <a:latin typeface="Cambria Math" panose="02040503050406030204" pitchFamily="18" charset="0"/>
                          </a:rPr>
                          <m:t>,</m:t>
                        </m:r>
                        <m:r>
                          <a:rPr lang="en-US" i="1">
                            <a:solidFill>
                              <a:srgbClr val="FF0000"/>
                            </a:solidFill>
                            <a:latin typeface="Cambria Math" panose="02040503050406030204" pitchFamily="18" charset="0"/>
                          </a:rPr>
                          <m:t>𝑗</m:t>
                        </m:r>
                      </m:sub>
                      <m:sup>
                        <m:r>
                          <a:rPr lang="en-US" i="1">
                            <a:solidFill>
                              <a:srgbClr val="FF0000"/>
                            </a:solidFill>
                            <a:latin typeface="Cambria Math" panose="02040503050406030204" pitchFamily="18" charset="0"/>
                          </a:rPr>
                          <m:t>𝑘</m:t>
                        </m:r>
                        <m:r>
                          <a:rPr lang="en-US" i="1">
                            <a:solidFill>
                              <a:srgbClr val="FF0000"/>
                            </a:solidFill>
                            <a:latin typeface="Cambria Math" panose="02040503050406030204" pitchFamily="18" charset="0"/>
                          </a:rPr>
                          <m:t>+1</m:t>
                        </m:r>
                      </m:sup>
                    </m:sSubSup>
                  </m:oMath>
                </a14:m>
                <a:r>
                  <a:rPr lang="en-US" dirty="0"/>
                  <a:t> until we reach a sufficiently coarse grid. </a:t>
                </a:r>
              </a:p>
              <a:p>
                <a:pPr marL="514350" indent="-514350">
                  <a:lnSpc>
                    <a:spcPct val="100000"/>
                  </a:lnSpc>
                  <a:buFont typeface="+mj-lt"/>
                  <a:buAutoNum type="arabicPeriod" startAt="3"/>
                </a:pPr>
                <a:r>
                  <a:rPr lang="en-US" dirty="0"/>
                  <a:t>We then prolongate the error </a:t>
                </a:r>
                <a14:m>
                  <m:oMath xmlns:m="http://schemas.openxmlformats.org/officeDocument/2006/math">
                    <m:sSub>
                      <m:sSubPr>
                        <m:ctrlPr>
                          <a:rPr lang="en-US" b="0" i="1" smtClean="0">
                            <a:solidFill>
                              <a:srgbClr val="FF0000"/>
                            </a:solidFill>
                            <a:latin typeface="Cambria Math" panose="02040503050406030204" pitchFamily="18" charset="0"/>
                          </a:rPr>
                        </m:ctrlPr>
                      </m:sSubPr>
                      <m:e>
                        <m:r>
                          <a:rPr lang="en-US" b="0" i="1" smtClean="0">
                            <a:solidFill>
                              <a:srgbClr val="FF0000"/>
                            </a:solidFill>
                            <a:latin typeface="Cambria Math" panose="02040503050406030204" pitchFamily="18" charset="0"/>
                          </a:rPr>
                          <m:t>𝑒</m:t>
                        </m:r>
                      </m:e>
                      <m:sub>
                        <m:r>
                          <a:rPr lang="en-US" b="0" i="1" smtClean="0">
                            <a:solidFill>
                              <a:srgbClr val="FF0000"/>
                            </a:solidFill>
                            <a:latin typeface="Cambria Math" panose="02040503050406030204" pitchFamily="18" charset="0"/>
                          </a:rPr>
                          <m:t>𝑖</m:t>
                        </m:r>
                        <m:r>
                          <a:rPr lang="en-US" b="0" i="1" smtClean="0">
                            <a:solidFill>
                              <a:srgbClr val="FF0000"/>
                            </a:solidFill>
                            <a:latin typeface="Cambria Math" panose="02040503050406030204" pitchFamily="18" charset="0"/>
                          </a:rPr>
                          <m:t>,</m:t>
                        </m:r>
                        <m:r>
                          <a:rPr lang="en-US" b="0" i="1" smtClean="0">
                            <a:solidFill>
                              <a:srgbClr val="FF0000"/>
                            </a:solidFill>
                            <a:latin typeface="Cambria Math" panose="02040503050406030204" pitchFamily="18" charset="0"/>
                          </a:rPr>
                          <m:t>𝑗</m:t>
                        </m:r>
                      </m:sub>
                    </m:sSub>
                  </m:oMath>
                </a14:m>
                <a:r>
                  <a:rPr lang="en-US" dirty="0"/>
                  <a:t> back up and use it to correct the solution on the finer grid. </a:t>
                </a:r>
              </a:p>
              <a:p>
                <a:pPr marL="514350" indent="-514350">
                  <a:lnSpc>
                    <a:spcPct val="100000"/>
                  </a:lnSpc>
                  <a:buFont typeface="+mj-lt"/>
                  <a:buAutoNum type="arabicPeriod" startAt="3"/>
                </a:pPr>
                <a:r>
                  <a:rPr lang="en-US" dirty="0"/>
                  <a:t>We do some smoothing and repeat stage 4.</a:t>
                </a:r>
              </a:p>
              <a:p>
                <a:pPr marL="514350" indent="-514350">
                  <a:lnSpc>
                    <a:spcPct val="100000"/>
                  </a:lnSpc>
                  <a:buFont typeface="+mj-lt"/>
                  <a:buAutoNum type="arabicPeriod" startAt="3"/>
                </a:pPr>
                <a:endParaRPr lang="en-US" dirty="0"/>
              </a:p>
              <a:p>
                <a:pPr marL="514350" indent="-514350">
                  <a:lnSpc>
                    <a:spcPct val="100000"/>
                  </a:lnSpc>
                  <a:buFont typeface="+mj-lt"/>
                  <a:buAutoNum type="arabicPeriod" startAt="3"/>
                </a:pPr>
                <a:endParaRPr lang="en-US" dirty="0"/>
              </a:p>
            </p:txBody>
          </p:sp>
        </mc:Choice>
        <mc:Fallback xmlns="">
          <p:sp>
            <p:nvSpPr>
              <p:cNvPr id="3" name="Content Placeholder 2">
                <a:extLst>
                  <a:ext uri="{FF2B5EF4-FFF2-40B4-BE49-F238E27FC236}">
                    <a16:creationId xmlns:a16="http://schemas.microsoft.com/office/drawing/2014/main" id="{15C4FD65-F675-944D-A379-3A5FFFAEB784}"/>
                  </a:ext>
                </a:extLst>
              </p:cNvPr>
              <p:cNvSpPr>
                <a:spLocks noGrp="1" noRot="1" noChangeAspect="1" noMove="1" noResize="1" noEditPoints="1" noAdjustHandles="1" noChangeArrowheads="1" noChangeShapeType="1" noTextEdit="1"/>
              </p:cNvSpPr>
              <p:nvPr>
                <p:ph idx="1"/>
              </p:nvPr>
            </p:nvSpPr>
            <p:spPr>
              <a:xfrm>
                <a:off x="90319" y="1325561"/>
                <a:ext cx="7074274" cy="5691927"/>
              </a:xfrm>
              <a:blipFill>
                <a:blip r:embed="rId3"/>
                <a:stretch>
                  <a:fillRect l="-1254" t="-1778"/>
                </a:stretch>
              </a:blipFill>
            </p:spPr>
            <p:txBody>
              <a:bodyPr/>
              <a:lstStyle/>
              <a:p>
                <a:r>
                  <a:rPr lang="en-US">
                    <a:noFill/>
                  </a:rPr>
                  <a:t> </a:t>
                </a:r>
              </a:p>
            </p:txBody>
          </p:sp>
        </mc:Fallback>
      </mc:AlternateContent>
    </p:spTree>
    <p:extLst>
      <p:ext uri="{BB962C8B-B14F-4D97-AF65-F5344CB8AC3E}">
        <p14:creationId xmlns:p14="http://schemas.microsoft.com/office/powerpoint/2010/main" val="2756339935"/>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77F2183-67EB-504D-9652-C3B76146521C}"/>
              </a:ext>
            </a:extLst>
          </p:cNvPr>
          <p:cNvPicPr>
            <a:picLocks noChangeAspect="1"/>
          </p:cNvPicPr>
          <p:nvPr/>
        </p:nvPicPr>
        <p:blipFill rotWithShape="1">
          <a:blip r:embed="rId2"/>
          <a:srcRect r="1527" b="4073"/>
          <a:stretch/>
        </p:blipFill>
        <p:spPr>
          <a:xfrm>
            <a:off x="5948980" y="776345"/>
            <a:ext cx="6243020" cy="6081655"/>
          </a:xfrm>
          <a:prstGeom prst="rect">
            <a:avLst/>
          </a:prstGeom>
          <a:solidFill>
            <a:schemeClr val="bg1"/>
          </a:solidFill>
        </p:spPr>
      </p:pic>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40449991-5671-D948-B764-93D7DFDF3633}"/>
                  </a:ext>
                </a:extLst>
              </p:cNvPr>
              <p:cNvSpPr txBox="1"/>
              <p:nvPr/>
            </p:nvSpPr>
            <p:spPr>
              <a:xfrm>
                <a:off x="6677563" y="829652"/>
                <a:ext cx="1263744" cy="473528"/>
              </a:xfrm>
              <a:prstGeom prst="rect">
                <a:avLst/>
              </a:prstGeom>
              <a:noFill/>
              <a:ln>
                <a:solidFill>
                  <a:schemeClr val="tx1"/>
                </a:solidFill>
              </a:ln>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200" b="0" i="1" smtClean="0">
                          <a:latin typeface="Cambria Math" panose="02040503050406030204" pitchFamily="18" charset="0"/>
                        </a:rPr>
                        <m:t>𝐿</m:t>
                      </m:r>
                      <m:sSup>
                        <m:sSupPr>
                          <m:ctrlPr>
                            <a:rPr lang="en-US" sz="1200" b="0" i="1" smtClean="0">
                              <a:solidFill>
                                <a:srgbClr val="0070C0"/>
                              </a:solidFill>
                              <a:latin typeface="Cambria Math" panose="02040503050406030204" pitchFamily="18" charset="0"/>
                            </a:rPr>
                          </m:ctrlPr>
                        </m:sSupPr>
                        <m:e>
                          <m:r>
                            <a:rPr lang="en-US" sz="1200" b="0" i="1" smtClean="0">
                              <a:solidFill>
                                <a:srgbClr val="0070C0"/>
                              </a:solidFill>
                              <a:latin typeface="Cambria Math" panose="02040503050406030204" pitchFamily="18" charset="0"/>
                            </a:rPr>
                            <m:t>𝜙</m:t>
                          </m:r>
                        </m:e>
                        <m:sup>
                          <m:r>
                            <a:rPr lang="en-US" sz="1200" b="0" i="1" smtClean="0">
                              <a:solidFill>
                                <a:srgbClr val="0070C0"/>
                              </a:solidFill>
                              <a:latin typeface="Cambria Math" panose="02040503050406030204" pitchFamily="18" charset="0"/>
                            </a:rPr>
                            <m:t>h</m:t>
                          </m:r>
                        </m:sup>
                      </m:sSup>
                      <m:r>
                        <a:rPr lang="en-US" sz="1200" b="0" i="1" smtClean="0">
                          <a:latin typeface="Cambria Math" panose="02040503050406030204" pitchFamily="18" charset="0"/>
                        </a:rPr>
                        <m:t>=</m:t>
                      </m:r>
                      <m:sSup>
                        <m:sSupPr>
                          <m:ctrlPr>
                            <a:rPr lang="en-US" sz="1200" b="0" i="1" smtClean="0">
                              <a:latin typeface="Cambria Math" panose="02040503050406030204" pitchFamily="18" charset="0"/>
                            </a:rPr>
                          </m:ctrlPr>
                        </m:sSupPr>
                        <m:e>
                          <m:r>
                            <a:rPr lang="en-US" sz="1200" b="0" i="1" smtClean="0">
                              <a:latin typeface="Cambria Math" panose="02040503050406030204" pitchFamily="18" charset="0"/>
                            </a:rPr>
                            <m:t>𝑓</m:t>
                          </m:r>
                        </m:e>
                        <m:sup>
                          <m:r>
                            <a:rPr lang="en-US" sz="1200" b="0" i="1" smtClean="0">
                              <a:latin typeface="Cambria Math" panose="02040503050406030204" pitchFamily="18" charset="0"/>
                            </a:rPr>
                            <m:t>h</m:t>
                          </m:r>
                        </m:sup>
                      </m:sSup>
                      <m:r>
                        <a:rPr lang="en-US" sz="1200" b="0" i="1" smtClean="0">
                          <a:latin typeface="Cambria Math" panose="02040503050406030204" pitchFamily="18" charset="0"/>
                        </a:rPr>
                        <m:t> ;</m:t>
                      </m:r>
                      <m:sSubSup>
                        <m:sSubSupPr>
                          <m:ctrlPr>
                            <a:rPr lang="en-US" sz="1200" b="0" i="1" smtClean="0">
                              <a:latin typeface="Cambria Math" panose="02040503050406030204" pitchFamily="18" charset="0"/>
                            </a:rPr>
                          </m:ctrlPr>
                        </m:sSubSupPr>
                        <m:e>
                          <m:r>
                            <a:rPr lang="en-US" sz="1200" b="0" i="1" smtClean="0">
                              <a:latin typeface="Cambria Math" panose="02040503050406030204" pitchFamily="18" charset="0"/>
                            </a:rPr>
                            <m:t>𝜙</m:t>
                          </m:r>
                        </m:e>
                        <m:sub>
                          <m:r>
                            <a:rPr lang="en-US" sz="1200" b="0" i="1" smtClean="0">
                              <a:latin typeface="Cambria Math" panose="02040503050406030204" pitchFamily="18" charset="0"/>
                            </a:rPr>
                            <m:t>0</m:t>
                          </m:r>
                        </m:sub>
                        <m:sup>
                          <m:r>
                            <a:rPr lang="en-US" sz="1200" b="0" i="1" smtClean="0">
                              <a:latin typeface="Cambria Math" panose="02040503050406030204" pitchFamily="18" charset="0"/>
                            </a:rPr>
                            <m:t>h</m:t>
                          </m:r>
                        </m:sup>
                      </m:sSubSup>
                    </m:oMath>
                  </m:oMathPara>
                </a14:m>
                <a:endParaRPr lang="en-US" sz="1200" b="0" i="1" dirty="0">
                  <a:latin typeface="Cambria Math" panose="02040503050406030204" pitchFamily="18" charset="0"/>
                </a:endParaRPr>
              </a:p>
              <a:p>
                <a:r>
                  <a:rPr lang="en-US" sz="1200" b="0" dirty="0"/>
                  <a:t>r’</a:t>
                </a:r>
                <a14:m>
                  <m:oMath xmlns:m="http://schemas.openxmlformats.org/officeDocument/2006/math">
                    <m:r>
                      <a:rPr lang="en-US" sz="1200" b="0" i="1" smtClean="0">
                        <a:latin typeface="Cambria Math" panose="02040503050406030204" pitchFamily="18" charset="0"/>
                      </a:rPr>
                      <m:t>=</m:t>
                    </m:r>
                    <m:sSup>
                      <m:sSupPr>
                        <m:ctrlPr>
                          <a:rPr lang="en-US" sz="1200" b="0" i="1" smtClean="0">
                            <a:latin typeface="Cambria Math" panose="02040503050406030204" pitchFamily="18" charset="0"/>
                          </a:rPr>
                        </m:ctrlPr>
                      </m:sSupPr>
                      <m:e>
                        <m:r>
                          <a:rPr lang="en-US" sz="1200" b="0" i="1" smtClean="0">
                            <a:latin typeface="Cambria Math" panose="02040503050406030204" pitchFamily="18" charset="0"/>
                          </a:rPr>
                          <m:t>𝑓</m:t>
                        </m:r>
                      </m:e>
                      <m:sup>
                        <m:r>
                          <a:rPr lang="en-US" sz="1200" b="0" i="1" smtClean="0">
                            <a:latin typeface="Cambria Math" panose="02040503050406030204" pitchFamily="18" charset="0"/>
                          </a:rPr>
                          <m:t>h</m:t>
                        </m:r>
                      </m:sup>
                    </m:sSup>
                    <m:r>
                      <a:rPr lang="en-US" sz="1200" b="0" i="1" smtClean="0">
                        <a:latin typeface="Cambria Math" panose="02040503050406030204" pitchFamily="18" charset="0"/>
                      </a:rPr>
                      <m:t>−</m:t>
                    </m:r>
                    <m:r>
                      <a:rPr lang="en-US" sz="1200" b="0" i="1" smtClean="0">
                        <a:latin typeface="Cambria Math" panose="02040503050406030204" pitchFamily="18" charset="0"/>
                      </a:rPr>
                      <m:t>𝐿</m:t>
                    </m:r>
                    <m:sSup>
                      <m:sSupPr>
                        <m:ctrlPr>
                          <a:rPr lang="en-US" sz="1200" b="0" i="1" smtClean="0">
                            <a:latin typeface="Cambria Math" panose="02040503050406030204" pitchFamily="18" charset="0"/>
                          </a:rPr>
                        </m:ctrlPr>
                      </m:sSupPr>
                      <m:e>
                        <m:r>
                          <a:rPr lang="en-US" sz="1200" b="0" i="1" smtClean="0">
                            <a:latin typeface="Cambria Math" panose="02040503050406030204" pitchFamily="18" charset="0"/>
                          </a:rPr>
                          <m:t>𝜙</m:t>
                        </m:r>
                      </m:e>
                      <m:sup>
                        <m:r>
                          <a:rPr lang="en-US" sz="1200" b="0" i="1" smtClean="0">
                            <a:latin typeface="Cambria Math" panose="02040503050406030204" pitchFamily="18" charset="0"/>
                          </a:rPr>
                          <m:t>h</m:t>
                        </m:r>
                      </m:sup>
                    </m:sSup>
                  </m:oMath>
                </a14:m>
                <a:endParaRPr lang="en-US" sz="1200" dirty="0"/>
              </a:p>
            </p:txBody>
          </p:sp>
        </mc:Choice>
        <mc:Fallback xmlns="">
          <p:sp>
            <p:nvSpPr>
              <p:cNvPr id="7" name="TextBox 6">
                <a:extLst>
                  <a:ext uri="{FF2B5EF4-FFF2-40B4-BE49-F238E27FC236}">
                    <a16:creationId xmlns:a16="http://schemas.microsoft.com/office/drawing/2014/main" id="{40449991-5671-D948-B764-93D7DFDF3633}"/>
                  </a:ext>
                </a:extLst>
              </p:cNvPr>
              <p:cNvSpPr txBox="1">
                <a:spLocks noRot="1" noChangeAspect="1" noMove="1" noResize="1" noEditPoints="1" noAdjustHandles="1" noChangeArrowheads="1" noChangeShapeType="1" noTextEdit="1"/>
              </p:cNvSpPr>
              <p:nvPr/>
            </p:nvSpPr>
            <p:spPr>
              <a:xfrm>
                <a:off x="6677563" y="829652"/>
                <a:ext cx="1263744" cy="473528"/>
              </a:xfrm>
              <a:prstGeom prst="rect">
                <a:avLst/>
              </a:prstGeom>
              <a:blipFill>
                <a:blip r:embed="rId3"/>
                <a:stretch>
                  <a:fillRect b="-5000"/>
                </a:stretch>
              </a:blipFill>
              <a:ln>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49F7E811-4157-1D4A-A0F9-B50A3827AAE1}"/>
                  </a:ext>
                </a:extLst>
              </p:cNvPr>
              <p:cNvSpPr txBox="1"/>
              <p:nvPr/>
            </p:nvSpPr>
            <p:spPr>
              <a:xfrm>
                <a:off x="7332077" y="2097168"/>
                <a:ext cx="1569597" cy="470193"/>
              </a:xfrm>
              <a:prstGeom prst="rect">
                <a:avLst/>
              </a:prstGeom>
              <a:noFill/>
              <a:ln>
                <a:solidFill>
                  <a:schemeClr val="tx1"/>
                </a:solidFill>
              </a:ln>
            </p:spPr>
            <p:txBody>
              <a:bodyPr wrap="none" rtlCol="0">
                <a:spAutoFit/>
              </a:bodyPr>
              <a:lstStyle/>
              <a:p>
                <a:pPr/>
                <a14:m>
                  <m:oMathPara xmlns:m="http://schemas.openxmlformats.org/officeDocument/2006/math">
                    <m:oMathParaPr>
                      <m:jc m:val="centerGroup"/>
                    </m:oMathParaPr>
                    <m:oMath xmlns:m="http://schemas.openxmlformats.org/officeDocument/2006/math">
                      <m:r>
                        <a:rPr lang="ar-AE" sz="1200" b="0" i="1" smtClean="0">
                          <a:latin typeface="Cambria Math" panose="02040503050406030204" pitchFamily="18" charset="0"/>
                        </a:rPr>
                        <m:t>𝐿</m:t>
                      </m:r>
                      <m:sSup>
                        <m:sSupPr>
                          <m:ctrlPr>
                            <a:rPr lang="ar-AE" sz="1200" b="0" i="1" smtClean="0">
                              <a:solidFill>
                                <a:srgbClr val="0070C0"/>
                              </a:solidFill>
                              <a:latin typeface="Cambria Math" panose="02040503050406030204" pitchFamily="18" charset="0"/>
                            </a:rPr>
                          </m:ctrlPr>
                        </m:sSupPr>
                        <m:e>
                          <m:r>
                            <a:rPr lang="ar-AE" sz="1200" b="0" i="1" smtClean="0">
                              <a:solidFill>
                                <a:srgbClr val="0070C0"/>
                              </a:solidFill>
                              <a:latin typeface="Cambria Math" panose="02040503050406030204" pitchFamily="18" charset="0"/>
                            </a:rPr>
                            <m:t>𝑒</m:t>
                          </m:r>
                        </m:e>
                        <m:sup>
                          <m:r>
                            <a:rPr lang="ar-AE" sz="1200" b="0" i="1" smtClean="0">
                              <a:solidFill>
                                <a:srgbClr val="0070C0"/>
                              </a:solidFill>
                              <a:latin typeface="Cambria Math" panose="02040503050406030204" pitchFamily="18" charset="0"/>
                            </a:rPr>
                            <m:t>2</m:t>
                          </m:r>
                          <m:r>
                            <a:rPr lang="ar-AE" sz="1200" b="0" i="1" smtClean="0">
                              <a:solidFill>
                                <a:srgbClr val="0070C0"/>
                              </a:solidFill>
                              <a:latin typeface="Cambria Math" panose="02040503050406030204" pitchFamily="18" charset="0"/>
                            </a:rPr>
                            <m:t>h</m:t>
                          </m:r>
                        </m:sup>
                      </m:sSup>
                      <m:r>
                        <a:rPr lang="ar-AE" sz="1200" b="0" i="1" smtClean="0">
                          <a:latin typeface="Cambria Math" panose="02040503050406030204" pitchFamily="18" charset="0"/>
                        </a:rPr>
                        <m:t>=</m:t>
                      </m:r>
                      <m:sSup>
                        <m:sSupPr>
                          <m:ctrlPr>
                            <a:rPr lang="ar-AE" sz="1200" b="0" i="1" smtClean="0">
                              <a:latin typeface="Cambria Math" panose="02040503050406030204" pitchFamily="18" charset="0"/>
                            </a:rPr>
                          </m:ctrlPr>
                        </m:sSupPr>
                        <m:e>
                          <m:r>
                            <a:rPr lang="ar-AE" sz="1200" b="0" i="1" smtClean="0">
                              <a:latin typeface="Cambria Math" panose="02040503050406030204" pitchFamily="18" charset="0"/>
                            </a:rPr>
                            <m:t>𝑟</m:t>
                          </m:r>
                        </m:e>
                        <m:sup>
                          <m:r>
                            <a:rPr lang="ar-AE" sz="1200" b="0" i="1" smtClean="0">
                              <a:latin typeface="Cambria Math" panose="02040503050406030204" pitchFamily="18" charset="0"/>
                            </a:rPr>
                            <m:t>2</m:t>
                          </m:r>
                          <m:r>
                            <a:rPr lang="ar-AE" sz="1200" b="0" i="1" smtClean="0">
                              <a:latin typeface="Cambria Math" panose="02040503050406030204" pitchFamily="18" charset="0"/>
                            </a:rPr>
                            <m:t>h</m:t>
                          </m:r>
                        </m:sup>
                      </m:sSup>
                      <m:r>
                        <a:rPr lang="ar-AE" sz="1200" b="0" i="1" smtClean="0">
                          <a:latin typeface="Cambria Math" panose="02040503050406030204" pitchFamily="18" charset="0"/>
                        </a:rPr>
                        <m:t>;</m:t>
                      </m:r>
                      <m:sSubSup>
                        <m:sSubSupPr>
                          <m:ctrlPr>
                            <a:rPr lang="ar-AE" sz="1200" b="0" i="1" smtClean="0">
                              <a:latin typeface="Cambria Math" panose="02040503050406030204" pitchFamily="18" charset="0"/>
                            </a:rPr>
                          </m:ctrlPr>
                        </m:sSubSupPr>
                        <m:e>
                          <m:r>
                            <a:rPr lang="ar-AE" sz="1200" b="0" i="1" smtClean="0">
                              <a:latin typeface="Cambria Math" panose="02040503050406030204" pitchFamily="18" charset="0"/>
                            </a:rPr>
                            <m:t>𝑒</m:t>
                          </m:r>
                        </m:e>
                        <m:sub>
                          <m:r>
                            <a:rPr lang="ar-AE" sz="1200" b="0" i="1" smtClean="0">
                              <a:latin typeface="Cambria Math" panose="02040503050406030204" pitchFamily="18" charset="0"/>
                            </a:rPr>
                            <m:t>0</m:t>
                          </m:r>
                        </m:sub>
                        <m:sup>
                          <m:r>
                            <a:rPr lang="ar-AE" sz="1200" b="0" i="1" smtClean="0">
                              <a:latin typeface="Cambria Math" panose="02040503050406030204" pitchFamily="18" charset="0"/>
                            </a:rPr>
                            <m:t>2</m:t>
                          </m:r>
                          <m:r>
                            <a:rPr lang="ar-AE" sz="1200" b="0" i="1" smtClean="0">
                              <a:latin typeface="Cambria Math" panose="02040503050406030204" pitchFamily="18" charset="0"/>
                            </a:rPr>
                            <m:t>h</m:t>
                          </m:r>
                        </m:sup>
                      </m:sSubSup>
                      <m:r>
                        <a:rPr lang="ar-AE" sz="1200" b="0" i="1" smtClean="0">
                          <a:latin typeface="Cambria Math" panose="02040503050406030204" pitchFamily="18" charset="0"/>
                        </a:rPr>
                        <m:t>=0</m:t>
                      </m:r>
                    </m:oMath>
                  </m:oMathPara>
                </a14:m>
                <a:endParaRPr lang="ar-AE" dirty="0"/>
              </a:p>
              <a:p>
                <a:pPr/>
                <a14:m>
                  <m:oMathPara xmlns:m="http://schemas.openxmlformats.org/officeDocument/2006/math">
                    <m:oMathParaPr>
                      <m:jc m:val="centerGroup"/>
                    </m:oMathParaPr>
                    <m:oMath xmlns:m="http://schemas.openxmlformats.org/officeDocument/2006/math">
                      <m:sSup>
                        <m:sSupPr>
                          <m:ctrlPr>
                            <a:rPr lang="ar-AE" sz="1200" b="0" i="1" smtClean="0">
                              <a:latin typeface="Cambria Math" panose="02040503050406030204" pitchFamily="18" charset="0"/>
                            </a:rPr>
                          </m:ctrlPr>
                        </m:sSupPr>
                        <m:e>
                          <m:r>
                            <a:rPr lang="ar-AE" sz="1200" i="1">
                              <a:latin typeface="Cambria Math" panose="02040503050406030204" pitchFamily="18" charset="0"/>
                            </a:rPr>
                            <m:t>𝑟</m:t>
                          </m:r>
                        </m:e>
                        <m:sup>
                          <m:r>
                            <a:rPr lang="en-US" sz="1200" b="0" i="1" smtClean="0">
                              <a:latin typeface="Cambria Math" panose="02040503050406030204" pitchFamily="18" charset="0"/>
                            </a:rPr>
                            <m:t>2</m:t>
                          </m:r>
                          <m:r>
                            <a:rPr lang="en-US" sz="1200" b="0" i="1" smtClean="0">
                              <a:latin typeface="Cambria Math" panose="02040503050406030204" pitchFamily="18" charset="0"/>
                            </a:rPr>
                            <m:t>h</m:t>
                          </m:r>
                        </m:sup>
                      </m:sSup>
                      <m:r>
                        <a:rPr lang="ar-AE" sz="1200" i="1">
                          <a:latin typeface="Cambria Math" panose="02040503050406030204" pitchFamily="18" charset="0"/>
                        </a:rPr>
                        <m:t>′=</m:t>
                      </m:r>
                      <m:sSup>
                        <m:sSupPr>
                          <m:ctrlPr>
                            <a:rPr lang="ar-AE" sz="1200" i="1">
                              <a:latin typeface="Cambria Math" panose="02040503050406030204" pitchFamily="18" charset="0"/>
                            </a:rPr>
                          </m:ctrlPr>
                        </m:sSupPr>
                        <m:e>
                          <m:r>
                            <a:rPr lang="ar-AE" sz="1200" i="1">
                              <a:latin typeface="Cambria Math" panose="02040503050406030204" pitchFamily="18" charset="0"/>
                            </a:rPr>
                            <m:t>𝑟</m:t>
                          </m:r>
                        </m:e>
                        <m:sup>
                          <m:r>
                            <a:rPr lang="ar-AE" sz="1200" i="1">
                              <a:latin typeface="Cambria Math" panose="02040503050406030204" pitchFamily="18" charset="0"/>
                            </a:rPr>
                            <m:t>2</m:t>
                          </m:r>
                          <m:r>
                            <a:rPr lang="ar-AE" sz="1200" i="1">
                              <a:latin typeface="Cambria Math" panose="02040503050406030204" pitchFamily="18" charset="0"/>
                            </a:rPr>
                            <m:t>h</m:t>
                          </m:r>
                        </m:sup>
                      </m:sSup>
                      <m:r>
                        <a:rPr lang="ar-AE" sz="1200" i="1">
                          <a:latin typeface="Cambria Math" panose="02040503050406030204" pitchFamily="18" charset="0"/>
                        </a:rPr>
                        <m:t>−</m:t>
                      </m:r>
                      <m:r>
                        <a:rPr lang="ar-AE" sz="1200" i="1">
                          <a:latin typeface="Cambria Math" panose="02040503050406030204" pitchFamily="18" charset="0"/>
                        </a:rPr>
                        <m:t>𝐿</m:t>
                      </m:r>
                      <m:sSup>
                        <m:sSupPr>
                          <m:ctrlPr>
                            <a:rPr lang="ar-AE" sz="1200" i="1">
                              <a:latin typeface="Cambria Math" panose="02040503050406030204" pitchFamily="18" charset="0"/>
                            </a:rPr>
                          </m:ctrlPr>
                        </m:sSupPr>
                        <m:e>
                          <m:r>
                            <a:rPr lang="ar-AE" sz="1200" i="1">
                              <a:latin typeface="Cambria Math" panose="02040503050406030204" pitchFamily="18" charset="0"/>
                            </a:rPr>
                            <m:t>𝑒</m:t>
                          </m:r>
                        </m:e>
                        <m:sup>
                          <m:r>
                            <a:rPr lang="ar-AE" sz="1200" i="1">
                              <a:latin typeface="Cambria Math" panose="02040503050406030204" pitchFamily="18" charset="0"/>
                            </a:rPr>
                            <m:t>2</m:t>
                          </m:r>
                          <m:r>
                            <a:rPr lang="ar-AE" sz="1200" i="1">
                              <a:latin typeface="Cambria Math" panose="02040503050406030204" pitchFamily="18" charset="0"/>
                            </a:rPr>
                            <m:t>h</m:t>
                          </m:r>
                        </m:sup>
                      </m:sSup>
                    </m:oMath>
                  </m:oMathPara>
                </a14:m>
                <a:endParaRPr lang="en-US" sz="1200" dirty="0"/>
              </a:p>
            </p:txBody>
          </p:sp>
        </mc:Choice>
        <mc:Fallback xmlns="">
          <p:sp>
            <p:nvSpPr>
              <p:cNvPr id="8" name="TextBox 7">
                <a:extLst>
                  <a:ext uri="{FF2B5EF4-FFF2-40B4-BE49-F238E27FC236}">
                    <a16:creationId xmlns:a16="http://schemas.microsoft.com/office/drawing/2014/main" id="{49F7E811-4157-1D4A-A0F9-B50A3827AAE1}"/>
                  </a:ext>
                </a:extLst>
              </p:cNvPr>
              <p:cNvSpPr txBox="1">
                <a:spLocks noRot="1" noChangeAspect="1" noMove="1" noResize="1" noEditPoints="1" noAdjustHandles="1" noChangeArrowheads="1" noChangeShapeType="1" noTextEdit="1"/>
              </p:cNvSpPr>
              <p:nvPr/>
            </p:nvSpPr>
            <p:spPr>
              <a:xfrm>
                <a:off x="7332077" y="2097168"/>
                <a:ext cx="1569597" cy="470193"/>
              </a:xfrm>
              <a:prstGeom prst="rect">
                <a:avLst/>
              </a:prstGeom>
              <a:blipFill>
                <a:blip r:embed="rId4"/>
                <a:stretch>
                  <a:fillRect/>
                </a:stretch>
              </a:blipFill>
              <a:ln>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0268DC5D-32F8-FC4E-8A43-71C2D2CC6AFF}"/>
                  </a:ext>
                </a:extLst>
              </p:cNvPr>
              <p:cNvSpPr txBox="1"/>
              <p:nvPr/>
            </p:nvSpPr>
            <p:spPr>
              <a:xfrm>
                <a:off x="6250255" y="4074139"/>
                <a:ext cx="1603259" cy="470193"/>
              </a:xfrm>
              <a:prstGeom prst="rect">
                <a:avLst/>
              </a:prstGeom>
              <a:noFill/>
              <a:ln>
                <a:solidFill>
                  <a:schemeClr val="tx1"/>
                </a:solidFill>
              </a:ln>
            </p:spPr>
            <p:txBody>
              <a:bodyPr wrap="none" rtlCol="0">
                <a:spAutoFit/>
              </a:bodyPr>
              <a:lstStyle/>
              <a:p>
                <a:pPr/>
                <a14:m>
                  <m:oMathPara xmlns:m="http://schemas.openxmlformats.org/officeDocument/2006/math">
                    <m:oMathParaPr>
                      <m:jc m:val="centerGroup"/>
                    </m:oMathParaPr>
                    <m:oMath xmlns:m="http://schemas.openxmlformats.org/officeDocument/2006/math">
                      <m:r>
                        <a:rPr lang="ar-AE" sz="1200" b="0" i="1" smtClean="0">
                          <a:latin typeface="Cambria Math" panose="02040503050406030204" pitchFamily="18" charset="0"/>
                        </a:rPr>
                        <m:t>𝐿</m:t>
                      </m:r>
                      <m:sSup>
                        <m:sSupPr>
                          <m:ctrlPr>
                            <a:rPr lang="ar-AE" sz="1200" b="0" i="1" smtClean="0">
                              <a:solidFill>
                                <a:srgbClr val="0070C0"/>
                              </a:solidFill>
                              <a:latin typeface="Cambria Math" panose="02040503050406030204" pitchFamily="18" charset="0"/>
                            </a:rPr>
                          </m:ctrlPr>
                        </m:sSupPr>
                        <m:e>
                          <m:r>
                            <a:rPr lang="ar-AE" sz="1200" b="0" i="1" smtClean="0">
                              <a:solidFill>
                                <a:srgbClr val="0070C0"/>
                              </a:solidFill>
                              <a:latin typeface="Cambria Math" panose="02040503050406030204" pitchFamily="18" charset="0"/>
                            </a:rPr>
                            <m:t>𝑒</m:t>
                          </m:r>
                        </m:e>
                        <m:sup>
                          <m:r>
                            <a:rPr lang="ar-AE" sz="1200" b="0" i="1" smtClean="0">
                              <a:solidFill>
                                <a:srgbClr val="0070C0"/>
                              </a:solidFill>
                              <a:latin typeface="Cambria Math" panose="02040503050406030204" pitchFamily="18" charset="0"/>
                            </a:rPr>
                            <m:t>4</m:t>
                          </m:r>
                          <m:r>
                            <a:rPr lang="ar-AE" sz="1200" b="0" i="1" smtClean="0">
                              <a:solidFill>
                                <a:srgbClr val="0070C0"/>
                              </a:solidFill>
                              <a:latin typeface="Cambria Math" panose="02040503050406030204" pitchFamily="18" charset="0"/>
                            </a:rPr>
                            <m:t>h</m:t>
                          </m:r>
                        </m:sup>
                      </m:sSup>
                      <m:r>
                        <a:rPr lang="ar-AE" sz="1200" b="0" i="1" smtClean="0">
                          <a:latin typeface="Cambria Math" panose="02040503050406030204" pitchFamily="18" charset="0"/>
                        </a:rPr>
                        <m:t>=</m:t>
                      </m:r>
                      <m:sSup>
                        <m:sSupPr>
                          <m:ctrlPr>
                            <a:rPr lang="ar-AE" sz="1200" b="0" i="1" smtClean="0">
                              <a:latin typeface="Cambria Math" panose="02040503050406030204" pitchFamily="18" charset="0"/>
                            </a:rPr>
                          </m:ctrlPr>
                        </m:sSupPr>
                        <m:e>
                          <m:r>
                            <a:rPr lang="ar-AE" sz="1200" b="0" i="1" smtClean="0">
                              <a:latin typeface="Cambria Math" panose="02040503050406030204" pitchFamily="18" charset="0"/>
                            </a:rPr>
                            <m:t>𝑟</m:t>
                          </m:r>
                        </m:e>
                        <m:sup>
                          <m:r>
                            <a:rPr lang="ar-AE" sz="1200" b="0" i="1" smtClean="0">
                              <a:latin typeface="Cambria Math" panose="02040503050406030204" pitchFamily="18" charset="0"/>
                            </a:rPr>
                            <m:t>4</m:t>
                          </m:r>
                          <m:r>
                            <a:rPr lang="ar-AE" sz="1200" b="0" i="1" smtClean="0">
                              <a:latin typeface="Cambria Math" panose="02040503050406030204" pitchFamily="18" charset="0"/>
                            </a:rPr>
                            <m:t>h</m:t>
                          </m:r>
                        </m:sup>
                      </m:sSup>
                      <m:r>
                        <a:rPr lang="ar-AE" sz="1200" b="0" i="1" smtClean="0">
                          <a:latin typeface="Cambria Math" panose="02040503050406030204" pitchFamily="18" charset="0"/>
                        </a:rPr>
                        <m:t>; </m:t>
                      </m:r>
                      <m:sSubSup>
                        <m:sSubSupPr>
                          <m:ctrlPr>
                            <a:rPr lang="ar-AE" sz="1200" i="1">
                              <a:latin typeface="Cambria Math" panose="02040503050406030204" pitchFamily="18" charset="0"/>
                            </a:rPr>
                          </m:ctrlPr>
                        </m:sSubSupPr>
                        <m:e>
                          <m:r>
                            <a:rPr lang="ar-AE" sz="1200" i="1">
                              <a:latin typeface="Cambria Math" panose="02040503050406030204" pitchFamily="18" charset="0"/>
                            </a:rPr>
                            <m:t>𝑒</m:t>
                          </m:r>
                        </m:e>
                        <m:sub>
                          <m:r>
                            <a:rPr lang="ar-AE" sz="1200" i="1">
                              <a:latin typeface="Cambria Math" panose="02040503050406030204" pitchFamily="18" charset="0"/>
                            </a:rPr>
                            <m:t>0</m:t>
                          </m:r>
                        </m:sub>
                        <m:sup>
                          <m:r>
                            <a:rPr lang="ar-AE" sz="1200" b="0" i="1" smtClean="0">
                              <a:latin typeface="Cambria Math" panose="02040503050406030204" pitchFamily="18" charset="0"/>
                            </a:rPr>
                            <m:t>4</m:t>
                          </m:r>
                          <m:r>
                            <a:rPr lang="ar-AE" sz="1200" i="1">
                              <a:latin typeface="Cambria Math" panose="02040503050406030204" pitchFamily="18" charset="0"/>
                            </a:rPr>
                            <m:t>h</m:t>
                          </m:r>
                        </m:sup>
                      </m:sSubSup>
                      <m:r>
                        <a:rPr lang="ar-AE" sz="1200" i="1">
                          <a:latin typeface="Cambria Math" panose="02040503050406030204" pitchFamily="18" charset="0"/>
                        </a:rPr>
                        <m:t>=0</m:t>
                      </m:r>
                    </m:oMath>
                  </m:oMathPara>
                </a14:m>
                <a:endParaRPr lang="ar-AE" dirty="0"/>
              </a:p>
              <a:p>
                <a:pPr/>
                <a14:m>
                  <m:oMathPara xmlns:m="http://schemas.openxmlformats.org/officeDocument/2006/math">
                    <m:oMathParaPr>
                      <m:jc m:val="centerGroup"/>
                    </m:oMathParaPr>
                    <m:oMath xmlns:m="http://schemas.openxmlformats.org/officeDocument/2006/math">
                      <m:sSup>
                        <m:sSupPr>
                          <m:ctrlPr>
                            <a:rPr lang="ar-AE" sz="1200" b="0" i="1" smtClean="0">
                              <a:latin typeface="Cambria Math" panose="02040503050406030204" pitchFamily="18" charset="0"/>
                            </a:rPr>
                          </m:ctrlPr>
                        </m:sSupPr>
                        <m:e>
                          <m:r>
                            <a:rPr lang="ar-AE" sz="1200" i="1">
                              <a:latin typeface="Cambria Math" panose="02040503050406030204" pitchFamily="18" charset="0"/>
                            </a:rPr>
                            <m:t>𝑟</m:t>
                          </m:r>
                        </m:e>
                        <m:sup>
                          <m:r>
                            <a:rPr lang="en-US" sz="1200" b="0" i="1" smtClean="0">
                              <a:latin typeface="Cambria Math" panose="02040503050406030204" pitchFamily="18" charset="0"/>
                            </a:rPr>
                            <m:t>4</m:t>
                          </m:r>
                          <m:r>
                            <a:rPr lang="en-US" sz="1200" b="0" i="1" smtClean="0">
                              <a:latin typeface="Cambria Math" panose="02040503050406030204" pitchFamily="18" charset="0"/>
                            </a:rPr>
                            <m:t>h</m:t>
                          </m:r>
                        </m:sup>
                      </m:sSup>
                      <m:r>
                        <a:rPr lang="ar-AE" sz="1200" i="1">
                          <a:latin typeface="Cambria Math" panose="02040503050406030204" pitchFamily="18" charset="0"/>
                        </a:rPr>
                        <m:t>′=</m:t>
                      </m:r>
                      <m:sSup>
                        <m:sSupPr>
                          <m:ctrlPr>
                            <a:rPr lang="ar-AE" sz="1200" i="1">
                              <a:latin typeface="Cambria Math" panose="02040503050406030204" pitchFamily="18" charset="0"/>
                            </a:rPr>
                          </m:ctrlPr>
                        </m:sSupPr>
                        <m:e>
                          <m:r>
                            <a:rPr lang="ar-AE" sz="1200" i="1">
                              <a:latin typeface="Cambria Math" panose="02040503050406030204" pitchFamily="18" charset="0"/>
                            </a:rPr>
                            <m:t>𝑟</m:t>
                          </m:r>
                        </m:e>
                        <m:sup>
                          <m:r>
                            <a:rPr lang="ar-AE" sz="1200" i="1">
                              <a:latin typeface="Cambria Math" panose="02040503050406030204" pitchFamily="18" charset="0"/>
                            </a:rPr>
                            <m:t>4</m:t>
                          </m:r>
                          <m:r>
                            <a:rPr lang="ar-AE" sz="1200" i="1">
                              <a:latin typeface="Cambria Math" panose="02040503050406030204" pitchFamily="18" charset="0"/>
                            </a:rPr>
                            <m:t>h</m:t>
                          </m:r>
                        </m:sup>
                      </m:sSup>
                      <m:r>
                        <a:rPr lang="ar-AE" sz="1200" i="1">
                          <a:latin typeface="Cambria Math" panose="02040503050406030204" pitchFamily="18" charset="0"/>
                        </a:rPr>
                        <m:t>−</m:t>
                      </m:r>
                      <m:r>
                        <a:rPr lang="ar-AE" sz="1200" i="1">
                          <a:latin typeface="Cambria Math" panose="02040503050406030204" pitchFamily="18" charset="0"/>
                        </a:rPr>
                        <m:t>𝐿</m:t>
                      </m:r>
                      <m:sSup>
                        <m:sSupPr>
                          <m:ctrlPr>
                            <a:rPr lang="ar-AE" sz="1200" i="1">
                              <a:latin typeface="Cambria Math" panose="02040503050406030204" pitchFamily="18" charset="0"/>
                            </a:rPr>
                          </m:ctrlPr>
                        </m:sSupPr>
                        <m:e>
                          <m:r>
                            <a:rPr lang="ar-AE" sz="1200" i="1">
                              <a:latin typeface="Cambria Math" panose="02040503050406030204" pitchFamily="18" charset="0"/>
                            </a:rPr>
                            <m:t>𝑒</m:t>
                          </m:r>
                        </m:e>
                        <m:sup>
                          <m:r>
                            <a:rPr lang="ar-AE" sz="1200" i="1">
                              <a:latin typeface="Cambria Math" panose="02040503050406030204" pitchFamily="18" charset="0"/>
                            </a:rPr>
                            <m:t>4</m:t>
                          </m:r>
                          <m:r>
                            <a:rPr lang="ar-AE" sz="1200" i="1">
                              <a:latin typeface="Cambria Math" panose="02040503050406030204" pitchFamily="18" charset="0"/>
                            </a:rPr>
                            <m:t>h</m:t>
                          </m:r>
                        </m:sup>
                      </m:sSup>
                    </m:oMath>
                  </m:oMathPara>
                </a14:m>
                <a:endParaRPr lang="en-US" sz="1200" dirty="0"/>
              </a:p>
            </p:txBody>
          </p:sp>
        </mc:Choice>
        <mc:Fallback xmlns="">
          <p:sp>
            <p:nvSpPr>
              <p:cNvPr id="9" name="TextBox 8">
                <a:extLst>
                  <a:ext uri="{FF2B5EF4-FFF2-40B4-BE49-F238E27FC236}">
                    <a16:creationId xmlns:a16="http://schemas.microsoft.com/office/drawing/2014/main" id="{0268DC5D-32F8-FC4E-8A43-71C2D2CC6AFF}"/>
                  </a:ext>
                </a:extLst>
              </p:cNvPr>
              <p:cNvSpPr txBox="1">
                <a:spLocks noRot="1" noChangeAspect="1" noMove="1" noResize="1" noEditPoints="1" noAdjustHandles="1" noChangeArrowheads="1" noChangeShapeType="1" noTextEdit="1"/>
              </p:cNvSpPr>
              <p:nvPr/>
            </p:nvSpPr>
            <p:spPr>
              <a:xfrm>
                <a:off x="6250255" y="4074139"/>
                <a:ext cx="1603259" cy="470193"/>
              </a:xfrm>
              <a:prstGeom prst="rect">
                <a:avLst/>
              </a:prstGeom>
              <a:blipFill>
                <a:blip r:embed="rId5"/>
                <a:stretch>
                  <a:fillRect/>
                </a:stretch>
              </a:blipFill>
              <a:ln>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0D2E95B9-C2AA-FD44-959A-0C093C1AA759}"/>
                  </a:ext>
                </a:extLst>
              </p:cNvPr>
              <p:cNvSpPr txBox="1"/>
              <p:nvPr/>
            </p:nvSpPr>
            <p:spPr>
              <a:xfrm>
                <a:off x="6849226" y="5325613"/>
                <a:ext cx="1603259" cy="470513"/>
              </a:xfrm>
              <a:prstGeom prst="rect">
                <a:avLst/>
              </a:prstGeom>
              <a:noFill/>
              <a:ln>
                <a:solidFill>
                  <a:schemeClr val="tx1"/>
                </a:solidFill>
              </a:ln>
            </p:spPr>
            <p:txBody>
              <a:bodyPr wrap="none" rtlCol="0">
                <a:spAutoFit/>
              </a:bodyPr>
              <a:lstStyle/>
              <a:p>
                <a:pPr/>
                <a14:m>
                  <m:oMathPara xmlns:m="http://schemas.openxmlformats.org/officeDocument/2006/math">
                    <m:oMathParaPr>
                      <m:jc m:val="centerGroup"/>
                    </m:oMathParaPr>
                    <m:oMath xmlns:m="http://schemas.openxmlformats.org/officeDocument/2006/math">
                      <m:r>
                        <a:rPr lang="ar-AE" sz="1200" b="0" i="1" smtClean="0">
                          <a:latin typeface="Cambria Math" panose="02040503050406030204" pitchFamily="18" charset="0"/>
                        </a:rPr>
                        <m:t>𝐿</m:t>
                      </m:r>
                      <m:sSup>
                        <m:sSupPr>
                          <m:ctrlPr>
                            <a:rPr lang="ar-AE" sz="1200" b="0" i="1" smtClean="0">
                              <a:solidFill>
                                <a:srgbClr val="0070C0"/>
                              </a:solidFill>
                              <a:latin typeface="Cambria Math" panose="02040503050406030204" pitchFamily="18" charset="0"/>
                            </a:rPr>
                          </m:ctrlPr>
                        </m:sSupPr>
                        <m:e>
                          <m:r>
                            <a:rPr lang="ar-AE" sz="1200" b="0" i="1" smtClean="0">
                              <a:solidFill>
                                <a:srgbClr val="0070C0"/>
                              </a:solidFill>
                              <a:latin typeface="Cambria Math" panose="02040503050406030204" pitchFamily="18" charset="0"/>
                            </a:rPr>
                            <m:t>𝑒</m:t>
                          </m:r>
                        </m:e>
                        <m:sup>
                          <m:r>
                            <a:rPr lang="ar-AE" sz="1200" b="0" i="1" smtClean="0">
                              <a:solidFill>
                                <a:srgbClr val="0070C0"/>
                              </a:solidFill>
                              <a:latin typeface="Cambria Math" panose="02040503050406030204" pitchFamily="18" charset="0"/>
                            </a:rPr>
                            <m:t>8</m:t>
                          </m:r>
                          <m:r>
                            <a:rPr lang="ar-AE" sz="1200" b="0" i="1" smtClean="0">
                              <a:solidFill>
                                <a:srgbClr val="0070C0"/>
                              </a:solidFill>
                              <a:latin typeface="Cambria Math" panose="02040503050406030204" pitchFamily="18" charset="0"/>
                            </a:rPr>
                            <m:t>h</m:t>
                          </m:r>
                        </m:sup>
                      </m:sSup>
                      <m:r>
                        <a:rPr lang="ar-AE" sz="1200" b="0" i="1" smtClean="0">
                          <a:latin typeface="Cambria Math" panose="02040503050406030204" pitchFamily="18" charset="0"/>
                        </a:rPr>
                        <m:t>=</m:t>
                      </m:r>
                      <m:sSup>
                        <m:sSupPr>
                          <m:ctrlPr>
                            <a:rPr lang="ar-AE" sz="1200" b="0" i="1" smtClean="0">
                              <a:latin typeface="Cambria Math" panose="02040503050406030204" pitchFamily="18" charset="0"/>
                            </a:rPr>
                          </m:ctrlPr>
                        </m:sSupPr>
                        <m:e>
                          <m:r>
                            <a:rPr lang="ar-AE" sz="1200" b="0" i="1" smtClean="0">
                              <a:latin typeface="Cambria Math" panose="02040503050406030204" pitchFamily="18" charset="0"/>
                            </a:rPr>
                            <m:t>𝑟</m:t>
                          </m:r>
                        </m:e>
                        <m:sup>
                          <m:r>
                            <a:rPr lang="ar-AE" sz="1200" b="0" i="1" smtClean="0">
                              <a:latin typeface="Cambria Math" panose="02040503050406030204" pitchFamily="18" charset="0"/>
                            </a:rPr>
                            <m:t>8</m:t>
                          </m:r>
                          <m:r>
                            <a:rPr lang="ar-AE" sz="1200" b="0" i="1" smtClean="0">
                              <a:latin typeface="Cambria Math" panose="02040503050406030204" pitchFamily="18" charset="0"/>
                            </a:rPr>
                            <m:t>h</m:t>
                          </m:r>
                        </m:sup>
                      </m:sSup>
                      <m:r>
                        <a:rPr lang="ar-AE" sz="1200" b="0" i="1" smtClean="0">
                          <a:latin typeface="Cambria Math" panose="02040503050406030204" pitchFamily="18" charset="0"/>
                        </a:rPr>
                        <m:t>; </m:t>
                      </m:r>
                      <m:sSubSup>
                        <m:sSubSupPr>
                          <m:ctrlPr>
                            <a:rPr lang="ar-AE" sz="1200" i="1">
                              <a:latin typeface="Cambria Math" panose="02040503050406030204" pitchFamily="18" charset="0"/>
                            </a:rPr>
                          </m:ctrlPr>
                        </m:sSubSupPr>
                        <m:e>
                          <m:r>
                            <a:rPr lang="ar-AE" sz="1200" i="1">
                              <a:latin typeface="Cambria Math" panose="02040503050406030204" pitchFamily="18" charset="0"/>
                            </a:rPr>
                            <m:t>𝑒</m:t>
                          </m:r>
                        </m:e>
                        <m:sub>
                          <m:r>
                            <a:rPr lang="ar-AE" sz="1200" i="1">
                              <a:latin typeface="Cambria Math" panose="02040503050406030204" pitchFamily="18" charset="0"/>
                            </a:rPr>
                            <m:t>0</m:t>
                          </m:r>
                        </m:sub>
                        <m:sup>
                          <m:r>
                            <a:rPr lang="ar-AE" sz="1200" b="0" i="1" smtClean="0">
                              <a:latin typeface="Cambria Math" panose="02040503050406030204" pitchFamily="18" charset="0"/>
                            </a:rPr>
                            <m:t>8</m:t>
                          </m:r>
                          <m:r>
                            <a:rPr lang="ar-AE" sz="1200" i="1">
                              <a:latin typeface="Cambria Math" panose="02040503050406030204" pitchFamily="18" charset="0"/>
                            </a:rPr>
                            <m:t>h</m:t>
                          </m:r>
                        </m:sup>
                      </m:sSubSup>
                      <m:r>
                        <a:rPr lang="ar-AE" sz="1200" i="1">
                          <a:latin typeface="Cambria Math" panose="02040503050406030204" pitchFamily="18" charset="0"/>
                        </a:rPr>
                        <m:t>=0</m:t>
                      </m:r>
                    </m:oMath>
                  </m:oMathPara>
                </a14:m>
                <a:endParaRPr lang="ar-AE" dirty="0"/>
              </a:p>
              <a:p>
                <a:pPr/>
                <a14:m>
                  <m:oMathPara xmlns:m="http://schemas.openxmlformats.org/officeDocument/2006/math">
                    <m:oMathParaPr>
                      <m:jc m:val="centerGroup"/>
                    </m:oMathParaPr>
                    <m:oMath xmlns:m="http://schemas.openxmlformats.org/officeDocument/2006/math">
                      <m:sSup>
                        <m:sSupPr>
                          <m:ctrlPr>
                            <a:rPr lang="ar-AE" sz="1200" b="0" i="1" smtClean="0">
                              <a:latin typeface="Cambria Math" panose="02040503050406030204" pitchFamily="18" charset="0"/>
                            </a:rPr>
                          </m:ctrlPr>
                        </m:sSupPr>
                        <m:e>
                          <m:r>
                            <a:rPr lang="ar-AE" sz="1200" i="1">
                              <a:latin typeface="Cambria Math" panose="02040503050406030204" pitchFamily="18" charset="0"/>
                            </a:rPr>
                            <m:t>𝑟</m:t>
                          </m:r>
                        </m:e>
                        <m:sup>
                          <m:r>
                            <a:rPr lang="en-US" sz="1200" b="0" i="1" smtClean="0">
                              <a:latin typeface="Cambria Math" panose="02040503050406030204" pitchFamily="18" charset="0"/>
                            </a:rPr>
                            <m:t>8</m:t>
                          </m:r>
                          <m:r>
                            <a:rPr lang="en-US" sz="1200" b="0" i="1" smtClean="0">
                              <a:latin typeface="Cambria Math" panose="02040503050406030204" pitchFamily="18" charset="0"/>
                            </a:rPr>
                            <m:t>h</m:t>
                          </m:r>
                        </m:sup>
                      </m:sSup>
                      <m:r>
                        <a:rPr lang="ar-AE" sz="1200" i="1">
                          <a:latin typeface="Cambria Math" panose="02040503050406030204" pitchFamily="18" charset="0"/>
                        </a:rPr>
                        <m:t>′=</m:t>
                      </m:r>
                      <m:sSup>
                        <m:sSupPr>
                          <m:ctrlPr>
                            <a:rPr lang="ar-AE" sz="1200" i="1">
                              <a:latin typeface="Cambria Math" panose="02040503050406030204" pitchFamily="18" charset="0"/>
                            </a:rPr>
                          </m:ctrlPr>
                        </m:sSupPr>
                        <m:e>
                          <m:r>
                            <a:rPr lang="ar-AE" sz="1200" i="1">
                              <a:latin typeface="Cambria Math" panose="02040503050406030204" pitchFamily="18" charset="0"/>
                            </a:rPr>
                            <m:t>𝑟</m:t>
                          </m:r>
                        </m:e>
                        <m:sup>
                          <m:r>
                            <a:rPr lang="ar-AE" sz="1200" i="1">
                              <a:latin typeface="Cambria Math" panose="02040503050406030204" pitchFamily="18" charset="0"/>
                            </a:rPr>
                            <m:t>8</m:t>
                          </m:r>
                          <m:r>
                            <a:rPr lang="ar-AE" sz="1200" i="1">
                              <a:latin typeface="Cambria Math" panose="02040503050406030204" pitchFamily="18" charset="0"/>
                            </a:rPr>
                            <m:t>h</m:t>
                          </m:r>
                        </m:sup>
                      </m:sSup>
                      <m:r>
                        <a:rPr lang="ar-AE" sz="1200" i="1">
                          <a:latin typeface="Cambria Math" panose="02040503050406030204" pitchFamily="18" charset="0"/>
                        </a:rPr>
                        <m:t>−</m:t>
                      </m:r>
                      <m:r>
                        <a:rPr lang="ar-AE" sz="1200" i="1">
                          <a:latin typeface="Cambria Math" panose="02040503050406030204" pitchFamily="18" charset="0"/>
                        </a:rPr>
                        <m:t>𝐿</m:t>
                      </m:r>
                      <m:sSup>
                        <m:sSupPr>
                          <m:ctrlPr>
                            <a:rPr lang="ar-AE" sz="1200" i="1">
                              <a:latin typeface="Cambria Math" panose="02040503050406030204" pitchFamily="18" charset="0"/>
                            </a:rPr>
                          </m:ctrlPr>
                        </m:sSupPr>
                        <m:e>
                          <m:r>
                            <a:rPr lang="ar-AE" sz="1200" i="1">
                              <a:latin typeface="Cambria Math" panose="02040503050406030204" pitchFamily="18" charset="0"/>
                            </a:rPr>
                            <m:t>𝑒</m:t>
                          </m:r>
                        </m:e>
                        <m:sup>
                          <m:r>
                            <a:rPr lang="ar-AE" sz="1200" i="1">
                              <a:latin typeface="Cambria Math" panose="02040503050406030204" pitchFamily="18" charset="0"/>
                            </a:rPr>
                            <m:t>8</m:t>
                          </m:r>
                          <m:r>
                            <a:rPr lang="ar-AE" sz="1200" i="1">
                              <a:latin typeface="Cambria Math" panose="02040503050406030204" pitchFamily="18" charset="0"/>
                            </a:rPr>
                            <m:t>h</m:t>
                          </m:r>
                        </m:sup>
                      </m:sSup>
                    </m:oMath>
                  </m:oMathPara>
                </a14:m>
                <a:endParaRPr lang="en-US" sz="1200" dirty="0"/>
              </a:p>
            </p:txBody>
          </p:sp>
        </mc:Choice>
        <mc:Fallback xmlns="">
          <p:sp>
            <p:nvSpPr>
              <p:cNvPr id="10" name="TextBox 9">
                <a:extLst>
                  <a:ext uri="{FF2B5EF4-FFF2-40B4-BE49-F238E27FC236}">
                    <a16:creationId xmlns:a16="http://schemas.microsoft.com/office/drawing/2014/main" id="{0D2E95B9-C2AA-FD44-959A-0C093C1AA759}"/>
                  </a:ext>
                </a:extLst>
              </p:cNvPr>
              <p:cNvSpPr txBox="1">
                <a:spLocks noRot="1" noChangeAspect="1" noMove="1" noResize="1" noEditPoints="1" noAdjustHandles="1" noChangeArrowheads="1" noChangeShapeType="1" noTextEdit="1"/>
              </p:cNvSpPr>
              <p:nvPr/>
            </p:nvSpPr>
            <p:spPr>
              <a:xfrm>
                <a:off x="6849226" y="5325613"/>
                <a:ext cx="1603259" cy="470513"/>
              </a:xfrm>
              <a:prstGeom prst="rect">
                <a:avLst/>
              </a:prstGeom>
              <a:blipFill>
                <a:blip r:embed="rId6"/>
                <a:stretch>
                  <a:fillRect/>
                </a:stretch>
              </a:blipFill>
              <a:ln>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C7318EA6-7266-FA40-8300-9576FAC7F23F}"/>
                  </a:ext>
                </a:extLst>
              </p:cNvPr>
              <p:cNvSpPr txBox="1"/>
              <p:nvPr/>
            </p:nvSpPr>
            <p:spPr>
              <a:xfrm>
                <a:off x="9553931" y="6421346"/>
                <a:ext cx="1723805" cy="285719"/>
              </a:xfrm>
              <a:prstGeom prst="rect">
                <a:avLst/>
              </a:prstGeom>
              <a:noFill/>
              <a:ln>
                <a:solidFill>
                  <a:schemeClr val="tx1"/>
                </a:solidFill>
              </a:ln>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200" b="0" i="1" smtClean="0">
                          <a:latin typeface="Cambria Math" panose="02040503050406030204" pitchFamily="18" charset="0"/>
                        </a:rPr>
                        <m:t>𝐿</m:t>
                      </m:r>
                      <m:sSup>
                        <m:sSupPr>
                          <m:ctrlPr>
                            <a:rPr lang="en-US" sz="1200" b="0" i="1" smtClean="0">
                              <a:solidFill>
                                <a:srgbClr val="0070C0"/>
                              </a:solidFill>
                              <a:latin typeface="Cambria Math" panose="02040503050406030204" pitchFamily="18" charset="0"/>
                            </a:rPr>
                          </m:ctrlPr>
                        </m:sSupPr>
                        <m:e>
                          <m:r>
                            <a:rPr lang="en-US" sz="1200" b="0" i="1" smtClean="0">
                              <a:solidFill>
                                <a:srgbClr val="0070C0"/>
                              </a:solidFill>
                              <a:latin typeface="Cambria Math" panose="02040503050406030204" pitchFamily="18" charset="0"/>
                            </a:rPr>
                            <m:t>𝑒</m:t>
                          </m:r>
                        </m:e>
                        <m:sup>
                          <m:r>
                            <a:rPr lang="en-US" sz="1200" b="0" i="1" smtClean="0">
                              <a:solidFill>
                                <a:srgbClr val="0070C0"/>
                              </a:solidFill>
                              <a:latin typeface="Cambria Math" panose="02040503050406030204" pitchFamily="18" charset="0"/>
                            </a:rPr>
                            <m:t>16</m:t>
                          </m:r>
                          <m:r>
                            <a:rPr lang="en-US" sz="1200" b="0" i="1" smtClean="0">
                              <a:solidFill>
                                <a:srgbClr val="0070C0"/>
                              </a:solidFill>
                              <a:latin typeface="Cambria Math" panose="02040503050406030204" pitchFamily="18" charset="0"/>
                            </a:rPr>
                            <m:t>h</m:t>
                          </m:r>
                        </m:sup>
                      </m:sSup>
                      <m:r>
                        <a:rPr lang="en-US" sz="1200" b="0" i="1" smtClean="0">
                          <a:latin typeface="Cambria Math" panose="02040503050406030204" pitchFamily="18" charset="0"/>
                        </a:rPr>
                        <m:t>=</m:t>
                      </m:r>
                      <m:sSup>
                        <m:sSupPr>
                          <m:ctrlPr>
                            <a:rPr lang="en-US" sz="1200" b="0" i="1" smtClean="0">
                              <a:latin typeface="Cambria Math" panose="02040503050406030204" pitchFamily="18" charset="0"/>
                            </a:rPr>
                          </m:ctrlPr>
                        </m:sSupPr>
                        <m:e>
                          <m:r>
                            <a:rPr lang="en-US" sz="1200" b="0" i="1" smtClean="0">
                              <a:latin typeface="Cambria Math" panose="02040503050406030204" pitchFamily="18" charset="0"/>
                            </a:rPr>
                            <m:t>𝑟</m:t>
                          </m:r>
                        </m:e>
                        <m:sup>
                          <m:r>
                            <a:rPr lang="en-US" sz="1200" b="0" i="1" smtClean="0">
                              <a:latin typeface="Cambria Math" panose="02040503050406030204" pitchFamily="18" charset="0"/>
                            </a:rPr>
                            <m:t>16</m:t>
                          </m:r>
                          <m:r>
                            <a:rPr lang="en-US" sz="1200" b="0" i="1" smtClean="0">
                              <a:latin typeface="Cambria Math" panose="02040503050406030204" pitchFamily="18" charset="0"/>
                            </a:rPr>
                            <m:t>h</m:t>
                          </m:r>
                        </m:sup>
                      </m:sSup>
                      <m:r>
                        <a:rPr lang="en-US" sz="1200" i="1">
                          <a:latin typeface="Cambria Math" panose="02040503050406030204" pitchFamily="18" charset="0"/>
                        </a:rPr>
                        <m:t>;</m:t>
                      </m:r>
                      <m:sSubSup>
                        <m:sSubSupPr>
                          <m:ctrlPr>
                            <a:rPr lang="en-US" sz="1200" i="1">
                              <a:latin typeface="Cambria Math" panose="02040503050406030204" pitchFamily="18" charset="0"/>
                            </a:rPr>
                          </m:ctrlPr>
                        </m:sSubSupPr>
                        <m:e>
                          <m:r>
                            <a:rPr lang="en-US" sz="1200" b="0" i="1" smtClean="0">
                              <a:latin typeface="Cambria Math" panose="02040503050406030204" pitchFamily="18" charset="0"/>
                            </a:rPr>
                            <m:t> </m:t>
                          </m:r>
                          <m:r>
                            <a:rPr lang="en-US" sz="1200" i="1">
                              <a:latin typeface="Cambria Math" panose="02040503050406030204" pitchFamily="18" charset="0"/>
                            </a:rPr>
                            <m:t>𝑒</m:t>
                          </m:r>
                        </m:e>
                        <m:sub>
                          <m:r>
                            <a:rPr lang="en-US" sz="1200" i="1">
                              <a:latin typeface="Cambria Math" panose="02040503050406030204" pitchFamily="18" charset="0"/>
                            </a:rPr>
                            <m:t>0</m:t>
                          </m:r>
                        </m:sub>
                        <m:sup>
                          <m:r>
                            <a:rPr lang="en-US" sz="1200" b="0" i="1" smtClean="0">
                              <a:latin typeface="Cambria Math" panose="02040503050406030204" pitchFamily="18" charset="0"/>
                            </a:rPr>
                            <m:t>16</m:t>
                          </m:r>
                          <m:r>
                            <a:rPr lang="en-US" sz="1200" i="1">
                              <a:latin typeface="Cambria Math" panose="02040503050406030204" pitchFamily="18" charset="0"/>
                            </a:rPr>
                            <m:t>h</m:t>
                          </m:r>
                        </m:sup>
                      </m:sSubSup>
                      <m:r>
                        <a:rPr lang="en-US" sz="1200" i="1">
                          <a:latin typeface="Cambria Math" panose="02040503050406030204" pitchFamily="18" charset="0"/>
                        </a:rPr>
                        <m:t>=0</m:t>
                      </m:r>
                    </m:oMath>
                  </m:oMathPara>
                </a14:m>
                <a:endParaRPr dirty="0"/>
              </a:p>
            </p:txBody>
          </p:sp>
        </mc:Choice>
        <mc:Fallback xmlns="">
          <p:sp>
            <p:nvSpPr>
              <p:cNvPr id="11" name="TextBox 10">
                <a:extLst>
                  <a:ext uri="{FF2B5EF4-FFF2-40B4-BE49-F238E27FC236}">
                    <a16:creationId xmlns:a16="http://schemas.microsoft.com/office/drawing/2014/main" id="{C7318EA6-7266-FA40-8300-9576FAC7F23F}"/>
                  </a:ext>
                </a:extLst>
              </p:cNvPr>
              <p:cNvSpPr txBox="1">
                <a:spLocks noRot="1" noChangeAspect="1" noMove="1" noResize="1" noEditPoints="1" noAdjustHandles="1" noChangeArrowheads="1" noChangeShapeType="1" noTextEdit="1"/>
              </p:cNvSpPr>
              <p:nvPr/>
            </p:nvSpPr>
            <p:spPr>
              <a:xfrm>
                <a:off x="9553931" y="6421346"/>
                <a:ext cx="1723805" cy="285719"/>
              </a:xfrm>
              <a:prstGeom prst="rect">
                <a:avLst/>
              </a:prstGeom>
              <a:blipFill>
                <a:blip r:embed="rId7"/>
                <a:stretch>
                  <a:fillRect/>
                </a:stretch>
              </a:blipFill>
              <a:ln>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5A695153-25AF-3C4E-AEF0-48CAC59A7748}"/>
                  </a:ext>
                </a:extLst>
              </p:cNvPr>
              <p:cNvSpPr txBox="1"/>
              <p:nvPr/>
            </p:nvSpPr>
            <p:spPr>
              <a:xfrm>
                <a:off x="6175876" y="1993755"/>
                <a:ext cx="774251" cy="280333"/>
              </a:xfrm>
              <a:prstGeom prst="rect">
                <a:avLst/>
              </a:prstGeom>
              <a:noFill/>
              <a:ln>
                <a:noFill/>
              </a:ln>
            </p:spPr>
            <p:txBody>
              <a:bodyPr wrap="none" rtlCol="0">
                <a:spAutoFit/>
              </a:bodyPr>
              <a:lstStyle/>
              <a:p>
                <a:pPr/>
                <a14:m>
                  <m:oMathPara xmlns:m="http://schemas.openxmlformats.org/officeDocument/2006/math">
                    <m:oMathParaPr>
                      <m:jc m:val="centerGroup"/>
                    </m:oMathParaPr>
                    <m:oMath xmlns:m="http://schemas.openxmlformats.org/officeDocument/2006/math">
                      <m:sSup>
                        <m:sSupPr>
                          <m:ctrlPr>
                            <a:rPr lang="en-US" sz="1200" b="0" i="1" smtClean="0">
                              <a:solidFill>
                                <a:srgbClr val="FF0000"/>
                              </a:solidFill>
                              <a:latin typeface="Cambria Math" panose="02040503050406030204" pitchFamily="18" charset="0"/>
                            </a:rPr>
                          </m:ctrlPr>
                        </m:sSupPr>
                        <m:e>
                          <m:r>
                            <a:rPr lang="en-US" sz="1200" b="0" i="1" smtClean="0">
                              <a:solidFill>
                                <a:srgbClr val="FF0000"/>
                              </a:solidFill>
                              <a:latin typeface="Cambria Math" panose="02040503050406030204" pitchFamily="18" charset="0"/>
                            </a:rPr>
                            <m:t>𝑟</m:t>
                          </m:r>
                          <m:r>
                            <a:rPr lang="en-US" sz="1200" b="0" i="1" smtClean="0">
                              <a:solidFill>
                                <a:srgbClr val="FF0000"/>
                              </a:solidFill>
                              <a:latin typeface="Cambria Math" panose="02040503050406030204" pitchFamily="18" charset="0"/>
                            </a:rPr>
                            <m:t>′→</m:t>
                          </m:r>
                          <m:r>
                            <a:rPr lang="en-US" sz="1200" b="0" i="1" smtClean="0">
                              <a:solidFill>
                                <a:srgbClr val="FF0000"/>
                              </a:solidFill>
                              <a:latin typeface="Cambria Math" panose="02040503050406030204" pitchFamily="18" charset="0"/>
                            </a:rPr>
                            <m:t>𝑟</m:t>
                          </m:r>
                        </m:e>
                        <m:sup>
                          <m:r>
                            <a:rPr lang="en-US" sz="1200" b="0" i="1" smtClean="0">
                              <a:solidFill>
                                <a:srgbClr val="FF0000"/>
                              </a:solidFill>
                              <a:latin typeface="Cambria Math" panose="02040503050406030204" pitchFamily="18" charset="0"/>
                            </a:rPr>
                            <m:t>2</m:t>
                          </m:r>
                          <m:r>
                            <a:rPr lang="en-US" sz="1200" b="0" i="1" smtClean="0">
                              <a:solidFill>
                                <a:srgbClr val="FF0000"/>
                              </a:solidFill>
                              <a:latin typeface="Cambria Math" panose="02040503050406030204" pitchFamily="18" charset="0"/>
                            </a:rPr>
                            <m:t>h</m:t>
                          </m:r>
                        </m:sup>
                      </m:sSup>
                    </m:oMath>
                  </m:oMathPara>
                </a14:m>
                <a:endParaRPr lang="en-US" sz="1200" dirty="0">
                  <a:solidFill>
                    <a:srgbClr val="FF0000"/>
                  </a:solidFill>
                </a:endParaRPr>
              </a:p>
            </p:txBody>
          </p:sp>
        </mc:Choice>
        <mc:Fallback xmlns="">
          <p:sp>
            <p:nvSpPr>
              <p:cNvPr id="12" name="TextBox 11">
                <a:extLst>
                  <a:ext uri="{FF2B5EF4-FFF2-40B4-BE49-F238E27FC236}">
                    <a16:creationId xmlns:a16="http://schemas.microsoft.com/office/drawing/2014/main" id="{5A695153-25AF-3C4E-AEF0-48CAC59A7748}"/>
                  </a:ext>
                </a:extLst>
              </p:cNvPr>
              <p:cNvSpPr txBox="1">
                <a:spLocks noRot="1" noChangeAspect="1" noMove="1" noResize="1" noEditPoints="1" noAdjustHandles="1" noChangeArrowheads="1" noChangeShapeType="1" noTextEdit="1"/>
              </p:cNvSpPr>
              <p:nvPr/>
            </p:nvSpPr>
            <p:spPr>
              <a:xfrm>
                <a:off x="6175876" y="1993755"/>
                <a:ext cx="774251" cy="280333"/>
              </a:xfrm>
              <a:prstGeom prst="rect">
                <a:avLst/>
              </a:prstGeom>
              <a:blipFill>
                <a:blip r:embed="rId8"/>
                <a:stretch>
                  <a:fillRect/>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9B240B00-6C75-564C-9DBA-B6B6B44A4C5B}"/>
                  </a:ext>
                </a:extLst>
              </p:cNvPr>
              <p:cNvSpPr txBox="1"/>
              <p:nvPr/>
            </p:nvSpPr>
            <p:spPr>
              <a:xfrm>
                <a:off x="6650597" y="3242459"/>
                <a:ext cx="927242" cy="280333"/>
              </a:xfrm>
              <a:prstGeom prst="rect">
                <a:avLst/>
              </a:prstGeom>
              <a:noFill/>
              <a:ln>
                <a:noFill/>
              </a:ln>
            </p:spPr>
            <p:txBody>
              <a:bodyPr wrap="none" rtlCol="0">
                <a:spAutoFit/>
              </a:bodyPr>
              <a:lstStyle/>
              <a:p>
                <a:pPr/>
                <a14:m>
                  <m:oMathPara xmlns:m="http://schemas.openxmlformats.org/officeDocument/2006/math">
                    <m:oMathParaPr>
                      <m:jc m:val="centerGroup"/>
                    </m:oMathParaPr>
                    <m:oMath xmlns:m="http://schemas.openxmlformats.org/officeDocument/2006/math">
                      <m:sSup>
                        <m:sSupPr>
                          <m:ctrlPr>
                            <a:rPr lang="en-US" sz="1200" b="0" i="1" smtClean="0">
                              <a:solidFill>
                                <a:srgbClr val="FF0000"/>
                              </a:solidFill>
                              <a:latin typeface="Cambria Math" panose="02040503050406030204" pitchFamily="18" charset="0"/>
                            </a:rPr>
                          </m:ctrlPr>
                        </m:sSupPr>
                        <m:e>
                          <m:sSup>
                            <m:sSupPr>
                              <m:ctrlPr>
                                <a:rPr lang="en-US" sz="1200" b="0" i="1" smtClean="0">
                                  <a:solidFill>
                                    <a:srgbClr val="FF0000"/>
                                  </a:solidFill>
                                  <a:latin typeface="Cambria Math" panose="02040503050406030204" pitchFamily="18" charset="0"/>
                                </a:rPr>
                              </m:ctrlPr>
                            </m:sSupPr>
                            <m:e>
                              <m:r>
                                <a:rPr lang="en-US" sz="1200" b="0" i="1" smtClean="0">
                                  <a:solidFill>
                                    <a:srgbClr val="FF0000"/>
                                  </a:solidFill>
                                  <a:latin typeface="Cambria Math" panose="02040503050406030204" pitchFamily="18" charset="0"/>
                                </a:rPr>
                                <m:t>𝑟</m:t>
                              </m:r>
                            </m:e>
                            <m:sup>
                              <m:r>
                                <a:rPr lang="en-US" sz="1200" b="0" i="1" smtClean="0">
                                  <a:solidFill>
                                    <a:srgbClr val="FF0000"/>
                                  </a:solidFill>
                                  <a:latin typeface="Cambria Math" panose="02040503050406030204" pitchFamily="18" charset="0"/>
                                </a:rPr>
                                <m:t>2</m:t>
                              </m:r>
                              <m:r>
                                <a:rPr lang="en-US" sz="1200" b="0" i="1" smtClean="0">
                                  <a:solidFill>
                                    <a:srgbClr val="FF0000"/>
                                  </a:solidFill>
                                  <a:latin typeface="Cambria Math" panose="02040503050406030204" pitchFamily="18" charset="0"/>
                                </a:rPr>
                                <m:t>h</m:t>
                              </m:r>
                            </m:sup>
                          </m:sSup>
                          <m:r>
                            <a:rPr lang="en-US" sz="1200" b="0" i="1" smtClean="0">
                              <a:solidFill>
                                <a:srgbClr val="FF0000"/>
                              </a:solidFill>
                              <a:latin typeface="Cambria Math" panose="02040503050406030204" pitchFamily="18" charset="0"/>
                            </a:rPr>
                            <m:t>′→</m:t>
                          </m:r>
                          <m:r>
                            <a:rPr lang="en-US" sz="1200" b="0" i="1" smtClean="0">
                              <a:solidFill>
                                <a:srgbClr val="FF0000"/>
                              </a:solidFill>
                              <a:latin typeface="Cambria Math" panose="02040503050406030204" pitchFamily="18" charset="0"/>
                            </a:rPr>
                            <m:t>𝑟</m:t>
                          </m:r>
                        </m:e>
                        <m:sup>
                          <m:r>
                            <a:rPr lang="en-US" sz="1200" b="0" i="1" smtClean="0">
                              <a:solidFill>
                                <a:srgbClr val="FF0000"/>
                              </a:solidFill>
                              <a:latin typeface="Cambria Math" panose="02040503050406030204" pitchFamily="18" charset="0"/>
                            </a:rPr>
                            <m:t>4</m:t>
                          </m:r>
                          <m:r>
                            <a:rPr lang="en-US" sz="1200" b="0" i="1" smtClean="0">
                              <a:solidFill>
                                <a:srgbClr val="FF0000"/>
                              </a:solidFill>
                              <a:latin typeface="Cambria Math" panose="02040503050406030204" pitchFamily="18" charset="0"/>
                            </a:rPr>
                            <m:t>h</m:t>
                          </m:r>
                        </m:sup>
                      </m:sSup>
                    </m:oMath>
                  </m:oMathPara>
                </a14:m>
                <a:endParaRPr lang="en-US" sz="1200" dirty="0">
                  <a:solidFill>
                    <a:srgbClr val="FF0000"/>
                  </a:solidFill>
                </a:endParaRPr>
              </a:p>
            </p:txBody>
          </p:sp>
        </mc:Choice>
        <mc:Fallback xmlns="">
          <p:sp>
            <p:nvSpPr>
              <p:cNvPr id="13" name="TextBox 12">
                <a:extLst>
                  <a:ext uri="{FF2B5EF4-FFF2-40B4-BE49-F238E27FC236}">
                    <a16:creationId xmlns:a16="http://schemas.microsoft.com/office/drawing/2014/main" id="{9B240B00-6C75-564C-9DBA-B6B6B44A4C5B}"/>
                  </a:ext>
                </a:extLst>
              </p:cNvPr>
              <p:cNvSpPr txBox="1">
                <a:spLocks noRot="1" noChangeAspect="1" noMove="1" noResize="1" noEditPoints="1" noAdjustHandles="1" noChangeArrowheads="1" noChangeShapeType="1" noTextEdit="1"/>
              </p:cNvSpPr>
              <p:nvPr/>
            </p:nvSpPr>
            <p:spPr>
              <a:xfrm>
                <a:off x="6650597" y="3242459"/>
                <a:ext cx="927242" cy="280333"/>
              </a:xfrm>
              <a:prstGeom prst="rect">
                <a:avLst/>
              </a:prstGeom>
              <a:blipFill>
                <a:blip r:embed="rId9"/>
                <a:stretch>
                  <a:fillRect/>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94F9466C-6352-6A48-99DF-5A255674BA82}"/>
                  </a:ext>
                </a:extLst>
              </p:cNvPr>
              <p:cNvSpPr txBox="1"/>
              <p:nvPr/>
            </p:nvSpPr>
            <p:spPr>
              <a:xfrm>
                <a:off x="7405319" y="4623035"/>
                <a:ext cx="927242" cy="280333"/>
              </a:xfrm>
              <a:prstGeom prst="rect">
                <a:avLst/>
              </a:prstGeom>
              <a:noFill/>
              <a:ln>
                <a:noFill/>
              </a:ln>
            </p:spPr>
            <p:txBody>
              <a:bodyPr wrap="none" rtlCol="0">
                <a:spAutoFit/>
              </a:bodyPr>
              <a:lstStyle/>
              <a:p>
                <a:pPr/>
                <a14:m>
                  <m:oMathPara xmlns:m="http://schemas.openxmlformats.org/officeDocument/2006/math">
                    <m:oMathParaPr>
                      <m:jc m:val="centerGroup"/>
                    </m:oMathParaPr>
                    <m:oMath xmlns:m="http://schemas.openxmlformats.org/officeDocument/2006/math">
                      <m:sSup>
                        <m:sSupPr>
                          <m:ctrlPr>
                            <a:rPr lang="en-US" sz="1200" b="0" i="1" smtClean="0">
                              <a:solidFill>
                                <a:srgbClr val="FF0000"/>
                              </a:solidFill>
                              <a:latin typeface="Cambria Math" panose="02040503050406030204" pitchFamily="18" charset="0"/>
                            </a:rPr>
                          </m:ctrlPr>
                        </m:sSupPr>
                        <m:e>
                          <m:sSup>
                            <m:sSupPr>
                              <m:ctrlPr>
                                <a:rPr lang="en-US" sz="1200" b="0" i="1" smtClean="0">
                                  <a:solidFill>
                                    <a:srgbClr val="FF0000"/>
                                  </a:solidFill>
                                  <a:latin typeface="Cambria Math" panose="02040503050406030204" pitchFamily="18" charset="0"/>
                                </a:rPr>
                              </m:ctrlPr>
                            </m:sSupPr>
                            <m:e>
                              <m:r>
                                <a:rPr lang="en-US" sz="1200" b="0" i="1" smtClean="0">
                                  <a:solidFill>
                                    <a:srgbClr val="FF0000"/>
                                  </a:solidFill>
                                  <a:latin typeface="Cambria Math" panose="02040503050406030204" pitchFamily="18" charset="0"/>
                                </a:rPr>
                                <m:t>𝑟</m:t>
                              </m:r>
                            </m:e>
                            <m:sup>
                              <m:r>
                                <a:rPr lang="en-US" sz="1200" b="0" i="1" smtClean="0">
                                  <a:solidFill>
                                    <a:srgbClr val="FF0000"/>
                                  </a:solidFill>
                                  <a:latin typeface="Cambria Math" panose="02040503050406030204" pitchFamily="18" charset="0"/>
                                </a:rPr>
                                <m:t>4</m:t>
                              </m:r>
                              <m:r>
                                <a:rPr lang="en-US" sz="1200" b="0" i="1" smtClean="0">
                                  <a:solidFill>
                                    <a:srgbClr val="FF0000"/>
                                  </a:solidFill>
                                  <a:latin typeface="Cambria Math" panose="02040503050406030204" pitchFamily="18" charset="0"/>
                                </a:rPr>
                                <m:t>h</m:t>
                              </m:r>
                            </m:sup>
                          </m:sSup>
                          <m:r>
                            <a:rPr lang="en-US" sz="1200" b="0" i="1" smtClean="0">
                              <a:solidFill>
                                <a:srgbClr val="FF0000"/>
                              </a:solidFill>
                              <a:latin typeface="Cambria Math" panose="02040503050406030204" pitchFamily="18" charset="0"/>
                            </a:rPr>
                            <m:t>′→</m:t>
                          </m:r>
                          <m:r>
                            <a:rPr lang="en-US" sz="1200" b="0" i="1" smtClean="0">
                              <a:solidFill>
                                <a:srgbClr val="FF0000"/>
                              </a:solidFill>
                              <a:latin typeface="Cambria Math" panose="02040503050406030204" pitchFamily="18" charset="0"/>
                            </a:rPr>
                            <m:t>𝑟</m:t>
                          </m:r>
                        </m:e>
                        <m:sup>
                          <m:r>
                            <a:rPr lang="en-US" sz="1200" b="0" i="1" smtClean="0">
                              <a:solidFill>
                                <a:srgbClr val="FF0000"/>
                              </a:solidFill>
                              <a:latin typeface="Cambria Math" panose="02040503050406030204" pitchFamily="18" charset="0"/>
                            </a:rPr>
                            <m:t>8</m:t>
                          </m:r>
                          <m:r>
                            <a:rPr lang="en-US" sz="1200" b="0" i="1" smtClean="0">
                              <a:solidFill>
                                <a:srgbClr val="FF0000"/>
                              </a:solidFill>
                              <a:latin typeface="Cambria Math" panose="02040503050406030204" pitchFamily="18" charset="0"/>
                            </a:rPr>
                            <m:t>h</m:t>
                          </m:r>
                        </m:sup>
                      </m:sSup>
                    </m:oMath>
                  </m:oMathPara>
                </a14:m>
                <a:endParaRPr lang="en-US" sz="1200" dirty="0">
                  <a:solidFill>
                    <a:srgbClr val="FF0000"/>
                  </a:solidFill>
                </a:endParaRPr>
              </a:p>
            </p:txBody>
          </p:sp>
        </mc:Choice>
        <mc:Fallback xmlns="">
          <p:sp>
            <p:nvSpPr>
              <p:cNvPr id="14" name="TextBox 13">
                <a:extLst>
                  <a:ext uri="{FF2B5EF4-FFF2-40B4-BE49-F238E27FC236}">
                    <a16:creationId xmlns:a16="http://schemas.microsoft.com/office/drawing/2014/main" id="{94F9466C-6352-6A48-99DF-5A255674BA82}"/>
                  </a:ext>
                </a:extLst>
              </p:cNvPr>
              <p:cNvSpPr txBox="1">
                <a:spLocks noRot="1" noChangeAspect="1" noMove="1" noResize="1" noEditPoints="1" noAdjustHandles="1" noChangeArrowheads="1" noChangeShapeType="1" noTextEdit="1"/>
              </p:cNvSpPr>
              <p:nvPr/>
            </p:nvSpPr>
            <p:spPr>
              <a:xfrm>
                <a:off x="7405319" y="4623035"/>
                <a:ext cx="927242" cy="280333"/>
              </a:xfrm>
              <a:prstGeom prst="rect">
                <a:avLst/>
              </a:prstGeom>
              <a:blipFill>
                <a:blip r:embed="rId10"/>
                <a:stretch>
                  <a:fillRect/>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84A4ACD9-A97F-1042-8834-5846796B708C}"/>
                  </a:ext>
                </a:extLst>
              </p:cNvPr>
              <p:cNvSpPr txBox="1"/>
              <p:nvPr/>
            </p:nvSpPr>
            <p:spPr>
              <a:xfrm>
                <a:off x="7941552" y="5813016"/>
                <a:ext cx="989695" cy="280333"/>
              </a:xfrm>
              <a:prstGeom prst="rect">
                <a:avLst/>
              </a:prstGeom>
              <a:noFill/>
              <a:ln>
                <a:noFill/>
              </a:ln>
            </p:spPr>
            <p:txBody>
              <a:bodyPr wrap="none" rtlCol="0">
                <a:spAutoFit/>
              </a:bodyPr>
              <a:lstStyle/>
              <a:p>
                <a:pPr/>
                <a14:m>
                  <m:oMathPara xmlns:m="http://schemas.openxmlformats.org/officeDocument/2006/math">
                    <m:oMathParaPr>
                      <m:jc m:val="centerGroup"/>
                    </m:oMathParaPr>
                    <m:oMath xmlns:m="http://schemas.openxmlformats.org/officeDocument/2006/math">
                      <m:sSup>
                        <m:sSupPr>
                          <m:ctrlPr>
                            <a:rPr lang="en-US" sz="1200" b="0" i="1" smtClean="0">
                              <a:solidFill>
                                <a:srgbClr val="FF0000"/>
                              </a:solidFill>
                              <a:latin typeface="Cambria Math" panose="02040503050406030204" pitchFamily="18" charset="0"/>
                            </a:rPr>
                          </m:ctrlPr>
                        </m:sSupPr>
                        <m:e>
                          <m:sSup>
                            <m:sSupPr>
                              <m:ctrlPr>
                                <a:rPr lang="en-US" sz="1200" b="0" i="1" smtClean="0">
                                  <a:solidFill>
                                    <a:srgbClr val="FF0000"/>
                                  </a:solidFill>
                                  <a:latin typeface="Cambria Math" panose="02040503050406030204" pitchFamily="18" charset="0"/>
                                </a:rPr>
                              </m:ctrlPr>
                            </m:sSupPr>
                            <m:e>
                              <m:r>
                                <a:rPr lang="en-US" sz="1200" b="0" i="1" smtClean="0">
                                  <a:solidFill>
                                    <a:srgbClr val="FF0000"/>
                                  </a:solidFill>
                                  <a:latin typeface="Cambria Math" panose="02040503050406030204" pitchFamily="18" charset="0"/>
                                </a:rPr>
                                <m:t>𝑟</m:t>
                              </m:r>
                            </m:e>
                            <m:sup>
                              <m:r>
                                <a:rPr lang="en-US" sz="1200" b="0" i="1" smtClean="0">
                                  <a:solidFill>
                                    <a:srgbClr val="FF0000"/>
                                  </a:solidFill>
                                  <a:latin typeface="Cambria Math" panose="02040503050406030204" pitchFamily="18" charset="0"/>
                                </a:rPr>
                                <m:t>8</m:t>
                              </m:r>
                              <m:r>
                                <a:rPr lang="en-US" sz="1200" b="0" i="1" smtClean="0">
                                  <a:solidFill>
                                    <a:srgbClr val="FF0000"/>
                                  </a:solidFill>
                                  <a:latin typeface="Cambria Math" panose="02040503050406030204" pitchFamily="18" charset="0"/>
                                </a:rPr>
                                <m:t>h</m:t>
                              </m:r>
                            </m:sup>
                          </m:sSup>
                          <m:r>
                            <a:rPr lang="en-US" sz="1200" b="0" i="1" smtClean="0">
                              <a:solidFill>
                                <a:srgbClr val="FF0000"/>
                              </a:solidFill>
                              <a:latin typeface="Cambria Math" panose="02040503050406030204" pitchFamily="18" charset="0"/>
                            </a:rPr>
                            <m:t>′→</m:t>
                          </m:r>
                          <m:r>
                            <a:rPr lang="en-US" sz="1200" b="0" i="1" smtClean="0">
                              <a:solidFill>
                                <a:srgbClr val="FF0000"/>
                              </a:solidFill>
                              <a:latin typeface="Cambria Math" panose="02040503050406030204" pitchFamily="18" charset="0"/>
                            </a:rPr>
                            <m:t>𝑟</m:t>
                          </m:r>
                        </m:e>
                        <m:sup>
                          <m:r>
                            <a:rPr lang="en-US" sz="1200" b="0" i="1" smtClean="0">
                              <a:solidFill>
                                <a:srgbClr val="FF0000"/>
                              </a:solidFill>
                              <a:latin typeface="Cambria Math" panose="02040503050406030204" pitchFamily="18" charset="0"/>
                            </a:rPr>
                            <m:t>16</m:t>
                          </m:r>
                          <m:r>
                            <a:rPr lang="en-US" sz="1200" b="0" i="1" smtClean="0">
                              <a:solidFill>
                                <a:srgbClr val="FF0000"/>
                              </a:solidFill>
                              <a:latin typeface="Cambria Math" panose="02040503050406030204" pitchFamily="18" charset="0"/>
                            </a:rPr>
                            <m:t>h</m:t>
                          </m:r>
                        </m:sup>
                      </m:sSup>
                    </m:oMath>
                  </m:oMathPara>
                </a14:m>
                <a:endParaRPr lang="en-US" sz="1200" dirty="0">
                  <a:solidFill>
                    <a:srgbClr val="FF0000"/>
                  </a:solidFill>
                </a:endParaRPr>
              </a:p>
            </p:txBody>
          </p:sp>
        </mc:Choice>
        <mc:Fallback xmlns="">
          <p:sp>
            <p:nvSpPr>
              <p:cNvPr id="15" name="TextBox 14">
                <a:extLst>
                  <a:ext uri="{FF2B5EF4-FFF2-40B4-BE49-F238E27FC236}">
                    <a16:creationId xmlns:a16="http://schemas.microsoft.com/office/drawing/2014/main" id="{84A4ACD9-A97F-1042-8834-5846796B708C}"/>
                  </a:ext>
                </a:extLst>
              </p:cNvPr>
              <p:cNvSpPr txBox="1">
                <a:spLocks noRot="1" noChangeAspect="1" noMove="1" noResize="1" noEditPoints="1" noAdjustHandles="1" noChangeArrowheads="1" noChangeShapeType="1" noTextEdit="1"/>
              </p:cNvSpPr>
              <p:nvPr/>
            </p:nvSpPr>
            <p:spPr>
              <a:xfrm>
                <a:off x="7941552" y="5813016"/>
                <a:ext cx="989695" cy="280333"/>
              </a:xfrm>
              <a:prstGeom prst="rect">
                <a:avLst/>
              </a:prstGeom>
              <a:blipFill>
                <a:blip r:embed="rId11"/>
                <a:stretch>
                  <a:fillRect/>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859FB00F-7A7B-EF4C-86C5-D695E268B636}"/>
                  </a:ext>
                </a:extLst>
              </p:cNvPr>
              <p:cNvSpPr txBox="1"/>
              <p:nvPr/>
            </p:nvSpPr>
            <p:spPr>
              <a:xfrm>
                <a:off x="9377663" y="5813678"/>
                <a:ext cx="994824" cy="280333"/>
              </a:xfrm>
              <a:prstGeom prst="rect">
                <a:avLst/>
              </a:prstGeom>
              <a:noFill/>
              <a:ln>
                <a:noFill/>
              </a:ln>
            </p:spPr>
            <p:txBody>
              <a:bodyPr wrap="none" rtlCol="0">
                <a:spAutoFit/>
              </a:bodyPr>
              <a:lstStyle/>
              <a:p>
                <a14:m>
                  <m:oMath xmlns:m="http://schemas.openxmlformats.org/officeDocument/2006/math">
                    <m:sSup>
                      <m:sSupPr>
                        <m:ctrlPr>
                          <a:rPr lang="en-US" sz="1200" i="1" smtClean="0">
                            <a:solidFill>
                              <a:srgbClr val="FF0000"/>
                            </a:solidFill>
                            <a:latin typeface="Cambria Math" panose="02040503050406030204" pitchFamily="18" charset="0"/>
                          </a:rPr>
                        </m:ctrlPr>
                      </m:sSupPr>
                      <m:e>
                        <m:r>
                          <a:rPr lang="en-US" sz="1200" i="1">
                            <a:solidFill>
                              <a:srgbClr val="FF0000"/>
                            </a:solidFill>
                            <a:latin typeface="Cambria Math" panose="02040503050406030204" pitchFamily="18" charset="0"/>
                          </a:rPr>
                          <m:t>𝑒</m:t>
                        </m:r>
                      </m:e>
                      <m:sup>
                        <m:r>
                          <a:rPr lang="en-US" sz="1200" i="1">
                            <a:solidFill>
                              <a:srgbClr val="FF0000"/>
                            </a:solidFill>
                            <a:latin typeface="Cambria Math" panose="02040503050406030204" pitchFamily="18" charset="0"/>
                          </a:rPr>
                          <m:t>16</m:t>
                        </m:r>
                        <m:r>
                          <a:rPr lang="en-US" sz="1200" i="1">
                            <a:solidFill>
                              <a:srgbClr val="FF0000"/>
                            </a:solidFill>
                            <a:latin typeface="Cambria Math" panose="02040503050406030204" pitchFamily="18" charset="0"/>
                          </a:rPr>
                          <m:t>h</m:t>
                        </m:r>
                      </m:sup>
                    </m:sSup>
                    <m:r>
                      <a:rPr lang="en-US" sz="1200" i="1">
                        <a:solidFill>
                          <a:srgbClr val="FF0000"/>
                        </a:solidFill>
                        <a:latin typeface="Cambria Math" panose="02040503050406030204" pitchFamily="18" charset="0"/>
                      </a:rPr>
                      <m:t>→</m:t>
                    </m:r>
                    <m:sSup>
                      <m:sSupPr>
                        <m:ctrlPr>
                          <a:rPr lang="en-US" sz="1200" b="0" i="1" smtClean="0">
                            <a:solidFill>
                              <a:srgbClr val="FF0000"/>
                            </a:solidFill>
                            <a:latin typeface="Cambria Math" panose="02040503050406030204" pitchFamily="18" charset="0"/>
                          </a:rPr>
                        </m:ctrlPr>
                      </m:sSupPr>
                      <m:e>
                        <m:r>
                          <a:rPr lang="en-US" sz="1200" b="0" i="1" smtClean="0">
                            <a:solidFill>
                              <a:srgbClr val="FF0000"/>
                            </a:solidFill>
                            <a:latin typeface="Cambria Math" panose="02040503050406030204" pitchFamily="18" charset="0"/>
                          </a:rPr>
                          <m:t>𝑒</m:t>
                        </m:r>
                      </m:e>
                      <m:sup>
                        <m:r>
                          <a:rPr lang="en-US" sz="1200" b="0" i="1" smtClean="0">
                            <a:solidFill>
                              <a:srgbClr val="FF0000"/>
                            </a:solidFill>
                            <a:latin typeface="Cambria Math" panose="02040503050406030204" pitchFamily="18" charset="0"/>
                          </a:rPr>
                          <m:t>8</m:t>
                        </m:r>
                        <m:r>
                          <a:rPr lang="en-US" sz="1200" b="0" i="1" smtClean="0">
                            <a:solidFill>
                              <a:srgbClr val="FF0000"/>
                            </a:solidFill>
                            <a:latin typeface="Cambria Math" panose="02040503050406030204" pitchFamily="18" charset="0"/>
                          </a:rPr>
                          <m:t>h</m:t>
                        </m:r>
                        <m:r>
                          <a:rPr lang="en-US" sz="1200" b="0" i="1" smtClean="0">
                            <a:solidFill>
                              <a:srgbClr val="FF0000"/>
                            </a:solidFill>
                            <a:latin typeface="Cambria Math" panose="02040503050406030204" pitchFamily="18" charset="0"/>
                          </a:rPr>
                          <m:t>′</m:t>
                        </m:r>
                      </m:sup>
                    </m:sSup>
                  </m:oMath>
                </a14:m>
                <a:r>
                  <a:rPr lang="en-US" sz="1200" dirty="0">
                    <a:solidFill>
                      <a:srgbClr val="FF0000"/>
                    </a:solidFill>
                  </a:rPr>
                  <a:t> </a:t>
                </a:r>
              </a:p>
            </p:txBody>
          </p:sp>
        </mc:Choice>
        <mc:Fallback xmlns="">
          <p:sp>
            <p:nvSpPr>
              <p:cNvPr id="16" name="TextBox 15">
                <a:extLst>
                  <a:ext uri="{FF2B5EF4-FFF2-40B4-BE49-F238E27FC236}">
                    <a16:creationId xmlns:a16="http://schemas.microsoft.com/office/drawing/2014/main" id="{859FB00F-7A7B-EF4C-86C5-D695E268B636}"/>
                  </a:ext>
                </a:extLst>
              </p:cNvPr>
              <p:cNvSpPr txBox="1">
                <a:spLocks noRot="1" noChangeAspect="1" noMove="1" noResize="1" noEditPoints="1" noAdjustHandles="1" noChangeArrowheads="1" noChangeShapeType="1" noTextEdit="1"/>
              </p:cNvSpPr>
              <p:nvPr/>
            </p:nvSpPr>
            <p:spPr>
              <a:xfrm>
                <a:off x="9377663" y="5813678"/>
                <a:ext cx="994824" cy="280333"/>
              </a:xfrm>
              <a:prstGeom prst="rect">
                <a:avLst/>
              </a:prstGeom>
              <a:blipFill>
                <a:blip r:embed="rId12"/>
                <a:stretch>
                  <a:fillRect/>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23BC44AB-7968-5F44-A2F2-A595F58F10D3}"/>
                  </a:ext>
                </a:extLst>
              </p:cNvPr>
              <p:cNvSpPr txBox="1"/>
              <p:nvPr/>
            </p:nvSpPr>
            <p:spPr>
              <a:xfrm>
                <a:off x="9884421" y="5323945"/>
                <a:ext cx="1539203" cy="479362"/>
              </a:xfrm>
              <a:prstGeom prst="rect">
                <a:avLst/>
              </a:prstGeom>
              <a:noFill/>
              <a:ln>
                <a:solidFill>
                  <a:schemeClr val="tx1"/>
                </a:solidFill>
              </a:ln>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ar-AE" sz="1200" i="1">
                              <a:latin typeface="Cambria Math" panose="02040503050406030204" pitchFamily="18" charset="0"/>
                            </a:rPr>
                          </m:ctrlPr>
                        </m:sSubSupPr>
                        <m:e>
                          <m:r>
                            <a:rPr lang="ar-AE" sz="1200" i="1">
                              <a:latin typeface="Cambria Math" panose="02040503050406030204" pitchFamily="18" charset="0"/>
                            </a:rPr>
                            <m:t>𝑒</m:t>
                          </m:r>
                        </m:e>
                        <m:sub>
                          <m:r>
                            <a:rPr lang="ar-AE" sz="1200" i="1">
                              <a:latin typeface="Cambria Math" panose="02040503050406030204" pitchFamily="18" charset="0"/>
                            </a:rPr>
                            <m:t>0</m:t>
                          </m:r>
                        </m:sub>
                        <m:sup>
                          <m:r>
                            <a:rPr lang="ar-AE" sz="1200" i="1">
                              <a:latin typeface="Cambria Math" panose="02040503050406030204" pitchFamily="18" charset="0"/>
                            </a:rPr>
                            <m:t>8</m:t>
                          </m:r>
                          <m:r>
                            <a:rPr lang="ar-AE" sz="1200" i="1">
                              <a:latin typeface="Cambria Math" panose="02040503050406030204" pitchFamily="18" charset="0"/>
                            </a:rPr>
                            <m:t>h</m:t>
                          </m:r>
                        </m:sup>
                      </m:sSubSup>
                      <m:r>
                        <a:rPr lang="ar-AE" sz="1200" i="1">
                          <a:latin typeface="Cambria Math" panose="02040503050406030204" pitchFamily="18" charset="0"/>
                        </a:rPr>
                        <m:t>=</m:t>
                      </m:r>
                      <m:sSup>
                        <m:sSupPr>
                          <m:ctrlPr>
                            <a:rPr lang="ar-AE" sz="1200" i="1" smtClean="0">
                              <a:solidFill>
                                <a:srgbClr val="0070C0"/>
                              </a:solidFill>
                              <a:latin typeface="Cambria Math" panose="02040503050406030204" pitchFamily="18" charset="0"/>
                            </a:rPr>
                          </m:ctrlPr>
                        </m:sSupPr>
                        <m:e>
                          <m:r>
                            <a:rPr lang="ar-AE" sz="1200" i="1">
                              <a:solidFill>
                                <a:srgbClr val="0070C0"/>
                              </a:solidFill>
                              <a:latin typeface="Cambria Math" panose="02040503050406030204" pitchFamily="18" charset="0"/>
                            </a:rPr>
                            <m:t>𝑒</m:t>
                          </m:r>
                        </m:e>
                        <m:sup>
                          <m:r>
                            <a:rPr lang="ar-AE" sz="1200" i="1">
                              <a:solidFill>
                                <a:srgbClr val="0070C0"/>
                              </a:solidFill>
                              <a:latin typeface="Cambria Math" panose="02040503050406030204" pitchFamily="18" charset="0"/>
                            </a:rPr>
                            <m:t>8</m:t>
                          </m:r>
                          <m:r>
                            <a:rPr lang="ar-AE" sz="1200" i="1">
                              <a:solidFill>
                                <a:srgbClr val="0070C0"/>
                              </a:solidFill>
                              <a:latin typeface="Cambria Math" panose="02040503050406030204" pitchFamily="18" charset="0"/>
                            </a:rPr>
                            <m:t>h</m:t>
                          </m:r>
                          <m:r>
                            <a:rPr lang="ar-AE" sz="1200" i="1">
                              <a:solidFill>
                                <a:srgbClr val="0070C0"/>
                              </a:solidFill>
                              <a:latin typeface="Cambria Math" panose="02040503050406030204" pitchFamily="18" charset="0"/>
                            </a:rPr>
                            <m:t>, </m:t>
                          </m:r>
                          <m:r>
                            <a:rPr lang="ar-AE" sz="1200" i="1">
                              <a:solidFill>
                                <a:srgbClr val="0070C0"/>
                              </a:solidFill>
                              <a:latin typeface="Cambria Math" panose="02040503050406030204" pitchFamily="18" charset="0"/>
                            </a:rPr>
                            <m:t>𝑜𝑙𝑑</m:t>
                          </m:r>
                        </m:sup>
                      </m:sSup>
                      <m:r>
                        <a:rPr lang="ar-AE" sz="1200" i="1">
                          <a:latin typeface="Cambria Math" panose="02040503050406030204" pitchFamily="18" charset="0"/>
                        </a:rPr>
                        <m:t>+</m:t>
                      </m:r>
                      <m:sSup>
                        <m:sSupPr>
                          <m:ctrlPr>
                            <a:rPr lang="ar-AE" sz="1200" i="1" smtClean="0">
                              <a:solidFill>
                                <a:srgbClr val="FF0000"/>
                              </a:solidFill>
                              <a:latin typeface="Cambria Math" panose="02040503050406030204" pitchFamily="18" charset="0"/>
                            </a:rPr>
                          </m:ctrlPr>
                        </m:sSupPr>
                        <m:e>
                          <m:r>
                            <a:rPr lang="ar-AE" sz="1200" i="1">
                              <a:solidFill>
                                <a:srgbClr val="FF0000"/>
                              </a:solidFill>
                              <a:latin typeface="Cambria Math" panose="02040503050406030204" pitchFamily="18" charset="0"/>
                            </a:rPr>
                            <m:t>𝑒</m:t>
                          </m:r>
                        </m:e>
                        <m:sup>
                          <m:r>
                            <a:rPr lang="ar-AE" sz="1200" i="1">
                              <a:solidFill>
                                <a:srgbClr val="FF0000"/>
                              </a:solidFill>
                              <a:latin typeface="Cambria Math" panose="02040503050406030204" pitchFamily="18" charset="0"/>
                            </a:rPr>
                            <m:t>8</m:t>
                          </m:r>
                          <m:r>
                            <a:rPr lang="ar-AE" sz="1200" i="1">
                              <a:solidFill>
                                <a:srgbClr val="FF0000"/>
                              </a:solidFill>
                              <a:latin typeface="Cambria Math" panose="02040503050406030204" pitchFamily="18" charset="0"/>
                            </a:rPr>
                            <m:t>h</m:t>
                          </m:r>
                        </m:sup>
                      </m:sSup>
                      <m:r>
                        <a:rPr lang="ar-AE" sz="1200" i="1">
                          <a:solidFill>
                            <a:srgbClr val="FF0000"/>
                          </a:solidFill>
                          <a:latin typeface="Cambria Math" panose="02040503050406030204" pitchFamily="18" charset="0"/>
                        </a:rPr>
                        <m:t>′</m:t>
                      </m:r>
                    </m:oMath>
                  </m:oMathPara>
                </a14:m>
                <a:endParaRPr lang="en-US" sz="1200" b="0" i="1" dirty="0">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US" sz="1200" b="0" i="1" smtClean="0">
                          <a:latin typeface="Cambria Math" panose="02040503050406030204" pitchFamily="18" charset="0"/>
                        </a:rPr>
                        <m:t>𝐿</m:t>
                      </m:r>
                      <m:sSup>
                        <m:sSupPr>
                          <m:ctrlPr>
                            <a:rPr lang="en-US" sz="1200" b="0" i="1" smtClean="0">
                              <a:latin typeface="Cambria Math" panose="02040503050406030204" pitchFamily="18" charset="0"/>
                            </a:rPr>
                          </m:ctrlPr>
                        </m:sSupPr>
                        <m:e>
                          <m:r>
                            <a:rPr lang="en-US" sz="1200" b="0" i="1" smtClean="0">
                              <a:latin typeface="Cambria Math" panose="02040503050406030204" pitchFamily="18" charset="0"/>
                            </a:rPr>
                            <m:t>𝑒</m:t>
                          </m:r>
                        </m:e>
                        <m:sup>
                          <m:r>
                            <a:rPr lang="en-US" sz="1200" b="0" i="1" smtClean="0">
                              <a:latin typeface="Cambria Math" panose="02040503050406030204" pitchFamily="18" charset="0"/>
                            </a:rPr>
                            <m:t>8</m:t>
                          </m:r>
                          <m:r>
                            <a:rPr lang="en-US" sz="1200" b="0" i="1" smtClean="0">
                              <a:latin typeface="Cambria Math" panose="02040503050406030204" pitchFamily="18" charset="0"/>
                            </a:rPr>
                            <m:t>h</m:t>
                          </m:r>
                        </m:sup>
                      </m:sSup>
                      <m:r>
                        <a:rPr lang="en-US" sz="1200" b="0" i="1" smtClean="0">
                          <a:latin typeface="Cambria Math" panose="02040503050406030204" pitchFamily="18" charset="0"/>
                        </a:rPr>
                        <m:t>=</m:t>
                      </m:r>
                      <m:sSup>
                        <m:sSupPr>
                          <m:ctrlPr>
                            <a:rPr lang="en-US" sz="1200" b="0" i="1" smtClean="0">
                              <a:latin typeface="Cambria Math" panose="02040503050406030204" pitchFamily="18" charset="0"/>
                            </a:rPr>
                          </m:ctrlPr>
                        </m:sSupPr>
                        <m:e>
                          <m:r>
                            <a:rPr lang="en-US" sz="1200" b="0" i="1" smtClean="0">
                              <a:latin typeface="Cambria Math" panose="02040503050406030204" pitchFamily="18" charset="0"/>
                            </a:rPr>
                            <m:t>𝑟</m:t>
                          </m:r>
                        </m:e>
                        <m:sup>
                          <m:r>
                            <a:rPr lang="en-US" sz="1200" b="0" i="1" smtClean="0">
                              <a:latin typeface="Cambria Math" panose="02040503050406030204" pitchFamily="18" charset="0"/>
                            </a:rPr>
                            <m:t>8</m:t>
                          </m:r>
                          <m:r>
                            <a:rPr lang="en-US" sz="1200" b="0" i="1" smtClean="0">
                              <a:latin typeface="Cambria Math" panose="02040503050406030204" pitchFamily="18" charset="0"/>
                            </a:rPr>
                            <m:t>h</m:t>
                          </m:r>
                        </m:sup>
                      </m:sSup>
                      <m:r>
                        <a:rPr lang="en-US" sz="1200" b="0" i="1" smtClean="0">
                          <a:latin typeface="Cambria Math" panose="02040503050406030204" pitchFamily="18" charset="0"/>
                        </a:rPr>
                        <m:t>;</m:t>
                      </m:r>
                      <m:sSubSup>
                        <m:sSubSupPr>
                          <m:ctrlPr>
                            <a:rPr lang="en-US" sz="1200" i="1">
                              <a:latin typeface="Cambria Math" panose="02040503050406030204" pitchFamily="18" charset="0"/>
                            </a:rPr>
                          </m:ctrlPr>
                        </m:sSubSupPr>
                        <m:e>
                          <m:r>
                            <a:rPr lang="en-US" sz="1200" i="1">
                              <a:latin typeface="Cambria Math" panose="02040503050406030204" pitchFamily="18" charset="0"/>
                            </a:rPr>
                            <m:t>𝑒</m:t>
                          </m:r>
                        </m:e>
                        <m:sub>
                          <m:r>
                            <a:rPr lang="en-US" sz="1200" i="1">
                              <a:latin typeface="Cambria Math" panose="02040503050406030204" pitchFamily="18" charset="0"/>
                            </a:rPr>
                            <m:t>0</m:t>
                          </m:r>
                        </m:sub>
                        <m:sup>
                          <m:r>
                            <a:rPr lang="en-US" sz="1200" i="1">
                              <a:latin typeface="Cambria Math" panose="02040503050406030204" pitchFamily="18" charset="0"/>
                            </a:rPr>
                            <m:t>8</m:t>
                          </m:r>
                          <m:r>
                            <a:rPr lang="en-US" sz="1200" i="1">
                              <a:latin typeface="Cambria Math" panose="02040503050406030204" pitchFamily="18" charset="0"/>
                            </a:rPr>
                            <m:t>h</m:t>
                          </m:r>
                        </m:sup>
                      </m:sSubSup>
                    </m:oMath>
                  </m:oMathPara>
                </a14:m>
                <a:endParaRPr lang="en-US" sz="1200" b="0" i="1" dirty="0">
                  <a:latin typeface="Cambria Math" panose="02040503050406030204" pitchFamily="18" charset="0"/>
                </a:endParaRPr>
              </a:p>
            </p:txBody>
          </p:sp>
        </mc:Choice>
        <mc:Fallback xmlns="">
          <p:sp>
            <p:nvSpPr>
              <p:cNvPr id="17" name="TextBox 16">
                <a:extLst>
                  <a:ext uri="{FF2B5EF4-FFF2-40B4-BE49-F238E27FC236}">
                    <a16:creationId xmlns:a16="http://schemas.microsoft.com/office/drawing/2014/main" id="{23BC44AB-7968-5F44-A2F2-A595F58F10D3}"/>
                  </a:ext>
                </a:extLst>
              </p:cNvPr>
              <p:cNvSpPr txBox="1">
                <a:spLocks noRot="1" noChangeAspect="1" noMove="1" noResize="1" noEditPoints="1" noAdjustHandles="1" noChangeArrowheads="1" noChangeShapeType="1" noTextEdit="1"/>
              </p:cNvSpPr>
              <p:nvPr/>
            </p:nvSpPr>
            <p:spPr>
              <a:xfrm>
                <a:off x="9884421" y="5323945"/>
                <a:ext cx="1539203" cy="479362"/>
              </a:xfrm>
              <a:prstGeom prst="rect">
                <a:avLst/>
              </a:prstGeom>
              <a:blipFill>
                <a:blip r:embed="rId13"/>
                <a:stretch>
                  <a:fillRect/>
                </a:stretch>
              </a:blipFill>
              <a:ln>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81467341-1A0D-E547-994D-136F601CB509}"/>
                  </a:ext>
                </a:extLst>
              </p:cNvPr>
              <p:cNvSpPr txBox="1"/>
              <p:nvPr/>
            </p:nvSpPr>
            <p:spPr>
              <a:xfrm>
                <a:off x="10504992" y="4052338"/>
                <a:ext cx="1543884" cy="497187"/>
              </a:xfrm>
              <a:prstGeom prst="rect">
                <a:avLst/>
              </a:prstGeom>
              <a:noFill/>
              <a:ln>
                <a:solidFill>
                  <a:schemeClr val="tx1"/>
                </a:solidFill>
              </a:ln>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sz="1200" i="1">
                              <a:latin typeface="Cambria Math" panose="02040503050406030204" pitchFamily="18" charset="0"/>
                            </a:rPr>
                          </m:ctrlPr>
                        </m:sSubSupPr>
                        <m:e>
                          <m:r>
                            <a:rPr lang="en-US" sz="1200" i="1">
                              <a:latin typeface="Cambria Math" panose="02040503050406030204" pitchFamily="18" charset="0"/>
                            </a:rPr>
                            <m:t>𝑒</m:t>
                          </m:r>
                        </m:e>
                        <m:sub>
                          <m:r>
                            <a:rPr lang="en-US" sz="1200" i="1">
                              <a:latin typeface="Cambria Math" panose="02040503050406030204" pitchFamily="18" charset="0"/>
                            </a:rPr>
                            <m:t>0</m:t>
                          </m:r>
                        </m:sub>
                        <m:sup>
                          <m:r>
                            <a:rPr lang="en-US" sz="1200" i="1">
                              <a:latin typeface="Cambria Math" panose="02040503050406030204" pitchFamily="18" charset="0"/>
                            </a:rPr>
                            <m:t>4</m:t>
                          </m:r>
                          <m:r>
                            <a:rPr lang="en-US" sz="1200" i="1">
                              <a:latin typeface="Cambria Math" panose="02040503050406030204" pitchFamily="18" charset="0"/>
                            </a:rPr>
                            <m:t>h</m:t>
                          </m:r>
                        </m:sup>
                      </m:sSubSup>
                      <m:r>
                        <a:rPr lang="en-US" sz="1200" i="1">
                          <a:latin typeface="Cambria Math" panose="02040503050406030204" pitchFamily="18" charset="0"/>
                        </a:rPr>
                        <m:t>=</m:t>
                      </m:r>
                      <m:sSup>
                        <m:sSupPr>
                          <m:ctrlPr>
                            <a:rPr lang="en-US" sz="1200" i="1" smtClean="0">
                              <a:solidFill>
                                <a:srgbClr val="0070C0"/>
                              </a:solidFill>
                              <a:latin typeface="Cambria Math" panose="02040503050406030204" pitchFamily="18" charset="0"/>
                            </a:rPr>
                          </m:ctrlPr>
                        </m:sSupPr>
                        <m:e>
                          <m:r>
                            <a:rPr lang="en-US" sz="1200" i="1">
                              <a:solidFill>
                                <a:srgbClr val="0070C0"/>
                              </a:solidFill>
                              <a:latin typeface="Cambria Math" panose="02040503050406030204" pitchFamily="18" charset="0"/>
                            </a:rPr>
                            <m:t>𝑒</m:t>
                          </m:r>
                        </m:e>
                        <m:sup>
                          <m:r>
                            <a:rPr lang="en-US" sz="1200" i="1">
                              <a:solidFill>
                                <a:srgbClr val="0070C0"/>
                              </a:solidFill>
                              <a:latin typeface="Cambria Math" panose="02040503050406030204" pitchFamily="18" charset="0"/>
                            </a:rPr>
                            <m:t>4</m:t>
                          </m:r>
                          <m:r>
                            <a:rPr lang="en-US" sz="1200" i="1">
                              <a:solidFill>
                                <a:srgbClr val="0070C0"/>
                              </a:solidFill>
                              <a:latin typeface="Cambria Math" panose="02040503050406030204" pitchFamily="18" charset="0"/>
                            </a:rPr>
                            <m:t>h</m:t>
                          </m:r>
                          <m:r>
                            <a:rPr lang="en-US" sz="1200" i="1">
                              <a:solidFill>
                                <a:srgbClr val="0070C0"/>
                              </a:solidFill>
                              <a:latin typeface="Cambria Math" panose="02040503050406030204" pitchFamily="18" charset="0"/>
                            </a:rPr>
                            <m:t>,</m:t>
                          </m:r>
                          <m:r>
                            <a:rPr lang="en-US" sz="1200" i="1">
                              <a:solidFill>
                                <a:srgbClr val="0070C0"/>
                              </a:solidFill>
                              <a:latin typeface="Cambria Math" panose="02040503050406030204" pitchFamily="18" charset="0"/>
                            </a:rPr>
                            <m:t>𝑜𝑙𝑑</m:t>
                          </m:r>
                        </m:sup>
                      </m:sSup>
                      <m:r>
                        <a:rPr lang="en-US" sz="1200" i="1">
                          <a:latin typeface="Cambria Math" panose="02040503050406030204" pitchFamily="18" charset="0"/>
                        </a:rPr>
                        <m:t>+</m:t>
                      </m:r>
                      <m:sSup>
                        <m:sSupPr>
                          <m:ctrlPr>
                            <a:rPr lang="en-US" sz="1200" i="1" smtClean="0">
                              <a:solidFill>
                                <a:srgbClr val="FF0000"/>
                              </a:solidFill>
                              <a:latin typeface="Cambria Math" panose="02040503050406030204" pitchFamily="18" charset="0"/>
                            </a:rPr>
                          </m:ctrlPr>
                        </m:sSupPr>
                        <m:e>
                          <m:r>
                            <a:rPr lang="en-US" sz="1200" i="1">
                              <a:solidFill>
                                <a:srgbClr val="FF0000"/>
                              </a:solidFill>
                              <a:latin typeface="Cambria Math" panose="02040503050406030204" pitchFamily="18" charset="0"/>
                            </a:rPr>
                            <m:t>𝑒</m:t>
                          </m:r>
                        </m:e>
                        <m:sup>
                          <m:r>
                            <a:rPr lang="en-US" sz="1200" i="1">
                              <a:solidFill>
                                <a:srgbClr val="FF0000"/>
                              </a:solidFill>
                              <a:latin typeface="Cambria Math" panose="02040503050406030204" pitchFamily="18" charset="0"/>
                            </a:rPr>
                            <m:t>4</m:t>
                          </m:r>
                          <m:sSup>
                            <m:sSupPr>
                              <m:ctrlPr>
                                <a:rPr lang="en-US" sz="1200" i="1">
                                  <a:solidFill>
                                    <a:srgbClr val="FF0000"/>
                                  </a:solidFill>
                                  <a:latin typeface="Cambria Math" panose="02040503050406030204" pitchFamily="18" charset="0"/>
                                </a:rPr>
                              </m:ctrlPr>
                            </m:sSupPr>
                            <m:e>
                              <m:r>
                                <a:rPr lang="en-US" sz="1200" i="1">
                                  <a:solidFill>
                                    <a:srgbClr val="FF0000"/>
                                  </a:solidFill>
                                  <a:latin typeface="Cambria Math" panose="02040503050406030204" pitchFamily="18" charset="0"/>
                                </a:rPr>
                                <m:t>h</m:t>
                              </m:r>
                            </m:e>
                            <m:sup>
                              <m:r>
                                <a:rPr lang="en-US" sz="1200" i="1">
                                  <a:solidFill>
                                    <a:srgbClr val="FF0000"/>
                                  </a:solidFill>
                                  <a:latin typeface="Cambria Math" panose="02040503050406030204" pitchFamily="18" charset="0"/>
                                </a:rPr>
                                <m:t>′</m:t>
                              </m:r>
                            </m:sup>
                          </m:sSup>
                        </m:sup>
                      </m:sSup>
                    </m:oMath>
                  </m:oMathPara>
                </a14:m>
                <a:endParaRPr lang="en-US" sz="1200" b="0" i="1" dirty="0">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US" sz="1200" b="0" i="1" smtClean="0">
                          <a:latin typeface="Cambria Math" panose="02040503050406030204" pitchFamily="18" charset="0"/>
                        </a:rPr>
                        <m:t>𝐿</m:t>
                      </m:r>
                      <m:sSup>
                        <m:sSupPr>
                          <m:ctrlPr>
                            <a:rPr lang="en-US" sz="1200" b="0" i="1" smtClean="0">
                              <a:latin typeface="Cambria Math" panose="02040503050406030204" pitchFamily="18" charset="0"/>
                            </a:rPr>
                          </m:ctrlPr>
                        </m:sSupPr>
                        <m:e>
                          <m:r>
                            <a:rPr lang="en-US" sz="1200" b="0" i="1" smtClean="0">
                              <a:latin typeface="Cambria Math" panose="02040503050406030204" pitchFamily="18" charset="0"/>
                            </a:rPr>
                            <m:t>𝑒</m:t>
                          </m:r>
                        </m:e>
                        <m:sup>
                          <m:r>
                            <a:rPr lang="en-US" sz="1200" b="0" i="1" smtClean="0">
                              <a:latin typeface="Cambria Math" panose="02040503050406030204" pitchFamily="18" charset="0"/>
                            </a:rPr>
                            <m:t>4</m:t>
                          </m:r>
                          <m:r>
                            <a:rPr lang="en-US" sz="1200" b="0" i="1" smtClean="0">
                              <a:latin typeface="Cambria Math" panose="02040503050406030204" pitchFamily="18" charset="0"/>
                            </a:rPr>
                            <m:t>h</m:t>
                          </m:r>
                        </m:sup>
                      </m:sSup>
                      <m:r>
                        <a:rPr lang="en-US" sz="1200" b="0" i="1" smtClean="0">
                          <a:latin typeface="Cambria Math" panose="02040503050406030204" pitchFamily="18" charset="0"/>
                        </a:rPr>
                        <m:t>=</m:t>
                      </m:r>
                      <m:sSup>
                        <m:sSupPr>
                          <m:ctrlPr>
                            <a:rPr lang="en-US" sz="1200" b="0" i="1" smtClean="0">
                              <a:latin typeface="Cambria Math" panose="02040503050406030204" pitchFamily="18" charset="0"/>
                            </a:rPr>
                          </m:ctrlPr>
                        </m:sSupPr>
                        <m:e>
                          <m:r>
                            <a:rPr lang="en-US" sz="1200" b="0" i="1" smtClean="0">
                              <a:latin typeface="Cambria Math" panose="02040503050406030204" pitchFamily="18" charset="0"/>
                            </a:rPr>
                            <m:t>𝑟</m:t>
                          </m:r>
                        </m:e>
                        <m:sup>
                          <m:r>
                            <a:rPr lang="en-US" sz="1200" b="0" i="1" smtClean="0">
                              <a:latin typeface="Cambria Math" panose="02040503050406030204" pitchFamily="18" charset="0"/>
                            </a:rPr>
                            <m:t>4</m:t>
                          </m:r>
                          <m:r>
                            <a:rPr lang="en-US" sz="1200" b="0" i="1" smtClean="0">
                              <a:latin typeface="Cambria Math" panose="02040503050406030204" pitchFamily="18" charset="0"/>
                            </a:rPr>
                            <m:t>h</m:t>
                          </m:r>
                        </m:sup>
                      </m:sSup>
                      <m:r>
                        <a:rPr lang="en-US" sz="1200" b="0" i="1" smtClean="0">
                          <a:latin typeface="Cambria Math" panose="02040503050406030204" pitchFamily="18" charset="0"/>
                        </a:rPr>
                        <m:t>;</m:t>
                      </m:r>
                      <m:sSubSup>
                        <m:sSubSupPr>
                          <m:ctrlPr>
                            <a:rPr lang="en-US" sz="1200" b="0" i="1" smtClean="0">
                              <a:latin typeface="Cambria Math" panose="02040503050406030204" pitchFamily="18" charset="0"/>
                            </a:rPr>
                          </m:ctrlPr>
                        </m:sSubSupPr>
                        <m:e>
                          <m:r>
                            <a:rPr lang="en-US" sz="1200" b="0" i="1" smtClean="0">
                              <a:latin typeface="Cambria Math" panose="02040503050406030204" pitchFamily="18" charset="0"/>
                            </a:rPr>
                            <m:t>𝑒</m:t>
                          </m:r>
                        </m:e>
                        <m:sub>
                          <m:r>
                            <a:rPr lang="en-US" sz="1200" b="0" i="1" smtClean="0">
                              <a:latin typeface="Cambria Math" panose="02040503050406030204" pitchFamily="18" charset="0"/>
                            </a:rPr>
                            <m:t>0</m:t>
                          </m:r>
                        </m:sub>
                        <m:sup>
                          <m:r>
                            <a:rPr lang="en-US" sz="1200" b="0" i="1" smtClean="0">
                              <a:latin typeface="Cambria Math" panose="02040503050406030204" pitchFamily="18" charset="0"/>
                            </a:rPr>
                            <m:t>4</m:t>
                          </m:r>
                          <m:r>
                            <a:rPr lang="en-US" sz="1200" b="0" i="1" smtClean="0">
                              <a:latin typeface="Cambria Math" panose="02040503050406030204" pitchFamily="18" charset="0"/>
                            </a:rPr>
                            <m:t>h</m:t>
                          </m:r>
                        </m:sup>
                      </m:sSubSup>
                    </m:oMath>
                  </m:oMathPara>
                </a14:m>
                <a:endParaRPr lang="en-US" sz="1200" b="0" i="1" dirty="0">
                  <a:latin typeface="Cambria Math" panose="02040503050406030204" pitchFamily="18" charset="0"/>
                </a:endParaRPr>
              </a:p>
            </p:txBody>
          </p:sp>
        </mc:Choice>
        <mc:Fallback xmlns="">
          <p:sp>
            <p:nvSpPr>
              <p:cNvPr id="18" name="TextBox 17">
                <a:extLst>
                  <a:ext uri="{FF2B5EF4-FFF2-40B4-BE49-F238E27FC236}">
                    <a16:creationId xmlns:a16="http://schemas.microsoft.com/office/drawing/2014/main" id="{81467341-1A0D-E547-994D-136F601CB509}"/>
                  </a:ext>
                </a:extLst>
              </p:cNvPr>
              <p:cNvSpPr txBox="1">
                <a:spLocks noRot="1" noChangeAspect="1" noMove="1" noResize="1" noEditPoints="1" noAdjustHandles="1" noChangeArrowheads="1" noChangeShapeType="1" noTextEdit="1"/>
              </p:cNvSpPr>
              <p:nvPr/>
            </p:nvSpPr>
            <p:spPr>
              <a:xfrm>
                <a:off x="10504992" y="4052338"/>
                <a:ext cx="1543884" cy="497187"/>
              </a:xfrm>
              <a:prstGeom prst="rect">
                <a:avLst/>
              </a:prstGeom>
              <a:blipFill>
                <a:blip r:embed="rId14"/>
                <a:stretch>
                  <a:fillRect/>
                </a:stretch>
              </a:blipFill>
              <a:ln>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E6AB7683-E5DA-9D42-9F25-CE54CEDFFDD3}"/>
                  </a:ext>
                </a:extLst>
              </p:cNvPr>
              <p:cNvSpPr txBox="1"/>
              <p:nvPr/>
            </p:nvSpPr>
            <p:spPr>
              <a:xfrm>
                <a:off x="9377663" y="2079263"/>
                <a:ext cx="1543884" cy="497187"/>
              </a:xfrm>
              <a:prstGeom prst="rect">
                <a:avLst/>
              </a:prstGeom>
              <a:noFill/>
              <a:ln>
                <a:solidFill>
                  <a:schemeClr val="tx1"/>
                </a:solidFill>
              </a:ln>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ar-AE" sz="1200" i="1">
                              <a:latin typeface="Cambria Math" panose="02040503050406030204" pitchFamily="18" charset="0"/>
                            </a:rPr>
                          </m:ctrlPr>
                        </m:sSubSupPr>
                        <m:e>
                          <m:r>
                            <a:rPr lang="ar-AE" sz="1200" i="1">
                              <a:latin typeface="Cambria Math" panose="02040503050406030204" pitchFamily="18" charset="0"/>
                            </a:rPr>
                            <m:t>𝑒</m:t>
                          </m:r>
                        </m:e>
                        <m:sub>
                          <m:r>
                            <a:rPr lang="ar-AE" sz="1200" i="1">
                              <a:latin typeface="Cambria Math" panose="02040503050406030204" pitchFamily="18" charset="0"/>
                            </a:rPr>
                            <m:t>0</m:t>
                          </m:r>
                        </m:sub>
                        <m:sup>
                          <m:r>
                            <a:rPr lang="ar-AE" sz="1200" i="1">
                              <a:latin typeface="Cambria Math" panose="02040503050406030204" pitchFamily="18" charset="0"/>
                            </a:rPr>
                            <m:t>2</m:t>
                          </m:r>
                          <m:r>
                            <a:rPr lang="ar-AE" sz="1200" i="1">
                              <a:latin typeface="Cambria Math" panose="02040503050406030204" pitchFamily="18" charset="0"/>
                            </a:rPr>
                            <m:t>h</m:t>
                          </m:r>
                        </m:sup>
                      </m:sSubSup>
                      <m:r>
                        <a:rPr lang="ar-AE" sz="1200" i="1">
                          <a:latin typeface="Cambria Math" panose="02040503050406030204" pitchFamily="18" charset="0"/>
                        </a:rPr>
                        <m:t>=</m:t>
                      </m:r>
                      <m:sSup>
                        <m:sSupPr>
                          <m:ctrlPr>
                            <a:rPr lang="en-US" sz="1200" i="1" smtClean="0">
                              <a:solidFill>
                                <a:srgbClr val="0070C0"/>
                              </a:solidFill>
                              <a:latin typeface="Cambria Math" panose="02040503050406030204" pitchFamily="18" charset="0"/>
                            </a:rPr>
                          </m:ctrlPr>
                        </m:sSupPr>
                        <m:e>
                          <m:r>
                            <a:rPr lang="ar-AE" sz="1200" i="1">
                              <a:solidFill>
                                <a:srgbClr val="0070C0"/>
                              </a:solidFill>
                              <a:latin typeface="Cambria Math" panose="02040503050406030204" pitchFamily="18" charset="0"/>
                            </a:rPr>
                            <m:t>𝑒</m:t>
                          </m:r>
                        </m:e>
                        <m:sup>
                          <m:r>
                            <a:rPr lang="en-US" sz="1200" i="1">
                              <a:solidFill>
                                <a:srgbClr val="0070C0"/>
                              </a:solidFill>
                              <a:latin typeface="Cambria Math" panose="02040503050406030204" pitchFamily="18" charset="0"/>
                            </a:rPr>
                            <m:t>2</m:t>
                          </m:r>
                          <m:r>
                            <a:rPr lang="en-US" sz="1200" i="1">
                              <a:solidFill>
                                <a:srgbClr val="0070C0"/>
                              </a:solidFill>
                              <a:latin typeface="Cambria Math" panose="02040503050406030204" pitchFamily="18" charset="0"/>
                            </a:rPr>
                            <m:t>h</m:t>
                          </m:r>
                          <m:r>
                            <a:rPr lang="en-US" sz="1200" i="1">
                              <a:solidFill>
                                <a:srgbClr val="0070C0"/>
                              </a:solidFill>
                              <a:latin typeface="Cambria Math" panose="02040503050406030204" pitchFamily="18" charset="0"/>
                            </a:rPr>
                            <m:t>,</m:t>
                          </m:r>
                          <m:r>
                            <a:rPr lang="en-US" sz="1200" i="1">
                              <a:solidFill>
                                <a:srgbClr val="0070C0"/>
                              </a:solidFill>
                              <a:latin typeface="Cambria Math" panose="02040503050406030204" pitchFamily="18" charset="0"/>
                            </a:rPr>
                            <m:t>𝑜𝑙𝑑</m:t>
                          </m:r>
                        </m:sup>
                      </m:sSup>
                      <m:r>
                        <a:rPr lang="en-US" sz="1200" i="1">
                          <a:latin typeface="Cambria Math" panose="02040503050406030204" pitchFamily="18" charset="0"/>
                        </a:rPr>
                        <m:t>+</m:t>
                      </m:r>
                      <m:sSup>
                        <m:sSupPr>
                          <m:ctrlPr>
                            <a:rPr lang="en-US" sz="1200" i="1" smtClean="0">
                              <a:solidFill>
                                <a:srgbClr val="FF0000"/>
                              </a:solidFill>
                              <a:latin typeface="Cambria Math" panose="02040503050406030204" pitchFamily="18" charset="0"/>
                            </a:rPr>
                          </m:ctrlPr>
                        </m:sSupPr>
                        <m:e>
                          <m:r>
                            <a:rPr lang="en-US" sz="1200" i="1">
                              <a:solidFill>
                                <a:srgbClr val="FF0000"/>
                              </a:solidFill>
                              <a:latin typeface="Cambria Math" panose="02040503050406030204" pitchFamily="18" charset="0"/>
                            </a:rPr>
                            <m:t>𝑒</m:t>
                          </m:r>
                        </m:e>
                        <m:sup>
                          <m:r>
                            <a:rPr lang="en-US" sz="1200" i="1">
                              <a:solidFill>
                                <a:srgbClr val="FF0000"/>
                              </a:solidFill>
                              <a:latin typeface="Cambria Math" panose="02040503050406030204" pitchFamily="18" charset="0"/>
                            </a:rPr>
                            <m:t>2</m:t>
                          </m:r>
                          <m:sSup>
                            <m:sSupPr>
                              <m:ctrlPr>
                                <a:rPr lang="en-US" sz="1200" i="1">
                                  <a:solidFill>
                                    <a:srgbClr val="FF0000"/>
                                  </a:solidFill>
                                  <a:latin typeface="Cambria Math" panose="02040503050406030204" pitchFamily="18" charset="0"/>
                                </a:rPr>
                              </m:ctrlPr>
                            </m:sSupPr>
                            <m:e>
                              <m:r>
                                <a:rPr lang="en-US" sz="1200" i="1">
                                  <a:solidFill>
                                    <a:srgbClr val="FF0000"/>
                                  </a:solidFill>
                                  <a:latin typeface="Cambria Math" panose="02040503050406030204" pitchFamily="18" charset="0"/>
                                </a:rPr>
                                <m:t>h</m:t>
                              </m:r>
                            </m:e>
                            <m:sup>
                              <m:r>
                                <a:rPr lang="en-US" sz="1200" i="1">
                                  <a:solidFill>
                                    <a:srgbClr val="FF0000"/>
                                  </a:solidFill>
                                  <a:latin typeface="Cambria Math" panose="02040503050406030204" pitchFamily="18" charset="0"/>
                                </a:rPr>
                                <m:t>′</m:t>
                              </m:r>
                            </m:sup>
                          </m:sSup>
                        </m:sup>
                      </m:sSup>
                    </m:oMath>
                  </m:oMathPara>
                </a14:m>
                <a:endParaRPr lang="en-US" sz="1200" b="0" i="1" dirty="0">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ar-AE" sz="1200" b="0" i="1" smtClean="0">
                          <a:latin typeface="Cambria Math" panose="02040503050406030204" pitchFamily="18" charset="0"/>
                        </a:rPr>
                        <m:t>𝐿</m:t>
                      </m:r>
                      <m:sSup>
                        <m:sSupPr>
                          <m:ctrlPr>
                            <a:rPr lang="ar-AE" sz="1200" b="0" i="1" smtClean="0">
                              <a:latin typeface="Cambria Math" panose="02040503050406030204" pitchFamily="18" charset="0"/>
                            </a:rPr>
                          </m:ctrlPr>
                        </m:sSupPr>
                        <m:e>
                          <m:r>
                            <a:rPr lang="ar-AE" sz="1200" b="0" i="1" smtClean="0">
                              <a:latin typeface="Cambria Math" panose="02040503050406030204" pitchFamily="18" charset="0"/>
                            </a:rPr>
                            <m:t>𝑒</m:t>
                          </m:r>
                        </m:e>
                        <m:sup>
                          <m:r>
                            <a:rPr lang="ar-AE" sz="1200" b="0" i="1" smtClean="0">
                              <a:latin typeface="Cambria Math" panose="02040503050406030204" pitchFamily="18" charset="0"/>
                            </a:rPr>
                            <m:t>2</m:t>
                          </m:r>
                          <m:r>
                            <a:rPr lang="ar-AE" sz="1200" b="0" i="1" smtClean="0">
                              <a:latin typeface="Cambria Math" panose="02040503050406030204" pitchFamily="18" charset="0"/>
                            </a:rPr>
                            <m:t>h</m:t>
                          </m:r>
                        </m:sup>
                      </m:sSup>
                      <m:r>
                        <a:rPr lang="ar-AE" sz="1200" b="0" i="1" smtClean="0">
                          <a:latin typeface="Cambria Math" panose="02040503050406030204" pitchFamily="18" charset="0"/>
                        </a:rPr>
                        <m:t>=</m:t>
                      </m:r>
                      <m:sSup>
                        <m:sSupPr>
                          <m:ctrlPr>
                            <a:rPr lang="ar-AE" sz="1200" b="0" i="1" smtClean="0">
                              <a:latin typeface="Cambria Math" panose="02040503050406030204" pitchFamily="18" charset="0"/>
                            </a:rPr>
                          </m:ctrlPr>
                        </m:sSupPr>
                        <m:e>
                          <m:r>
                            <a:rPr lang="ar-AE" sz="1200" b="0" i="1" smtClean="0">
                              <a:latin typeface="Cambria Math" panose="02040503050406030204" pitchFamily="18" charset="0"/>
                            </a:rPr>
                            <m:t>𝑟</m:t>
                          </m:r>
                        </m:e>
                        <m:sup>
                          <m:r>
                            <a:rPr lang="ar-AE" sz="1200" b="0" i="1" smtClean="0">
                              <a:latin typeface="Cambria Math" panose="02040503050406030204" pitchFamily="18" charset="0"/>
                            </a:rPr>
                            <m:t>2</m:t>
                          </m:r>
                          <m:r>
                            <a:rPr lang="ar-AE" sz="1200" b="0" i="1" smtClean="0">
                              <a:latin typeface="Cambria Math" panose="02040503050406030204" pitchFamily="18" charset="0"/>
                            </a:rPr>
                            <m:t>h</m:t>
                          </m:r>
                        </m:sup>
                      </m:sSup>
                      <m:r>
                        <a:rPr lang="ar-AE" sz="1200" b="0" i="1" smtClean="0">
                          <a:latin typeface="Cambria Math" panose="02040503050406030204" pitchFamily="18" charset="0"/>
                        </a:rPr>
                        <m:t>;</m:t>
                      </m:r>
                      <m:sSubSup>
                        <m:sSubSupPr>
                          <m:ctrlPr>
                            <a:rPr lang="en-US" sz="1200" b="0" i="1" smtClean="0">
                              <a:latin typeface="Cambria Math" panose="02040503050406030204" pitchFamily="18" charset="0"/>
                            </a:rPr>
                          </m:ctrlPr>
                        </m:sSubSupPr>
                        <m:e>
                          <m:r>
                            <a:rPr lang="en-US" sz="1200" b="0" i="1" smtClean="0">
                              <a:latin typeface="Cambria Math" panose="02040503050406030204" pitchFamily="18" charset="0"/>
                            </a:rPr>
                            <m:t>𝑒</m:t>
                          </m:r>
                        </m:e>
                        <m:sub>
                          <m:r>
                            <a:rPr lang="en-US" sz="1200" b="0" i="1" smtClean="0">
                              <a:latin typeface="Cambria Math" panose="02040503050406030204" pitchFamily="18" charset="0"/>
                            </a:rPr>
                            <m:t>0</m:t>
                          </m:r>
                        </m:sub>
                        <m:sup>
                          <m:r>
                            <a:rPr lang="en-US" sz="1200" b="0" i="1" smtClean="0">
                              <a:latin typeface="Cambria Math" panose="02040503050406030204" pitchFamily="18" charset="0"/>
                            </a:rPr>
                            <m:t>2</m:t>
                          </m:r>
                          <m:r>
                            <a:rPr lang="en-US" sz="1200" b="0" i="1" smtClean="0">
                              <a:latin typeface="Cambria Math" panose="02040503050406030204" pitchFamily="18" charset="0"/>
                            </a:rPr>
                            <m:t>h</m:t>
                          </m:r>
                        </m:sup>
                      </m:sSubSup>
                    </m:oMath>
                  </m:oMathPara>
                </a14:m>
                <a:endParaRPr lang="en-US" sz="1200" b="0" i="1" dirty="0">
                  <a:latin typeface="Cambria Math" panose="02040503050406030204" pitchFamily="18" charset="0"/>
                </a:endParaRPr>
              </a:p>
            </p:txBody>
          </p:sp>
        </mc:Choice>
        <mc:Fallback xmlns="">
          <p:sp>
            <p:nvSpPr>
              <p:cNvPr id="19" name="TextBox 18">
                <a:extLst>
                  <a:ext uri="{FF2B5EF4-FFF2-40B4-BE49-F238E27FC236}">
                    <a16:creationId xmlns:a16="http://schemas.microsoft.com/office/drawing/2014/main" id="{E6AB7683-E5DA-9D42-9F25-CE54CEDFFDD3}"/>
                  </a:ext>
                </a:extLst>
              </p:cNvPr>
              <p:cNvSpPr txBox="1">
                <a:spLocks noRot="1" noChangeAspect="1" noMove="1" noResize="1" noEditPoints="1" noAdjustHandles="1" noChangeArrowheads="1" noChangeShapeType="1" noTextEdit="1"/>
              </p:cNvSpPr>
              <p:nvPr/>
            </p:nvSpPr>
            <p:spPr>
              <a:xfrm>
                <a:off x="9377663" y="2079263"/>
                <a:ext cx="1543884" cy="497187"/>
              </a:xfrm>
              <a:prstGeom prst="rect">
                <a:avLst/>
              </a:prstGeom>
              <a:blipFill>
                <a:blip r:embed="rId15"/>
                <a:stretch>
                  <a:fillRect/>
                </a:stretch>
              </a:blipFill>
              <a:ln>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1731D733-BC04-6949-8F97-7739005EF4C5}"/>
                  </a:ext>
                </a:extLst>
              </p:cNvPr>
              <p:cNvSpPr txBox="1"/>
              <p:nvPr/>
            </p:nvSpPr>
            <p:spPr>
              <a:xfrm>
                <a:off x="11280881" y="1993756"/>
                <a:ext cx="866648" cy="280333"/>
              </a:xfrm>
              <a:prstGeom prst="rect">
                <a:avLst/>
              </a:prstGeom>
              <a:noFill/>
              <a:ln>
                <a:noFill/>
              </a:ln>
            </p:spPr>
            <p:txBody>
              <a:bodyPr wrap="none" rtlCol="0">
                <a:spAutoFit/>
              </a:bodyPr>
              <a:lstStyle/>
              <a:p>
                <a:pPr/>
                <a14:m>
                  <m:oMathPara xmlns:m="http://schemas.openxmlformats.org/officeDocument/2006/math">
                    <m:oMathParaPr>
                      <m:jc m:val="centerGroup"/>
                    </m:oMathParaPr>
                    <m:oMath xmlns:m="http://schemas.openxmlformats.org/officeDocument/2006/math">
                      <m:sSup>
                        <m:sSupPr>
                          <m:ctrlPr>
                            <a:rPr lang="en-US" sz="1200" i="1" smtClean="0">
                              <a:solidFill>
                                <a:srgbClr val="FF0000"/>
                              </a:solidFill>
                              <a:latin typeface="Cambria Math" panose="02040503050406030204" pitchFamily="18" charset="0"/>
                            </a:rPr>
                          </m:ctrlPr>
                        </m:sSupPr>
                        <m:e>
                          <m:r>
                            <a:rPr lang="en-US" sz="1200" i="1">
                              <a:solidFill>
                                <a:srgbClr val="FF0000"/>
                              </a:solidFill>
                              <a:latin typeface="Cambria Math" panose="02040503050406030204" pitchFamily="18" charset="0"/>
                            </a:rPr>
                            <m:t>𝑒</m:t>
                          </m:r>
                        </m:e>
                        <m:sup>
                          <m:r>
                            <a:rPr lang="en-US" sz="1200" i="1">
                              <a:solidFill>
                                <a:srgbClr val="FF0000"/>
                              </a:solidFill>
                              <a:latin typeface="Cambria Math" panose="02040503050406030204" pitchFamily="18" charset="0"/>
                            </a:rPr>
                            <m:t>2</m:t>
                          </m:r>
                          <m:r>
                            <a:rPr lang="en-US" sz="1200" i="1">
                              <a:solidFill>
                                <a:srgbClr val="FF0000"/>
                              </a:solidFill>
                              <a:latin typeface="Cambria Math" panose="02040503050406030204" pitchFamily="18" charset="0"/>
                            </a:rPr>
                            <m:t>h</m:t>
                          </m:r>
                        </m:sup>
                      </m:sSup>
                      <m:r>
                        <a:rPr lang="en-US" sz="1200" i="1">
                          <a:solidFill>
                            <a:srgbClr val="FF0000"/>
                          </a:solidFill>
                          <a:latin typeface="Cambria Math" panose="02040503050406030204" pitchFamily="18" charset="0"/>
                        </a:rPr>
                        <m:t>→</m:t>
                      </m:r>
                      <m:sSup>
                        <m:sSupPr>
                          <m:ctrlPr>
                            <a:rPr lang="en-US" sz="1200" i="1">
                              <a:solidFill>
                                <a:srgbClr val="FF0000"/>
                              </a:solidFill>
                              <a:latin typeface="Cambria Math" panose="02040503050406030204" pitchFamily="18" charset="0"/>
                            </a:rPr>
                          </m:ctrlPr>
                        </m:sSupPr>
                        <m:e>
                          <m:r>
                            <a:rPr lang="en-US" sz="1200" i="1">
                              <a:solidFill>
                                <a:srgbClr val="FF0000"/>
                              </a:solidFill>
                              <a:latin typeface="Cambria Math" panose="02040503050406030204" pitchFamily="18" charset="0"/>
                            </a:rPr>
                            <m:t>𝑒</m:t>
                          </m:r>
                        </m:e>
                        <m:sup>
                          <m:r>
                            <a:rPr lang="en-US" sz="1200" i="1">
                              <a:solidFill>
                                <a:srgbClr val="FF0000"/>
                              </a:solidFill>
                              <a:latin typeface="Cambria Math" panose="02040503050406030204" pitchFamily="18" charset="0"/>
                            </a:rPr>
                            <m:t>h</m:t>
                          </m:r>
                          <m:r>
                            <a:rPr lang="en-US" sz="1200" b="0" i="1" smtClean="0">
                              <a:solidFill>
                                <a:srgbClr val="FF0000"/>
                              </a:solidFill>
                              <a:latin typeface="Cambria Math" panose="02040503050406030204" pitchFamily="18" charset="0"/>
                            </a:rPr>
                            <m:t>′</m:t>
                          </m:r>
                        </m:sup>
                      </m:sSup>
                    </m:oMath>
                  </m:oMathPara>
                </a14:m>
                <a:endParaRPr lang="en-US" sz="1200" dirty="0">
                  <a:solidFill>
                    <a:srgbClr val="FF0000"/>
                  </a:solidFill>
                </a:endParaRPr>
              </a:p>
            </p:txBody>
          </p:sp>
        </mc:Choice>
        <mc:Fallback xmlns="">
          <p:sp>
            <p:nvSpPr>
              <p:cNvPr id="20" name="TextBox 19">
                <a:extLst>
                  <a:ext uri="{FF2B5EF4-FFF2-40B4-BE49-F238E27FC236}">
                    <a16:creationId xmlns:a16="http://schemas.microsoft.com/office/drawing/2014/main" id="{1731D733-BC04-6949-8F97-7739005EF4C5}"/>
                  </a:ext>
                </a:extLst>
              </p:cNvPr>
              <p:cNvSpPr txBox="1">
                <a:spLocks noRot="1" noChangeAspect="1" noMove="1" noResize="1" noEditPoints="1" noAdjustHandles="1" noChangeArrowheads="1" noChangeShapeType="1" noTextEdit="1"/>
              </p:cNvSpPr>
              <p:nvPr/>
            </p:nvSpPr>
            <p:spPr>
              <a:xfrm>
                <a:off x="11280881" y="1993756"/>
                <a:ext cx="866648" cy="280333"/>
              </a:xfrm>
              <a:prstGeom prst="rect">
                <a:avLst/>
              </a:prstGeom>
              <a:blipFill>
                <a:blip r:embed="rId16"/>
                <a:stretch>
                  <a:fillRect/>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A6D61ED2-A46F-F14D-A228-4BE28434C829}"/>
                  </a:ext>
                </a:extLst>
              </p:cNvPr>
              <p:cNvSpPr txBox="1"/>
              <p:nvPr/>
            </p:nvSpPr>
            <p:spPr>
              <a:xfrm>
                <a:off x="10224238" y="969864"/>
                <a:ext cx="1297278" cy="285527"/>
              </a:xfrm>
              <a:prstGeom prst="rect">
                <a:avLst/>
              </a:prstGeom>
              <a:noFill/>
              <a:ln>
                <a:solidFill>
                  <a:schemeClr val="tx1"/>
                </a:solidFill>
              </a:ln>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sz="1200" b="0" i="1" smtClean="0">
                              <a:latin typeface="Cambria Math" panose="02040503050406030204" pitchFamily="18" charset="0"/>
                            </a:rPr>
                          </m:ctrlPr>
                        </m:sSubSupPr>
                        <m:e>
                          <m:r>
                            <a:rPr lang="en-US" sz="1200" b="0" i="1" smtClean="0">
                              <a:latin typeface="Cambria Math" panose="02040503050406030204" pitchFamily="18" charset="0"/>
                            </a:rPr>
                            <m:t>𝜙</m:t>
                          </m:r>
                        </m:e>
                        <m:sub>
                          <m:r>
                            <a:rPr lang="en-US" sz="1200" b="0" i="1" smtClean="0">
                              <a:latin typeface="Cambria Math" panose="02040503050406030204" pitchFamily="18" charset="0"/>
                            </a:rPr>
                            <m:t>0</m:t>
                          </m:r>
                        </m:sub>
                        <m:sup>
                          <m:r>
                            <a:rPr lang="en-US" sz="1200" b="0" i="1" smtClean="0">
                              <a:latin typeface="Cambria Math" panose="02040503050406030204" pitchFamily="18" charset="0"/>
                            </a:rPr>
                            <m:t>h</m:t>
                          </m:r>
                        </m:sup>
                      </m:sSubSup>
                      <m:r>
                        <a:rPr lang="en-US" sz="1200" b="0" i="1" smtClean="0">
                          <a:latin typeface="Cambria Math" panose="02040503050406030204" pitchFamily="18" charset="0"/>
                        </a:rPr>
                        <m:t>=</m:t>
                      </m:r>
                      <m:sSup>
                        <m:sSupPr>
                          <m:ctrlPr>
                            <a:rPr lang="en-US" sz="1200" b="0" i="1" smtClean="0">
                              <a:solidFill>
                                <a:srgbClr val="0070C0"/>
                              </a:solidFill>
                              <a:latin typeface="Cambria Math" panose="02040503050406030204" pitchFamily="18" charset="0"/>
                            </a:rPr>
                          </m:ctrlPr>
                        </m:sSupPr>
                        <m:e>
                          <m:r>
                            <a:rPr lang="en-US" sz="1200" b="0" i="1" smtClean="0">
                              <a:solidFill>
                                <a:srgbClr val="0070C0"/>
                              </a:solidFill>
                              <a:latin typeface="Cambria Math" panose="02040503050406030204" pitchFamily="18" charset="0"/>
                            </a:rPr>
                            <m:t>𝜙</m:t>
                          </m:r>
                        </m:e>
                        <m:sup>
                          <m:r>
                            <a:rPr lang="en-US" sz="1200" b="0" i="1" smtClean="0">
                              <a:solidFill>
                                <a:srgbClr val="0070C0"/>
                              </a:solidFill>
                              <a:latin typeface="Cambria Math" panose="02040503050406030204" pitchFamily="18" charset="0"/>
                            </a:rPr>
                            <m:t>𝑜𝑙𝑑</m:t>
                          </m:r>
                        </m:sup>
                      </m:sSup>
                      <m:r>
                        <a:rPr lang="en-US" sz="1200" b="0" i="1" smtClean="0">
                          <a:latin typeface="Cambria Math" panose="02040503050406030204" pitchFamily="18" charset="0"/>
                        </a:rPr>
                        <m:t>+</m:t>
                      </m:r>
                      <m:sSup>
                        <m:sSupPr>
                          <m:ctrlPr>
                            <a:rPr lang="en-US" sz="1200" b="0" i="1" smtClean="0">
                              <a:solidFill>
                                <a:srgbClr val="FF0000"/>
                              </a:solidFill>
                              <a:latin typeface="Cambria Math" panose="02040503050406030204" pitchFamily="18" charset="0"/>
                            </a:rPr>
                          </m:ctrlPr>
                        </m:sSupPr>
                        <m:e>
                          <m:r>
                            <a:rPr lang="en-US" sz="1200" b="0" i="1" smtClean="0">
                              <a:solidFill>
                                <a:srgbClr val="FF0000"/>
                              </a:solidFill>
                              <a:latin typeface="Cambria Math" panose="02040503050406030204" pitchFamily="18" charset="0"/>
                            </a:rPr>
                            <m:t>𝑒</m:t>
                          </m:r>
                        </m:e>
                        <m:sup>
                          <m:r>
                            <a:rPr lang="en-US" sz="1200" b="0" i="1" smtClean="0">
                              <a:solidFill>
                                <a:srgbClr val="FF0000"/>
                              </a:solidFill>
                              <a:latin typeface="Cambria Math" panose="02040503050406030204" pitchFamily="18" charset="0"/>
                            </a:rPr>
                            <m:t>h</m:t>
                          </m:r>
                          <m:r>
                            <a:rPr lang="en-US" sz="1200" b="0" i="1" smtClean="0">
                              <a:solidFill>
                                <a:srgbClr val="FF0000"/>
                              </a:solidFill>
                              <a:latin typeface="Cambria Math" panose="02040503050406030204" pitchFamily="18" charset="0"/>
                            </a:rPr>
                            <m:t>′</m:t>
                          </m:r>
                        </m:sup>
                      </m:sSup>
                    </m:oMath>
                  </m:oMathPara>
                </a14:m>
                <a:endParaRPr lang="en-US" sz="1200" b="0" i="1" dirty="0">
                  <a:latin typeface="Cambria Math" panose="02040503050406030204" pitchFamily="18" charset="0"/>
                </a:endParaRPr>
              </a:p>
            </p:txBody>
          </p:sp>
        </mc:Choice>
        <mc:Fallback xmlns="">
          <p:sp>
            <p:nvSpPr>
              <p:cNvPr id="21" name="TextBox 20">
                <a:extLst>
                  <a:ext uri="{FF2B5EF4-FFF2-40B4-BE49-F238E27FC236}">
                    <a16:creationId xmlns:a16="http://schemas.microsoft.com/office/drawing/2014/main" id="{A6D61ED2-A46F-F14D-A228-4BE28434C829}"/>
                  </a:ext>
                </a:extLst>
              </p:cNvPr>
              <p:cNvSpPr txBox="1">
                <a:spLocks noRot="1" noChangeAspect="1" noMove="1" noResize="1" noEditPoints="1" noAdjustHandles="1" noChangeArrowheads="1" noChangeShapeType="1" noTextEdit="1"/>
              </p:cNvSpPr>
              <p:nvPr/>
            </p:nvSpPr>
            <p:spPr>
              <a:xfrm>
                <a:off x="10224238" y="969864"/>
                <a:ext cx="1297278" cy="285527"/>
              </a:xfrm>
              <a:prstGeom prst="rect">
                <a:avLst/>
              </a:prstGeom>
              <a:blipFill>
                <a:blip r:embed="rId17"/>
                <a:stretch>
                  <a:fillRect/>
                </a:stretch>
              </a:blipFill>
              <a:ln>
                <a:solidFill>
                  <a:schemeClr val="tx1"/>
                </a:solidFill>
              </a:ln>
            </p:spPr>
            <p:txBody>
              <a:bodyPr/>
              <a:lstStyle/>
              <a:p>
                <a:r>
                  <a:rPr lang="en-US">
                    <a:noFill/>
                  </a:rPr>
                  <a:t> </a:t>
                </a:r>
              </a:p>
            </p:txBody>
          </p:sp>
        </mc:Fallback>
      </mc:AlternateContent>
      <p:sp>
        <p:nvSpPr>
          <p:cNvPr id="22" name="Arc 21">
            <a:extLst>
              <a:ext uri="{FF2B5EF4-FFF2-40B4-BE49-F238E27FC236}">
                <a16:creationId xmlns:a16="http://schemas.microsoft.com/office/drawing/2014/main" id="{79D75FB6-9FA7-BD4B-BCCA-5125AAD6928A}"/>
              </a:ext>
            </a:extLst>
          </p:cNvPr>
          <p:cNvSpPr/>
          <p:nvPr/>
        </p:nvSpPr>
        <p:spPr>
          <a:xfrm>
            <a:off x="7235687" y="249092"/>
            <a:ext cx="3620365" cy="1423150"/>
          </a:xfrm>
          <a:prstGeom prst="arc">
            <a:avLst>
              <a:gd name="adj1" fmla="val 11052411"/>
              <a:gd name="adj2" fmla="val 22268"/>
            </a:avLst>
          </a:prstGeom>
          <a:ln w="25400">
            <a:solidFill>
              <a:schemeClr val="tx1"/>
            </a:solidFill>
            <a:headEnd type="triangle" w="lg" len="lg"/>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D736F8AA-9A40-F046-8DA0-AB74939699F6}"/>
                  </a:ext>
                </a:extLst>
              </p:cNvPr>
              <p:cNvSpPr txBox="1"/>
              <p:nvPr/>
            </p:nvSpPr>
            <p:spPr>
              <a:xfrm>
                <a:off x="10075642" y="4627221"/>
                <a:ext cx="932371" cy="280333"/>
              </a:xfrm>
              <a:prstGeom prst="rect">
                <a:avLst/>
              </a:prstGeom>
              <a:noFill/>
              <a:ln>
                <a:noFill/>
              </a:ln>
            </p:spPr>
            <p:txBody>
              <a:bodyPr wrap="none" rtlCol="0">
                <a:spAutoFit/>
              </a:bodyPr>
              <a:lstStyle/>
              <a:p>
                <a14:m>
                  <m:oMath xmlns:m="http://schemas.openxmlformats.org/officeDocument/2006/math">
                    <m:sSup>
                      <m:sSupPr>
                        <m:ctrlPr>
                          <a:rPr lang="en-US" sz="1200" i="1" smtClean="0">
                            <a:solidFill>
                              <a:srgbClr val="FF0000"/>
                            </a:solidFill>
                            <a:latin typeface="Cambria Math" panose="02040503050406030204" pitchFamily="18" charset="0"/>
                          </a:rPr>
                        </m:ctrlPr>
                      </m:sSupPr>
                      <m:e>
                        <m:r>
                          <a:rPr lang="en-US" sz="1200" i="1">
                            <a:solidFill>
                              <a:srgbClr val="FF0000"/>
                            </a:solidFill>
                            <a:latin typeface="Cambria Math" panose="02040503050406030204" pitchFamily="18" charset="0"/>
                          </a:rPr>
                          <m:t>𝑒</m:t>
                        </m:r>
                      </m:e>
                      <m:sup>
                        <m:r>
                          <a:rPr lang="en-US" sz="1200" b="0" i="1" smtClean="0">
                            <a:solidFill>
                              <a:srgbClr val="FF0000"/>
                            </a:solidFill>
                            <a:latin typeface="Cambria Math" panose="02040503050406030204" pitchFamily="18" charset="0"/>
                          </a:rPr>
                          <m:t>8</m:t>
                        </m:r>
                        <m:r>
                          <a:rPr lang="en-US" sz="1200" i="1">
                            <a:solidFill>
                              <a:srgbClr val="FF0000"/>
                            </a:solidFill>
                            <a:latin typeface="Cambria Math" panose="02040503050406030204" pitchFamily="18" charset="0"/>
                          </a:rPr>
                          <m:t>h</m:t>
                        </m:r>
                      </m:sup>
                    </m:sSup>
                    <m:r>
                      <a:rPr lang="en-US" sz="1200" i="1">
                        <a:solidFill>
                          <a:srgbClr val="FF0000"/>
                        </a:solidFill>
                        <a:latin typeface="Cambria Math" panose="02040503050406030204" pitchFamily="18" charset="0"/>
                      </a:rPr>
                      <m:t>→</m:t>
                    </m:r>
                    <m:sSup>
                      <m:sSupPr>
                        <m:ctrlPr>
                          <a:rPr lang="en-US" sz="1200" b="0" i="1" smtClean="0">
                            <a:solidFill>
                              <a:srgbClr val="FF0000"/>
                            </a:solidFill>
                            <a:latin typeface="Cambria Math" panose="02040503050406030204" pitchFamily="18" charset="0"/>
                          </a:rPr>
                        </m:ctrlPr>
                      </m:sSupPr>
                      <m:e>
                        <m:r>
                          <a:rPr lang="en-US" sz="1200" b="0" i="1" smtClean="0">
                            <a:solidFill>
                              <a:srgbClr val="FF0000"/>
                            </a:solidFill>
                            <a:latin typeface="Cambria Math" panose="02040503050406030204" pitchFamily="18" charset="0"/>
                          </a:rPr>
                          <m:t>𝑒</m:t>
                        </m:r>
                      </m:e>
                      <m:sup>
                        <m:r>
                          <a:rPr lang="en-US" sz="1200" b="0" i="1" smtClean="0">
                            <a:solidFill>
                              <a:srgbClr val="FF0000"/>
                            </a:solidFill>
                            <a:latin typeface="Cambria Math" panose="02040503050406030204" pitchFamily="18" charset="0"/>
                          </a:rPr>
                          <m:t>4</m:t>
                        </m:r>
                        <m:r>
                          <a:rPr lang="en-US" sz="1200" b="0" i="1" smtClean="0">
                            <a:solidFill>
                              <a:srgbClr val="FF0000"/>
                            </a:solidFill>
                            <a:latin typeface="Cambria Math" panose="02040503050406030204" pitchFamily="18" charset="0"/>
                          </a:rPr>
                          <m:t>h</m:t>
                        </m:r>
                        <m:r>
                          <a:rPr lang="en-US" sz="1200" b="0" i="1" smtClean="0">
                            <a:solidFill>
                              <a:srgbClr val="FF0000"/>
                            </a:solidFill>
                            <a:latin typeface="Cambria Math" panose="02040503050406030204" pitchFamily="18" charset="0"/>
                          </a:rPr>
                          <m:t>′</m:t>
                        </m:r>
                      </m:sup>
                    </m:sSup>
                  </m:oMath>
                </a14:m>
                <a:r>
                  <a:rPr lang="en-US" sz="1200" dirty="0">
                    <a:solidFill>
                      <a:srgbClr val="FF0000"/>
                    </a:solidFill>
                  </a:rPr>
                  <a:t> </a:t>
                </a:r>
              </a:p>
            </p:txBody>
          </p:sp>
        </mc:Choice>
        <mc:Fallback xmlns="">
          <p:sp>
            <p:nvSpPr>
              <p:cNvPr id="23" name="TextBox 22">
                <a:extLst>
                  <a:ext uri="{FF2B5EF4-FFF2-40B4-BE49-F238E27FC236}">
                    <a16:creationId xmlns:a16="http://schemas.microsoft.com/office/drawing/2014/main" id="{D736F8AA-9A40-F046-8DA0-AB74939699F6}"/>
                  </a:ext>
                </a:extLst>
              </p:cNvPr>
              <p:cNvSpPr txBox="1">
                <a:spLocks noRot="1" noChangeAspect="1" noMove="1" noResize="1" noEditPoints="1" noAdjustHandles="1" noChangeArrowheads="1" noChangeShapeType="1" noTextEdit="1"/>
              </p:cNvSpPr>
              <p:nvPr/>
            </p:nvSpPr>
            <p:spPr>
              <a:xfrm>
                <a:off x="10075642" y="4627221"/>
                <a:ext cx="932371" cy="280333"/>
              </a:xfrm>
              <a:prstGeom prst="rect">
                <a:avLst/>
              </a:prstGeom>
              <a:blipFill>
                <a:blip r:embed="rId18"/>
                <a:stretch>
                  <a:fillRect/>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157F7867-C55D-614F-AD1A-23F438D36103}"/>
                  </a:ext>
                </a:extLst>
              </p:cNvPr>
              <p:cNvSpPr txBox="1"/>
              <p:nvPr/>
            </p:nvSpPr>
            <p:spPr>
              <a:xfrm>
                <a:off x="10738192" y="3244676"/>
                <a:ext cx="932371" cy="280333"/>
              </a:xfrm>
              <a:prstGeom prst="rect">
                <a:avLst/>
              </a:prstGeom>
              <a:noFill/>
              <a:ln>
                <a:noFill/>
              </a:ln>
            </p:spPr>
            <p:txBody>
              <a:bodyPr wrap="none" rtlCol="0">
                <a:spAutoFit/>
              </a:bodyPr>
              <a:lstStyle/>
              <a:p>
                <a14:m>
                  <m:oMath xmlns:m="http://schemas.openxmlformats.org/officeDocument/2006/math">
                    <m:sSup>
                      <m:sSupPr>
                        <m:ctrlPr>
                          <a:rPr lang="en-US" sz="1200" i="1" smtClean="0">
                            <a:solidFill>
                              <a:srgbClr val="FF0000"/>
                            </a:solidFill>
                            <a:latin typeface="Cambria Math" panose="02040503050406030204" pitchFamily="18" charset="0"/>
                          </a:rPr>
                        </m:ctrlPr>
                      </m:sSupPr>
                      <m:e>
                        <m:r>
                          <a:rPr lang="en-US" sz="1200" i="1">
                            <a:solidFill>
                              <a:srgbClr val="FF0000"/>
                            </a:solidFill>
                            <a:latin typeface="Cambria Math" panose="02040503050406030204" pitchFamily="18" charset="0"/>
                          </a:rPr>
                          <m:t>𝑒</m:t>
                        </m:r>
                      </m:e>
                      <m:sup>
                        <m:r>
                          <a:rPr lang="en-US" sz="1200" b="0" i="1" smtClean="0">
                            <a:solidFill>
                              <a:srgbClr val="FF0000"/>
                            </a:solidFill>
                            <a:latin typeface="Cambria Math" panose="02040503050406030204" pitchFamily="18" charset="0"/>
                          </a:rPr>
                          <m:t>8</m:t>
                        </m:r>
                        <m:r>
                          <a:rPr lang="en-US" sz="1200" i="1">
                            <a:solidFill>
                              <a:srgbClr val="FF0000"/>
                            </a:solidFill>
                            <a:latin typeface="Cambria Math" panose="02040503050406030204" pitchFamily="18" charset="0"/>
                          </a:rPr>
                          <m:t>h</m:t>
                        </m:r>
                      </m:sup>
                    </m:sSup>
                    <m:r>
                      <a:rPr lang="en-US" sz="1200" i="1">
                        <a:solidFill>
                          <a:srgbClr val="FF0000"/>
                        </a:solidFill>
                        <a:latin typeface="Cambria Math" panose="02040503050406030204" pitchFamily="18" charset="0"/>
                      </a:rPr>
                      <m:t>→</m:t>
                    </m:r>
                    <m:sSup>
                      <m:sSupPr>
                        <m:ctrlPr>
                          <a:rPr lang="en-US" sz="1200" b="0" i="1" smtClean="0">
                            <a:solidFill>
                              <a:srgbClr val="FF0000"/>
                            </a:solidFill>
                            <a:latin typeface="Cambria Math" panose="02040503050406030204" pitchFamily="18" charset="0"/>
                          </a:rPr>
                        </m:ctrlPr>
                      </m:sSupPr>
                      <m:e>
                        <m:r>
                          <a:rPr lang="en-US" sz="1200" b="0" i="1" smtClean="0">
                            <a:solidFill>
                              <a:srgbClr val="FF0000"/>
                            </a:solidFill>
                            <a:latin typeface="Cambria Math" panose="02040503050406030204" pitchFamily="18" charset="0"/>
                          </a:rPr>
                          <m:t>𝑒</m:t>
                        </m:r>
                      </m:e>
                      <m:sup>
                        <m:r>
                          <a:rPr lang="en-US" sz="1200" b="0" i="1" smtClean="0">
                            <a:solidFill>
                              <a:srgbClr val="FF0000"/>
                            </a:solidFill>
                            <a:latin typeface="Cambria Math" panose="02040503050406030204" pitchFamily="18" charset="0"/>
                          </a:rPr>
                          <m:t>4</m:t>
                        </m:r>
                        <m:r>
                          <a:rPr lang="en-US" sz="1200" b="0" i="1" smtClean="0">
                            <a:solidFill>
                              <a:srgbClr val="FF0000"/>
                            </a:solidFill>
                            <a:latin typeface="Cambria Math" panose="02040503050406030204" pitchFamily="18" charset="0"/>
                          </a:rPr>
                          <m:t>h</m:t>
                        </m:r>
                        <m:r>
                          <a:rPr lang="en-US" sz="1200" b="0" i="1" smtClean="0">
                            <a:solidFill>
                              <a:srgbClr val="FF0000"/>
                            </a:solidFill>
                            <a:latin typeface="Cambria Math" panose="02040503050406030204" pitchFamily="18" charset="0"/>
                          </a:rPr>
                          <m:t>′</m:t>
                        </m:r>
                      </m:sup>
                    </m:sSup>
                  </m:oMath>
                </a14:m>
                <a:r>
                  <a:rPr lang="en-US" sz="1200" dirty="0">
                    <a:solidFill>
                      <a:srgbClr val="FF0000"/>
                    </a:solidFill>
                  </a:rPr>
                  <a:t> </a:t>
                </a:r>
              </a:p>
            </p:txBody>
          </p:sp>
        </mc:Choice>
        <mc:Fallback xmlns="">
          <p:sp>
            <p:nvSpPr>
              <p:cNvPr id="24" name="TextBox 23">
                <a:extLst>
                  <a:ext uri="{FF2B5EF4-FFF2-40B4-BE49-F238E27FC236}">
                    <a16:creationId xmlns:a16="http://schemas.microsoft.com/office/drawing/2014/main" id="{157F7867-C55D-614F-AD1A-23F438D36103}"/>
                  </a:ext>
                </a:extLst>
              </p:cNvPr>
              <p:cNvSpPr txBox="1">
                <a:spLocks noRot="1" noChangeAspect="1" noMove="1" noResize="1" noEditPoints="1" noAdjustHandles="1" noChangeArrowheads="1" noChangeShapeType="1" noTextEdit="1"/>
              </p:cNvSpPr>
              <p:nvPr/>
            </p:nvSpPr>
            <p:spPr>
              <a:xfrm>
                <a:off x="10738192" y="3244676"/>
                <a:ext cx="932371" cy="280333"/>
              </a:xfrm>
              <a:prstGeom prst="rect">
                <a:avLst/>
              </a:prstGeom>
              <a:blipFill>
                <a:blip r:embed="rId19"/>
                <a:stretch>
                  <a:fillRect/>
                </a:stretch>
              </a:blipFill>
              <a:ln>
                <a:noFill/>
              </a:ln>
            </p:spPr>
            <p:txBody>
              <a:bodyPr/>
              <a:lstStyle/>
              <a:p>
                <a:r>
                  <a:rPr lang="en-US">
                    <a:noFill/>
                  </a:rPr>
                  <a:t> </a:t>
                </a:r>
              </a:p>
            </p:txBody>
          </p:sp>
        </mc:Fallback>
      </mc:AlternateContent>
      <p:sp>
        <p:nvSpPr>
          <p:cNvPr id="2" name="Title 1">
            <a:extLst>
              <a:ext uri="{FF2B5EF4-FFF2-40B4-BE49-F238E27FC236}">
                <a16:creationId xmlns:a16="http://schemas.microsoft.com/office/drawing/2014/main" id="{75DCE2F9-F4C3-DA4C-B0FC-7FF6F22D148C}"/>
              </a:ext>
            </a:extLst>
          </p:cNvPr>
          <p:cNvSpPr>
            <a:spLocks noGrp="1"/>
          </p:cNvSpPr>
          <p:nvPr>
            <p:ph type="title"/>
          </p:nvPr>
        </p:nvSpPr>
        <p:spPr>
          <a:xfrm>
            <a:off x="838200" y="0"/>
            <a:ext cx="10515600" cy="1325563"/>
          </a:xfrm>
        </p:spPr>
        <p:txBody>
          <a:bodyPr/>
          <a:lstStyle/>
          <a:p>
            <a:r>
              <a:rPr lang="en-US" dirty="0"/>
              <a:t>Multigrid cycle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5C4FD65-F675-944D-A379-3A5FFFAEB784}"/>
                  </a:ext>
                </a:extLst>
              </p:cNvPr>
              <p:cNvSpPr>
                <a:spLocks noGrp="1"/>
              </p:cNvSpPr>
              <p:nvPr>
                <p:ph idx="1"/>
              </p:nvPr>
            </p:nvSpPr>
            <p:spPr>
              <a:xfrm>
                <a:off x="90319" y="1325561"/>
                <a:ext cx="7074274" cy="5691927"/>
              </a:xfrm>
            </p:spPr>
            <p:txBody>
              <a:bodyPr>
                <a:normAutofit fontScale="92500" lnSpcReduction="10000"/>
              </a:bodyPr>
              <a:lstStyle/>
              <a:p>
                <a:pPr marL="514350" indent="-514350">
                  <a:lnSpc>
                    <a:spcPct val="100000"/>
                  </a:lnSpc>
                  <a:buFont typeface="+mj-lt"/>
                  <a:buAutoNum type="arabicPeriod"/>
                </a:pPr>
                <a:r>
                  <a:rPr lang="en-US" dirty="0"/>
                  <a:t>We smooth on the current grid solving </a:t>
                </a:r>
              </a:p>
              <a:p>
                <a:pPr marL="0" indent="0">
                  <a:lnSpc>
                    <a:spcPct val="100000"/>
                  </a:lnSpc>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𝐿</m:t>
                      </m:r>
                      <m:sSub>
                        <m:sSubPr>
                          <m:ctrlPr>
                            <a:rPr lang="en-US" b="0" i="1" smtClean="0">
                              <a:solidFill>
                                <a:srgbClr val="0070C0"/>
                              </a:solidFill>
                              <a:latin typeface="Cambria Math" panose="02040503050406030204" pitchFamily="18" charset="0"/>
                            </a:rPr>
                          </m:ctrlPr>
                        </m:sSubPr>
                        <m:e>
                          <m:r>
                            <a:rPr lang="en-US" b="0" i="1" smtClean="0">
                              <a:solidFill>
                                <a:srgbClr val="0070C0"/>
                              </a:solidFill>
                              <a:latin typeface="Cambria Math" panose="02040503050406030204" pitchFamily="18" charset="0"/>
                            </a:rPr>
                            <m:t>𝜙</m:t>
                          </m:r>
                        </m:e>
                        <m:sub>
                          <m:r>
                            <a:rPr lang="en-US" b="0" i="1" smtClean="0">
                              <a:solidFill>
                                <a:srgbClr val="0070C0"/>
                              </a:solidFill>
                              <a:latin typeface="Cambria Math" panose="02040503050406030204" pitchFamily="18" charset="0"/>
                            </a:rPr>
                            <m:t>𝑖</m:t>
                          </m:r>
                          <m:r>
                            <a:rPr lang="en-US" b="0" i="1" smtClean="0">
                              <a:solidFill>
                                <a:srgbClr val="0070C0"/>
                              </a:solidFill>
                              <a:latin typeface="Cambria Math" panose="02040503050406030204" pitchFamily="18" charset="0"/>
                            </a:rPr>
                            <m:t>,</m:t>
                          </m:r>
                          <m:r>
                            <a:rPr lang="en-US" b="0" i="1" smtClean="0">
                              <a:solidFill>
                                <a:srgbClr val="0070C0"/>
                              </a:solidFill>
                              <a:latin typeface="Cambria Math" panose="02040503050406030204" pitchFamily="18" charset="0"/>
                            </a:rPr>
                            <m:t>𝑗</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𝑓</m:t>
                          </m:r>
                        </m:e>
                        <m:sub>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𝑗</m:t>
                          </m:r>
                        </m:sub>
                      </m:sSub>
                    </m:oMath>
                  </m:oMathPara>
                </a14:m>
                <a:endParaRPr lang="en-US" dirty="0"/>
              </a:p>
              <a:p>
                <a:pPr marL="0" indent="0">
                  <a:lnSpc>
                    <a:spcPct val="100000"/>
                  </a:lnSpc>
                  <a:buNone/>
                </a:pPr>
                <a:r>
                  <a:rPr lang="en-US" dirty="0"/>
                  <a:t>       compute the residuals,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𝑟</m:t>
                        </m:r>
                      </m:e>
                      <m:sub>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𝑗</m:t>
                        </m:r>
                      </m:sub>
                    </m:sSub>
                    <m:r>
                      <a:rPr lang="en-US" i="1">
                        <a:latin typeface="Cambria Math" panose="02040503050406030204" pitchFamily="18" charset="0"/>
                      </a:rPr>
                      <m:t>=</m:t>
                    </m:r>
                    <m:r>
                      <a:rPr lang="en-US" i="1">
                        <a:latin typeface="Cambria Math" panose="02040503050406030204" pitchFamily="18" charset="0"/>
                      </a:rPr>
                      <m:t>𝐿</m:t>
                    </m:r>
                    <m:sSub>
                      <m:sSubPr>
                        <m:ctrlPr>
                          <a:rPr lang="en-US" i="1">
                            <a:latin typeface="Cambria Math" panose="02040503050406030204" pitchFamily="18" charset="0"/>
                          </a:rPr>
                        </m:ctrlPr>
                      </m:sSubPr>
                      <m:e>
                        <m:r>
                          <a:rPr lang="en-US" i="1">
                            <a:latin typeface="Cambria Math" panose="02040503050406030204" pitchFamily="18" charset="0"/>
                          </a:rPr>
                          <m:t>𝜙</m:t>
                        </m:r>
                      </m:e>
                      <m:sub>
                        <m:r>
                          <a:rPr lang="en-US" i="1">
                            <a:latin typeface="Cambria Math" panose="02040503050406030204" pitchFamily="18" charset="0"/>
                          </a:rPr>
                          <m:t>𝑖</m:t>
                        </m:r>
                        <m:r>
                          <a:rPr lang="en-US" i="1">
                            <a:latin typeface="Cambria Math" panose="02040503050406030204" pitchFamily="18" charset="0"/>
                          </a:rPr>
                          <m:t>,</m:t>
                        </m:r>
                        <m:r>
                          <a:rPr lang="en-US" i="1">
                            <a:latin typeface="Cambria Math" panose="02040503050406030204" pitchFamily="18" charset="0"/>
                          </a:rPr>
                          <m:t>𝑗</m:t>
                        </m:r>
                      </m:sub>
                    </m:sSub>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𝑓</m:t>
                        </m:r>
                      </m:e>
                      <m:sub>
                        <m:r>
                          <a:rPr lang="en-US" i="1">
                            <a:latin typeface="Cambria Math" panose="02040503050406030204" pitchFamily="18" charset="0"/>
                          </a:rPr>
                          <m:t>𝑖</m:t>
                        </m:r>
                        <m:r>
                          <a:rPr lang="en-US" i="1">
                            <a:latin typeface="Cambria Math" panose="02040503050406030204" pitchFamily="18" charset="0"/>
                          </a:rPr>
                          <m:t>,</m:t>
                        </m:r>
                        <m:r>
                          <a:rPr lang="en-US" i="1">
                            <a:latin typeface="Cambria Math" panose="02040503050406030204" pitchFamily="18" charset="0"/>
                          </a:rPr>
                          <m:t>𝑗</m:t>
                        </m:r>
                      </m:sub>
                    </m:sSub>
                  </m:oMath>
                </a14:m>
                <a:endParaRPr lang="en-US" b="0" dirty="0"/>
              </a:p>
              <a:p>
                <a:pPr marL="514350" indent="-514350">
                  <a:lnSpc>
                    <a:spcPct val="100000"/>
                  </a:lnSpc>
                  <a:buFont typeface="+mj-lt"/>
                  <a:buAutoNum type="arabicPeriod" startAt="2"/>
                </a:pPr>
                <a:r>
                  <a:rPr lang="en-US" dirty="0"/>
                  <a:t>We then restrict</a:t>
                </a:r>
                <a:r>
                  <a:rPr lang="en-US" dirty="0">
                    <a:solidFill>
                      <a:srgbClr val="FF0000"/>
                    </a:solidFill>
                  </a:rPr>
                  <a:t> </a:t>
                </a:r>
                <a14:m>
                  <m:oMath xmlns:m="http://schemas.openxmlformats.org/officeDocument/2006/math">
                    <m:sSub>
                      <m:sSubPr>
                        <m:ctrlPr>
                          <a:rPr lang="en-US" b="0" i="1" smtClean="0">
                            <a:solidFill>
                              <a:srgbClr val="FF0000"/>
                            </a:solidFill>
                            <a:latin typeface="Cambria Math" panose="02040503050406030204" pitchFamily="18" charset="0"/>
                          </a:rPr>
                        </m:ctrlPr>
                      </m:sSubPr>
                      <m:e>
                        <m:r>
                          <a:rPr lang="en-US" b="0" i="1" smtClean="0">
                            <a:solidFill>
                              <a:srgbClr val="FF0000"/>
                            </a:solidFill>
                            <a:latin typeface="Cambria Math" panose="02040503050406030204" pitchFamily="18" charset="0"/>
                          </a:rPr>
                          <m:t>𝑟</m:t>
                        </m:r>
                      </m:e>
                      <m:sub>
                        <m:r>
                          <a:rPr lang="en-US" b="0" i="1" smtClean="0">
                            <a:solidFill>
                              <a:srgbClr val="FF0000"/>
                            </a:solidFill>
                            <a:latin typeface="Cambria Math" panose="02040503050406030204" pitchFamily="18" charset="0"/>
                          </a:rPr>
                          <m:t>𝑖</m:t>
                        </m:r>
                        <m:r>
                          <a:rPr lang="en-US" b="0" i="1" smtClean="0">
                            <a:solidFill>
                              <a:srgbClr val="FF0000"/>
                            </a:solidFill>
                            <a:latin typeface="Cambria Math" panose="02040503050406030204" pitchFamily="18" charset="0"/>
                          </a:rPr>
                          <m:t>,</m:t>
                        </m:r>
                        <m:r>
                          <a:rPr lang="en-US" b="0" i="1" smtClean="0">
                            <a:solidFill>
                              <a:srgbClr val="FF0000"/>
                            </a:solidFill>
                            <a:latin typeface="Cambria Math" panose="02040503050406030204" pitchFamily="18" charset="0"/>
                          </a:rPr>
                          <m:t>𝑗</m:t>
                        </m:r>
                      </m:sub>
                    </m:sSub>
                  </m:oMath>
                </a14:m>
                <a:r>
                  <a:rPr lang="en-US" dirty="0"/>
                  <a:t> to a coarser grid and smooth on that grid solving</a:t>
                </a:r>
              </a:p>
              <a:p>
                <a:pPr marL="0" indent="0">
                  <a:lnSpc>
                    <a:spcPct val="100000"/>
                  </a:lnSpc>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𝐿</m:t>
                      </m:r>
                      <m:sSub>
                        <m:sSubPr>
                          <m:ctrlPr>
                            <a:rPr lang="en-US" b="0" i="1" smtClean="0">
                              <a:solidFill>
                                <a:srgbClr val="0070C0"/>
                              </a:solidFill>
                              <a:latin typeface="Cambria Math" panose="02040503050406030204" pitchFamily="18" charset="0"/>
                            </a:rPr>
                          </m:ctrlPr>
                        </m:sSubPr>
                        <m:e>
                          <m:r>
                            <a:rPr lang="en-US" b="0" i="1" smtClean="0">
                              <a:solidFill>
                                <a:srgbClr val="0070C0"/>
                              </a:solidFill>
                              <a:latin typeface="Cambria Math" panose="02040503050406030204" pitchFamily="18" charset="0"/>
                            </a:rPr>
                            <m:t>𝑒</m:t>
                          </m:r>
                        </m:e>
                        <m:sub>
                          <m:r>
                            <a:rPr lang="en-US" b="0" i="1" smtClean="0">
                              <a:solidFill>
                                <a:srgbClr val="0070C0"/>
                              </a:solidFill>
                              <a:latin typeface="Cambria Math" panose="02040503050406030204" pitchFamily="18" charset="0"/>
                            </a:rPr>
                            <m:t>𝑖</m:t>
                          </m:r>
                          <m:r>
                            <a:rPr lang="en-US" b="0" i="1" smtClean="0">
                              <a:solidFill>
                                <a:srgbClr val="0070C0"/>
                              </a:solidFill>
                              <a:latin typeface="Cambria Math" panose="02040503050406030204" pitchFamily="18" charset="0"/>
                            </a:rPr>
                            <m:t>,</m:t>
                          </m:r>
                          <m:r>
                            <a:rPr lang="en-US" b="0" i="1" smtClean="0">
                              <a:solidFill>
                                <a:srgbClr val="0070C0"/>
                              </a:solidFill>
                              <a:latin typeface="Cambria Math" panose="02040503050406030204" pitchFamily="18" charset="0"/>
                            </a:rPr>
                            <m:t>𝑗</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𝑟</m:t>
                          </m:r>
                        </m:e>
                        <m:sub>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𝑗</m:t>
                          </m:r>
                        </m:sub>
                      </m:sSub>
                    </m:oMath>
                  </m:oMathPara>
                </a14:m>
                <a:endParaRPr lang="en-US" dirty="0"/>
              </a:p>
              <a:p>
                <a:pPr marL="0" indent="0">
                  <a:lnSpc>
                    <a:spcPct val="100000"/>
                  </a:lnSpc>
                  <a:buNone/>
                </a:pPr>
                <a:r>
                  <a:rPr lang="en-US" dirty="0"/>
                  <a:t>      compute the new residuals </a:t>
                </a:r>
                <a14:m>
                  <m:oMath xmlns:m="http://schemas.openxmlformats.org/officeDocument/2006/math">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𝑟</m:t>
                        </m:r>
                      </m:e>
                      <m:sub>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𝑗</m:t>
                        </m:r>
                      </m:sub>
                      <m:sup>
                        <m:r>
                          <a:rPr lang="en-US" b="0" i="1" smtClean="0">
                            <a:latin typeface="Cambria Math" panose="02040503050406030204" pitchFamily="18" charset="0"/>
                          </a:rPr>
                          <m:t>𝑘</m:t>
                        </m:r>
                        <m:r>
                          <a:rPr lang="en-US" b="0" i="1" smtClean="0">
                            <a:latin typeface="Cambria Math" panose="02040503050406030204" pitchFamily="18" charset="0"/>
                          </a:rPr>
                          <m:t>+1</m:t>
                        </m:r>
                      </m:sup>
                    </m:sSubSup>
                  </m:oMath>
                </a14:m>
                <a:endParaRPr lang="en-US" dirty="0"/>
              </a:p>
              <a:p>
                <a:pPr marL="514350" indent="-514350">
                  <a:lnSpc>
                    <a:spcPct val="100000"/>
                  </a:lnSpc>
                  <a:buFont typeface="+mj-lt"/>
                  <a:buAutoNum type="arabicPeriod" startAt="3"/>
                </a:pPr>
                <a:r>
                  <a:rPr lang="en-US" dirty="0"/>
                  <a:t>We repeat stage 2 with </a:t>
                </a:r>
                <a14:m>
                  <m:oMath xmlns:m="http://schemas.openxmlformats.org/officeDocument/2006/math">
                    <m:sSubSup>
                      <m:sSubSupPr>
                        <m:ctrlPr>
                          <a:rPr lang="en-US" i="1" smtClean="0">
                            <a:solidFill>
                              <a:srgbClr val="FF0000"/>
                            </a:solidFill>
                            <a:latin typeface="Cambria Math" panose="02040503050406030204" pitchFamily="18" charset="0"/>
                          </a:rPr>
                        </m:ctrlPr>
                      </m:sSubSupPr>
                      <m:e>
                        <m:r>
                          <a:rPr lang="en-US" i="1">
                            <a:solidFill>
                              <a:srgbClr val="FF0000"/>
                            </a:solidFill>
                            <a:latin typeface="Cambria Math" panose="02040503050406030204" pitchFamily="18" charset="0"/>
                          </a:rPr>
                          <m:t>𝑟</m:t>
                        </m:r>
                      </m:e>
                      <m:sub>
                        <m:r>
                          <a:rPr lang="en-US" i="1">
                            <a:solidFill>
                              <a:srgbClr val="FF0000"/>
                            </a:solidFill>
                            <a:latin typeface="Cambria Math" panose="02040503050406030204" pitchFamily="18" charset="0"/>
                          </a:rPr>
                          <m:t>𝑖</m:t>
                        </m:r>
                        <m:r>
                          <a:rPr lang="en-US" i="1">
                            <a:solidFill>
                              <a:srgbClr val="FF0000"/>
                            </a:solidFill>
                            <a:latin typeface="Cambria Math" panose="02040503050406030204" pitchFamily="18" charset="0"/>
                          </a:rPr>
                          <m:t>,</m:t>
                        </m:r>
                        <m:r>
                          <a:rPr lang="en-US" i="1">
                            <a:solidFill>
                              <a:srgbClr val="FF0000"/>
                            </a:solidFill>
                            <a:latin typeface="Cambria Math" panose="02040503050406030204" pitchFamily="18" charset="0"/>
                          </a:rPr>
                          <m:t>𝑗</m:t>
                        </m:r>
                      </m:sub>
                      <m:sup>
                        <m:r>
                          <a:rPr lang="en-US" i="1">
                            <a:solidFill>
                              <a:srgbClr val="FF0000"/>
                            </a:solidFill>
                            <a:latin typeface="Cambria Math" panose="02040503050406030204" pitchFamily="18" charset="0"/>
                          </a:rPr>
                          <m:t>𝑘</m:t>
                        </m:r>
                        <m:r>
                          <a:rPr lang="en-US" i="1">
                            <a:solidFill>
                              <a:srgbClr val="FF0000"/>
                            </a:solidFill>
                            <a:latin typeface="Cambria Math" panose="02040503050406030204" pitchFamily="18" charset="0"/>
                          </a:rPr>
                          <m:t>+1</m:t>
                        </m:r>
                      </m:sup>
                    </m:sSubSup>
                  </m:oMath>
                </a14:m>
                <a:r>
                  <a:rPr lang="en-US" dirty="0"/>
                  <a:t> until we reach a sufficiently coarse grid. </a:t>
                </a:r>
              </a:p>
              <a:p>
                <a:pPr marL="514350" indent="-514350">
                  <a:lnSpc>
                    <a:spcPct val="100000"/>
                  </a:lnSpc>
                  <a:buFont typeface="+mj-lt"/>
                  <a:buAutoNum type="arabicPeriod" startAt="3"/>
                </a:pPr>
                <a:r>
                  <a:rPr lang="en-US" dirty="0"/>
                  <a:t>We then prolongate the error </a:t>
                </a:r>
                <a14:m>
                  <m:oMath xmlns:m="http://schemas.openxmlformats.org/officeDocument/2006/math">
                    <m:sSub>
                      <m:sSubPr>
                        <m:ctrlPr>
                          <a:rPr lang="en-US" b="0" i="1" smtClean="0">
                            <a:solidFill>
                              <a:srgbClr val="FF0000"/>
                            </a:solidFill>
                            <a:latin typeface="Cambria Math" panose="02040503050406030204" pitchFamily="18" charset="0"/>
                          </a:rPr>
                        </m:ctrlPr>
                      </m:sSubPr>
                      <m:e>
                        <m:r>
                          <a:rPr lang="en-US" b="0" i="1" smtClean="0">
                            <a:solidFill>
                              <a:srgbClr val="FF0000"/>
                            </a:solidFill>
                            <a:latin typeface="Cambria Math" panose="02040503050406030204" pitchFamily="18" charset="0"/>
                          </a:rPr>
                          <m:t>𝑒</m:t>
                        </m:r>
                      </m:e>
                      <m:sub>
                        <m:r>
                          <a:rPr lang="en-US" b="0" i="1" smtClean="0">
                            <a:solidFill>
                              <a:srgbClr val="FF0000"/>
                            </a:solidFill>
                            <a:latin typeface="Cambria Math" panose="02040503050406030204" pitchFamily="18" charset="0"/>
                          </a:rPr>
                          <m:t>𝑖</m:t>
                        </m:r>
                        <m:r>
                          <a:rPr lang="en-US" b="0" i="1" smtClean="0">
                            <a:solidFill>
                              <a:srgbClr val="FF0000"/>
                            </a:solidFill>
                            <a:latin typeface="Cambria Math" panose="02040503050406030204" pitchFamily="18" charset="0"/>
                          </a:rPr>
                          <m:t>,</m:t>
                        </m:r>
                        <m:r>
                          <a:rPr lang="en-US" b="0" i="1" smtClean="0">
                            <a:solidFill>
                              <a:srgbClr val="FF0000"/>
                            </a:solidFill>
                            <a:latin typeface="Cambria Math" panose="02040503050406030204" pitchFamily="18" charset="0"/>
                          </a:rPr>
                          <m:t>𝑗</m:t>
                        </m:r>
                      </m:sub>
                    </m:sSub>
                  </m:oMath>
                </a14:m>
                <a:r>
                  <a:rPr lang="en-US" dirty="0"/>
                  <a:t> back up and use it to correct the solution on the finer grid. </a:t>
                </a:r>
              </a:p>
              <a:p>
                <a:pPr marL="514350" indent="-514350">
                  <a:lnSpc>
                    <a:spcPct val="100000"/>
                  </a:lnSpc>
                  <a:buFont typeface="+mj-lt"/>
                  <a:buAutoNum type="arabicPeriod" startAt="3"/>
                </a:pPr>
                <a:r>
                  <a:rPr lang="en-US" dirty="0"/>
                  <a:t>We do some smoothing and repeat stage 4.</a:t>
                </a:r>
              </a:p>
              <a:p>
                <a:pPr marL="514350" indent="-514350">
                  <a:lnSpc>
                    <a:spcPct val="100000"/>
                  </a:lnSpc>
                  <a:buFont typeface="+mj-lt"/>
                  <a:buAutoNum type="arabicPeriod" startAt="3"/>
                </a:pPr>
                <a:endParaRPr lang="en-US" dirty="0"/>
              </a:p>
              <a:p>
                <a:pPr marL="514350" indent="-514350">
                  <a:lnSpc>
                    <a:spcPct val="100000"/>
                  </a:lnSpc>
                  <a:buFont typeface="+mj-lt"/>
                  <a:buAutoNum type="arabicPeriod" startAt="3"/>
                </a:pPr>
                <a:endParaRPr lang="en-US" dirty="0"/>
              </a:p>
            </p:txBody>
          </p:sp>
        </mc:Choice>
        <mc:Fallback xmlns="">
          <p:sp>
            <p:nvSpPr>
              <p:cNvPr id="3" name="Content Placeholder 2">
                <a:extLst>
                  <a:ext uri="{FF2B5EF4-FFF2-40B4-BE49-F238E27FC236}">
                    <a16:creationId xmlns:a16="http://schemas.microsoft.com/office/drawing/2014/main" id="{15C4FD65-F675-944D-A379-3A5FFFAEB784}"/>
                  </a:ext>
                </a:extLst>
              </p:cNvPr>
              <p:cNvSpPr>
                <a:spLocks noGrp="1" noRot="1" noChangeAspect="1" noMove="1" noResize="1" noEditPoints="1" noAdjustHandles="1" noChangeArrowheads="1" noChangeShapeType="1" noTextEdit="1"/>
              </p:cNvSpPr>
              <p:nvPr>
                <p:ph idx="1"/>
              </p:nvPr>
            </p:nvSpPr>
            <p:spPr>
              <a:xfrm>
                <a:off x="90319" y="1325561"/>
                <a:ext cx="7074274" cy="5691927"/>
              </a:xfrm>
              <a:blipFill>
                <a:blip r:embed="rId20"/>
                <a:stretch>
                  <a:fillRect l="-1254" t="-1778"/>
                </a:stretch>
              </a:blipFill>
            </p:spPr>
            <p:txBody>
              <a:bodyPr/>
              <a:lstStyle/>
              <a:p>
                <a:r>
                  <a:rPr lang="en-US">
                    <a:noFill/>
                  </a:rPr>
                  <a:t> </a:t>
                </a:r>
              </a:p>
            </p:txBody>
          </p:sp>
        </mc:Fallback>
      </mc:AlternateContent>
      <p:sp>
        <p:nvSpPr>
          <p:cNvPr id="4" name="Arc 3">
            <a:extLst>
              <a:ext uri="{FF2B5EF4-FFF2-40B4-BE49-F238E27FC236}">
                <a16:creationId xmlns:a16="http://schemas.microsoft.com/office/drawing/2014/main" id="{86D05E37-A288-6F4D-AAC6-2158EF21EAA1}"/>
              </a:ext>
            </a:extLst>
          </p:cNvPr>
          <p:cNvSpPr/>
          <p:nvPr/>
        </p:nvSpPr>
        <p:spPr>
          <a:xfrm>
            <a:off x="7164593" y="4966576"/>
            <a:ext cx="3436067" cy="686951"/>
          </a:xfrm>
          <a:prstGeom prst="arc">
            <a:avLst>
              <a:gd name="adj1" fmla="val 10795447"/>
              <a:gd name="adj2" fmla="val 0"/>
            </a:avLst>
          </a:prstGeom>
          <a:ln w="19050">
            <a:prstDash val="dash"/>
            <a:headEnd type="none" w="med" len="med"/>
            <a:tailEnd type="triangle" w="lg"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5" name="Arc 24">
            <a:extLst>
              <a:ext uri="{FF2B5EF4-FFF2-40B4-BE49-F238E27FC236}">
                <a16:creationId xmlns:a16="http://schemas.microsoft.com/office/drawing/2014/main" id="{FC24A32F-46AD-D04E-AC8E-0D537EDF6364}"/>
              </a:ext>
            </a:extLst>
          </p:cNvPr>
          <p:cNvSpPr/>
          <p:nvPr/>
        </p:nvSpPr>
        <p:spPr>
          <a:xfrm>
            <a:off x="6544306" y="3579375"/>
            <a:ext cx="4714735" cy="904209"/>
          </a:xfrm>
          <a:prstGeom prst="arc">
            <a:avLst>
              <a:gd name="adj1" fmla="val 10795447"/>
              <a:gd name="adj2" fmla="val 0"/>
            </a:avLst>
          </a:prstGeom>
          <a:ln w="19050">
            <a:prstDash val="dash"/>
            <a:headEnd type="none" w="med" len="med"/>
            <a:tailEnd type="triangle" w="lg"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6" name="Arc 25">
            <a:extLst>
              <a:ext uri="{FF2B5EF4-FFF2-40B4-BE49-F238E27FC236}">
                <a16:creationId xmlns:a16="http://schemas.microsoft.com/office/drawing/2014/main" id="{4518D54E-E12F-9E41-B7D6-B704C5557E90}"/>
              </a:ext>
            </a:extLst>
          </p:cNvPr>
          <p:cNvSpPr/>
          <p:nvPr/>
        </p:nvSpPr>
        <p:spPr>
          <a:xfrm>
            <a:off x="7659629" y="1704184"/>
            <a:ext cx="2416013" cy="742478"/>
          </a:xfrm>
          <a:prstGeom prst="arc">
            <a:avLst>
              <a:gd name="adj1" fmla="val 10795447"/>
              <a:gd name="adj2" fmla="val 0"/>
            </a:avLst>
          </a:prstGeom>
          <a:ln w="19050">
            <a:prstDash val="dash"/>
            <a:headEnd type="none" w="med" len="med"/>
            <a:tailEnd type="triangle" w="lg"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3959107912"/>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DCE2F9-F4C3-DA4C-B0FC-7FF6F22D148C}"/>
              </a:ext>
            </a:extLst>
          </p:cNvPr>
          <p:cNvSpPr>
            <a:spLocks noGrp="1"/>
          </p:cNvSpPr>
          <p:nvPr>
            <p:ph type="title"/>
          </p:nvPr>
        </p:nvSpPr>
        <p:spPr>
          <a:xfrm>
            <a:off x="838200" y="0"/>
            <a:ext cx="10515600" cy="1325563"/>
          </a:xfrm>
        </p:spPr>
        <p:txBody>
          <a:bodyPr/>
          <a:lstStyle/>
          <a:p>
            <a:pPr algn="l" defTabSz="914400" rtl="1" eaLnBrk="1" latinLnBrk="0" hangingPunct="1">
              <a:lnSpc>
                <a:spcPct val="90000"/>
              </a:lnSpc>
              <a:spcBef>
                <a:spcPct val="0"/>
              </a:spcBef>
              <a:buNone/>
            </a:pPr>
            <a:r>
              <a:rPr lang="en-US" dirty="0"/>
              <a:t>Boundary conditions and stopping criteria</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5C4FD65-F675-944D-A379-3A5FFFAEB784}"/>
                  </a:ext>
                </a:extLst>
              </p:cNvPr>
              <p:cNvSpPr>
                <a:spLocks noGrp="1"/>
              </p:cNvSpPr>
              <p:nvPr>
                <p:ph idx="1"/>
              </p:nvPr>
            </p:nvSpPr>
            <p:spPr>
              <a:xfrm>
                <a:off x="193637" y="1325562"/>
                <a:ext cx="11542955" cy="5532437"/>
              </a:xfrm>
            </p:spPr>
            <p:txBody>
              <a:bodyPr>
                <a:normAutofit/>
              </a:bodyPr>
              <a:lstStyle/>
              <a:p>
                <a:pPr>
                  <a:lnSpc>
                    <a:spcPct val="100000"/>
                  </a:lnSpc>
                </a:pPr>
                <a:r>
                  <a:rPr lang="en-US" dirty="0"/>
                  <a:t>The general </a:t>
                </a:r>
                <a:r>
                  <a:rPr lang="en-US" dirty="0">
                    <a:solidFill>
                      <a:srgbClr val="0070C0"/>
                    </a:solidFill>
                  </a:rPr>
                  <a:t>inhomogeneous</a:t>
                </a:r>
                <a:r>
                  <a:rPr lang="en-US" dirty="0"/>
                  <a:t> boundary conditions apply to the </a:t>
                </a:r>
                <a:r>
                  <a:rPr lang="en-US" dirty="0">
                    <a:solidFill>
                      <a:srgbClr val="0070C0"/>
                    </a:solidFill>
                  </a:rPr>
                  <a:t>finest level</a:t>
                </a:r>
                <a:r>
                  <a:rPr lang="en-US" dirty="0"/>
                  <a:t>.</a:t>
                </a:r>
              </a:p>
              <a:p>
                <a:pPr>
                  <a:lnSpc>
                    <a:spcPct val="100000"/>
                  </a:lnSpc>
                </a:pPr>
                <a:r>
                  <a:rPr lang="en-US" dirty="0"/>
                  <a:t>The BCs on all </a:t>
                </a:r>
                <a:r>
                  <a:rPr lang="en-US" dirty="0">
                    <a:solidFill>
                      <a:srgbClr val="FF0000"/>
                    </a:solidFill>
                  </a:rPr>
                  <a:t>restricted levels </a:t>
                </a:r>
                <a:r>
                  <a:rPr lang="en-US" dirty="0"/>
                  <a:t>apply for </a:t>
                </a:r>
                <a14:m>
                  <m:oMath xmlns:m="http://schemas.openxmlformats.org/officeDocument/2006/math">
                    <m:r>
                      <a:rPr lang="en-US" b="0" i="1" smtClean="0">
                        <a:latin typeface="Cambria Math" panose="02040503050406030204" pitchFamily="18" charset="0"/>
                      </a:rPr>
                      <m:t>𝐿𝑒</m:t>
                    </m:r>
                    <m:r>
                      <a:rPr lang="en-US" b="0" i="1" smtClean="0">
                        <a:latin typeface="Cambria Math" panose="02040503050406030204" pitchFamily="18" charset="0"/>
                      </a:rPr>
                      <m:t>=</m:t>
                    </m:r>
                    <m:r>
                      <a:rPr lang="en-US" b="0" i="1" smtClean="0">
                        <a:latin typeface="Cambria Math" panose="02040503050406030204" pitchFamily="18" charset="0"/>
                      </a:rPr>
                      <m:t>𝑟</m:t>
                    </m:r>
                  </m:oMath>
                </a14:m>
                <a:r>
                  <a:rPr lang="en-US" dirty="0"/>
                  <a:t> are </a:t>
                </a:r>
                <a:r>
                  <a:rPr lang="en-US" dirty="0">
                    <a:solidFill>
                      <a:srgbClr val="FF0000"/>
                    </a:solidFill>
                  </a:rPr>
                  <a:t>homogeneous</a:t>
                </a:r>
                <a:r>
                  <a:rPr lang="en-US" dirty="0"/>
                  <a:t>, but of the same type (Dirichlet, Neumann, periodic…) as the fine level. </a:t>
                </a:r>
              </a:p>
              <a:p>
                <a:pPr marL="0" indent="0">
                  <a:lnSpc>
                    <a:spcPct val="100000"/>
                  </a:lnSpc>
                  <a:buNone/>
                </a:pPr>
                <a:r>
                  <a:rPr lang="en-US" dirty="0"/>
                  <a:t>   * you can always change the BCs in the finest level to homogeneous by  </a:t>
                </a:r>
              </a:p>
              <a:p>
                <a:pPr marL="0" indent="0">
                  <a:lnSpc>
                    <a:spcPct val="100000"/>
                  </a:lnSpc>
                  <a:buNone/>
                </a:pPr>
                <a:r>
                  <a:rPr lang="en-US" dirty="0"/>
                  <a:t>      substituting the expression for the ghost cell in the discrete equation, and   </a:t>
                </a:r>
              </a:p>
              <a:p>
                <a:pPr marL="0" indent="0">
                  <a:lnSpc>
                    <a:spcPct val="100000"/>
                  </a:lnSpc>
                  <a:buNone/>
                </a:pPr>
                <a:r>
                  <a:rPr lang="en-US" dirty="0"/>
                  <a:t>      add another term to the RHS (we’ll discuss that). </a:t>
                </a:r>
              </a:p>
              <a:p>
                <a:pPr>
                  <a:lnSpc>
                    <a:spcPct val="100000"/>
                  </a:lnSpc>
                </a:pPr>
                <a:r>
                  <a:rPr lang="en-US" dirty="0"/>
                  <a:t>Each V-cycle should reduce the error by 1 order of magnitude. </a:t>
                </a:r>
              </a:p>
              <a:p>
                <a:pPr>
                  <a:lnSpc>
                    <a:spcPct val="100000"/>
                  </a:lnSpc>
                </a:pPr>
                <a:r>
                  <a:rPr lang="en-US" dirty="0"/>
                  <a:t>We can continue the cycles until </a:t>
                </a:r>
                <a14:m>
                  <m:oMath xmlns:m="http://schemas.openxmlformats.org/officeDocument/2006/math">
                    <m:d>
                      <m:dPr>
                        <m:begChr m:val="‖"/>
                        <m:endChr m:val="‖"/>
                        <m:ctrlPr>
                          <a:rPr lang="en-US" i="1" smtClean="0">
                            <a:latin typeface="Cambria Math" panose="02040503050406030204" pitchFamily="18" charset="0"/>
                          </a:rPr>
                        </m:ctrlPr>
                      </m:dPr>
                      <m:e>
                        <m:r>
                          <a:rPr lang="en-US" b="0" i="1" smtClean="0">
                            <a:latin typeface="Cambria Math" panose="02040503050406030204" pitchFamily="18" charset="0"/>
                          </a:rPr>
                          <m:t>𝑟</m:t>
                        </m:r>
                      </m:e>
                    </m:d>
                    <m:r>
                      <a:rPr lang="en-US" b="0" i="1" smtClean="0">
                        <a:latin typeface="Cambria Math" panose="02040503050406030204" pitchFamily="18" charset="0"/>
                      </a:rPr>
                      <m:t>&lt;</m:t>
                    </m:r>
                    <m:r>
                      <a:rPr lang="en-US" b="0" i="1" smtClean="0">
                        <a:latin typeface="Cambria Math" panose="02040503050406030204" pitchFamily="18" charset="0"/>
                      </a:rPr>
                      <m:t>𝜖</m:t>
                    </m:r>
                    <m:d>
                      <m:dPr>
                        <m:begChr m:val="‖"/>
                        <m:endChr m:val="‖"/>
                        <m:ctrlPr>
                          <a:rPr lang="en-US" i="1">
                            <a:latin typeface="Cambria Math" panose="02040503050406030204" pitchFamily="18" charset="0"/>
                          </a:rPr>
                        </m:ctrlPr>
                      </m:dPr>
                      <m:e>
                        <m:r>
                          <a:rPr lang="en-US" b="0" i="1" smtClean="0">
                            <a:latin typeface="Cambria Math" panose="02040503050406030204" pitchFamily="18" charset="0"/>
                          </a:rPr>
                          <m:t>𝑓</m:t>
                        </m:r>
                      </m:e>
                    </m:d>
                  </m:oMath>
                </a14:m>
                <a:r>
                  <a:rPr lang="en-US" dirty="0"/>
                  <a:t>, where </a:t>
                </a:r>
                <a14:m>
                  <m:oMath xmlns:m="http://schemas.openxmlformats.org/officeDocument/2006/math">
                    <m:r>
                      <a:rPr lang="en-US" b="0" i="1" smtClean="0">
                        <a:latin typeface="Cambria Math" panose="02040503050406030204" pitchFamily="18" charset="0"/>
                      </a:rPr>
                      <m:t>𝜖</m:t>
                    </m:r>
                  </m:oMath>
                </a14:m>
                <a:r>
                  <a:rPr lang="en-US" dirty="0"/>
                  <a:t> is chosen. </a:t>
                </a:r>
              </a:p>
              <a:p>
                <a:pPr>
                  <a:lnSpc>
                    <a:spcPct val="100000"/>
                  </a:lnSpc>
                </a:pPr>
                <a:endParaRPr lang="en-US" dirty="0"/>
              </a:p>
              <a:p>
                <a:pPr>
                  <a:lnSpc>
                    <a:spcPct val="100000"/>
                  </a:lnSpc>
                </a:pPr>
                <a:endParaRPr lang="en-US" dirty="0"/>
              </a:p>
            </p:txBody>
          </p:sp>
        </mc:Choice>
        <mc:Fallback xmlns="">
          <p:sp>
            <p:nvSpPr>
              <p:cNvPr id="3" name="Content Placeholder 2">
                <a:extLst>
                  <a:ext uri="{FF2B5EF4-FFF2-40B4-BE49-F238E27FC236}">
                    <a16:creationId xmlns:a16="http://schemas.microsoft.com/office/drawing/2014/main" id="{15C4FD65-F675-944D-A379-3A5FFFAEB784}"/>
                  </a:ext>
                </a:extLst>
              </p:cNvPr>
              <p:cNvSpPr>
                <a:spLocks noGrp="1" noRot="1" noChangeAspect="1" noMove="1" noResize="1" noEditPoints="1" noAdjustHandles="1" noChangeArrowheads="1" noChangeShapeType="1" noTextEdit="1"/>
              </p:cNvSpPr>
              <p:nvPr>
                <p:ph idx="1"/>
              </p:nvPr>
            </p:nvSpPr>
            <p:spPr>
              <a:xfrm>
                <a:off x="193637" y="1325562"/>
                <a:ext cx="11542955" cy="5532437"/>
              </a:xfrm>
              <a:blipFill>
                <a:blip r:embed="rId2"/>
                <a:stretch>
                  <a:fillRect l="-879" t="-915" r="-1538"/>
                </a:stretch>
              </a:blipFill>
            </p:spPr>
            <p:txBody>
              <a:bodyPr/>
              <a:lstStyle/>
              <a:p>
                <a:r>
                  <a:rPr lang="en-US">
                    <a:noFill/>
                  </a:rPr>
                  <a:t> </a:t>
                </a:r>
              </a:p>
            </p:txBody>
          </p:sp>
        </mc:Fallback>
      </mc:AlternateContent>
    </p:spTree>
    <p:extLst>
      <p:ext uri="{BB962C8B-B14F-4D97-AF65-F5344CB8AC3E}">
        <p14:creationId xmlns:p14="http://schemas.microsoft.com/office/powerpoint/2010/main" val="3280594704"/>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75DCE2F9-F4C3-DA4C-B0FC-7FF6F22D148C}"/>
                  </a:ext>
                </a:extLst>
              </p:cNvPr>
              <p:cNvSpPr>
                <a:spLocks noGrp="1"/>
              </p:cNvSpPr>
              <p:nvPr>
                <p:ph type="title"/>
              </p:nvPr>
            </p:nvSpPr>
            <p:spPr>
              <a:xfrm>
                <a:off x="838200" y="0"/>
                <a:ext cx="10515600" cy="1325563"/>
              </a:xfrm>
            </p:spPr>
            <p:txBody>
              <a:bodyPr/>
              <a:lstStyle/>
              <a:p>
                <a:r>
                  <a:rPr lang="en-US" dirty="0"/>
                  <a:t>Error example in </a:t>
                </a:r>
                <a14:m>
                  <m:oMath xmlns:m="http://schemas.openxmlformats.org/officeDocument/2006/math">
                    <m:sSup>
                      <m:sSupPr>
                        <m:ctrlPr>
                          <a:rPr lang="en-US" i="1">
                            <a:latin typeface="Cambria Math" panose="02040503050406030204" pitchFamily="18" charset="0"/>
                          </a:rPr>
                        </m:ctrlPr>
                      </m:sSupPr>
                      <m:e>
                        <m:r>
                          <m:rPr>
                            <m:sty m:val="p"/>
                          </m:rPr>
                          <a:rPr lang="en-US">
                            <a:latin typeface="Cambria Math" panose="02040503050406030204" pitchFamily="18" charset="0"/>
                          </a:rPr>
                          <m:t>∇</m:t>
                        </m:r>
                      </m:e>
                      <m:sup>
                        <m:r>
                          <a:rPr lang="en-US" i="1">
                            <a:latin typeface="Cambria Math" panose="02040503050406030204" pitchFamily="18" charset="0"/>
                          </a:rPr>
                          <m:t>2</m:t>
                        </m:r>
                      </m:sup>
                    </m:sSup>
                    <m:r>
                      <a:rPr lang="en-US" i="1">
                        <a:latin typeface="Cambria Math" panose="02040503050406030204" pitchFamily="18" charset="0"/>
                      </a:rPr>
                      <m:t>𝜙</m:t>
                    </m:r>
                    <m:r>
                      <a:rPr lang="en-US" b="0" i="1" smtClean="0">
                        <a:latin typeface="Cambria Math" panose="02040503050406030204" pitchFamily="18" charset="0"/>
                      </a:rPr>
                      <m:t>=</m:t>
                    </m:r>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sin</m:t>
                        </m:r>
                      </m:fName>
                      <m:e>
                        <m:r>
                          <a:rPr lang="en-US" b="0" i="1" smtClean="0">
                            <a:latin typeface="Cambria Math" panose="02040503050406030204" pitchFamily="18" charset="0"/>
                          </a:rPr>
                          <m:t>𝑥</m:t>
                        </m:r>
                      </m:e>
                    </m:func>
                  </m:oMath>
                </a14:m>
                <a:endParaRPr lang="en-US" dirty="0"/>
              </a:p>
            </p:txBody>
          </p:sp>
        </mc:Choice>
        <mc:Fallback xmlns="">
          <p:sp>
            <p:nvSpPr>
              <p:cNvPr id="2" name="Title 1">
                <a:extLst>
                  <a:ext uri="{FF2B5EF4-FFF2-40B4-BE49-F238E27FC236}">
                    <a16:creationId xmlns:a16="http://schemas.microsoft.com/office/drawing/2014/main" id="{75DCE2F9-F4C3-DA4C-B0FC-7FF6F22D148C}"/>
                  </a:ext>
                </a:extLst>
              </p:cNvPr>
              <p:cNvSpPr>
                <a:spLocks noGrp="1" noRot="1" noChangeAspect="1" noMove="1" noResize="1" noEditPoints="1" noAdjustHandles="1" noChangeArrowheads="1" noChangeShapeType="1" noTextEdit="1"/>
              </p:cNvSpPr>
              <p:nvPr>
                <p:ph type="title"/>
              </p:nvPr>
            </p:nvSpPr>
            <p:spPr>
              <a:xfrm>
                <a:off x="838200" y="0"/>
                <a:ext cx="10515600" cy="1325563"/>
              </a:xfrm>
              <a:blipFill>
                <a:blip r:embed="rId2"/>
                <a:stretch>
                  <a:fillRect l="-2292"/>
                </a:stretch>
              </a:blipFill>
            </p:spPr>
            <p:txBody>
              <a:bodyPr/>
              <a:lstStyle/>
              <a:p>
                <a:r>
                  <a:rPr lang="en-US">
                    <a:noFill/>
                  </a:rPr>
                  <a:t> </a:t>
                </a:r>
              </a:p>
            </p:txBody>
          </p:sp>
        </mc:Fallback>
      </mc:AlternateContent>
      <p:sp>
        <p:nvSpPr>
          <p:cNvPr id="3" name="Content Placeholder 2">
            <a:extLst>
              <a:ext uri="{FF2B5EF4-FFF2-40B4-BE49-F238E27FC236}">
                <a16:creationId xmlns:a16="http://schemas.microsoft.com/office/drawing/2014/main" id="{15C4FD65-F675-944D-A379-3A5FFFAEB784}"/>
              </a:ext>
            </a:extLst>
          </p:cNvPr>
          <p:cNvSpPr>
            <a:spLocks noGrp="1"/>
          </p:cNvSpPr>
          <p:nvPr>
            <p:ph idx="1"/>
          </p:nvPr>
        </p:nvSpPr>
        <p:spPr>
          <a:xfrm>
            <a:off x="129093" y="1325562"/>
            <a:ext cx="5066852" cy="5532437"/>
          </a:xfrm>
        </p:spPr>
        <p:txBody>
          <a:bodyPr/>
          <a:lstStyle/>
          <a:p>
            <a:pPr>
              <a:lnSpc>
                <a:spcPct val="100000"/>
              </a:lnSpc>
            </a:pPr>
            <a:r>
              <a:rPr lang="en-US" dirty="0"/>
              <a:t>Error in the multigrid solution as a function of V-cycle. </a:t>
            </a:r>
          </a:p>
          <a:p>
            <a:pPr>
              <a:lnSpc>
                <a:spcPct val="100000"/>
              </a:lnSpc>
            </a:pPr>
            <a:r>
              <a:rPr lang="en-US" dirty="0"/>
              <a:t>The true error, </a:t>
            </a:r>
            <a:r>
              <a:rPr lang="en-US" dirty="0">
                <a:solidFill>
                  <a:srgbClr val="0070C0"/>
                </a:solidFill>
              </a:rPr>
              <a:t>∥</a:t>
            </a:r>
            <a:r>
              <a:rPr lang="en-US" i="1" dirty="0">
                <a:solidFill>
                  <a:srgbClr val="0070C0"/>
                </a:solidFill>
              </a:rPr>
              <a:t>e</a:t>
            </a:r>
            <a:r>
              <a:rPr lang="en-US" dirty="0">
                <a:solidFill>
                  <a:srgbClr val="0070C0"/>
                </a:solidFill>
              </a:rPr>
              <a:t>∥</a:t>
            </a:r>
            <a:r>
              <a:rPr lang="en-US" dirty="0"/>
              <a:t> stalls at truncation error </a:t>
            </a:r>
          </a:p>
          <a:p>
            <a:pPr>
              <a:lnSpc>
                <a:spcPct val="100000"/>
              </a:lnSpc>
            </a:pPr>
            <a:r>
              <a:rPr lang="en-US" dirty="0"/>
              <a:t>The residual error, </a:t>
            </a:r>
            <a:r>
              <a:rPr lang="en-US" dirty="0">
                <a:solidFill>
                  <a:schemeClr val="accent2"/>
                </a:solidFill>
              </a:rPr>
              <a:t>∥</a:t>
            </a:r>
            <a:r>
              <a:rPr lang="en-US" i="1" dirty="0">
                <a:solidFill>
                  <a:schemeClr val="accent2"/>
                </a:solidFill>
              </a:rPr>
              <a:t>r</a:t>
            </a:r>
            <a:r>
              <a:rPr lang="en-US" dirty="0">
                <a:solidFill>
                  <a:schemeClr val="accent2"/>
                </a:solidFill>
              </a:rPr>
              <a:t>∥</a:t>
            </a:r>
            <a:r>
              <a:rPr lang="en-US" dirty="0"/>
              <a:t> reaches roundoff error, </a:t>
            </a:r>
          </a:p>
          <a:p>
            <a:pPr>
              <a:lnSpc>
                <a:spcPct val="100000"/>
              </a:lnSpc>
            </a:pPr>
            <a:r>
              <a:rPr lang="en-US" dirty="0"/>
              <a:t>Same behavior is seen with smoothing alone </a:t>
            </a:r>
          </a:p>
          <a:p>
            <a:pPr>
              <a:lnSpc>
                <a:spcPct val="100000"/>
              </a:lnSpc>
            </a:pPr>
            <a:r>
              <a:rPr lang="en-US" dirty="0"/>
              <a:t>More on </a:t>
            </a:r>
            <a:r>
              <a:rPr lang="en-US" dirty="0" err="1"/>
              <a:t>multigrids</a:t>
            </a:r>
            <a:r>
              <a:rPr lang="en-US" dirty="0"/>
              <a:t> in </a:t>
            </a:r>
            <a:r>
              <a:rPr lang="en-US" dirty="0" err="1"/>
              <a:t>zingale</a:t>
            </a:r>
            <a:r>
              <a:rPr lang="en-US" dirty="0"/>
              <a:t> book.</a:t>
            </a:r>
          </a:p>
          <a:p>
            <a:pPr marL="0" indent="0">
              <a:lnSpc>
                <a:spcPct val="100000"/>
              </a:lnSpc>
              <a:buNone/>
            </a:pPr>
            <a:endParaRPr lang="en-US" dirty="0"/>
          </a:p>
        </p:txBody>
      </p:sp>
      <p:pic>
        <p:nvPicPr>
          <p:cNvPr id="4" name="Picture 3">
            <a:extLst>
              <a:ext uri="{FF2B5EF4-FFF2-40B4-BE49-F238E27FC236}">
                <a16:creationId xmlns:a16="http://schemas.microsoft.com/office/drawing/2014/main" id="{651ABC1F-FAAA-6E4F-A958-C4C586A6F5E2}"/>
              </a:ext>
            </a:extLst>
          </p:cNvPr>
          <p:cNvPicPr>
            <a:picLocks noChangeAspect="1"/>
          </p:cNvPicPr>
          <p:nvPr/>
        </p:nvPicPr>
        <p:blipFill>
          <a:blip r:embed="rId3"/>
          <a:stretch>
            <a:fillRect/>
          </a:stretch>
        </p:blipFill>
        <p:spPr>
          <a:xfrm>
            <a:off x="4952918" y="1325561"/>
            <a:ext cx="7239082" cy="5354937"/>
          </a:xfrm>
          <a:prstGeom prst="rect">
            <a:avLst/>
          </a:prstGeom>
        </p:spPr>
      </p:pic>
    </p:spTree>
    <p:extLst>
      <p:ext uri="{BB962C8B-B14F-4D97-AF65-F5344CB8AC3E}">
        <p14:creationId xmlns:p14="http://schemas.microsoft.com/office/powerpoint/2010/main" val="2712705816"/>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141D9F-1467-1B4D-BAFB-2DE729B6C190}"/>
              </a:ext>
            </a:extLst>
          </p:cNvPr>
          <p:cNvSpPr>
            <a:spLocks noGrp="1"/>
          </p:cNvSpPr>
          <p:nvPr>
            <p:ph type="ctrTitle"/>
          </p:nvPr>
        </p:nvSpPr>
        <p:spPr/>
        <p:txBody>
          <a:bodyPr>
            <a:normAutofit fontScale="90000"/>
          </a:bodyPr>
          <a:lstStyle/>
          <a:p>
            <a:pPr rtl="1"/>
            <a:r>
              <a:rPr lang="en-US" dirty="0"/>
              <a:t>Lecture 9 - Parabolic equations:</a:t>
            </a:r>
            <a:br>
              <a:rPr lang="en-US" dirty="0"/>
            </a:br>
            <a:r>
              <a:rPr lang="en-US" dirty="0"/>
              <a:t>Diffusion &amp; Heat flow</a:t>
            </a:r>
          </a:p>
        </p:txBody>
      </p:sp>
      <p:sp>
        <p:nvSpPr>
          <p:cNvPr id="3" name="Subtitle 2">
            <a:extLst>
              <a:ext uri="{FF2B5EF4-FFF2-40B4-BE49-F238E27FC236}">
                <a16:creationId xmlns:a16="http://schemas.microsoft.com/office/drawing/2014/main" id="{F8EA75A3-2CBB-D746-AD39-559589D7A37A}"/>
              </a:ext>
            </a:extLst>
          </p:cNvPr>
          <p:cNvSpPr>
            <a:spLocks noGrp="1"/>
          </p:cNvSpPr>
          <p:nvPr>
            <p:ph type="subTitle" idx="1"/>
          </p:nvPr>
        </p:nvSpPr>
        <p:spPr/>
        <p:txBody>
          <a:bodyPr>
            <a:normAutofit lnSpcReduction="10000"/>
          </a:bodyPr>
          <a:lstStyle/>
          <a:p>
            <a:r>
              <a:rPr lang="en-US" dirty="0"/>
              <a:t>Omer Bromberg</a:t>
            </a:r>
          </a:p>
          <a:p>
            <a:r>
              <a:rPr lang="en-US" dirty="0">
                <a:hlinkClick r:id="rId2"/>
              </a:rPr>
              <a:t>omerbr@tauex.tau.ac.il</a:t>
            </a:r>
            <a:endParaRPr lang="en-US" dirty="0"/>
          </a:p>
          <a:p>
            <a:endParaRPr lang="en-US" dirty="0"/>
          </a:p>
          <a:p>
            <a:r>
              <a:rPr lang="en-US" dirty="0"/>
              <a:t>Winter 2025/6</a:t>
            </a:r>
          </a:p>
          <a:p>
            <a:endParaRPr lang="en-US" dirty="0"/>
          </a:p>
        </p:txBody>
      </p:sp>
      <p:sp>
        <p:nvSpPr>
          <p:cNvPr id="4" name="Rectangle 3">
            <a:extLst>
              <a:ext uri="{FF2B5EF4-FFF2-40B4-BE49-F238E27FC236}">
                <a16:creationId xmlns:a16="http://schemas.microsoft.com/office/drawing/2014/main" id="{E013940A-ADC4-6B42-90E0-BE06CF05B46B}"/>
              </a:ext>
            </a:extLst>
          </p:cNvPr>
          <p:cNvSpPr/>
          <p:nvPr/>
        </p:nvSpPr>
        <p:spPr>
          <a:xfrm>
            <a:off x="0" y="6488668"/>
            <a:ext cx="4735335" cy="369332"/>
          </a:xfrm>
          <a:prstGeom prst="rect">
            <a:avLst/>
          </a:prstGeom>
        </p:spPr>
        <p:txBody>
          <a:bodyPr wrap="none">
            <a:spAutoFit/>
          </a:bodyPr>
          <a:lstStyle/>
          <a:p>
            <a:r>
              <a:rPr lang="en-US" dirty="0"/>
              <a:t>Modified from lecture notes by </a:t>
            </a:r>
            <a:r>
              <a:rPr lang="en-US" dirty="0">
                <a:hlinkClick r:id="rId3"/>
              </a:rPr>
              <a:t>Michael</a:t>
            </a:r>
            <a:r>
              <a:rPr lang="en-US" dirty="0">
                <a:hlinkClick r:id="rId4"/>
              </a:rPr>
              <a:t> Zingale</a:t>
            </a:r>
            <a:r>
              <a:rPr lang="en-US" dirty="0"/>
              <a:t> </a:t>
            </a:r>
          </a:p>
        </p:txBody>
      </p:sp>
    </p:spTree>
    <p:extLst>
      <p:ext uri="{BB962C8B-B14F-4D97-AF65-F5344CB8AC3E}">
        <p14:creationId xmlns:p14="http://schemas.microsoft.com/office/powerpoint/2010/main" val="589130819"/>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DCE2F9-F4C3-DA4C-B0FC-7FF6F22D148C}"/>
              </a:ext>
            </a:extLst>
          </p:cNvPr>
          <p:cNvSpPr>
            <a:spLocks noGrp="1"/>
          </p:cNvSpPr>
          <p:nvPr>
            <p:ph type="title"/>
          </p:nvPr>
        </p:nvSpPr>
        <p:spPr>
          <a:xfrm>
            <a:off x="838200" y="0"/>
            <a:ext cx="10515600" cy="1325563"/>
          </a:xfrm>
        </p:spPr>
        <p:txBody>
          <a:bodyPr/>
          <a:lstStyle/>
          <a:p>
            <a:r>
              <a:rPr lang="en-US" dirty="0"/>
              <a:t>Diffusion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5C4FD65-F675-944D-A379-3A5FFFAEB784}"/>
                  </a:ext>
                </a:extLst>
              </p:cNvPr>
              <p:cNvSpPr>
                <a:spLocks noGrp="1"/>
              </p:cNvSpPr>
              <p:nvPr>
                <p:ph idx="1"/>
              </p:nvPr>
            </p:nvSpPr>
            <p:spPr>
              <a:xfrm>
                <a:off x="387275" y="1325562"/>
                <a:ext cx="10966525" cy="5747042"/>
              </a:xfrm>
            </p:spPr>
            <p:txBody>
              <a:bodyPr>
                <a:normAutofit/>
              </a:bodyPr>
              <a:lstStyle/>
              <a:p>
                <a:r>
                  <a:rPr lang="en-US" dirty="0"/>
                  <a:t>Diffusion takes a strongly-peaked concentration of </a:t>
                </a:r>
                <a14:m>
                  <m:oMath xmlns:m="http://schemas.openxmlformats.org/officeDocument/2006/math">
                    <m:r>
                      <a:rPr lang="en-US" b="0" i="1" smtClean="0">
                        <a:latin typeface="Cambria Math" panose="02040503050406030204" pitchFamily="18" charset="0"/>
                      </a:rPr>
                      <m:t>𝜙</m:t>
                    </m:r>
                  </m:oMath>
                </a14:m>
                <a:r>
                  <a:rPr lang="en-US" dirty="0"/>
                  <a:t> and spreads it out.</a:t>
                </a:r>
              </a:p>
              <a:p>
                <a:r>
                  <a:rPr lang="en-US" dirty="0"/>
                  <a:t>A diffusive process obeys Fick’s law stating that </a:t>
                </a:r>
                <a14:m>
                  <m:oMath xmlns:m="http://schemas.openxmlformats.org/officeDocument/2006/math">
                    <m:r>
                      <a:rPr lang="en-US" i="1">
                        <a:latin typeface="Cambria Math" panose="02040503050406030204" pitchFamily="18" charset="0"/>
                      </a:rPr>
                      <m:t>𝜙</m:t>
                    </m:r>
                  </m:oMath>
                </a14:m>
                <a:r>
                  <a:rPr lang="en-US" dirty="0"/>
                  <a:t> moves from higher to lower concentration at a rate proportional to the gradient </a:t>
                </a:r>
              </a:p>
              <a:p>
                <a:pPr marL="0" indent="0">
                  <a:lnSpc>
                    <a:spcPct val="150000"/>
                  </a:lnSpc>
                  <a:buNone/>
                </a:pPr>
                <a14:m>
                  <m:oMathPara xmlns:m="http://schemas.openxmlformats.org/officeDocument/2006/math">
                    <m:oMathParaPr>
                      <m:jc m:val="centerGroup"/>
                    </m:oMathParaPr>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𝐹</m:t>
                          </m:r>
                        </m:e>
                      </m:acc>
                      <m:r>
                        <a:rPr lang="en-US" b="0" i="1" dirty="0" smtClean="0">
                          <a:latin typeface="Cambria Math" panose="02040503050406030204" pitchFamily="18" charset="0"/>
                        </a:rPr>
                        <m:t>=−</m:t>
                      </m:r>
                      <m:r>
                        <a:rPr lang="en-US" b="0" i="1" dirty="0" smtClean="0">
                          <a:latin typeface="Cambria Math" panose="02040503050406030204" pitchFamily="18" charset="0"/>
                        </a:rPr>
                        <m:t>𝑘</m:t>
                      </m:r>
                      <m:acc>
                        <m:accPr>
                          <m:chr m:val="⃗"/>
                          <m:ctrlPr>
                            <a:rPr lang="en-US" b="0" i="1" dirty="0" smtClean="0">
                              <a:latin typeface="Cambria Math" panose="02040503050406030204" pitchFamily="18" charset="0"/>
                            </a:rPr>
                          </m:ctrlPr>
                        </m:accPr>
                        <m:e>
                          <m:r>
                            <m:rPr>
                              <m:sty m:val="p"/>
                            </m:rPr>
                            <a:rPr lang="en-US" b="0" i="0" dirty="0" smtClean="0">
                              <a:latin typeface="Cambria Math" panose="02040503050406030204" pitchFamily="18" charset="0"/>
                            </a:rPr>
                            <m:t>∇</m:t>
                          </m:r>
                        </m:e>
                      </m:acc>
                      <m:r>
                        <a:rPr lang="en-US" b="0" i="1" dirty="0" smtClean="0">
                          <a:latin typeface="Cambria Math" panose="02040503050406030204" pitchFamily="18" charset="0"/>
                        </a:rPr>
                        <m:t>𝜙</m:t>
                      </m:r>
                    </m:oMath>
                  </m:oMathPara>
                </a14:m>
                <a:endParaRPr lang="en-US" dirty="0"/>
              </a:p>
              <a:p>
                <a:r>
                  <a:rPr lang="en-US" dirty="0"/>
                  <a:t>We can write the time-rate-of-change of </a:t>
                </a:r>
                <a14:m>
                  <m:oMath xmlns:m="http://schemas.openxmlformats.org/officeDocument/2006/math">
                    <m:r>
                      <a:rPr lang="en-US" b="0" i="1" smtClean="0">
                        <a:latin typeface="Cambria Math" panose="02040503050406030204" pitchFamily="18" charset="0"/>
                      </a:rPr>
                      <m:t>𝜙</m:t>
                    </m:r>
                  </m:oMath>
                </a14:m>
                <a:r>
                  <a:rPr lang="en-US" dirty="0"/>
                  <a:t> as a conservation law:</a:t>
                </a:r>
              </a:p>
              <a:p>
                <a:pPr marL="0" indent="0">
                  <a:lnSpc>
                    <a:spcPct val="150000"/>
                  </a:lnSpc>
                  <a:buNone/>
                </a:pPr>
                <a14:m>
                  <m:oMathPara xmlns:m="http://schemas.openxmlformats.org/officeDocument/2006/math">
                    <m:oMathParaPr>
                      <m:jc m:val="centerGroup"/>
                    </m:oMathParaPr>
                    <m:oMath xmlns:m="http://schemas.openxmlformats.org/officeDocument/2006/math">
                      <m:f>
                        <m:fPr>
                          <m:ctrlPr>
                            <a:rPr lang="en-US" b="0" i="1" smtClean="0">
                              <a:latin typeface="Cambria Math" panose="02040503050406030204" pitchFamily="18" charset="0"/>
                            </a:rPr>
                          </m:ctrlPr>
                        </m:fPr>
                        <m:num>
                          <m:r>
                            <a:rPr lang="en-US" b="0" i="1" smtClean="0">
                              <a:latin typeface="Cambria Math" panose="02040503050406030204" pitchFamily="18" charset="0"/>
                            </a:rPr>
                            <m:t>𝜕𝜙</m:t>
                          </m:r>
                        </m:num>
                        <m:den>
                          <m:r>
                            <a:rPr lang="en-US" b="0" i="1" smtClean="0">
                              <a:latin typeface="Cambria Math" panose="02040503050406030204" pitchFamily="18" charset="0"/>
                            </a:rPr>
                            <m:t>𝜕</m:t>
                          </m:r>
                          <m:r>
                            <a:rPr lang="en-US" b="0" i="1" smtClean="0">
                              <a:latin typeface="Cambria Math" panose="02040503050406030204" pitchFamily="18" charset="0"/>
                            </a:rPr>
                            <m:t>𝑡</m:t>
                          </m:r>
                        </m:den>
                      </m:f>
                      <m:r>
                        <a:rPr lang="en-US" b="0" i="1" smtClean="0">
                          <a:latin typeface="Cambria Math" panose="02040503050406030204" pitchFamily="18" charset="0"/>
                        </a:rPr>
                        <m:t>+</m:t>
                      </m:r>
                      <m:acc>
                        <m:accPr>
                          <m:chr m:val="⃗"/>
                          <m:ctrlPr>
                            <a:rPr lang="en-US" b="0" i="1" smtClean="0">
                              <a:latin typeface="Cambria Math" panose="02040503050406030204" pitchFamily="18" charset="0"/>
                            </a:rPr>
                          </m:ctrlPr>
                        </m:accPr>
                        <m:e>
                          <m:r>
                            <m:rPr>
                              <m:sty m:val="p"/>
                            </m:rPr>
                            <a:rPr lang="en-US" b="0" i="0" smtClean="0">
                              <a:latin typeface="Cambria Math" panose="02040503050406030204" pitchFamily="18" charset="0"/>
                            </a:rPr>
                            <m:t>∇</m:t>
                          </m:r>
                        </m:e>
                      </m:acc>
                      <m:r>
                        <a:rPr lang="en-US" b="0" i="1" dirty="0" smtClean="0">
                          <a:latin typeface="Cambria Math" panose="02040503050406030204" pitchFamily="18" charset="0"/>
                        </a:rPr>
                        <m:t>⋅</m:t>
                      </m:r>
                      <m:acc>
                        <m:accPr>
                          <m:chr m:val="⃗"/>
                          <m:ctrlPr>
                            <a:rPr lang="en-US" b="0" i="1" dirty="0" smtClean="0">
                              <a:latin typeface="Cambria Math" panose="02040503050406030204" pitchFamily="18" charset="0"/>
                            </a:rPr>
                          </m:ctrlPr>
                        </m:accPr>
                        <m:e>
                          <m:r>
                            <a:rPr lang="en-US" b="0" i="1" dirty="0" smtClean="0">
                              <a:latin typeface="Cambria Math" panose="02040503050406030204" pitchFamily="18" charset="0"/>
                            </a:rPr>
                            <m:t>𝐹</m:t>
                          </m:r>
                        </m:e>
                      </m:acc>
                      <m:d>
                        <m:dPr>
                          <m:ctrlPr>
                            <a:rPr lang="en-US" b="0" i="1" dirty="0" smtClean="0">
                              <a:latin typeface="Cambria Math" panose="02040503050406030204" pitchFamily="18" charset="0"/>
                            </a:rPr>
                          </m:ctrlPr>
                        </m:dPr>
                        <m:e>
                          <m:r>
                            <a:rPr lang="en-US" b="0" i="1" dirty="0" smtClean="0">
                              <a:latin typeface="Cambria Math" panose="02040503050406030204" pitchFamily="18" charset="0"/>
                            </a:rPr>
                            <m:t>𝜙</m:t>
                          </m:r>
                        </m:e>
                      </m:d>
                      <m:r>
                        <a:rPr lang="en-US" b="0" i="1" dirty="0" smtClean="0">
                          <a:latin typeface="Cambria Math" panose="02040503050406030204" pitchFamily="18" charset="0"/>
                        </a:rPr>
                        <m:t>=0</m:t>
                      </m:r>
                    </m:oMath>
                  </m:oMathPara>
                </a14:m>
                <a:endParaRPr lang="en-US" dirty="0"/>
              </a:p>
              <a:p>
                <a:pPr marL="0" indent="0">
                  <a:buNone/>
                </a:pPr>
                <a:r>
                  <a:rPr lang="en-US" dirty="0"/>
                  <a:t>   giving the diffusion equation</a:t>
                </a:r>
              </a:p>
              <a:p>
                <a:pPr marL="0" indent="0">
                  <a:lnSpc>
                    <a:spcPct val="150000"/>
                  </a:lnSpc>
                  <a:buNone/>
                </a:pPr>
                <a14:m>
                  <m:oMathPara xmlns:m="http://schemas.openxmlformats.org/officeDocument/2006/math">
                    <m:oMathParaPr>
                      <m:jc m:val="centerGroup"/>
                    </m:oMathParaPr>
                    <m:oMath xmlns:m="http://schemas.openxmlformats.org/officeDocument/2006/math">
                      <m:f>
                        <m:fPr>
                          <m:ctrlPr>
                            <a:rPr lang="en-US" i="1">
                              <a:latin typeface="Cambria Math" panose="02040503050406030204" pitchFamily="18" charset="0"/>
                            </a:rPr>
                          </m:ctrlPr>
                        </m:fPr>
                        <m:num>
                          <m:r>
                            <a:rPr lang="en-US" i="1">
                              <a:latin typeface="Cambria Math" panose="02040503050406030204" pitchFamily="18" charset="0"/>
                            </a:rPr>
                            <m:t>𝜕𝜙</m:t>
                          </m:r>
                        </m:num>
                        <m:den>
                          <m:r>
                            <a:rPr lang="en-US" i="1">
                              <a:latin typeface="Cambria Math" panose="02040503050406030204" pitchFamily="18" charset="0"/>
                            </a:rPr>
                            <m:t>𝜕</m:t>
                          </m:r>
                          <m:r>
                            <a:rPr lang="en-US" i="1">
                              <a:latin typeface="Cambria Math" panose="02040503050406030204" pitchFamily="18" charset="0"/>
                            </a:rPr>
                            <m:t>𝑡</m:t>
                          </m:r>
                        </m:den>
                      </m:f>
                      <m:r>
                        <a:rPr lang="en-US" b="0" i="1" smtClean="0">
                          <a:latin typeface="Cambria Math" panose="02040503050406030204" pitchFamily="18" charset="0"/>
                        </a:rPr>
                        <m:t>=</m:t>
                      </m:r>
                      <m:r>
                        <m:rPr>
                          <m:sty m:val="p"/>
                        </m:rPr>
                        <a:rPr lang="en-US" b="0" i="0" smtClean="0">
                          <a:latin typeface="Cambria Math" panose="02040503050406030204" pitchFamily="18" charset="0"/>
                        </a:rPr>
                        <m:t>∇</m:t>
                      </m:r>
                      <m:r>
                        <a:rPr lang="en-US" b="0" i="1" smtClean="0">
                          <a:latin typeface="Cambria Math" panose="02040503050406030204" pitchFamily="18" charset="0"/>
                        </a:rPr>
                        <m:t>⋅(</m:t>
                      </m:r>
                      <m:r>
                        <a:rPr lang="en-US" b="0" i="1" smtClean="0">
                          <a:latin typeface="Cambria Math" panose="02040503050406030204" pitchFamily="18" charset="0"/>
                        </a:rPr>
                        <m:t>𝑘</m:t>
                      </m:r>
                      <m:r>
                        <m:rPr>
                          <m:sty m:val="p"/>
                        </m:rPr>
                        <a:rPr lang="en-US" b="0" i="0" smtClean="0">
                          <a:latin typeface="Cambria Math" panose="02040503050406030204" pitchFamily="18" charset="0"/>
                        </a:rPr>
                        <m:t>∇</m:t>
                      </m:r>
                      <m:r>
                        <a:rPr lang="en-US" b="0" i="1" smtClean="0">
                          <a:latin typeface="Cambria Math" panose="02040503050406030204" pitchFamily="18" charset="0"/>
                        </a:rPr>
                        <m:t>𝜙</m:t>
                      </m:r>
                      <m:r>
                        <a:rPr lang="en-US" b="0" i="1" smtClean="0">
                          <a:latin typeface="Cambria Math" panose="02040503050406030204" pitchFamily="18" charset="0"/>
                        </a:rPr>
                        <m:t>)</m:t>
                      </m:r>
                    </m:oMath>
                  </m:oMathPara>
                </a14:m>
                <a:endParaRPr lang="en-US" dirty="0"/>
              </a:p>
              <a:p>
                <a:endParaRPr lang="en-US" dirty="0"/>
              </a:p>
              <a:p>
                <a:endParaRPr lang="en-US" dirty="0"/>
              </a:p>
            </p:txBody>
          </p:sp>
        </mc:Choice>
        <mc:Fallback xmlns="">
          <p:sp>
            <p:nvSpPr>
              <p:cNvPr id="3" name="Content Placeholder 2">
                <a:extLst>
                  <a:ext uri="{FF2B5EF4-FFF2-40B4-BE49-F238E27FC236}">
                    <a16:creationId xmlns:a16="http://schemas.microsoft.com/office/drawing/2014/main" id="{15C4FD65-F675-944D-A379-3A5FFFAEB784}"/>
                  </a:ext>
                </a:extLst>
              </p:cNvPr>
              <p:cNvSpPr>
                <a:spLocks noGrp="1" noRot="1" noChangeAspect="1" noMove="1" noResize="1" noEditPoints="1" noAdjustHandles="1" noChangeArrowheads="1" noChangeShapeType="1" noTextEdit="1"/>
              </p:cNvSpPr>
              <p:nvPr>
                <p:ph idx="1"/>
              </p:nvPr>
            </p:nvSpPr>
            <p:spPr>
              <a:xfrm>
                <a:off x="387275" y="1325562"/>
                <a:ext cx="10966525" cy="5747042"/>
              </a:xfrm>
              <a:blipFill>
                <a:blip r:embed="rId2"/>
                <a:stretch>
                  <a:fillRect l="-809" t="-1542"/>
                </a:stretch>
              </a:blipFill>
            </p:spPr>
            <p:txBody>
              <a:bodyPr/>
              <a:lstStyle/>
              <a:p>
                <a:r>
                  <a:rPr lang="en-US">
                    <a:noFill/>
                  </a:rPr>
                  <a:t> </a:t>
                </a:r>
              </a:p>
            </p:txBody>
          </p:sp>
        </mc:Fallback>
      </mc:AlternateContent>
    </p:spTree>
    <p:extLst>
      <p:ext uri="{BB962C8B-B14F-4D97-AF65-F5344CB8AC3E}">
        <p14:creationId xmlns:p14="http://schemas.microsoft.com/office/powerpoint/2010/main" val="2402933906"/>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DCE2F9-F4C3-DA4C-B0FC-7FF6F22D148C}"/>
              </a:ext>
            </a:extLst>
          </p:cNvPr>
          <p:cNvSpPr>
            <a:spLocks noGrp="1"/>
          </p:cNvSpPr>
          <p:nvPr>
            <p:ph type="title"/>
          </p:nvPr>
        </p:nvSpPr>
        <p:spPr>
          <a:xfrm>
            <a:off x="838200" y="0"/>
            <a:ext cx="10515600" cy="1325563"/>
          </a:xfrm>
        </p:spPr>
        <p:txBody>
          <a:bodyPr/>
          <a:lstStyle/>
          <a:p>
            <a:r>
              <a:rPr lang="en-US" dirty="0"/>
              <a:t>Diffusion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5C4FD65-F675-944D-A379-3A5FFFAEB784}"/>
                  </a:ext>
                </a:extLst>
              </p:cNvPr>
              <p:cNvSpPr>
                <a:spLocks noGrp="1"/>
              </p:cNvSpPr>
              <p:nvPr>
                <p:ph idx="1"/>
              </p:nvPr>
            </p:nvSpPr>
            <p:spPr>
              <a:xfrm>
                <a:off x="387275" y="1325562"/>
                <a:ext cx="10966525" cy="5532437"/>
              </a:xfrm>
            </p:spPr>
            <p:txBody>
              <a:bodyPr/>
              <a:lstStyle/>
              <a:p>
                <a:pPr marL="0" indent="0">
                  <a:lnSpc>
                    <a:spcPct val="150000"/>
                  </a:lnSpc>
                  <a:buNone/>
                </a:pPr>
                <a14:m>
                  <m:oMathPara xmlns:m="http://schemas.openxmlformats.org/officeDocument/2006/math">
                    <m:oMathParaPr>
                      <m:jc m:val="centerGroup"/>
                    </m:oMathParaPr>
                    <m:oMath xmlns:m="http://schemas.openxmlformats.org/officeDocument/2006/math">
                      <m:f>
                        <m:fPr>
                          <m:ctrlPr>
                            <a:rPr lang="en-US" i="1" smtClean="0">
                              <a:latin typeface="Cambria Math" panose="02040503050406030204" pitchFamily="18" charset="0"/>
                            </a:rPr>
                          </m:ctrlPr>
                        </m:fPr>
                        <m:num>
                          <m:r>
                            <a:rPr lang="en-US" i="1">
                              <a:latin typeface="Cambria Math" panose="02040503050406030204" pitchFamily="18" charset="0"/>
                            </a:rPr>
                            <m:t>𝜕𝜙</m:t>
                          </m:r>
                        </m:num>
                        <m:den>
                          <m:r>
                            <a:rPr lang="en-US" i="1">
                              <a:latin typeface="Cambria Math" panose="02040503050406030204" pitchFamily="18" charset="0"/>
                            </a:rPr>
                            <m:t>𝜕</m:t>
                          </m:r>
                          <m:r>
                            <a:rPr lang="en-US" i="1">
                              <a:latin typeface="Cambria Math" panose="02040503050406030204" pitchFamily="18" charset="0"/>
                            </a:rPr>
                            <m:t>𝑡</m:t>
                          </m:r>
                        </m:den>
                      </m:f>
                      <m:r>
                        <a:rPr lang="en-US" b="0" i="1" smtClean="0">
                          <a:latin typeface="Cambria Math" panose="02040503050406030204" pitchFamily="18" charset="0"/>
                        </a:rPr>
                        <m:t>=</m:t>
                      </m:r>
                      <m:r>
                        <m:rPr>
                          <m:sty m:val="p"/>
                        </m:rPr>
                        <a:rPr lang="en-US" b="0" i="0" smtClean="0">
                          <a:latin typeface="Cambria Math" panose="02040503050406030204" pitchFamily="18" charset="0"/>
                        </a:rPr>
                        <m:t>∇</m:t>
                      </m:r>
                      <m:r>
                        <a:rPr lang="en-US" b="0" i="1" smtClean="0">
                          <a:latin typeface="Cambria Math" panose="02040503050406030204" pitchFamily="18" charset="0"/>
                        </a:rPr>
                        <m:t>⋅(</m:t>
                      </m:r>
                      <m:r>
                        <a:rPr lang="en-US" b="0" i="1" smtClean="0">
                          <a:latin typeface="Cambria Math" panose="02040503050406030204" pitchFamily="18" charset="0"/>
                        </a:rPr>
                        <m:t>𝑘</m:t>
                      </m:r>
                      <m:r>
                        <m:rPr>
                          <m:sty m:val="p"/>
                        </m:rPr>
                        <a:rPr lang="en-US" b="0" i="0" smtClean="0">
                          <a:latin typeface="Cambria Math" panose="02040503050406030204" pitchFamily="18" charset="0"/>
                        </a:rPr>
                        <m:t>∇</m:t>
                      </m:r>
                      <m:r>
                        <a:rPr lang="en-US" b="0" i="1" smtClean="0">
                          <a:latin typeface="Cambria Math" panose="02040503050406030204" pitchFamily="18" charset="0"/>
                        </a:rPr>
                        <m:t>𝜙</m:t>
                      </m:r>
                      <m:r>
                        <a:rPr lang="en-US" b="0" i="1" smtClean="0">
                          <a:latin typeface="Cambria Math" panose="02040503050406030204" pitchFamily="18" charset="0"/>
                        </a:rPr>
                        <m:t>)</m:t>
                      </m:r>
                    </m:oMath>
                  </m:oMathPara>
                </a14:m>
                <a:endParaRPr lang="en-US" dirty="0"/>
              </a:p>
              <a:p>
                <a:r>
                  <a:rPr lang="en-US" dirty="0"/>
                  <a:t>Diffusion has a time-dependence like the advection equation.</a:t>
                </a:r>
              </a:p>
              <a:p>
                <a:r>
                  <a:rPr lang="en-US" dirty="0"/>
                  <a:t>It also has a global character like an elliptic problem. </a:t>
                </a:r>
              </a:p>
              <a:p>
                <a:r>
                  <a:rPr lang="en-US" dirty="0"/>
                  <a:t>Unlike advection, there is no sense of </a:t>
                </a:r>
                <a:r>
                  <a:rPr lang="en-US" dirty="0" err="1"/>
                  <a:t>upwinding</a:t>
                </a:r>
                <a:r>
                  <a:rPr lang="en-US" dirty="0"/>
                  <a:t> in diffusion </a:t>
                </a:r>
                <a:r>
                  <a:rPr lang="en-US" dirty="0">
                    <a:solidFill>
                      <a:srgbClr val="FF0000"/>
                    </a:solidFill>
                  </a:rPr>
                  <a:t>(why?)</a:t>
                </a:r>
              </a:p>
              <a:p>
                <a:endParaRPr lang="en-US" dirty="0"/>
              </a:p>
            </p:txBody>
          </p:sp>
        </mc:Choice>
        <mc:Fallback xmlns="">
          <p:sp>
            <p:nvSpPr>
              <p:cNvPr id="3" name="Content Placeholder 2">
                <a:extLst>
                  <a:ext uri="{FF2B5EF4-FFF2-40B4-BE49-F238E27FC236}">
                    <a16:creationId xmlns:a16="http://schemas.microsoft.com/office/drawing/2014/main" id="{15C4FD65-F675-944D-A379-3A5FFFAEB784}"/>
                  </a:ext>
                </a:extLst>
              </p:cNvPr>
              <p:cNvSpPr>
                <a:spLocks noGrp="1" noRot="1" noChangeAspect="1" noMove="1" noResize="1" noEditPoints="1" noAdjustHandles="1" noChangeArrowheads="1" noChangeShapeType="1" noTextEdit="1"/>
              </p:cNvSpPr>
              <p:nvPr>
                <p:ph idx="1"/>
              </p:nvPr>
            </p:nvSpPr>
            <p:spPr>
              <a:xfrm>
                <a:off x="387275" y="1325562"/>
                <a:ext cx="10966525" cy="5532437"/>
              </a:xfrm>
              <a:blipFill>
                <a:blip r:embed="rId3"/>
                <a:stretch>
                  <a:fillRect l="-809"/>
                </a:stretch>
              </a:blipFill>
            </p:spPr>
            <p:txBody>
              <a:bodyPr/>
              <a:lstStyle/>
              <a:p>
                <a:r>
                  <a:rPr lang="en-US">
                    <a:noFill/>
                  </a:rPr>
                  <a:t> </a:t>
                </a:r>
              </a:p>
            </p:txBody>
          </p:sp>
        </mc:Fallback>
      </mc:AlternateContent>
    </p:spTree>
    <p:extLst>
      <p:ext uri="{BB962C8B-B14F-4D97-AF65-F5344CB8AC3E}">
        <p14:creationId xmlns:p14="http://schemas.microsoft.com/office/powerpoint/2010/main" val="1757480315"/>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DCE2F9-F4C3-DA4C-B0FC-7FF6F22D148C}"/>
              </a:ext>
            </a:extLst>
          </p:cNvPr>
          <p:cNvSpPr>
            <a:spLocks noGrp="1"/>
          </p:cNvSpPr>
          <p:nvPr>
            <p:ph type="title"/>
          </p:nvPr>
        </p:nvSpPr>
        <p:spPr>
          <a:xfrm>
            <a:off x="838200" y="0"/>
            <a:ext cx="10515600" cy="1325563"/>
          </a:xfrm>
        </p:spPr>
        <p:txBody>
          <a:bodyPr/>
          <a:lstStyle/>
          <a:p>
            <a:r>
              <a:rPr lang="en-US" dirty="0"/>
              <a:t>Explicit Discretization of Diffusion in 1D</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5C4FD65-F675-944D-A379-3A5FFFAEB784}"/>
                  </a:ext>
                </a:extLst>
              </p:cNvPr>
              <p:cNvSpPr>
                <a:spLocks noGrp="1"/>
              </p:cNvSpPr>
              <p:nvPr>
                <p:ph idx="1"/>
              </p:nvPr>
            </p:nvSpPr>
            <p:spPr>
              <a:xfrm>
                <a:off x="258184" y="1325562"/>
                <a:ext cx="11095616" cy="5532437"/>
              </a:xfrm>
            </p:spPr>
            <p:txBody>
              <a:bodyPr>
                <a:normAutofit/>
              </a:bodyPr>
              <a:lstStyle/>
              <a:p>
                <a:r>
                  <a:rPr lang="en-US" dirty="0"/>
                  <a:t>In the simple 1D case with a constant </a:t>
                </a:r>
                <a14:m>
                  <m:oMath xmlns:m="http://schemas.openxmlformats.org/officeDocument/2006/math">
                    <m:r>
                      <a:rPr lang="en-US" i="1">
                        <a:latin typeface="Cambria Math" panose="02040503050406030204" pitchFamily="18" charset="0"/>
                      </a:rPr>
                      <m:t>𝑘</m:t>
                    </m:r>
                  </m:oMath>
                </a14:m>
                <a:r>
                  <a:rPr lang="en-US" dirty="0"/>
                  <a:t> the diffusion equation is</a:t>
                </a:r>
              </a:p>
              <a:p>
                <a:pPr marL="0" indent="0">
                  <a:lnSpc>
                    <a:spcPct val="160000"/>
                  </a:lnSpc>
                  <a:buNone/>
                </a:pPr>
                <a14:m>
                  <m:oMathPara xmlns:m="http://schemas.openxmlformats.org/officeDocument/2006/math">
                    <m:oMathParaPr>
                      <m:jc m:val="centerGroup"/>
                    </m:oMathParaPr>
                    <m:oMath xmlns:m="http://schemas.openxmlformats.org/officeDocument/2006/math">
                      <m:f>
                        <m:fPr>
                          <m:ctrlPr>
                            <a:rPr lang="en-US" i="1">
                              <a:latin typeface="Cambria Math" panose="02040503050406030204" pitchFamily="18" charset="0"/>
                            </a:rPr>
                          </m:ctrlPr>
                        </m:fPr>
                        <m:num>
                          <m:r>
                            <a:rPr lang="en-US" i="1">
                              <a:latin typeface="Cambria Math" panose="02040503050406030204" pitchFamily="18" charset="0"/>
                            </a:rPr>
                            <m:t>𝜕𝜙</m:t>
                          </m:r>
                        </m:num>
                        <m:den>
                          <m:r>
                            <a:rPr lang="en-US" i="1">
                              <a:latin typeface="Cambria Math" panose="02040503050406030204" pitchFamily="18" charset="0"/>
                            </a:rPr>
                            <m:t>𝜕</m:t>
                          </m:r>
                          <m:r>
                            <a:rPr lang="en-US" i="1">
                              <a:latin typeface="Cambria Math" panose="02040503050406030204" pitchFamily="18" charset="0"/>
                            </a:rPr>
                            <m:t>𝑡</m:t>
                          </m:r>
                        </m:den>
                      </m:f>
                      <m:r>
                        <a:rPr lang="en-US" i="1">
                          <a:latin typeface="Cambria Math" panose="02040503050406030204" pitchFamily="18" charset="0"/>
                        </a:rPr>
                        <m:t>=</m:t>
                      </m:r>
                      <m:r>
                        <a:rPr lang="en-US" i="1">
                          <a:latin typeface="Cambria Math" panose="02040503050406030204" pitchFamily="18" charset="0"/>
                        </a:rPr>
                        <m:t>𝑘</m:t>
                      </m:r>
                      <m:f>
                        <m:fPr>
                          <m:ctrlPr>
                            <a:rPr lang="en-US" i="1">
                              <a:latin typeface="Cambria Math" panose="02040503050406030204" pitchFamily="18" charset="0"/>
                            </a:rPr>
                          </m:ctrlPr>
                        </m:fPr>
                        <m:num>
                          <m:sSup>
                            <m:sSupPr>
                              <m:ctrlPr>
                                <a:rPr lang="en-US" i="1">
                                  <a:latin typeface="Cambria Math" panose="02040503050406030204" pitchFamily="18" charset="0"/>
                                </a:rPr>
                              </m:ctrlPr>
                            </m:sSupPr>
                            <m:e>
                              <m:r>
                                <a:rPr lang="en-US" i="1">
                                  <a:latin typeface="Cambria Math" panose="02040503050406030204" pitchFamily="18" charset="0"/>
                                </a:rPr>
                                <m:t>𝜕</m:t>
                              </m:r>
                            </m:e>
                            <m:sup>
                              <m:r>
                                <a:rPr lang="en-US" i="1">
                                  <a:latin typeface="Cambria Math" panose="02040503050406030204" pitchFamily="18" charset="0"/>
                                </a:rPr>
                                <m:t>2</m:t>
                              </m:r>
                            </m:sup>
                          </m:sSup>
                          <m:r>
                            <a:rPr lang="en-US" i="1">
                              <a:latin typeface="Cambria Math" panose="02040503050406030204" pitchFamily="18" charset="0"/>
                            </a:rPr>
                            <m:t>𝜙</m:t>
                          </m:r>
                        </m:num>
                        <m:den>
                          <m:r>
                            <a:rPr lang="en-US" i="1">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𝑥</m:t>
                              </m:r>
                            </m:e>
                            <m:sup>
                              <m:r>
                                <a:rPr lang="en-US" i="1">
                                  <a:latin typeface="Cambria Math" panose="02040503050406030204" pitchFamily="18" charset="0"/>
                                </a:rPr>
                                <m:t>2</m:t>
                              </m:r>
                            </m:sup>
                          </m:sSup>
                        </m:den>
                      </m:f>
                    </m:oMath>
                  </m:oMathPara>
                </a14:m>
                <a:endParaRPr lang="en-US" dirty="0"/>
              </a:p>
              <a:p>
                <a:r>
                  <a:rPr lang="en-US" dirty="0">
                    <a:solidFill>
                      <a:srgbClr val="FF0000"/>
                    </a:solidFill>
                  </a:rPr>
                  <a:t>Ex: discretize the diffusion equation using forward-difference in time and the second derivative in space. What is the order of accuracy in time and in space?</a:t>
                </a:r>
              </a:p>
              <a:p>
                <a:pPr marL="0" indent="0">
                  <a:buNone/>
                </a:pPr>
                <a:endParaRPr lang="en-US" dirty="0"/>
              </a:p>
            </p:txBody>
          </p:sp>
        </mc:Choice>
        <mc:Fallback xmlns="">
          <p:sp>
            <p:nvSpPr>
              <p:cNvPr id="3" name="Content Placeholder 2">
                <a:extLst>
                  <a:ext uri="{FF2B5EF4-FFF2-40B4-BE49-F238E27FC236}">
                    <a16:creationId xmlns:a16="http://schemas.microsoft.com/office/drawing/2014/main" id="{15C4FD65-F675-944D-A379-3A5FFFAEB784}"/>
                  </a:ext>
                </a:extLst>
              </p:cNvPr>
              <p:cNvSpPr>
                <a:spLocks noGrp="1" noRot="1" noChangeAspect="1" noMove="1" noResize="1" noEditPoints="1" noAdjustHandles="1" noChangeArrowheads="1" noChangeShapeType="1" noTextEdit="1"/>
              </p:cNvSpPr>
              <p:nvPr>
                <p:ph idx="1"/>
              </p:nvPr>
            </p:nvSpPr>
            <p:spPr>
              <a:xfrm>
                <a:off x="258184" y="1325562"/>
                <a:ext cx="11095616" cy="5532437"/>
              </a:xfrm>
              <a:blipFill>
                <a:blip r:embed="rId3"/>
                <a:stretch>
                  <a:fillRect l="-800" t="-1602" r="-114"/>
                </a:stretch>
              </a:blipFill>
            </p:spPr>
            <p:txBody>
              <a:bodyPr/>
              <a:lstStyle/>
              <a:p>
                <a:r>
                  <a:rPr lang="en-US">
                    <a:noFill/>
                  </a:rPr>
                  <a:t> </a:t>
                </a:r>
              </a:p>
            </p:txBody>
          </p:sp>
        </mc:Fallback>
      </mc:AlternateContent>
    </p:spTree>
    <p:extLst>
      <p:ext uri="{BB962C8B-B14F-4D97-AF65-F5344CB8AC3E}">
        <p14:creationId xmlns:p14="http://schemas.microsoft.com/office/powerpoint/2010/main" val="2353882194"/>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DCE2F9-F4C3-DA4C-B0FC-7FF6F22D148C}"/>
              </a:ext>
            </a:extLst>
          </p:cNvPr>
          <p:cNvSpPr>
            <a:spLocks noGrp="1"/>
          </p:cNvSpPr>
          <p:nvPr>
            <p:ph type="title"/>
          </p:nvPr>
        </p:nvSpPr>
        <p:spPr>
          <a:xfrm>
            <a:off x="838200" y="0"/>
            <a:ext cx="10515600" cy="1325563"/>
          </a:xfrm>
        </p:spPr>
        <p:txBody>
          <a:bodyPr/>
          <a:lstStyle/>
          <a:p>
            <a:r>
              <a:rPr lang="en-US" dirty="0"/>
              <a:t>Explicit Discretization of Diffusion in 1D</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5C4FD65-F675-944D-A379-3A5FFFAEB784}"/>
                  </a:ext>
                </a:extLst>
              </p:cNvPr>
              <p:cNvSpPr>
                <a:spLocks noGrp="1"/>
              </p:cNvSpPr>
              <p:nvPr>
                <p:ph idx="1"/>
              </p:nvPr>
            </p:nvSpPr>
            <p:spPr>
              <a:xfrm>
                <a:off x="258184" y="1325562"/>
                <a:ext cx="11095616" cy="5532437"/>
              </a:xfrm>
            </p:spPr>
            <p:txBody>
              <a:bodyPr>
                <a:normAutofit/>
              </a:bodyPr>
              <a:lstStyle/>
              <a:p>
                <a:r>
                  <a:rPr lang="en-US" dirty="0"/>
                  <a:t>In the simple 1D case with a constant </a:t>
                </a:r>
                <a14:m>
                  <m:oMath xmlns:m="http://schemas.openxmlformats.org/officeDocument/2006/math">
                    <m:r>
                      <a:rPr lang="en-US" i="1">
                        <a:latin typeface="Cambria Math" panose="02040503050406030204" pitchFamily="18" charset="0"/>
                      </a:rPr>
                      <m:t>𝑘</m:t>
                    </m:r>
                  </m:oMath>
                </a14:m>
                <a:r>
                  <a:rPr lang="en-US" dirty="0"/>
                  <a:t> the diffusion equation is</a:t>
                </a:r>
              </a:p>
              <a:p>
                <a:pPr marL="0" indent="0">
                  <a:lnSpc>
                    <a:spcPct val="160000"/>
                  </a:lnSpc>
                  <a:buNone/>
                </a:pPr>
                <a14:m>
                  <m:oMathPara xmlns:m="http://schemas.openxmlformats.org/officeDocument/2006/math">
                    <m:oMathParaPr>
                      <m:jc m:val="centerGroup"/>
                    </m:oMathParaPr>
                    <m:oMath xmlns:m="http://schemas.openxmlformats.org/officeDocument/2006/math">
                      <m:f>
                        <m:fPr>
                          <m:ctrlPr>
                            <a:rPr lang="en-US" i="1">
                              <a:latin typeface="Cambria Math" panose="02040503050406030204" pitchFamily="18" charset="0"/>
                            </a:rPr>
                          </m:ctrlPr>
                        </m:fPr>
                        <m:num>
                          <m:r>
                            <a:rPr lang="en-US" i="1">
                              <a:latin typeface="Cambria Math" panose="02040503050406030204" pitchFamily="18" charset="0"/>
                            </a:rPr>
                            <m:t>𝜕𝜙</m:t>
                          </m:r>
                        </m:num>
                        <m:den>
                          <m:r>
                            <a:rPr lang="en-US" i="1">
                              <a:latin typeface="Cambria Math" panose="02040503050406030204" pitchFamily="18" charset="0"/>
                            </a:rPr>
                            <m:t>𝜕</m:t>
                          </m:r>
                          <m:r>
                            <a:rPr lang="en-US" i="1">
                              <a:latin typeface="Cambria Math" panose="02040503050406030204" pitchFamily="18" charset="0"/>
                            </a:rPr>
                            <m:t>𝑡</m:t>
                          </m:r>
                        </m:den>
                      </m:f>
                      <m:r>
                        <a:rPr lang="en-US" i="1">
                          <a:latin typeface="Cambria Math" panose="02040503050406030204" pitchFamily="18" charset="0"/>
                        </a:rPr>
                        <m:t>=</m:t>
                      </m:r>
                      <m:r>
                        <a:rPr lang="en-US" i="1">
                          <a:latin typeface="Cambria Math" panose="02040503050406030204" pitchFamily="18" charset="0"/>
                        </a:rPr>
                        <m:t>𝑘</m:t>
                      </m:r>
                      <m:f>
                        <m:fPr>
                          <m:ctrlPr>
                            <a:rPr lang="en-US" i="1">
                              <a:latin typeface="Cambria Math" panose="02040503050406030204" pitchFamily="18" charset="0"/>
                            </a:rPr>
                          </m:ctrlPr>
                        </m:fPr>
                        <m:num>
                          <m:sSup>
                            <m:sSupPr>
                              <m:ctrlPr>
                                <a:rPr lang="en-US" i="1">
                                  <a:latin typeface="Cambria Math" panose="02040503050406030204" pitchFamily="18" charset="0"/>
                                </a:rPr>
                              </m:ctrlPr>
                            </m:sSupPr>
                            <m:e>
                              <m:r>
                                <a:rPr lang="en-US" i="1">
                                  <a:latin typeface="Cambria Math" panose="02040503050406030204" pitchFamily="18" charset="0"/>
                                </a:rPr>
                                <m:t>𝜕</m:t>
                              </m:r>
                            </m:e>
                            <m:sup>
                              <m:r>
                                <a:rPr lang="en-US" i="1">
                                  <a:latin typeface="Cambria Math" panose="02040503050406030204" pitchFamily="18" charset="0"/>
                                </a:rPr>
                                <m:t>2</m:t>
                              </m:r>
                            </m:sup>
                          </m:sSup>
                          <m:r>
                            <a:rPr lang="en-US" i="1">
                              <a:latin typeface="Cambria Math" panose="02040503050406030204" pitchFamily="18" charset="0"/>
                            </a:rPr>
                            <m:t>𝜙</m:t>
                          </m:r>
                        </m:num>
                        <m:den>
                          <m:r>
                            <a:rPr lang="en-US" i="1">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𝑥</m:t>
                              </m:r>
                            </m:e>
                            <m:sup>
                              <m:r>
                                <a:rPr lang="en-US" i="1">
                                  <a:latin typeface="Cambria Math" panose="02040503050406030204" pitchFamily="18" charset="0"/>
                                </a:rPr>
                                <m:t>2</m:t>
                              </m:r>
                            </m:sup>
                          </m:sSup>
                        </m:den>
                      </m:f>
                    </m:oMath>
                  </m:oMathPara>
                </a14:m>
                <a:endParaRPr lang="en-US" dirty="0"/>
              </a:p>
              <a:p>
                <a:r>
                  <a:rPr lang="en-US" dirty="0">
                    <a:solidFill>
                      <a:srgbClr val="FF0000"/>
                    </a:solidFill>
                  </a:rPr>
                  <a:t>Ex: discretize the diffusion equation using forward-difference in time and the second derivative in space. What is the order of accuracy in time and in space?</a:t>
                </a:r>
              </a:p>
              <a:p>
                <a:pPr marL="0" indent="0">
                  <a:lnSpc>
                    <a:spcPct val="150000"/>
                  </a:lnSpc>
                  <a:buNone/>
                </a:pPr>
                <a14:m>
                  <m:oMathPara xmlns:m="http://schemas.openxmlformats.org/officeDocument/2006/math">
                    <m:oMathParaPr>
                      <m:jc m:val="centerGroup"/>
                    </m:oMathParaPr>
                    <m:oMath xmlns:m="http://schemas.openxmlformats.org/officeDocument/2006/math">
                      <m:f>
                        <m:fPr>
                          <m:ctrlPr>
                            <a:rPr lang="en-US" b="0" i="1" smtClean="0">
                              <a:latin typeface="Cambria Math" panose="02040503050406030204" pitchFamily="18" charset="0"/>
                            </a:rPr>
                          </m:ctrlPr>
                        </m:fPr>
                        <m:num>
                          <m:sSubSup>
                            <m:sSubSupPr>
                              <m:ctrlPr>
                                <a:rPr lang="en-US" b="0" i="1" smtClean="0">
                                  <a:latin typeface="Cambria Math" panose="02040503050406030204" pitchFamily="18" charset="0"/>
                                </a:rPr>
                              </m:ctrlPr>
                            </m:sSubSupPr>
                            <m:e>
                              <m:sSubSup>
                                <m:sSubSupPr>
                                  <m:ctrlPr>
                                    <a:rPr lang="en-US" i="1">
                                      <a:latin typeface="Cambria Math" panose="02040503050406030204" pitchFamily="18" charset="0"/>
                                    </a:rPr>
                                  </m:ctrlPr>
                                </m:sSubSupPr>
                                <m:e>
                                  <m:r>
                                    <a:rPr lang="en-US" i="1">
                                      <a:latin typeface="Cambria Math" panose="02040503050406030204" pitchFamily="18" charset="0"/>
                                    </a:rPr>
                                    <m:t>𝜙</m:t>
                                  </m:r>
                                </m:e>
                                <m:sub>
                                  <m:r>
                                    <a:rPr lang="en-US" i="1">
                                      <a:latin typeface="Cambria Math" panose="02040503050406030204" pitchFamily="18" charset="0"/>
                                    </a:rPr>
                                    <m:t>𝑖</m:t>
                                  </m:r>
                                </m:sub>
                                <m:sup>
                                  <m:r>
                                    <a:rPr lang="en-US" i="1">
                                      <a:latin typeface="Cambria Math" panose="02040503050406030204" pitchFamily="18" charset="0"/>
                                    </a:rPr>
                                    <m:t>𝑛</m:t>
                                  </m:r>
                                  <m:r>
                                    <a:rPr lang="en-US" i="1">
                                      <a:latin typeface="Cambria Math" panose="02040503050406030204" pitchFamily="18" charset="0"/>
                                    </a:rPr>
                                    <m:t>+1</m:t>
                                  </m:r>
                                </m:sup>
                              </m:sSubSup>
                              <m:r>
                                <a:rPr lang="en-US" i="1">
                                  <a:latin typeface="Cambria Math" panose="02040503050406030204" pitchFamily="18" charset="0"/>
                                </a:rPr>
                                <m:t>−</m:t>
                              </m:r>
                              <m:r>
                                <a:rPr lang="en-US" b="0" i="1" smtClean="0">
                                  <a:latin typeface="Cambria Math" panose="02040503050406030204" pitchFamily="18" charset="0"/>
                                </a:rPr>
                                <m:t>𝜙</m:t>
                              </m:r>
                            </m:e>
                            <m:sub>
                              <m:r>
                                <a:rPr lang="en-US" b="0" i="1" smtClean="0">
                                  <a:latin typeface="Cambria Math" panose="02040503050406030204" pitchFamily="18" charset="0"/>
                                </a:rPr>
                                <m:t>𝑖</m:t>
                              </m:r>
                            </m:sub>
                            <m:sup>
                              <m:r>
                                <a:rPr lang="en-US" b="0" i="1" smtClean="0">
                                  <a:latin typeface="Cambria Math" panose="02040503050406030204" pitchFamily="18" charset="0"/>
                                </a:rPr>
                                <m:t>𝑛</m:t>
                              </m:r>
                            </m:sup>
                          </m:sSubSup>
                        </m:num>
                        <m:den>
                          <m:r>
                            <m:rPr>
                              <m:sty m:val="p"/>
                            </m:rPr>
                            <a:rPr lang="en-US" b="0" i="0" smtClean="0">
                              <a:latin typeface="Cambria Math" panose="02040503050406030204" pitchFamily="18" charset="0"/>
                            </a:rPr>
                            <m:t>Δ</m:t>
                          </m:r>
                          <m:r>
                            <a:rPr lang="en-US" b="0" i="1" smtClean="0">
                              <a:latin typeface="Cambria Math" panose="02040503050406030204" pitchFamily="18" charset="0"/>
                            </a:rPr>
                            <m:t>𝑡</m:t>
                          </m:r>
                        </m:den>
                      </m:f>
                      <m:r>
                        <a:rPr lang="en-US" b="0" i="1" smtClean="0">
                          <a:latin typeface="Cambria Math" panose="02040503050406030204" pitchFamily="18" charset="0"/>
                        </a:rPr>
                        <m:t>=</m:t>
                      </m:r>
                      <m:r>
                        <a:rPr lang="en-US" b="0" i="1" smtClean="0">
                          <a:latin typeface="Cambria Math" panose="02040503050406030204" pitchFamily="18" charset="0"/>
                        </a:rPr>
                        <m:t>𝑘</m:t>
                      </m:r>
                      <m:f>
                        <m:fPr>
                          <m:ctrlPr>
                            <a:rPr lang="en-US" i="1">
                              <a:latin typeface="Cambria Math" panose="02040503050406030204" pitchFamily="18" charset="0"/>
                            </a:rPr>
                          </m:ctrlPr>
                        </m:fPr>
                        <m:num>
                          <m:sSubSup>
                            <m:sSubSupPr>
                              <m:ctrlPr>
                                <a:rPr lang="en-US" i="1">
                                  <a:latin typeface="Cambria Math" panose="02040503050406030204" pitchFamily="18" charset="0"/>
                                </a:rPr>
                              </m:ctrlPr>
                            </m:sSubSupPr>
                            <m:e>
                              <m:sSubSup>
                                <m:sSubSupPr>
                                  <m:ctrlPr>
                                    <a:rPr lang="en-US" i="1">
                                      <a:latin typeface="Cambria Math" panose="02040503050406030204" pitchFamily="18" charset="0"/>
                                    </a:rPr>
                                  </m:ctrlPr>
                                </m:sSubSupPr>
                                <m:e>
                                  <m:r>
                                    <a:rPr lang="en-US" i="1">
                                      <a:latin typeface="Cambria Math" panose="02040503050406030204" pitchFamily="18" charset="0"/>
                                    </a:rPr>
                                    <m:t>𝜙</m:t>
                                  </m:r>
                                </m:e>
                                <m:sub>
                                  <m:r>
                                    <a:rPr lang="en-US" i="1">
                                      <a:latin typeface="Cambria Math" panose="02040503050406030204" pitchFamily="18" charset="0"/>
                                    </a:rPr>
                                    <m:t>𝑖</m:t>
                                  </m:r>
                                  <m:r>
                                    <a:rPr lang="en-US" b="0" i="1" smtClean="0">
                                      <a:latin typeface="Cambria Math" panose="02040503050406030204" pitchFamily="18" charset="0"/>
                                    </a:rPr>
                                    <m:t>+1</m:t>
                                  </m:r>
                                </m:sub>
                                <m:sup>
                                  <m:r>
                                    <a:rPr lang="en-US" i="1">
                                      <a:latin typeface="Cambria Math" panose="02040503050406030204" pitchFamily="18" charset="0"/>
                                    </a:rPr>
                                    <m:t>𝑛</m:t>
                                  </m:r>
                                </m:sup>
                              </m:sSubSup>
                              <m:r>
                                <a:rPr lang="en-US" i="1">
                                  <a:latin typeface="Cambria Math" panose="02040503050406030204" pitchFamily="18" charset="0"/>
                                </a:rPr>
                                <m:t>−</m:t>
                              </m:r>
                              <m:r>
                                <a:rPr lang="en-US" b="0" i="1" smtClean="0">
                                  <a:latin typeface="Cambria Math" panose="02040503050406030204" pitchFamily="18" charset="0"/>
                                </a:rPr>
                                <m:t>2</m:t>
                              </m:r>
                              <m:r>
                                <a:rPr lang="en-US" i="1">
                                  <a:latin typeface="Cambria Math" panose="02040503050406030204" pitchFamily="18" charset="0"/>
                                </a:rPr>
                                <m:t>𝜙</m:t>
                              </m:r>
                            </m:e>
                            <m:sub>
                              <m:r>
                                <a:rPr lang="en-US" i="1">
                                  <a:latin typeface="Cambria Math" panose="02040503050406030204" pitchFamily="18" charset="0"/>
                                </a:rPr>
                                <m:t>𝑖</m:t>
                              </m:r>
                            </m:sub>
                            <m:sup>
                              <m:r>
                                <a:rPr lang="en-US" i="1">
                                  <a:latin typeface="Cambria Math" panose="02040503050406030204" pitchFamily="18" charset="0"/>
                                </a:rPr>
                                <m:t>𝑛</m:t>
                              </m:r>
                            </m:sup>
                          </m:sSubSup>
                          <m:r>
                            <a:rPr lang="en-US" b="0" i="1" smtClean="0">
                              <a:latin typeface="Cambria Math" panose="02040503050406030204" pitchFamily="18" charset="0"/>
                            </a:rPr>
                            <m:t>+</m:t>
                          </m:r>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𝜙</m:t>
                              </m:r>
                            </m:e>
                            <m:sub>
                              <m:r>
                                <a:rPr lang="en-US" b="0" i="1" smtClean="0">
                                  <a:latin typeface="Cambria Math" panose="02040503050406030204" pitchFamily="18" charset="0"/>
                                </a:rPr>
                                <m:t>𝑖</m:t>
                              </m:r>
                              <m:r>
                                <a:rPr lang="en-US" b="0" i="1" smtClean="0">
                                  <a:latin typeface="Cambria Math" panose="02040503050406030204" pitchFamily="18" charset="0"/>
                                </a:rPr>
                                <m:t>−1</m:t>
                              </m:r>
                            </m:sub>
                            <m:sup>
                              <m:r>
                                <a:rPr lang="en-US" b="0" i="1" smtClean="0">
                                  <a:latin typeface="Cambria Math" panose="02040503050406030204" pitchFamily="18" charset="0"/>
                                </a:rPr>
                                <m:t>𝑛</m:t>
                              </m:r>
                            </m:sup>
                          </m:sSubSup>
                          <m:r>
                            <a:rPr lang="en-US" b="0" i="1" smtClean="0">
                              <a:latin typeface="Cambria Math" panose="02040503050406030204" pitchFamily="18" charset="0"/>
                            </a:rPr>
                            <m:t> </m:t>
                          </m:r>
                        </m:num>
                        <m:den>
                          <m:r>
                            <m:rPr>
                              <m:sty m:val="p"/>
                            </m:rPr>
                            <a:rPr lang="en-US">
                              <a:latin typeface="Cambria Math" panose="02040503050406030204" pitchFamily="18" charset="0"/>
                            </a:rPr>
                            <m:t>Δ</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𝑥</m:t>
                              </m:r>
                            </m:e>
                            <m:sup>
                              <m:r>
                                <a:rPr lang="en-US" b="0" i="1" smtClean="0">
                                  <a:latin typeface="Cambria Math" panose="02040503050406030204" pitchFamily="18" charset="0"/>
                                </a:rPr>
                                <m:t>2</m:t>
                              </m:r>
                            </m:sup>
                          </m:sSup>
                        </m:den>
                      </m:f>
                    </m:oMath>
                  </m:oMathPara>
                </a14:m>
                <a:endParaRPr lang="en-US" dirty="0"/>
              </a:p>
              <a:p>
                <a:r>
                  <a:rPr lang="en-US" dirty="0"/>
                  <a:t>This scheme is first order accurate in time and second-order accurate in space</a:t>
                </a:r>
              </a:p>
              <a:p>
                <a:endParaRPr lang="en-US" dirty="0"/>
              </a:p>
            </p:txBody>
          </p:sp>
        </mc:Choice>
        <mc:Fallback xmlns="">
          <p:sp>
            <p:nvSpPr>
              <p:cNvPr id="3" name="Content Placeholder 2">
                <a:extLst>
                  <a:ext uri="{FF2B5EF4-FFF2-40B4-BE49-F238E27FC236}">
                    <a16:creationId xmlns:a16="http://schemas.microsoft.com/office/drawing/2014/main" id="{15C4FD65-F675-944D-A379-3A5FFFAEB784}"/>
                  </a:ext>
                </a:extLst>
              </p:cNvPr>
              <p:cNvSpPr>
                <a:spLocks noGrp="1" noRot="1" noChangeAspect="1" noMove="1" noResize="1" noEditPoints="1" noAdjustHandles="1" noChangeArrowheads="1" noChangeShapeType="1" noTextEdit="1"/>
              </p:cNvSpPr>
              <p:nvPr>
                <p:ph idx="1"/>
              </p:nvPr>
            </p:nvSpPr>
            <p:spPr>
              <a:xfrm>
                <a:off x="258184" y="1325562"/>
                <a:ext cx="11095616" cy="5532437"/>
              </a:xfrm>
              <a:blipFill>
                <a:blip r:embed="rId3"/>
                <a:stretch>
                  <a:fillRect l="-800" t="-1602" r="-114"/>
                </a:stretch>
              </a:blipFill>
            </p:spPr>
            <p:txBody>
              <a:bodyPr/>
              <a:lstStyle/>
              <a:p>
                <a:r>
                  <a:rPr lang="en-US">
                    <a:noFill/>
                  </a:rPr>
                  <a:t> </a:t>
                </a:r>
              </a:p>
            </p:txBody>
          </p:sp>
        </mc:Fallback>
      </mc:AlternateContent>
    </p:spTree>
    <p:extLst>
      <p:ext uri="{BB962C8B-B14F-4D97-AF65-F5344CB8AC3E}">
        <p14:creationId xmlns:p14="http://schemas.microsoft.com/office/powerpoint/2010/main" val="4148692017"/>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DCE2F9-F4C3-DA4C-B0FC-7FF6F22D148C}"/>
              </a:ext>
            </a:extLst>
          </p:cNvPr>
          <p:cNvSpPr>
            <a:spLocks noGrp="1"/>
          </p:cNvSpPr>
          <p:nvPr>
            <p:ph type="title"/>
          </p:nvPr>
        </p:nvSpPr>
        <p:spPr>
          <a:xfrm>
            <a:off x="838200" y="0"/>
            <a:ext cx="10515600" cy="1325563"/>
          </a:xfrm>
        </p:spPr>
        <p:txBody>
          <a:bodyPr/>
          <a:lstStyle/>
          <a:p>
            <a:r>
              <a:rPr lang="en-US" dirty="0"/>
              <a:t>Stability</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5C4FD65-F675-944D-A379-3A5FFFAEB784}"/>
                  </a:ext>
                </a:extLst>
              </p:cNvPr>
              <p:cNvSpPr>
                <a:spLocks noGrp="1"/>
              </p:cNvSpPr>
              <p:nvPr>
                <p:ph idx="1"/>
              </p:nvPr>
            </p:nvSpPr>
            <p:spPr>
              <a:xfrm>
                <a:off x="838200" y="1325562"/>
                <a:ext cx="10515600" cy="5532437"/>
              </a:xfrm>
            </p:spPr>
            <p:txBody>
              <a:bodyPr/>
              <a:lstStyle/>
              <a:p>
                <a:r>
                  <a:rPr lang="en-US" dirty="0"/>
                  <a:t>The solution resembles the FTCS method in the advection equation. </a:t>
                </a:r>
              </a:p>
              <a:p>
                <a:r>
                  <a:rPr lang="en-US" dirty="0"/>
                  <a:t>We need to examine whether this discretization is stable.</a:t>
                </a:r>
              </a:p>
              <a:p>
                <a:r>
                  <a:rPr lang="en-US" dirty="0"/>
                  <a:t>Lets look at the growth of a single Fourier mode of the sort:</a:t>
                </a:r>
              </a:p>
              <a:p>
                <a:pPr marL="0" indent="0">
                  <a:lnSpc>
                    <a:spcPct val="150000"/>
                  </a:lnSpc>
                  <a:buNone/>
                </a:pPr>
                <a14:m>
                  <m:oMathPara xmlns:m="http://schemas.openxmlformats.org/officeDocument/2006/math">
                    <m:oMathParaPr>
                      <m:jc m:val="centerGroup"/>
                    </m:oMathParaPr>
                    <m:oMath xmlns:m="http://schemas.openxmlformats.org/officeDocument/2006/math">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𝜙</m:t>
                          </m:r>
                        </m:e>
                        <m:sub>
                          <m:r>
                            <a:rPr lang="en-US" b="0" i="1" smtClean="0">
                              <a:latin typeface="Cambria Math" panose="02040503050406030204" pitchFamily="18" charset="0"/>
                            </a:rPr>
                            <m:t>𝑖</m:t>
                          </m:r>
                        </m:sub>
                        <m:sup>
                          <m:r>
                            <a:rPr lang="en-US" b="0" i="1" smtClean="0">
                              <a:latin typeface="Cambria Math" panose="02040503050406030204" pitchFamily="18" charset="0"/>
                            </a:rPr>
                            <m:t>𝑛</m:t>
                          </m:r>
                        </m:sup>
                      </m:sSubSup>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𝐴</m:t>
                          </m:r>
                        </m:e>
                        <m:sup>
                          <m:r>
                            <a:rPr lang="en-US" b="0" i="1" smtClean="0">
                              <a:latin typeface="Cambria Math" panose="02040503050406030204" pitchFamily="18" charset="0"/>
                            </a:rPr>
                            <m:t>𝑛</m:t>
                          </m:r>
                        </m:sup>
                      </m:sSup>
                      <m:sSup>
                        <m:sSupPr>
                          <m:ctrlPr>
                            <a:rPr lang="en-US" b="0" i="1" smtClean="0">
                              <a:latin typeface="Cambria Math" panose="02040503050406030204" pitchFamily="18" charset="0"/>
                            </a:rPr>
                          </m:ctrlPr>
                        </m:sSupPr>
                        <m:e>
                          <m:r>
                            <a:rPr lang="en-US" b="0" i="1" smtClean="0">
                              <a:latin typeface="Cambria Math" panose="02040503050406030204" pitchFamily="18" charset="0"/>
                            </a:rPr>
                            <m:t>𝑒</m:t>
                          </m:r>
                        </m:e>
                        <m:sup>
                          <m:r>
                            <a:rPr lang="en-US" b="0" i="1" smtClean="0">
                              <a:latin typeface="Cambria Math" panose="02040503050406030204" pitchFamily="18" charset="0"/>
                            </a:rPr>
                            <m:t>−</m:t>
                          </m:r>
                          <m:r>
                            <a:rPr lang="en-US" b="0" i="1" smtClean="0">
                              <a:latin typeface="Cambria Math" panose="02040503050406030204" pitchFamily="18" charset="0"/>
                            </a:rPr>
                            <m:t>𝑗</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𝑘</m:t>
                              </m:r>
                            </m:e>
                          </m:acc>
                          <m:r>
                            <a:rPr lang="en-US" b="0" i="1" smtClean="0">
                              <a:latin typeface="Cambria Math" panose="02040503050406030204" pitchFamily="18" charset="0"/>
                            </a:rPr>
                            <m:t>𝑥</m:t>
                          </m:r>
                        </m:sup>
                      </m:sSup>
                    </m:oMath>
                  </m:oMathPara>
                </a14:m>
                <a:endParaRPr lang="en-US" dirty="0"/>
              </a:p>
              <a:p>
                <a:pPr>
                  <a:lnSpc>
                    <a:spcPct val="150000"/>
                  </a:lnSpc>
                </a:pPr>
                <a:r>
                  <a:rPr lang="en-US" dirty="0"/>
                  <a:t>Stability requires that:</a:t>
                </a:r>
              </a:p>
              <a:p>
                <a:pPr marL="0" indent="0">
                  <a:lnSpc>
                    <a:spcPct val="100000"/>
                  </a:lnSpc>
                  <a:buNone/>
                </a:pPr>
                <a14:m>
                  <m:oMathPara xmlns:m="http://schemas.openxmlformats.org/officeDocument/2006/math">
                    <m:oMathParaPr>
                      <m:jc m:val="centerGroup"/>
                    </m:oMathParaPr>
                    <m:oMath xmlns:m="http://schemas.openxmlformats.org/officeDocument/2006/math">
                      <m:d>
                        <m:dPr>
                          <m:begChr m:val="|"/>
                          <m:endChr m:val="|"/>
                          <m:ctrlPr>
                            <a:rPr lang="en-US" i="1">
                              <a:latin typeface="Cambria Math" panose="02040503050406030204" pitchFamily="18" charset="0"/>
                            </a:rPr>
                          </m:ctrlPr>
                        </m:dPr>
                        <m:e>
                          <m:f>
                            <m:fPr>
                              <m:ctrlPr>
                                <a:rPr lang="en-US" i="1">
                                  <a:latin typeface="Cambria Math" panose="02040503050406030204" pitchFamily="18" charset="0"/>
                                </a:rPr>
                              </m:ctrlPr>
                            </m:fPr>
                            <m:num>
                              <m:sSup>
                                <m:sSupPr>
                                  <m:ctrlPr>
                                    <a:rPr lang="en-US" i="1">
                                      <a:latin typeface="Cambria Math" panose="02040503050406030204" pitchFamily="18" charset="0"/>
                                    </a:rPr>
                                  </m:ctrlPr>
                                </m:sSupPr>
                                <m:e>
                                  <m:r>
                                    <a:rPr lang="en-US" i="1">
                                      <a:latin typeface="Cambria Math" panose="02040503050406030204" pitchFamily="18" charset="0"/>
                                    </a:rPr>
                                    <m:t>𝐴</m:t>
                                  </m:r>
                                </m:e>
                                <m:sup>
                                  <m:r>
                                    <a:rPr lang="en-US" i="1">
                                      <a:latin typeface="Cambria Math" panose="02040503050406030204" pitchFamily="18" charset="0"/>
                                    </a:rPr>
                                    <m:t>𝑛</m:t>
                                  </m:r>
                                  <m:r>
                                    <a:rPr lang="en-US" i="1">
                                      <a:latin typeface="Cambria Math" panose="02040503050406030204" pitchFamily="18" charset="0"/>
                                    </a:rPr>
                                    <m:t>+1</m:t>
                                  </m:r>
                                </m:sup>
                              </m:sSup>
                            </m:num>
                            <m:den>
                              <m:sSup>
                                <m:sSupPr>
                                  <m:ctrlPr>
                                    <a:rPr lang="en-US" i="1">
                                      <a:latin typeface="Cambria Math" panose="02040503050406030204" pitchFamily="18" charset="0"/>
                                    </a:rPr>
                                  </m:ctrlPr>
                                </m:sSupPr>
                                <m:e>
                                  <m:r>
                                    <a:rPr lang="en-US" i="1">
                                      <a:latin typeface="Cambria Math" panose="02040503050406030204" pitchFamily="18" charset="0"/>
                                    </a:rPr>
                                    <m:t>𝐴</m:t>
                                  </m:r>
                                </m:e>
                                <m:sup>
                                  <m:r>
                                    <a:rPr lang="en-US" i="1">
                                      <a:latin typeface="Cambria Math" panose="02040503050406030204" pitchFamily="18" charset="0"/>
                                    </a:rPr>
                                    <m:t>𝑛</m:t>
                                  </m:r>
                                </m:sup>
                              </m:sSup>
                            </m:den>
                          </m:f>
                        </m:e>
                      </m:d>
                      <m:r>
                        <a:rPr lang="en-US" i="1">
                          <a:latin typeface="Cambria Math" panose="02040503050406030204" pitchFamily="18" charset="0"/>
                        </a:rPr>
                        <m:t>≤1</m:t>
                      </m:r>
                    </m:oMath>
                  </m:oMathPara>
                </a14:m>
                <a:endParaRPr lang="en-US" dirty="0"/>
              </a:p>
              <a:p>
                <a:pPr marL="0" indent="0">
                  <a:lnSpc>
                    <a:spcPct val="150000"/>
                  </a:lnSpc>
                  <a:buNone/>
                </a:pPr>
                <a:endParaRPr lang="en-US" dirty="0"/>
              </a:p>
            </p:txBody>
          </p:sp>
        </mc:Choice>
        <mc:Fallback xmlns="">
          <p:sp>
            <p:nvSpPr>
              <p:cNvPr id="3" name="Content Placeholder 2">
                <a:extLst>
                  <a:ext uri="{FF2B5EF4-FFF2-40B4-BE49-F238E27FC236}">
                    <a16:creationId xmlns:a16="http://schemas.microsoft.com/office/drawing/2014/main" id="{15C4FD65-F675-944D-A379-3A5FFFAEB784}"/>
                  </a:ext>
                </a:extLst>
              </p:cNvPr>
              <p:cNvSpPr>
                <a:spLocks noGrp="1" noRot="1" noChangeAspect="1" noMove="1" noResize="1" noEditPoints="1" noAdjustHandles="1" noChangeArrowheads="1" noChangeShapeType="1" noTextEdit="1"/>
              </p:cNvSpPr>
              <p:nvPr>
                <p:ph idx="1"/>
              </p:nvPr>
            </p:nvSpPr>
            <p:spPr>
              <a:xfrm>
                <a:off x="838200" y="1325562"/>
                <a:ext cx="10515600" cy="5532437"/>
              </a:xfrm>
              <a:blipFill>
                <a:blip r:embed="rId2"/>
                <a:stretch>
                  <a:fillRect l="-965" t="-1602"/>
                </a:stretch>
              </a:blipFill>
            </p:spPr>
            <p:txBody>
              <a:bodyPr/>
              <a:lstStyle/>
              <a:p>
                <a:r>
                  <a:rPr lang="en-US">
                    <a:noFill/>
                  </a:rPr>
                  <a:t> </a:t>
                </a:r>
              </a:p>
            </p:txBody>
          </p:sp>
        </mc:Fallback>
      </mc:AlternateContent>
    </p:spTree>
    <p:extLst>
      <p:ext uri="{BB962C8B-B14F-4D97-AF65-F5344CB8AC3E}">
        <p14:creationId xmlns:p14="http://schemas.microsoft.com/office/powerpoint/2010/main" val="831565877"/>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DCE2F9-F4C3-DA4C-B0FC-7FF6F22D148C}"/>
              </a:ext>
            </a:extLst>
          </p:cNvPr>
          <p:cNvSpPr>
            <a:spLocks noGrp="1"/>
          </p:cNvSpPr>
          <p:nvPr>
            <p:ph type="title"/>
          </p:nvPr>
        </p:nvSpPr>
        <p:spPr>
          <a:xfrm>
            <a:off x="838200" y="0"/>
            <a:ext cx="10515600" cy="1325563"/>
          </a:xfrm>
        </p:spPr>
        <p:txBody>
          <a:bodyPr/>
          <a:lstStyle/>
          <a:p>
            <a:r>
              <a:rPr lang="en-US" dirty="0"/>
              <a:t>Stability</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5C4FD65-F675-944D-A379-3A5FFFAEB784}"/>
                  </a:ext>
                </a:extLst>
              </p:cNvPr>
              <p:cNvSpPr>
                <a:spLocks noGrp="1"/>
              </p:cNvSpPr>
              <p:nvPr>
                <p:ph idx="1"/>
              </p:nvPr>
            </p:nvSpPr>
            <p:spPr>
              <a:xfrm>
                <a:off x="838200" y="1325562"/>
                <a:ext cx="10515600" cy="5532437"/>
              </a:xfrm>
            </p:spPr>
            <p:txBody>
              <a:bodyPr>
                <a:normAutofit/>
              </a:bodyPr>
              <a:lstStyle/>
              <a:p>
                <a:pPr>
                  <a:lnSpc>
                    <a:spcPct val="100000"/>
                  </a:lnSpc>
                </a:pPr>
                <a:r>
                  <a:rPr lang="en-US" dirty="0">
                    <a:solidFill>
                      <a:srgbClr val="FF0000"/>
                    </a:solidFill>
                  </a:rPr>
                  <a:t>Ex:  given that </a:t>
                </a:r>
              </a:p>
              <a:p>
                <a:pPr marL="0" indent="0" algn="ctr">
                  <a:lnSpc>
                    <a:spcPct val="100000"/>
                  </a:lnSpc>
                  <a:buNone/>
                </a:pPr>
                <a14:m>
                  <m:oMath xmlns:m="http://schemas.openxmlformats.org/officeDocument/2006/math">
                    <m:sSubSup>
                      <m:sSubSupPr>
                        <m:ctrlPr>
                          <a:rPr lang="en-US" i="1">
                            <a:solidFill>
                              <a:srgbClr val="FF0000"/>
                            </a:solidFill>
                            <a:latin typeface="Cambria Math" panose="02040503050406030204" pitchFamily="18" charset="0"/>
                          </a:rPr>
                        </m:ctrlPr>
                      </m:sSubSupPr>
                      <m:e>
                        <m:r>
                          <a:rPr lang="en-US" i="1">
                            <a:solidFill>
                              <a:srgbClr val="FF0000"/>
                            </a:solidFill>
                            <a:latin typeface="Cambria Math" panose="02040503050406030204" pitchFamily="18" charset="0"/>
                          </a:rPr>
                          <m:t>𝜙</m:t>
                        </m:r>
                      </m:e>
                      <m:sub>
                        <m:r>
                          <a:rPr lang="en-US" i="1">
                            <a:solidFill>
                              <a:srgbClr val="FF0000"/>
                            </a:solidFill>
                            <a:latin typeface="Cambria Math" panose="02040503050406030204" pitchFamily="18" charset="0"/>
                          </a:rPr>
                          <m:t>𝑖</m:t>
                        </m:r>
                      </m:sub>
                      <m:sup>
                        <m:r>
                          <a:rPr lang="en-US" i="1">
                            <a:solidFill>
                              <a:srgbClr val="FF0000"/>
                            </a:solidFill>
                            <a:latin typeface="Cambria Math" panose="02040503050406030204" pitchFamily="18" charset="0"/>
                          </a:rPr>
                          <m:t>𝑛</m:t>
                        </m:r>
                      </m:sup>
                    </m:sSubSup>
                    <m:r>
                      <a:rPr lang="en-US" i="1">
                        <a:solidFill>
                          <a:srgbClr val="FF0000"/>
                        </a:solidFill>
                        <a:latin typeface="Cambria Math" panose="02040503050406030204" pitchFamily="18" charset="0"/>
                      </a:rPr>
                      <m:t>=</m:t>
                    </m:r>
                    <m:sSup>
                      <m:sSupPr>
                        <m:ctrlPr>
                          <a:rPr lang="en-US" i="1">
                            <a:solidFill>
                              <a:srgbClr val="FF0000"/>
                            </a:solidFill>
                            <a:latin typeface="Cambria Math" panose="02040503050406030204" pitchFamily="18" charset="0"/>
                          </a:rPr>
                        </m:ctrlPr>
                      </m:sSupPr>
                      <m:e>
                        <m:r>
                          <a:rPr lang="en-US" i="1">
                            <a:solidFill>
                              <a:srgbClr val="FF0000"/>
                            </a:solidFill>
                            <a:latin typeface="Cambria Math" panose="02040503050406030204" pitchFamily="18" charset="0"/>
                          </a:rPr>
                          <m:t>𝐴</m:t>
                        </m:r>
                      </m:e>
                      <m:sup>
                        <m:r>
                          <a:rPr lang="en-US" i="1">
                            <a:solidFill>
                              <a:srgbClr val="FF0000"/>
                            </a:solidFill>
                            <a:latin typeface="Cambria Math" panose="02040503050406030204" pitchFamily="18" charset="0"/>
                          </a:rPr>
                          <m:t>𝑛</m:t>
                        </m:r>
                      </m:sup>
                    </m:sSup>
                    <m:sSup>
                      <m:sSupPr>
                        <m:ctrlPr>
                          <a:rPr lang="en-US" i="1">
                            <a:solidFill>
                              <a:srgbClr val="FF0000"/>
                            </a:solidFill>
                            <a:latin typeface="Cambria Math" panose="02040503050406030204" pitchFamily="18" charset="0"/>
                          </a:rPr>
                        </m:ctrlPr>
                      </m:sSupPr>
                      <m:e>
                        <m:r>
                          <a:rPr lang="en-US" i="1">
                            <a:solidFill>
                              <a:srgbClr val="FF0000"/>
                            </a:solidFill>
                            <a:latin typeface="Cambria Math" panose="02040503050406030204" pitchFamily="18" charset="0"/>
                          </a:rPr>
                          <m:t>𝑒</m:t>
                        </m:r>
                      </m:e>
                      <m:sup>
                        <m:r>
                          <a:rPr lang="en-US" i="1">
                            <a:solidFill>
                              <a:srgbClr val="FF0000"/>
                            </a:solidFill>
                            <a:latin typeface="Cambria Math" panose="02040503050406030204" pitchFamily="18" charset="0"/>
                          </a:rPr>
                          <m:t>−</m:t>
                        </m:r>
                        <m:r>
                          <a:rPr lang="en-US" i="1">
                            <a:solidFill>
                              <a:srgbClr val="FF0000"/>
                            </a:solidFill>
                            <a:latin typeface="Cambria Math" panose="02040503050406030204" pitchFamily="18" charset="0"/>
                          </a:rPr>
                          <m:t>𝑗</m:t>
                        </m:r>
                        <m:acc>
                          <m:accPr>
                            <m:chr m:val="̃"/>
                            <m:ctrlPr>
                              <a:rPr lang="en-US" i="1">
                                <a:solidFill>
                                  <a:srgbClr val="FF0000"/>
                                </a:solidFill>
                                <a:latin typeface="Cambria Math" panose="02040503050406030204" pitchFamily="18" charset="0"/>
                              </a:rPr>
                            </m:ctrlPr>
                          </m:accPr>
                          <m:e>
                            <m:r>
                              <a:rPr lang="en-US" i="1">
                                <a:solidFill>
                                  <a:srgbClr val="FF0000"/>
                                </a:solidFill>
                                <a:latin typeface="Cambria Math" panose="02040503050406030204" pitchFamily="18" charset="0"/>
                              </a:rPr>
                              <m:t>𝑘</m:t>
                            </m:r>
                          </m:e>
                        </m:acc>
                        <m:r>
                          <a:rPr lang="en-US" i="1">
                            <a:solidFill>
                              <a:srgbClr val="FF0000"/>
                            </a:solidFill>
                            <a:latin typeface="Cambria Math" panose="02040503050406030204" pitchFamily="18" charset="0"/>
                          </a:rPr>
                          <m:t>𝑥</m:t>
                        </m:r>
                      </m:sup>
                    </m:sSup>
                  </m:oMath>
                </a14:m>
                <a:r>
                  <a:rPr lang="en-US" dirty="0">
                    <a:solidFill>
                      <a:srgbClr val="FF0000"/>
                    </a:solidFill>
                  </a:rPr>
                  <a:t> </a:t>
                </a:r>
              </a:p>
              <a:p>
                <a:pPr marL="0" indent="0">
                  <a:lnSpc>
                    <a:spcPct val="100000"/>
                  </a:lnSpc>
                  <a:buNone/>
                </a:pPr>
                <a14:m>
                  <m:oMathPara xmlns:m="http://schemas.openxmlformats.org/officeDocument/2006/math">
                    <m:oMathParaPr>
                      <m:jc m:val="centerGroup"/>
                    </m:oMathParaPr>
                    <m:oMath xmlns:m="http://schemas.openxmlformats.org/officeDocument/2006/math">
                      <m:sSubSup>
                        <m:sSubSupPr>
                          <m:ctrlPr>
                            <a:rPr lang="en-US" i="1">
                              <a:solidFill>
                                <a:srgbClr val="FF0000"/>
                              </a:solidFill>
                              <a:latin typeface="Cambria Math" panose="02040503050406030204" pitchFamily="18" charset="0"/>
                            </a:rPr>
                          </m:ctrlPr>
                        </m:sSubSupPr>
                        <m:e>
                          <m:r>
                            <a:rPr lang="en-US" i="1">
                              <a:solidFill>
                                <a:srgbClr val="FF0000"/>
                              </a:solidFill>
                              <a:latin typeface="Cambria Math" panose="02040503050406030204" pitchFamily="18" charset="0"/>
                            </a:rPr>
                            <m:t>𝜙</m:t>
                          </m:r>
                        </m:e>
                        <m:sub>
                          <m:r>
                            <a:rPr lang="en-US" i="1">
                              <a:solidFill>
                                <a:srgbClr val="FF0000"/>
                              </a:solidFill>
                              <a:latin typeface="Cambria Math" panose="02040503050406030204" pitchFamily="18" charset="0"/>
                            </a:rPr>
                            <m:t>𝑖</m:t>
                          </m:r>
                        </m:sub>
                        <m:sup>
                          <m:r>
                            <a:rPr lang="en-US" i="1">
                              <a:solidFill>
                                <a:srgbClr val="FF0000"/>
                              </a:solidFill>
                              <a:latin typeface="Cambria Math" panose="02040503050406030204" pitchFamily="18" charset="0"/>
                            </a:rPr>
                            <m:t>𝑛</m:t>
                          </m:r>
                          <m:r>
                            <a:rPr lang="en-US" b="0" i="1" smtClean="0">
                              <a:solidFill>
                                <a:srgbClr val="FF0000"/>
                              </a:solidFill>
                              <a:latin typeface="Cambria Math" panose="02040503050406030204" pitchFamily="18" charset="0"/>
                            </a:rPr>
                            <m:t>+1</m:t>
                          </m:r>
                        </m:sup>
                      </m:sSubSup>
                      <m:r>
                        <a:rPr lang="en-US" i="1">
                          <a:solidFill>
                            <a:srgbClr val="FF0000"/>
                          </a:solidFill>
                          <a:latin typeface="Cambria Math" panose="02040503050406030204" pitchFamily="18" charset="0"/>
                        </a:rPr>
                        <m:t>=</m:t>
                      </m:r>
                      <m:sSup>
                        <m:sSupPr>
                          <m:ctrlPr>
                            <a:rPr lang="en-US" i="1">
                              <a:solidFill>
                                <a:srgbClr val="FF0000"/>
                              </a:solidFill>
                              <a:latin typeface="Cambria Math" panose="02040503050406030204" pitchFamily="18" charset="0"/>
                            </a:rPr>
                          </m:ctrlPr>
                        </m:sSupPr>
                        <m:e>
                          <m:r>
                            <a:rPr lang="en-US" i="1">
                              <a:solidFill>
                                <a:srgbClr val="FF0000"/>
                              </a:solidFill>
                              <a:latin typeface="Cambria Math" panose="02040503050406030204" pitchFamily="18" charset="0"/>
                            </a:rPr>
                            <m:t>𝐴</m:t>
                          </m:r>
                        </m:e>
                        <m:sup>
                          <m:r>
                            <a:rPr lang="en-US" i="1">
                              <a:solidFill>
                                <a:srgbClr val="FF0000"/>
                              </a:solidFill>
                              <a:latin typeface="Cambria Math" panose="02040503050406030204" pitchFamily="18" charset="0"/>
                            </a:rPr>
                            <m:t>𝑛</m:t>
                          </m:r>
                          <m:r>
                            <a:rPr lang="en-US" b="0" i="1" smtClean="0">
                              <a:solidFill>
                                <a:srgbClr val="FF0000"/>
                              </a:solidFill>
                              <a:latin typeface="Cambria Math" panose="02040503050406030204" pitchFamily="18" charset="0"/>
                            </a:rPr>
                            <m:t>+1</m:t>
                          </m:r>
                        </m:sup>
                      </m:sSup>
                      <m:sSup>
                        <m:sSupPr>
                          <m:ctrlPr>
                            <a:rPr lang="en-US" i="1">
                              <a:solidFill>
                                <a:srgbClr val="FF0000"/>
                              </a:solidFill>
                              <a:latin typeface="Cambria Math" panose="02040503050406030204" pitchFamily="18" charset="0"/>
                            </a:rPr>
                          </m:ctrlPr>
                        </m:sSupPr>
                        <m:e>
                          <m:r>
                            <a:rPr lang="en-US" i="1">
                              <a:solidFill>
                                <a:srgbClr val="FF0000"/>
                              </a:solidFill>
                              <a:latin typeface="Cambria Math" panose="02040503050406030204" pitchFamily="18" charset="0"/>
                            </a:rPr>
                            <m:t>𝑒</m:t>
                          </m:r>
                        </m:e>
                        <m:sup>
                          <m:r>
                            <a:rPr lang="en-US" i="1">
                              <a:solidFill>
                                <a:srgbClr val="FF0000"/>
                              </a:solidFill>
                              <a:latin typeface="Cambria Math" panose="02040503050406030204" pitchFamily="18" charset="0"/>
                            </a:rPr>
                            <m:t>−</m:t>
                          </m:r>
                          <m:r>
                            <a:rPr lang="en-US" i="1">
                              <a:solidFill>
                                <a:srgbClr val="FF0000"/>
                              </a:solidFill>
                              <a:latin typeface="Cambria Math" panose="02040503050406030204" pitchFamily="18" charset="0"/>
                            </a:rPr>
                            <m:t>𝑗</m:t>
                          </m:r>
                          <m:acc>
                            <m:accPr>
                              <m:chr m:val="̃"/>
                              <m:ctrlPr>
                                <a:rPr lang="en-US" b="0" i="1" smtClean="0">
                                  <a:solidFill>
                                    <a:srgbClr val="FF0000"/>
                                  </a:solidFill>
                                  <a:latin typeface="Cambria Math" panose="02040503050406030204" pitchFamily="18" charset="0"/>
                                </a:rPr>
                              </m:ctrlPr>
                            </m:accPr>
                            <m:e>
                              <m:r>
                                <a:rPr lang="en-US" b="0" i="1" smtClean="0">
                                  <a:solidFill>
                                    <a:srgbClr val="FF0000"/>
                                  </a:solidFill>
                                  <a:latin typeface="Cambria Math" panose="02040503050406030204" pitchFamily="18" charset="0"/>
                                </a:rPr>
                                <m:t>𝑘</m:t>
                              </m:r>
                            </m:e>
                          </m:acc>
                          <m:r>
                            <a:rPr lang="en-US" i="1">
                              <a:solidFill>
                                <a:srgbClr val="FF0000"/>
                              </a:solidFill>
                              <a:latin typeface="Cambria Math" panose="02040503050406030204" pitchFamily="18" charset="0"/>
                            </a:rPr>
                            <m:t>𝑥</m:t>
                          </m:r>
                        </m:sup>
                      </m:sSup>
                    </m:oMath>
                  </m:oMathPara>
                </a14:m>
                <a:endParaRPr lang="en-US" dirty="0">
                  <a:solidFill>
                    <a:srgbClr val="FF0000"/>
                  </a:solidFill>
                </a:endParaRPr>
              </a:p>
              <a:p>
                <a:pPr marL="0" indent="0">
                  <a:lnSpc>
                    <a:spcPct val="100000"/>
                  </a:lnSpc>
                  <a:buNone/>
                </a:pPr>
                <a14:m>
                  <m:oMathPara xmlns:m="http://schemas.openxmlformats.org/officeDocument/2006/math">
                    <m:oMathParaPr>
                      <m:jc m:val="centerGroup"/>
                    </m:oMathParaPr>
                    <m:oMath xmlns:m="http://schemas.openxmlformats.org/officeDocument/2006/math">
                      <m:sSubSup>
                        <m:sSubSupPr>
                          <m:ctrlPr>
                            <a:rPr lang="en-US" i="1">
                              <a:solidFill>
                                <a:srgbClr val="FF0000"/>
                              </a:solidFill>
                              <a:latin typeface="Cambria Math" panose="02040503050406030204" pitchFamily="18" charset="0"/>
                            </a:rPr>
                          </m:ctrlPr>
                        </m:sSubSupPr>
                        <m:e>
                          <m:r>
                            <a:rPr lang="en-US" i="1">
                              <a:solidFill>
                                <a:srgbClr val="FF0000"/>
                              </a:solidFill>
                              <a:latin typeface="Cambria Math" panose="02040503050406030204" pitchFamily="18" charset="0"/>
                            </a:rPr>
                            <m:t>𝜙</m:t>
                          </m:r>
                        </m:e>
                        <m:sub>
                          <m:r>
                            <a:rPr lang="en-US" i="1">
                              <a:solidFill>
                                <a:srgbClr val="FF0000"/>
                              </a:solidFill>
                              <a:latin typeface="Cambria Math" panose="02040503050406030204" pitchFamily="18" charset="0"/>
                            </a:rPr>
                            <m:t>𝑖</m:t>
                          </m:r>
                          <m:r>
                            <a:rPr lang="en-US" b="0" i="1" smtClean="0">
                              <a:solidFill>
                                <a:srgbClr val="FF0000"/>
                              </a:solidFill>
                              <a:latin typeface="Cambria Math" panose="02040503050406030204" pitchFamily="18" charset="0"/>
                            </a:rPr>
                            <m:t>±1</m:t>
                          </m:r>
                        </m:sub>
                        <m:sup>
                          <m:r>
                            <a:rPr lang="en-US" i="1">
                              <a:solidFill>
                                <a:srgbClr val="FF0000"/>
                              </a:solidFill>
                              <a:latin typeface="Cambria Math" panose="02040503050406030204" pitchFamily="18" charset="0"/>
                            </a:rPr>
                            <m:t>𝑛</m:t>
                          </m:r>
                        </m:sup>
                      </m:sSubSup>
                      <m:r>
                        <a:rPr lang="en-US" i="1">
                          <a:solidFill>
                            <a:srgbClr val="FF0000"/>
                          </a:solidFill>
                          <a:latin typeface="Cambria Math" panose="02040503050406030204" pitchFamily="18" charset="0"/>
                        </a:rPr>
                        <m:t>=</m:t>
                      </m:r>
                      <m:sSup>
                        <m:sSupPr>
                          <m:ctrlPr>
                            <a:rPr lang="en-US" i="1">
                              <a:solidFill>
                                <a:srgbClr val="FF0000"/>
                              </a:solidFill>
                              <a:latin typeface="Cambria Math" panose="02040503050406030204" pitchFamily="18" charset="0"/>
                            </a:rPr>
                          </m:ctrlPr>
                        </m:sSupPr>
                        <m:e>
                          <m:r>
                            <a:rPr lang="en-US" i="1">
                              <a:solidFill>
                                <a:srgbClr val="FF0000"/>
                              </a:solidFill>
                              <a:latin typeface="Cambria Math" panose="02040503050406030204" pitchFamily="18" charset="0"/>
                            </a:rPr>
                            <m:t>𝐴</m:t>
                          </m:r>
                        </m:e>
                        <m:sup>
                          <m:r>
                            <a:rPr lang="en-US" i="1">
                              <a:solidFill>
                                <a:srgbClr val="FF0000"/>
                              </a:solidFill>
                              <a:latin typeface="Cambria Math" panose="02040503050406030204" pitchFamily="18" charset="0"/>
                            </a:rPr>
                            <m:t>𝑛</m:t>
                          </m:r>
                        </m:sup>
                      </m:sSup>
                      <m:sSup>
                        <m:sSupPr>
                          <m:ctrlPr>
                            <a:rPr lang="en-US" i="1">
                              <a:solidFill>
                                <a:srgbClr val="FF0000"/>
                              </a:solidFill>
                              <a:latin typeface="Cambria Math" panose="02040503050406030204" pitchFamily="18" charset="0"/>
                            </a:rPr>
                          </m:ctrlPr>
                        </m:sSupPr>
                        <m:e>
                          <m:r>
                            <a:rPr lang="en-US" i="1">
                              <a:solidFill>
                                <a:srgbClr val="FF0000"/>
                              </a:solidFill>
                              <a:latin typeface="Cambria Math" panose="02040503050406030204" pitchFamily="18" charset="0"/>
                            </a:rPr>
                            <m:t>𝑒</m:t>
                          </m:r>
                        </m:e>
                        <m:sup>
                          <m:r>
                            <a:rPr lang="en-US" i="1">
                              <a:solidFill>
                                <a:srgbClr val="FF0000"/>
                              </a:solidFill>
                              <a:latin typeface="Cambria Math" panose="02040503050406030204" pitchFamily="18" charset="0"/>
                            </a:rPr>
                            <m:t>−</m:t>
                          </m:r>
                          <m:r>
                            <a:rPr lang="en-US" i="1">
                              <a:solidFill>
                                <a:srgbClr val="FF0000"/>
                              </a:solidFill>
                              <a:latin typeface="Cambria Math" panose="02040503050406030204" pitchFamily="18" charset="0"/>
                            </a:rPr>
                            <m:t>𝑗</m:t>
                          </m:r>
                          <m:acc>
                            <m:accPr>
                              <m:chr m:val="̃"/>
                              <m:ctrlPr>
                                <a:rPr lang="en-US" b="0" i="1" smtClean="0">
                                  <a:solidFill>
                                    <a:srgbClr val="FF0000"/>
                                  </a:solidFill>
                                  <a:latin typeface="Cambria Math" panose="02040503050406030204" pitchFamily="18" charset="0"/>
                                </a:rPr>
                              </m:ctrlPr>
                            </m:accPr>
                            <m:e>
                              <m:r>
                                <a:rPr lang="en-US" b="0" i="1" smtClean="0">
                                  <a:solidFill>
                                    <a:srgbClr val="FF0000"/>
                                  </a:solidFill>
                                  <a:latin typeface="Cambria Math" panose="02040503050406030204" pitchFamily="18" charset="0"/>
                                </a:rPr>
                                <m:t>𝑘</m:t>
                              </m:r>
                            </m:e>
                          </m:acc>
                          <m:r>
                            <a:rPr lang="en-US" i="1" smtClean="0">
                              <a:solidFill>
                                <a:srgbClr val="FF0000"/>
                              </a:solidFill>
                              <a:latin typeface="Cambria Math" panose="02040503050406030204" pitchFamily="18" charset="0"/>
                            </a:rPr>
                            <m:t> </m:t>
                          </m:r>
                          <m:r>
                            <a:rPr lang="en-US" b="0" i="1" smtClean="0">
                              <a:solidFill>
                                <a:srgbClr val="FF0000"/>
                              </a:solidFill>
                              <a:latin typeface="Cambria Math" panose="02040503050406030204" pitchFamily="18" charset="0"/>
                            </a:rPr>
                            <m:t>(</m:t>
                          </m:r>
                          <m:r>
                            <a:rPr lang="en-US" i="1">
                              <a:solidFill>
                                <a:srgbClr val="FF0000"/>
                              </a:solidFill>
                              <a:latin typeface="Cambria Math" panose="02040503050406030204" pitchFamily="18" charset="0"/>
                            </a:rPr>
                            <m:t>𝑥</m:t>
                          </m:r>
                          <m:r>
                            <a:rPr lang="en-US" b="0" i="1" smtClean="0">
                              <a:solidFill>
                                <a:srgbClr val="FF0000"/>
                              </a:solidFill>
                              <a:latin typeface="Cambria Math" panose="02040503050406030204" pitchFamily="18" charset="0"/>
                            </a:rPr>
                            <m:t>±</m:t>
                          </m:r>
                          <m:r>
                            <m:rPr>
                              <m:sty m:val="p"/>
                            </m:rPr>
                            <a:rPr lang="en-US" b="0" i="0" smtClean="0">
                              <a:solidFill>
                                <a:srgbClr val="FF0000"/>
                              </a:solidFill>
                              <a:latin typeface="Cambria Math" panose="02040503050406030204" pitchFamily="18" charset="0"/>
                            </a:rPr>
                            <m:t>Δ</m:t>
                          </m:r>
                          <m:r>
                            <a:rPr lang="en-US" b="0" i="1" smtClean="0">
                              <a:solidFill>
                                <a:srgbClr val="FF0000"/>
                              </a:solidFill>
                              <a:latin typeface="Cambria Math" panose="02040503050406030204" pitchFamily="18" charset="0"/>
                            </a:rPr>
                            <m:t>𝑥</m:t>
                          </m:r>
                          <m:r>
                            <a:rPr lang="en-US" b="0" i="1" smtClean="0">
                              <a:solidFill>
                                <a:srgbClr val="FF0000"/>
                              </a:solidFill>
                              <a:latin typeface="Cambria Math" panose="02040503050406030204" pitchFamily="18" charset="0"/>
                            </a:rPr>
                            <m:t>)</m:t>
                          </m:r>
                        </m:sup>
                      </m:sSup>
                    </m:oMath>
                  </m:oMathPara>
                </a14:m>
                <a:endParaRPr lang="en-US" dirty="0">
                  <a:solidFill>
                    <a:srgbClr val="FF0000"/>
                  </a:solidFill>
                </a:endParaRPr>
              </a:p>
              <a:p>
                <a:pPr marL="0" indent="0">
                  <a:lnSpc>
                    <a:spcPct val="100000"/>
                  </a:lnSpc>
                  <a:buNone/>
                </a:pPr>
                <a:r>
                  <a:rPr lang="en-US" dirty="0">
                    <a:solidFill>
                      <a:srgbClr val="FF0000"/>
                    </a:solidFill>
                  </a:rPr>
                  <a:t>   and using the relation</a:t>
                </a:r>
              </a:p>
              <a:p>
                <a:pPr marL="0" indent="0">
                  <a:lnSpc>
                    <a:spcPct val="100000"/>
                  </a:lnSpc>
                  <a:buNone/>
                </a:pPr>
                <a14:m>
                  <m:oMathPara xmlns:m="http://schemas.openxmlformats.org/officeDocument/2006/math">
                    <m:oMathParaPr>
                      <m:jc m:val="centerGroup"/>
                    </m:oMathParaPr>
                    <m:oMath xmlns:m="http://schemas.openxmlformats.org/officeDocument/2006/math">
                      <m:r>
                        <a:rPr lang="en-US" b="0" i="1" smtClean="0">
                          <a:solidFill>
                            <a:srgbClr val="FF0000"/>
                          </a:solidFill>
                          <a:latin typeface="Cambria Math" panose="02040503050406030204" pitchFamily="18" charset="0"/>
                        </a:rPr>
                        <m:t>2</m:t>
                      </m:r>
                      <m:func>
                        <m:funcPr>
                          <m:ctrlPr>
                            <a:rPr lang="en-US" b="0" i="1" smtClean="0">
                              <a:solidFill>
                                <a:srgbClr val="FF0000"/>
                              </a:solidFill>
                              <a:latin typeface="Cambria Math" panose="02040503050406030204" pitchFamily="18" charset="0"/>
                            </a:rPr>
                          </m:ctrlPr>
                        </m:funcPr>
                        <m:fName>
                          <m:r>
                            <m:rPr>
                              <m:sty m:val="p"/>
                            </m:rPr>
                            <a:rPr lang="en-US" b="0" i="0" smtClean="0">
                              <a:solidFill>
                                <a:srgbClr val="FF0000"/>
                              </a:solidFill>
                              <a:latin typeface="Cambria Math" panose="02040503050406030204" pitchFamily="18" charset="0"/>
                            </a:rPr>
                            <m:t>cos</m:t>
                          </m:r>
                        </m:fName>
                        <m:e>
                          <m:r>
                            <a:rPr lang="en-US" b="0" i="1" smtClean="0">
                              <a:solidFill>
                                <a:srgbClr val="FF0000"/>
                              </a:solidFill>
                              <a:latin typeface="Cambria Math" panose="02040503050406030204" pitchFamily="18" charset="0"/>
                            </a:rPr>
                            <m:t>𝜃</m:t>
                          </m:r>
                        </m:e>
                      </m:func>
                      <m:r>
                        <a:rPr lang="en-US" b="0" i="1" smtClean="0">
                          <a:solidFill>
                            <a:srgbClr val="FF0000"/>
                          </a:solidFill>
                          <a:latin typeface="Cambria Math" panose="02040503050406030204" pitchFamily="18" charset="0"/>
                        </a:rPr>
                        <m:t>=</m:t>
                      </m:r>
                      <m:sSup>
                        <m:sSupPr>
                          <m:ctrlPr>
                            <a:rPr lang="en-US" b="0" i="1" smtClean="0">
                              <a:solidFill>
                                <a:srgbClr val="FF0000"/>
                              </a:solidFill>
                              <a:latin typeface="Cambria Math" panose="02040503050406030204" pitchFamily="18" charset="0"/>
                            </a:rPr>
                          </m:ctrlPr>
                        </m:sSupPr>
                        <m:e>
                          <m:r>
                            <a:rPr lang="en-US" b="0" i="1" smtClean="0">
                              <a:solidFill>
                                <a:srgbClr val="FF0000"/>
                              </a:solidFill>
                              <a:latin typeface="Cambria Math" panose="02040503050406030204" pitchFamily="18" charset="0"/>
                            </a:rPr>
                            <m:t>𝑒</m:t>
                          </m:r>
                        </m:e>
                        <m:sup>
                          <m:r>
                            <a:rPr lang="en-US" b="0" i="1" smtClean="0">
                              <a:solidFill>
                                <a:srgbClr val="FF0000"/>
                              </a:solidFill>
                              <a:latin typeface="Cambria Math" panose="02040503050406030204" pitchFamily="18" charset="0"/>
                            </a:rPr>
                            <m:t>𝑗</m:t>
                          </m:r>
                          <m:r>
                            <a:rPr lang="en-US" b="0" i="1" smtClean="0">
                              <a:solidFill>
                                <a:srgbClr val="FF0000"/>
                              </a:solidFill>
                              <a:latin typeface="Cambria Math" panose="02040503050406030204" pitchFamily="18" charset="0"/>
                            </a:rPr>
                            <m:t>𝜃</m:t>
                          </m:r>
                        </m:sup>
                      </m:sSup>
                      <m:r>
                        <a:rPr lang="en-US" b="0" i="1" smtClean="0">
                          <a:solidFill>
                            <a:srgbClr val="FF0000"/>
                          </a:solidFill>
                          <a:latin typeface="Cambria Math" panose="02040503050406030204" pitchFamily="18" charset="0"/>
                        </a:rPr>
                        <m:t>+</m:t>
                      </m:r>
                      <m:sSup>
                        <m:sSupPr>
                          <m:ctrlPr>
                            <a:rPr lang="en-US" b="0" i="1" smtClean="0">
                              <a:solidFill>
                                <a:srgbClr val="FF0000"/>
                              </a:solidFill>
                              <a:latin typeface="Cambria Math" panose="02040503050406030204" pitchFamily="18" charset="0"/>
                            </a:rPr>
                          </m:ctrlPr>
                        </m:sSupPr>
                        <m:e>
                          <m:r>
                            <a:rPr lang="en-US" b="0" i="1" smtClean="0">
                              <a:solidFill>
                                <a:srgbClr val="FF0000"/>
                              </a:solidFill>
                              <a:latin typeface="Cambria Math" panose="02040503050406030204" pitchFamily="18" charset="0"/>
                            </a:rPr>
                            <m:t>𝑒</m:t>
                          </m:r>
                        </m:e>
                        <m:sup>
                          <m:r>
                            <a:rPr lang="en-US" b="0" i="1" smtClean="0">
                              <a:solidFill>
                                <a:srgbClr val="FF0000"/>
                              </a:solidFill>
                              <a:latin typeface="Cambria Math" panose="02040503050406030204" pitchFamily="18" charset="0"/>
                            </a:rPr>
                            <m:t>−</m:t>
                          </m:r>
                          <m:r>
                            <a:rPr lang="en-US" b="0" i="1" smtClean="0">
                              <a:solidFill>
                                <a:srgbClr val="FF0000"/>
                              </a:solidFill>
                              <a:latin typeface="Cambria Math" panose="02040503050406030204" pitchFamily="18" charset="0"/>
                            </a:rPr>
                            <m:t>𝑗</m:t>
                          </m:r>
                          <m:r>
                            <a:rPr lang="en-US" b="0" i="1" smtClean="0">
                              <a:solidFill>
                                <a:srgbClr val="FF0000"/>
                              </a:solidFill>
                              <a:latin typeface="Cambria Math" panose="02040503050406030204" pitchFamily="18" charset="0"/>
                            </a:rPr>
                            <m:t>𝜃</m:t>
                          </m:r>
                        </m:sup>
                      </m:sSup>
                    </m:oMath>
                  </m:oMathPara>
                </a14:m>
                <a:endParaRPr lang="en-US" dirty="0"/>
              </a:p>
              <a:p>
                <a:pPr marL="0" indent="0">
                  <a:lnSpc>
                    <a:spcPct val="100000"/>
                  </a:lnSpc>
                  <a:buNone/>
                </a:pPr>
                <a:r>
                  <a:rPr lang="en-US" dirty="0"/>
                  <a:t>   </a:t>
                </a:r>
                <a:r>
                  <a:rPr lang="en-US" dirty="0">
                    <a:solidFill>
                      <a:srgbClr val="FF0000"/>
                    </a:solidFill>
                  </a:rPr>
                  <a:t>obtain an expression for the ratio </a:t>
                </a:r>
                <a14:m>
                  <m:oMath xmlns:m="http://schemas.openxmlformats.org/officeDocument/2006/math">
                    <m:d>
                      <m:dPr>
                        <m:begChr m:val="|"/>
                        <m:endChr m:val="|"/>
                        <m:ctrlPr>
                          <a:rPr lang="en-US" i="1" smtClean="0">
                            <a:solidFill>
                              <a:srgbClr val="FF0000"/>
                            </a:solidFill>
                            <a:latin typeface="Cambria Math" panose="02040503050406030204" pitchFamily="18" charset="0"/>
                          </a:rPr>
                        </m:ctrlPr>
                      </m:dPr>
                      <m:e>
                        <m:f>
                          <m:fPr>
                            <m:ctrlPr>
                              <a:rPr lang="en-US" i="1">
                                <a:solidFill>
                                  <a:srgbClr val="FF0000"/>
                                </a:solidFill>
                                <a:latin typeface="Cambria Math" panose="02040503050406030204" pitchFamily="18" charset="0"/>
                              </a:rPr>
                            </m:ctrlPr>
                          </m:fPr>
                          <m:num>
                            <m:sSup>
                              <m:sSupPr>
                                <m:ctrlPr>
                                  <a:rPr lang="en-US" i="1">
                                    <a:solidFill>
                                      <a:srgbClr val="FF0000"/>
                                    </a:solidFill>
                                    <a:latin typeface="Cambria Math" panose="02040503050406030204" pitchFamily="18" charset="0"/>
                                  </a:rPr>
                                </m:ctrlPr>
                              </m:sSupPr>
                              <m:e>
                                <m:r>
                                  <a:rPr lang="en-US" i="1">
                                    <a:solidFill>
                                      <a:srgbClr val="FF0000"/>
                                    </a:solidFill>
                                    <a:latin typeface="Cambria Math" panose="02040503050406030204" pitchFamily="18" charset="0"/>
                                  </a:rPr>
                                  <m:t>𝐴</m:t>
                                </m:r>
                              </m:e>
                              <m:sup>
                                <m:r>
                                  <a:rPr lang="en-US" i="1">
                                    <a:solidFill>
                                      <a:srgbClr val="FF0000"/>
                                    </a:solidFill>
                                    <a:latin typeface="Cambria Math" panose="02040503050406030204" pitchFamily="18" charset="0"/>
                                  </a:rPr>
                                  <m:t>𝑛</m:t>
                                </m:r>
                                <m:r>
                                  <a:rPr lang="en-US" i="1">
                                    <a:solidFill>
                                      <a:srgbClr val="FF0000"/>
                                    </a:solidFill>
                                    <a:latin typeface="Cambria Math" panose="02040503050406030204" pitchFamily="18" charset="0"/>
                                  </a:rPr>
                                  <m:t>+1</m:t>
                                </m:r>
                              </m:sup>
                            </m:sSup>
                          </m:num>
                          <m:den>
                            <m:sSup>
                              <m:sSupPr>
                                <m:ctrlPr>
                                  <a:rPr lang="en-US" i="1">
                                    <a:solidFill>
                                      <a:srgbClr val="FF0000"/>
                                    </a:solidFill>
                                    <a:latin typeface="Cambria Math" panose="02040503050406030204" pitchFamily="18" charset="0"/>
                                  </a:rPr>
                                </m:ctrlPr>
                              </m:sSupPr>
                              <m:e>
                                <m:r>
                                  <a:rPr lang="en-US" i="1">
                                    <a:solidFill>
                                      <a:srgbClr val="FF0000"/>
                                    </a:solidFill>
                                    <a:latin typeface="Cambria Math" panose="02040503050406030204" pitchFamily="18" charset="0"/>
                                  </a:rPr>
                                  <m:t>𝐴</m:t>
                                </m:r>
                              </m:e>
                              <m:sup>
                                <m:r>
                                  <a:rPr lang="en-US" i="1">
                                    <a:solidFill>
                                      <a:srgbClr val="FF0000"/>
                                    </a:solidFill>
                                    <a:latin typeface="Cambria Math" panose="02040503050406030204" pitchFamily="18" charset="0"/>
                                  </a:rPr>
                                  <m:t>𝑛</m:t>
                                </m:r>
                              </m:sup>
                            </m:sSup>
                          </m:den>
                        </m:f>
                      </m:e>
                    </m:d>
                    <m:r>
                      <a:rPr lang="en-US" b="0" i="0" smtClean="0">
                        <a:solidFill>
                          <a:srgbClr val="FF0000"/>
                        </a:solidFill>
                        <a:latin typeface="Cambria Math" panose="02040503050406030204" pitchFamily="18" charset="0"/>
                      </a:rPr>
                      <m:t> </m:t>
                    </m:r>
                  </m:oMath>
                </a14:m>
                <a:r>
                  <a:rPr lang="en-US" dirty="0">
                    <a:solidFill>
                      <a:srgbClr val="FF0000"/>
                    </a:solidFill>
                  </a:rPr>
                  <a:t>by placing these expressions </a:t>
                </a:r>
              </a:p>
              <a:p>
                <a:pPr marL="0" indent="0">
                  <a:lnSpc>
                    <a:spcPct val="100000"/>
                  </a:lnSpc>
                  <a:buNone/>
                </a:pPr>
                <a:r>
                  <a:rPr lang="en-US" dirty="0">
                    <a:solidFill>
                      <a:srgbClr val="FF0000"/>
                    </a:solidFill>
                  </a:rPr>
                  <a:t>   in the discretized diffusion equation.</a:t>
                </a:r>
              </a:p>
            </p:txBody>
          </p:sp>
        </mc:Choice>
        <mc:Fallback xmlns="">
          <p:sp>
            <p:nvSpPr>
              <p:cNvPr id="3" name="Content Placeholder 2">
                <a:extLst>
                  <a:ext uri="{FF2B5EF4-FFF2-40B4-BE49-F238E27FC236}">
                    <a16:creationId xmlns:a16="http://schemas.microsoft.com/office/drawing/2014/main" id="{15C4FD65-F675-944D-A379-3A5FFFAEB784}"/>
                  </a:ext>
                </a:extLst>
              </p:cNvPr>
              <p:cNvSpPr>
                <a:spLocks noGrp="1" noRot="1" noChangeAspect="1" noMove="1" noResize="1" noEditPoints="1" noAdjustHandles="1" noChangeArrowheads="1" noChangeShapeType="1" noTextEdit="1"/>
              </p:cNvSpPr>
              <p:nvPr>
                <p:ph idx="1"/>
              </p:nvPr>
            </p:nvSpPr>
            <p:spPr>
              <a:xfrm>
                <a:off x="838200" y="1325562"/>
                <a:ext cx="10515600" cy="5532437"/>
              </a:xfrm>
              <a:blipFill>
                <a:blip r:embed="rId2"/>
                <a:stretch>
                  <a:fillRect l="-965" t="-915"/>
                </a:stretch>
              </a:blipFill>
            </p:spPr>
            <p:txBody>
              <a:bodyPr/>
              <a:lstStyle/>
              <a:p>
                <a:r>
                  <a:rPr lang="en-US">
                    <a:noFill/>
                  </a:rPr>
                  <a:t> </a:t>
                </a:r>
              </a:p>
            </p:txBody>
          </p:sp>
        </mc:Fallback>
      </mc:AlternateContent>
    </p:spTree>
    <p:extLst>
      <p:ext uri="{BB962C8B-B14F-4D97-AF65-F5344CB8AC3E}">
        <p14:creationId xmlns:p14="http://schemas.microsoft.com/office/powerpoint/2010/main" val="2634459913"/>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DCE2F9-F4C3-DA4C-B0FC-7FF6F22D148C}"/>
              </a:ext>
            </a:extLst>
          </p:cNvPr>
          <p:cNvSpPr>
            <a:spLocks noGrp="1"/>
          </p:cNvSpPr>
          <p:nvPr>
            <p:ph type="title"/>
          </p:nvPr>
        </p:nvSpPr>
        <p:spPr>
          <a:xfrm>
            <a:off x="838200" y="0"/>
            <a:ext cx="10515600" cy="1325563"/>
          </a:xfrm>
        </p:spPr>
        <p:txBody>
          <a:bodyPr/>
          <a:lstStyle/>
          <a:p>
            <a:r>
              <a:rPr lang="en-US" dirty="0"/>
              <a:t>Solution: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5C4FD65-F675-944D-A379-3A5FFFAEB784}"/>
                  </a:ext>
                </a:extLst>
              </p:cNvPr>
              <p:cNvSpPr>
                <a:spLocks noGrp="1"/>
              </p:cNvSpPr>
              <p:nvPr>
                <p:ph idx="1"/>
              </p:nvPr>
            </p:nvSpPr>
            <p:spPr>
              <a:xfrm>
                <a:off x="258184" y="1325562"/>
                <a:ext cx="11095616" cy="5532437"/>
              </a:xfrm>
            </p:spPr>
            <p:txBody>
              <a:bodyPr>
                <a:normAutofit/>
              </a:bodyPr>
              <a:lstStyle/>
              <a:p>
                <a:pPr marL="0" indent="0">
                  <a:lnSpc>
                    <a:spcPct val="150000"/>
                  </a:lnSpc>
                  <a:buNone/>
                </a:pPr>
                <a14:m>
                  <m:oMathPara xmlns:m="http://schemas.openxmlformats.org/officeDocument/2006/math">
                    <m:oMathParaPr>
                      <m:jc m:val="centerGroup"/>
                    </m:oMathParaPr>
                    <m:oMath xmlns:m="http://schemas.openxmlformats.org/officeDocument/2006/math">
                      <m:f>
                        <m:fPr>
                          <m:ctrlPr>
                            <a:rPr lang="en-US" b="0" i="1" smtClean="0">
                              <a:solidFill>
                                <a:schemeClr val="tx1"/>
                              </a:solidFill>
                              <a:latin typeface="Cambria Math" panose="02040503050406030204" pitchFamily="18" charset="0"/>
                            </a:rPr>
                          </m:ctrlPr>
                        </m:fPr>
                        <m:num>
                          <m:sSubSup>
                            <m:sSubSupPr>
                              <m:ctrlPr>
                                <a:rPr lang="en-US" b="0" i="1" smtClean="0">
                                  <a:solidFill>
                                    <a:schemeClr val="tx1"/>
                                  </a:solidFill>
                                  <a:latin typeface="Cambria Math" panose="02040503050406030204" pitchFamily="18" charset="0"/>
                                </a:rPr>
                              </m:ctrlPr>
                            </m:sSubSupPr>
                            <m:e>
                              <m:sSubSup>
                                <m:sSubSupPr>
                                  <m:ctrlPr>
                                    <a:rPr lang="en-US" i="1">
                                      <a:solidFill>
                                        <a:schemeClr val="tx1"/>
                                      </a:solidFill>
                                      <a:latin typeface="Cambria Math" panose="02040503050406030204" pitchFamily="18" charset="0"/>
                                    </a:rPr>
                                  </m:ctrlPr>
                                </m:sSubSupPr>
                                <m:e>
                                  <m:r>
                                    <a:rPr lang="en-US" i="1">
                                      <a:solidFill>
                                        <a:schemeClr val="tx1"/>
                                      </a:solidFill>
                                      <a:latin typeface="Cambria Math" panose="02040503050406030204" pitchFamily="18" charset="0"/>
                                    </a:rPr>
                                    <m:t>𝜙</m:t>
                                  </m:r>
                                </m:e>
                                <m:sub>
                                  <m:r>
                                    <a:rPr lang="en-US" i="1">
                                      <a:solidFill>
                                        <a:schemeClr val="tx1"/>
                                      </a:solidFill>
                                      <a:latin typeface="Cambria Math" panose="02040503050406030204" pitchFamily="18" charset="0"/>
                                    </a:rPr>
                                    <m:t>𝑖</m:t>
                                  </m:r>
                                </m:sub>
                                <m:sup>
                                  <m:r>
                                    <a:rPr lang="en-US" i="1">
                                      <a:solidFill>
                                        <a:schemeClr val="tx1"/>
                                      </a:solidFill>
                                      <a:latin typeface="Cambria Math" panose="02040503050406030204" pitchFamily="18" charset="0"/>
                                    </a:rPr>
                                    <m:t>𝑛</m:t>
                                  </m:r>
                                  <m:r>
                                    <a:rPr lang="en-US" i="1">
                                      <a:solidFill>
                                        <a:schemeClr val="tx1"/>
                                      </a:solidFill>
                                      <a:latin typeface="Cambria Math" panose="02040503050406030204" pitchFamily="18" charset="0"/>
                                    </a:rPr>
                                    <m:t>+1</m:t>
                                  </m:r>
                                </m:sup>
                              </m:sSubSup>
                              <m:r>
                                <a:rPr lang="en-US" i="1">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𝜙</m:t>
                              </m:r>
                            </m:e>
                            <m:sub>
                              <m:r>
                                <a:rPr lang="en-US" b="0" i="1" smtClean="0">
                                  <a:solidFill>
                                    <a:schemeClr val="tx1"/>
                                  </a:solidFill>
                                  <a:latin typeface="Cambria Math" panose="02040503050406030204" pitchFamily="18" charset="0"/>
                                </a:rPr>
                                <m:t>𝑖</m:t>
                              </m:r>
                            </m:sub>
                            <m:sup>
                              <m:r>
                                <a:rPr lang="en-US" b="0" i="1" smtClean="0">
                                  <a:solidFill>
                                    <a:schemeClr val="tx1"/>
                                  </a:solidFill>
                                  <a:latin typeface="Cambria Math" panose="02040503050406030204" pitchFamily="18" charset="0"/>
                                </a:rPr>
                                <m:t>𝑛</m:t>
                              </m:r>
                            </m:sup>
                          </m:sSubSup>
                        </m:num>
                        <m:den>
                          <m:r>
                            <m:rPr>
                              <m:sty m:val="p"/>
                            </m:rPr>
                            <a:rPr lang="en-US" b="0" i="0" smtClean="0">
                              <a:solidFill>
                                <a:schemeClr val="tx1"/>
                              </a:solidFill>
                              <a:latin typeface="Cambria Math" panose="02040503050406030204" pitchFamily="18" charset="0"/>
                            </a:rPr>
                            <m:t>Δ</m:t>
                          </m:r>
                          <m:r>
                            <a:rPr lang="en-US" b="0" i="1" smtClean="0">
                              <a:solidFill>
                                <a:schemeClr val="tx1"/>
                              </a:solidFill>
                              <a:latin typeface="Cambria Math" panose="02040503050406030204" pitchFamily="18" charset="0"/>
                            </a:rPr>
                            <m:t>𝑡</m:t>
                          </m:r>
                        </m:den>
                      </m:f>
                      <m:r>
                        <a:rPr lang="en-US" b="0" i="1" smtClean="0">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𝑘</m:t>
                      </m:r>
                      <m:f>
                        <m:fPr>
                          <m:ctrlPr>
                            <a:rPr lang="en-US" i="1">
                              <a:solidFill>
                                <a:schemeClr val="tx1"/>
                              </a:solidFill>
                              <a:latin typeface="Cambria Math" panose="02040503050406030204" pitchFamily="18" charset="0"/>
                            </a:rPr>
                          </m:ctrlPr>
                        </m:fPr>
                        <m:num>
                          <m:sSubSup>
                            <m:sSubSupPr>
                              <m:ctrlPr>
                                <a:rPr lang="en-US" i="1">
                                  <a:solidFill>
                                    <a:schemeClr val="tx1"/>
                                  </a:solidFill>
                                  <a:latin typeface="Cambria Math" panose="02040503050406030204" pitchFamily="18" charset="0"/>
                                </a:rPr>
                              </m:ctrlPr>
                            </m:sSubSupPr>
                            <m:e>
                              <m:sSubSup>
                                <m:sSubSupPr>
                                  <m:ctrlPr>
                                    <a:rPr lang="en-US" i="1">
                                      <a:solidFill>
                                        <a:schemeClr val="tx1"/>
                                      </a:solidFill>
                                      <a:latin typeface="Cambria Math" panose="02040503050406030204" pitchFamily="18" charset="0"/>
                                    </a:rPr>
                                  </m:ctrlPr>
                                </m:sSubSupPr>
                                <m:e>
                                  <m:r>
                                    <a:rPr lang="en-US" i="1">
                                      <a:solidFill>
                                        <a:schemeClr val="tx1"/>
                                      </a:solidFill>
                                      <a:latin typeface="Cambria Math" panose="02040503050406030204" pitchFamily="18" charset="0"/>
                                    </a:rPr>
                                    <m:t>𝜙</m:t>
                                  </m:r>
                                </m:e>
                                <m:sub>
                                  <m:r>
                                    <a:rPr lang="en-US" i="1">
                                      <a:solidFill>
                                        <a:schemeClr val="tx1"/>
                                      </a:solidFill>
                                      <a:latin typeface="Cambria Math" panose="02040503050406030204" pitchFamily="18" charset="0"/>
                                    </a:rPr>
                                    <m:t>𝑖</m:t>
                                  </m:r>
                                  <m:r>
                                    <a:rPr lang="en-US" b="0" i="1" smtClean="0">
                                      <a:solidFill>
                                        <a:schemeClr val="tx1"/>
                                      </a:solidFill>
                                      <a:latin typeface="Cambria Math" panose="02040503050406030204" pitchFamily="18" charset="0"/>
                                    </a:rPr>
                                    <m:t>+1</m:t>
                                  </m:r>
                                </m:sub>
                                <m:sup>
                                  <m:r>
                                    <a:rPr lang="en-US" i="1">
                                      <a:solidFill>
                                        <a:schemeClr val="tx1"/>
                                      </a:solidFill>
                                      <a:latin typeface="Cambria Math" panose="02040503050406030204" pitchFamily="18" charset="0"/>
                                    </a:rPr>
                                    <m:t>𝑛</m:t>
                                  </m:r>
                                </m:sup>
                              </m:sSubSup>
                              <m:r>
                                <a:rPr lang="en-US" i="1">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2</m:t>
                              </m:r>
                              <m:r>
                                <a:rPr lang="en-US" i="1">
                                  <a:solidFill>
                                    <a:schemeClr val="tx1"/>
                                  </a:solidFill>
                                  <a:latin typeface="Cambria Math" panose="02040503050406030204" pitchFamily="18" charset="0"/>
                                </a:rPr>
                                <m:t>𝜙</m:t>
                              </m:r>
                            </m:e>
                            <m:sub>
                              <m:r>
                                <a:rPr lang="en-US" i="1">
                                  <a:solidFill>
                                    <a:schemeClr val="tx1"/>
                                  </a:solidFill>
                                  <a:latin typeface="Cambria Math" panose="02040503050406030204" pitchFamily="18" charset="0"/>
                                </a:rPr>
                                <m:t>𝑖</m:t>
                              </m:r>
                            </m:sub>
                            <m:sup>
                              <m:r>
                                <a:rPr lang="en-US" i="1">
                                  <a:solidFill>
                                    <a:schemeClr val="tx1"/>
                                  </a:solidFill>
                                  <a:latin typeface="Cambria Math" panose="02040503050406030204" pitchFamily="18" charset="0"/>
                                </a:rPr>
                                <m:t>𝑛</m:t>
                              </m:r>
                            </m:sup>
                          </m:sSubSup>
                          <m:r>
                            <a:rPr lang="en-US" b="0" i="1" smtClean="0">
                              <a:solidFill>
                                <a:schemeClr val="tx1"/>
                              </a:solidFill>
                              <a:latin typeface="Cambria Math" panose="02040503050406030204" pitchFamily="18" charset="0"/>
                            </a:rPr>
                            <m:t>+</m:t>
                          </m:r>
                          <m:sSubSup>
                            <m:sSubSupPr>
                              <m:ctrlPr>
                                <a:rPr lang="en-US" b="0" i="1" smtClean="0">
                                  <a:solidFill>
                                    <a:schemeClr val="tx1"/>
                                  </a:solidFill>
                                  <a:latin typeface="Cambria Math" panose="02040503050406030204" pitchFamily="18" charset="0"/>
                                </a:rPr>
                              </m:ctrlPr>
                            </m:sSubSupPr>
                            <m:e>
                              <m:r>
                                <a:rPr lang="en-US" b="0" i="1" smtClean="0">
                                  <a:solidFill>
                                    <a:schemeClr val="tx1"/>
                                  </a:solidFill>
                                  <a:latin typeface="Cambria Math" panose="02040503050406030204" pitchFamily="18" charset="0"/>
                                </a:rPr>
                                <m:t>𝜙</m:t>
                              </m:r>
                            </m:e>
                            <m:sub>
                              <m:r>
                                <a:rPr lang="en-US" b="0" i="1" smtClean="0">
                                  <a:solidFill>
                                    <a:schemeClr val="tx1"/>
                                  </a:solidFill>
                                  <a:latin typeface="Cambria Math" panose="02040503050406030204" pitchFamily="18" charset="0"/>
                                </a:rPr>
                                <m:t>𝑖</m:t>
                              </m:r>
                              <m:r>
                                <a:rPr lang="en-US" b="0" i="1" smtClean="0">
                                  <a:solidFill>
                                    <a:schemeClr val="tx1"/>
                                  </a:solidFill>
                                  <a:latin typeface="Cambria Math" panose="02040503050406030204" pitchFamily="18" charset="0"/>
                                </a:rPr>
                                <m:t>−1</m:t>
                              </m:r>
                            </m:sub>
                            <m:sup>
                              <m:r>
                                <a:rPr lang="en-US" b="0" i="1" smtClean="0">
                                  <a:solidFill>
                                    <a:schemeClr val="tx1"/>
                                  </a:solidFill>
                                  <a:latin typeface="Cambria Math" panose="02040503050406030204" pitchFamily="18" charset="0"/>
                                </a:rPr>
                                <m:t>𝑛</m:t>
                              </m:r>
                            </m:sup>
                          </m:sSubSup>
                          <m:r>
                            <a:rPr lang="en-US" b="0" i="1" smtClean="0">
                              <a:solidFill>
                                <a:schemeClr val="tx1"/>
                              </a:solidFill>
                              <a:latin typeface="Cambria Math" panose="02040503050406030204" pitchFamily="18" charset="0"/>
                            </a:rPr>
                            <m:t> </m:t>
                          </m:r>
                        </m:num>
                        <m:den>
                          <m:r>
                            <m:rPr>
                              <m:sty m:val="p"/>
                            </m:rPr>
                            <a:rPr lang="en-US">
                              <a:solidFill>
                                <a:schemeClr val="tx1"/>
                              </a:solidFill>
                              <a:latin typeface="Cambria Math" panose="02040503050406030204" pitchFamily="18" charset="0"/>
                            </a:rPr>
                            <m:t>Δ</m:t>
                          </m:r>
                          <m:sSup>
                            <m:sSupPr>
                              <m:ctrlPr>
                                <a:rPr lang="en-US" b="0" i="1" smtClean="0">
                                  <a:solidFill>
                                    <a:schemeClr val="tx1"/>
                                  </a:solidFill>
                                  <a:latin typeface="Cambria Math" panose="02040503050406030204" pitchFamily="18" charset="0"/>
                                </a:rPr>
                              </m:ctrlPr>
                            </m:sSupPr>
                            <m:e>
                              <m:r>
                                <a:rPr lang="en-US" b="0" i="1" smtClean="0">
                                  <a:solidFill>
                                    <a:schemeClr val="tx1"/>
                                  </a:solidFill>
                                  <a:latin typeface="Cambria Math" panose="02040503050406030204" pitchFamily="18" charset="0"/>
                                </a:rPr>
                                <m:t>𝑥</m:t>
                              </m:r>
                            </m:e>
                            <m:sup>
                              <m:r>
                                <a:rPr lang="en-US" b="0" i="1" smtClean="0">
                                  <a:solidFill>
                                    <a:schemeClr val="tx1"/>
                                  </a:solidFill>
                                  <a:latin typeface="Cambria Math" panose="02040503050406030204" pitchFamily="18" charset="0"/>
                                </a:rPr>
                                <m:t>2</m:t>
                              </m:r>
                            </m:sup>
                          </m:sSup>
                        </m:den>
                      </m:f>
                    </m:oMath>
                  </m:oMathPara>
                </a14:m>
                <a:endParaRPr lang="en-US" dirty="0">
                  <a:solidFill>
                    <a:schemeClr val="tx1"/>
                  </a:solidFill>
                </a:endParaRPr>
              </a:p>
              <a:p>
                <a:pPr marL="0" indent="0">
                  <a:buNone/>
                </a:pPr>
                <a14:m>
                  <m:oMathPara xmlns:m="http://schemas.openxmlformats.org/officeDocument/2006/math">
                    <m:oMathParaPr>
                      <m:jc m:val="centerGroup"/>
                    </m:oMathParaPr>
                    <m:oMath xmlns:m="http://schemas.openxmlformats.org/officeDocument/2006/math">
                      <m:f>
                        <m:fPr>
                          <m:ctrlPr>
                            <a:rPr lang="en-US" i="1">
                              <a:solidFill>
                                <a:schemeClr val="tx1"/>
                              </a:solidFill>
                              <a:latin typeface="Cambria Math" panose="02040503050406030204" pitchFamily="18" charset="0"/>
                            </a:rPr>
                          </m:ctrlPr>
                        </m:fPr>
                        <m:num>
                          <m:sSup>
                            <m:sSupPr>
                              <m:ctrlPr>
                                <a:rPr lang="en-US" i="1">
                                  <a:solidFill>
                                    <a:schemeClr val="tx1"/>
                                  </a:solidFill>
                                  <a:latin typeface="Cambria Math" panose="02040503050406030204" pitchFamily="18" charset="0"/>
                                </a:rPr>
                              </m:ctrlPr>
                            </m:sSupPr>
                            <m:e>
                              <m:d>
                                <m:dPr>
                                  <m:ctrlPr>
                                    <a:rPr lang="en-US" b="0" i="1" smtClean="0">
                                      <a:solidFill>
                                        <a:schemeClr val="tx1"/>
                                      </a:solidFill>
                                      <a:latin typeface="Cambria Math" panose="02040503050406030204" pitchFamily="18" charset="0"/>
                                    </a:rPr>
                                  </m:ctrlPr>
                                </m:dPr>
                                <m:e>
                                  <m:sSup>
                                    <m:sSupPr>
                                      <m:ctrlPr>
                                        <a:rPr lang="en-US" i="1">
                                          <a:solidFill>
                                            <a:schemeClr val="tx1"/>
                                          </a:solidFill>
                                          <a:latin typeface="Cambria Math" panose="02040503050406030204" pitchFamily="18" charset="0"/>
                                        </a:rPr>
                                      </m:ctrlPr>
                                    </m:sSupPr>
                                    <m:e>
                                      <m:r>
                                        <a:rPr lang="en-US" i="1">
                                          <a:solidFill>
                                            <a:schemeClr val="tx1"/>
                                          </a:solidFill>
                                          <a:latin typeface="Cambria Math" panose="02040503050406030204" pitchFamily="18" charset="0"/>
                                        </a:rPr>
                                        <m:t>𝐴</m:t>
                                      </m:r>
                                    </m:e>
                                    <m:sup>
                                      <m:r>
                                        <a:rPr lang="en-US" i="1">
                                          <a:solidFill>
                                            <a:schemeClr val="tx1"/>
                                          </a:solidFill>
                                          <a:latin typeface="Cambria Math" panose="02040503050406030204" pitchFamily="18" charset="0"/>
                                        </a:rPr>
                                        <m:t>𝑛</m:t>
                                      </m:r>
                                      <m:r>
                                        <a:rPr lang="en-US" i="1">
                                          <a:solidFill>
                                            <a:schemeClr val="tx1"/>
                                          </a:solidFill>
                                          <a:latin typeface="Cambria Math" panose="02040503050406030204" pitchFamily="18" charset="0"/>
                                        </a:rPr>
                                        <m:t>+1</m:t>
                                      </m:r>
                                    </m:sup>
                                  </m:sSup>
                                  <m:r>
                                    <a:rPr lang="en-US" i="1">
                                      <a:solidFill>
                                        <a:schemeClr val="tx1"/>
                                      </a:solidFill>
                                      <a:latin typeface="Cambria Math" panose="02040503050406030204" pitchFamily="18" charset="0"/>
                                    </a:rPr>
                                    <m:t>−</m:t>
                                  </m:r>
                                  <m:sSup>
                                    <m:sSupPr>
                                      <m:ctrlPr>
                                        <a:rPr lang="en-US" i="1">
                                          <a:solidFill>
                                            <a:schemeClr val="tx1"/>
                                          </a:solidFill>
                                          <a:latin typeface="Cambria Math" panose="02040503050406030204" pitchFamily="18" charset="0"/>
                                        </a:rPr>
                                      </m:ctrlPr>
                                    </m:sSupPr>
                                    <m:e>
                                      <m:r>
                                        <a:rPr lang="en-US" i="1">
                                          <a:solidFill>
                                            <a:schemeClr val="tx1"/>
                                          </a:solidFill>
                                          <a:latin typeface="Cambria Math" panose="02040503050406030204" pitchFamily="18" charset="0"/>
                                        </a:rPr>
                                        <m:t>𝐴</m:t>
                                      </m:r>
                                    </m:e>
                                    <m:sup>
                                      <m:r>
                                        <a:rPr lang="en-US" i="1">
                                          <a:solidFill>
                                            <a:schemeClr val="tx1"/>
                                          </a:solidFill>
                                          <a:latin typeface="Cambria Math" panose="02040503050406030204" pitchFamily="18" charset="0"/>
                                        </a:rPr>
                                        <m:t>𝑛</m:t>
                                      </m:r>
                                    </m:sup>
                                  </m:sSup>
                                </m:e>
                              </m:d>
                              <m:r>
                                <a:rPr lang="en-US" i="1">
                                  <a:solidFill>
                                    <a:schemeClr val="tx1"/>
                                  </a:solidFill>
                                  <a:latin typeface="Cambria Math" panose="02040503050406030204" pitchFamily="18" charset="0"/>
                                </a:rPr>
                                <m:t>𝑒</m:t>
                              </m:r>
                            </m:e>
                            <m:sup>
                              <m:r>
                                <a:rPr lang="en-US" i="1">
                                  <a:solidFill>
                                    <a:schemeClr val="tx1"/>
                                  </a:solidFill>
                                  <a:latin typeface="Cambria Math" panose="02040503050406030204" pitchFamily="18" charset="0"/>
                                </a:rPr>
                                <m:t>−</m:t>
                              </m:r>
                              <m:r>
                                <a:rPr lang="en-US" i="1">
                                  <a:solidFill>
                                    <a:schemeClr val="tx1"/>
                                  </a:solidFill>
                                  <a:latin typeface="Cambria Math" panose="02040503050406030204" pitchFamily="18" charset="0"/>
                                </a:rPr>
                                <m:t>𝑗</m:t>
                              </m:r>
                              <m:acc>
                                <m:accPr>
                                  <m:chr m:val="̃"/>
                                  <m:ctrlPr>
                                    <a:rPr lang="en-US" i="1">
                                      <a:solidFill>
                                        <a:schemeClr val="tx1"/>
                                      </a:solidFill>
                                      <a:latin typeface="Cambria Math" panose="02040503050406030204" pitchFamily="18" charset="0"/>
                                    </a:rPr>
                                  </m:ctrlPr>
                                </m:accPr>
                                <m:e>
                                  <m:r>
                                    <a:rPr lang="en-US" i="1">
                                      <a:solidFill>
                                        <a:schemeClr val="tx1"/>
                                      </a:solidFill>
                                      <a:latin typeface="Cambria Math" panose="02040503050406030204" pitchFamily="18" charset="0"/>
                                    </a:rPr>
                                    <m:t>𝑘</m:t>
                                  </m:r>
                                </m:e>
                              </m:acc>
                              <m:r>
                                <a:rPr lang="en-US" i="1">
                                  <a:solidFill>
                                    <a:schemeClr val="tx1"/>
                                  </a:solidFill>
                                  <a:latin typeface="Cambria Math" panose="02040503050406030204" pitchFamily="18" charset="0"/>
                                </a:rPr>
                                <m:t>𝑥</m:t>
                              </m:r>
                            </m:sup>
                          </m:sSup>
                        </m:num>
                        <m:den>
                          <m:r>
                            <m:rPr>
                              <m:sty m:val="p"/>
                            </m:rPr>
                            <a:rPr lang="en-US">
                              <a:solidFill>
                                <a:schemeClr val="tx1"/>
                              </a:solidFill>
                              <a:latin typeface="Cambria Math" panose="02040503050406030204" pitchFamily="18" charset="0"/>
                            </a:rPr>
                            <m:t>Δ</m:t>
                          </m:r>
                          <m:r>
                            <a:rPr lang="en-US" i="1">
                              <a:solidFill>
                                <a:schemeClr val="tx1"/>
                              </a:solidFill>
                              <a:latin typeface="Cambria Math" panose="02040503050406030204" pitchFamily="18" charset="0"/>
                            </a:rPr>
                            <m:t>𝑡</m:t>
                          </m:r>
                        </m:den>
                      </m:f>
                      <m:r>
                        <a:rPr lang="en-US" i="1">
                          <a:solidFill>
                            <a:schemeClr val="tx1"/>
                          </a:solidFill>
                          <a:latin typeface="Cambria Math" panose="02040503050406030204" pitchFamily="18" charset="0"/>
                        </a:rPr>
                        <m:t>=</m:t>
                      </m:r>
                      <m:r>
                        <a:rPr lang="en-US" i="1">
                          <a:solidFill>
                            <a:schemeClr val="tx1"/>
                          </a:solidFill>
                          <a:latin typeface="Cambria Math" panose="02040503050406030204" pitchFamily="18" charset="0"/>
                        </a:rPr>
                        <m:t>𝑘</m:t>
                      </m:r>
                      <m:f>
                        <m:fPr>
                          <m:ctrlPr>
                            <a:rPr lang="en-US" i="1">
                              <a:solidFill>
                                <a:schemeClr val="tx1"/>
                              </a:solidFill>
                              <a:latin typeface="Cambria Math" panose="02040503050406030204" pitchFamily="18" charset="0"/>
                            </a:rPr>
                          </m:ctrlPr>
                        </m:fPr>
                        <m:num>
                          <m:sSup>
                            <m:sSupPr>
                              <m:ctrlPr>
                                <a:rPr lang="en-US" i="1">
                                  <a:solidFill>
                                    <a:schemeClr val="tx1"/>
                                  </a:solidFill>
                                  <a:latin typeface="Cambria Math" panose="02040503050406030204" pitchFamily="18" charset="0"/>
                                </a:rPr>
                              </m:ctrlPr>
                            </m:sSupPr>
                            <m:e>
                              <m:r>
                                <a:rPr lang="en-US" i="1">
                                  <a:solidFill>
                                    <a:schemeClr val="tx1"/>
                                  </a:solidFill>
                                  <a:latin typeface="Cambria Math" panose="02040503050406030204" pitchFamily="18" charset="0"/>
                                </a:rPr>
                                <m:t>𝐴</m:t>
                              </m:r>
                            </m:e>
                            <m:sup>
                              <m:r>
                                <a:rPr lang="en-US" i="1">
                                  <a:solidFill>
                                    <a:schemeClr val="tx1"/>
                                  </a:solidFill>
                                  <a:latin typeface="Cambria Math" panose="02040503050406030204" pitchFamily="18" charset="0"/>
                                </a:rPr>
                                <m:t>𝑛</m:t>
                              </m:r>
                            </m:sup>
                          </m:sSup>
                          <m:d>
                            <m:dPr>
                              <m:ctrlPr>
                                <a:rPr lang="en-US" i="1">
                                  <a:solidFill>
                                    <a:schemeClr val="tx1"/>
                                  </a:solidFill>
                                  <a:latin typeface="Cambria Math" panose="02040503050406030204" pitchFamily="18" charset="0"/>
                                </a:rPr>
                              </m:ctrlPr>
                            </m:dPr>
                            <m:e>
                              <m:sSup>
                                <m:sSupPr>
                                  <m:ctrlPr>
                                    <a:rPr lang="en-US" i="1">
                                      <a:solidFill>
                                        <a:schemeClr val="tx1"/>
                                      </a:solidFill>
                                      <a:latin typeface="Cambria Math" panose="02040503050406030204" pitchFamily="18" charset="0"/>
                                    </a:rPr>
                                  </m:ctrlPr>
                                </m:sSupPr>
                                <m:e>
                                  <m:r>
                                    <a:rPr lang="en-US" i="1">
                                      <a:solidFill>
                                        <a:schemeClr val="tx1"/>
                                      </a:solidFill>
                                      <a:latin typeface="Cambria Math" panose="02040503050406030204" pitchFamily="18" charset="0"/>
                                    </a:rPr>
                                    <m:t>𝑒</m:t>
                                  </m:r>
                                </m:e>
                                <m:sup>
                                  <m:r>
                                    <a:rPr lang="en-US" i="1">
                                      <a:solidFill>
                                        <a:schemeClr val="tx1"/>
                                      </a:solidFill>
                                      <a:latin typeface="Cambria Math" panose="02040503050406030204" pitchFamily="18" charset="0"/>
                                    </a:rPr>
                                    <m:t>−</m:t>
                                  </m:r>
                                  <m:r>
                                    <a:rPr lang="en-US" i="1">
                                      <a:solidFill>
                                        <a:schemeClr val="tx1"/>
                                      </a:solidFill>
                                      <a:latin typeface="Cambria Math" panose="02040503050406030204" pitchFamily="18" charset="0"/>
                                    </a:rPr>
                                    <m:t>𝑗</m:t>
                                  </m:r>
                                  <m:acc>
                                    <m:accPr>
                                      <m:chr m:val="̃"/>
                                      <m:ctrlPr>
                                        <a:rPr lang="en-US" i="1">
                                          <a:solidFill>
                                            <a:schemeClr val="tx1"/>
                                          </a:solidFill>
                                          <a:latin typeface="Cambria Math" panose="02040503050406030204" pitchFamily="18" charset="0"/>
                                        </a:rPr>
                                      </m:ctrlPr>
                                    </m:accPr>
                                    <m:e>
                                      <m:r>
                                        <a:rPr lang="en-US" i="1">
                                          <a:solidFill>
                                            <a:schemeClr val="tx1"/>
                                          </a:solidFill>
                                          <a:latin typeface="Cambria Math" panose="02040503050406030204" pitchFamily="18" charset="0"/>
                                        </a:rPr>
                                        <m:t>𝑘</m:t>
                                      </m:r>
                                    </m:e>
                                  </m:acc>
                                  <m:r>
                                    <a:rPr lang="en-US" i="1">
                                      <a:solidFill>
                                        <a:schemeClr val="tx1"/>
                                      </a:solidFill>
                                      <a:latin typeface="Cambria Math" panose="02040503050406030204" pitchFamily="18" charset="0"/>
                                    </a:rPr>
                                    <m:t> (</m:t>
                                  </m:r>
                                  <m:r>
                                    <a:rPr lang="en-US" i="1">
                                      <a:solidFill>
                                        <a:schemeClr val="tx1"/>
                                      </a:solidFill>
                                      <a:latin typeface="Cambria Math" panose="02040503050406030204" pitchFamily="18" charset="0"/>
                                    </a:rPr>
                                    <m:t>𝑥</m:t>
                                  </m:r>
                                  <m:r>
                                    <a:rPr lang="en-US" i="1">
                                      <a:solidFill>
                                        <a:schemeClr val="tx1"/>
                                      </a:solidFill>
                                      <a:latin typeface="Cambria Math" panose="02040503050406030204" pitchFamily="18" charset="0"/>
                                    </a:rPr>
                                    <m:t>+</m:t>
                                  </m:r>
                                  <m:r>
                                    <m:rPr>
                                      <m:sty m:val="p"/>
                                    </m:rPr>
                                    <a:rPr lang="en-US">
                                      <a:solidFill>
                                        <a:schemeClr val="tx1"/>
                                      </a:solidFill>
                                      <a:latin typeface="Cambria Math" panose="02040503050406030204" pitchFamily="18" charset="0"/>
                                    </a:rPr>
                                    <m:t>Δ</m:t>
                                  </m:r>
                                  <m:r>
                                    <a:rPr lang="en-US" i="1">
                                      <a:solidFill>
                                        <a:schemeClr val="tx1"/>
                                      </a:solidFill>
                                      <a:latin typeface="Cambria Math" panose="02040503050406030204" pitchFamily="18" charset="0"/>
                                    </a:rPr>
                                    <m:t>𝑥</m:t>
                                  </m:r>
                                  <m:r>
                                    <a:rPr lang="en-US" i="1">
                                      <a:solidFill>
                                        <a:schemeClr val="tx1"/>
                                      </a:solidFill>
                                      <a:latin typeface="Cambria Math" panose="02040503050406030204" pitchFamily="18" charset="0"/>
                                    </a:rPr>
                                    <m:t>)</m:t>
                                  </m:r>
                                </m:sup>
                              </m:sSup>
                              <m:r>
                                <a:rPr lang="en-US" i="1">
                                  <a:solidFill>
                                    <a:schemeClr val="tx1"/>
                                  </a:solidFill>
                                  <a:latin typeface="Cambria Math" panose="02040503050406030204" pitchFamily="18" charset="0"/>
                                </a:rPr>
                                <m:t>−</m:t>
                              </m:r>
                              <m:sSup>
                                <m:sSupPr>
                                  <m:ctrlPr>
                                    <a:rPr lang="en-US" i="1">
                                      <a:solidFill>
                                        <a:schemeClr val="tx1"/>
                                      </a:solidFill>
                                      <a:latin typeface="Cambria Math" panose="02040503050406030204" pitchFamily="18" charset="0"/>
                                    </a:rPr>
                                  </m:ctrlPr>
                                </m:sSupPr>
                                <m:e>
                                  <m:r>
                                    <a:rPr lang="en-US" i="1">
                                      <a:solidFill>
                                        <a:schemeClr val="tx1"/>
                                      </a:solidFill>
                                      <a:latin typeface="Cambria Math" panose="02040503050406030204" pitchFamily="18" charset="0"/>
                                    </a:rPr>
                                    <m:t>2</m:t>
                                  </m:r>
                                  <m:r>
                                    <a:rPr lang="en-US" i="1">
                                      <a:solidFill>
                                        <a:schemeClr val="tx1"/>
                                      </a:solidFill>
                                      <a:latin typeface="Cambria Math" panose="02040503050406030204" pitchFamily="18" charset="0"/>
                                    </a:rPr>
                                    <m:t>𝑒</m:t>
                                  </m:r>
                                </m:e>
                                <m:sup>
                                  <m:r>
                                    <a:rPr lang="en-US" i="1">
                                      <a:solidFill>
                                        <a:schemeClr val="tx1"/>
                                      </a:solidFill>
                                      <a:latin typeface="Cambria Math" panose="02040503050406030204" pitchFamily="18" charset="0"/>
                                    </a:rPr>
                                    <m:t>−</m:t>
                                  </m:r>
                                  <m:r>
                                    <a:rPr lang="en-US" i="1">
                                      <a:solidFill>
                                        <a:schemeClr val="tx1"/>
                                      </a:solidFill>
                                      <a:latin typeface="Cambria Math" panose="02040503050406030204" pitchFamily="18" charset="0"/>
                                    </a:rPr>
                                    <m:t>𝑗</m:t>
                                  </m:r>
                                  <m:acc>
                                    <m:accPr>
                                      <m:chr m:val="̃"/>
                                      <m:ctrlPr>
                                        <a:rPr lang="en-US" i="1">
                                          <a:solidFill>
                                            <a:schemeClr val="tx1"/>
                                          </a:solidFill>
                                          <a:latin typeface="Cambria Math" panose="02040503050406030204" pitchFamily="18" charset="0"/>
                                        </a:rPr>
                                      </m:ctrlPr>
                                    </m:accPr>
                                    <m:e>
                                      <m:r>
                                        <a:rPr lang="en-US" i="1">
                                          <a:solidFill>
                                            <a:schemeClr val="tx1"/>
                                          </a:solidFill>
                                          <a:latin typeface="Cambria Math" panose="02040503050406030204" pitchFamily="18" charset="0"/>
                                        </a:rPr>
                                        <m:t>𝑘</m:t>
                                      </m:r>
                                    </m:e>
                                  </m:acc>
                                  <m:r>
                                    <a:rPr lang="en-US" i="1">
                                      <a:solidFill>
                                        <a:schemeClr val="tx1"/>
                                      </a:solidFill>
                                      <a:latin typeface="Cambria Math" panose="02040503050406030204" pitchFamily="18" charset="0"/>
                                    </a:rPr>
                                    <m:t> </m:t>
                                  </m:r>
                                  <m:r>
                                    <a:rPr lang="en-US" i="1">
                                      <a:solidFill>
                                        <a:schemeClr val="tx1"/>
                                      </a:solidFill>
                                      <a:latin typeface="Cambria Math" panose="02040503050406030204" pitchFamily="18" charset="0"/>
                                    </a:rPr>
                                    <m:t>𝑥</m:t>
                                  </m:r>
                                </m:sup>
                              </m:sSup>
                              <m:r>
                                <a:rPr lang="en-US" i="1">
                                  <a:solidFill>
                                    <a:schemeClr val="tx1"/>
                                  </a:solidFill>
                                  <a:latin typeface="Cambria Math" panose="02040503050406030204" pitchFamily="18" charset="0"/>
                                </a:rPr>
                                <m:t>+</m:t>
                              </m:r>
                              <m:sSup>
                                <m:sSupPr>
                                  <m:ctrlPr>
                                    <a:rPr lang="en-US" i="1">
                                      <a:solidFill>
                                        <a:schemeClr val="tx1"/>
                                      </a:solidFill>
                                      <a:latin typeface="Cambria Math" panose="02040503050406030204" pitchFamily="18" charset="0"/>
                                    </a:rPr>
                                  </m:ctrlPr>
                                </m:sSupPr>
                                <m:e>
                                  <m:r>
                                    <a:rPr lang="en-US" i="1">
                                      <a:solidFill>
                                        <a:schemeClr val="tx1"/>
                                      </a:solidFill>
                                      <a:latin typeface="Cambria Math" panose="02040503050406030204" pitchFamily="18" charset="0"/>
                                    </a:rPr>
                                    <m:t>𝑒</m:t>
                                  </m:r>
                                </m:e>
                                <m:sup>
                                  <m:r>
                                    <a:rPr lang="en-US" i="1">
                                      <a:solidFill>
                                        <a:schemeClr val="tx1"/>
                                      </a:solidFill>
                                      <a:latin typeface="Cambria Math" panose="02040503050406030204" pitchFamily="18" charset="0"/>
                                    </a:rPr>
                                    <m:t>−</m:t>
                                  </m:r>
                                  <m:r>
                                    <a:rPr lang="en-US" i="1">
                                      <a:solidFill>
                                        <a:schemeClr val="tx1"/>
                                      </a:solidFill>
                                      <a:latin typeface="Cambria Math" panose="02040503050406030204" pitchFamily="18" charset="0"/>
                                    </a:rPr>
                                    <m:t>𝑗</m:t>
                                  </m:r>
                                  <m:acc>
                                    <m:accPr>
                                      <m:chr m:val="̃"/>
                                      <m:ctrlPr>
                                        <a:rPr lang="en-US" i="1">
                                          <a:solidFill>
                                            <a:schemeClr val="tx1"/>
                                          </a:solidFill>
                                          <a:latin typeface="Cambria Math" panose="02040503050406030204" pitchFamily="18" charset="0"/>
                                        </a:rPr>
                                      </m:ctrlPr>
                                    </m:accPr>
                                    <m:e>
                                      <m:r>
                                        <a:rPr lang="en-US" i="1">
                                          <a:solidFill>
                                            <a:schemeClr val="tx1"/>
                                          </a:solidFill>
                                          <a:latin typeface="Cambria Math" panose="02040503050406030204" pitchFamily="18" charset="0"/>
                                        </a:rPr>
                                        <m:t>𝑘</m:t>
                                      </m:r>
                                    </m:e>
                                  </m:acc>
                                  <m:r>
                                    <a:rPr lang="en-US" i="1">
                                      <a:solidFill>
                                        <a:schemeClr val="tx1"/>
                                      </a:solidFill>
                                      <a:latin typeface="Cambria Math" panose="02040503050406030204" pitchFamily="18" charset="0"/>
                                    </a:rPr>
                                    <m:t> (</m:t>
                                  </m:r>
                                  <m:r>
                                    <a:rPr lang="en-US" i="1">
                                      <a:solidFill>
                                        <a:schemeClr val="tx1"/>
                                      </a:solidFill>
                                      <a:latin typeface="Cambria Math" panose="02040503050406030204" pitchFamily="18" charset="0"/>
                                    </a:rPr>
                                    <m:t>𝑥</m:t>
                                  </m:r>
                                  <m:r>
                                    <a:rPr lang="en-US" i="1">
                                      <a:solidFill>
                                        <a:schemeClr val="tx1"/>
                                      </a:solidFill>
                                      <a:latin typeface="Cambria Math" panose="02040503050406030204" pitchFamily="18" charset="0"/>
                                    </a:rPr>
                                    <m:t>−</m:t>
                                  </m:r>
                                  <m:r>
                                    <m:rPr>
                                      <m:sty m:val="p"/>
                                    </m:rPr>
                                    <a:rPr lang="en-US">
                                      <a:solidFill>
                                        <a:schemeClr val="tx1"/>
                                      </a:solidFill>
                                      <a:latin typeface="Cambria Math" panose="02040503050406030204" pitchFamily="18" charset="0"/>
                                    </a:rPr>
                                    <m:t>Δ</m:t>
                                  </m:r>
                                  <m:r>
                                    <a:rPr lang="en-US" i="1">
                                      <a:solidFill>
                                        <a:schemeClr val="tx1"/>
                                      </a:solidFill>
                                      <a:latin typeface="Cambria Math" panose="02040503050406030204" pitchFamily="18" charset="0"/>
                                    </a:rPr>
                                    <m:t>𝑥</m:t>
                                  </m:r>
                                  <m:r>
                                    <a:rPr lang="en-US" i="1">
                                      <a:solidFill>
                                        <a:schemeClr val="tx1"/>
                                      </a:solidFill>
                                      <a:latin typeface="Cambria Math" panose="02040503050406030204" pitchFamily="18" charset="0"/>
                                    </a:rPr>
                                    <m:t>)</m:t>
                                  </m:r>
                                </m:sup>
                              </m:sSup>
                            </m:e>
                          </m:d>
                        </m:num>
                        <m:den>
                          <m:r>
                            <m:rPr>
                              <m:sty m:val="p"/>
                            </m:rPr>
                            <a:rPr lang="en-US">
                              <a:solidFill>
                                <a:schemeClr val="tx1"/>
                              </a:solidFill>
                              <a:latin typeface="Cambria Math" panose="02040503050406030204" pitchFamily="18" charset="0"/>
                            </a:rPr>
                            <m:t>Δ</m:t>
                          </m:r>
                          <m:sSup>
                            <m:sSupPr>
                              <m:ctrlPr>
                                <a:rPr lang="en-US" i="1">
                                  <a:solidFill>
                                    <a:schemeClr val="tx1"/>
                                  </a:solidFill>
                                  <a:latin typeface="Cambria Math" panose="02040503050406030204" pitchFamily="18" charset="0"/>
                                </a:rPr>
                              </m:ctrlPr>
                            </m:sSupPr>
                            <m:e>
                              <m:r>
                                <a:rPr lang="en-US" i="1">
                                  <a:solidFill>
                                    <a:schemeClr val="tx1"/>
                                  </a:solidFill>
                                  <a:latin typeface="Cambria Math" panose="02040503050406030204" pitchFamily="18" charset="0"/>
                                </a:rPr>
                                <m:t>𝑥</m:t>
                              </m:r>
                            </m:e>
                            <m:sup>
                              <m:r>
                                <a:rPr lang="en-US" i="1">
                                  <a:solidFill>
                                    <a:schemeClr val="tx1"/>
                                  </a:solidFill>
                                  <a:latin typeface="Cambria Math" panose="02040503050406030204" pitchFamily="18" charset="0"/>
                                </a:rPr>
                                <m:t>2</m:t>
                              </m:r>
                            </m:sup>
                          </m:sSup>
                        </m:den>
                      </m:f>
                    </m:oMath>
                  </m:oMathPara>
                </a14:m>
                <a:endParaRPr lang="en-US" dirty="0">
                  <a:solidFill>
                    <a:schemeClr val="tx1"/>
                  </a:solidFill>
                </a:endParaRPr>
              </a:p>
              <a:p>
                <a:pPr marL="0" indent="0">
                  <a:buNone/>
                </a:pPr>
                <a14:m>
                  <m:oMathPara xmlns:m="http://schemas.openxmlformats.org/officeDocument/2006/math">
                    <m:oMathParaPr>
                      <m:jc m:val="centerGroup"/>
                    </m:oMathParaPr>
                    <m:oMath xmlns:m="http://schemas.openxmlformats.org/officeDocument/2006/math">
                      <m:sSup>
                        <m:sSupPr>
                          <m:ctrlPr>
                            <a:rPr lang="en-US" i="1">
                              <a:solidFill>
                                <a:schemeClr val="tx1"/>
                              </a:solidFill>
                              <a:latin typeface="Cambria Math" panose="02040503050406030204" pitchFamily="18" charset="0"/>
                            </a:rPr>
                          </m:ctrlPr>
                        </m:sSupPr>
                        <m:e>
                          <m:r>
                            <a:rPr lang="en-US" i="1">
                              <a:solidFill>
                                <a:schemeClr val="tx1"/>
                              </a:solidFill>
                              <a:latin typeface="Cambria Math" panose="02040503050406030204" pitchFamily="18" charset="0"/>
                            </a:rPr>
                            <m:t>𝐴</m:t>
                          </m:r>
                        </m:e>
                        <m:sup>
                          <m:r>
                            <a:rPr lang="en-US" i="1">
                              <a:solidFill>
                                <a:schemeClr val="tx1"/>
                              </a:solidFill>
                              <a:latin typeface="Cambria Math" panose="02040503050406030204" pitchFamily="18" charset="0"/>
                            </a:rPr>
                            <m:t>𝑛</m:t>
                          </m:r>
                          <m:r>
                            <a:rPr lang="en-US" i="1">
                              <a:solidFill>
                                <a:schemeClr val="tx1"/>
                              </a:solidFill>
                              <a:latin typeface="Cambria Math" panose="02040503050406030204" pitchFamily="18" charset="0"/>
                            </a:rPr>
                            <m:t>+1</m:t>
                          </m:r>
                        </m:sup>
                      </m:sSup>
                      <m:r>
                        <a:rPr lang="en-US" b="0" i="1" smtClean="0">
                          <a:solidFill>
                            <a:schemeClr val="tx1"/>
                          </a:solidFill>
                          <a:latin typeface="Cambria Math" panose="02040503050406030204" pitchFamily="18" charset="0"/>
                        </a:rPr>
                        <m:t>=</m:t>
                      </m:r>
                      <m:sSup>
                        <m:sSupPr>
                          <m:ctrlPr>
                            <a:rPr lang="en-US" b="0" i="1" smtClean="0">
                              <a:solidFill>
                                <a:schemeClr val="tx1"/>
                              </a:solidFill>
                              <a:latin typeface="Cambria Math" panose="02040503050406030204" pitchFamily="18" charset="0"/>
                            </a:rPr>
                          </m:ctrlPr>
                        </m:sSupPr>
                        <m:e>
                          <m:r>
                            <a:rPr lang="en-US" b="0" i="1" smtClean="0">
                              <a:solidFill>
                                <a:schemeClr val="tx1"/>
                              </a:solidFill>
                              <a:latin typeface="Cambria Math" panose="02040503050406030204" pitchFamily="18" charset="0"/>
                            </a:rPr>
                            <m:t>𝐴</m:t>
                          </m:r>
                        </m:e>
                        <m:sup>
                          <m:r>
                            <a:rPr lang="en-US" b="0" i="1" smtClean="0">
                              <a:solidFill>
                                <a:schemeClr val="tx1"/>
                              </a:solidFill>
                              <a:latin typeface="Cambria Math" panose="02040503050406030204" pitchFamily="18" charset="0"/>
                            </a:rPr>
                            <m:t>𝑛</m:t>
                          </m:r>
                        </m:sup>
                      </m:sSup>
                      <m:d>
                        <m:dPr>
                          <m:ctrlPr>
                            <a:rPr lang="en-US" b="0" i="1" smtClean="0">
                              <a:solidFill>
                                <a:schemeClr val="tx1"/>
                              </a:solidFill>
                              <a:latin typeface="Cambria Math" panose="02040503050406030204" pitchFamily="18" charset="0"/>
                            </a:rPr>
                          </m:ctrlPr>
                        </m:dPr>
                        <m:e>
                          <m:r>
                            <a:rPr lang="en-US" b="0" i="1" smtClean="0">
                              <a:solidFill>
                                <a:schemeClr val="tx1"/>
                              </a:solidFill>
                              <a:latin typeface="Cambria Math" panose="02040503050406030204" pitchFamily="18" charset="0"/>
                            </a:rPr>
                            <m:t>1+</m:t>
                          </m:r>
                          <m:f>
                            <m:fPr>
                              <m:ctrlPr>
                                <a:rPr lang="en-US" i="1">
                                  <a:solidFill>
                                    <a:schemeClr val="tx1"/>
                                  </a:solidFill>
                                  <a:latin typeface="Cambria Math" panose="02040503050406030204" pitchFamily="18" charset="0"/>
                                </a:rPr>
                              </m:ctrlPr>
                            </m:fPr>
                            <m:num>
                              <m:r>
                                <a:rPr lang="en-US" i="1">
                                  <a:solidFill>
                                    <a:schemeClr val="tx1"/>
                                  </a:solidFill>
                                  <a:latin typeface="Cambria Math" panose="02040503050406030204" pitchFamily="18" charset="0"/>
                                </a:rPr>
                                <m:t>𝑘</m:t>
                              </m:r>
                              <m:r>
                                <m:rPr>
                                  <m:sty m:val="p"/>
                                </m:rPr>
                                <a:rPr lang="en-US">
                                  <a:solidFill>
                                    <a:schemeClr val="tx1"/>
                                  </a:solidFill>
                                  <a:latin typeface="Cambria Math" panose="02040503050406030204" pitchFamily="18" charset="0"/>
                                </a:rPr>
                                <m:t>Δ</m:t>
                              </m:r>
                              <m:r>
                                <a:rPr lang="en-US" i="1">
                                  <a:solidFill>
                                    <a:schemeClr val="tx1"/>
                                  </a:solidFill>
                                  <a:latin typeface="Cambria Math" panose="02040503050406030204" pitchFamily="18" charset="0"/>
                                </a:rPr>
                                <m:t>𝑡</m:t>
                              </m:r>
                            </m:num>
                            <m:den>
                              <m:r>
                                <m:rPr>
                                  <m:sty m:val="p"/>
                                </m:rPr>
                                <a:rPr lang="en-US">
                                  <a:solidFill>
                                    <a:schemeClr val="tx1"/>
                                  </a:solidFill>
                                  <a:latin typeface="Cambria Math" panose="02040503050406030204" pitchFamily="18" charset="0"/>
                                </a:rPr>
                                <m:t>Δ</m:t>
                              </m:r>
                              <m:sSup>
                                <m:sSupPr>
                                  <m:ctrlPr>
                                    <a:rPr lang="en-US" i="1">
                                      <a:solidFill>
                                        <a:schemeClr val="tx1"/>
                                      </a:solidFill>
                                      <a:latin typeface="Cambria Math" panose="02040503050406030204" pitchFamily="18" charset="0"/>
                                    </a:rPr>
                                  </m:ctrlPr>
                                </m:sSupPr>
                                <m:e>
                                  <m:r>
                                    <a:rPr lang="en-US" i="1">
                                      <a:solidFill>
                                        <a:schemeClr val="tx1"/>
                                      </a:solidFill>
                                      <a:latin typeface="Cambria Math" panose="02040503050406030204" pitchFamily="18" charset="0"/>
                                    </a:rPr>
                                    <m:t>𝑥</m:t>
                                  </m:r>
                                </m:e>
                                <m:sup>
                                  <m:r>
                                    <a:rPr lang="en-US" i="1">
                                      <a:solidFill>
                                        <a:schemeClr val="tx1"/>
                                      </a:solidFill>
                                      <a:latin typeface="Cambria Math" panose="02040503050406030204" pitchFamily="18" charset="0"/>
                                    </a:rPr>
                                    <m:t>2</m:t>
                                  </m:r>
                                </m:sup>
                              </m:sSup>
                            </m:den>
                          </m:f>
                          <m:d>
                            <m:dPr>
                              <m:ctrlPr>
                                <a:rPr lang="en-US" b="0" i="1" smtClean="0">
                                  <a:solidFill>
                                    <a:schemeClr val="tx1"/>
                                  </a:solidFill>
                                  <a:latin typeface="Cambria Math" panose="02040503050406030204" pitchFamily="18" charset="0"/>
                                </a:rPr>
                              </m:ctrlPr>
                            </m:dPr>
                            <m:e>
                              <m:sSup>
                                <m:sSupPr>
                                  <m:ctrlPr>
                                    <a:rPr lang="en-US" i="1">
                                      <a:solidFill>
                                        <a:schemeClr val="tx1"/>
                                      </a:solidFill>
                                      <a:latin typeface="Cambria Math" panose="02040503050406030204" pitchFamily="18" charset="0"/>
                                    </a:rPr>
                                  </m:ctrlPr>
                                </m:sSupPr>
                                <m:e>
                                  <m:r>
                                    <a:rPr lang="en-US" i="1">
                                      <a:solidFill>
                                        <a:schemeClr val="tx1"/>
                                      </a:solidFill>
                                      <a:latin typeface="Cambria Math" panose="02040503050406030204" pitchFamily="18" charset="0"/>
                                    </a:rPr>
                                    <m:t>𝑒</m:t>
                                  </m:r>
                                </m:e>
                                <m:sup>
                                  <m:r>
                                    <a:rPr lang="en-US" i="1">
                                      <a:solidFill>
                                        <a:schemeClr val="tx1"/>
                                      </a:solidFill>
                                      <a:latin typeface="Cambria Math" panose="02040503050406030204" pitchFamily="18" charset="0"/>
                                    </a:rPr>
                                    <m:t>−</m:t>
                                  </m:r>
                                  <m:r>
                                    <a:rPr lang="en-US" i="1">
                                      <a:solidFill>
                                        <a:schemeClr val="tx1"/>
                                      </a:solidFill>
                                      <a:latin typeface="Cambria Math" panose="02040503050406030204" pitchFamily="18" charset="0"/>
                                    </a:rPr>
                                    <m:t>𝑗</m:t>
                                  </m:r>
                                  <m:acc>
                                    <m:accPr>
                                      <m:chr m:val="̃"/>
                                      <m:ctrlPr>
                                        <a:rPr lang="en-US" i="1">
                                          <a:solidFill>
                                            <a:schemeClr val="tx1"/>
                                          </a:solidFill>
                                          <a:latin typeface="Cambria Math" panose="02040503050406030204" pitchFamily="18" charset="0"/>
                                        </a:rPr>
                                      </m:ctrlPr>
                                    </m:accPr>
                                    <m:e>
                                      <m:r>
                                        <a:rPr lang="en-US" i="1">
                                          <a:solidFill>
                                            <a:schemeClr val="tx1"/>
                                          </a:solidFill>
                                          <a:latin typeface="Cambria Math" panose="02040503050406030204" pitchFamily="18" charset="0"/>
                                        </a:rPr>
                                        <m:t>𝑘</m:t>
                                      </m:r>
                                    </m:e>
                                  </m:acc>
                                  <m:r>
                                    <a:rPr lang="en-US" i="1">
                                      <a:solidFill>
                                        <a:schemeClr val="tx1"/>
                                      </a:solidFill>
                                      <a:latin typeface="Cambria Math" panose="02040503050406030204" pitchFamily="18" charset="0"/>
                                    </a:rPr>
                                    <m:t> </m:t>
                                  </m:r>
                                  <m:r>
                                    <m:rPr>
                                      <m:sty m:val="p"/>
                                    </m:rPr>
                                    <a:rPr lang="en-US" b="0" i="0" smtClean="0">
                                      <a:solidFill>
                                        <a:schemeClr val="tx1"/>
                                      </a:solidFill>
                                      <a:latin typeface="Cambria Math" panose="02040503050406030204" pitchFamily="18" charset="0"/>
                                    </a:rPr>
                                    <m:t>Δ</m:t>
                                  </m:r>
                                  <m:r>
                                    <a:rPr lang="en-US" b="0" i="1" smtClean="0">
                                      <a:solidFill>
                                        <a:schemeClr val="tx1"/>
                                      </a:solidFill>
                                      <a:latin typeface="Cambria Math" panose="02040503050406030204" pitchFamily="18" charset="0"/>
                                    </a:rPr>
                                    <m:t>𝑥</m:t>
                                  </m:r>
                                </m:sup>
                              </m:sSup>
                              <m:r>
                                <a:rPr lang="en-US" i="1">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2</m:t>
                              </m:r>
                              <m:r>
                                <a:rPr lang="en-US" i="1">
                                  <a:solidFill>
                                    <a:schemeClr val="tx1"/>
                                  </a:solidFill>
                                  <a:latin typeface="Cambria Math" panose="02040503050406030204" pitchFamily="18" charset="0"/>
                                </a:rPr>
                                <m:t>+</m:t>
                              </m:r>
                              <m:sSup>
                                <m:sSupPr>
                                  <m:ctrlPr>
                                    <a:rPr lang="en-US" i="1">
                                      <a:solidFill>
                                        <a:schemeClr val="tx1"/>
                                      </a:solidFill>
                                      <a:latin typeface="Cambria Math" panose="02040503050406030204" pitchFamily="18" charset="0"/>
                                    </a:rPr>
                                  </m:ctrlPr>
                                </m:sSupPr>
                                <m:e>
                                  <m:r>
                                    <a:rPr lang="en-US" i="1">
                                      <a:solidFill>
                                        <a:schemeClr val="tx1"/>
                                      </a:solidFill>
                                      <a:latin typeface="Cambria Math" panose="02040503050406030204" pitchFamily="18" charset="0"/>
                                    </a:rPr>
                                    <m:t>𝑒</m:t>
                                  </m:r>
                                </m:e>
                                <m:sup>
                                  <m:r>
                                    <a:rPr lang="en-US" i="1">
                                      <a:solidFill>
                                        <a:schemeClr val="tx1"/>
                                      </a:solidFill>
                                      <a:latin typeface="Cambria Math" panose="02040503050406030204" pitchFamily="18" charset="0"/>
                                    </a:rPr>
                                    <m:t>𝑗</m:t>
                                  </m:r>
                                  <m:acc>
                                    <m:accPr>
                                      <m:chr m:val="̃"/>
                                      <m:ctrlPr>
                                        <a:rPr lang="en-US" i="1">
                                          <a:solidFill>
                                            <a:schemeClr val="tx1"/>
                                          </a:solidFill>
                                          <a:latin typeface="Cambria Math" panose="02040503050406030204" pitchFamily="18" charset="0"/>
                                        </a:rPr>
                                      </m:ctrlPr>
                                    </m:accPr>
                                    <m:e>
                                      <m:r>
                                        <a:rPr lang="en-US" i="1">
                                          <a:solidFill>
                                            <a:schemeClr val="tx1"/>
                                          </a:solidFill>
                                          <a:latin typeface="Cambria Math" panose="02040503050406030204" pitchFamily="18" charset="0"/>
                                        </a:rPr>
                                        <m:t>𝑘</m:t>
                                      </m:r>
                                    </m:e>
                                  </m:acc>
                                  <m:r>
                                    <a:rPr lang="en-US" i="1">
                                      <a:solidFill>
                                        <a:schemeClr val="tx1"/>
                                      </a:solidFill>
                                      <a:latin typeface="Cambria Math" panose="02040503050406030204" pitchFamily="18" charset="0"/>
                                    </a:rPr>
                                    <m:t> </m:t>
                                  </m:r>
                                  <m:r>
                                    <m:rPr>
                                      <m:sty m:val="p"/>
                                    </m:rPr>
                                    <a:rPr lang="en-US" b="0" i="0" smtClean="0">
                                      <a:solidFill>
                                        <a:schemeClr val="tx1"/>
                                      </a:solidFill>
                                      <a:latin typeface="Cambria Math" panose="02040503050406030204" pitchFamily="18" charset="0"/>
                                    </a:rPr>
                                    <m:t>Δ</m:t>
                                  </m:r>
                                  <m:r>
                                    <a:rPr lang="en-US" b="0" i="1" smtClean="0">
                                      <a:solidFill>
                                        <a:schemeClr val="tx1"/>
                                      </a:solidFill>
                                      <a:latin typeface="Cambria Math" panose="02040503050406030204" pitchFamily="18" charset="0"/>
                                    </a:rPr>
                                    <m:t>𝑥</m:t>
                                  </m:r>
                                </m:sup>
                              </m:sSup>
                            </m:e>
                          </m:d>
                        </m:e>
                      </m:d>
                    </m:oMath>
                  </m:oMathPara>
                </a14:m>
                <a:endParaRPr lang="en-US" dirty="0">
                  <a:solidFill>
                    <a:schemeClr val="tx1"/>
                  </a:solidFill>
                </a:endParaRPr>
              </a:p>
              <a:p>
                <a:pPr marL="0" indent="0">
                  <a:buNone/>
                </a:pPr>
                <a14:m>
                  <m:oMathPara xmlns:m="http://schemas.openxmlformats.org/officeDocument/2006/math">
                    <m:oMathParaPr>
                      <m:jc m:val="centerGroup"/>
                    </m:oMathParaPr>
                    <m:oMath xmlns:m="http://schemas.openxmlformats.org/officeDocument/2006/math">
                      <m:sSup>
                        <m:sSupPr>
                          <m:ctrlPr>
                            <a:rPr lang="en-US" i="1">
                              <a:solidFill>
                                <a:schemeClr val="tx1"/>
                              </a:solidFill>
                              <a:latin typeface="Cambria Math" panose="02040503050406030204" pitchFamily="18" charset="0"/>
                            </a:rPr>
                          </m:ctrlPr>
                        </m:sSupPr>
                        <m:e>
                          <m:r>
                            <a:rPr lang="en-US" i="1">
                              <a:solidFill>
                                <a:schemeClr val="tx1"/>
                              </a:solidFill>
                              <a:latin typeface="Cambria Math" panose="02040503050406030204" pitchFamily="18" charset="0"/>
                            </a:rPr>
                            <m:t>𝐴</m:t>
                          </m:r>
                        </m:e>
                        <m:sup>
                          <m:r>
                            <a:rPr lang="en-US" i="1">
                              <a:solidFill>
                                <a:schemeClr val="tx1"/>
                              </a:solidFill>
                              <a:latin typeface="Cambria Math" panose="02040503050406030204" pitchFamily="18" charset="0"/>
                            </a:rPr>
                            <m:t>𝑛</m:t>
                          </m:r>
                          <m:r>
                            <a:rPr lang="en-US" i="1">
                              <a:solidFill>
                                <a:schemeClr val="tx1"/>
                              </a:solidFill>
                              <a:latin typeface="Cambria Math" panose="02040503050406030204" pitchFamily="18" charset="0"/>
                            </a:rPr>
                            <m:t>+1</m:t>
                          </m:r>
                        </m:sup>
                      </m:sSup>
                      <m:r>
                        <a:rPr lang="en-US" i="1">
                          <a:solidFill>
                            <a:schemeClr val="tx1"/>
                          </a:solidFill>
                          <a:latin typeface="Cambria Math" panose="02040503050406030204" pitchFamily="18" charset="0"/>
                        </a:rPr>
                        <m:t>=</m:t>
                      </m:r>
                      <m:sSup>
                        <m:sSupPr>
                          <m:ctrlPr>
                            <a:rPr lang="en-US" i="1">
                              <a:solidFill>
                                <a:schemeClr val="tx1"/>
                              </a:solidFill>
                              <a:latin typeface="Cambria Math" panose="02040503050406030204" pitchFamily="18" charset="0"/>
                            </a:rPr>
                          </m:ctrlPr>
                        </m:sSupPr>
                        <m:e>
                          <m:r>
                            <a:rPr lang="en-US" i="1">
                              <a:solidFill>
                                <a:schemeClr val="tx1"/>
                              </a:solidFill>
                              <a:latin typeface="Cambria Math" panose="02040503050406030204" pitchFamily="18" charset="0"/>
                            </a:rPr>
                            <m:t>𝐴</m:t>
                          </m:r>
                        </m:e>
                        <m:sup>
                          <m:r>
                            <a:rPr lang="en-US" i="1">
                              <a:solidFill>
                                <a:schemeClr val="tx1"/>
                              </a:solidFill>
                              <a:latin typeface="Cambria Math" panose="02040503050406030204" pitchFamily="18" charset="0"/>
                            </a:rPr>
                            <m:t>𝑛</m:t>
                          </m:r>
                        </m:sup>
                      </m:sSup>
                      <m:d>
                        <m:dPr>
                          <m:ctrlPr>
                            <a:rPr lang="en-US" i="1">
                              <a:solidFill>
                                <a:schemeClr val="tx1"/>
                              </a:solidFill>
                              <a:latin typeface="Cambria Math" panose="02040503050406030204" pitchFamily="18" charset="0"/>
                            </a:rPr>
                          </m:ctrlPr>
                        </m:dPr>
                        <m:e>
                          <m:r>
                            <a:rPr lang="en-US" i="1">
                              <a:solidFill>
                                <a:schemeClr val="tx1"/>
                              </a:solidFill>
                              <a:latin typeface="Cambria Math" panose="02040503050406030204" pitchFamily="18" charset="0"/>
                            </a:rPr>
                            <m:t>1+</m:t>
                          </m:r>
                          <m:r>
                            <a:rPr lang="en-US" b="0" i="1" smtClean="0">
                              <a:solidFill>
                                <a:schemeClr val="tx1"/>
                              </a:solidFill>
                              <a:latin typeface="Cambria Math" panose="02040503050406030204" pitchFamily="18" charset="0"/>
                            </a:rPr>
                            <m:t>2</m:t>
                          </m:r>
                          <m:f>
                            <m:fPr>
                              <m:ctrlPr>
                                <a:rPr lang="en-US" i="1">
                                  <a:solidFill>
                                    <a:schemeClr val="tx1"/>
                                  </a:solidFill>
                                  <a:latin typeface="Cambria Math" panose="02040503050406030204" pitchFamily="18" charset="0"/>
                                </a:rPr>
                              </m:ctrlPr>
                            </m:fPr>
                            <m:num>
                              <m:r>
                                <a:rPr lang="en-US" i="1">
                                  <a:solidFill>
                                    <a:schemeClr val="tx1"/>
                                  </a:solidFill>
                                  <a:latin typeface="Cambria Math" panose="02040503050406030204" pitchFamily="18" charset="0"/>
                                </a:rPr>
                                <m:t>𝑘</m:t>
                              </m:r>
                              <m:r>
                                <m:rPr>
                                  <m:sty m:val="p"/>
                                </m:rPr>
                                <a:rPr lang="en-US">
                                  <a:solidFill>
                                    <a:schemeClr val="tx1"/>
                                  </a:solidFill>
                                  <a:latin typeface="Cambria Math" panose="02040503050406030204" pitchFamily="18" charset="0"/>
                                </a:rPr>
                                <m:t>Δ</m:t>
                              </m:r>
                              <m:r>
                                <a:rPr lang="en-US" i="1">
                                  <a:solidFill>
                                    <a:schemeClr val="tx1"/>
                                  </a:solidFill>
                                  <a:latin typeface="Cambria Math" panose="02040503050406030204" pitchFamily="18" charset="0"/>
                                </a:rPr>
                                <m:t>𝑡</m:t>
                              </m:r>
                            </m:num>
                            <m:den>
                              <m:r>
                                <m:rPr>
                                  <m:sty m:val="p"/>
                                </m:rPr>
                                <a:rPr lang="en-US">
                                  <a:solidFill>
                                    <a:schemeClr val="tx1"/>
                                  </a:solidFill>
                                  <a:latin typeface="Cambria Math" panose="02040503050406030204" pitchFamily="18" charset="0"/>
                                </a:rPr>
                                <m:t>Δ</m:t>
                              </m:r>
                              <m:sSup>
                                <m:sSupPr>
                                  <m:ctrlPr>
                                    <a:rPr lang="en-US" i="1">
                                      <a:solidFill>
                                        <a:schemeClr val="tx1"/>
                                      </a:solidFill>
                                      <a:latin typeface="Cambria Math" panose="02040503050406030204" pitchFamily="18" charset="0"/>
                                    </a:rPr>
                                  </m:ctrlPr>
                                </m:sSupPr>
                                <m:e>
                                  <m:r>
                                    <a:rPr lang="en-US" i="1">
                                      <a:solidFill>
                                        <a:schemeClr val="tx1"/>
                                      </a:solidFill>
                                      <a:latin typeface="Cambria Math" panose="02040503050406030204" pitchFamily="18" charset="0"/>
                                    </a:rPr>
                                    <m:t>𝑥</m:t>
                                  </m:r>
                                </m:e>
                                <m:sup>
                                  <m:r>
                                    <a:rPr lang="en-US" i="1">
                                      <a:solidFill>
                                        <a:schemeClr val="tx1"/>
                                      </a:solidFill>
                                      <a:latin typeface="Cambria Math" panose="02040503050406030204" pitchFamily="18" charset="0"/>
                                    </a:rPr>
                                    <m:t>2</m:t>
                                  </m:r>
                                </m:sup>
                              </m:sSup>
                            </m:den>
                          </m:f>
                          <m:d>
                            <m:dPr>
                              <m:ctrlPr>
                                <a:rPr lang="en-US" i="1">
                                  <a:solidFill>
                                    <a:schemeClr val="tx1"/>
                                  </a:solidFill>
                                  <a:latin typeface="Cambria Math" panose="02040503050406030204" pitchFamily="18" charset="0"/>
                                </a:rPr>
                              </m:ctrlPr>
                            </m:dPr>
                            <m:e>
                              <m:func>
                                <m:funcPr>
                                  <m:ctrlPr>
                                    <a:rPr lang="en-US" i="1">
                                      <a:solidFill>
                                        <a:schemeClr val="tx1"/>
                                      </a:solidFill>
                                      <a:latin typeface="Cambria Math" panose="02040503050406030204" pitchFamily="18" charset="0"/>
                                    </a:rPr>
                                  </m:ctrlPr>
                                </m:funcPr>
                                <m:fName>
                                  <m:r>
                                    <m:rPr>
                                      <m:sty m:val="p"/>
                                    </m:rPr>
                                    <a:rPr lang="en-US">
                                      <a:solidFill>
                                        <a:schemeClr val="tx1"/>
                                      </a:solidFill>
                                      <a:latin typeface="Cambria Math" panose="02040503050406030204" pitchFamily="18" charset="0"/>
                                    </a:rPr>
                                    <m:t>cos</m:t>
                                  </m:r>
                                </m:fName>
                                <m:e>
                                  <m:acc>
                                    <m:accPr>
                                      <m:chr m:val="̃"/>
                                      <m:ctrlPr>
                                        <a:rPr lang="en-US" i="1">
                                          <a:solidFill>
                                            <a:schemeClr val="tx1"/>
                                          </a:solidFill>
                                          <a:latin typeface="Cambria Math" panose="02040503050406030204" pitchFamily="18" charset="0"/>
                                        </a:rPr>
                                      </m:ctrlPr>
                                    </m:accPr>
                                    <m:e>
                                      <m:r>
                                        <a:rPr lang="en-US" i="1">
                                          <a:solidFill>
                                            <a:schemeClr val="tx1"/>
                                          </a:solidFill>
                                          <a:latin typeface="Cambria Math" panose="02040503050406030204" pitchFamily="18" charset="0"/>
                                        </a:rPr>
                                        <m:t>𝑘</m:t>
                                      </m:r>
                                    </m:e>
                                  </m:acc>
                                  <m:r>
                                    <a:rPr lang="en-US" i="1" dirty="0">
                                      <a:solidFill>
                                        <a:schemeClr val="tx1"/>
                                      </a:solidFill>
                                      <a:latin typeface="Cambria Math" panose="02040503050406030204" pitchFamily="18" charset="0"/>
                                    </a:rPr>
                                    <m:t>𝑥</m:t>
                                  </m:r>
                                </m:e>
                              </m:func>
                              <m:r>
                                <a:rPr lang="en-US" b="0" i="1" dirty="0" smtClean="0">
                                  <a:solidFill>
                                    <a:schemeClr val="tx1"/>
                                  </a:solidFill>
                                  <a:latin typeface="Cambria Math" panose="02040503050406030204" pitchFamily="18" charset="0"/>
                                </a:rPr>
                                <m:t>−1</m:t>
                              </m:r>
                            </m:e>
                          </m:d>
                        </m:e>
                      </m:d>
                    </m:oMath>
                  </m:oMathPara>
                </a14:m>
                <a:endParaRPr lang="en-US" dirty="0">
                  <a:solidFill>
                    <a:schemeClr val="tx1"/>
                  </a:solidFill>
                </a:endParaRPr>
              </a:p>
              <a:p>
                <a:pPr marL="0" indent="0">
                  <a:buNone/>
                </a:pPr>
                <a14:m>
                  <m:oMathPara xmlns:m="http://schemas.openxmlformats.org/officeDocument/2006/math">
                    <m:oMathParaPr>
                      <m:jc m:val="centerGroup"/>
                    </m:oMathParaPr>
                    <m:oMath xmlns:m="http://schemas.openxmlformats.org/officeDocument/2006/math">
                      <m:f>
                        <m:fPr>
                          <m:ctrlPr>
                            <a:rPr lang="en-US" b="0" i="1" smtClean="0">
                              <a:solidFill>
                                <a:schemeClr val="tx1"/>
                              </a:solidFill>
                              <a:latin typeface="Cambria Math" panose="02040503050406030204" pitchFamily="18" charset="0"/>
                            </a:rPr>
                          </m:ctrlPr>
                        </m:fPr>
                        <m:num>
                          <m:sSup>
                            <m:sSupPr>
                              <m:ctrlPr>
                                <a:rPr lang="en-US" i="1">
                                  <a:solidFill>
                                    <a:schemeClr val="tx1"/>
                                  </a:solidFill>
                                  <a:latin typeface="Cambria Math" panose="02040503050406030204" pitchFamily="18" charset="0"/>
                                </a:rPr>
                              </m:ctrlPr>
                            </m:sSupPr>
                            <m:e>
                              <m:r>
                                <a:rPr lang="en-US" i="1">
                                  <a:solidFill>
                                    <a:schemeClr val="tx1"/>
                                  </a:solidFill>
                                  <a:latin typeface="Cambria Math" panose="02040503050406030204" pitchFamily="18" charset="0"/>
                                </a:rPr>
                                <m:t>𝐴</m:t>
                              </m:r>
                            </m:e>
                            <m:sup>
                              <m:r>
                                <a:rPr lang="en-US" i="1">
                                  <a:solidFill>
                                    <a:schemeClr val="tx1"/>
                                  </a:solidFill>
                                  <a:latin typeface="Cambria Math" panose="02040503050406030204" pitchFamily="18" charset="0"/>
                                </a:rPr>
                                <m:t>𝑛</m:t>
                              </m:r>
                              <m:r>
                                <a:rPr lang="en-US" i="1">
                                  <a:solidFill>
                                    <a:schemeClr val="tx1"/>
                                  </a:solidFill>
                                  <a:latin typeface="Cambria Math" panose="02040503050406030204" pitchFamily="18" charset="0"/>
                                </a:rPr>
                                <m:t>+1</m:t>
                              </m:r>
                            </m:sup>
                          </m:sSup>
                        </m:num>
                        <m:den>
                          <m:sSup>
                            <m:sSupPr>
                              <m:ctrlPr>
                                <a:rPr lang="en-US" i="1">
                                  <a:solidFill>
                                    <a:schemeClr val="tx1"/>
                                  </a:solidFill>
                                  <a:latin typeface="Cambria Math" panose="02040503050406030204" pitchFamily="18" charset="0"/>
                                </a:rPr>
                              </m:ctrlPr>
                            </m:sSupPr>
                            <m:e>
                              <m:r>
                                <a:rPr lang="en-US" i="1">
                                  <a:solidFill>
                                    <a:schemeClr val="tx1"/>
                                  </a:solidFill>
                                  <a:latin typeface="Cambria Math" panose="02040503050406030204" pitchFamily="18" charset="0"/>
                                </a:rPr>
                                <m:t>𝐴</m:t>
                              </m:r>
                            </m:e>
                            <m:sup>
                              <m:r>
                                <a:rPr lang="en-US" i="1">
                                  <a:solidFill>
                                    <a:schemeClr val="tx1"/>
                                  </a:solidFill>
                                  <a:latin typeface="Cambria Math" panose="02040503050406030204" pitchFamily="18" charset="0"/>
                                </a:rPr>
                                <m:t>𝑛</m:t>
                              </m:r>
                            </m:sup>
                          </m:sSup>
                        </m:den>
                      </m:f>
                      <m:r>
                        <a:rPr lang="en-US" i="1">
                          <a:solidFill>
                            <a:schemeClr val="tx1"/>
                          </a:solidFill>
                          <a:latin typeface="Cambria Math" panose="02040503050406030204" pitchFamily="18" charset="0"/>
                        </a:rPr>
                        <m:t>=</m:t>
                      </m:r>
                      <m:d>
                        <m:dPr>
                          <m:ctrlPr>
                            <a:rPr lang="en-US" i="1">
                              <a:solidFill>
                                <a:schemeClr val="tx1"/>
                              </a:solidFill>
                              <a:latin typeface="Cambria Math" panose="02040503050406030204" pitchFamily="18" charset="0"/>
                            </a:rPr>
                          </m:ctrlPr>
                        </m:dPr>
                        <m:e>
                          <m:r>
                            <a:rPr lang="en-US" i="1">
                              <a:solidFill>
                                <a:schemeClr val="tx1"/>
                              </a:solidFill>
                              <a:latin typeface="Cambria Math" panose="02040503050406030204" pitchFamily="18" charset="0"/>
                            </a:rPr>
                            <m:t>1+2</m:t>
                          </m:r>
                          <m:f>
                            <m:fPr>
                              <m:ctrlPr>
                                <a:rPr lang="en-US" i="1">
                                  <a:solidFill>
                                    <a:schemeClr val="tx1"/>
                                  </a:solidFill>
                                  <a:latin typeface="Cambria Math" panose="02040503050406030204" pitchFamily="18" charset="0"/>
                                </a:rPr>
                              </m:ctrlPr>
                            </m:fPr>
                            <m:num>
                              <m:r>
                                <a:rPr lang="en-US" i="1">
                                  <a:solidFill>
                                    <a:schemeClr val="tx1"/>
                                  </a:solidFill>
                                  <a:latin typeface="Cambria Math" panose="02040503050406030204" pitchFamily="18" charset="0"/>
                                </a:rPr>
                                <m:t>𝑘</m:t>
                              </m:r>
                              <m:r>
                                <m:rPr>
                                  <m:sty m:val="p"/>
                                </m:rPr>
                                <a:rPr lang="en-US">
                                  <a:solidFill>
                                    <a:schemeClr val="tx1"/>
                                  </a:solidFill>
                                  <a:latin typeface="Cambria Math" panose="02040503050406030204" pitchFamily="18" charset="0"/>
                                </a:rPr>
                                <m:t>Δ</m:t>
                              </m:r>
                              <m:r>
                                <a:rPr lang="en-US" i="1">
                                  <a:solidFill>
                                    <a:schemeClr val="tx1"/>
                                  </a:solidFill>
                                  <a:latin typeface="Cambria Math" panose="02040503050406030204" pitchFamily="18" charset="0"/>
                                </a:rPr>
                                <m:t>𝑡</m:t>
                              </m:r>
                            </m:num>
                            <m:den>
                              <m:r>
                                <m:rPr>
                                  <m:sty m:val="p"/>
                                </m:rPr>
                                <a:rPr lang="en-US">
                                  <a:solidFill>
                                    <a:schemeClr val="tx1"/>
                                  </a:solidFill>
                                  <a:latin typeface="Cambria Math" panose="02040503050406030204" pitchFamily="18" charset="0"/>
                                </a:rPr>
                                <m:t>Δ</m:t>
                              </m:r>
                              <m:sSup>
                                <m:sSupPr>
                                  <m:ctrlPr>
                                    <a:rPr lang="en-US" i="1">
                                      <a:solidFill>
                                        <a:schemeClr val="tx1"/>
                                      </a:solidFill>
                                      <a:latin typeface="Cambria Math" panose="02040503050406030204" pitchFamily="18" charset="0"/>
                                    </a:rPr>
                                  </m:ctrlPr>
                                </m:sSupPr>
                                <m:e>
                                  <m:r>
                                    <a:rPr lang="en-US" i="1">
                                      <a:solidFill>
                                        <a:schemeClr val="tx1"/>
                                      </a:solidFill>
                                      <a:latin typeface="Cambria Math" panose="02040503050406030204" pitchFamily="18" charset="0"/>
                                    </a:rPr>
                                    <m:t>𝑥</m:t>
                                  </m:r>
                                </m:e>
                                <m:sup>
                                  <m:r>
                                    <a:rPr lang="en-US" i="1">
                                      <a:solidFill>
                                        <a:schemeClr val="tx1"/>
                                      </a:solidFill>
                                      <a:latin typeface="Cambria Math" panose="02040503050406030204" pitchFamily="18" charset="0"/>
                                    </a:rPr>
                                    <m:t>2</m:t>
                                  </m:r>
                                </m:sup>
                              </m:sSup>
                            </m:den>
                          </m:f>
                          <m:d>
                            <m:dPr>
                              <m:ctrlPr>
                                <a:rPr lang="en-US" i="1">
                                  <a:solidFill>
                                    <a:schemeClr val="tx1"/>
                                  </a:solidFill>
                                  <a:latin typeface="Cambria Math" panose="02040503050406030204" pitchFamily="18" charset="0"/>
                                </a:rPr>
                              </m:ctrlPr>
                            </m:dPr>
                            <m:e>
                              <m:func>
                                <m:funcPr>
                                  <m:ctrlPr>
                                    <a:rPr lang="en-US" i="1">
                                      <a:solidFill>
                                        <a:schemeClr val="tx1"/>
                                      </a:solidFill>
                                      <a:latin typeface="Cambria Math" panose="02040503050406030204" pitchFamily="18" charset="0"/>
                                    </a:rPr>
                                  </m:ctrlPr>
                                </m:funcPr>
                                <m:fName>
                                  <m:r>
                                    <m:rPr>
                                      <m:sty m:val="p"/>
                                    </m:rPr>
                                    <a:rPr lang="en-US">
                                      <a:solidFill>
                                        <a:schemeClr val="tx1"/>
                                      </a:solidFill>
                                      <a:latin typeface="Cambria Math" panose="02040503050406030204" pitchFamily="18" charset="0"/>
                                    </a:rPr>
                                    <m:t>cos</m:t>
                                  </m:r>
                                </m:fName>
                                <m:e>
                                  <m:acc>
                                    <m:accPr>
                                      <m:chr m:val="̃"/>
                                      <m:ctrlPr>
                                        <a:rPr lang="en-US" i="1">
                                          <a:solidFill>
                                            <a:schemeClr val="tx1"/>
                                          </a:solidFill>
                                          <a:latin typeface="Cambria Math" panose="02040503050406030204" pitchFamily="18" charset="0"/>
                                        </a:rPr>
                                      </m:ctrlPr>
                                    </m:accPr>
                                    <m:e>
                                      <m:r>
                                        <a:rPr lang="en-US" i="1">
                                          <a:solidFill>
                                            <a:schemeClr val="tx1"/>
                                          </a:solidFill>
                                          <a:latin typeface="Cambria Math" panose="02040503050406030204" pitchFamily="18" charset="0"/>
                                        </a:rPr>
                                        <m:t>𝑘</m:t>
                                      </m:r>
                                    </m:e>
                                  </m:acc>
                                  <m:r>
                                    <a:rPr lang="en-US" i="1" dirty="0">
                                      <a:solidFill>
                                        <a:schemeClr val="tx1"/>
                                      </a:solidFill>
                                      <a:latin typeface="Cambria Math" panose="02040503050406030204" pitchFamily="18" charset="0"/>
                                    </a:rPr>
                                    <m:t>𝑥</m:t>
                                  </m:r>
                                </m:e>
                              </m:func>
                              <m:r>
                                <a:rPr lang="en-US" i="1" dirty="0">
                                  <a:solidFill>
                                    <a:schemeClr val="tx1"/>
                                  </a:solidFill>
                                  <a:latin typeface="Cambria Math" panose="02040503050406030204" pitchFamily="18" charset="0"/>
                                </a:rPr>
                                <m:t>−1</m:t>
                              </m:r>
                            </m:e>
                          </m:d>
                        </m:e>
                      </m:d>
                    </m:oMath>
                  </m:oMathPara>
                </a14:m>
                <a:endParaRPr lang="en-US" dirty="0"/>
              </a:p>
            </p:txBody>
          </p:sp>
        </mc:Choice>
        <mc:Fallback xmlns="">
          <p:sp>
            <p:nvSpPr>
              <p:cNvPr id="3" name="Content Placeholder 2">
                <a:extLst>
                  <a:ext uri="{FF2B5EF4-FFF2-40B4-BE49-F238E27FC236}">
                    <a16:creationId xmlns:a16="http://schemas.microsoft.com/office/drawing/2014/main" id="{15C4FD65-F675-944D-A379-3A5FFFAEB784}"/>
                  </a:ext>
                </a:extLst>
              </p:cNvPr>
              <p:cNvSpPr>
                <a:spLocks noGrp="1" noRot="1" noChangeAspect="1" noMove="1" noResize="1" noEditPoints="1" noAdjustHandles="1" noChangeArrowheads="1" noChangeShapeType="1" noTextEdit="1"/>
              </p:cNvSpPr>
              <p:nvPr>
                <p:ph idx="1"/>
              </p:nvPr>
            </p:nvSpPr>
            <p:spPr>
              <a:xfrm>
                <a:off x="258184" y="1325562"/>
                <a:ext cx="11095616" cy="5532437"/>
              </a:xfrm>
              <a:blipFill>
                <a:blip r:embed="rId3"/>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761923324"/>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DCE2F9-F4C3-DA4C-B0FC-7FF6F22D148C}"/>
              </a:ext>
            </a:extLst>
          </p:cNvPr>
          <p:cNvSpPr>
            <a:spLocks noGrp="1"/>
          </p:cNvSpPr>
          <p:nvPr>
            <p:ph type="title"/>
          </p:nvPr>
        </p:nvSpPr>
        <p:spPr>
          <a:xfrm>
            <a:off x="838200" y="0"/>
            <a:ext cx="10515600" cy="1325563"/>
          </a:xfrm>
        </p:spPr>
        <p:txBody>
          <a:bodyPr/>
          <a:lstStyle/>
          <a:p>
            <a:r>
              <a:rPr lang="en-US" dirty="0"/>
              <a:t>Stability</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5C4FD65-F675-944D-A379-3A5FFFAEB784}"/>
                  </a:ext>
                </a:extLst>
              </p:cNvPr>
              <p:cNvSpPr>
                <a:spLocks noGrp="1"/>
              </p:cNvSpPr>
              <p:nvPr>
                <p:ph idx="1"/>
              </p:nvPr>
            </p:nvSpPr>
            <p:spPr>
              <a:xfrm>
                <a:off x="838200" y="1325562"/>
                <a:ext cx="10515600" cy="5532437"/>
              </a:xfrm>
            </p:spPr>
            <p:txBody>
              <a:bodyPr>
                <a:normAutofit/>
              </a:bodyPr>
              <a:lstStyle/>
              <a:p>
                <a:pPr>
                  <a:lnSpc>
                    <a:spcPct val="100000"/>
                  </a:lnSpc>
                </a:pPr>
                <a:r>
                  <a:rPr lang="en-US" dirty="0"/>
                  <a:t>The stability condition we obtained is</a:t>
                </a:r>
              </a:p>
              <a:p>
                <a:pPr marL="0" indent="0">
                  <a:lnSpc>
                    <a:spcPct val="150000"/>
                  </a:lnSpc>
                  <a:buNone/>
                </a:pPr>
                <a14:m>
                  <m:oMathPara xmlns:m="http://schemas.openxmlformats.org/officeDocument/2006/math">
                    <m:oMathParaPr>
                      <m:jc m:val="centerGroup"/>
                    </m:oMathParaPr>
                    <m:oMath xmlns:m="http://schemas.openxmlformats.org/officeDocument/2006/math">
                      <m:d>
                        <m:dPr>
                          <m:begChr m:val="|"/>
                          <m:endChr m:val="|"/>
                          <m:ctrlPr>
                            <a:rPr lang="en-US" i="1" smtClean="0">
                              <a:solidFill>
                                <a:schemeClr val="tx1"/>
                              </a:solidFill>
                              <a:latin typeface="Cambria Math" panose="02040503050406030204" pitchFamily="18" charset="0"/>
                            </a:rPr>
                          </m:ctrlPr>
                        </m:dPr>
                        <m:e>
                          <m:f>
                            <m:fPr>
                              <m:ctrlPr>
                                <a:rPr lang="en-US" i="1">
                                  <a:solidFill>
                                    <a:schemeClr val="tx1"/>
                                  </a:solidFill>
                                  <a:latin typeface="Cambria Math" panose="02040503050406030204" pitchFamily="18" charset="0"/>
                                </a:rPr>
                              </m:ctrlPr>
                            </m:fPr>
                            <m:num>
                              <m:sSup>
                                <m:sSupPr>
                                  <m:ctrlPr>
                                    <a:rPr lang="en-US" i="1">
                                      <a:solidFill>
                                        <a:schemeClr val="tx1"/>
                                      </a:solidFill>
                                      <a:latin typeface="Cambria Math" panose="02040503050406030204" pitchFamily="18" charset="0"/>
                                    </a:rPr>
                                  </m:ctrlPr>
                                </m:sSupPr>
                                <m:e>
                                  <m:r>
                                    <a:rPr lang="en-US" i="1">
                                      <a:solidFill>
                                        <a:schemeClr val="tx1"/>
                                      </a:solidFill>
                                      <a:latin typeface="Cambria Math" panose="02040503050406030204" pitchFamily="18" charset="0"/>
                                    </a:rPr>
                                    <m:t>𝐴</m:t>
                                  </m:r>
                                </m:e>
                                <m:sup>
                                  <m:r>
                                    <a:rPr lang="en-US" i="1">
                                      <a:solidFill>
                                        <a:schemeClr val="tx1"/>
                                      </a:solidFill>
                                      <a:latin typeface="Cambria Math" panose="02040503050406030204" pitchFamily="18" charset="0"/>
                                    </a:rPr>
                                    <m:t>𝑛</m:t>
                                  </m:r>
                                  <m:r>
                                    <a:rPr lang="en-US" i="1">
                                      <a:solidFill>
                                        <a:schemeClr val="tx1"/>
                                      </a:solidFill>
                                      <a:latin typeface="Cambria Math" panose="02040503050406030204" pitchFamily="18" charset="0"/>
                                    </a:rPr>
                                    <m:t>+1</m:t>
                                  </m:r>
                                </m:sup>
                              </m:sSup>
                            </m:num>
                            <m:den>
                              <m:sSup>
                                <m:sSupPr>
                                  <m:ctrlPr>
                                    <a:rPr lang="en-US" i="1">
                                      <a:solidFill>
                                        <a:schemeClr val="tx1"/>
                                      </a:solidFill>
                                      <a:latin typeface="Cambria Math" panose="02040503050406030204" pitchFamily="18" charset="0"/>
                                    </a:rPr>
                                  </m:ctrlPr>
                                </m:sSupPr>
                                <m:e>
                                  <m:r>
                                    <a:rPr lang="en-US" i="1">
                                      <a:solidFill>
                                        <a:schemeClr val="tx1"/>
                                      </a:solidFill>
                                      <a:latin typeface="Cambria Math" panose="02040503050406030204" pitchFamily="18" charset="0"/>
                                    </a:rPr>
                                    <m:t>𝐴</m:t>
                                  </m:r>
                                </m:e>
                                <m:sup>
                                  <m:r>
                                    <a:rPr lang="en-US" i="1">
                                      <a:solidFill>
                                        <a:schemeClr val="tx1"/>
                                      </a:solidFill>
                                      <a:latin typeface="Cambria Math" panose="02040503050406030204" pitchFamily="18" charset="0"/>
                                    </a:rPr>
                                    <m:t>𝑛</m:t>
                                  </m:r>
                                </m:sup>
                              </m:sSup>
                            </m:den>
                          </m:f>
                        </m:e>
                      </m:d>
                      <m:r>
                        <a:rPr lang="en-US" i="1">
                          <a:solidFill>
                            <a:schemeClr val="tx1"/>
                          </a:solidFill>
                          <a:latin typeface="Cambria Math" panose="02040503050406030204" pitchFamily="18" charset="0"/>
                        </a:rPr>
                        <m:t>=</m:t>
                      </m:r>
                      <m:d>
                        <m:dPr>
                          <m:begChr m:val="|"/>
                          <m:endChr m:val="|"/>
                          <m:ctrlPr>
                            <a:rPr lang="en-US" i="1" smtClean="0">
                              <a:solidFill>
                                <a:schemeClr val="tx1"/>
                              </a:solidFill>
                              <a:latin typeface="Cambria Math" panose="02040503050406030204" pitchFamily="18" charset="0"/>
                            </a:rPr>
                          </m:ctrlPr>
                        </m:dPr>
                        <m:e>
                          <m:r>
                            <a:rPr lang="en-US" i="1">
                              <a:latin typeface="Cambria Math" panose="02040503050406030204" pitchFamily="18" charset="0"/>
                            </a:rPr>
                            <m:t>1+2</m:t>
                          </m:r>
                          <m:f>
                            <m:fPr>
                              <m:ctrlPr>
                                <a:rPr lang="en-US" i="1">
                                  <a:latin typeface="Cambria Math" panose="02040503050406030204" pitchFamily="18" charset="0"/>
                                </a:rPr>
                              </m:ctrlPr>
                            </m:fPr>
                            <m:num>
                              <m:r>
                                <a:rPr lang="en-US" i="1">
                                  <a:latin typeface="Cambria Math" panose="02040503050406030204" pitchFamily="18" charset="0"/>
                                </a:rPr>
                                <m:t>𝑘</m:t>
                              </m:r>
                              <m:r>
                                <m:rPr>
                                  <m:sty m:val="p"/>
                                </m:rPr>
                                <a:rPr lang="en-US">
                                  <a:latin typeface="Cambria Math" panose="02040503050406030204" pitchFamily="18" charset="0"/>
                                </a:rPr>
                                <m:t>Δ</m:t>
                              </m:r>
                              <m:r>
                                <a:rPr lang="en-US" i="1">
                                  <a:latin typeface="Cambria Math" panose="02040503050406030204" pitchFamily="18" charset="0"/>
                                </a:rPr>
                                <m:t>𝑡</m:t>
                              </m:r>
                            </m:num>
                            <m:den>
                              <m:r>
                                <m:rPr>
                                  <m:sty m:val="p"/>
                                </m:rPr>
                                <a:rPr lang="en-US">
                                  <a:latin typeface="Cambria Math" panose="02040503050406030204" pitchFamily="18" charset="0"/>
                                </a:rPr>
                                <m:t>Δ</m:t>
                              </m:r>
                              <m:sSup>
                                <m:sSupPr>
                                  <m:ctrlPr>
                                    <a:rPr lang="en-US" i="1">
                                      <a:latin typeface="Cambria Math" panose="02040503050406030204" pitchFamily="18" charset="0"/>
                                    </a:rPr>
                                  </m:ctrlPr>
                                </m:sSupPr>
                                <m:e>
                                  <m:r>
                                    <a:rPr lang="en-US" i="1">
                                      <a:latin typeface="Cambria Math" panose="02040503050406030204" pitchFamily="18" charset="0"/>
                                    </a:rPr>
                                    <m:t>𝑥</m:t>
                                  </m:r>
                                </m:e>
                                <m:sup>
                                  <m:r>
                                    <a:rPr lang="en-US" i="1">
                                      <a:latin typeface="Cambria Math" panose="02040503050406030204" pitchFamily="18" charset="0"/>
                                    </a:rPr>
                                    <m:t>2</m:t>
                                  </m:r>
                                </m:sup>
                              </m:sSup>
                            </m:den>
                          </m:f>
                          <m:d>
                            <m:dPr>
                              <m:ctrlPr>
                                <a:rPr lang="en-US" i="1">
                                  <a:latin typeface="Cambria Math" panose="02040503050406030204" pitchFamily="18" charset="0"/>
                                </a:rPr>
                              </m:ctrlPr>
                            </m:dPr>
                            <m:e>
                              <m:func>
                                <m:funcPr>
                                  <m:ctrlPr>
                                    <a:rPr lang="en-US" i="1">
                                      <a:latin typeface="Cambria Math" panose="02040503050406030204" pitchFamily="18" charset="0"/>
                                    </a:rPr>
                                  </m:ctrlPr>
                                </m:funcPr>
                                <m:fName>
                                  <m:r>
                                    <m:rPr>
                                      <m:sty m:val="p"/>
                                    </m:rPr>
                                    <a:rPr lang="en-US">
                                      <a:latin typeface="Cambria Math" panose="02040503050406030204" pitchFamily="18" charset="0"/>
                                    </a:rPr>
                                    <m:t>cos</m:t>
                                  </m:r>
                                </m:fName>
                                <m:e>
                                  <m:acc>
                                    <m:accPr>
                                      <m:chr m:val="̃"/>
                                      <m:ctrlPr>
                                        <a:rPr lang="en-US" i="1">
                                          <a:latin typeface="Cambria Math" panose="02040503050406030204" pitchFamily="18" charset="0"/>
                                        </a:rPr>
                                      </m:ctrlPr>
                                    </m:accPr>
                                    <m:e>
                                      <m:r>
                                        <a:rPr lang="en-US" i="1">
                                          <a:latin typeface="Cambria Math" panose="02040503050406030204" pitchFamily="18" charset="0"/>
                                        </a:rPr>
                                        <m:t>𝑘</m:t>
                                      </m:r>
                                    </m:e>
                                  </m:acc>
                                  <m:r>
                                    <a:rPr lang="en-US" i="1" dirty="0">
                                      <a:latin typeface="Cambria Math" panose="02040503050406030204" pitchFamily="18" charset="0"/>
                                    </a:rPr>
                                    <m:t>𝑥</m:t>
                                  </m:r>
                                </m:e>
                              </m:func>
                              <m:r>
                                <a:rPr lang="en-US" i="1">
                                  <a:latin typeface="Cambria Math" panose="02040503050406030204" pitchFamily="18" charset="0"/>
                                </a:rPr>
                                <m:t>−1</m:t>
                              </m:r>
                            </m:e>
                          </m:d>
                        </m:e>
                      </m:d>
                      <m:r>
                        <a:rPr lang="en-US" b="0" i="1" smtClean="0">
                          <a:solidFill>
                            <a:schemeClr val="tx1"/>
                          </a:solidFill>
                          <a:latin typeface="Cambria Math" panose="02040503050406030204" pitchFamily="18" charset="0"/>
                        </a:rPr>
                        <m:t>≤1</m:t>
                      </m:r>
                    </m:oMath>
                  </m:oMathPara>
                </a14:m>
                <a:endParaRPr lang="en-US" dirty="0"/>
              </a:p>
              <a:p>
                <a:pPr>
                  <a:lnSpc>
                    <a:spcPct val="100000"/>
                  </a:lnSpc>
                </a:pPr>
                <a:r>
                  <a:rPr lang="en-US" dirty="0"/>
                  <a:t>This condition holds for</a:t>
                </a:r>
              </a:p>
              <a:p>
                <a:pPr marL="0" indent="0">
                  <a:lnSpc>
                    <a:spcPct val="100000"/>
                  </a:lnSpc>
                  <a:buNone/>
                </a:pPr>
                <a14:m>
                  <m:oMathPara xmlns:m="http://schemas.openxmlformats.org/officeDocument/2006/math">
                    <m:oMathParaPr>
                      <m:jc m:val="centerGroup"/>
                    </m:oMathParaPr>
                    <m:oMath xmlns:m="http://schemas.openxmlformats.org/officeDocument/2006/math">
                      <m:f>
                        <m:fPr>
                          <m:ctrlPr>
                            <a:rPr lang="en-US" b="0" i="1" smtClean="0">
                              <a:latin typeface="Cambria Math" panose="02040503050406030204" pitchFamily="18" charset="0"/>
                            </a:rPr>
                          </m:ctrlPr>
                        </m:fPr>
                        <m:num>
                          <m:r>
                            <a:rPr lang="en-US" b="0" i="1" smtClean="0">
                              <a:latin typeface="Cambria Math" panose="02040503050406030204" pitchFamily="18" charset="0"/>
                            </a:rPr>
                            <m:t>𝑘</m:t>
                          </m:r>
                          <m:r>
                            <m:rPr>
                              <m:sty m:val="p"/>
                            </m:rPr>
                            <a:rPr lang="en-US" b="0" i="0" smtClean="0">
                              <a:latin typeface="Cambria Math" panose="02040503050406030204" pitchFamily="18" charset="0"/>
                            </a:rPr>
                            <m:t>Δ</m:t>
                          </m:r>
                          <m:r>
                            <a:rPr lang="en-US" b="0" i="1" smtClean="0">
                              <a:latin typeface="Cambria Math" panose="02040503050406030204" pitchFamily="18" charset="0"/>
                            </a:rPr>
                            <m:t>𝑡</m:t>
                          </m:r>
                        </m:num>
                        <m:den>
                          <m:r>
                            <m:rPr>
                              <m:sty m:val="p"/>
                            </m:rPr>
                            <a:rPr lang="en-US" b="0" i="0" smtClean="0">
                              <a:latin typeface="Cambria Math" panose="02040503050406030204" pitchFamily="18" charset="0"/>
                            </a:rPr>
                            <m:t>Δ</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𝑥</m:t>
                              </m:r>
                            </m:e>
                            <m:sup>
                              <m:r>
                                <a:rPr lang="en-US" b="0" i="1" smtClean="0">
                                  <a:latin typeface="Cambria Math" panose="02040503050406030204" pitchFamily="18" charset="0"/>
                                </a:rPr>
                                <m:t>2</m:t>
                              </m:r>
                            </m:sup>
                          </m:sSup>
                        </m:den>
                      </m:f>
                      <m:r>
                        <a:rPr lang="en-US" b="0" i="1" smtClean="0">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1</m:t>
                          </m:r>
                        </m:num>
                        <m:den>
                          <m:r>
                            <a:rPr lang="en-US" i="1">
                              <a:latin typeface="Cambria Math" panose="02040503050406030204" pitchFamily="18" charset="0"/>
                            </a:rPr>
                            <m:t>2</m:t>
                          </m:r>
                        </m:den>
                      </m:f>
                    </m:oMath>
                  </m:oMathPara>
                </a14:m>
                <a:endParaRPr lang="en-US" dirty="0"/>
              </a:p>
              <a:p>
                <a:pPr>
                  <a:lnSpc>
                    <a:spcPct val="100000"/>
                  </a:lnSpc>
                </a:pPr>
                <a:r>
                  <a:rPr lang="en-US" dirty="0"/>
                  <a:t>The relation is equivalent to the Courant condition in the advection equation where we had</a:t>
                </a:r>
              </a:p>
              <a:p>
                <a:pPr marL="0" indent="0">
                  <a:lnSpc>
                    <a:spcPct val="100000"/>
                  </a:lnSpc>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ea typeface="Cambria Math" panose="02040503050406030204" pitchFamily="18" charset="0"/>
                        </a:rPr>
                        <m:t>𝒞</m:t>
                      </m:r>
                      <m:r>
                        <a:rPr lang="en-US" b="0" i="1" smtClean="0">
                          <a:latin typeface="Cambria Math" panose="02040503050406030204" pitchFamily="18" charset="0"/>
                          <a:ea typeface="Cambria Math" panose="02040503050406030204" pitchFamily="18" charset="0"/>
                        </a:rPr>
                        <m:t>=</m:t>
                      </m:r>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𝑢</m:t>
                          </m:r>
                          <m:r>
                            <m:rPr>
                              <m:sty m:val="p"/>
                            </m:rPr>
                            <a:rPr lang="en-US" b="0" i="0" smtClean="0">
                              <a:latin typeface="Cambria Math" panose="02040503050406030204" pitchFamily="18" charset="0"/>
                              <a:ea typeface="Cambria Math" panose="02040503050406030204" pitchFamily="18" charset="0"/>
                            </a:rPr>
                            <m:t>Δ</m:t>
                          </m:r>
                          <m:r>
                            <a:rPr lang="en-US" b="0" i="1" smtClean="0">
                              <a:latin typeface="Cambria Math" panose="02040503050406030204" pitchFamily="18" charset="0"/>
                              <a:ea typeface="Cambria Math" panose="02040503050406030204" pitchFamily="18" charset="0"/>
                            </a:rPr>
                            <m:t>𝑡</m:t>
                          </m:r>
                        </m:num>
                        <m:den>
                          <m:r>
                            <m:rPr>
                              <m:sty m:val="p"/>
                            </m:rPr>
                            <a:rPr lang="en-US" b="0" i="0" smtClean="0">
                              <a:latin typeface="Cambria Math" panose="02040503050406030204" pitchFamily="18" charset="0"/>
                              <a:ea typeface="Cambria Math" panose="02040503050406030204" pitchFamily="18" charset="0"/>
                            </a:rPr>
                            <m:t>Δ</m:t>
                          </m:r>
                          <m:r>
                            <a:rPr lang="en-US" b="0" i="1" smtClean="0">
                              <a:latin typeface="Cambria Math" panose="02040503050406030204" pitchFamily="18" charset="0"/>
                              <a:ea typeface="Cambria Math" panose="02040503050406030204" pitchFamily="18" charset="0"/>
                            </a:rPr>
                            <m:t>𝑥</m:t>
                          </m:r>
                        </m:den>
                      </m:f>
                      <m:r>
                        <a:rPr lang="en-US" b="0" i="1" smtClean="0">
                          <a:latin typeface="Cambria Math" panose="02040503050406030204" pitchFamily="18" charset="0"/>
                          <a:ea typeface="Cambria Math" panose="02040503050406030204" pitchFamily="18" charset="0"/>
                        </a:rPr>
                        <m:t>&lt;1</m:t>
                      </m:r>
                    </m:oMath>
                  </m:oMathPara>
                </a14:m>
                <a:endParaRPr lang="en-US" dirty="0"/>
              </a:p>
              <a:p>
                <a:pPr marL="0" indent="0">
                  <a:lnSpc>
                    <a:spcPct val="100000"/>
                  </a:lnSpc>
                  <a:buNone/>
                </a:pPr>
                <a:endParaRPr lang="en-US" dirty="0"/>
              </a:p>
            </p:txBody>
          </p:sp>
        </mc:Choice>
        <mc:Fallback xmlns="">
          <p:sp>
            <p:nvSpPr>
              <p:cNvPr id="3" name="Content Placeholder 2">
                <a:extLst>
                  <a:ext uri="{FF2B5EF4-FFF2-40B4-BE49-F238E27FC236}">
                    <a16:creationId xmlns:a16="http://schemas.microsoft.com/office/drawing/2014/main" id="{15C4FD65-F675-944D-A379-3A5FFFAEB784}"/>
                  </a:ext>
                </a:extLst>
              </p:cNvPr>
              <p:cNvSpPr>
                <a:spLocks noGrp="1" noRot="1" noChangeAspect="1" noMove="1" noResize="1" noEditPoints="1" noAdjustHandles="1" noChangeArrowheads="1" noChangeShapeType="1" noTextEdit="1"/>
              </p:cNvSpPr>
              <p:nvPr>
                <p:ph idx="1"/>
              </p:nvPr>
            </p:nvSpPr>
            <p:spPr>
              <a:xfrm>
                <a:off x="838200" y="1325562"/>
                <a:ext cx="10515600" cy="5532437"/>
              </a:xfrm>
              <a:blipFill>
                <a:blip r:embed="rId2"/>
                <a:stretch>
                  <a:fillRect l="-965" t="-915"/>
                </a:stretch>
              </a:blipFill>
            </p:spPr>
            <p:txBody>
              <a:bodyPr/>
              <a:lstStyle/>
              <a:p>
                <a:r>
                  <a:rPr lang="en-US">
                    <a:noFill/>
                  </a:rPr>
                  <a:t> </a:t>
                </a:r>
              </a:p>
            </p:txBody>
          </p:sp>
        </mc:Fallback>
      </mc:AlternateContent>
    </p:spTree>
    <p:extLst>
      <p:ext uri="{BB962C8B-B14F-4D97-AF65-F5344CB8AC3E}">
        <p14:creationId xmlns:p14="http://schemas.microsoft.com/office/powerpoint/2010/main" val="799965634"/>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DCE2F9-F4C3-DA4C-B0FC-7FF6F22D148C}"/>
              </a:ext>
            </a:extLst>
          </p:cNvPr>
          <p:cNvSpPr>
            <a:spLocks noGrp="1"/>
          </p:cNvSpPr>
          <p:nvPr>
            <p:ph type="title"/>
          </p:nvPr>
        </p:nvSpPr>
        <p:spPr>
          <a:xfrm>
            <a:off x="838200" y="0"/>
            <a:ext cx="10515600" cy="1325563"/>
          </a:xfrm>
        </p:spPr>
        <p:txBody>
          <a:bodyPr/>
          <a:lstStyle/>
          <a:p>
            <a:r>
              <a:rPr lang="en-US" dirty="0"/>
              <a:t>Boundary conditions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5C4FD65-F675-944D-A379-3A5FFFAEB784}"/>
                  </a:ext>
                </a:extLst>
              </p:cNvPr>
              <p:cNvSpPr>
                <a:spLocks noGrp="1"/>
              </p:cNvSpPr>
              <p:nvPr>
                <p:ph idx="1"/>
              </p:nvPr>
            </p:nvSpPr>
            <p:spPr>
              <a:xfrm>
                <a:off x="838200" y="1325562"/>
                <a:ext cx="10515600" cy="5532437"/>
              </a:xfrm>
            </p:spPr>
            <p:txBody>
              <a:bodyPr/>
              <a:lstStyle/>
              <a:p>
                <a:r>
                  <a:rPr lang="en-US" dirty="0"/>
                  <a:t>To complete the solution, we need boundary conditions at the left (</a:t>
                </a:r>
                <a14:m>
                  <m:oMath xmlns:m="http://schemas.openxmlformats.org/officeDocument/2006/math">
                    <m:sSub>
                      <m:sSubPr>
                        <m:ctrlPr>
                          <a:rPr lang="en-US" b="0" i="1" dirty="0" smtClean="0">
                            <a:latin typeface="Cambria Math" panose="02040503050406030204" pitchFamily="18" charset="0"/>
                          </a:rPr>
                        </m:ctrlPr>
                      </m:sSubPr>
                      <m:e>
                        <m:r>
                          <a:rPr lang="en-US" i="1" dirty="0" smtClean="0">
                            <a:latin typeface="Cambria Math" panose="02040503050406030204" pitchFamily="18" charset="0"/>
                          </a:rPr>
                          <m:t>𝑥</m:t>
                        </m:r>
                      </m:e>
                      <m:sub>
                        <m:r>
                          <a:rPr lang="en-US" i="1" dirty="0" smtClean="0">
                            <a:latin typeface="Cambria Math" panose="02040503050406030204" pitchFamily="18" charset="0"/>
                          </a:rPr>
                          <m:t>𝑙</m:t>
                        </m:r>
                      </m:sub>
                    </m:sSub>
                  </m:oMath>
                </a14:m>
                <a:r>
                  <a:rPr lang="en-US" dirty="0"/>
                  <a:t>) and right (</a:t>
                </a:r>
                <a14:m>
                  <m:oMath xmlns:m="http://schemas.openxmlformats.org/officeDocument/2006/math">
                    <m:sSub>
                      <m:sSubPr>
                        <m:ctrlPr>
                          <a:rPr lang="en-US" b="0" i="1" dirty="0" smtClean="0">
                            <a:latin typeface="Cambria Math" panose="02040503050406030204" pitchFamily="18" charset="0"/>
                          </a:rPr>
                        </m:ctrlPr>
                      </m:sSubPr>
                      <m:e>
                        <m:r>
                          <a:rPr lang="en-US" i="1" dirty="0" smtClean="0">
                            <a:latin typeface="Cambria Math" panose="02040503050406030204" pitchFamily="18" charset="0"/>
                          </a:rPr>
                          <m:t>𝑥</m:t>
                        </m:r>
                      </m:e>
                      <m:sub>
                        <m:r>
                          <a:rPr lang="en-US" i="1" dirty="0" smtClean="0">
                            <a:latin typeface="Cambria Math" panose="02040503050406030204" pitchFamily="18" charset="0"/>
                          </a:rPr>
                          <m:t>𝑟</m:t>
                        </m:r>
                      </m:sub>
                    </m:sSub>
                  </m:oMath>
                </a14:m>
                <a:r>
                  <a:rPr lang="en-US" dirty="0"/>
                  <a:t>) boundaries.</a:t>
                </a:r>
              </a:p>
              <a:p>
                <a:r>
                  <a:rPr lang="en-US" dirty="0"/>
                  <a:t>Typical BC used are </a:t>
                </a:r>
              </a:p>
              <a:p>
                <a:pPr lvl="1"/>
                <a:r>
                  <a:rPr lang="en-US" dirty="0"/>
                  <a:t>Dirichlet fixing the value of </a:t>
                </a:r>
                <a14:m>
                  <m:oMath xmlns:m="http://schemas.openxmlformats.org/officeDocument/2006/math">
                    <m:r>
                      <a:rPr lang="en-US" b="0" i="1" smtClean="0">
                        <a:latin typeface="Cambria Math" panose="02040503050406030204" pitchFamily="18" charset="0"/>
                      </a:rPr>
                      <m:t>𝜙</m:t>
                    </m:r>
                  </m:oMath>
                </a14:m>
                <a:r>
                  <a:rPr lang="en-US" dirty="0"/>
                  <a:t> on the boundary: </a:t>
                </a:r>
              </a:p>
              <a:p>
                <a:pPr marL="0" indent="0">
                  <a:lnSpc>
                    <a:spcPct val="150000"/>
                  </a:lnSpc>
                  <a:buNone/>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𝜙</m:t>
                              </m:r>
                            </m:e>
                          </m:d>
                        </m:e>
                        <m:sub>
                          <m:r>
                            <a:rPr lang="en-US" b="0" i="1" smtClean="0">
                              <a:latin typeface="Cambria Math" panose="02040503050406030204" pitchFamily="18" charset="0"/>
                            </a:rPr>
                            <m:t>𝑥</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𝑙</m:t>
                              </m:r>
                            </m:sub>
                          </m:sSub>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𝜙</m:t>
                          </m:r>
                        </m:e>
                        <m:sub>
                          <m:r>
                            <a:rPr lang="en-US" b="0" i="1" smtClean="0">
                              <a:latin typeface="Cambria Math" panose="02040503050406030204" pitchFamily="18" charset="0"/>
                            </a:rPr>
                            <m:t>𝑙</m:t>
                          </m:r>
                        </m:sub>
                      </m:sSub>
                      <m:r>
                        <a:rPr lang="en-US" b="0" i="1" smtClean="0">
                          <a:latin typeface="Cambria Math" panose="02040503050406030204" pitchFamily="18" charset="0"/>
                        </a:rPr>
                        <m:t>    ;</m:t>
                      </m:r>
                      <m:sSub>
                        <m:sSubPr>
                          <m:ctrlPr>
                            <a:rPr lang="en-US" i="1">
                              <a:latin typeface="Cambria Math" panose="02040503050406030204" pitchFamily="18" charset="0"/>
                            </a:rPr>
                          </m:ctrlPr>
                        </m:sSubPr>
                        <m:e>
                          <m:d>
                            <m:dPr>
                              <m:begChr m:val=""/>
                              <m:endChr m:val="|"/>
                              <m:ctrlPr>
                                <a:rPr lang="en-US" i="1">
                                  <a:latin typeface="Cambria Math" panose="02040503050406030204" pitchFamily="18" charset="0"/>
                                </a:rPr>
                              </m:ctrlPr>
                            </m:dPr>
                            <m:e>
                              <m:r>
                                <a:rPr lang="en-US" i="1">
                                  <a:latin typeface="Cambria Math" panose="02040503050406030204" pitchFamily="18" charset="0"/>
                                </a:rPr>
                                <m:t>𝜙</m:t>
                              </m:r>
                            </m:e>
                          </m:d>
                        </m:e>
                        <m:sub>
                          <m:r>
                            <a:rPr lang="en-US" i="1">
                              <a:latin typeface="Cambria Math" panose="02040503050406030204" pitchFamily="18" charset="0"/>
                            </a:rPr>
                            <m:t>𝑥</m:t>
                          </m:r>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b="0" i="1" smtClean="0">
                                  <a:latin typeface="Cambria Math" panose="02040503050406030204" pitchFamily="18" charset="0"/>
                                </a:rPr>
                                <m:t>𝑟</m:t>
                              </m:r>
                            </m:sub>
                          </m:sSub>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𝜙</m:t>
                          </m:r>
                        </m:e>
                        <m:sub>
                          <m:r>
                            <a:rPr lang="en-US" b="0" i="1" smtClean="0">
                              <a:latin typeface="Cambria Math" panose="02040503050406030204" pitchFamily="18" charset="0"/>
                            </a:rPr>
                            <m:t>𝑟</m:t>
                          </m:r>
                        </m:sub>
                      </m:sSub>
                    </m:oMath>
                  </m:oMathPara>
                </a14:m>
                <a:endParaRPr lang="en-US" dirty="0"/>
              </a:p>
              <a:p>
                <a:pPr lvl="1"/>
                <a:r>
                  <a:rPr lang="en-US" dirty="0"/>
                  <a:t> Neumann fixing the flux on the boundary : </a:t>
                </a:r>
              </a:p>
              <a:p>
                <a:pPr marL="0" indent="0">
                  <a:lnSpc>
                    <a:spcPct val="150000"/>
                  </a:lnSpc>
                  <a:buNone/>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d>
                            <m:dPr>
                              <m:begChr m:val=""/>
                              <m:endChr m:val="|"/>
                              <m:ctrlPr>
                                <a:rPr lang="en-US" i="1">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m:t>
                                  </m:r>
                                </m:e>
                                <m:sub>
                                  <m:r>
                                    <a:rPr lang="en-US" b="0" i="1" smtClean="0">
                                      <a:latin typeface="Cambria Math" panose="02040503050406030204" pitchFamily="18" charset="0"/>
                                    </a:rPr>
                                    <m:t>𝑥</m:t>
                                  </m:r>
                                </m:sub>
                              </m:sSub>
                              <m:r>
                                <a:rPr lang="en-US" i="1">
                                  <a:latin typeface="Cambria Math" panose="02040503050406030204" pitchFamily="18" charset="0"/>
                                </a:rPr>
                                <m:t>𝜙</m:t>
                              </m:r>
                            </m:e>
                          </m:d>
                        </m:e>
                        <m:sub>
                          <m:r>
                            <a:rPr lang="en-US" i="1">
                              <a:latin typeface="Cambria Math" panose="02040503050406030204" pitchFamily="18" charset="0"/>
                            </a:rPr>
                            <m:t>𝑥</m:t>
                          </m:r>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𝑙</m:t>
                              </m:r>
                            </m:sub>
                          </m:sSub>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𝜙</m:t>
                          </m:r>
                        </m:e>
                        <m:sub>
                          <m:r>
                            <a:rPr lang="en-US" b="0" i="1" smtClean="0">
                              <a:latin typeface="Cambria Math" panose="02040503050406030204" pitchFamily="18" charset="0"/>
                            </a:rPr>
                            <m:t>𝑥</m:t>
                          </m:r>
                          <m:r>
                            <a:rPr lang="en-US" b="0" i="1" smtClean="0">
                              <a:latin typeface="Cambria Math" panose="02040503050406030204" pitchFamily="18" charset="0"/>
                            </a:rPr>
                            <m:t>,</m:t>
                          </m:r>
                          <m:r>
                            <a:rPr lang="en-US" i="1">
                              <a:latin typeface="Cambria Math" panose="02040503050406030204" pitchFamily="18" charset="0"/>
                            </a:rPr>
                            <m:t>𝑙</m:t>
                          </m:r>
                        </m:sub>
                      </m:sSub>
                      <m:r>
                        <a:rPr lang="en-US" i="1">
                          <a:latin typeface="Cambria Math" panose="02040503050406030204" pitchFamily="18" charset="0"/>
                        </a:rPr>
                        <m:t>    ;</m:t>
                      </m:r>
                      <m:sSub>
                        <m:sSubPr>
                          <m:ctrlPr>
                            <a:rPr lang="en-US" i="1">
                              <a:latin typeface="Cambria Math" panose="02040503050406030204" pitchFamily="18" charset="0"/>
                            </a:rPr>
                          </m:ctrlPr>
                        </m:sSubPr>
                        <m:e>
                          <m:d>
                            <m:dPr>
                              <m:begChr m:val=""/>
                              <m:endChr m:val="|"/>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m:t>
                                  </m:r>
                                </m:e>
                                <m:sub>
                                  <m:r>
                                    <a:rPr lang="en-US" i="1">
                                      <a:latin typeface="Cambria Math" panose="02040503050406030204" pitchFamily="18" charset="0"/>
                                    </a:rPr>
                                    <m:t>𝑥</m:t>
                                  </m:r>
                                </m:sub>
                              </m:sSub>
                              <m:r>
                                <a:rPr lang="en-US" i="1">
                                  <a:latin typeface="Cambria Math" panose="02040503050406030204" pitchFamily="18" charset="0"/>
                                </a:rPr>
                                <m:t>𝜙</m:t>
                              </m:r>
                            </m:e>
                          </m:d>
                        </m:e>
                        <m:sub>
                          <m:r>
                            <a:rPr lang="en-US" i="1">
                              <a:latin typeface="Cambria Math" panose="02040503050406030204" pitchFamily="18" charset="0"/>
                            </a:rPr>
                            <m:t>𝑥</m:t>
                          </m:r>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𝑟</m:t>
                              </m:r>
                            </m:sub>
                          </m:sSub>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𝜙</m:t>
                          </m:r>
                        </m:e>
                        <m:sub>
                          <m:r>
                            <a:rPr lang="en-US" b="0" i="1" smtClean="0">
                              <a:latin typeface="Cambria Math" panose="02040503050406030204" pitchFamily="18" charset="0"/>
                            </a:rPr>
                            <m:t>𝑥</m:t>
                          </m:r>
                          <m:r>
                            <a:rPr lang="en-US" b="0" i="1" smtClean="0">
                              <a:latin typeface="Cambria Math" panose="02040503050406030204" pitchFamily="18" charset="0"/>
                            </a:rPr>
                            <m:t>,</m:t>
                          </m:r>
                          <m:r>
                            <a:rPr lang="en-US" i="1">
                              <a:latin typeface="Cambria Math" panose="02040503050406030204" pitchFamily="18" charset="0"/>
                            </a:rPr>
                            <m:t>𝑟</m:t>
                          </m:r>
                        </m:sub>
                      </m:sSub>
                    </m:oMath>
                  </m:oMathPara>
                </a14:m>
                <a:endParaRPr lang="en-US" dirty="0"/>
              </a:p>
              <a:p>
                <a:endParaRPr lang="en-US" dirty="0"/>
              </a:p>
            </p:txBody>
          </p:sp>
        </mc:Choice>
        <mc:Fallback xmlns="">
          <p:sp>
            <p:nvSpPr>
              <p:cNvPr id="3" name="Content Placeholder 2">
                <a:extLst>
                  <a:ext uri="{FF2B5EF4-FFF2-40B4-BE49-F238E27FC236}">
                    <a16:creationId xmlns:a16="http://schemas.microsoft.com/office/drawing/2014/main" id="{15C4FD65-F675-944D-A379-3A5FFFAEB784}"/>
                  </a:ext>
                </a:extLst>
              </p:cNvPr>
              <p:cNvSpPr>
                <a:spLocks noGrp="1" noRot="1" noChangeAspect="1" noMove="1" noResize="1" noEditPoints="1" noAdjustHandles="1" noChangeArrowheads="1" noChangeShapeType="1" noTextEdit="1"/>
              </p:cNvSpPr>
              <p:nvPr>
                <p:ph idx="1"/>
              </p:nvPr>
            </p:nvSpPr>
            <p:spPr>
              <a:xfrm>
                <a:off x="838200" y="1325562"/>
                <a:ext cx="10515600" cy="5532437"/>
              </a:xfrm>
              <a:blipFill>
                <a:blip r:embed="rId2"/>
                <a:stretch>
                  <a:fillRect l="-965" t="-1602" b="-13501"/>
                </a:stretch>
              </a:blipFill>
            </p:spPr>
            <p:txBody>
              <a:bodyPr/>
              <a:lstStyle/>
              <a:p>
                <a:r>
                  <a:rPr lang="en-US">
                    <a:noFill/>
                  </a:rPr>
                  <a:t> </a:t>
                </a:r>
              </a:p>
            </p:txBody>
          </p:sp>
        </mc:Fallback>
      </mc:AlternateContent>
    </p:spTree>
    <p:extLst>
      <p:ext uri="{BB962C8B-B14F-4D97-AF65-F5344CB8AC3E}">
        <p14:creationId xmlns:p14="http://schemas.microsoft.com/office/powerpoint/2010/main" val="254229598"/>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DCE2F9-F4C3-DA4C-B0FC-7FF6F22D148C}"/>
              </a:ext>
            </a:extLst>
          </p:cNvPr>
          <p:cNvSpPr>
            <a:spLocks noGrp="1"/>
          </p:cNvSpPr>
          <p:nvPr>
            <p:ph type="title"/>
          </p:nvPr>
        </p:nvSpPr>
        <p:spPr>
          <a:xfrm>
            <a:off x="838200" y="0"/>
            <a:ext cx="10515600" cy="1325563"/>
          </a:xfrm>
        </p:spPr>
        <p:txBody>
          <a:bodyPr/>
          <a:lstStyle/>
          <a:p>
            <a:r>
              <a:rPr lang="en-US" dirty="0"/>
              <a:t>Example: time forward method</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15C4FD65-F675-944D-A379-3A5FFFAEB784}"/>
                  </a:ext>
                </a:extLst>
              </p:cNvPr>
              <p:cNvSpPr>
                <a:spLocks noGrp="1"/>
              </p:cNvSpPr>
              <p:nvPr>
                <p:ph idx="1"/>
              </p:nvPr>
            </p:nvSpPr>
            <p:spPr>
              <a:xfrm>
                <a:off x="838200" y="1325562"/>
                <a:ext cx="10515600" cy="5532437"/>
              </a:xfrm>
            </p:spPr>
            <p:txBody>
              <a:bodyPr>
                <a:normAutofit/>
              </a:bodyPr>
              <a:lstStyle/>
              <a:p>
                <a:r>
                  <a:rPr lang="en-US" dirty="0"/>
                  <a:t>To test the method we use a gaussian, since in a diffusion a gaussian maintains its shape and only decreases its amplitude:</a:t>
                </a:r>
              </a:p>
              <a:p>
                <a:pPr marL="0" indent="0">
                  <a:lnSpc>
                    <a:spcPct val="150000"/>
                  </a:lnSpc>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𝜙</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𝑡</m:t>
                          </m:r>
                        </m:e>
                      </m:d>
                      <m:r>
                        <a:rPr lang="en-US" b="0" i="1" smtClean="0">
                          <a:latin typeface="Cambria Math" panose="02040503050406030204" pitchFamily="18" charset="0"/>
                        </a:rPr>
                        <m:t>=</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𝜙</m:t>
                              </m:r>
                            </m:e>
                            <m:sub>
                              <m:r>
                                <a:rPr lang="en-US" b="0" i="1" smtClean="0">
                                  <a:latin typeface="Cambria Math" panose="02040503050406030204" pitchFamily="18" charset="0"/>
                                </a:rPr>
                                <m:t>2</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𝜙</m:t>
                              </m:r>
                            </m:e>
                            <m:sub>
                              <m:r>
                                <a:rPr lang="en-US" b="0" i="1" smtClean="0">
                                  <a:latin typeface="Cambria Math" panose="02040503050406030204" pitchFamily="18" charset="0"/>
                                </a:rPr>
                                <m:t>1</m:t>
                              </m:r>
                            </m:sub>
                          </m:sSub>
                        </m:e>
                      </m:d>
                      <m:rad>
                        <m:radPr>
                          <m:degHide m:val="on"/>
                          <m:ctrlPr>
                            <a:rPr lang="en-US" b="0" i="1" smtClean="0">
                              <a:latin typeface="Cambria Math" panose="02040503050406030204" pitchFamily="18" charset="0"/>
                            </a:rPr>
                          </m:ctrlPr>
                        </m:radPr>
                        <m:deg/>
                        <m:e>
                          <m:f>
                            <m:fPr>
                              <m:ctrlPr>
                                <a:rPr lang="en-US" b="0" i="1" smtClean="0">
                                  <a:latin typeface="Cambria Math" panose="02040503050406030204" pitchFamily="18" charset="0"/>
                                </a:rPr>
                              </m:ctrlPr>
                            </m:fPr>
                            <m:num>
                              <m:sSub>
                                <m:sSubPr>
                                  <m:ctrlPr>
                                    <a:rPr lang="en-US" b="0" i="1" smtClean="0">
                                      <a:latin typeface="Cambria Math" panose="02040503050406030204" pitchFamily="18" charset="0"/>
                                    </a:rPr>
                                  </m:ctrlPr>
                                </m:sSubPr>
                                <m:e>
                                  <m:r>
                                    <a:rPr lang="en-US" b="0" i="1" smtClean="0">
                                      <a:latin typeface="Cambria Math" panose="02040503050406030204" pitchFamily="18" charset="0"/>
                                    </a:rPr>
                                    <m:t>𝑡</m:t>
                                  </m:r>
                                </m:e>
                                <m:sub>
                                  <m:r>
                                    <a:rPr lang="en-US" b="0" i="1" smtClean="0">
                                      <a:latin typeface="Cambria Math" panose="02040503050406030204" pitchFamily="18" charset="0"/>
                                    </a:rPr>
                                    <m:t>0</m:t>
                                  </m:r>
                                </m:sub>
                              </m:sSub>
                            </m:num>
                            <m:den>
                              <m:r>
                                <a:rPr lang="en-US" b="0" i="1" smtClean="0">
                                  <a:latin typeface="Cambria Math" panose="02040503050406030204" pitchFamily="18" charset="0"/>
                                </a:rPr>
                                <m:t>𝑡</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𝑡</m:t>
                                  </m:r>
                                </m:e>
                                <m:sub>
                                  <m:r>
                                    <a:rPr lang="en-US" b="0" i="1" smtClean="0">
                                      <a:latin typeface="Cambria Math" panose="02040503050406030204" pitchFamily="18" charset="0"/>
                                    </a:rPr>
                                    <m:t>0</m:t>
                                  </m:r>
                                </m:sub>
                              </m:sSub>
                            </m:den>
                          </m:f>
                        </m:e>
                      </m:rad>
                      <m:func>
                        <m:funcPr>
                          <m:ctrlPr>
                            <a:rPr lang="en-US" i="1">
                              <a:latin typeface="Cambria Math" panose="02040503050406030204" pitchFamily="18" charset="0"/>
                            </a:rPr>
                          </m:ctrlPr>
                        </m:funcPr>
                        <m:fName>
                          <m:r>
                            <m:rPr>
                              <m:sty m:val="p"/>
                            </m:rPr>
                            <a:rPr lang="en-US">
                              <a:latin typeface="Cambria Math" panose="02040503050406030204" pitchFamily="18" charset="0"/>
                            </a:rPr>
                            <m:t>exp</m:t>
                          </m:r>
                        </m:fName>
                        <m:e>
                          <m:d>
                            <m:dPr>
                              <m:ctrlPr>
                                <a:rPr lang="en-US" i="1">
                                  <a:latin typeface="Cambria Math" panose="02040503050406030204" pitchFamily="18" charset="0"/>
                                </a:rPr>
                              </m:ctrlPr>
                            </m:dPr>
                            <m:e>
                              <m:r>
                                <a:rPr lang="en-US" b="0" i="1" smtClean="0">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1</m:t>
                                  </m:r>
                                </m:num>
                                <m:den>
                                  <m:r>
                                    <a:rPr lang="en-US" i="1">
                                      <a:latin typeface="Cambria Math" panose="02040503050406030204" pitchFamily="18" charset="0"/>
                                    </a:rPr>
                                    <m:t>4</m:t>
                                  </m:r>
                                </m:den>
                              </m:f>
                              <m:f>
                                <m:fPr>
                                  <m:ctrlPr>
                                    <a:rPr lang="en-US" b="0" i="1" smtClean="0">
                                      <a:latin typeface="Cambria Math" panose="02040503050406030204" pitchFamily="18" charset="0"/>
                                    </a:rPr>
                                  </m:ctrlPr>
                                </m:fPr>
                                <m:num>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𝑥</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𝑐</m:t>
                                              </m:r>
                                            </m:sub>
                                          </m:sSub>
                                        </m:e>
                                      </m:d>
                                    </m:e>
                                    <m:sup>
                                      <m:r>
                                        <a:rPr lang="en-US" b="0" i="1" smtClean="0">
                                          <a:latin typeface="Cambria Math" panose="02040503050406030204" pitchFamily="18" charset="0"/>
                                        </a:rPr>
                                        <m:t>2</m:t>
                                      </m:r>
                                    </m:sup>
                                  </m:sSup>
                                </m:num>
                                <m:den>
                                  <m:r>
                                    <a:rPr lang="en-US" b="0" i="1" smtClean="0">
                                      <a:latin typeface="Cambria Math" panose="02040503050406030204" pitchFamily="18" charset="0"/>
                                    </a:rPr>
                                    <m:t>𝑘</m:t>
                                  </m:r>
                                  <m:r>
                                    <a:rPr lang="en-US" b="0" i="1" smtClean="0">
                                      <a:latin typeface="Cambria Math" panose="02040503050406030204" pitchFamily="18" charset="0"/>
                                    </a:rPr>
                                    <m:t>(</m:t>
                                  </m:r>
                                  <m:r>
                                    <a:rPr lang="en-US" b="0" i="1" smtClean="0">
                                      <a:latin typeface="Cambria Math" panose="02040503050406030204" pitchFamily="18" charset="0"/>
                                    </a:rPr>
                                    <m:t>𝑡</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𝑡</m:t>
                                      </m:r>
                                    </m:e>
                                    <m:sub>
                                      <m:r>
                                        <a:rPr lang="en-US" b="0" i="1" smtClean="0">
                                          <a:latin typeface="Cambria Math" panose="02040503050406030204" pitchFamily="18" charset="0"/>
                                        </a:rPr>
                                        <m:t>0</m:t>
                                      </m:r>
                                    </m:sub>
                                  </m:sSub>
                                  <m:r>
                                    <a:rPr lang="en-US" b="0" i="1" smtClean="0">
                                      <a:latin typeface="Cambria Math" panose="02040503050406030204" pitchFamily="18" charset="0"/>
                                    </a:rPr>
                                    <m:t>)</m:t>
                                  </m:r>
                                </m:den>
                              </m:f>
                            </m:e>
                          </m:d>
                        </m:e>
                      </m:func>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𝜙</m:t>
                          </m:r>
                        </m:e>
                        <m:sub>
                          <m:r>
                            <a:rPr lang="en-US" b="0" i="1" smtClean="0">
                              <a:latin typeface="Cambria Math" panose="02040503050406030204" pitchFamily="18" charset="0"/>
                            </a:rPr>
                            <m:t>1</m:t>
                          </m:r>
                        </m:sub>
                      </m:sSub>
                    </m:oMath>
                  </m:oMathPara>
                </a14:m>
                <a:endParaRPr lang="en-US" dirty="0"/>
              </a:p>
              <a:p>
                <a:pPr marL="0" indent="0">
                  <a:lnSpc>
                    <a:spcPct val="100000"/>
                  </a:lnSpc>
                  <a:buNone/>
                </a:pPr>
                <a:r>
                  <a:rPr lang="en-US" b="0" dirty="0"/>
                  <a:t>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𝜙</m:t>
                        </m:r>
                      </m:e>
                      <m:sub>
                        <m:r>
                          <a:rPr lang="en-US" b="0" i="1" smtClean="0">
                            <a:latin typeface="Cambria Math" panose="02040503050406030204" pitchFamily="18" charset="0"/>
                          </a:rPr>
                          <m:t>1</m:t>
                        </m:r>
                      </m:sub>
                    </m:sSub>
                  </m:oMath>
                </a14:m>
                <a:r>
                  <a:rPr lang="en-US" dirty="0"/>
                  <a:t> ,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𝜙</m:t>
                        </m:r>
                      </m:e>
                      <m:sub>
                        <m:r>
                          <a:rPr lang="en-US" b="0" i="1" smtClean="0">
                            <a:latin typeface="Cambria Math" panose="02040503050406030204" pitchFamily="18" charset="0"/>
                          </a:rPr>
                          <m:t>2</m:t>
                        </m:r>
                      </m:sub>
                    </m:sSub>
                  </m:oMath>
                </a14:m>
                <a:r>
                  <a:rPr lang="en-US" dirty="0"/>
                  <a:t> are the minimal and maximal ranges of the function, </a:t>
                </a:r>
              </a:p>
              <a:p>
                <a:pPr marL="0" indent="0">
                  <a:lnSpc>
                    <a:spcPct val="100000"/>
                  </a:lnSpc>
                  <a:buNone/>
                </a:pPr>
                <a:r>
                  <a:rPr lang="en-US" b="0" dirty="0"/>
                  <a:t>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𝑐</m:t>
                        </m:r>
                      </m:sub>
                    </m:sSub>
                  </m:oMath>
                </a14:m>
                <a:r>
                  <a:rPr lang="en-US" dirty="0"/>
                  <a:t> is the coordinate of the canter point </a:t>
                </a:r>
              </a:p>
            </p:txBody>
          </p:sp>
        </mc:Choice>
        <mc:Fallback>
          <p:sp>
            <p:nvSpPr>
              <p:cNvPr id="3" name="Content Placeholder 2">
                <a:extLst>
                  <a:ext uri="{FF2B5EF4-FFF2-40B4-BE49-F238E27FC236}">
                    <a16:creationId xmlns:a16="http://schemas.microsoft.com/office/drawing/2014/main" id="{15C4FD65-F675-944D-A379-3A5FFFAEB784}"/>
                  </a:ext>
                </a:extLst>
              </p:cNvPr>
              <p:cNvSpPr>
                <a:spLocks noGrp="1" noRot="1" noChangeAspect="1" noMove="1" noResize="1" noEditPoints="1" noAdjustHandles="1" noChangeArrowheads="1" noChangeShapeType="1" noTextEdit="1"/>
              </p:cNvSpPr>
              <p:nvPr>
                <p:ph idx="1"/>
              </p:nvPr>
            </p:nvSpPr>
            <p:spPr>
              <a:xfrm>
                <a:off x="838200" y="1325562"/>
                <a:ext cx="10515600" cy="5532437"/>
              </a:xfrm>
              <a:blipFill>
                <a:blip r:embed="rId2"/>
                <a:stretch>
                  <a:fillRect l="-965" t="-1602"/>
                </a:stretch>
              </a:blipFill>
            </p:spPr>
            <p:txBody>
              <a:bodyPr/>
              <a:lstStyle/>
              <a:p>
                <a:r>
                  <a:rPr lang="en-US">
                    <a:noFill/>
                  </a:rPr>
                  <a:t> </a:t>
                </a:r>
              </a:p>
            </p:txBody>
          </p:sp>
        </mc:Fallback>
      </mc:AlternateContent>
    </p:spTree>
    <p:extLst>
      <p:ext uri="{BB962C8B-B14F-4D97-AF65-F5344CB8AC3E}">
        <p14:creationId xmlns:p14="http://schemas.microsoft.com/office/powerpoint/2010/main" val="3998718386"/>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DCE2F9-F4C3-DA4C-B0FC-7FF6F22D148C}"/>
              </a:ext>
            </a:extLst>
          </p:cNvPr>
          <p:cNvSpPr>
            <a:spLocks noGrp="1"/>
          </p:cNvSpPr>
          <p:nvPr>
            <p:ph type="title"/>
          </p:nvPr>
        </p:nvSpPr>
        <p:spPr>
          <a:xfrm>
            <a:off x="838200" y="0"/>
            <a:ext cx="10515600" cy="1325563"/>
          </a:xfrm>
        </p:spPr>
        <p:txBody>
          <a:bodyPr/>
          <a:lstStyle/>
          <a:p>
            <a:r>
              <a:rPr lang="en-US" dirty="0"/>
              <a:t>Example: time forward method</a:t>
            </a:r>
          </a:p>
        </p:txBody>
      </p:sp>
      <p:pic>
        <p:nvPicPr>
          <p:cNvPr id="5" name="Content Placeholder 4">
            <a:extLst>
              <a:ext uri="{FF2B5EF4-FFF2-40B4-BE49-F238E27FC236}">
                <a16:creationId xmlns:a16="http://schemas.microsoft.com/office/drawing/2014/main" id="{ACF8E132-23D2-3C46-A211-30D51B29CD0E}"/>
              </a:ext>
            </a:extLst>
          </p:cNvPr>
          <p:cNvPicPr>
            <a:picLocks noGrp="1" noChangeAspect="1"/>
          </p:cNvPicPr>
          <p:nvPr>
            <p:ph idx="1"/>
          </p:nvPr>
        </p:nvPicPr>
        <p:blipFill>
          <a:blip r:embed="rId2"/>
          <a:stretch>
            <a:fillRect/>
          </a:stretch>
        </p:blipFill>
        <p:spPr>
          <a:xfrm>
            <a:off x="1559037" y="1350077"/>
            <a:ext cx="8241178" cy="5507923"/>
          </a:xfrm>
        </p:spPr>
      </p:pic>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9C46F924-3B3F-7745-86CC-254DA1CA5771}"/>
                  </a:ext>
                </a:extLst>
              </p:cNvPr>
              <p:cNvSpPr txBox="1"/>
              <p:nvPr/>
            </p:nvSpPr>
            <p:spPr>
              <a:xfrm>
                <a:off x="2549562" y="1602453"/>
                <a:ext cx="1089401" cy="646331"/>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𝑁</m:t>
                          </m:r>
                        </m:e>
                        <m:sub>
                          <m:r>
                            <a:rPr lang="en-US" b="0" i="1" smtClean="0">
                              <a:latin typeface="Cambria Math" panose="02040503050406030204" pitchFamily="18" charset="0"/>
                            </a:rPr>
                            <m:t>𝑥</m:t>
                          </m:r>
                        </m:sub>
                      </m:sSub>
                      <m:r>
                        <a:rPr lang="en-US" b="0" i="1" smtClean="0">
                          <a:latin typeface="Cambria Math" panose="02040503050406030204" pitchFamily="18" charset="0"/>
                        </a:rPr>
                        <m:t>=64</m:t>
                      </m:r>
                    </m:oMath>
                  </m:oMathPara>
                </a14:m>
                <a:endParaRPr lang="en-US" dirty="0"/>
              </a:p>
              <a:p>
                <a:endParaRPr lang="en-US" dirty="0"/>
              </a:p>
            </p:txBody>
          </p:sp>
        </mc:Choice>
        <mc:Fallback xmlns="">
          <p:sp>
            <p:nvSpPr>
              <p:cNvPr id="6" name="TextBox 5">
                <a:extLst>
                  <a:ext uri="{FF2B5EF4-FFF2-40B4-BE49-F238E27FC236}">
                    <a16:creationId xmlns:a16="http://schemas.microsoft.com/office/drawing/2014/main" id="{9C46F924-3B3F-7745-86CC-254DA1CA5771}"/>
                  </a:ext>
                </a:extLst>
              </p:cNvPr>
              <p:cNvSpPr txBox="1">
                <a:spLocks noRot="1" noChangeAspect="1" noMove="1" noResize="1" noEditPoints="1" noAdjustHandles="1" noChangeArrowheads="1" noChangeShapeType="1" noTextEdit="1"/>
              </p:cNvSpPr>
              <p:nvPr/>
            </p:nvSpPr>
            <p:spPr>
              <a:xfrm>
                <a:off x="2549562" y="1602453"/>
                <a:ext cx="1089401" cy="646331"/>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EC2A6AD5-D631-F54F-8721-2AE08E3BCC6D}"/>
                  </a:ext>
                </a:extLst>
              </p:cNvPr>
              <p:cNvSpPr txBox="1"/>
              <p:nvPr/>
            </p:nvSpPr>
            <p:spPr>
              <a:xfrm>
                <a:off x="2549562" y="2002050"/>
                <a:ext cx="1840825" cy="61824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𝐶</m:t>
                      </m:r>
                      <m:r>
                        <a:rPr lang="en-US" b="0" i="1" smtClean="0">
                          <a:latin typeface="Cambria Math" panose="02040503050406030204" pitchFamily="18" charset="0"/>
                        </a:rPr>
                        <m:t>≡2</m:t>
                      </m:r>
                      <m:f>
                        <m:fPr>
                          <m:ctrlPr>
                            <a:rPr lang="en-US" i="1">
                              <a:latin typeface="Cambria Math" panose="02040503050406030204" pitchFamily="18" charset="0"/>
                            </a:rPr>
                          </m:ctrlPr>
                        </m:fPr>
                        <m:num>
                          <m:r>
                            <a:rPr lang="en-US" i="1">
                              <a:latin typeface="Cambria Math" panose="02040503050406030204" pitchFamily="18" charset="0"/>
                            </a:rPr>
                            <m:t>𝑘</m:t>
                          </m:r>
                          <m:r>
                            <m:rPr>
                              <m:sty m:val="p"/>
                            </m:rPr>
                            <a:rPr lang="en-US">
                              <a:latin typeface="Cambria Math" panose="02040503050406030204" pitchFamily="18" charset="0"/>
                            </a:rPr>
                            <m:t>Δ</m:t>
                          </m:r>
                          <m:r>
                            <a:rPr lang="en-US" i="1">
                              <a:latin typeface="Cambria Math" panose="02040503050406030204" pitchFamily="18" charset="0"/>
                            </a:rPr>
                            <m:t>𝑡</m:t>
                          </m:r>
                        </m:num>
                        <m:den>
                          <m:r>
                            <m:rPr>
                              <m:sty m:val="p"/>
                            </m:rPr>
                            <a:rPr lang="en-US">
                              <a:latin typeface="Cambria Math" panose="02040503050406030204" pitchFamily="18" charset="0"/>
                            </a:rPr>
                            <m:t>Δ</m:t>
                          </m:r>
                          <m:sSup>
                            <m:sSupPr>
                              <m:ctrlPr>
                                <a:rPr lang="en-US" i="1">
                                  <a:latin typeface="Cambria Math" panose="02040503050406030204" pitchFamily="18" charset="0"/>
                                </a:rPr>
                              </m:ctrlPr>
                            </m:sSupPr>
                            <m:e>
                              <m:r>
                                <a:rPr lang="en-US" i="1">
                                  <a:latin typeface="Cambria Math" panose="02040503050406030204" pitchFamily="18" charset="0"/>
                                </a:rPr>
                                <m:t>𝑥</m:t>
                              </m:r>
                            </m:e>
                            <m:sup>
                              <m:r>
                                <a:rPr lang="en-US" i="1">
                                  <a:latin typeface="Cambria Math" panose="02040503050406030204" pitchFamily="18" charset="0"/>
                                </a:rPr>
                                <m:t>2</m:t>
                              </m:r>
                            </m:sup>
                          </m:sSup>
                        </m:den>
                      </m:f>
                      <m:r>
                        <a:rPr lang="en-US" b="0" i="1" smtClean="0">
                          <a:latin typeface="Cambria Math" panose="02040503050406030204" pitchFamily="18" charset="0"/>
                        </a:rPr>
                        <m:t>=0.8</m:t>
                      </m:r>
                    </m:oMath>
                  </m:oMathPara>
                </a14:m>
                <a:endParaRPr lang="en-US" dirty="0"/>
              </a:p>
            </p:txBody>
          </p:sp>
        </mc:Choice>
        <mc:Fallback xmlns="">
          <p:sp>
            <p:nvSpPr>
              <p:cNvPr id="7" name="TextBox 6">
                <a:extLst>
                  <a:ext uri="{FF2B5EF4-FFF2-40B4-BE49-F238E27FC236}">
                    <a16:creationId xmlns:a16="http://schemas.microsoft.com/office/drawing/2014/main" id="{EC2A6AD5-D631-F54F-8721-2AE08E3BCC6D}"/>
                  </a:ext>
                </a:extLst>
              </p:cNvPr>
              <p:cNvSpPr txBox="1">
                <a:spLocks noRot="1" noChangeAspect="1" noMove="1" noResize="1" noEditPoints="1" noAdjustHandles="1" noChangeArrowheads="1" noChangeShapeType="1" noTextEdit="1"/>
              </p:cNvSpPr>
              <p:nvPr/>
            </p:nvSpPr>
            <p:spPr>
              <a:xfrm>
                <a:off x="2549562" y="2002050"/>
                <a:ext cx="1840825" cy="618246"/>
              </a:xfrm>
              <a:prstGeom prst="rect">
                <a:avLst/>
              </a:prstGeom>
              <a:blipFill>
                <a:blip r:embed="rId4"/>
                <a:stretch>
                  <a:fillRect b="-4082"/>
                </a:stretch>
              </a:blipFill>
            </p:spPr>
            <p:txBody>
              <a:bodyPr/>
              <a:lstStyle/>
              <a:p>
                <a:r>
                  <a:rPr lang="en-US">
                    <a:noFill/>
                  </a:rPr>
                  <a:t> </a:t>
                </a:r>
              </a:p>
            </p:txBody>
          </p:sp>
        </mc:Fallback>
      </mc:AlternateContent>
    </p:spTree>
    <p:extLst>
      <p:ext uri="{BB962C8B-B14F-4D97-AF65-F5344CB8AC3E}">
        <p14:creationId xmlns:p14="http://schemas.microsoft.com/office/powerpoint/2010/main" val="472016860"/>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DCE2F9-F4C3-DA4C-B0FC-7FF6F22D148C}"/>
              </a:ext>
            </a:extLst>
          </p:cNvPr>
          <p:cNvSpPr>
            <a:spLocks noGrp="1"/>
          </p:cNvSpPr>
          <p:nvPr>
            <p:ph type="title"/>
          </p:nvPr>
        </p:nvSpPr>
        <p:spPr>
          <a:xfrm>
            <a:off x="838200" y="0"/>
            <a:ext cx="10515600" cy="1325563"/>
          </a:xfrm>
        </p:spPr>
        <p:txBody>
          <a:bodyPr/>
          <a:lstStyle/>
          <a:p>
            <a:r>
              <a:rPr lang="en-US" dirty="0"/>
              <a:t>Effect of resolution</a:t>
            </a:r>
          </a:p>
        </p:txBody>
      </p:sp>
      <p:pic>
        <p:nvPicPr>
          <p:cNvPr id="9" name="Content Placeholder 4">
            <a:extLst>
              <a:ext uri="{FF2B5EF4-FFF2-40B4-BE49-F238E27FC236}">
                <a16:creationId xmlns:a16="http://schemas.microsoft.com/office/drawing/2014/main" id="{425971BC-2D8C-DB4D-ADAB-58024B9089A9}"/>
              </a:ext>
            </a:extLst>
          </p:cNvPr>
          <p:cNvPicPr>
            <a:picLocks noChangeAspect="1"/>
          </p:cNvPicPr>
          <p:nvPr/>
        </p:nvPicPr>
        <p:blipFill>
          <a:blip r:embed="rId3"/>
          <a:stretch>
            <a:fillRect/>
          </a:stretch>
        </p:blipFill>
        <p:spPr>
          <a:xfrm>
            <a:off x="1304573" y="1395678"/>
            <a:ext cx="8312763" cy="5486836"/>
          </a:xfrm>
          <a:prstGeom prst="rect">
            <a:avLst/>
          </a:prstGeom>
        </p:spPr>
      </p:pic>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EDCE7493-9D45-284A-8731-67E56C76366F}"/>
                  </a:ext>
                </a:extLst>
              </p:cNvPr>
              <p:cNvSpPr txBox="1"/>
              <p:nvPr/>
            </p:nvSpPr>
            <p:spPr>
              <a:xfrm>
                <a:off x="2581835" y="1679321"/>
                <a:ext cx="1892121" cy="103374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𝐶</m:t>
                      </m:r>
                      <m:r>
                        <a:rPr lang="en-US" b="0" i="1" smtClean="0">
                          <a:latin typeface="Cambria Math" panose="02040503050406030204" pitchFamily="18" charset="0"/>
                        </a:rPr>
                        <m:t>≡2</m:t>
                      </m:r>
                      <m:f>
                        <m:fPr>
                          <m:ctrlPr>
                            <a:rPr lang="en-US" i="1">
                              <a:latin typeface="Cambria Math" panose="02040503050406030204" pitchFamily="18" charset="0"/>
                            </a:rPr>
                          </m:ctrlPr>
                        </m:fPr>
                        <m:num>
                          <m:r>
                            <a:rPr lang="en-US" i="1">
                              <a:latin typeface="Cambria Math" panose="02040503050406030204" pitchFamily="18" charset="0"/>
                            </a:rPr>
                            <m:t>𝑘</m:t>
                          </m:r>
                          <m:r>
                            <m:rPr>
                              <m:sty m:val="p"/>
                            </m:rPr>
                            <a:rPr lang="en-US">
                              <a:latin typeface="Cambria Math" panose="02040503050406030204" pitchFamily="18" charset="0"/>
                            </a:rPr>
                            <m:t>Δ</m:t>
                          </m:r>
                          <m:r>
                            <a:rPr lang="en-US" i="1">
                              <a:latin typeface="Cambria Math" panose="02040503050406030204" pitchFamily="18" charset="0"/>
                            </a:rPr>
                            <m:t>𝑡</m:t>
                          </m:r>
                        </m:num>
                        <m:den>
                          <m:r>
                            <m:rPr>
                              <m:sty m:val="p"/>
                            </m:rPr>
                            <a:rPr lang="en-US">
                              <a:latin typeface="Cambria Math" panose="02040503050406030204" pitchFamily="18" charset="0"/>
                            </a:rPr>
                            <m:t>Δ</m:t>
                          </m:r>
                          <m:sSup>
                            <m:sSupPr>
                              <m:ctrlPr>
                                <a:rPr lang="en-US" i="1">
                                  <a:latin typeface="Cambria Math" panose="02040503050406030204" pitchFamily="18" charset="0"/>
                                </a:rPr>
                              </m:ctrlPr>
                            </m:sSupPr>
                            <m:e>
                              <m:r>
                                <a:rPr lang="en-US" i="1">
                                  <a:latin typeface="Cambria Math" panose="02040503050406030204" pitchFamily="18" charset="0"/>
                                </a:rPr>
                                <m:t>𝑥</m:t>
                              </m:r>
                            </m:e>
                            <m:sup>
                              <m:r>
                                <a:rPr lang="en-US" i="1">
                                  <a:latin typeface="Cambria Math" panose="02040503050406030204" pitchFamily="18" charset="0"/>
                                </a:rPr>
                                <m:t>2</m:t>
                              </m:r>
                            </m:sup>
                          </m:sSup>
                        </m:den>
                      </m:f>
                      <m:r>
                        <a:rPr lang="en-US" b="0" i="1" smtClean="0">
                          <a:latin typeface="Cambria Math" panose="02040503050406030204" pitchFamily="18" charset="0"/>
                        </a:rPr>
                        <m:t>=0.8 </m:t>
                      </m:r>
                    </m:oMath>
                  </m:oMathPara>
                </a14:m>
                <a:endParaRPr lang="en-US" dirty="0"/>
              </a:p>
              <a:p>
                <a:pPr>
                  <a:lnSpc>
                    <a:spcPct val="150000"/>
                  </a:lnSpc>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𝑡</m:t>
                          </m:r>
                        </m:e>
                        <m:sub>
                          <m:r>
                            <a:rPr lang="en-US" b="0" i="1" smtClean="0">
                              <a:latin typeface="Cambria Math" panose="02040503050406030204" pitchFamily="18" charset="0"/>
                            </a:rPr>
                            <m:t>𝑚𝑎𝑥</m:t>
                          </m:r>
                        </m:sub>
                      </m:sSub>
                      <m:r>
                        <a:rPr lang="en-US" b="0" i="1" smtClean="0">
                          <a:latin typeface="Cambria Math" panose="02040503050406030204" pitchFamily="18" charset="0"/>
                        </a:rPr>
                        <m:t>=10</m:t>
                      </m:r>
                      <m:r>
                        <m:rPr>
                          <m:sty m:val="p"/>
                        </m:rPr>
                        <a:rPr lang="en-US" b="0" i="0" smtClean="0">
                          <a:latin typeface="Cambria Math" panose="02040503050406030204" pitchFamily="18" charset="0"/>
                        </a:rPr>
                        <m:t>Δ</m:t>
                      </m:r>
                      <m:r>
                        <a:rPr lang="en-US" b="0" i="1" smtClean="0">
                          <a:latin typeface="Cambria Math" panose="02040503050406030204" pitchFamily="18" charset="0"/>
                        </a:rPr>
                        <m:t>𝑡</m:t>
                      </m:r>
                    </m:oMath>
                  </m:oMathPara>
                </a14:m>
                <a:endParaRPr lang="en-US" dirty="0"/>
              </a:p>
            </p:txBody>
          </p:sp>
        </mc:Choice>
        <mc:Fallback xmlns="">
          <p:sp>
            <p:nvSpPr>
              <p:cNvPr id="10" name="TextBox 9">
                <a:extLst>
                  <a:ext uri="{FF2B5EF4-FFF2-40B4-BE49-F238E27FC236}">
                    <a16:creationId xmlns:a16="http://schemas.microsoft.com/office/drawing/2014/main" id="{EDCE7493-9D45-284A-8731-67E56C76366F}"/>
                  </a:ext>
                </a:extLst>
              </p:cNvPr>
              <p:cNvSpPr txBox="1">
                <a:spLocks noRot="1" noChangeAspect="1" noMove="1" noResize="1" noEditPoints="1" noAdjustHandles="1" noChangeArrowheads="1" noChangeShapeType="1" noTextEdit="1"/>
              </p:cNvSpPr>
              <p:nvPr/>
            </p:nvSpPr>
            <p:spPr>
              <a:xfrm>
                <a:off x="2581835" y="1679321"/>
                <a:ext cx="1892121" cy="1033745"/>
              </a:xfrm>
              <a:prstGeom prst="rect">
                <a:avLst/>
              </a:prstGeom>
              <a:blipFill>
                <a:blip r:embed="rId4"/>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258959503"/>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C4BE2A2-F1CE-5746-9D15-F22B0E84B9A1}"/>
              </a:ext>
            </a:extLst>
          </p:cNvPr>
          <p:cNvPicPr>
            <a:picLocks noChangeAspect="1"/>
          </p:cNvPicPr>
          <p:nvPr/>
        </p:nvPicPr>
        <p:blipFill>
          <a:blip r:embed="rId2"/>
          <a:stretch>
            <a:fillRect/>
          </a:stretch>
        </p:blipFill>
        <p:spPr>
          <a:xfrm>
            <a:off x="1304573" y="1243332"/>
            <a:ext cx="8221593" cy="5625301"/>
          </a:xfrm>
          <a:prstGeom prst="rect">
            <a:avLst/>
          </a:prstGeom>
        </p:spPr>
      </p:pic>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75DCE2F9-F4C3-DA4C-B0FC-7FF6F22D148C}"/>
                  </a:ext>
                </a:extLst>
              </p:cNvPr>
              <p:cNvSpPr>
                <a:spLocks noGrp="1"/>
              </p:cNvSpPr>
              <p:nvPr>
                <p:ph type="title"/>
              </p:nvPr>
            </p:nvSpPr>
            <p:spPr>
              <a:xfrm>
                <a:off x="838200" y="0"/>
                <a:ext cx="10515600" cy="1325563"/>
              </a:xfrm>
            </p:spPr>
            <p:txBody>
              <a:bodyPr/>
              <a:lstStyle/>
              <a:p>
                <a:r>
                  <a:rPr lang="en-US" dirty="0"/>
                  <a:t>Unstable solution , </a:t>
                </a:r>
                <a14:m>
                  <m:oMath xmlns:m="http://schemas.openxmlformats.org/officeDocument/2006/math">
                    <m:r>
                      <a:rPr lang="en-US" b="0" i="1" smtClean="0">
                        <a:latin typeface="Cambria Math" panose="02040503050406030204" pitchFamily="18" charset="0"/>
                      </a:rPr>
                      <m:t>𝐶</m:t>
                    </m:r>
                    <m:r>
                      <a:rPr lang="en-US" b="0" i="1" smtClean="0">
                        <a:latin typeface="Cambria Math" panose="02040503050406030204" pitchFamily="18" charset="0"/>
                      </a:rPr>
                      <m:t>&gt;1</m:t>
                    </m:r>
                  </m:oMath>
                </a14:m>
                <a:endParaRPr lang="en-US" dirty="0"/>
              </a:p>
            </p:txBody>
          </p:sp>
        </mc:Choice>
        <mc:Fallback xmlns="">
          <p:sp>
            <p:nvSpPr>
              <p:cNvPr id="2" name="Title 1">
                <a:extLst>
                  <a:ext uri="{FF2B5EF4-FFF2-40B4-BE49-F238E27FC236}">
                    <a16:creationId xmlns:a16="http://schemas.microsoft.com/office/drawing/2014/main" id="{75DCE2F9-F4C3-DA4C-B0FC-7FF6F22D148C}"/>
                  </a:ext>
                </a:extLst>
              </p:cNvPr>
              <p:cNvSpPr>
                <a:spLocks noGrp="1" noRot="1" noChangeAspect="1" noMove="1" noResize="1" noEditPoints="1" noAdjustHandles="1" noChangeArrowheads="1" noChangeShapeType="1" noTextEdit="1"/>
              </p:cNvSpPr>
              <p:nvPr>
                <p:ph type="title"/>
              </p:nvPr>
            </p:nvSpPr>
            <p:spPr>
              <a:xfrm>
                <a:off x="838200" y="0"/>
                <a:ext cx="10515600" cy="1325563"/>
              </a:xfrm>
              <a:blipFill>
                <a:blip r:embed="rId3"/>
                <a:stretch>
                  <a:fillRect l="-229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CCC93DE4-B702-DE4F-A053-9C3B3A848DE8}"/>
                  </a:ext>
                </a:extLst>
              </p:cNvPr>
              <p:cNvSpPr txBox="1"/>
              <p:nvPr/>
            </p:nvSpPr>
            <p:spPr>
              <a:xfrm>
                <a:off x="2507190" y="1828610"/>
                <a:ext cx="1892121" cy="103374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𝐶</m:t>
                      </m:r>
                      <m:r>
                        <a:rPr lang="en-US" b="0" i="1" smtClean="0">
                          <a:latin typeface="Cambria Math" panose="02040503050406030204" pitchFamily="18" charset="0"/>
                        </a:rPr>
                        <m:t>≡2</m:t>
                      </m:r>
                      <m:f>
                        <m:fPr>
                          <m:ctrlPr>
                            <a:rPr lang="en-US" i="1">
                              <a:latin typeface="Cambria Math" panose="02040503050406030204" pitchFamily="18" charset="0"/>
                            </a:rPr>
                          </m:ctrlPr>
                        </m:fPr>
                        <m:num>
                          <m:r>
                            <a:rPr lang="en-US" i="1">
                              <a:latin typeface="Cambria Math" panose="02040503050406030204" pitchFamily="18" charset="0"/>
                            </a:rPr>
                            <m:t>𝑘</m:t>
                          </m:r>
                          <m:r>
                            <m:rPr>
                              <m:sty m:val="p"/>
                            </m:rPr>
                            <a:rPr lang="en-US">
                              <a:latin typeface="Cambria Math" panose="02040503050406030204" pitchFamily="18" charset="0"/>
                            </a:rPr>
                            <m:t>Δ</m:t>
                          </m:r>
                          <m:r>
                            <a:rPr lang="en-US" i="1">
                              <a:latin typeface="Cambria Math" panose="02040503050406030204" pitchFamily="18" charset="0"/>
                            </a:rPr>
                            <m:t>𝑡</m:t>
                          </m:r>
                        </m:num>
                        <m:den>
                          <m:r>
                            <m:rPr>
                              <m:sty m:val="p"/>
                            </m:rPr>
                            <a:rPr lang="en-US">
                              <a:latin typeface="Cambria Math" panose="02040503050406030204" pitchFamily="18" charset="0"/>
                            </a:rPr>
                            <m:t>Δ</m:t>
                          </m:r>
                          <m:sSup>
                            <m:sSupPr>
                              <m:ctrlPr>
                                <a:rPr lang="en-US" i="1">
                                  <a:latin typeface="Cambria Math" panose="02040503050406030204" pitchFamily="18" charset="0"/>
                                </a:rPr>
                              </m:ctrlPr>
                            </m:sSupPr>
                            <m:e>
                              <m:r>
                                <a:rPr lang="en-US" i="1">
                                  <a:latin typeface="Cambria Math" panose="02040503050406030204" pitchFamily="18" charset="0"/>
                                </a:rPr>
                                <m:t>𝑥</m:t>
                              </m:r>
                            </m:e>
                            <m:sup>
                              <m:r>
                                <a:rPr lang="en-US" i="1">
                                  <a:latin typeface="Cambria Math" panose="02040503050406030204" pitchFamily="18" charset="0"/>
                                </a:rPr>
                                <m:t>2</m:t>
                              </m:r>
                            </m:sup>
                          </m:sSup>
                        </m:den>
                      </m:f>
                      <m:r>
                        <a:rPr lang="en-US" b="0" i="1" smtClean="0">
                          <a:latin typeface="Cambria Math" panose="02040503050406030204" pitchFamily="18" charset="0"/>
                        </a:rPr>
                        <m:t>=2.0 </m:t>
                      </m:r>
                    </m:oMath>
                  </m:oMathPara>
                </a14:m>
                <a:endParaRPr lang="en-US" dirty="0"/>
              </a:p>
              <a:p>
                <a:pPr>
                  <a:lnSpc>
                    <a:spcPct val="150000"/>
                  </a:lnSpc>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𝑡</m:t>
                          </m:r>
                        </m:e>
                        <m:sub>
                          <m:r>
                            <a:rPr lang="en-US" b="0" i="1" smtClean="0">
                              <a:latin typeface="Cambria Math" panose="02040503050406030204" pitchFamily="18" charset="0"/>
                            </a:rPr>
                            <m:t>𝑚𝑎𝑥</m:t>
                          </m:r>
                        </m:sub>
                      </m:sSub>
                      <m:r>
                        <a:rPr lang="en-US" b="0" i="1" smtClean="0">
                          <a:latin typeface="Cambria Math" panose="02040503050406030204" pitchFamily="18" charset="0"/>
                        </a:rPr>
                        <m:t>=10</m:t>
                      </m:r>
                      <m:r>
                        <m:rPr>
                          <m:sty m:val="p"/>
                        </m:rPr>
                        <a:rPr lang="en-US" b="0" i="0" smtClean="0">
                          <a:latin typeface="Cambria Math" panose="02040503050406030204" pitchFamily="18" charset="0"/>
                        </a:rPr>
                        <m:t>Δ</m:t>
                      </m:r>
                      <m:r>
                        <a:rPr lang="en-US" b="0" i="1" smtClean="0">
                          <a:latin typeface="Cambria Math" panose="02040503050406030204" pitchFamily="18" charset="0"/>
                        </a:rPr>
                        <m:t>𝑡</m:t>
                      </m:r>
                    </m:oMath>
                  </m:oMathPara>
                </a14:m>
                <a:endParaRPr lang="en-US" dirty="0"/>
              </a:p>
            </p:txBody>
          </p:sp>
        </mc:Choice>
        <mc:Fallback xmlns="">
          <p:sp>
            <p:nvSpPr>
              <p:cNvPr id="6" name="TextBox 5">
                <a:extLst>
                  <a:ext uri="{FF2B5EF4-FFF2-40B4-BE49-F238E27FC236}">
                    <a16:creationId xmlns:a16="http://schemas.microsoft.com/office/drawing/2014/main" id="{CCC93DE4-B702-DE4F-A053-9C3B3A848DE8}"/>
                  </a:ext>
                </a:extLst>
              </p:cNvPr>
              <p:cNvSpPr txBox="1">
                <a:spLocks noRot="1" noChangeAspect="1" noMove="1" noResize="1" noEditPoints="1" noAdjustHandles="1" noChangeArrowheads="1" noChangeShapeType="1" noTextEdit="1"/>
              </p:cNvSpPr>
              <p:nvPr/>
            </p:nvSpPr>
            <p:spPr>
              <a:xfrm>
                <a:off x="2507190" y="1828610"/>
                <a:ext cx="1892121" cy="1033745"/>
              </a:xfrm>
              <a:prstGeom prst="rect">
                <a:avLst/>
              </a:prstGeom>
              <a:blipFill>
                <a:blip r:embed="rId4"/>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519474316"/>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A0FD6ADD-CE8C-2D43-85C5-84635CCE5FB7}"/>
              </a:ext>
            </a:extLst>
          </p:cNvPr>
          <p:cNvPicPr>
            <a:picLocks noChangeAspect="1"/>
          </p:cNvPicPr>
          <p:nvPr/>
        </p:nvPicPr>
        <p:blipFill rotWithShape="1">
          <a:blip r:embed="rId2"/>
          <a:srcRect b="2322"/>
          <a:stretch/>
        </p:blipFill>
        <p:spPr>
          <a:xfrm>
            <a:off x="1358129" y="1526995"/>
            <a:ext cx="8115080" cy="5331005"/>
          </a:xfrm>
          <a:prstGeom prst="rect">
            <a:avLst/>
          </a:prstGeom>
        </p:spPr>
      </p:pic>
      <p:sp>
        <p:nvSpPr>
          <p:cNvPr id="2" name="Title 1">
            <a:extLst>
              <a:ext uri="{FF2B5EF4-FFF2-40B4-BE49-F238E27FC236}">
                <a16:creationId xmlns:a16="http://schemas.microsoft.com/office/drawing/2014/main" id="{75DCE2F9-F4C3-DA4C-B0FC-7FF6F22D148C}"/>
              </a:ext>
            </a:extLst>
          </p:cNvPr>
          <p:cNvSpPr>
            <a:spLocks noGrp="1"/>
          </p:cNvSpPr>
          <p:nvPr>
            <p:ph type="title"/>
          </p:nvPr>
        </p:nvSpPr>
        <p:spPr>
          <a:xfrm>
            <a:off x="838200" y="0"/>
            <a:ext cx="10515600" cy="1325563"/>
          </a:xfrm>
        </p:spPr>
        <p:txBody>
          <a:bodyPr/>
          <a:lstStyle/>
          <a:p>
            <a:r>
              <a:rPr lang="en-US" dirty="0"/>
              <a:t>Convergence</a:t>
            </a:r>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1071A5F5-A623-1B48-8EB8-A54027B22F31}"/>
                  </a:ext>
                </a:extLst>
              </p:cNvPr>
              <p:cNvSpPr txBox="1"/>
              <p:nvPr/>
            </p:nvSpPr>
            <p:spPr>
              <a:xfrm>
                <a:off x="5684477" y="6563972"/>
                <a:ext cx="411523" cy="369332"/>
              </a:xfrm>
              <a:prstGeom prst="rect">
                <a:avLst/>
              </a:prstGeom>
              <a:solidFill>
                <a:schemeClr val="bg1"/>
              </a:solid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𝑁</m:t>
                      </m:r>
                    </m:oMath>
                  </m:oMathPara>
                </a14:m>
                <a:endParaRPr lang="en-US" dirty="0"/>
              </a:p>
            </p:txBody>
          </p:sp>
        </mc:Choice>
        <mc:Fallback xmlns="">
          <p:sp>
            <p:nvSpPr>
              <p:cNvPr id="13" name="TextBox 12">
                <a:extLst>
                  <a:ext uri="{FF2B5EF4-FFF2-40B4-BE49-F238E27FC236}">
                    <a16:creationId xmlns:a16="http://schemas.microsoft.com/office/drawing/2014/main" id="{1071A5F5-A623-1B48-8EB8-A54027B22F31}"/>
                  </a:ext>
                </a:extLst>
              </p:cNvPr>
              <p:cNvSpPr txBox="1">
                <a:spLocks noRot="1" noChangeAspect="1" noMove="1" noResize="1" noEditPoints="1" noAdjustHandles="1" noChangeArrowheads="1" noChangeShapeType="1" noTextEdit="1"/>
              </p:cNvSpPr>
              <p:nvPr/>
            </p:nvSpPr>
            <p:spPr>
              <a:xfrm>
                <a:off x="5684477" y="6563972"/>
                <a:ext cx="411523" cy="369332"/>
              </a:xfrm>
              <a:prstGeom prst="rect">
                <a:avLst/>
              </a:prstGeom>
              <a:blipFill>
                <a:blip r:embed="rId3"/>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3522055892"/>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DCE2F9-F4C3-DA4C-B0FC-7FF6F22D148C}"/>
              </a:ext>
            </a:extLst>
          </p:cNvPr>
          <p:cNvSpPr>
            <a:spLocks noGrp="1"/>
          </p:cNvSpPr>
          <p:nvPr>
            <p:ph type="title"/>
          </p:nvPr>
        </p:nvSpPr>
        <p:spPr>
          <a:xfrm>
            <a:off x="838200" y="0"/>
            <a:ext cx="10515600" cy="1325563"/>
          </a:xfrm>
        </p:spPr>
        <p:txBody>
          <a:bodyPr/>
          <a:lstStyle/>
          <a:p>
            <a:r>
              <a:rPr lang="en-US" dirty="0"/>
              <a:t>Implicit methods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5C4FD65-F675-944D-A379-3A5FFFAEB784}"/>
                  </a:ext>
                </a:extLst>
              </p:cNvPr>
              <p:cNvSpPr>
                <a:spLocks noGrp="1"/>
              </p:cNvSpPr>
              <p:nvPr>
                <p:ph idx="1"/>
              </p:nvPr>
            </p:nvSpPr>
            <p:spPr>
              <a:xfrm>
                <a:off x="838200" y="1325562"/>
                <a:ext cx="10515600" cy="5532437"/>
              </a:xfrm>
            </p:spPr>
            <p:txBody>
              <a:bodyPr/>
              <a:lstStyle/>
              <a:p>
                <a:r>
                  <a:rPr lang="en-US" dirty="0"/>
                  <a:t>We can remove the timestep restriction by using implicit instead of explicit scheme (like in the advection equation). </a:t>
                </a:r>
              </a:p>
              <a:p>
                <a:r>
                  <a:rPr lang="en-US" dirty="0"/>
                  <a:t>We first formulate the backward explicit scheme :</a:t>
                </a:r>
              </a:p>
              <a:p>
                <a:pPr marL="0" indent="0">
                  <a:lnSpc>
                    <a:spcPct val="150000"/>
                  </a:lnSpc>
                  <a:buNone/>
                </a:pPr>
                <a14:m>
                  <m:oMathPara xmlns:m="http://schemas.openxmlformats.org/officeDocument/2006/math">
                    <m:oMathParaPr>
                      <m:jc m:val="centerGroup"/>
                    </m:oMathParaPr>
                    <m:oMath xmlns:m="http://schemas.openxmlformats.org/officeDocument/2006/math">
                      <m:f>
                        <m:fPr>
                          <m:ctrlPr>
                            <a:rPr lang="en-US" i="1">
                              <a:latin typeface="Cambria Math" panose="02040503050406030204" pitchFamily="18" charset="0"/>
                            </a:rPr>
                          </m:ctrlPr>
                        </m:fPr>
                        <m:num>
                          <m:sSubSup>
                            <m:sSubSupPr>
                              <m:ctrlPr>
                                <a:rPr lang="en-US" i="1">
                                  <a:latin typeface="Cambria Math" panose="02040503050406030204" pitchFamily="18" charset="0"/>
                                </a:rPr>
                              </m:ctrlPr>
                            </m:sSubSupPr>
                            <m:e>
                              <m:sSubSup>
                                <m:sSubSupPr>
                                  <m:ctrlPr>
                                    <a:rPr lang="en-US" i="1">
                                      <a:latin typeface="Cambria Math" panose="02040503050406030204" pitchFamily="18" charset="0"/>
                                    </a:rPr>
                                  </m:ctrlPr>
                                </m:sSubSupPr>
                                <m:e>
                                  <m:r>
                                    <a:rPr lang="en-US" i="1">
                                      <a:latin typeface="Cambria Math" panose="02040503050406030204" pitchFamily="18" charset="0"/>
                                    </a:rPr>
                                    <m:t>𝜙</m:t>
                                  </m:r>
                                </m:e>
                                <m:sub>
                                  <m:r>
                                    <a:rPr lang="en-US" i="1">
                                      <a:latin typeface="Cambria Math" panose="02040503050406030204" pitchFamily="18" charset="0"/>
                                    </a:rPr>
                                    <m:t>𝑖</m:t>
                                  </m:r>
                                </m:sub>
                                <m:sup>
                                  <m:r>
                                    <a:rPr lang="en-US" i="1">
                                      <a:latin typeface="Cambria Math" panose="02040503050406030204" pitchFamily="18" charset="0"/>
                                    </a:rPr>
                                    <m:t>𝑛</m:t>
                                  </m:r>
                                  <m:r>
                                    <a:rPr lang="en-US" i="1">
                                      <a:latin typeface="Cambria Math" panose="02040503050406030204" pitchFamily="18" charset="0"/>
                                    </a:rPr>
                                    <m:t>+1</m:t>
                                  </m:r>
                                </m:sup>
                              </m:sSubSup>
                              <m:r>
                                <a:rPr lang="en-US" i="1">
                                  <a:latin typeface="Cambria Math" panose="02040503050406030204" pitchFamily="18" charset="0"/>
                                </a:rPr>
                                <m:t>−</m:t>
                              </m:r>
                              <m:r>
                                <a:rPr lang="en-US" i="1">
                                  <a:latin typeface="Cambria Math" panose="02040503050406030204" pitchFamily="18" charset="0"/>
                                </a:rPr>
                                <m:t>𝜙</m:t>
                              </m:r>
                            </m:e>
                            <m:sub>
                              <m:r>
                                <a:rPr lang="en-US" i="1">
                                  <a:latin typeface="Cambria Math" panose="02040503050406030204" pitchFamily="18" charset="0"/>
                                </a:rPr>
                                <m:t>𝑖</m:t>
                              </m:r>
                            </m:sub>
                            <m:sup>
                              <m:r>
                                <a:rPr lang="en-US" i="1">
                                  <a:latin typeface="Cambria Math" panose="02040503050406030204" pitchFamily="18" charset="0"/>
                                </a:rPr>
                                <m:t>𝑛</m:t>
                              </m:r>
                            </m:sup>
                          </m:sSubSup>
                        </m:num>
                        <m:den>
                          <m:r>
                            <m:rPr>
                              <m:sty m:val="p"/>
                            </m:rPr>
                            <a:rPr lang="en-US">
                              <a:latin typeface="Cambria Math" panose="02040503050406030204" pitchFamily="18" charset="0"/>
                            </a:rPr>
                            <m:t>Δ</m:t>
                          </m:r>
                          <m:r>
                            <a:rPr lang="en-US" i="1">
                              <a:latin typeface="Cambria Math" panose="02040503050406030204" pitchFamily="18" charset="0"/>
                            </a:rPr>
                            <m:t>𝑡</m:t>
                          </m:r>
                        </m:den>
                      </m:f>
                      <m:r>
                        <a:rPr lang="en-US" i="1">
                          <a:latin typeface="Cambria Math" panose="02040503050406030204" pitchFamily="18" charset="0"/>
                        </a:rPr>
                        <m:t>=</m:t>
                      </m:r>
                      <m:r>
                        <a:rPr lang="en-US" i="1">
                          <a:latin typeface="Cambria Math" panose="02040503050406030204" pitchFamily="18" charset="0"/>
                        </a:rPr>
                        <m:t>𝑘</m:t>
                      </m:r>
                      <m:f>
                        <m:fPr>
                          <m:ctrlPr>
                            <a:rPr lang="en-US" i="1">
                              <a:latin typeface="Cambria Math" panose="02040503050406030204" pitchFamily="18" charset="0"/>
                            </a:rPr>
                          </m:ctrlPr>
                        </m:fPr>
                        <m:num>
                          <m:sSubSup>
                            <m:sSubSupPr>
                              <m:ctrlPr>
                                <a:rPr lang="en-US" i="1">
                                  <a:latin typeface="Cambria Math" panose="02040503050406030204" pitchFamily="18" charset="0"/>
                                </a:rPr>
                              </m:ctrlPr>
                            </m:sSubSupPr>
                            <m:e>
                              <m:sSubSup>
                                <m:sSubSupPr>
                                  <m:ctrlPr>
                                    <a:rPr lang="en-US" i="1">
                                      <a:latin typeface="Cambria Math" panose="02040503050406030204" pitchFamily="18" charset="0"/>
                                    </a:rPr>
                                  </m:ctrlPr>
                                </m:sSubSupPr>
                                <m:e>
                                  <m:r>
                                    <a:rPr lang="en-US" i="1">
                                      <a:latin typeface="Cambria Math" panose="02040503050406030204" pitchFamily="18" charset="0"/>
                                    </a:rPr>
                                    <m:t>𝜙</m:t>
                                  </m:r>
                                </m:e>
                                <m:sub>
                                  <m:r>
                                    <a:rPr lang="en-US" i="1">
                                      <a:latin typeface="Cambria Math" panose="02040503050406030204" pitchFamily="18" charset="0"/>
                                    </a:rPr>
                                    <m:t>𝑖</m:t>
                                  </m:r>
                                  <m:r>
                                    <a:rPr lang="en-US" i="1">
                                      <a:latin typeface="Cambria Math" panose="02040503050406030204" pitchFamily="18" charset="0"/>
                                    </a:rPr>
                                    <m:t>+1</m:t>
                                  </m:r>
                                </m:sub>
                                <m:sup>
                                  <m:r>
                                    <a:rPr lang="en-US" i="1">
                                      <a:latin typeface="Cambria Math" panose="02040503050406030204" pitchFamily="18" charset="0"/>
                                    </a:rPr>
                                    <m:t>𝑛</m:t>
                                  </m:r>
                                  <m:r>
                                    <a:rPr lang="en-US" b="0" i="1" smtClean="0">
                                      <a:latin typeface="Cambria Math" panose="02040503050406030204" pitchFamily="18" charset="0"/>
                                    </a:rPr>
                                    <m:t>+1</m:t>
                                  </m:r>
                                </m:sup>
                              </m:sSubSup>
                              <m:r>
                                <a:rPr lang="en-US" i="1">
                                  <a:latin typeface="Cambria Math" panose="02040503050406030204" pitchFamily="18" charset="0"/>
                                </a:rPr>
                                <m:t>−2</m:t>
                              </m:r>
                              <m:r>
                                <a:rPr lang="en-US" i="1">
                                  <a:latin typeface="Cambria Math" panose="02040503050406030204" pitchFamily="18" charset="0"/>
                                </a:rPr>
                                <m:t>𝜙</m:t>
                              </m:r>
                            </m:e>
                            <m:sub>
                              <m:r>
                                <a:rPr lang="en-US" i="1">
                                  <a:latin typeface="Cambria Math" panose="02040503050406030204" pitchFamily="18" charset="0"/>
                                </a:rPr>
                                <m:t>𝑖</m:t>
                              </m:r>
                            </m:sub>
                            <m:sup>
                              <m:r>
                                <a:rPr lang="en-US" i="1">
                                  <a:latin typeface="Cambria Math" panose="02040503050406030204" pitchFamily="18" charset="0"/>
                                </a:rPr>
                                <m:t>𝑛</m:t>
                              </m:r>
                              <m:r>
                                <a:rPr lang="en-US" b="0" i="1" smtClean="0">
                                  <a:latin typeface="Cambria Math" panose="02040503050406030204" pitchFamily="18" charset="0"/>
                                </a:rPr>
                                <m:t>+1</m:t>
                              </m:r>
                            </m:sup>
                          </m:sSubSup>
                          <m:r>
                            <a:rPr lang="en-US" i="1">
                              <a:latin typeface="Cambria Math" panose="02040503050406030204" pitchFamily="18" charset="0"/>
                            </a:rPr>
                            <m:t>+</m:t>
                          </m:r>
                          <m:sSubSup>
                            <m:sSubSupPr>
                              <m:ctrlPr>
                                <a:rPr lang="en-US" i="1">
                                  <a:latin typeface="Cambria Math" panose="02040503050406030204" pitchFamily="18" charset="0"/>
                                </a:rPr>
                              </m:ctrlPr>
                            </m:sSubSupPr>
                            <m:e>
                              <m:r>
                                <a:rPr lang="en-US" i="1">
                                  <a:latin typeface="Cambria Math" panose="02040503050406030204" pitchFamily="18" charset="0"/>
                                </a:rPr>
                                <m:t>𝜙</m:t>
                              </m:r>
                            </m:e>
                            <m:sub>
                              <m:r>
                                <a:rPr lang="en-US" i="1">
                                  <a:latin typeface="Cambria Math" panose="02040503050406030204" pitchFamily="18" charset="0"/>
                                </a:rPr>
                                <m:t>𝑖</m:t>
                              </m:r>
                              <m:r>
                                <a:rPr lang="en-US" i="1">
                                  <a:latin typeface="Cambria Math" panose="02040503050406030204" pitchFamily="18" charset="0"/>
                                </a:rPr>
                                <m:t>−1</m:t>
                              </m:r>
                            </m:sub>
                            <m:sup>
                              <m:r>
                                <a:rPr lang="en-US" i="1">
                                  <a:latin typeface="Cambria Math" panose="02040503050406030204" pitchFamily="18" charset="0"/>
                                </a:rPr>
                                <m:t>𝑛</m:t>
                              </m:r>
                              <m:r>
                                <a:rPr lang="en-US" b="0" i="1" smtClean="0">
                                  <a:latin typeface="Cambria Math" panose="02040503050406030204" pitchFamily="18" charset="0"/>
                                </a:rPr>
                                <m:t>+1</m:t>
                              </m:r>
                            </m:sup>
                          </m:sSubSup>
                          <m:r>
                            <a:rPr lang="en-US" i="1">
                              <a:latin typeface="Cambria Math" panose="02040503050406030204" pitchFamily="18" charset="0"/>
                            </a:rPr>
                            <m:t> </m:t>
                          </m:r>
                        </m:num>
                        <m:den>
                          <m:r>
                            <m:rPr>
                              <m:sty m:val="p"/>
                            </m:rPr>
                            <a:rPr lang="en-US">
                              <a:latin typeface="Cambria Math" panose="02040503050406030204" pitchFamily="18" charset="0"/>
                            </a:rPr>
                            <m:t>Δ</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𝑥</m:t>
                              </m:r>
                            </m:e>
                            <m:sup>
                              <m:r>
                                <a:rPr lang="en-US" b="0" i="1" smtClean="0">
                                  <a:latin typeface="Cambria Math" panose="02040503050406030204" pitchFamily="18" charset="0"/>
                                </a:rPr>
                                <m:t>2</m:t>
                              </m:r>
                            </m:sup>
                          </m:sSup>
                        </m:den>
                      </m:f>
                    </m:oMath>
                  </m:oMathPara>
                </a14:m>
                <a:endParaRPr lang="en-US" dirty="0"/>
              </a:p>
              <a:p>
                <a:pPr marL="0" indent="0">
                  <a:lnSpc>
                    <a:spcPct val="150000"/>
                  </a:lnSpc>
                  <a:buNone/>
                </a:pPr>
                <a:r>
                  <a:rPr lang="en-US" dirty="0"/>
                  <a:t>   or</a:t>
                </a:r>
              </a:p>
              <a:p>
                <a:pPr marL="0" indent="0">
                  <a:lnSpc>
                    <a:spcPct val="150000"/>
                  </a:lnSpc>
                  <a:buNone/>
                </a:pPr>
                <a14:m>
                  <m:oMathPara xmlns:m="http://schemas.openxmlformats.org/officeDocument/2006/math">
                    <m:oMathParaPr>
                      <m:jc m:val="centerGroup"/>
                    </m:oMathParaPr>
                    <m:oMath xmlns:m="http://schemas.openxmlformats.org/officeDocument/2006/math">
                      <m:sSubSup>
                        <m:sSubSupPr>
                          <m:ctrlPr>
                            <a:rPr lang="en-US" i="1">
                              <a:latin typeface="Cambria Math" panose="02040503050406030204" pitchFamily="18" charset="0"/>
                            </a:rPr>
                          </m:ctrlPr>
                        </m:sSubSupPr>
                        <m:e>
                          <m:sSubSup>
                            <m:sSubSupPr>
                              <m:ctrlPr>
                                <a:rPr lang="en-US" i="1">
                                  <a:latin typeface="Cambria Math" panose="02040503050406030204" pitchFamily="18" charset="0"/>
                                </a:rPr>
                              </m:ctrlPr>
                            </m:sSubSupPr>
                            <m:e>
                              <m:r>
                                <a:rPr lang="en-US" i="1">
                                  <a:latin typeface="Cambria Math" panose="02040503050406030204" pitchFamily="18" charset="0"/>
                                </a:rPr>
                                <m:t>𝜙</m:t>
                              </m:r>
                            </m:e>
                            <m:sub>
                              <m:r>
                                <a:rPr lang="en-US" i="1">
                                  <a:latin typeface="Cambria Math" panose="02040503050406030204" pitchFamily="18" charset="0"/>
                                </a:rPr>
                                <m:t>𝑖</m:t>
                              </m:r>
                            </m:sub>
                            <m:sup>
                              <m:r>
                                <a:rPr lang="en-US" i="1">
                                  <a:latin typeface="Cambria Math" panose="02040503050406030204" pitchFamily="18" charset="0"/>
                                </a:rPr>
                                <m:t>𝑛</m:t>
                              </m:r>
                              <m:r>
                                <a:rPr lang="en-US" i="1">
                                  <a:latin typeface="Cambria Math" panose="02040503050406030204" pitchFamily="18" charset="0"/>
                                </a:rPr>
                                <m:t>+1</m:t>
                              </m:r>
                            </m:sup>
                          </m:sSubSup>
                          <m:r>
                            <a:rPr lang="en-US" i="1">
                              <a:latin typeface="Cambria Math" panose="02040503050406030204" pitchFamily="18" charset="0"/>
                            </a:rPr>
                            <m:t>−</m:t>
                          </m:r>
                          <m:r>
                            <a:rPr lang="en-US" i="1">
                              <a:latin typeface="Cambria Math" panose="02040503050406030204" pitchFamily="18" charset="0"/>
                            </a:rPr>
                            <m:t>𝜙</m:t>
                          </m:r>
                        </m:e>
                        <m:sub>
                          <m:r>
                            <a:rPr lang="en-US" i="1">
                              <a:latin typeface="Cambria Math" panose="02040503050406030204" pitchFamily="18" charset="0"/>
                            </a:rPr>
                            <m:t>𝑖</m:t>
                          </m:r>
                        </m:sub>
                        <m:sup>
                          <m:r>
                            <a:rPr lang="en-US" i="1">
                              <a:latin typeface="Cambria Math" panose="02040503050406030204" pitchFamily="18" charset="0"/>
                            </a:rPr>
                            <m:t>𝑛</m:t>
                          </m:r>
                        </m:sup>
                      </m:sSubSup>
                      <m:r>
                        <a:rPr lang="en-US" b="0" i="1" smtClean="0">
                          <a:latin typeface="Cambria Math" panose="02040503050406030204" pitchFamily="18" charset="0"/>
                        </a:rPr>
                        <m:t>=</m:t>
                      </m:r>
                      <m:r>
                        <a:rPr lang="en-US" b="0" i="1" smtClean="0">
                          <a:latin typeface="Cambria Math" panose="02040503050406030204" pitchFamily="18" charset="0"/>
                        </a:rPr>
                        <m:t>𝛼</m:t>
                      </m:r>
                      <m:d>
                        <m:dPr>
                          <m:ctrlPr>
                            <a:rPr lang="en-US" b="0" i="1" smtClean="0">
                              <a:latin typeface="Cambria Math" panose="02040503050406030204" pitchFamily="18" charset="0"/>
                            </a:rPr>
                          </m:ctrlPr>
                        </m:dPr>
                        <m:e>
                          <m:sSubSup>
                            <m:sSubSupPr>
                              <m:ctrlPr>
                                <a:rPr lang="en-US" i="1">
                                  <a:latin typeface="Cambria Math" panose="02040503050406030204" pitchFamily="18" charset="0"/>
                                </a:rPr>
                              </m:ctrlPr>
                            </m:sSubSupPr>
                            <m:e>
                              <m:r>
                                <a:rPr lang="en-US" i="1">
                                  <a:latin typeface="Cambria Math" panose="02040503050406030204" pitchFamily="18" charset="0"/>
                                </a:rPr>
                                <m:t>𝜙</m:t>
                              </m:r>
                            </m:e>
                            <m:sub>
                              <m:r>
                                <a:rPr lang="en-US" i="1">
                                  <a:latin typeface="Cambria Math" panose="02040503050406030204" pitchFamily="18" charset="0"/>
                                </a:rPr>
                                <m:t>𝑖</m:t>
                              </m:r>
                              <m:r>
                                <a:rPr lang="en-US" i="1">
                                  <a:latin typeface="Cambria Math" panose="02040503050406030204" pitchFamily="18" charset="0"/>
                                </a:rPr>
                                <m:t>+1</m:t>
                              </m:r>
                            </m:sub>
                            <m:sup>
                              <m:r>
                                <a:rPr lang="en-US" i="1">
                                  <a:latin typeface="Cambria Math" panose="02040503050406030204" pitchFamily="18" charset="0"/>
                                </a:rPr>
                                <m:t>𝑛</m:t>
                              </m:r>
                              <m:r>
                                <a:rPr lang="en-US" i="1">
                                  <a:latin typeface="Cambria Math" panose="02040503050406030204" pitchFamily="18" charset="0"/>
                                </a:rPr>
                                <m:t>+1</m:t>
                              </m:r>
                            </m:sup>
                          </m:sSubSup>
                          <m:r>
                            <a:rPr lang="en-US" b="0" i="1" smtClean="0">
                              <a:latin typeface="Cambria Math" panose="02040503050406030204" pitchFamily="18" charset="0"/>
                            </a:rPr>
                            <m:t>−2</m:t>
                          </m:r>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𝜙</m:t>
                              </m:r>
                            </m:e>
                            <m:sub>
                              <m:r>
                                <a:rPr lang="en-US" b="0" i="1" smtClean="0">
                                  <a:latin typeface="Cambria Math" panose="02040503050406030204" pitchFamily="18" charset="0"/>
                                </a:rPr>
                                <m:t>𝑖</m:t>
                              </m:r>
                            </m:sub>
                            <m:sup>
                              <m:r>
                                <a:rPr lang="en-US" b="0" i="1" smtClean="0">
                                  <a:latin typeface="Cambria Math" panose="02040503050406030204" pitchFamily="18" charset="0"/>
                                </a:rPr>
                                <m:t>𝑛</m:t>
                              </m:r>
                              <m:r>
                                <a:rPr lang="en-US" b="0" i="1" smtClean="0">
                                  <a:latin typeface="Cambria Math" panose="02040503050406030204" pitchFamily="18" charset="0"/>
                                </a:rPr>
                                <m:t>+1</m:t>
                              </m:r>
                            </m:sup>
                          </m:sSubSup>
                          <m:r>
                            <a:rPr lang="en-US" b="0" i="1" smtClean="0">
                              <a:latin typeface="Cambria Math" panose="02040503050406030204" pitchFamily="18" charset="0"/>
                            </a:rPr>
                            <m:t>+</m:t>
                          </m:r>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𝜙</m:t>
                              </m:r>
                            </m:e>
                            <m:sub>
                              <m:r>
                                <a:rPr lang="en-US" b="0" i="1" smtClean="0">
                                  <a:latin typeface="Cambria Math" panose="02040503050406030204" pitchFamily="18" charset="0"/>
                                </a:rPr>
                                <m:t>𝑖</m:t>
                              </m:r>
                              <m:r>
                                <a:rPr lang="en-US" b="0" i="1" smtClean="0">
                                  <a:latin typeface="Cambria Math" panose="02040503050406030204" pitchFamily="18" charset="0"/>
                                </a:rPr>
                                <m:t>−1</m:t>
                              </m:r>
                            </m:sub>
                            <m:sup>
                              <m:r>
                                <a:rPr lang="en-US" b="0" i="1" smtClean="0">
                                  <a:latin typeface="Cambria Math" panose="02040503050406030204" pitchFamily="18" charset="0"/>
                                </a:rPr>
                                <m:t>𝑛</m:t>
                              </m:r>
                              <m:r>
                                <a:rPr lang="en-US" b="0" i="1" smtClean="0">
                                  <a:latin typeface="Cambria Math" panose="02040503050406030204" pitchFamily="18" charset="0"/>
                                </a:rPr>
                                <m:t>+1</m:t>
                              </m:r>
                            </m:sup>
                          </m:sSubSup>
                        </m:e>
                      </m:d>
                    </m:oMath>
                  </m:oMathPara>
                </a14:m>
                <a:endParaRPr lang="en-US" dirty="0"/>
              </a:p>
              <a:p>
                <a:pPr marL="0" indent="0">
                  <a:buNone/>
                </a:pPr>
                <a:r>
                  <a:rPr lang="en-US" dirty="0"/>
                  <a:t>   with </a:t>
                </a:r>
                <a14:m>
                  <m:oMath xmlns:m="http://schemas.openxmlformats.org/officeDocument/2006/math">
                    <m:r>
                      <a:rPr lang="en-US" b="0" i="1" smtClean="0">
                        <a:latin typeface="Cambria Math" panose="02040503050406030204" pitchFamily="18" charset="0"/>
                      </a:rPr>
                      <m:t>𝛼</m:t>
                    </m:r>
                    <m:r>
                      <a:rPr lang="en-US" b="0" i="1" smtClean="0">
                        <a:latin typeface="Cambria Math" panose="02040503050406030204" pitchFamily="18" charset="0"/>
                      </a:rPr>
                      <m:t>=</m:t>
                    </m:r>
                    <m:r>
                      <a:rPr lang="en-US" b="0" i="1" smtClean="0">
                        <a:latin typeface="Cambria Math" panose="02040503050406030204" pitchFamily="18" charset="0"/>
                      </a:rPr>
                      <m:t>𝑘</m:t>
                    </m:r>
                    <m:f>
                      <m:fPr>
                        <m:ctrlPr>
                          <a:rPr lang="en-US" b="0" i="1" smtClean="0">
                            <a:latin typeface="Cambria Math" panose="02040503050406030204" pitchFamily="18" charset="0"/>
                          </a:rPr>
                        </m:ctrlPr>
                      </m:fPr>
                      <m:num>
                        <m:r>
                          <m:rPr>
                            <m:sty m:val="p"/>
                          </m:rPr>
                          <a:rPr lang="en-US" b="0" i="0" smtClean="0">
                            <a:latin typeface="Cambria Math" panose="02040503050406030204" pitchFamily="18" charset="0"/>
                          </a:rPr>
                          <m:t>Δ</m:t>
                        </m:r>
                        <m:r>
                          <a:rPr lang="en-US" b="0" i="1" smtClean="0">
                            <a:latin typeface="Cambria Math" panose="02040503050406030204" pitchFamily="18" charset="0"/>
                          </a:rPr>
                          <m:t>𝑡</m:t>
                        </m:r>
                      </m:num>
                      <m:den>
                        <m:r>
                          <m:rPr>
                            <m:sty m:val="p"/>
                          </m:rPr>
                          <a:rPr lang="en-US" b="0" i="0" smtClean="0">
                            <a:latin typeface="Cambria Math" panose="02040503050406030204" pitchFamily="18" charset="0"/>
                          </a:rPr>
                          <m:t>Δ</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𝑥</m:t>
                            </m:r>
                          </m:e>
                          <m:sup>
                            <m:r>
                              <a:rPr lang="en-US" b="0" i="1" smtClean="0">
                                <a:latin typeface="Cambria Math" panose="02040503050406030204" pitchFamily="18" charset="0"/>
                              </a:rPr>
                              <m:t>2</m:t>
                            </m:r>
                          </m:sup>
                        </m:sSup>
                      </m:den>
                    </m:f>
                  </m:oMath>
                </a14:m>
                <a:endParaRPr lang="en-US" dirty="0"/>
              </a:p>
              <a:p>
                <a:r>
                  <a:rPr lang="en-US" dirty="0"/>
                  <a:t>This scheme is still 1’st order in time</a:t>
                </a:r>
              </a:p>
            </p:txBody>
          </p:sp>
        </mc:Choice>
        <mc:Fallback xmlns="">
          <p:sp>
            <p:nvSpPr>
              <p:cNvPr id="3" name="Content Placeholder 2">
                <a:extLst>
                  <a:ext uri="{FF2B5EF4-FFF2-40B4-BE49-F238E27FC236}">
                    <a16:creationId xmlns:a16="http://schemas.microsoft.com/office/drawing/2014/main" id="{15C4FD65-F675-944D-A379-3A5FFFAEB784}"/>
                  </a:ext>
                </a:extLst>
              </p:cNvPr>
              <p:cNvSpPr>
                <a:spLocks noGrp="1" noRot="1" noChangeAspect="1" noMove="1" noResize="1" noEditPoints="1" noAdjustHandles="1" noChangeArrowheads="1" noChangeShapeType="1" noTextEdit="1"/>
              </p:cNvSpPr>
              <p:nvPr>
                <p:ph idx="1"/>
              </p:nvPr>
            </p:nvSpPr>
            <p:spPr>
              <a:xfrm>
                <a:off x="838200" y="1325562"/>
                <a:ext cx="10515600" cy="5532437"/>
              </a:xfrm>
              <a:blipFill>
                <a:blip r:embed="rId2"/>
                <a:stretch>
                  <a:fillRect l="-965" t="-1602"/>
                </a:stretch>
              </a:blipFill>
            </p:spPr>
            <p:txBody>
              <a:bodyPr/>
              <a:lstStyle/>
              <a:p>
                <a:r>
                  <a:rPr lang="en-US">
                    <a:noFill/>
                  </a:rPr>
                  <a:t> </a:t>
                </a:r>
              </a:p>
            </p:txBody>
          </p:sp>
        </mc:Fallback>
      </mc:AlternateContent>
    </p:spTree>
    <p:extLst>
      <p:ext uri="{BB962C8B-B14F-4D97-AF65-F5344CB8AC3E}">
        <p14:creationId xmlns:p14="http://schemas.microsoft.com/office/powerpoint/2010/main" val="3953423945"/>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DCE2F9-F4C3-DA4C-B0FC-7FF6F22D148C}"/>
              </a:ext>
            </a:extLst>
          </p:cNvPr>
          <p:cNvSpPr>
            <a:spLocks noGrp="1"/>
          </p:cNvSpPr>
          <p:nvPr>
            <p:ph type="title"/>
          </p:nvPr>
        </p:nvSpPr>
        <p:spPr>
          <a:xfrm>
            <a:off x="838200" y="0"/>
            <a:ext cx="10515600" cy="1325563"/>
          </a:xfrm>
        </p:spPr>
        <p:txBody>
          <a:bodyPr/>
          <a:lstStyle/>
          <a:p>
            <a:r>
              <a:rPr lang="en-US" dirty="0"/>
              <a:t>Implicit methods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5C4FD65-F675-944D-A379-3A5FFFAEB784}"/>
                  </a:ext>
                </a:extLst>
              </p:cNvPr>
              <p:cNvSpPr>
                <a:spLocks noGrp="1"/>
              </p:cNvSpPr>
              <p:nvPr>
                <p:ph idx="1"/>
              </p:nvPr>
            </p:nvSpPr>
            <p:spPr>
              <a:xfrm>
                <a:off x="838200" y="1325562"/>
                <a:ext cx="10515600" cy="5532437"/>
              </a:xfrm>
            </p:spPr>
            <p:txBody>
              <a:bodyPr/>
              <a:lstStyle/>
              <a:p>
                <a:r>
                  <a:rPr lang="en-US" dirty="0"/>
                  <a:t>A stability analysis examining the growth of a Fourier mode, similar to what we did before gives</a:t>
                </a:r>
              </a:p>
              <a:p>
                <a:pPr marL="0" indent="0">
                  <a:lnSpc>
                    <a:spcPct val="150000"/>
                  </a:lnSpc>
                  <a:buNone/>
                </a:pPr>
                <a14:m>
                  <m:oMathPara xmlns:m="http://schemas.openxmlformats.org/officeDocument/2006/math">
                    <m:oMathParaPr>
                      <m:jc m:val="centerGroup"/>
                    </m:oMathParaPr>
                    <m:oMath xmlns:m="http://schemas.openxmlformats.org/officeDocument/2006/math">
                      <m:d>
                        <m:dPr>
                          <m:begChr m:val="|"/>
                          <m:endChr m:val="|"/>
                          <m:ctrlPr>
                            <a:rPr lang="en-US" i="1">
                              <a:latin typeface="Cambria Math" panose="02040503050406030204" pitchFamily="18" charset="0"/>
                            </a:rPr>
                          </m:ctrlPr>
                        </m:dPr>
                        <m:e>
                          <m:f>
                            <m:fPr>
                              <m:ctrlPr>
                                <a:rPr lang="en-US" i="1">
                                  <a:latin typeface="Cambria Math" panose="02040503050406030204" pitchFamily="18" charset="0"/>
                                </a:rPr>
                              </m:ctrlPr>
                            </m:fPr>
                            <m:num>
                              <m:sSup>
                                <m:sSupPr>
                                  <m:ctrlPr>
                                    <a:rPr lang="en-US" i="1">
                                      <a:latin typeface="Cambria Math" panose="02040503050406030204" pitchFamily="18" charset="0"/>
                                    </a:rPr>
                                  </m:ctrlPr>
                                </m:sSupPr>
                                <m:e>
                                  <m:r>
                                    <a:rPr lang="en-US" i="1">
                                      <a:latin typeface="Cambria Math" panose="02040503050406030204" pitchFamily="18" charset="0"/>
                                    </a:rPr>
                                    <m:t>𝐴</m:t>
                                  </m:r>
                                </m:e>
                                <m:sup>
                                  <m:r>
                                    <a:rPr lang="en-US" i="1">
                                      <a:latin typeface="Cambria Math" panose="02040503050406030204" pitchFamily="18" charset="0"/>
                                    </a:rPr>
                                    <m:t>𝑛</m:t>
                                  </m:r>
                                  <m:r>
                                    <a:rPr lang="en-US" i="1">
                                      <a:latin typeface="Cambria Math" panose="02040503050406030204" pitchFamily="18" charset="0"/>
                                    </a:rPr>
                                    <m:t>+1</m:t>
                                  </m:r>
                                </m:sup>
                              </m:sSup>
                            </m:num>
                            <m:den>
                              <m:sSup>
                                <m:sSupPr>
                                  <m:ctrlPr>
                                    <a:rPr lang="en-US" i="1">
                                      <a:latin typeface="Cambria Math" panose="02040503050406030204" pitchFamily="18" charset="0"/>
                                    </a:rPr>
                                  </m:ctrlPr>
                                </m:sSupPr>
                                <m:e>
                                  <m:r>
                                    <a:rPr lang="en-US" i="1">
                                      <a:latin typeface="Cambria Math" panose="02040503050406030204" pitchFamily="18" charset="0"/>
                                    </a:rPr>
                                    <m:t>𝐴</m:t>
                                  </m:r>
                                </m:e>
                                <m:sup>
                                  <m:r>
                                    <a:rPr lang="en-US" i="1">
                                      <a:latin typeface="Cambria Math" panose="02040503050406030204" pitchFamily="18" charset="0"/>
                                    </a:rPr>
                                    <m:t>𝑛</m:t>
                                  </m:r>
                                </m:sup>
                              </m:sSup>
                            </m:den>
                          </m:f>
                        </m:e>
                      </m:d>
                      <m:r>
                        <a:rPr lang="en-US" i="1">
                          <a:latin typeface="Cambria Math" panose="02040503050406030204" pitchFamily="18" charset="0"/>
                        </a:rPr>
                        <m:t>=</m:t>
                      </m:r>
                      <m:d>
                        <m:dPr>
                          <m:begChr m:val="|"/>
                          <m:endChr m:val="|"/>
                          <m:ctrlPr>
                            <a:rPr lang="en-US" i="1" smtClean="0">
                              <a:latin typeface="Cambria Math" panose="02040503050406030204" pitchFamily="18" charset="0"/>
                            </a:rPr>
                          </m:ctrlPr>
                        </m:dPr>
                        <m:e>
                          <m:f>
                            <m:fPr>
                              <m:ctrlPr>
                                <a:rPr lang="en-US" i="1">
                                  <a:latin typeface="Cambria Math" panose="02040503050406030204" pitchFamily="18" charset="0"/>
                                </a:rPr>
                              </m:ctrlPr>
                            </m:fPr>
                            <m:num>
                              <m:r>
                                <a:rPr lang="en-US" i="1">
                                  <a:latin typeface="Cambria Math" panose="02040503050406030204" pitchFamily="18" charset="0"/>
                                </a:rPr>
                                <m:t>1</m:t>
                              </m:r>
                            </m:num>
                            <m:den>
                              <m:r>
                                <a:rPr lang="en-US" i="1">
                                  <a:latin typeface="Cambria Math" panose="02040503050406030204" pitchFamily="18" charset="0"/>
                                </a:rPr>
                                <m:t>1−2</m:t>
                              </m:r>
                              <m:r>
                                <a:rPr lang="en-US" i="1">
                                  <a:latin typeface="Cambria Math" panose="02040503050406030204" pitchFamily="18" charset="0"/>
                                </a:rPr>
                                <m:t>𝛼</m:t>
                              </m:r>
                              <m:d>
                                <m:dPr>
                                  <m:ctrlPr>
                                    <a:rPr lang="en-US" i="1">
                                      <a:latin typeface="Cambria Math" panose="02040503050406030204" pitchFamily="18" charset="0"/>
                                    </a:rPr>
                                  </m:ctrlPr>
                                </m:dPr>
                                <m:e>
                                  <m:func>
                                    <m:funcPr>
                                      <m:ctrlPr>
                                        <a:rPr lang="en-US" i="1">
                                          <a:latin typeface="Cambria Math" panose="02040503050406030204" pitchFamily="18" charset="0"/>
                                        </a:rPr>
                                      </m:ctrlPr>
                                    </m:funcPr>
                                    <m:fName>
                                      <m:r>
                                        <m:rPr>
                                          <m:sty m:val="p"/>
                                        </m:rPr>
                                        <a:rPr lang="en-US">
                                          <a:latin typeface="Cambria Math" panose="02040503050406030204" pitchFamily="18" charset="0"/>
                                        </a:rPr>
                                        <m:t>cos</m:t>
                                      </m:r>
                                    </m:fName>
                                    <m:e>
                                      <m:acc>
                                        <m:accPr>
                                          <m:chr m:val="̃"/>
                                          <m:ctrlPr>
                                            <a:rPr lang="en-US" i="1">
                                              <a:latin typeface="Cambria Math" panose="02040503050406030204" pitchFamily="18" charset="0"/>
                                            </a:rPr>
                                          </m:ctrlPr>
                                        </m:accPr>
                                        <m:e>
                                          <m:r>
                                            <a:rPr lang="en-US" i="1">
                                              <a:latin typeface="Cambria Math" panose="02040503050406030204" pitchFamily="18" charset="0"/>
                                            </a:rPr>
                                            <m:t>𝑘</m:t>
                                          </m:r>
                                        </m:e>
                                      </m:acc>
                                      <m:r>
                                        <a:rPr lang="en-US" i="1" dirty="0">
                                          <a:latin typeface="Cambria Math" panose="02040503050406030204" pitchFamily="18" charset="0"/>
                                        </a:rPr>
                                        <m:t>𝑥</m:t>
                                      </m:r>
                                    </m:e>
                                  </m:func>
                                  <m:r>
                                    <a:rPr lang="en-US" i="1">
                                      <a:latin typeface="Cambria Math" panose="02040503050406030204" pitchFamily="18" charset="0"/>
                                    </a:rPr>
                                    <m:t>−1</m:t>
                                  </m:r>
                                </m:e>
                              </m:d>
                            </m:den>
                          </m:f>
                        </m:e>
                      </m:d>
                      <m:r>
                        <a:rPr lang="en-US" i="1">
                          <a:latin typeface="Cambria Math" panose="02040503050406030204" pitchFamily="18" charset="0"/>
                        </a:rPr>
                        <m:t>≤1</m:t>
                      </m:r>
                    </m:oMath>
                  </m:oMathPara>
                </a14:m>
                <a:endParaRPr lang="en-US" dirty="0"/>
              </a:p>
              <a:p>
                <a:pPr marL="0" indent="0">
                  <a:buNone/>
                </a:pPr>
                <a:r>
                  <a:rPr lang="en-US" dirty="0"/>
                  <a:t>   the ratio is always </a:t>
                </a:r>
                <a14:m>
                  <m:oMath xmlns:m="http://schemas.openxmlformats.org/officeDocument/2006/math">
                    <m:r>
                      <a:rPr lang="en-US" b="0" i="1" smtClean="0">
                        <a:latin typeface="Cambria Math" panose="02040503050406030204" pitchFamily="18" charset="0"/>
                      </a:rPr>
                      <m:t>≤1</m:t>
                    </m:r>
                  </m:oMath>
                </a14:m>
                <a:r>
                  <a:rPr lang="en-US" dirty="0"/>
                  <a:t> for all </a:t>
                </a:r>
                <a14:m>
                  <m:oMath xmlns:m="http://schemas.openxmlformats.org/officeDocument/2006/math">
                    <m:r>
                      <a:rPr lang="en-US" b="0" i="1" smtClean="0">
                        <a:latin typeface="Cambria Math" panose="02040503050406030204" pitchFamily="18" charset="0"/>
                      </a:rPr>
                      <m:t>𝛼</m:t>
                    </m:r>
                  </m:oMath>
                </a14:m>
                <a:r>
                  <a:rPr lang="en-US" dirty="0"/>
                  <a:t> and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𝑘</m:t>
                        </m:r>
                      </m:e>
                    </m:acc>
                  </m:oMath>
                </a14:m>
                <a:r>
                  <a:rPr lang="en-US" dirty="0"/>
                  <a:t>, so this discretization is</a:t>
                </a:r>
              </a:p>
              <a:p>
                <a:pPr marL="0" indent="0">
                  <a:buNone/>
                </a:pPr>
                <a:r>
                  <a:rPr lang="en-US" dirty="0"/>
                  <a:t>   unconditionally stable. </a:t>
                </a:r>
              </a:p>
              <a:p>
                <a:r>
                  <a:rPr lang="en-US" dirty="0"/>
                  <a:t>However, the timestep still determines the accuracy. </a:t>
                </a:r>
              </a:p>
              <a:p>
                <a:r>
                  <a:rPr lang="en-US" dirty="0"/>
                  <a:t>We can also write the backward scheme as:</a:t>
                </a:r>
              </a:p>
              <a:p>
                <a:pPr marL="0" indent="0">
                  <a:lnSpc>
                    <a:spcPct val="150000"/>
                  </a:lnSpc>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m:t>
                      </m:r>
                      <m:r>
                        <a:rPr lang="en-US" b="0" i="1" smtClean="0">
                          <a:latin typeface="Cambria Math" panose="02040503050406030204" pitchFamily="18" charset="0"/>
                        </a:rPr>
                        <m:t>𝛼</m:t>
                      </m:r>
                      <m:sSubSup>
                        <m:sSubSupPr>
                          <m:ctrlPr>
                            <a:rPr lang="en-US" i="1">
                              <a:latin typeface="Cambria Math" panose="02040503050406030204" pitchFamily="18" charset="0"/>
                            </a:rPr>
                          </m:ctrlPr>
                        </m:sSubSupPr>
                        <m:e>
                          <m:r>
                            <a:rPr lang="en-US" i="1">
                              <a:latin typeface="Cambria Math" panose="02040503050406030204" pitchFamily="18" charset="0"/>
                            </a:rPr>
                            <m:t>𝜙</m:t>
                          </m:r>
                        </m:e>
                        <m:sub>
                          <m:r>
                            <a:rPr lang="en-US" i="1">
                              <a:latin typeface="Cambria Math" panose="02040503050406030204" pitchFamily="18" charset="0"/>
                            </a:rPr>
                            <m:t>𝑖</m:t>
                          </m:r>
                          <m:r>
                            <a:rPr lang="en-US" i="1">
                              <a:latin typeface="Cambria Math" panose="02040503050406030204" pitchFamily="18" charset="0"/>
                            </a:rPr>
                            <m:t>+1</m:t>
                          </m:r>
                        </m:sub>
                        <m:sup>
                          <m:r>
                            <a:rPr lang="en-US" i="1">
                              <a:latin typeface="Cambria Math" panose="02040503050406030204" pitchFamily="18" charset="0"/>
                            </a:rPr>
                            <m:t>𝑛</m:t>
                          </m:r>
                          <m:r>
                            <a:rPr lang="en-US" i="1">
                              <a:latin typeface="Cambria Math" panose="02040503050406030204" pitchFamily="18" charset="0"/>
                            </a:rPr>
                            <m:t>+1</m:t>
                          </m:r>
                        </m:sup>
                      </m:sSubSup>
                      <m:r>
                        <a:rPr lang="en-US" b="0" i="1" smtClean="0">
                          <a:latin typeface="Cambria Math" panose="02040503050406030204" pitchFamily="18" charset="0"/>
                        </a:rPr>
                        <m:t>+(1+2</m:t>
                      </m:r>
                      <m:r>
                        <a:rPr lang="en-US" b="0" i="1" smtClean="0">
                          <a:latin typeface="Cambria Math" panose="02040503050406030204" pitchFamily="18" charset="0"/>
                        </a:rPr>
                        <m:t>𝛼</m:t>
                      </m:r>
                      <m:r>
                        <a:rPr lang="en-US" b="0" i="1" smtClean="0">
                          <a:latin typeface="Cambria Math" panose="02040503050406030204" pitchFamily="18" charset="0"/>
                        </a:rPr>
                        <m:t>)</m:t>
                      </m:r>
                      <m:sSubSup>
                        <m:sSubSupPr>
                          <m:ctrlPr>
                            <a:rPr lang="en-US" i="1">
                              <a:latin typeface="Cambria Math" panose="02040503050406030204" pitchFamily="18" charset="0"/>
                            </a:rPr>
                          </m:ctrlPr>
                        </m:sSubSupPr>
                        <m:e>
                          <m:sSubSup>
                            <m:sSubSupPr>
                              <m:ctrlPr>
                                <a:rPr lang="en-US" i="1">
                                  <a:latin typeface="Cambria Math" panose="02040503050406030204" pitchFamily="18" charset="0"/>
                                </a:rPr>
                              </m:ctrlPr>
                            </m:sSubSupPr>
                            <m:e>
                              <m:r>
                                <a:rPr lang="en-US" i="1">
                                  <a:latin typeface="Cambria Math" panose="02040503050406030204" pitchFamily="18" charset="0"/>
                                </a:rPr>
                                <m:t>𝜙</m:t>
                              </m:r>
                            </m:e>
                            <m:sub>
                              <m:r>
                                <a:rPr lang="en-US" i="1">
                                  <a:latin typeface="Cambria Math" panose="02040503050406030204" pitchFamily="18" charset="0"/>
                                </a:rPr>
                                <m:t>𝑖</m:t>
                              </m:r>
                            </m:sub>
                            <m:sup>
                              <m:r>
                                <a:rPr lang="en-US" i="1">
                                  <a:latin typeface="Cambria Math" panose="02040503050406030204" pitchFamily="18" charset="0"/>
                                </a:rPr>
                                <m:t>𝑛</m:t>
                              </m:r>
                              <m:r>
                                <a:rPr lang="en-US" i="1">
                                  <a:latin typeface="Cambria Math" panose="02040503050406030204" pitchFamily="18" charset="0"/>
                                </a:rPr>
                                <m:t>+1</m:t>
                              </m:r>
                            </m:sup>
                          </m:sSubSup>
                          <m:r>
                            <a:rPr lang="en-US" i="1">
                              <a:latin typeface="Cambria Math" panose="02040503050406030204" pitchFamily="18" charset="0"/>
                            </a:rPr>
                            <m:t>−</m:t>
                          </m:r>
                          <m:r>
                            <a:rPr lang="en-US" b="0" i="1" smtClean="0">
                              <a:latin typeface="Cambria Math" panose="02040503050406030204" pitchFamily="18" charset="0"/>
                            </a:rPr>
                            <m:t>𝛼</m:t>
                          </m:r>
                          <m:sSubSup>
                            <m:sSubSupPr>
                              <m:ctrlPr>
                                <a:rPr lang="en-US" i="1">
                                  <a:latin typeface="Cambria Math" panose="02040503050406030204" pitchFamily="18" charset="0"/>
                                </a:rPr>
                              </m:ctrlPr>
                            </m:sSubSupPr>
                            <m:e>
                              <m:r>
                                <a:rPr lang="en-US" i="1">
                                  <a:latin typeface="Cambria Math" panose="02040503050406030204" pitchFamily="18" charset="0"/>
                                </a:rPr>
                                <m:t>𝜙</m:t>
                              </m:r>
                            </m:e>
                            <m:sub>
                              <m:r>
                                <a:rPr lang="en-US" i="1">
                                  <a:latin typeface="Cambria Math" panose="02040503050406030204" pitchFamily="18" charset="0"/>
                                </a:rPr>
                                <m:t>𝑖</m:t>
                              </m:r>
                              <m:r>
                                <a:rPr lang="en-US" i="1">
                                  <a:latin typeface="Cambria Math" panose="02040503050406030204" pitchFamily="18" charset="0"/>
                                </a:rPr>
                                <m:t>−1</m:t>
                              </m:r>
                            </m:sub>
                            <m:sup>
                              <m:r>
                                <a:rPr lang="en-US" i="1">
                                  <a:latin typeface="Cambria Math" panose="02040503050406030204" pitchFamily="18" charset="0"/>
                                </a:rPr>
                                <m:t>𝑛</m:t>
                              </m:r>
                              <m:r>
                                <a:rPr lang="en-US" i="1">
                                  <a:latin typeface="Cambria Math" panose="02040503050406030204" pitchFamily="18" charset="0"/>
                                </a:rPr>
                                <m:t>+1</m:t>
                              </m:r>
                            </m:sup>
                          </m:sSubSup>
                          <m:r>
                            <a:rPr lang="en-US" b="0" i="1" smtClean="0">
                              <a:latin typeface="Cambria Math" panose="02040503050406030204" pitchFamily="18" charset="0"/>
                            </a:rPr>
                            <m:t>=</m:t>
                          </m:r>
                          <m:r>
                            <a:rPr lang="en-US" i="1">
                              <a:latin typeface="Cambria Math" panose="02040503050406030204" pitchFamily="18" charset="0"/>
                            </a:rPr>
                            <m:t>𝜙</m:t>
                          </m:r>
                        </m:e>
                        <m:sub>
                          <m:r>
                            <a:rPr lang="en-US" i="1">
                              <a:latin typeface="Cambria Math" panose="02040503050406030204" pitchFamily="18" charset="0"/>
                            </a:rPr>
                            <m:t>𝑖</m:t>
                          </m:r>
                        </m:sub>
                        <m:sup>
                          <m:r>
                            <a:rPr lang="en-US" i="1">
                              <a:latin typeface="Cambria Math" panose="02040503050406030204" pitchFamily="18" charset="0"/>
                            </a:rPr>
                            <m:t>𝑛</m:t>
                          </m:r>
                        </m:sup>
                      </m:sSubSup>
                    </m:oMath>
                  </m:oMathPara>
                </a14:m>
                <a:endParaRPr lang="en-US" dirty="0"/>
              </a:p>
              <a:p>
                <a:pPr marL="0" indent="0">
                  <a:buNone/>
                </a:pPr>
                <a:endParaRPr lang="en-US" dirty="0"/>
              </a:p>
            </p:txBody>
          </p:sp>
        </mc:Choice>
        <mc:Fallback xmlns="">
          <p:sp>
            <p:nvSpPr>
              <p:cNvPr id="3" name="Content Placeholder 2">
                <a:extLst>
                  <a:ext uri="{FF2B5EF4-FFF2-40B4-BE49-F238E27FC236}">
                    <a16:creationId xmlns:a16="http://schemas.microsoft.com/office/drawing/2014/main" id="{15C4FD65-F675-944D-A379-3A5FFFAEB784}"/>
                  </a:ext>
                </a:extLst>
              </p:cNvPr>
              <p:cNvSpPr>
                <a:spLocks noGrp="1" noRot="1" noChangeAspect="1" noMove="1" noResize="1" noEditPoints="1" noAdjustHandles="1" noChangeArrowheads="1" noChangeShapeType="1" noTextEdit="1"/>
              </p:cNvSpPr>
              <p:nvPr>
                <p:ph idx="1"/>
              </p:nvPr>
            </p:nvSpPr>
            <p:spPr>
              <a:xfrm>
                <a:off x="838200" y="1325562"/>
                <a:ext cx="10515600" cy="5532437"/>
              </a:xfrm>
              <a:blipFill>
                <a:blip r:embed="rId2"/>
                <a:stretch>
                  <a:fillRect l="-965" t="-1602" r="-1206"/>
                </a:stretch>
              </a:blipFill>
            </p:spPr>
            <p:txBody>
              <a:bodyPr/>
              <a:lstStyle/>
              <a:p>
                <a:r>
                  <a:rPr lang="en-US">
                    <a:noFill/>
                  </a:rPr>
                  <a:t> </a:t>
                </a:r>
              </a:p>
            </p:txBody>
          </p:sp>
        </mc:Fallback>
      </mc:AlternateContent>
    </p:spTree>
    <p:extLst>
      <p:ext uri="{BB962C8B-B14F-4D97-AF65-F5344CB8AC3E}">
        <p14:creationId xmlns:p14="http://schemas.microsoft.com/office/powerpoint/2010/main" val="3887298729"/>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DCE2F9-F4C3-DA4C-B0FC-7FF6F22D148C}"/>
              </a:ext>
            </a:extLst>
          </p:cNvPr>
          <p:cNvSpPr>
            <a:spLocks noGrp="1"/>
          </p:cNvSpPr>
          <p:nvPr>
            <p:ph type="title"/>
          </p:nvPr>
        </p:nvSpPr>
        <p:spPr>
          <a:xfrm>
            <a:off x="838200" y="0"/>
            <a:ext cx="10515600" cy="1325563"/>
          </a:xfrm>
        </p:spPr>
        <p:txBody>
          <a:bodyPr/>
          <a:lstStyle/>
          <a:p>
            <a:r>
              <a:rPr lang="en-US" dirty="0"/>
              <a:t>Implicit methods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5C4FD65-F675-944D-A379-3A5FFFAEB784}"/>
                  </a:ext>
                </a:extLst>
              </p:cNvPr>
              <p:cNvSpPr>
                <a:spLocks noGrp="1"/>
              </p:cNvSpPr>
              <p:nvPr>
                <p:ph idx="1"/>
              </p:nvPr>
            </p:nvSpPr>
            <p:spPr>
              <a:xfrm>
                <a:off x="838200" y="1325562"/>
                <a:ext cx="10515600" cy="5532437"/>
              </a:xfrm>
            </p:spPr>
            <p:txBody>
              <a:bodyPr>
                <a:normAutofit/>
              </a:bodyPr>
              <a:lstStyle/>
              <a:p>
                <a:pPr marL="0" indent="0">
                  <a:lnSpc>
                    <a:spcPct val="150000"/>
                  </a:lnSpc>
                  <a:buNone/>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m:t>
                      </m:r>
                      <m:r>
                        <a:rPr lang="en-US" b="0" i="1" smtClean="0">
                          <a:latin typeface="Cambria Math" panose="02040503050406030204" pitchFamily="18" charset="0"/>
                        </a:rPr>
                        <m:t>𝛼</m:t>
                      </m:r>
                      <m:sSubSup>
                        <m:sSubSupPr>
                          <m:ctrlPr>
                            <a:rPr lang="en-US" i="1">
                              <a:latin typeface="Cambria Math" panose="02040503050406030204" pitchFamily="18" charset="0"/>
                            </a:rPr>
                          </m:ctrlPr>
                        </m:sSubSupPr>
                        <m:e>
                          <m:r>
                            <a:rPr lang="en-US" i="1">
                              <a:latin typeface="Cambria Math" panose="02040503050406030204" pitchFamily="18" charset="0"/>
                            </a:rPr>
                            <m:t>𝜙</m:t>
                          </m:r>
                        </m:e>
                        <m:sub>
                          <m:r>
                            <a:rPr lang="en-US" i="1">
                              <a:latin typeface="Cambria Math" panose="02040503050406030204" pitchFamily="18" charset="0"/>
                            </a:rPr>
                            <m:t>𝑖</m:t>
                          </m:r>
                          <m:r>
                            <a:rPr lang="en-US" i="1">
                              <a:latin typeface="Cambria Math" panose="02040503050406030204" pitchFamily="18" charset="0"/>
                            </a:rPr>
                            <m:t>+1</m:t>
                          </m:r>
                        </m:sub>
                        <m:sup>
                          <m:r>
                            <a:rPr lang="en-US" i="1">
                              <a:latin typeface="Cambria Math" panose="02040503050406030204" pitchFamily="18" charset="0"/>
                            </a:rPr>
                            <m:t>𝑛</m:t>
                          </m:r>
                          <m:r>
                            <a:rPr lang="en-US" i="1">
                              <a:latin typeface="Cambria Math" panose="02040503050406030204" pitchFamily="18" charset="0"/>
                            </a:rPr>
                            <m:t>+1</m:t>
                          </m:r>
                        </m:sup>
                      </m:sSubSup>
                      <m:r>
                        <a:rPr lang="en-US" b="0" i="1" smtClean="0">
                          <a:latin typeface="Cambria Math" panose="02040503050406030204" pitchFamily="18" charset="0"/>
                        </a:rPr>
                        <m:t>+(1+2</m:t>
                      </m:r>
                      <m:r>
                        <a:rPr lang="en-US" b="0" i="1" smtClean="0">
                          <a:latin typeface="Cambria Math" panose="02040503050406030204" pitchFamily="18" charset="0"/>
                        </a:rPr>
                        <m:t>𝛼</m:t>
                      </m:r>
                      <m:r>
                        <a:rPr lang="en-US" b="0" i="1" smtClean="0">
                          <a:latin typeface="Cambria Math" panose="02040503050406030204" pitchFamily="18" charset="0"/>
                        </a:rPr>
                        <m:t>)</m:t>
                      </m:r>
                      <m:sSubSup>
                        <m:sSubSupPr>
                          <m:ctrlPr>
                            <a:rPr lang="en-US" i="1">
                              <a:latin typeface="Cambria Math" panose="02040503050406030204" pitchFamily="18" charset="0"/>
                            </a:rPr>
                          </m:ctrlPr>
                        </m:sSubSupPr>
                        <m:e>
                          <m:sSubSup>
                            <m:sSubSupPr>
                              <m:ctrlPr>
                                <a:rPr lang="en-US" i="1">
                                  <a:latin typeface="Cambria Math" panose="02040503050406030204" pitchFamily="18" charset="0"/>
                                </a:rPr>
                              </m:ctrlPr>
                            </m:sSubSupPr>
                            <m:e>
                              <m:r>
                                <a:rPr lang="en-US" i="1">
                                  <a:latin typeface="Cambria Math" panose="02040503050406030204" pitchFamily="18" charset="0"/>
                                </a:rPr>
                                <m:t>𝜙</m:t>
                              </m:r>
                            </m:e>
                            <m:sub>
                              <m:r>
                                <a:rPr lang="en-US" i="1">
                                  <a:latin typeface="Cambria Math" panose="02040503050406030204" pitchFamily="18" charset="0"/>
                                </a:rPr>
                                <m:t>𝑖</m:t>
                              </m:r>
                            </m:sub>
                            <m:sup>
                              <m:r>
                                <a:rPr lang="en-US" i="1">
                                  <a:latin typeface="Cambria Math" panose="02040503050406030204" pitchFamily="18" charset="0"/>
                                </a:rPr>
                                <m:t>𝑛</m:t>
                              </m:r>
                              <m:r>
                                <a:rPr lang="en-US" i="1">
                                  <a:latin typeface="Cambria Math" panose="02040503050406030204" pitchFamily="18" charset="0"/>
                                </a:rPr>
                                <m:t>+1</m:t>
                              </m:r>
                            </m:sup>
                          </m:sSubSup>
                          <m:r>
                            <a:rPr lang="en-US" i="1">
                              <a:latin typeface="Cambria Math" panose="02040503050406030204" pitchFamily="18" charset="0"/>
                            </a:rPr>
                            <m:t>−</m:t>
                          </m:r>
                          <m:r>
                            <a:rPr lang="en-US" b="0" i="1" smtClean="0">
                              <a:latin typeface="Cambria Math" panose="02040503050406030204" pitchFamily="18" charset="0"/>
                            </a:rPr>
                            <m:t>𝛼</m:t>
                          </m:r>
                          <m:sSubSup>
                            <m:sSubSupPr>
                              <m:ctrlPr>
                                <a:rPr lang="en-US" i="1">
                                  <a:latin typeface="Cambria Math" panose="02040503050406030204" pitchFamily="18" charset="0"/>
                                </a:rPr>
                              </m:ctrlPr>
                            </m:sSubSupPr>
                            <m:e>
                              <m:r>
                                <a:rPr lang="en-US" i="1">
                                  <a:latin typeface="Cambria Math" panose="02040503050406030204" pitchFamily="18" charset="0"/>
                                </a:rPr>
                                <m:t>𝜙</m:t>
                              </m:r>
                            </m:e>
                            <m:sub>
                              <m:r>
                                <a:rPr lang="en-US" i="1">
                                  <a:latin typeface="Cambria Math" panose="02040503050406030204" pitchFamily="18" charset="0"/>
                                </a:rPr>
                                <m:t>𝑖</m:t>
                              </m:r>
                              <m:r>
                                <a:rPr lang="en-US" i="1">
                                  <a:latin typeface="Cambria Math" panose="02040503050406030204" pitchFamily="18" charset="0"/>
                                </a:rPr>
                                <m:t>−1</m:t>
                              </m:r>
                            </m:sub>
                            <m:sup>
                              <m:r>
                                <a:rPr lang="en-US" i="1">
                                  <a:latin typeface="Cambria Math" panose="02040503050406030204" pitchFamily="18" charset="0"/>
                                </a:rPr>
                                <m:t>𝑛</m:t>
                              </m:r>
                              <m:r>
                                <a:rPr lang="en-US" i="1">
                                  <a:latin typeface="Cambria Math" panose="02040503050406030204" pitchFamily="18" charset="0"/>
                                </a:rPr>
                                <m:t>+1</m:t>
                              </m:r>
                            </m:sup>
                          </m:sSubSup>
                          <m:r>
                            <a:rPr lang="en-US" b="0" i="1" smtClean="0">
                              <a:latin typeface="Cambria Math" panose="02040503050406030204" pitchFamily="18" charset="0"/>
                            </a:rPr>
                            <m:t>=</m:t>
                          </m:r>
                          <m:r>
                            <a:rPr lang="en-US" i="1">
                              <a:latin typeface="Cambria Math" panose="02040503050406030204" pitchFamily="18" charset="0"/>
                            </a:rPr>
                            <m:t>𝜙</m:t>
                          </m:r>
                        </m:e>
                        <m:sub>
                          <m:r>
                            <a:rPr lang="en-US" i="1">
                              <a:latin typeface="Cambria Math" panose="02040503050406030204" pitchFamily="18" charset="0"/>
                            </a:rPr>
                            <m:t>𝑖</m:t>
                          </m:r>
                        </m:sub>
                        <m:sup>
                          <m:r>
                            <a:rPr lang="en-US" i="1">
                              <a:latin typeface="Cambria Math" panose="02040503050406030204" pitchFamily="18" charset="0"/>
                            </a:rPr>
                            <m:t>𝑛</m:t>
                          </m:r>
                        </m:sup>
                      </m:sSubSup>
                    </m:oMath>
                  </m:oMathPara>
                </a14:m>
                <a:endParaRPr lang="en-US" dirty="0"/>
              </a:p>
              <a:p>
                <a:r>
                  <a:rPr lang="en-US" dirty="0"/>
                  <a:t>We obtained a coupled, linear set of algebraic equations for the state of </a:t>
                </a:r>
                <a14:m>
                  <m:oMath xmlns:m="http://schemas.openxmlformats.org/officeDocument/2006/math">
                    <m:r>
                      <a:rPr lang="en-US" i="1">
                        <a:latin typeface="Cambria Math" panose="02040503050406030204" pitchFamily="18" charset="0"/>
                      </a:rPr>
                      <m:t>𝜙</m:t>
                    </m:r>
                    <m:r>
                      <a:rPr lang="en-US" i="1">
                        <a:latin typeface="Cambria Math" panose="02040503050406030204" pitchFamily="18" charset="0"/>
                      </a:rPr>
                      <m:t> </m:t>
                    </m:r>
                  </m:oMath>
                </a14:m>
                <a:r>
                  <a:rPr lang="en-US" dirty="0"/>
                  <a:t>in the new time.</a:t>
                </a:r>
              </a:p>
              <a:p>
                <a:r>
                  <a:rPr lang="en-US" dirty="0"/>
                  <a:t>There are several ways we can solve the system:</a:t>
                </a:r>
              </a:p>
              <a:p>
                <a:pPr marL="514350" indent="-514350">
                  <a:buFont typeface="+mj-lt"/>
                  <a:buAutoNum type="arabicPeriod"/>
                </a:pPr>
                <a:r>
                  <a:rPr lang="en-US" i="1" dirty="0"/>
                  <a:t>direct solve</a:t>
                </a:r>
                <a:r>
                  <a:rPr lang="en-US" dirty="0"/>
                  <a:t> : create a linear system of the form </a:t>
                </a:r>
                <a:r>
                  <a:rPr lang="en-US" b="1" dirty="0"/>
                  <a:t>A</a:t>
                </a:r>
                <a14:m>
                  <m:oMath xmlns:m="http://schemas.openxmlformats.org/officeDocument/2006/math">
                    <m:r>
                      <a:rPr lang="en-US" b="1" i="0" smtClean="0">
                        <a:latin typeface="Cambria Math" panose="02040503050406030204" pitchFamily="18" charset="0"/>
                      </a:rPr>
                      <m:t>𝐱</m:t>
                    </m:r>
                    <m:r>
                      <a:rPr lang="en-US" b="0" i="1" smtClean="0">
                        <a:latin typeface="Cambria Math" panose="02040503050406030204" pitchFamily="18" charset="0"/>
                      </a:rPr>
                      <m:t>=</m:t>
                    </m:r>
                    <m:r>
                      <a:rPr lang="en-US" b="1" i="0" smtClean="0">
                        <a:latin typeface="Cambria Math" panose="02040503050406030204" pitchFamily="18" charset="0"/>
                      </a:rPr>
                      <m:t>𝐛</m:t>
                    </m:r>
                  </m:oMath>
                </a14:m>
                <a:r>
                  <a:rPr lang="en-US" dirty="0"/>
                  <a:t> and solve for the new state using Gaussian elimination or something similar</a:t>
                </a:r>
              </a:p>
              <a:p>
                <a:pPr marL="514350" indent="-514350">
                  <a:buFont typeface="+mj-lt"/>
                  <a:buAutoNum type="arabicPeriod"/>
                </a:pPr>
                <a:r>
                  <a:rPr lang="en-US" i="1" dirty="0"/>
                  <a:t>iterative solve</a:t>
                </a:r>
                <a:r>
                  <a:rPr lang="en-US" dirty="0"/>
                  <a:t> : apply relaxation to the system, just like we did with the elliptic equations.</a:t>
                </a:r>
              </a:p>
              <a:p>
                <a:pPr marL="514350" indent="-514350">
                  <a:buFont typeface="+mj-lt"/>
                  <a:buAutoNum type="arabicPeriod"/>
                </a:pPr>
                <a:endParaRPr lang="en-US" dirty="0"/>
              </a:p>
              <a:p>
                <a:r>
                  <a:rPr lang="en-US" dirty="0">
                    <a:solidFill>
                      <a:srgbClr val="FF0000"/>
                    </a:solidFill>
                  </a:rPr>
                  <a:t>Note that the implicit discretization is stable for all values of </a:t>
                </a:r>
                <a14:m>
                  <m:oMath xmlns:m="http://schemas.openxmlformats.org/officeDocument/2006/math">
                    <m:r>
                      <a:rPr lang="en-US" b="0" i="1" smtClean="0">
                        <a:solidFill>
                          <a:srgbClr val="FF0000"/>
                        </a:solidFill>
                        <a:latin typeface="Cambria Math" panose="02040503050406030204" pitchFamily="18" charset="0"/>
                      </a:rPr>
                      <m:t>𝐶</m:t>
                    </m:r>
                  </m:oMath>
                </a14:m>
                <a:r>
                  <a:rPr lang="en-US" dirty="0">
                    <a:solidFill>
                      <a:srgbClr val="FF0000"/>
                    </a:solidFill>
                  </a:rPr>
                  <a:t>,  </a:t>
                </a:r>
              </a:p>
              <a:p>
                <a:pPr marL="0" indent="0">
                  <a:buNone/>
                </a:pPr>
                <a:r>
                  <a:rPr lang="en-US" dirty="0">
                    <a:solidFill>
                      <a:srgbClr val="FF0000"/>
                    </a:solidFill>
                  </a:rPr>
                  <a:t>   however stabilization is different than accuracy.  </a:t>
                </a:r>
                <a:endParaRPr lang="en-US" dirty="0"/>
              </a:p>
            </p:txBody>
          </p:sp>
        </mc:Choice>
        <mc:Fallback xmlns="">
          <p:sp>
            <p:nvSpPr>
              <p:cNvPr id="3" name="Content Placeholder 2">
                <a:extLst>
                  <a:ext uri="{FF2B5EF4-FFF2-40B4-BE49-F238E27FC236}">
                    <a16:creationId xmlns:a16="http://schemas.microsoft.com/office/drawing/2014/main" id="{15C4FD65-F675-944D-A379-3A5FFFAEB784}"/>
                  </a:ext>
                </a:extLst>
              </p:cNvPr>
              <p:cNvSpPr>
                <a:spLocks noGrp="1" noRot="1" noChangeAspect="1" noMove="1" noResize="1" noEditPoints="1" noAdjustHandles="1" noChangeArrowheads="1" noChangeShapeType="1" noTextEdit="1"/>
              </p:cNvSpPr>
              <p:nvPr>
                <p:ph idx="1"/>
              </p:nvPr>
            </p:nvSpPr>
            <p:spPr>
              <a:xfrm>
                <a:off x="838200" y="1325562"/>
                <a:ext cx="10515600" cy="5532437"/>
              </a:xfrm>
              <a:blipFill>
                <a:blip r:embed="rId3"/>
                <a:stretch>
                  <a:fillRect l="-1086" r="-483" b="-2288"/>
                </a:stretch>
              </a:blipFill>
            </p:spPr>
            <p:txBody>
              <a:bodyPr/>
              <a:lstStyle/>
              <a:p>
                <a:r>
                  <a:rPr lang="en-US">
                    <a:noFill/>
                  </a:rPr>
                  <a:t> </a:t>
                </a:r>
              </a:p>
            </p:txBody>
          </p:sp>
        </mc:Fallback>
      </mc:AlternateContent>
    </p:spTree>
    <p:extLst>
      <p:ext uri="{BB962C8B-B14F-4D97-AF65-F5344CB8AC3E}">
        <p14:creationId xmlns:p14="http://schemas.microsoft.com/office/powerpoint/2010/main" val="3497215267"/>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DCE2F9-F4C3-DA4C-B0FC-7FF6F22D148C}"/>
              </a:ext>
            </a:extLst>
          </p:cNvPr>
          <p:cNvSpPr>
            <a:spLocks noGrp="1"/>
          </p:cNvSpPr>
          <p:nvPr>
            <p:ph type="title"/>
          </p:nvPr>
        </p:nvSpPr>
        <p:spPr>
          <a:xfrm>
            <a:off x="838200" y="0"/>
            <a:ext cx="10515600" cy="1325563"/>
          </a:xfrm>
        </p:spPr>
        <p:txBody>
          <a:bodyPr/>
          <a:lstStyle/>
          <a:p>
            <a:r>
              <a:rPr lang="en-US" dirty="0"/>
              <a:t>Implicit methods: Direct solve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5C4FD65-F675-944D-A379-3A5FFFAEB784}"/>
                  </a:ext>
                </a:extLst>
              </p:cNvPr>
              <p:cNvSpPr>
                <a:spLocks noGrp="1"/>
              </p:cNvSpPr>
              <p:nvPr>
                <p:ph idx="1"/>
              </p:nvPr>
            </p:nvSpPr>
            <p:spPr>
              <a:xfrm>
                <a:off x="838200" y="1325562"/>
                <a:ext cx="10515600" cy="5532437"/>
              </a:xfrm>
            </p:spPr>
            <p:txBody>
              <a:bodyPr/>
              <a:lstStyle/>
              <a:p>
                <a:pPr marL="228600" indent="-228600" algn="l" defTabSz="914400" eaLnBrk="1" latinLnBrk="0" hangingPunct="1">
                  <a:lnSpc>
                    <a:spcPct val="90000"/>
                  </a:lnSpc>
                  <a:spcBef>
                    <a:spcPts val="1000"/>
                  </a:spcBef>
                  <a:buFont typeface="Arial" panose="020B0604020202020204" pitchFamily="34" charset="0"/>
                  <a:buChar char="•"/>
                </a:pPr>
                <a:r>
                  <a:rPr lang="en-US" dirty="0"/>
                  <a:t>Let us solve the system directly.</a:t>
                </a:r>
              </a:p>
              <a:p>
                <a:pPr marL="228600" indent="-228600" algn="l" defTabSz="914400" eaLnBrk="1" latinLnBrk="0" hangingPunct="1">
                  <a:lnSpc>
                    <a:spcPct val="90000"/>
                  </a:lnSpc>
                  <a:spcBef>
                    <a:spcPts val="1000"/>
                  </a:spcBef>
                  <a:buFont typeface="Arial" panose="020B0604020202020204" pitchFamily="34" charset="0"/>
                  <a:buChar char="•"/>
                </a:pPr>
                <a:r>
                  <a:rPr lang="en-US" dirty="0"/>
                  <a:t>In order to write down the complete set we need to formulate the boundary conditions for cells outside of the domain in the first and last equations:</a:t>
                </a:r>
              </a:p>
              <a:p>
                <a:pPr marL="0" indent="0">
                  <a:lnSpc>
                    <a:spcPct val="150000"/>
                  </a:lnSpc>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m:t>
                      </m:r>
                      <m:r>
                        <a:rPr lang="en-US" i="1">
                          <a:latin typeface="Cambria Math" panose="02040503050406030204" pitchFamily="18" charset="0"/>
                        </a:rPr>
                        <m:t>𝛼</m:t>
                      </m:r>
                      <m:sSubSup>
                        <m:sSubSupPr>
                          <m:ctrlPr>
                            <a:rPr lang="en-US" i="1">
                              <a:latin typeface="Cambria Math" panose="02040503050406030204" pitchFamily="18" charset="0"/>
                            </a:rPr>
                          </m:ctrlPr>
                        </m:sSubSupPr>
                        <m:e>
                          <m:r>
                            <a:rPr lang="en-US" i="1">
                              <a:latin typeface="Cambria Math" panose="02040503050406030204" pitchFamily="18" charset="0"/>
                            </a:rPr>
                            <m:t>𝜙</m:t>
                          </m:r>
                        </m:e>
                        <m:sub>
                          <m:r>
                            <a:rPr lang="en-US" b="0" i="1" smtClean="0">
                              <a:latin typeface="Cambria Math" panose="02040503050406030204" pitchFamily="18" charset="0"/>
                            </a:rPr>
                            <m:t>𝑙𝑜</m:t>
                          </m:r>
                          <m:r>
                            <a:rPr lang="en-US" i="1">
                              <a:latin typeface="Cambria Math" panose="02040503050406030204" pitchFamily="18" charset="0"/>
                            </a:rPr>
                            <m:t>+1</m:t>
                          </m:r>
                        </m:sub>
                        <m:sup>
                          <m:r>
                            <a:rPr lang="en-US" i="1">
                              <a:latin typeface="Cambria Math" panose="02040503050406030204" pitchFamily="18" charset="0"/>
                            </a:rPr>
                            <m:t>𝑛</m:t>
                          </m:r>
                          <m:r>
                            <a:rPr lang="en-US" i="1">
                              <a:latin typeface="Cambria Math" panose="02040503050406030204" pitchFamily="18" charset="0"/>
                            </a:rPr>
                            <m:t>+1</m:t>
                          </m:r>
                        </m:sup>
                      </m:sSubSup>
                      <m:r>
                        <a:rPr lang="en-US" i="1">
                          <a:latin typeface="Cambria Math" panose="02040503050406030204" pitchFamily="18" charset="0"/>
                        </a:rPr>
                        <m:t>+(1+2</m:t>
                      </m:r>
                      <m:r>
                        <a:rPr lang="en-US" i="1">
                          <a:latin typeface="Cambria Math" panose="02040503050406030204" pitchFamily="18" charset="0"/>
                        </a:rPr>
                        <m:t>𝛼</m:t>
                      </m:r>
                      <m:r>
                        <a:rPr lang="en-US" i="1">
                          <a:latin typeface="Cambria Math" panose="02040503050406030204" pitchFamily="18" charset="0"/>
                        </a:rPr>
                        <m:t>)</m:t>
                      </m:r>
                      <m:sSubSup>
                        <m:sSubSupPr>
                          <m:ctrlPr>
                            <a:rPr lang="en-US" i="1">
                              <a:latin typeface="Cambria Math" panose="02040503050406030204" pitchFamily="18" charset="0"/>
                            </a:rPr>
                          </m:ctrlPr>
                        </m:sSubSupPr>
                        <m:e>
                          <m:sSubSup>
                            <m:sSubSupPr>
                              <m:ctrlPr>
                                <a:rPr lang="en-US" i="1">
                                  <a:latin typeface="Cambria Math" panose="02040503050406030204" pitchFamily="18" charset="0"/>
                                </a:rPr>
                              </m:ctrlPr>
                            </m:sSubSupPr>
                            <m:e>
                              <m:r>
                                <a:rPr lang="en-US" i="1">
                                  <a:latin typeface="Cambria Math" panose="02040503050406030204" pitchFamily="18" charset="0"/>
                                </a:rPr>
                                <m:t>𝜙</m:t>
                              </m:r>
                            </m:e>
                            <m:sub>
                              <m:r>
                                <a:rPr lang="en-US" b="0" i="1" smtClean="0">
                                  <a:latin typeface="Cambria Math" panose="02040503050406030204" pitchFamily="18" charset="0"/>
                                </a:rPr>
                                <m:t>𝑙𝑜</m:t>
                              </m:r>
                            </m:sub>
                            <m:sup>
                              <m:r>
                                <a:rPr lang="en-US" i="1">
                                  <a:latin typeface="Cambria Math" panose="02040503050406030204" pitchFamily="18" charset="0"/>
                                </a:rPr>
                                <m:t>𝑛</m:t>
                              </m:r>
                              <m:r>
                                <a:rPr lang="en-US" i="1">
                                  <a:latin typeface="Cambria Math" panose="02040503050406030204" pitchFamily="18" charset="0"/>
                                </a:rPr>
                                <m:t>+1</m:t>
                              </m:r>
                            </m:sup>
                          </m:sSubSup>
                          <m:r>
                            <a:rPr lang="en-US" i="1">
                              <a:latin typeface="Cambria Math" panose="02040503050406030204" pitchFamily="18" charset="0"/>
                            </a:rPr>
                            <m:t>−</m:t>
                          </m:r>
                          <m:r>
                            <a:rPr lang="en-US" i="1">
                              <a:latin typeface="Cambria Math" panose="02040503050406030204" pitchFamily="18" charset="0"/>
                            </a:rPr>
                            <m:t>𝛼</m:t>
                          </m:r>
                          <m:sSubSup>
                            <m:sSubSupPr>
                              <m:ctrlPr>
                                <a:rPr lang="en-US" i="1" smtClean="0">
                                  <a:solidFill>
                                    <a:srgbClr val="FF0000"/>
                                  </a:solidFill>
                                  <a:latin typeface="Cambria Math" panose="02040503050406030204" pitchFamily="18" charset="0"/>
                                </a:rPr>
                              </m:ctrlPr>
                            </m:sSubSupPr>
                            <m:e>
                              <m:r>
                                <a:rPr lang="en-US" i="1">
                                  <a:solidFill>
                                    <a:srgbClr val="FF0000"/>
                                  </a:solidFill>
                                  <a:latin typeface="Cambria Math" panose="02040503050406030204" pitchFamily="18" charset="0"/>
                                </a:rPr>
                                <m:t>𝜙</m:t>
                              </m:r>
                            </m:e>
                            <m:sub>
                              <m:r>
                                <a:rPr lang="en-US" b="0" i="1" smtClean="0">
                                  <a:solidFill>
                                    <a:srgbClr val="FF0000"/>
                                  </a:solidFill>
                                  <a:latin typeface="Cambria Math" panose="02040503050406030204" pitchFamily="18" charset="0"/>
                                </a:rPr>
                                <m:t>𝑙𝑜</m:t>
                              </m:r>
                              <m:r>
                                <a:rPr lang="en-US" i="1">
                                  <a:solidFill>
                                    <a:srgbClr val="FF0000"/>
                                  </a:solidFill>
                                  <a:latin typeface="Cambria Math" panose="02040503050406030204" pitchFamily="18" charset="0"/>
                                </a:rPr>
                                <m:t>−1</m:t>
                              </m:r>
                            </m:sub>
                            <m:sup>
                              <m:r>
                                <a:rPr lang="en-US" i="1">
                                  <a:solidFill>
                                    <a:srgbClr val="FF0000"/>
                                  </a:solidFill>
                                  <a:latin typeface="Cambria Math" panose="02040503050406030204" pitchFamily="18" charset="0"/>
                                </a:rPr>
                                <m:t>𝑛</m:t>
                              </m:r>
                              <m:r>
                                <a:rPr lang="en-US" i="1">
                                  <a:solidFill>
                                    <a:srgbClr val="FF0000"/>
                                  </a:solidFill>
                                  <a:latin typeface="Cambria Math" panose="02040503050406030204" pitchFamily="18" charset="0"/>
                                </a:rPr>
                                <m:t>+1</m:t>
                              </m:r>
                            </m:sup>
                          </m:sSubSup>
                          <m:r>
                            <a:rPr lang="en-US" i="1">
                              <a:latin typeface="Cambria Math" panose="02040503050406030204" pitchFamily="18" charset="0"/>
                            </a:rPr>
                            <m:t>=</m:t>
                          </m:r>
                          <m:r>
                            <a:rPr lang="en-US" i="1">
                              <a:latin typeface="Cambria Math" panose="02040503050406030204" pitchFamily="18" charset="0"/>
                            </a:rPr>
                            <m:t>𝜙</m:t>
                          </m:r>
                        </m:e>
                        <m:sub>
                          <m:r>
                            <a:rPr lang="en-US" b="0" i="1" smtClean="0">
                              <a:latin typeface="Cambria Math" panose="02040503050406030204" pitchFamily="18" charset="0"/>
                            </a:rPr>
                            <m:t>𝑙𝑜</m:t>
                          </m:r>
                        </m:sub>
                        <m:sup>
                          <m:r>
                            <a:rPr lang="en-US" i="1">
                              <a:latin typeface="Cambria Math" panose="02040503050406030204" pitchFamily="18" charset="0"/>
                            </a:rPr>
                            <m:t>𝑛</m:t>
                          </m:r>
                        </m:sup>
                      </m:sSubSup>
                    </m:oMath>
                  </m:oMathPara>
                </a14:m>
                <a:endParaRPr lang="en-US" dirty="0"/>
              </a:p>
              <a:p>
                <a:pPr marL="0" indent="0">
                  <a:lnSpc>
                    <a:spcPct val="150000"/>
                  </a:lnSpc>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m:t>
                      </m:r>
                      <m:r>
                        <a:rPr lang="en-US" i="1">
                          <a:latin typeface="Cambria Math" panose="02040503050406030204" pitchFamily="18" charset="0"/>
                        </a:rPr>
                        <m:t>𝛼</m:t>
                      </m:r>
                      <m:sSubSup>
                        <m:sSubSupPr>
                          <m:ctrlPr>
                            <a:rPr lang="en-US" i="1" smtClean="0">
                              <a:solidFill>
                                <a:srgbClr val="FF0000"/>
                              </a:solidFill>
                              <a:latin typeface="Cambria Math" panose="02040503050406030204" pitchFamily="18" charset="0"/>
                            </a:rPr>
                          </m:ctrlPr>
                        </m:sSubSupPr>
                        <m:e>
                          <m:r>
                            <a:rPr lang="en-US" i="1">
                              <a:solidFill>
                                <a:srgbClr val="FF0000"/>
                              </a:solidFill>
                              <a:latin typeface="Cambria Math" panose="02040503050406030204" pitchFamily="18" charset="0"/>
                            </a:rPr>
                            <m:t>𝜙</m:t>
                          </m:r>
                        </m:e>
                        <m:sub>
                          <m:r>
                            <a:rPr lang="en-US" b="0" i="1" smtClean="0">
                              <a:solidFill>
                                <a:srgbClr val="FF0000"/>
                              </a:solidFill>
                              <a:latin typeface="Cambria Math" panose="02040503050406030204" pitchFamily="18" charset="0"/>
                            </a:rPr>
                            <m:t>h𝑖</m:t>
                          </m:r>
                          <m:r>
                            <a:rPr lang="en-US" i="1">
                              <a:solidFill>
                                <a:srgbClr val="FF0000"/>
                              </a:solidFill>
                              <a:latin typeface="Cambria Math" panose="02040503050406030204" pitchFamily="18" charset="0"/>
                            </a:rPr>
                            <m:t>+1</m:t>
                          </m:r>
                        </m:sub>
                        <m:sup>
                          <m:r>
                            <a:rPr lang="en-US" i="1">
                              <a:solidFill>
                                <a:srgbClr val="FF0000"/>
                              </a:solidFill>
                              <a:latin typeface="Cambria Math" panose="02040503050406030204" pitchFamily="18" charset="0"/>
                            </a:rPr>
                            <m:t>𝑛</m:t>
                          </m:r>
                          <m:r>
                            <a:rPr lang="en-US" i="1">
                              <a:solidFill>
                                <a:srgbClr val="FF0000"/>
                              </a:solidFill>
                              <a:latin typeface="Cambria Math" panose="02040503050406030204" pitchFamily="18" charset="0"/>
                            </a:rPr>
                            <m:t>+1</m:t>
                          </m:r>
                        </m:sup>
                      </m:sSubSup>
                      <m:r>
                        <a:rPr lang="en-US" i="1">
                          <a:latin typeface="Cambria Math" panose="02040503050406030204" pitchFamily="18" charset="0"/>
                        </a:rPr>
                        <m:t>+(1+2</m:t>
                      </m:r>
                      <m:r>
                        <a:rPr lang="en-US" i="1">
                          <a:latin typeface="Cambria Math" panose="02040503050406030204" pitchFamily="18" charset="0"/>
                        </a:rPr>
                        <m:t>𝛼</m:t>
                      </m:r>
                      <m:r>
                        <a:rPr lang="en-US" i="1">
                          <a:latin typeface="Cambria Math" panose="02040503050406030204" pitchFamily="18" charset="0"/>
                        </a:rPr>
                        <m:t>)</m:t>
                      </m:r>
                      <m:sSubSup>
                        <m:sSubSupPr>
                          <m:ctrlPr>
                            <a:rPr lang="en-US" i="1">
                              <a:latin typeface="Cambria Math" panose="02040503050406030204" pitchFamily="18" charset="0"/>
                            </a:rPr>
                          </m:ctrlPr>
                        </m:sSubSupPr>
                        <m:e>
                          <m:sSubSup>
                            <m:sSubSupPr>
                              <m:ctrlPr>
                                <a:rPr lang="en-US" i="1">
                                  <a:latin typeface="Cambria Math" panose="02040503050406030204" pitchFamily="18" charset="0"/>
                                </a:rPr>
                              </m:ctrlPr>
                            </m:sSubSupPr>
                            <m:e>
                              <m:r>
                                <a:rPr lang="en-US" i="1">
                                  <a:latin typeface="Cambria Math" panose="02040503050406030204" pitchFamily="18" charset="0"/>
                                </a:rPr>
                                <m:t>𝜙</m:t>
                              </m:r>
                            </m:e>
                            <m:sub>
                              <m:r>
                                <a:rPr lang="en-US" b="0" i="1" smtClean="0">
                                  <a:latin typeface="Cambria Math" panose="02040503050406030204" pitchFamily="18" charset="0"/>
                                </a:rPr>
                                <m:t>h𝑖</m:t>
                              </m:r>
                            </m:sub>
                            <m:sup>
                              <m:r>
                                <a:rPr lang="en-US" i="1">
                                  <a:latin typeface="Cambria Math" panose="02040503050406030204" pitchFamily="18" charset="0"/>
                                </a:rPr>
                                <m:t>𝑛</m:t>
                              </m:r>
                              <m:r>
                                <a:rPr lang="en-US" i="1">
                                  <a:latin typeface="Cambria Math" panose="02040503050406030204" pitchFamily="18" charset="0"/>
                                </a:rPr>
                                <m:t>+1</m:t>
                              </m:r>
                            </m:sup>
                          </m:sSubSup>
                          <m:r>
                            <a:rPr lang="en-US" i="1">
                              <a:latin typeface="Cambria Math" panose="02040503050406030204" pitchFamily="18" charset="0"/>
                            </a:rPr>
                            <m:t>−</m:t>
                          </m:r>
                          <m:r>
                            <a:rPr lang="en-US" i="1">
                              <a:latin typeface="Cambria Math" panose="02040503050406030204" pitchFamily="18" charset="0"/>
                            </a:rPr>
                            <m:t>𝛼</m:t>
                          </m:r>
                          <m:sSubSup>
                            <m:sSubSupPr>
                              <m:ctrlPr>
                                <a:rPr lang="en-US" i="1">
                                  <a:latin typeface="Cambria Math" panose="02040503050406030204" pitchFamily="18" charset="0"/>
                                </a:rPr>
                              </m:ctrlPr>
                            </m:sSubSupPr>
                            <m:e>
                              <m:r>
                                <a:rPr lang="en-US" i="1">
                                  <a:latin typeface="Cambria Math" panose="02040503050406030204" pitchFamily="18" charset="0"/>
                                </a:rPr>
                                <m:t>𝜙</m:t>
                              </m:r>
                            </m:e>
                            <m:sub>
                              <m:r>
                                <a:rPr lang="en-US" b="0" i="1" smtClean="0">
                                  <a:latin typeface="Cambria Math" panose="02040503050406030204" pitchFamily="18" charset="0"/>
                                </a:rPr>
                                <m:t>h𝑖</m:t>
                              </m:r>
                              <m:r>
                                <a:rPr lang="en-US" i="1">
                                  <a:latin typeface="Cambria Math" panose="02040503050406030204" pitchFamily="18" charset="0"/>
                                </a:rPr>
                                <m:t>−1</m:t>
                              </m:r>
                            </m:sub>
                            <m:sup>
                              <m:r>
                                <a:rPr lang="en-US" i="1">
                                  <a:latin typeface="Cambria Math" panose="02040503050406030204" pitchFamily="18" charset="0"/>
                                </a:rPr>
                                <m:t>𝑛</m:t>
                              </m:r>
                              <m:r>
                                <a:rPr lang="en-US" i="1">
                                  <a:latin typeface="Cambria Math" panose="02040503050406030204" pitchFamily="18" charset="0"/>
                                </a:rPr>
                                <m:t>+1</m:t>
                              </m:r>
                            </m:sup>
                          </m:sSubSup>
                          <m:r>
                            <a:rPr lang="en-US" i="1">
                              <a:latin typeface="Cambria Math" panose="02040503050406030204" pitchFamily="18" charset="0"/>
                            </a:rPr>
                            <m:t>=</m:t>
                          </m:r>
                          <m:r>
                            <a:rPr lang="en-US" i="1">
                              <a:latin typeface="Cambria Math" panose="02040503050406030204" pitchFamily="18" charset="0"/>
                            </a:rPr>
                            <m:t>𝜙</m:t>
                          </m:r>
                        </m:e>
                        <m:sub>
                          <m:r>
                            <a:rPr lang="en-US" b="0" i="1" smtClean="0">
                              <a:latin typeface="Cambria Math" panose="02040503050406030204" pitchFamily="18" charset="0"/>
                            </a:rPr>
                            <m:t>h𝑖</m:t>
                          </m:r>
                        </m:sub>
                        <m:sup>
                          <m:r>
                            <a:rPr lang="en-US" i="1">
                              <a:latin typeface="Cambria Math" panose="02040503050406030204" pitchFamily="18" charset="0"/>
                            </a:rPr>
                            <m:t>𝑛</m:t>
                          </m:r>
                        </m:sup>
                      </m:sSubSup>
                    </m:oMath>
                  </m:oMathPara>
                </a14:m>
                <a:endParaRPr lang="en-US" dirty="0"/>
              </a:p>
            </p:txBody>
          </p:sp>
        </mc:Choice>
        <mc:Fallback xmlns="">
          <p:sp>
            <p:nvSpPr>
              <p:cNvPr id="3" name="Content Placeholder 2">
                <a:extLst>
                  <a:ext uri="{FF2B5EF4-FFF2-40B4-BE49-F238E27FC236}">
                    <a16:creationId xmlns:a16="http://schemas.microsoft.com/office/drawing/2014/main" id="{15C4FD65-F675-944D-A379-3A5FFFAEB784}"/>
                  </a:ext>
                </a:extLst>
              </p:cNvPr>
              <p:cNvSpPr>
                <a:spLocks noGrp="1" noRot="1" noChangeAspect="1" noMove="1" noResize="1" noEditPoints="1" noAdjustHandles="1" noChangeArrowheads="1" noChangeShapeType="1" noTextEdit="1"/>
              </p:cNvSpPr>
              <p:nvPr>
                <p:ph idx="1"/>
              </p:nvPr>
            </p:nvSpPr>
            <p:spPr>
              <a:xfrm>
                <a:off x="838200" y="1325562"/>
                <a:ext cx="10515600" cy="5532437"/>
              </a:xfrm>
              <a:blipFill>
                <a:blip r:embed="rId2"/>
                <a:stretch>
                  <a:fillRect l="-965" t="-1602"/>
                </a:stretch>
              </a:blipFill>
            </p:spPr>
            <p:txBody>
              <a:bodyPr/>
              <a:lstStyle/>
              <a:p>
                <a:r>
                  <a:rPr lang="en-US">
                    <a:noFill/>
                  </a:rPr>
                  <a:t> </a:t>
                </a:r>
              </a:p>
            </p:txBody>
          </p:sp>
        </mc:Fallback>
      </mc:AlternateContent>
      <p:sp>
        <p:nvSpPr>
          <p:cNvPr id="4" name="TextBox 3">
            <a:extLst>
              <a:ext uri="{FF2B5EF4-FFF2-40B4-BE49-F238E27FC236}">
                <a16:creationId xmlns:a16="http://schemas.microsoft.com/office/drawing/2014/main" id="{7C44D93A-9940-5145-A31C-0532CCD7737B}"/>
              </a:ext>
            </a:extLst>
          </p:cNvPr>
          <p:cNvSpPr txBox="1"/>
          <p:nvPr/>
        </p:nvSpPr>
        <p:spPr>
          <a:xfrm>
            <a:off x="9735670" y="3654260"/>
            <a:ext cx="1068113" cy="646331"/>
          </a:xfrm>
          <a:prstGeom prst="rect">
            <a:avLst/>
          </a:prstGeom>
          <a:noFill/>
          <a:ln w="19050">
            <a:solidFill>
              <a:srgbClr val="FF0000"/>
            </a:solidFill>
          </a:ln>
        </p:spPr>
        <p:txBody>
          <a:bodyPr wrap="none" rtlCol="0">
            <a:spAutoFit/>
          </a:bodyPr>
          <a:lstStyle/>
          <a:p>
            <a:pPr algn="ctr"/>
            <a:r>
              <a:rPr lang="en-US" dirty="0">
                <a:solidFill>
                  <a:srgbClr val="FF0000"/>
                </a:solidFill>
              </a:rPr>
              <a:t>left ghost</a:t>
            </a:r>
          </a:p>
          <a:p>
            <a:pPr algn="ctr"/>
            <a:r>
              <a:rPr lang="en-US" dirty="0">
                <a:solidFill>
                  <a:srgbClr val="FF0000"/>
                </a:solidFill>
              </a:rPr>
              <a:t>cell</a:t>
            </a:r>
          </a:p>
        </p:txBody>
      </p:sp>
      <p:cxnSp>
        <p:nvCxnSpPr>
          <p:cNvPr id="6" name="Straight Arrow Connector 5">
            <a:extLst>
              <a:ext uri="{FF2B5EF4-FFF2-40B4-BE49-F238E27FC236}">
                <a16:creationId xmlns:a16="http://schemas.microsoft.com/office/drawing/2014/main" id="{8209CE9D-6505-0241-9CEC-EEDE4185E2A3}"/>
              </a:ext>
            </a:extLst>
          </p:cNvPr>
          <p:cNvCxnSpPr>
            <a:cxnSpLocks/>
            <a:stCxn id="4" idx="1"/>
          </p:cNvCxnSpPr>
          <p:nvPr/>
        </p:nvCxnSpPr>
        <p:spPr>
          <a:xfrm flipH="1" flipV="1">
            <a:off x="8261874" y="3641760"/>
            <a:ext cx="1473796" cy="335666"/>
          </a:xfrm>
          <a:prstGeom prst="straightConnector1">
            <a:avLst/>
          </a:prstGeom>
          <a:ln w="19050">
            <a:solidFill>
              <a:srgbClr val="FF0000"/>
            </a:solidFill>
            <a:tailEnd type="triangle" w="lg" len="lg"/>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28EA31DC-D085-F84D-AE5D-607C52408A1C}"/>
              </a:ext>
            </a:extLst>
          </p:cNvPr>
          <p:cNvSpPr txBox="1"/>
          <p:nvPr/>
        </p:nvSpPr>
        <p:spPr>
          <a:xfrm>
            <a:off x="1148317" y="3294461"/>
            <a:ext cx="1202198" cy="646331"/>
          </a:xfrm>
          <a:prstGeom prst="rect">
            <a:avLst/>
          </a:prstGeom>
          <a:noFill/>
          <a:ln w="19050">
            <a:solidFill>
              <a:srgbClr val="FF0000"/>
            </a:solidFill>
          </a:ln>
        </p:spPr>
        <p:txBody>
          <a:bodyPr wrap="square" rtlCol="0">
            <a:spAutoFit/>
          </a:bodyPr>
          <a:lstStyle/>
          <a:p>
            <a:pPr algn="ctr"/>
            <a:r>
              <a:rPr lang="en-US" dirty="0">
                <a:solidFill>
                  <a:srgbClr val="FF0000"/>
                </a:solidFill>
              </a:rPr>
              <a:t>right ghost</a:t>
            </a:r>
          </a:p>
          <a:p>
            <a:pPr algn="ctr"/>
            <a:r>
              <a:rPr lang="en-US" dirty="0">
                <a:solidFill>
                  <a:srgbClr val="FF0000"/>
                </a:solidFill>
              </a:rPr>
              <a:t>cell</a:t>
            </a:r>
          </a:p>
        </p:txBody>
      </p:sp>
      <p:cxnSp>
        <p:nvCxnSpPr>
          <p:cNvPr id="11" name="Straight Arrow Connector 10">
            <a:extLst>
              <a:ext uri="{FF2B5EF4-FFF2-40B4-BE49-F238E27FC236}">
                <a16:creationId xmlns:a16="http://schemas.microsoft.com/office/drawing/2014/main" id="{9D15A9DE-F163-CC40-B087-DD16B525F5AB}"/>
              </a:ext>
            </a:extLst>
          </p:cNvPr>
          <p:cNvCxnSpPr>
            <a:cxnSpLocks/>
            <a:stCxn id="7" idx="3"/>
          </p:cNvCxnSpPr>
          <p:nvPr/>
        </p:nvCxnSpPr>
        <p:spPr>
          <a:xfrm>
            <a:off x="2350515" y="3617627"/>
            <a:ext cx="1081174" cy="323165"/>
          </a:xfrm>
          <a:prstGeom prst="straightConnector1">
            <a:avLst/>
          </a:prstGeom>
          <a:ln w="19050">
            <a:solidFill>
              <a:srgbClr val="FF0000"/>
            </a:solidFill>
            <a:tailEnd type="triangle" w="lg" len="lg"/>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78740856"/>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DCE2F9-F4C3-DA4C-B0FC-7FF6F22D148C}"/>
              </a:ext>
            </a:extLst>
          </p:cNvPr>
          <p:cNvSpPr>
            <a:spLocks noGrp="1"/>
          </p:cNvSpPr>
          <p:nvPr>
            <p:ph type="title"/>
          </p:nvPr>
        </p:nvSpPr>
        <p:spPr>
          <a:xfrm>
            <a:off x="838200" y="0"/>
            <a:ext cx="10515600" cy="1325563"/>
          </a:xfrm>
        </p:spPr>
        <p:txBody>
          <a:bodyPr/>
          <a:lstStyle/>
          <a:p>
            <a:r>
              <a:rPr lang="en-US" dirty="0"/>
              <a:t>Implicit methods: Direct solve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5C4FD65-F675-944D-A379-3A5FFFAEB784}"/>
                  </a:ext>
                </a:extLst>
              </p:cNvPr>
              <p:cNvSpPr>
                <a:spLocks noGrp="1"/>
              </p:cNvSpPr>
              <p:nvPr>
                <p:ph idx="1"/>
              </p:nvPr>
            </p:nvSpPr>
            <p:spPr>
              <a:xfrm>
                <a:off x="838200" y="1325562"/>
                <a:ext cx="10515600" cy="5532437"/>
              </a:xfrm>
            </p:spPr>
            <p:txBody>
              <a:bodyPr/>
              <a:lstStyle/>
              <a:p>
                <a:pPr marL="0" indent="0">
                  <a:lnSpc>
                    <a:spcPct val="150000"/>
                  </a:lnSpc>
                  <a:buNone/>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m:t>
                      </m:r>
                      <m:r>
                        <a:rPr lang="en-US" i="1" smtClean="0">
                          <a:latin typeface="Cambria Math" panose="02040503050406030204" pitchFamily="18" charset="0"/>
                        </a:rPr>
                        <m:t>𝛼</m:t>
                      </m:r>
                      <m:sSubSup>
                        <m:sSubSupPr>
                          <m:ctrlPr>
                            <a:rPr lang="en-US" i="1">
                              <a:latin typeface="Cambria Math" panose="02040503050406030204" pitchFamily="18" charset="0"/>
                            </a:rPr>
                          </m:ctrlPr>
                        </m:sSubSupPr>
                        <m:e>
                          <m:r>
                            <a:rPr lang="en-US" i="1">
                              <a:latin typeface="Cambria Math" panose="02040503050406030204" pitchFamily="18" charset="0"/>
                            </a:rPr>
                            <m:t>𝜙</m:t>
                          </m:r>
                        </m:e>
                        <m:sub>
                          <m:r>
                            <a:rPr lang="en-US" b="0" i="1" smtClean="0">
                              <a:latin typeface="Cambria Math" panose="02040503050406030204" pitchFamily="18" charset="0"/>
                            </a:rPr>
                            <m:t>𝑙𝑜</m:t>
                          </m:r>
                          <m:r>
                            <a:rPr lang="en-US" i="1">
                              <a:latin typeface="Cambria Math" panose="02040503050406030204" pitchFamily="18" charset="0"/>
                            </a:rPr>
                            <m:t>+1</m:t>
                          </m:r>
                        </m:sub>
                        <m:sup>
                          <m:r>
                            <a:rPr lang="en-US" i="1">
                              <a:latin typeface="Cambria Math" panose="02040503050406030204" pitchFamily="18" charset="0"/>
                            </a:rPr>
                            <m:t>𝑛</m:t>
                          </m:r>
                          <m:r>
                            <a:rPr lang="en-US" i="1">
                              <a:latin typeface="Cambria Math" panose="02040503050406030204" pitchFamily="18" charset="0"/>
                            </a:rPr>
                            <m:t>+1</m:t>
                          </m:r>
                        </m:sup>
                      </m:sSubSup>
                      <m:r>
                        <a:rPr lang="en-US" i="1">
                          <a:latin typeface="Cambria Math" panose="02040503050406030204" pitchFamily="18" charset="0"/>
                        </a:rPr>
                        <m:t>+(1+2</m:t>
                      </m:r>
                      <m:r>
                        <a:rPr lang="en-US" i="1">
                          <a:latin typeface="Cambria Math" panose="02040503050406030204" pitchFamily="18" charset="0"/>
                        </a:rPr>
                        <m:t>𝛼</m:t>
                      </m:r>
                      <m:r>
                        <a:rPr lang="en-US" i="1">
                          <a:latin typeface="Cambria Math" panose="02040503050406030204" pitchFamily="18" charset="0"/>
                        </a:rPr>
                        <m:t>)</m:t>
                      </m:r>
                      <m:sSubSup>
                        <m:sSubSupPr>
                          <m:ctrlPr>
                            <a:rPr lang="en-US" i="1">
                              <a:latin typeface="Cambria Math" panose="02040503050406030204" pitchFamily="18" charset="0"/>
                            </a:rPr>
                          </m:ctrlPr>
                        </m:sSubSupPr>
                        <m:e>
                          <m:sSubSup>
                            <m:sSubSupPr>
                              <m:ctrlPr>
                                <a:rPr lang="en-US" i="1">
                                  <a:latin typeface="Cambria Math" panose="02040503050406030204" pitchFamily="18" charset="0"/>
                                </a:rPr>
                              </m:ctrlPr>
                            </m:sSubSupPr>
                            <m:e>
                              <m:r>
                                <a:rPr lang="en-US" i="1">
                                  <a:latin typeface="Cambria Math" panose="02040503050406030204" pitchFamily="18" charset="0"/>
                                </a:rPr>
                                <m:t>𝜙</m:t>
                              </m:r>
                            </m:e>
                            <m:sub>
                              <m:r>
                                <a:rPr lang="en-US" b="0" i="1" smtClean="0">
                                  <a:latin typeface="Cambria Math" panose="02040503050406030204" pitchFamily="18" charset="0"/>
                                </a:rPr>
                                <m:t>𝑙𝑜</m:t>
                              </m:r>
                            </m:sub>
                            <m:sup>
                              <m:r>
                                <a:rPr lang="en-US" i="1">
                                  <a:latin typeface="Cambria Math" panose="02040503050406030204" pitchFamily="18" charset="0"/>
                                </a:rPr>
                                <m:t>𝑛</m:t>
                              </m:r>
                              <m:r>
                                <a:rPr lang="en-US" i="1">
                                  <a:latin typeface="Cambria Math" panose="02040503050406030204" pitchFamily="18" charset="0"/>
                                </a:rPr>
                                <m:t>+1</m:t>
                              </m:r>
                            </m:sup>
                          </m:sSubSup>
                          <m:r>
                            <a:rPr lang="en-US" i="1">
                              <a:latin typeface="Cambria Math" panose="02040503050406030204" pitchFamily="18" charset="0"/>
                            </a:rPr>
                            <m:t>−</m:t>
                          </m:r>
                          <m:r>
                            <a:rPr lang="en-US" i="1">
                              <a:latin typeface="Cambria Math" panose="02040503050406030204" pitchFamily="18" charset="0"/>
                            </a:rPr>
                            <m:t>𝛼</m:t>
                          </m:r>
                          <m:sSubSup>
                            <m:sSubSupPr>
                              <m:ctrlPr>
                                <a:rPr lang="en-US" i="1" smtClean="0">
                                  <a:solidFill>
                                    <a:srgbClr val="FF0000"/>
                                  </a:solidFill>
                                  <a:latin typeface="Cambria Math" panose="02040503050406030204" pitchFamily="18" charset="0"/>
                                </a:rPr>
                              </m:ctrlPr>
                            </m:sSubSupPr>
                            <m:e>
                              <m:r>
                                <a:rPr lang="en-US" i="1">
                                  <a:solidFill>
                                    <a:srgbClr val="FF0000"/>
                                  </a:solidFill>
                                  <a:latin typeface="Cambria Math" panose="02040503050406030204" pitchFamily="18" charset="0"/>
                                </a:rPr>
                                <m:t>𝜙</m:t>
                              </m:r>
                            </m:e>
                            <m:sub>
                              <m:r>
                                <a:rPr lang="en-US" b="0" i="1" smtClean="0">
                                  <a:solidFill>
                                    <a:srgbClr val="FF0000"/>
                                  </a:solidFill>
                                  <a:latin typeface="Cambria Math" panose="02040503050406030204" pitchFamily="18" charset="0"/>
                                </a:rPr>
                                <m:t>𝑙𝑜</m:t>
                              </m:r>
                              <m:r>
                                <a:rPr lang="en-US" i="1">
                                  <a:solidFill>
                                    <a:srgbClr val="FF0000"/>
                                  </a:solidFill>
                                  <a:latin typeface="Cambria Math" panose="02040503050406030204" pitchFamily="18" charset="0"/>
                                </a:rPr>
                                <m:t>−1</m:t>
                              </m:r>
                            </m:sub>
                            <m:sup>
                              <m:r>
                                <a:rPr lang="en-US" i="1">
                                  <a:solidFill>
                                    <a:srgbClr val="FF0000"/>
                                  </a:solidFill>
                                  <a:latin typeface="Cambria Math" panose="02040503050406030204" pitchFamily="18" charset="0"/>
                                </a:rPr>
                                <m:t>𝑛</m:t>
                              </m:r>
                              <m:r>
                                <a:rPr lang="en-US" i="1">
                                  <a:solidFill>
                                    <a:srgbClr val="FF0000"/>
                                  </a:solidFill>
                                  <a:latin typeface="Cambria Math" panose="02040503050406030204" pitchFamily="18" charset="0"/>
                                </a:rPr>
                                <m:t>+1</m:t>
                              </m:r>
                            </m:sup>
                          </m:sSubSup>
                          <m:r>
                            <a:rPr lang="en-US" i="1">
                              <a:latin typeface="Cambria Math" panose="02040503050406030204" pitchFamily="18" charset="0"/>
                            </a:rPr>
                            <m:t>=</m:t>
                          </m:r>
                          <m:r>
                            <a:rPr lang="en-US" i="1">
                              <a:latin typeface="Cambria Math" panose="02040503050406030204" pitchFamily="18" charset="0"/>
                            </a:rPr>
                            <m:t>𝜙</m:t>
                          </m:r>
                        </m:e>
                        <m:sub>
                          <m:r>
                            <a:rPr lang="en-US" b="0" i="1" smtClean="0">
                              <a:latin typeface="Cambria Math" panose="02040503050406030204" pitchFamily="18" charset="0"/>
                            </a:rPr>
                            <m:t>𝑙𝑜</m:t>
                          </m:r>
                        </m:sub>
                        <m:sup>
                          <m:r>
                            <a:rPr lang="en-US" i="1">
                              <a:latin typeface="Cambria Math" panose="02040503050406030204" pitchFamily="18" charset="0"/>
                            </a:rPr>
                            <m:t>𝑛</m:t>
                          </m:r>
                        </m:sup>
                      </m:sSubSup>
                    </m:oMath>
                  </m:oMathPara>
                </a14:m>
                <a:endParaRPr lang="en-US" dirty="0"/>
              </a:p>
              <a:p>
                <a:pPr marL="0" indent="0">
                  <a:lnSpc>
                    <a:spcPct val="150000"/>
                  </a:lnSpc>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m:t>
                      </m:r>
                      <m:r>
                        <a:rPr lang="en-US" i="1">
                          <a:latin typeface="Cambria Math" panose="02040503050406030204" pitchFamily="18" charset="0"/>
                        </a:rPr>
                        <m:t>𝛼</m:t>
                      </m:r>
                      <m:sSubSup>
                        <m:sSubSupPr>
                          <m:ctrlPr>
                            <a:rPr lang="en-US" i="1" smtClean="0">
                              <a:solidFill>
                                <a:srgbClr val="FF0000"/>
                              </a:solidFill>
                              <a:latin typeface="Cambria Math" panose="02040503050406030204" pitchFamily="18" charset="0"/>
                            </a:rPr>
                          </m:ctrlPr>
                        </m:sSubSupPr>
                        <m:e>
                          <m:r>
                            <a:rPr lang="en-US" i="1">
                              <a:solidFill>
                                <a:srgbClr val="FF0000"/>
                              </a:solidFill>
                              <a:latin typeface="Cambria Math" panose="02040503050406030204" pitchFamily="18" charset="0"/>
                            </a:rPr>
                            <m:t>𝜙</m:t>
                          </m:r>
                        </m:e>
                        <m:sub>
                          <m:r>
                            <a:rPr lang="en-US" b="0" i="1" smtClean="0">
                              <a:solidFill>
                                <a:srgbClr val="FF0000"/>
                              </a:solidFill>
                              <a:latin typeface="Cambria Math" panose="02040503050406030204" pitchFamily="18" charset="0"/>
                            </a:rPr>
                            <m:t>h𝑖</m:t>
                          </m:r>
                          <m:r>
                            <a:rPr lang="en-US" i="1">
                              <a:solidFill>
                                <a:srgbClr val="FF0000"/>
                              </a:solidFill>
                              <a:latin typeface="Cambria Math" panose="02040503050406030204" pitchFamily="18" charset="0"/>
                            </a:rPr>
                            <m:t>+1</m:t>
                          </m:r>
                        </m:sub>
                        <m:sup>
                          <m:r>
                            <a:rPr lang="en-US" i="1">
                              <a:solidFill>
                                <a:srgbClr val="FF0000"/>
                              </a:solidFill>
                              <a:latin typeface="Cambria Math" panose="02040503050406030204" pitchFamily="18" charset="0"/>
                            </a:rPr>
                            <m:t>𝑛</m:t>
                          </m:r>
                          <m:r>
                            <a:rPr lang="en-US" i="1">
                              <a:solidFill>
                                <a:srgbClr val="FF0000"/>
                              </a:solidFill>
                              <a:latin typeface="Cambria Math" panose="02040503050406030204" pitchFamily="18" charset="0"/>
                            </a:rPr>
                            <m:t>+1</m:t>
                          </m:r>
                        </m:sup>
                      </m:sSubSup>
                      <m:r>
                        <a:rPr lang="en-US" i="1">
                          <a:latin typeface="Cambria Math" panose="02040503050406030204" pitchFamily="18" charset="0"/>
                        </a:rPr>
                        <m:t>+(1+2</m:t>
                      </m:r>
                      <m:r>
                        <a:rPr lang="en-US" i="1">
                          <a:latin typeface="Cambria Math" panose="02040503050406030204" pitchFamily="18" charset="0"/>
                        </a:rPr>
                        <m:t>𝛼</m:t>
                      </m:r>
                      <m:r>
                        <a:rPr lang="en-US" i="1">
                          <a:latin typeface="Cambria Math" panose="02040503050406030204" pitchFamily="18" charset="0"/>
                        </a:rPr>
                        <m:t>)</m:t>
                      </m:r>
                      <m:sSubSup>
                        <m:sSubSupPr>
                          <m:ctrlPr>
                            <a:rPr lang="en-US" i="1">
                              <a:latin typeface="Cambria Math" panose="02040503050406030204" pitchFamily="18" charset="0"/>
                            </a:rPr>
                          </m:ctrlPr>
                        </m:sSubSupPr>
                        <m:e>
                          <m:sSubSup>
                            <m:sSubSupPr>
                              <m:ctrlPr>
                                <a:rPr lang="en-US" i="1">
                                  <a:latin typeface="Cambria Math" panose="02040503050406030204" pitchFamily="18" charset="0"/>
                                </a:rPr>
                              </m:ctrlPr>
                            </m:sSubSupPr>
                            <m:e>
                              <m:r>
                                <a:rPr lang="en-US" i="1">
                                  <a:latin typeface="Cambria Math" panose="02040503050406030204" pitchFamily="18" charset="0"/>
                                </a:rPr>
                                <m:t>𝜙</m:t>
                              </m:r>
                            </m:e>
                            <m:sub>
                              <m:r>
                                <a:rPr lang="en-US" b="0" i="1" smtClean="0">
                                  <a:latin typeface="Cambria Math" panose="02040503050406030204" pitchFamily="18" charset="0"/>
                                </a:rPr>
                                <m:t>h𝑖</m:t>
                              </m:r>
                            </m:sub>
                            <m:sup>
                              <m:r>
                                <a:rPr lang="en-US" i="1">
                                  <a:latin typeface="Cambria Math" panose="02040503050406030204" pitchFamily="18" charset="0"/>
                                </a:rPr>
                                <m:t>𝑛</m:t>
                              </m:r>
                              <m:r>
                                <a:rPr lang="en-US" i="1">
                                  <a:latin typeface="Cambria Math" panose="02040503050406030204" pitchFamily="18" charset="0"/>
                                </a:rPr>
                                <m:t>+1</m:t>
                              </m:r>
                            </m:sup>
                          </m:sSubSup>
                          <m:r>
                            <a:rPr lang="en-US" i="1">
                              <a:latin typeface="Cambria Math" panose="02040503050406030204" pitchFamily="18" charset="0"/>
                            </a:rPr>
                            <m:t>−</m:t>
                          </m:r>
                          <m:r>
                            <a:rPr lang="en-US" i="1">
                              <a:latin typeface="Cambria Math" panose="02040503050406030204" pitchFamily="18" charset="0"/>
                            </a:rPr>
                            <m:t>𝛼</m:t>
                          </m:r>
                          <m:sSubSup>
                            <m:sSubSupPr>
                              <m:ctrlPr>
                                <a:rPr lang="en-US" i="1">
                                  <a:latin typeface="Cambria Math" panose="02040503050406030204" pitchFamily="18" charset="0"/>
                                </a:rPr>
                              </m:ctrlPr>
                            </m:sSubSupPr>
                            <m:e>
                              <m:r>
                                <a:rPr lang="en-US" i="1">
                                  <a:latin typeface="Cambria Math" panose="02040503050406030204" pitchFamily="18" charset="0"/>
                                </a:rPr>
                                <m:t>𝜙</m:t>
                              </m:r>
                            </m:e>
                            <m:sub>
                              <m:r>
                                <a:rPr lang="en-US" b="0" i="1" smtClean="0">
                                  <a:latin typeface="Cambria Math" panose="02040503050406030204" pitchFamily="18" charset="0"/>
                                </a:rPr>
                                <m:t>h𝑖</m:t>
                              </m:r>
                              <m:r>
                                <a:rPr lang="en-US" i="1">
                                  <a:latin typeface="Cambria Math" panose="02040503050406030204" pitchFamily="18" charset="0"/>
                                </a:rPr>
                                <m:t>−1</m:t>
                              </m:r>
                            </m:sub>
                            <m:sup>
                              <m:r>
                                <a:rPr lang="en-US" i="1">
                                  <a:latin typeface="Cambria Math" panose="02040503050406030204" pitchFamily="18" charset="0"/>
                                </a:rPr>
                                <m:t>𝑛</m:t>
                              </m:r>
                              <m:r>
                                <a:rPr lang="en-US" i="1">
                                  <a:latin typeface="Cambria Math" panose="02040503050406030204" pitchFamily="18" charset="0"/>
                                </a:rPr>
                                <m:t>+1</m:t>
                              </m:r>
                            </m:sup>
                          </m:sSubSup>
                          <m:r>
                            <a:rPr lang="en-US" i="1">
                              <a:latin typeface="Cambria Math" panose="02040503050406030204" pitchFamily="18" charset="0"/>
                            </a:rPr>
                            <m:t>=</m:t>
                          </m:r>
                          <m:r>
                            <a:rPr lang="en-US" i="1">
                              <a:latin typeface="Cambria Math" panose="02040503050406030204" pitchFamily="18" charset="0"/>
                            </a:rPr>
                            <m:t>𝜙</m:t>
                          </m:r>
                        </m:e>
                        <m:sub>
                          <m:r>
                            <a:rPr lang="en-US" b="0" i="1" smtClean="0">
                              <a:latin typeface="Cambria Math" panose="02040503050406030204" pitchFamily="18" charset="0"/>
                            </a:rPr>
                            <m:t>h𝑖</m:t>
                          </m:r>
                        </m:sub>
                        <m:sup>
                          <m:r>
                            <a:rPr lang="en-US" i="1">
                              <a:latin typeface="Cambria Math" panose="02040503050406030204" pitchFamily="18" charset="0"/>
                            </a:rPr>
                            <m:t>𝑛</m:t>
                          </m:r>
                        </m:sup>
                      </m:sSubSup>
                    </m:oMath>
                  </m:oMathPara>
                </a14:m>
                <a:endParaRPr lang="en-US" dirty="0"/>
              </a:p>
              <a:p>
                <a:r>
                  <a:rPr lang="en-US" i="1" dirty="0"/>
                  <a:t>Homogeneous Neumann</a:t>
                </a:r>
                <a:r>
                  <a:rPr lang="en-US" dirty="0"/>
                  <a:t> at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𝑙𝑜</m:t>
                        </m:r>
                      </m:sub>
                    </m:sSub>
                  </m:oMath>
                </a14:m>
                <a:r>
                  <a:rPr lang="en-US" dirty="0"/>
                  <a:t> : for Neumann boundary conditions, we want the gradient at the boundary to be zero. To first order:</a:t>
                </a:r>
                <a:endParaRPr lang="en-US" b="0" i="1" dirty="0">
                  <a:latin typeface="Cambria Math" panose="02040503050406030204" pitchFamily="18" charset="0"/>
                </a:endParaRPr>
              </a:p>
              <a:p>
                <a:pPr marL="0" indent="0">
                  <a:lnSpc>
                    <a:spcPct val="150000"/>
                  </a:lnSpc>
                  <a:buNone/>
                </a:pPr>
                <a14:m>
                  <m:oMathPara xmlns:m="http://schemas.openxmlformats.org/officeDocument/2006/math">
                    <m:oMathParaPr>
                      <m:jc m:val="centerGroup"/>
                    </m:oMathParaPr>
                    <m:oMath xmlns:m="http://schemas.openxmlformats.org/officeDocument/2006/math">
                      <m:f>
                        <m:fPr>
                          <m:ctrlPr>
                            <a:rPr lang="en-US" b="0" i="1" smtClean="0">
                              <a:latin typeface="Cambria Math" panose="02040503050406030204" pitchFamily="18" charset="0"/>
                            </a:rPr>
                          </m:ctrlPr>
                        </m:fPr>
                        <m:num>
                          <m:sSub>
                            <m:sSubPr>
                              <m:ctrlPr>
                                <a:rPr lang="en-US" b="0" i="1" smtClean="0">
                                  <a:latin typeface="Cambria Math" panose="02040503050406030204" pitchFamily="18" charset="0"/>
                                </a:rPr>
                              </m:ctrlPr>
                            </m:sSubPr>
                            <m:e>
                              <m:r>
                                <a:rPr lang="en-US" b="0" i="1" smtClean="0">
                                  <a:latin typeface="Cambria Math" panose="02040503050406030204" pitchFamily="18" charset="0"/>
                                </a:rPr>
                                <m:t>𝜙</m:t>
                              </m:r>
                            </m:e>
                            <m:sub>
                              <m:r>
                                <a:rPr lang="en-US" b="0" i="1" smtClean="0">
                                  <a:latin typeface="Cambria Math" panose="02040503050406030204" pitchFamily="18" charset="0"/>
                                </a:rPr>
                                <m:t>𝑙𝑜</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𝜙</m:t>
                              </m:r>
                            </m:e>
                            <m:sub>
                              <m:r>
                                <a:rPr lang="en-US" b="0" i="1" smtClean="0">
                                  <a:latin typeface="Cambria Math" panose="02040503050406030204" pitchFamily="18" charset="0"/>
                                </a:rPr>
                                <m:t>𝑙𝑜</m:t>
                              </m:r>
                              <m:r>
                                <a:rPr lang="en-US" b="0" i="1" smtClean="0">
                                  <a:latin typeface="Cambria Math" panose="02040503050406030204" pitchFamily="18" charset="0"/>
                                </a:rPr>
                                <m:t>−1</m:t>
                              </m:r>
                            </m:sub>
                          </m:sSub>
                        </m:num>
                        <m:den>
                          <m:r>
                            <m:rPr>
                              <m:sty m:val="p"/>
                            </m:rPr>
                            <a:rPr lang="en-US" b="0" i="0" smtClean="0">
                              <a:latin typeface="Cambria Math" panose="02040503050406030204" pitchFamily="18" charset="0"/>
                            </a:rPr>
                            <m:t>Δ</m:t>
                          </m:r>
                          <m:r>
                            <a:rPr lang="en-US" b="0" i="1" smtClean="0">
                              <a:latin typeface="Cambria Math" panose="02040503050406030204" pitchFamily="18" charset="0"/>
                            </a:rPr>
                            <m:t>𝑥</m:t>
                          </m:r>
                        </m:den>
                      </m:f>
                      <m:r>
                        <a:rPr lang="en-US" b="0" i="1" smtClean="0">
                          <a:latin typeface="Cambria Math" panose="02040503050406030204" pitchFamily="18" charset="0"/>
                        </a:rPr>
                        <m:t>=0</m:t>
                      </m:r>
                    </m:oMath>
                  </m:oMathPara>
                </a14:m>
                <a:endParaRPr lang="en-US" dirty="0"/>
              </a:p>
              <a:p>
                <a:pPr marL="0" indent="0">
                  <a:buNone/>
                </a:pPr>
                <a:r>
                  <a:rPr lang="en-US" dirty="0"/>
                  <a:t>   Inserting this into the first equation gives</a:t>
                </a:r>
              </a:p>
              <a:p>
                <a:pPr marL="0" indent="0">
                  <a:lnSpc>
                    <a:spcPct val="150000"/>
                  </a:lnSpc>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m:t>
                      </m:r>
                      <m:r>
                        <a:rPr lang="en-US" i="1">
                          <a:latin typeface="Cambria Math" panose="02040503050406030204" pitchFamily="18" charset="0"/>
                        </a:rPr>
                        <m:t>𝛼</m:t>
                      </m:r>
                      <m:sSubSup>
                        <m:sSubSupPr>
                          <m:ctrlPr>
                            <a:rPr lang="en-US" i="1">
                              <a:latin typeface="Cambria Math" panose="02040503050406030204" pitchFamily="18" charset="0"/>
                            </a:rPr>
                          </m:ctrlPr>
                        </m:sSubSupPr>
                        <m:e>
                          <m:r>
                            <a:rPr lang="en-US" i="1">
                              <a:latin typeface="Cambria Math" panose="02040503050406030204" pitchFamily="18" charset="0"/>
                            </a:rPr>
                            <m:t>𝜙</m:t>
                          </m:r>
                        </m:e>
                        <m:sub>
                          <m:r>
                            <a:rPr lang="en-US" i="1">
                              <a:latin typeface="Cambria Math" panose="02040503050406030204" pitchFamily="18" charset="0"/>
                            </a:rPr>
                            <m:t>𝑙𝑜</m:t>
                          </m:r>
                          <m:r>
                            <a:rPr lang="en-US" i="1">
                              <a:latin typeface="Cambria Math" panose="02040503050406030204" pitchFamily="18" charset="0"/>
                            </a:rPr>
                            <m:t>+1</m:t>
                          </m:r>
                        </m:sub>
                        <m:sup>
                          <m:r>
                            <a:rPr lang="en-US" i="1">
                              <a:latin typeface="Cambria Math" panose="02040503050406030204" pitchFamily="18" charset="0"/>
                            </a:rPr>
                            <m:t>𝑛</m:t>
                          </m:r>
                          <m:r>
                            <a:rPr lang="en-US" i="1">
                              <a:latin typeface="Cambria Math" panose="02040503050406030204" pitchFamily="18" charset="0"/>
                            </a:rPr>
                            <m:t>+1</m:t>
                          </m:r>
                        </m:sup>
                      </m:sSubSup>
                      <m:r>
                        <a:rPr lang="en-US" i="1">
                          <a:latin typeface="Cambria Math" panose="02040503050406030204" pitchFamily="18" charset="0"/>
                        </a:rPr>
                        <m:t>+(1+</m:t>
                      </m:r>
                      <m:r>
                        <a:rPr lang="en-US" i="1">
                          <a:latin typeface="Cambria Math" panose="02040503050406030204" pitchFamily="18" charset="0"/>
                        </a:rPr>
                        <m:t>𝛼</m:t>
                      </m:r>
                      <m:r>
                        <a:rPr lang="en-US" i="1">
                          <a:latin typeface="Cambria Math" panose="02040503050406030204" pitchFamily="18" charset="0"/>
                        </a:rPr>
                        <m:t>)</m:t>
                      </m:r>
                      <m:sSubSup>
                        <m:sSubSupPr>
                          <m:ctrlPr>
                            <a:rPr lang="en-US" i="1">
                              <a:latin typeface="Cambria Math" panose="02040503050406030204" pitchFamily="18" charset="0"/>
                            </a:rPr>
                          </m:ctrlPr>
                        </m:sSubSupPr>
                        <m:e>
                          <m:sSubSup>
                            <m:sSubSupPr>
                              <m:ctrlPr>
                                <a:rPr lang="en-US" i="1">
                                  <a:latin typeface="Cambria Math" panose="02040503050406030204" pitchFamily="18" charset="0"/>
                                </a:rPr>
                              </m:ctrlPr>
                            </m:sSubSupPr>
                            <m:e>
                              <m:r>
                                <a:rPr lang="en-US" i="1">
                                  <a:latin typeface="Cambria Math" panose="02040503050406030204" pitchFamily="18" charset="0"/>
                                </a:rPr>
                                <m:t>𝜙</m:t>
                              </m:r>
                            </m:e>
                            <m:sub>
                              <m:r>
                                <a:rPr lang="en-US" i="1">
                                  <a:latin typeface="Cambria Math" panose="02040503050406030204" pitchFamily="18" charset="0"/>
                                </a:rPr>
                                <m:t>𝑙𝑜</m:t>
                              </m:r>
                            </m:sub>
                            <m:sup>
                              <m:r>
                                <a:rPr lang="en-US" i="1">
                                  <a:latin typeface="Cambria Math" panose="02040503050406030204" pitchFamily="18" charset="0"/>
                                </a:rPr>
                                <m:t>𝑛</m:t>
                              </m:r>
                              <m:r>
                                <a:rPr lang="en-US" i="1">
                                  <a:latin typeface="Cambria Math" panose="02040503050406030204" pitchFamily="18" charset="0"/>
                                </a:rPr>
                                <m:t>+1</m:t>
                              </m:r>
                            </m:sup>
                          </m:sSubSup>
                          <m:r>
                            <a:rPr lang="en-US" i="1">
                              <a:latin typeface="Cambria Math" panose="02040503050406030204" pitchFamily="18" charset="0"/>
                            </a:rPr>
                            <m:t>=</m:t>
                          </m:r>
                          <m:r>
                            <a:rPr lang="en-US" i="1">
                              <a:latin typeface="Cambria Math" panose="02040503050406030204" pitchFamily="18" charset="0"/>
                            </a:rPr>
                            <m:t>𝜙</m:t>
                          </m:r>
                        </m:e>
                        <m:sub>
                          <m:r>
                            <a:rPr lang="en-US" i="1">
                              <a:latin typeface="Cambria Math" panose="02040503050406030204" pitchFamily="18" charset="0"/>
                            </a:rPr>
                            <m:t>𝑙𝑜</m:t>
                          </m:r>
                        </m:sub>
                        <m:sup>
                          <m:r>
                            <a:rPr lang="en-US" i="1">
                              <a:latin typeface="Cambria Math" panose="02040503050406030204" pitchFamily="18" charset="0"/>
                            </a:rPr>
                            <m:t>𝑛</m:t>
                          </m:r>
                        </m:sup>
                      </m:sSubSup>
                    </m:oMath>
                  </m:oMathPara>
                </a14:m>
                <a:endParaRPr lang="en-US" dirty="0"/>
              </a:p>
            </p:txBody>
          </p:sp>
        </mc:Choice>
        <mc:Fallback xmlns="">
          <p:sp>
            <p:nvSpPr>
              <p:cNvPr id="3" name="Content Placeholder 2">
                <a:extLst>
                  <a:ext uri="{FF2B5EF4-FFF2-40B4-BE49-F238E27FC236}">
                    <a16:creationId xmlns:a16="http://schemas.microsoft.com/office/drawing/2014/main" id="{15C4FD65-F675-944D-A379-3A5FFFAEB784}"/>
                  </a:ext>
                </a:extLst>
              </p:cNvPr>
              <p:cNvSpPr>
                <a:spLocks noGrp="1" noRot="1" noChangeAspect="1" noMove="1" noResize="1" noEditPoints="1" noAdjustHandles="1" noChangeArrowheads="1" noChangeShapeType="1" noTextEdit="1"/>
              </p:cNvSpPr>
              <p:nvPr>
                <p:ph idx="1"/>
              </p:nvPr>
            </p:nvSpPr>
            <p:spPr>
              <a:xfrm>
                <a:off x="838200" y="1325562"/>
                <a:ext cx="10515600" cy="5532437"/>
              </a:xfrm>
              <a:blipFill>
                <a:blip r:embed="rId2"/>
                <a:stretch>
                  <a:fillRect l="-965"/>
                </a:stretch>
              </a:blipFill>
            </p:spPr>
            <p:txBody>
              <a:bodyPr/>
              <a:lstStyle/>
              <a:p>
                <a:r>
                  <a:rPr lang="en-US">
                    <a:noFill/>
                  </a:rPr>
                  <a:t> </a:t>
                </a:r>
              </a:p>
            </p:txBody>
          </p:sp>
        </mc:Fallback>
      </mc:AlternateContent>
      <p:sp>
        <p:nvSpPr>
          <p:cNvPr id="4" name="TextBox 3">
            <a:extLst>
              <a:ext uri="{FF2B5EF4-FFF2-40B4-BE49-F238E27FC236}">
                <a16:creationId xmlns:a16="http://schemas.microsoft.com/office/drawing/2014/main" id="{7C44D93A-9940-5145-A31C-0532CCD7737B}"/>
              </a:ext>
            </a:extLst>
          </p:cNvPr>
          <p:cNvSpPr txBox="1"/>
          <p:nvPr/>
        </p:nvSpPr>
        <p:spPr>
          <a:xfrm>
            <a:off x="9735670" y="2003249"/>
            <a:ext cx="1068113" cy="646331"/>
          </a:xfrm>
          <a:prstGeom prst="rect">
            <a:avLst/>
          </a:prstGeom>
          <a:noFill/>
          <a:ln w="19050">
            <a:solidFill>
              <a:srgbClr val="FF0000"/>
            </a:solidFill>
          </a:ln>
        </p:spPr>
        <p:txBody>
          <a:bodyPr wrap="none" rtlCol="0">
            <a:spAutoFit/>
          </a:bodyPr>
          <a:lstStyle/>
          <a:p>
            <a:pPr algn="ctr"/>
            <a:r>
              <a:rPr lang="en-US" dirty="0">
                <a:solidFill>
                  <a:srgbClr val="FF0000"/>
                </a:solidFill>
              </a:rPr>
              <a:t>left ghost</a:t>
            </a:r>
          </a:p>
          <a:p>
            <a:pPr algn="ctr"/>
            <a:r>
              <a:rPr lang="en-US" dirty="0">
                <a:solidFill>
                  <a:srgbClr val="FF0000"/>
                </a:solidFill>
              </a:rPr>
              <a:t>cell</a:t>
            </a:r>
          </a:p>
        </p:txBody>
      </p:sp>
      <p:cxnSp>
        <p:nvCxnSpPr>
          <p:cNvPr id="6" name="Straight Arrow Connector 5">
            <a:extLst>
              <a:ext uri="{FF2B5EF4-FFF2-40B4-BE49-F238E27FC236}">
                <a16:creationId xmlns:a16="http://schemas.microsoft.com/office/drawing/2014/main" id="{8209CE9D-6505-0241-9CEC-EEDE4185E2A3}"/>
              </a:ext>
            </a:extLst>
          </p:cNvPr>
          <p:cNvCxnSpPr>
            <a:cxnSpLocks/>
            <a:stCxn id="4" idx="1"/>
          </p:cNvCxnSpPr>
          <p:nvPr/>
        </p:nvCxnSpPr>
        <p:spPr>
          <a:xfrm flipH="1" flipV="1">
            <a:off x="8261874" y="1990749"/>
            <a:ext cx="1473796" cy="335666"/>
          </a:xfrm>
          <a:prstGeom prst="straightConnector1">
            <a:avLst/>
          </a:prstGeom>
          <a:ln w="19050">
            <a:solidFill>
              <a:srgbClr val="FF0000"/>
            </a:solidFill>
            <a:tailEnd type="triangle" w="lg" len="lg"/>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28EA31DC-D085-F84D-AE5D-607C52408A1C}"/>
              </a:ext>
            </a:extLst>
          </p:cNvPr>
          <p:cNvSpPr txBox="1"/>
          <p:nvPr/>
        </p:nvSpPr>
        <p:spPr>
          <a:xfrm>
            <a:off x="1158949" y="1648536"/>
            <a:ext cx="1191565" cy="646331"/>
          </a:xfrm>
          <a:prstGeom prst="rect">
            <a:avLst/>
          </a:prstGeom>
          <a:noFill/>
          <a:ln w="19050">
            <a:solidFill>
              <a:srgbClr val="FF0000"/>
            </a:solidFill>
          </a:ln>
        </p:spPr>
        <p:txBody>
          <a:bodyPr wrap="square" rtlCol="0">
            <a:spAutoFit/>
          </a:bodyPr>
          <a:lstStyle/>
          <a:p>
            <a:pPr algn="ctr"/>
            <a:r>
              <a:rPr lang="en-US" dirty="0">
                <a:solidFill>
                  <a:srgbClr val="FF0000"/>
                </a:solidFill>
              </a:rPr>
              <a:t>right ghost</a:t>
            </a:r>
          </a:p>
          <a:p>
            <a:pPr algn="ctr"/>
            <a:r>
              <a:rPr lang="en-US" dirty="0">
                <a:solidFill>
                  <a:srgbClr val="FF0000"/>
                </a:solidFill>
              </a:rPr>
              <a:t>cell</a:t>
            </a:r>
          </a:p>
        </p:txBody>
      </p:sp>
      <p:cxnSp>
        <p:nvCxnSpPr>
          <p:cNvPr id="11" name="Straight Arrow Connector 10">
            <a:extLst>
              <a:ext uri="{FF2B5EF4-FFF2-40B4-BE49-F238E27FC236}">
                <a16:creationId xmlns:a16="http://schemas.microsoft.com/office/drawing/2014/main" id="{9D15A9DE-F163-CC40-B087-DD16B525F5AB}"/>
              </a:ext>
            </a:extLst>
          </p:cNvPr>
          <p:cNvCxnSpPr>
            <a:cxnSpLocks/>
            <a:stCxn id="7" idx="3"/>
          </p:cNvCxnSpPr>
          <p:nvPr/>
        </p:nvCxnSpPr>
        <p:spPr>
          <a:xfrm>
            <a:off x="2350514" y="1971702"/>
            <a:ext cx="1081175" cy="323165"/>
          </a:xfrm>
          <a:prstGeom prst="straightConnector1">
            <a:avLst/>
          </a:prstGeom>
          <a:ln w="19050">
            <a:solidFill>
              <a:srgbClr val="FF0000"/>
            </a:solidFill>
            <a:tailEnd type="triangle" w="lg" len="lg"/>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63873839"/>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DCE2F9-F4C3-DA4C-B0FC-7FF6F22D148C}"/>
              </a:ext>
            </a:extLst>
          </p:cNvPr>
          <p:cNvSpPr>
            <a:spLocks noGrp="1"/>
          </p:cNvSpPr>
          <p:nvPr>
            <p:ph type="title"/>
          </p:nvPr>
        </p:nvSpPr>
        <p:spPr>
          <a:xfrm>
            <a:off x="838200" y="0"/>
            <a:ext cx="10515600" cy="1325563"/>
          </a:xfrm>
        </p:spPr>
        <p:txBody>
          <a:bodyPr/>
          <a:lstStyle/>
          <a:p>
            <a:r>
              <a:rPr lang="en-US" dirty="0"/>
              <a:t>Implicit methods: Direct solve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5C4FD65-F675-944D-A379-3A5FFFAEB784}"/>
                  </a:ext>
                </a:extLst>
              </p:cNvPr>
              <p:cNvSpPr>
                <a:spLocks noGrp="1"/>
              </p:cNvSpPr>
              <p:nvPr>
                <p:ph idx="1"/>
              </p:nvPr>
            </p:nvSpPr>
            <p:spPr>
              <a:xfrm>
                <a:off x="838200" y="1325562"/>
                <a:ext cx="10515600" cy="5532437"/>
              </a:xfrm>
            </p:spPr>
            <p:txBody>
              <a:bodyPr/>
              <a:lstStyle/>
              <a:p>
                <a:pPr marL="0" indent="0">
                  <a:lnSpc>
                    <a:spcPct val="150000"/>
                  </a:lnSpc>
                  <a:buNone/>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m:t>
                      </m:r>
                      <m:r>
                        <a:rPr lang="en-US" i="1" smtClean="0">
                          <a:latin typeface="Cambria Math" panose="02040503050406030204" pitchFamily="18" charset="0"/>
                        </a:rPr>
                        <m:t>𝛼</m:t>
                      </m:r>
                      <m:sSubSup>
                        <m:sSubSupPr>
                          <m:ctrlPr>
                            <a:rPr lang="en-US" i="1">
                              <a:latin typeface="Cambria Math" panose="02040503050406030204" pitchFamily="18" charset="0"/>
                            </a:rPr>
                          </m:ctrlPr>
                        </m:sSubSupPr>
                        <m:e>
                          <m:r>
                            <a:rPr lang="en-US" i="1">
                              <a:latin typeface="Cambria Math" panose="02040503050406030204" pitchFamily="18" charset="0"/>
                            </a:rPr>
                            <m:t>𝜙</m:t>
                          </m:r>
                        </m:e>
                        <m:sub>
                          <m:r>
                            <a:rPr lang="en-US" b="0" i="1" smtClean="0">
                              <a:latin typeface="Cambria Math" panose="02040503050406030204" pitchFamily="18" charset="0"/>
                            </a:rPr>
                            <m:t>𝑙𝑜</m:t>
                          </m:r>
                          <m:r>
                            <a:rPr lang="en-US" i="1">
                              <a:latin typeface="Cambria Math" panose="02040503050406030204" pitchFamily="18" charset="0"/>
                            </a:rPr>
                            <m:t>+1</m:t>
                          </m:r>
                        </m:sub>
                        <m:sup>
                          <m:r>
                            <a:rPr lang="en-US" i="1">
                              <a:latin typeface="Cambria Math" panose="02040503050406030204" pitchFamily="18" charset="0"/>
                            </a:rPr>
                            <m:t>𝑛</m:t>
                          </m:r>
                          <m:r>
                            <a:rPr lang="en-US" i="1">
                              <a:latin typeface="Cambria Math" panose="02040503050406030204" pitchFamily="18" charset="0"/>
                            </a:rPr>
                            <m:t>+1</m:t>
                          </m:r>
                        </m:sup>
                      </m:sSubSup>
                      <m:r>
                        <a:rPr lang="en-US" i="1">
                          <a:latin typeface="Cambria Math" panose="02040503050406030204" pitchFamily="18" charset="0"/>
                        </a:rPr>
                        <m:t>+(1+2</m:t>
                      </m:r>
                      <m:r>
                        <a:rPr lang="en-US" i="1">
                          <a:latin typeface="Cambria Math" panose="02040503050406030204" pitchFamily="18" charset="0"/>
                        </a:rPr>
                        <m:t>𝛼</m:t>
                      </m:r>
                      <m:r>
                        <a:rPr lang="en-US" i="1">
                          <a:latin typeface="Cambria Math" panose="02040503050406030204" pitchFamily="18" charset="0"/>
                        </a:rPr>
                        <m:t>)</m:t>
                      </m:r>
                      <m:sSubSup>
                        <m:sSubSupPr>
                          <m:ctrlPr>
                            <a:rPr lang="en-US" i="1">
                              <a:latin typeface="Cambria Math" panose="02040503050406030204" pitchFamily="18" charset="0"/>
                            </a:rPr>
                          </m:ctrlPr>
                        </m:sSubSupPr>
                        <m:e>
                          <m:sSubSup>
                            <m:sSubSupPr>
                              <m:ctrlPr>
                                <a:rPr lang="en-US" i="1">
                                  <a:latin typeface="Cambria Math" panose="02040503050406030204" pitchFamily="18" charset="0"/>
                                </a:rPr>
                              </m:ctrlPr>
                            </m:sSubSupPr>
                            <m:e>
                              <m:r>
                                <a:rPr lang="en-US" i="1">
                                  <a:latin typeface="Cambria Math" panose="02040503050406030204" pitchFamily="18" charset="0"/>
                                </a:rPr>
                                <m:t>𝜙</m:t>
                              </m:r>
                            </m:e>
                            <m:sub>
                              <m:r>
                                <a:rPr lang="en-US" b="0" i="1" smtClean="0">
                                  <a:latin typeface="Cambria Math" panose="02040503050406030204" pitchFamily="18" charset="0"/>
                                </a:rPr>
                                <m:t>𝑙𝑜</m:t>
                              </m:r>
                            </m:sub>
                            <m:sup>
                              <m:r>
                                <a:rPr lang="en-US" i="1">
                                  <a:latin typeface="Cambria Math" panose="02040503050406030204" pitchFamily="18" charset="0"/>
                                </a:rPr>
                                <m:t>𝑛</m:t>
                              </m:r>
                              <m:r>
                                <a:rPr lang="en-US" i="1">
                                  <a:latin typeface="Cambria Math" panose="02040503050406030204" pitchFamily="18" charset="0"/>
                                </a:rPr>
                                <m:t>+1</m:t>
                              </m:r>
                            </m:sup>
                          </m:sSubSup>
                          <m:r>
                            <a:rPr lang="en-US" i="1">
                              <a:latin typeface="Cambria Math" panose="02040503050406030204" pitchFamily="18" charset="0"/>
                            </a:rPr>
                            <m:t>−</m:t>
                          </m:r>
                          <m:r>
                            <a:rPr lang="en-US" i="1">
                              <a:latin typeface="Cambria Math" panose="02040503050406030204" pitchFamily="18" charset="0"/>
                            </a:rPr>
                            <m:t>𝛼</m:t>
                          </m:r>
                          <m:sSubSup>
                            <m:sSubSupPr>
                              <m:ctrlPr>
                                <a:rPr lang="en-US" i="1" smtClean="0">
                                  <a:solidFill>
                                    <a:srgbClr val="FF0000"/>
                                  </a:solidFill>
                                  <a:latin typeface="Cambria Math" panose="02040503050406030204" pitchFamily="18" charset="0"/>
                                </a:rPr>
                              </m:ctrlPr>
                            </m:sSubSupPr>
                            <m:e>
                              <m:r>
                                <a:rPr lang="en-US" i="1">
                                  <a:solidFill>
                                    <a:srgbClr val="FF0000"/>
                                  </a:solidFill>
                                  <a:latin typeface="Cambria Math" panose="02040503050406030204" pitchFamily="18" charset="0"/>
                                </a:rPr>
                                <m:t>𝜙</m:t>
                              </m:r>
                            </m:e>
                            <m:sub>
                              <m:r>
                                <a:rPr lang="en-US" b="0" i="1" smtClean="0">
                                  <a:solidFill>
                                    <a:srgbClr val="FF0000"/>
                                  </a:solidFill>
                                  <a:latin typeface="Cambria Math" panose="02040503050406030204" pitchFamily="18" charset="0"/>
                                </a:rPr>
                                <m:t>𝑙𝑜</m:t>
                              </m:r>
                              <m:r>
                                <a:rPr lang="en-US" i="1">
                                  <a:solidFill>
                                    <a:srgbClr val="FF0000"/>
                                  </a:solidFill>
                                  <a:latin typeface="Cambria Math" panose="02040503050406030204" pitchFamily="18" charset="0"/>
                                </a:rPr>
                                <m:t>−1</m:t>
                              </m:r>
                            </m:sub>
                            <m:sup>
                              <m:r>
                                <a:rPr lang="en-US" i="1">
                                  <a:solidFill>
                                    <a:srgbClr val="FF0000"/>
                                  </a:solidFill>
                                  <a:latin typeface="Cambria Math" panose="02040503050406030204" pitchFamily="18" charset="0"/>
                                </a:rPr>
                                <m:t>𝑛</m:t>
                              </m:r>
                              <m:r>
                                <a:rPr lang="en-US" i="1">
                                  <a:solidFill>
                                    <a:srgbClr val="FF0000"/>
                                  </a:solidFill>
                                  <a:latin typeface="Cambria Math" panose="02040503050406030204" pitchFamily="18" charset="0"/>
                                </a:rPr>
                                <m:t>+1</m:t>
                              </m:r>
                            </m:sup>
                          </m:sSubSup>
                          <m:r>
                            <a:rPr lang="en-US" i="1">
                              <a:latin typeface="Cambria Math" panose="02040503050406030204" pitchFamily="18" charset="0"/>
                            </a:rPr>
                            <m:t>=</m:t>
                          </m:r>
                          <m:r>
                            <a:rPr lang="en-US" i="1">
                              <a:latin typeface="Cambria Math" panose="02040503050406030204" pitchFamily="18" charset="0"/>
                            </a:rPr>
                            <m:t>𝜙</m:t>
                          </m:r>
                        </m:e>
                        <m:sub>
                          <m:r>
                            <a:rPr lang="en-US" b="0" i="1" smtClean="0">
                              <a:latin typeface="Cambria Math" panose="02040503050406030204" pitchFamily="18" charset="0"/>
                            </a:rPr>
                            <m:t>𝑙𝑜</m:t>
                          </m:r>
                        </m:sub>
                        <m:sup>
                          <m:r>
                            <a:rPr lang="en-US" i="1">
                              <a:latin typeface="Cambria Math" panose="02040503050406030204" pitchFamily="18" charset="0"/>
                            </a:rPr>
                            <m:t>𝑛</m:t>
                          </m:r>
                        </m:sup>
                      </m:sSubSup>
                    </m:oMath>
                  </m:oMathPara>
                </a14:m>
                <a:endParaRPr lang="en-US" dirty="0"/>
              </a:p>
              <a:p>
                <a:pPr marL="0" indent="0">
                  <a:lnSpc>
                    <a:spcPct val="150000"/>
                  </a:lnSpc>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m:t>
                      </m:r>
                      <m:r>
                        <a:rPr lang="en-US" i="1">
                          <a:latin typeface="Cambria Math" panose="02040503050406030204" pitchFamily="18" charset="0"/>
                        </a:rPr>
                        <m:t>𝛼</m:t>
                      </m:r>
                      <m:sSubSup>
                        <m:sSubSupPr>
                          <m:ctrlPr>
                            <a:rPr lang="en-US" i="1" smtClean="0">
                              <a:solidFill>
                                <a:srgbClr val="FF0000"/>
                              </a:solidFill>
                              <a:latin typeface="Cambria Math" panose="02040503050406030204" pitchFamily="18" charset="0"/>
                            </a:rPr>
                          </m:ctrlPr>
                        </m:sSubSupPr>
                        <m:e>
                          <m:r>
                            <a:rPr lang="en-US" i="1">
                              <a:solidFill>
                                <a:srgbClr val="FF0000"/>
                              </a:solidFill>
                              <a:latin typeface="Cambria Math" panose="02040503050406030204" pitchFamily="18" charset="0"/>
                            </a:rPr>
                            <m:t>𝜙</m:t>
                          </m:r>
                        </m:e>
                        <m:sub>
                          <m:r>
                            <a:rPr lang="en-US" b="0" i="1" smtClean="0">
                              <a:solidFill>
                                <a:srgbClr val="FF0000"/>
                              </a:solidFill>
                              <a:latin typeface="Cambria Math" panose="02040503050406030204" pitchFamily="18" charset="0"/>
                            </a:rPr>
                            <m:t>h𝑖</m:t>
                          </m:r>
                          <m:r>
                            <a:rPr lang="en-US" i="1">
                              <a:solidFill>
                                <a:srgbClr val="FF0000"/>
                              </a:solidFill>
                              <a:latin typeface="Cambria Math" panose="02040503050406030204" pitchFamily="18" charset="0"/>
                            </a:rPr>
                            <m:t>+1</m:t>
                          </m:r>
                        </m:sub>
                        <m:sup>
                          <m:r>
                            <a:rPr lang="en-US" i="1">
                              <a:solidFill>
                                <a:srgbClr val="FF0000"/>
                              </a:solidFill>
                              <a:latin typeface="Cambria Math" panose="02040503050406030204" pitchFamily="18" charset="0"/>
                            </a:rPr>
                            <m:t>𝑛</m:t>
                          </m:r>
                          <m:r>
                            <a:rPr lang="en-US" i="1">
                              <a:solidFill>
                                <a:srgbClr val="FF0000"/>
                              </a:solidFill>
                              <a:latin typeface="Cambria Math" panose="02040503050406030204" pitchFamily="18" charset="0"/>
                            </a:rPr>
                            <m:t>+1</m:t>
                          </m:r>
                        </m:sup>
                      </m:sSubSup>
                      <m:r>
                        <a:rPr lang="en-US" i="1">
                          <a:latin typeface="Cambria Math" panose="02040503050406030204" pitchFamily="18" charset="0"/>
                        </a:rPr>
                        <m:t>+(1+2</m:t>
                      </m:r>
                      <m:r>
                        <a:rPr lang="en-US" i="1">
                          <a:latin typeface="Cambria Math" panose="02040503050406030204" pitchFamily="18" charset="0"/>
                        </a:rPr>
                        <m:t>𝛼</m:t>
                      </m:r>
                      <m:r>
                        <a:rPr lang="en-US" i="1">
                          <a:latin typeface="Cambria Math" panose="02040503050406030204" pitchFamily="18" charset="0"/>
                        </a:rPr>
                        <m:t>)</m:t>
                      </m:r>
                      <m:sSubSup>
                        <m:sSubSupPr>
                          <m:ctrlPr>
                            <a:rPr lang="en-US" i="1">
                              <a:latin typeface="Cambria Math" panose="02040503050406030204" pitchFamily="18" charset="0"/>
                            </a:rPr>
                          </m:ctrlPr>
                        </m:sSubSupPr>
                        <m:e>
                          <m:sSubSup>
                            <m:sSubSupPr>
                              <m:ctrlPr>
                                <a:rPr lang="en-US" i="1">
                                  <a:latin typeface="Cambria Math" panose="02040503050406030204" pitchFamily="18" charset="0"/>
                                </a:rPr>
                              </m:ctrlPr>
                            </m:sSubSupPr>
                            <m:e>
                              <m:r>
                                <a:rPr lang="en-US" i="1">
                                  <a:latin typeface="Cambria Math" panose="02040503050406030204" pitchFamily="18" charset="0"/>
                                </a:rPr>
                                <m:t>𝜙</m:t>
                              </m:r>
                            </m:e>
                            <m:sub>
                              <m:r>
                                <a:rPr lang="en-US" b="0" i="1" smtClean="0">
                                  <a:latin typeface="Cambria Math" panose="02040503050406030204" pitchFamily="18" charset="0"/>
                                </a:rPr>
                                <m:t>h𝑖</m:t>
                              </m:r>
                            </m:sub>
                            <m:sup>
                              <m:r>
                                <a:rPr lang="en-US" i="1">
                                  <a:latin typeface="Cambria Math" panose="02040503050406030204" pitchFamily="18" charset="0"/>
                                </a:rPr>
                                <m:t>𝑛</m:t>
                              </m:r>
                              <m:r>
                                <a:rPr lang="en-US" i="1">
                                  <a:latin typeface="Cambria Math" panose="02040503050406030204" pitchFamily="18" charset="0"/>
                                </a:rPr>
                                <m:t>+1</m:t>
                              </m:r>
                            </m:sup>
                          </m:sSubSup>
                          <m:r>
                            <a:rPr lang="en-US" i="1">
                              <a:latin typeface="Cambria Math" panose="02040503050406030204" pitchFamily="18" charset="0"/>
                            </a:rPr>
                            <m:t>−</m:t>
                          </m:r>
                          <m:r>
                            <a:rPr lang="en-US" i="1">
                              <a:latin typeface="Cambria Math" panose="02040503050406030204" pitchFamily="18" charset="0"/>
                            </a:rPr>
                            <m:t>𝛼</m:t>
                          </m:r>
                          <m:sSubSup>
                            <m:sSubSupPr>
                              <m:ctrlPr>
                                <a:rPr lang="en-US" i="1">
                                  <a:latin typeface="Cambria Math" panose="02040503050406030204" pitchFamily="18" charset="0"/>
                                </a:rPr>
                              </m:ctrlPr>
                            </m:sSubSupPr>
                            <m:e>
                              <m:r>
                                <a:rPr lang="en-US" i="1">
                                  <a:latin typeface="Cambria Math" panose="02040503050406030204" pitchFamily="18" charset="0"/>
                                </a:rPr>
                                <m:t>𝜙</m:t>
                              </m:r>
                            </m:e>
                            <m:sub>
                              <m:r>
                                <a:rPr lang="en-US" b="0" i="1" smtClean="0">
                                  <a:latin typeface="Cambria Math" panose="02040503050406030204" pitchFamily="18" charset="0"/>
                                </a:rPr>
                                <m:t>h𝑖</m:t>
                              </m:r>
                              <m:r>
                                <a:rPr lang="en-US" i="1">
                                  <a:latin typeface="Cambria Math" panose="02040503050406030204" pitchFamily="18" charset="0"/>
                                </a:rPr>
                                <m:t>−1</m:t>
                              </m:r>
                            </m:sub>
                            <m:sup>
                              <m:r>
                                <a:rPr lang="en-US" i="1">
                                  <a:latin typeface="Cambria Math" panose="02040503050406030204" pitchFamily="18" charset="0"/>
                                </a:rPr>
                                <m:t>𝑛</m:t>
                              </m:r>
                              <m:r>
                                <a:rPr lang="en-US" i="1">
                                  <a:latin typeface="Cambria Math" panose="02040503050406030204" pitchFamily="18" charset="0"/>
                                </a:rPr>
                                <m:t>+1</m:t>
                              </m:r>
                            </m:sup>
                          </m:sSubSup>
                          <m:r>
                            <a:rPr lang="en-US" i="1">
                              <a:latin typeface="Cambria Math" panose="02040503050406030204" pitchFamily="18" charset="0"/>
                            </a:rPr>
                            <m:t>=</m:t>
                          </m:r>
                          <m:r>
                            <a:rPr lang="en-US" i="1">
                              <a:latin typeface="Cambria Math" panose="02040503050406030204" pitchFamily="18" charset="0"/>
                            </a:rPr>
                            <m:t>𝜙</m:t>
                          </m:r>
                        </m:e>
                        <m:sub>
                          <m:r>
                            <a:rPr lang="en-US" b="0" i="1" smtClean="0">
                              <a:latin typeface="Cambria Math" panose="02040503050406030204" pitchFamily="18" charset="0"/>
                            </a:rPr>
                            <m:t>h𝑖</m:t>
                          </m:r>
                        </m:sub>
                        <m:sup>
                          <m:r>
                            <a:rPr lang="en-US" i="1">
                              <a:latin typeface="Cambria Math" panose="02040503050406030204" pitchFamily="18" charset="0"/>
                            </a:rPr>
                            <m:t>𝑛</m:t>
                          </m:r>
                        </m:sup>
                      </m:sSubSup>
                    </m:oMath>
                  </m:oMathPara>
                </a14:m>
                <a:endParaRPr lang="en-US" dirty="0"/>
              </a:p>
              <a:p>
                <a:r>
                  <a:rPr lang="en-US" i="1" dirty="0"/>
                  <a:t>Dirichlet</a:t>
                </a:r>
                <a:r>
                  <a:rPr lang="en-US" dirty="0"/>
                  <a:t> at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h𝑖</m:t>
                        </m:r>
                      </m:sub>
                    </m:sSub>
                  </m:oMath>
                </a14:m>
                <a:r>
                  <a:rPr lang="en-US" dirty="0"/>
                  <a:t> : we want the value at the physical boundary to be specified—we’ll call it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𝜙</m:t>
                        </m:r>
                      </m:e>
                      <m:sub>
                        <m:r>
                          <a:rPr lang="en-US" b="0" i="1" smtClean="0">
                            <a:latin typeface="Cambria Math" panose="02040503050406030204" pitchFamily="18" charset="0"/>
                          </a:rPr>
                          <m:t>𝐴</m:t>
                        </m:r>
                      </m:sub>
                    </m:sSub>
                  </m:oMath>
                </a14:m>
                <a:r>
                  <a:rPr lang="en-US" dirty="0"/>
                  <a:t>. To a second-order, this means </a:t>
                </a:r>
              </a:p>
              <a:p>
                <a:pPr marL="0" indent="0">
                  <a:lnSpc>
                    <a:spcPct val="150000"/>
                  </a:lnSpc>
                  <a:buNone/>
                </a:pPr>
                <a14:m>
                  <m:oMathPara xmlns:m="http://schemas.openxmlformats.org/officeDocument/2006/math">
                    <m:oMathParaPr>
                      <m:jc m:val="centerGroup"/>
                    </m:oMathParaPr>
                    <m:oMath xmlns:m="http://schemas.openxmlformats.org/officeDocument/2006/math">
                      <m:f>
                        <m:fPr>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𝜙</m:t>
                              </m:r>
                            </m:e>
                            <m:sub>
                              <m:r>
                                <a:rPr lang="en-US" b="0" i="1" smtClean="0">
                                  <a:latin typeface="Cambria Math" panose="02040503050406030204" pitchFamily="18" charset="0"/>
                                </a:rPr>
                                <m:t>h𝑖</m:t>
                              </m:r>
                            </m:sub>
                          </m:sSub>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𝜙</m:t>
                              </m:r>
                            </m:e>
                            <m:sub>
                              <m:r>
                                <a:rPr lang="en-US" b="0" i="1" smtClean="0">
                                  <a:latin typeface="Cambria Math" panose="02040503050406030204" pitchFamily="18" charset="0"/>
                                </a:rPr>
                                <m:t>h𝑖</m:t>
                              </m:r>
                              <m:r>
                                <a:rPr lang="en-US" b="0" i="1" smtClean="0">
                                  <a:latin typeface="Cambria Math" panose="02040503050406030204" pitchFamily="18" charset="0"/>
                                </a:rPr>
                                <m:t>+1</m:t>
                              </m:r>
                            </m:sub>
                          </m:sSub>
                        </m:num>
                        <m:den>
                          <m:r>
                            <a:rPr lang="en-US" b="0" i="0" smtClean="0">
                              <a:latin typeface="Cambria Math" panose="02040503050406030204" pitchFamily="18" charset="0"/>
                            </a:rPr>
                            <m:t>2</m:t>
                          </m:r>
                        </m:den>
                      </m:f>
                      <m:r>
                        <a:rPr lang="en-US" i="1">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𝜙</m:t>
                          </m:r>
                        </m:e>
                        <m:sub>
                          <m:r>
                            <a:rPr lang="en-US" b="0" i="1" smtClean="0">
                              <a:latin typeface="Cambria Math" panose="02040503050406030204" pitchFamily="18" charset="0"/>
                            </a:rPr>
                            <m:t>𝐴</m:t>
                          </m:r>
                        </m:sub>
                      </m:sSub>
                    </m:oMath>
                  </m:oMathPara>
                </a14:m>
                <a:endParaRPr lang="en-US" dirty="0"/>
              </a:p>
              <a:p>
                <a:pPr marL="0" indent="0">
                  <a:buNone/>
                </a:pPr>
                <a:r>
                  <a:rPr lang="en-US" dirty="0"/>
                  <a:t>   Inserting this into the last equation we find  </a:t>
                </a:r>
              </a:p>
              <a:p>
                <a:pPr marL="0" indent="0">
                  <a:lnSpc>
                    <a:spcPct val="150000"/>
                  </a:lnSpc>
                  <a:buNone/>
                </a:pPr>
                <a14:m>
                  <m:oMathPara xmlns:m="http://schemas.openxmlformats.org/officeDocument/2006/math">
                    <m:oMathParaPr>
                      <m:jc m:val="centerGroup"/>
                    </m:oMathParaPr>
                    <m:oMath xmlns:m="http://schemas.openxmlformats.org/officeDocument/2006/math">
                      <m:d>
                        <m:dPr>
                          <m:ctrlPr>
                            <a:rPr lang="en-US" i="1">
                              <a:latin typeface="Cambria Math" panose="02040503050406030204" pitchFamily="18" charset="0"/>
                            </a:rPr>
                          </m:ctrlPr>
                        </m:dPr>
                        <m:e>
                          <m:r>
                            <a:rPr lang="en-US" i="1">
                              <a:latin typeface="Cambria Math" panose="02040503050406030204" pitchFamily="18" charset="0"/>
                            </a:rPr>
                            <m:t>1+</m:t>
                          </m:r>
                          <m:r>
                            <a:rPr lang="en-US" b="0" i="1" smtClean="0">
                              <a:latin typeface="Cambria Math" panose="02040503050406030204" pitchFamily="18" charset="0"/>
                            </a:rPr>
                            <m:t>3</m:t>
                          </m:r>
                          <m:r>
                            <a:rPr lang="en-US" i="1">
                              <a:latin typeface="Cambria Math" panose="02040503050406030204" pitchFamily="18" charset="0"/>
                            </a:rPr>
                            <m:t>𝛼</m:t>
                          </m:r>
                        </m:e>
                      </m:d>
                      <m:sSubSup>
                        <m:sSubSupPr>
                          <m:ctrlPr>
                            <a:rPr lang="en-US" i="1">
                              <a:latin typeface="Cambria Math" panose="02040503050406030204" pitchFamily="18" charset="0"/>
                            </a:rPr>
                          </m:ctrlPr>
                        </m:sSubSupPr>
                        <m:e>
                          <m:sSubSup>
                            <m:sSubSupPr>
                              <m:ctrlPr>
                                <a:rPr lang="en-US" i="1">
                                  <a:latin typeface="Cambria Math" panose="02040503050406030204" pitchFamily="18" charset="0"/>
                                </a:rPr>
                              </m:ctrlPr>
                            </m:sSubSupPr>
                            <m:e>
                              <m:r>
                                <a:rPr lang="en-US" i="1">
                                  <a:latin typeface="Cambria Math" panose="02040503050406030204" pitchFamily="18" charset="0"/>
                                </a:rPr>
                                <m:t>𝜙</m:t>
                              </m:r>
                            </m:e>
                            <m:sub>
                              <m:r>
                                <a:rPr lang="en-US" i="1">
                                  <a:latin typeface="Cambria Math" panose="02040503050406030204" pitchFamily="18" charset="0"/>
                                </a:rPr>
                                <m:t>h𝑖</m:t>
                              </m:r>
                            </m:sub>
                            <m:sup>
                              <m:r>
                                <a:rPr lang="en-US" i="1">
                                  <a:latin typeface="Cambria Math" panose="02040503050406030204" pitchFamily="18" charset="0"/>
                                </a:rPr>
                                <m:t>𝑛</m:t>
                              </m:r>
                              <m:r>
                                <a:rPr lang="en-US" i="1">
                                  <a:latin typeface="Cambria Math" panose="02040503050406030204" pitchFamily="18" charset="0"/>
                                </a:rPr>
                                <m:t>+1</m:t>
                              </m:r>
                            </m:sup>
                          </m:sSubSup>
                          <m:r>
                            <a:rPr lang="en-US" i="1">
                              <a:latin typeface="Cambria Math" panose="02040503050406030204" pitchFamily="18" charset="0"/>
                            </a:rPr>
                            <m:t>−</m:t>
                          </m:r>
                          <m:r>
                            <a:rPr lang="en-US" i="1">
                              <a:latin typeface="Cambria Math" panose="02040503050406030204" pitchFamily="18" charset="0"/>
                            </a:rPr>
                            <m:t>𝛼</m:t>
                          </m:r>
                          <m:sSubSup>
                            <m:sSubSupPr>
                              <m:ctrlPr>
                                <a:rPr lang="en-US" i="1">
                                  <a:latin typeface="Cambria Math" panose="02040503050406030204" pitchFamily="18" charset="0"/>
                                </a:rPr>
                              </m:ctrlPr>
                            </m:sSubSupPr>
                            <m:e>
                              <m:r>
                                <a:rPr lang="en-US" i="1">
                                  <a:latin typeface="Cambria Math" panose="02040503050406030204" pitchFamily="18" charset="0"/>
                                </a:rPr>
                                <m:t>𝜙</m:t>
                              </m:r>
                            </m:e>
                            <m:sub>
                              <m:r>
                                <a:rPr lang="en-US" i="1">
                                  <a:latin typeface="Cambria Math" panose="02040503050406030204" pitchFamily="18" charset="0"/>
                                </a:rPr>
                                <m:t>h𝑖</m:t>
                              </m:r>
                              <m:r>
                                <a:rPr lang="en-US" i="1">
                                  <a:latin typeface="Cambria Math" panose="02040503050406030204" pitchFamily="18" charset="0"/>
                                </a:rPr>
                                <m:t>−1</m:t>
                              </m:r>
                            </m:sub>
                            <m:sup>
                              <m:r>
                                <a:rPr lang="en-US" i="1">
                                  <a:latin typeface="Cambria Math" panose="02040503050406030204" pitchFamily="18" charset="0"/>
                                </a:rPr>
                                <m:t>𝑛</m:t>
                              </m:r>
                              <m:r>
                                <a:rPr lang="en-US" i="1">
                                  <a:latin typeface="Cambria Math" panose="02040503050406030204" pitchFamily="18" charset="0"/>
                                </a:rPr>
                                <m:t>+1</m:t>
                              </m:r>
                            </m:sup>
                          </m:sSubSup>
                          <m:r>
                            <a:rPr lang="en-US" i="1">
                              <a:latin typeface="Cambria Math" panose="02040503050406030204" pitchFamily="18" charset="0"/>
                            </a:rPr>
                            <m:t>=</m:t>
                          </m:r>
                          <m:r>
                            <a:rPr lang="en-US" i="1">
                              <a:latin typeface="Cambria Math" panose="02040503050406030204" pitchFamily="18" charset="0"/>
                            </a:rPr>
                            <m:t>𝜙</m:t>
                          </m:r>
                        </m:e>
                        <m:sub>
                          <m:r>
                            <a:rPr lang="en-US" i="1">
                              <a:latin typeface="Cambria Math" panose="02040503050406030204" pitchFamily="18" charset="0"/>
                            </a:rPr>
                            <m:t>h𝑖</m:t>
                          </m:r>
                        </m:sub>
                        <m:sup>
                          <m:r>
                            <a:rPr lang="en-US" i="1">
                              <a:latin typeface="Cambria Math" panose="02040503050406030204" pitchFamily="18" charset="0"/>
                            </a:rPr>
                            <m:t>𝑛</m:t>
                          </m:r>
                        </m:sup>
                      </m:sSubSup>
                      <m:r>
                        <a:rPr lang="en-US" b="0" i="1" smtClean="0">
                          <a:latin typeface="Cambria Math" panose="02040503050406030204" pitchFamily="18" charset="0"/>
                        </a:rPr>
                        <m:t>+2</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𝛼𝜙</m:t>
                          </m:r>
                        </m:e>
                        <m:sub>
                          <m:r>
                            <a:rPr lang="en-US" b="0" i="1" smtClean="0">
                              <a:latin typeface="Cambria Math" panose="02040503050406030204" pitchFamily="18" charset="0"/>
                            </a:rPr>
                            <m:t>𝐴</m:t>
                          </m:r>
                        </m:sub>
                      </m:sSub>
                    </m:oMath>
                  </m:oMathPara>
                </a14:m>
                <a:endParaRPr lang="en-US" dirty="0"/>
              </a:p>
            </p:txBody>
          </p:sp>
        </mc:Choice>
        <mc:Fallback xmlns="">
          <p:sp>
            <p:nvSpPr>
              <p:cNvPr id="3" name="Content Placeholder 2">
                <a:extLst>
                  <a:ext uri="{FF2B5EF4-FFF2-40B4-BE49-F238E27FC236}">
                    <a16:creationId xmlns:a16="http://schemas.microsoft.com/office/drawing/2014/main" id="{15C4FD65-F675-944D-A379-3A5FFFAEB784}"/>
                  </a:ext>
                </a:extLst>
              </p:cNvPr>
              <p:cNvSpPr>
                <a:spLocks noGrp="1" noRot="1" noChangeAspect="1" noMove="1" noResize="1" noEditPoints="1" noAdjustHandles="1" noChangeArrowheads="1" noChangeShapeType="1" noTextEdit="1"/>
              </p:cNvSpPr>
              <p:nvPr>
                <p:ph idx="1"/>
              </p:nvPr>
            </p:nvSpPr>
            <p:spPr>
              <a:xfrm>
                <a:off x="838200" y="1325562"/>
                <a:ext cx="10515600" cy="5532437"/>
              </a:xfrm>
              <a:blipFill>
                <a:blip r:embed="rId2"/>
                <a:stretch>
                  <a:fillRect l="-965"/>
                </a:stretch>
              </a:blipFill>
            </p:spPr>
            <p:txBody>
              <a:bodyPr/>
              <a:lstStyle/>
              <a:p>
                <a:r>
                  <a:rPr lang="en-US">
                    <a:noFill/>
                  </a:rPr>
                  <a:t> </a:t>
                </a:r>
              </a:p>
            </p:txBody>
          </p:sp>
        </mc:Fallback>
      </mc:AlternateContent>
      <p:sp>
        <p:nvSpPr>
          <p:cNvPr id="4" name="TextBox 3">
            <a:extLst>
              <a:ext uri="{FF2B5EF4-FFF2-40B4-BE49-F238E27FC236}">
                <a16:creationId xmlns:a16="http://schemas.microsoft.com/office/drawing/2014/main" id="{7C44D93A-9940-5145-A31C-0532CCD7737B}"/>
              </a:ext>
            </a:extLst>
          </p:cNvPr>
          <p:cNvSpPr txBox="1"/>
          <p:nvPr/>
        </p:nvSpPr>
        <p:spPr>
          <a:xfrm>
            <a:off x="9735670" y="2003249"/>
            <a:ext cx="1068113" cy="646331"/>
          </a:xfrm>
          <a:prstGeom prst="rect">
            <a:avLst/>
          </a:prstGeom>
          <a:noFill/>
          <a:ln w="19050">
            <a:solidFill>
              <a:srgbClr val="FF0000"/>
            </a:solidFill>
          </a:ln>
        </p:spPr>
        <p:txBody>
          <a:bodyPr wrap="none" rtlCol="0">
            <a:spAutoFit/>
          </a:bodyPr>
          <a:lstStyle/>
          <a:p>
            <a:pPr algn="ctr"/>
            <a:r>
              <a:rPr lang="en-US" dirty="0">
                <a:solidFill>
                  <a:srgbClr val="FF0000"/>
                </a:solidFill>
              </a:rPr>
              <a:t>left ghost</a:t>
            </a:r>
          </a:p>
          <a:p>
            <a:pPr algn="ctr"/>
            <a:r>
              <a:rPr lang="en-US" dirty="0">
                <a:solidFill>
                  <a:srgbClr val="FF0000"/>
                </a:solidFill>
              </a:rPr>
              <a:t>cell</a:t>
            </a:r>
          </a:p>
        </p:txBody>
      </p:sp>
      <p:cxnSp>
        <p:nvCxnSpPr>
          <p:cNvPr id="6" name="Straight Arrow Connector 5">
            <a:extLst>
              <a:ext uri="{FF2B5EF4-FFF2-40B4-BE49-F238E27FC236}">
                <a16:creationId xmlns:a16="http://schemas.microsoft.com/office/drawing/2014/main" id="{8209CE9D-6505-0241-9CEC-EEDE4185E2A3}"/>
              </a:ext>
            </a:extLst>
          </p:cNvPr>
          <p:cNvCxnSpPr>
            <a:cxnSpLocks/>
            <a:stCxn id="4" idx="1"/>
          </p:cNvCxnSpPr>
          <p:nvPr/>
        </p:nvCxnSpPr>
        <p:spPr>
          <a:xfrm flipH="1" flipV="1">
            <a:off x="8261874" y="1990749"/>
            <a:ext cx="1473796" cy="335666"/>
          </a:xfrm>
          <a:prstGeom prst="straightConnector1">
            <a:avLst/>
          </a:prstGeom>
          <a:ln w="19050">
            <a:solidFill>
              <a:srgbClr val="FF0000"/>
            </a:solidFill>
            <a:tailEnd type="triangle" w="lg" len="lg"/>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28EA31DC-D085-F84D-AE5D-607C52408A1C}"/>
              </a:ext>
            </a:extLst>
          </p:cNvPr>
          <p:cNvSpPr txBox="1"/>
          <p:nvPr/>
        </p:nvSpPr>
        <p:spPr>
          <a:xfrm>
            <a:off x="1148317" y="1648536"/>
            <a:ext cx="1202198" cy="646331"/>
          </a:xfrm>
          <a:prstGeom prst="rect">
            <a:avLst/>
          </a:prstGeom>
          <a:noFill/>
          <a:ln w="19050">
            <a:solidFill>
              <a:srgbClr val="FF0000"/>
            </a:solidFill>
          </a:ln>
        </p:spPr>
        <p:txBody>
          <a:bodyPr wrap="square" rtlCol="0">
            <a:spAutoFit/>
          </a:bodyPr>
          <a:lstStyle/>
          <a:p>
            <a:pPr algn="ctr"/>
            <a:r>
              <a:rPr lang="en-US" dirty="0">
                <a:solidFill>
                  <a:srgbClr val="FF0000"/>
                </a:solidFill>
              </a:rPr>
              <a:t>right ghost</a:t>
            </a:r>
          </a:p>
          <a:p>
            <a:pPr algn="ctr"/>
            <a:r>
              <a:rPr lang="en-US" dirty="0">
                <a:solidFill>
                  <a:srgbClr val="FF0000"/>
                </a:solidFill>
              </a:rPr>
              <a:t>cell</a:t>
            </a:r>
          </a:p>
        </p:txBody>
      </p:sp>
      <p:cxnSp>
        <p:nvCxnSpPr>
          <p:cNvPr id="11" name="Straight Arrow Connector 10">
            <a:extLst>
              <a:ext uri="{FF2B5EF4-FFF2-40B4-BE49-F238E27FC236}">
                <a16:creationId xmlns:a16="http://schemas.microsoft.com/office/drawing/2014/main" id="{9D15A9DE-F163-CC40-B087-DD16B525F5AB}"/>
              </a:ext>
            </a:extLst>
          </p:cNvPr>
          <p:cNvCxnSpPr>
            <a:cxnSpLocks/>
            <a:stCxn id="7" idx="3"/>
          </p:cNvCxnSpPr>
          <p:nvPr/>
        </p:nvCxnSpPr>
        <p:spPr>
          <a:xfrm>
            <a:off x="2350515" y="1971702"/>
            <a:ext cx="1081174" cy="323165"/>
          </a:xfrm>
          <a:prstGeom prst="straightConnector1">
            <a:avLst/>
          </a:prstGeom>
          <a:ln w="19050">
            <a:solidFill>
              <a:srgbClr val="FF0000"/>
            </a:solidFill>
            <a:tailEnd type="triangle" w="lg" len="lg"/>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88993924"/>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DCE2F9-F4C3-DA4C-B0FC-7FF6F22D148C}"/>
              </a:ext>
            </a:extLst>
          </p:cNvPr>
          <p:cNvSpPr>
            <a:spLocks noGrp="1"/>
          </p:cNvSpPr>
          <p:nvPr>
            <p:ph type="title"/>
          </p:nvPr>
        </p:nvSpPr>
        <p:spPr>
          <a:xfrm>
            <a:off x="838200" y="0"/>
            <a:ext cx="10515600" cy="1325563"/>
          </a:xfrm>
        </p:spPr>
        <p:txBody>
          <a:bodyPr/>
          <a:lstStyle/>
          <a:p>
            <a:r>
              <a:rPr lang="en-US" dirty="0"/>
              <a:t>Implicit methods: Direct solve</a:t>
            </a:r>
          </a:p>
        </p:txBody>
      </p:sp>
      <p:sp>
        <p:nvSpPr>
          <p:cNvPr id="3" name="Content Placeholder 2">
            <a:extLst>
              <a:ext uri="{FF2B5EF4-FFF2-40B4-BE49-F238E27FC236}">
                <a16:creationId xmlns:a16="http://schemas.microsoft.com/office/drawing/2014/main" id="{15C4FD65-F675-944D-A379-3A5FFFAEB784}"/>
              </a:ext>
            </a:extLst>
          </p:cNvPr>
          <p:cNvSpPr>
            <a:spLocks noGrp="1"/>
          </p:cNvSpPr>
          <p:nvPr>
            <p:ph idx="1"/>
          </p:nvPr>
        </p:nvSpPr>
        <p:spPr>
          <a:xfrm>
            <a:off x="838200" y="1325562"/>
            <a:ext cx="10515600" cy="5903577"/>
          </a:xfrm>
        </p:spPr>
        <p:txBody>
          <a:bodyPr>
            <a:normAutofit/>
          </a:bodyPr>
          <a:lstStyle/>
          <a:p>
            <a:pPr>
              <a:lnSpc>
                <a:spcPct val="150000"/>
              </a:lnSpc>
            </a:pPr>
            <a:r>
              <a:rPr lang="en-US" dirty="0"/>
              <a:t>Putting this together, our linear system for implicit diffusion:</a:t>
            </a:r>
          </a:p>
          <a:p>
            <a:pPr marL="0" indent="0">
              <a:lnSpc>
                <a:spcPct val="150000"/>
              </a:lnSpc>
              <a:buNone/>
            </a:pPr>
            <a:endParaRPr lang="en-US" dirty="0"/>
          </a:p>
          <a:p>
            <a:pPr marL="0" indent="0">
              <a:lnSpc>
                <a:spcPct val="150000"/>
              </a:lnSpc>
              <a:buNone/>
            </a:pPr>
            <a:endParaRPr lang="en-US" dirty="0"/>
          </a:p>
          <a:p>
            <a:pPr marL="0" indent="0">
              <a:lnSpc>
                <a:spcPct val="150000"/>
              </a:lnSpc>
              <a:buNone/>
            </a:pPr>
            <a:endParaRPr lang="en-US" dirty="0"/>
          </a:p>
          <a:p>
            <a:pPr marL="0" indent="0">
              <a:lnSpc>
                <a:spcPct val="150000"/>
              </a:lnSpc>
              <a:buNone/>
            </a:pPr>
            <a:endParaRPr lang="en-US" dirty="0"/>
          </a:p>
          <a:p>
            <a:r>
              <a:rPr lang="en-US" dirty="0"/>
              <a:t>This can be solved by standard matrix operations, using a tridiagonal solvers (for example). </a:t>
            </a:r>
          </a:p>
          <a:p>
            <a:r>
              <a:rPr lang="en-US" dirty="0"/>
              <a:t>Notice that the ghost cells do not appear in this linear system, we are  only updating the interior points. </a:t>
            </a:r>
          </a:p>
          <a:p>
            <a:pPr marL="0" indent="0">
              <a:lnSpc>
                <a:spcPct val="150000"/>
              </a:lnSpc>
              <a:buNone/>
            </a:pPr>
            <a:endParaRPr lang="en-US" dirty="0"/>
          </a:p>
          <a:p>
            <a:pPr marL="0" indent="0">
              <a:lnSpc>
                <a:spcPct val="150000"/>
              </a:lnSpc>
              <a:buNone/>
            </a:pPr>
            <a:endParaRPr lang="en-US" dirty="0"/>
          </a:p>
        </p:txBody>
      </p:sp>
      <p:pic>
        <p:nvPicPr>
          <p:cNvPr id="8" name="Picture 7">
            <a:extLst>
              <a:ext uri="{FF2B5EF4-FFF2-40B4-BE49-F238E27FC236}">
                <a16:creationId xmlns:a16="http://schemas.microsoft.com/office/drawing/2014/main" id="{01413B2F-6888-6C44-9C53-1076C307F3A0}"/>
              </a:ext>
            </a:extLst>
          </p:cNvPr>
          <p:cNvPicPr>
            <a:picLocks noChangeAspect="1"/>
          </p:cNvPicPr>
          <p:nvPr/>
        </p:nvPicPr>
        <p:blipFill>
          <a:blip r:embed="rId2"/>
          <a:stretch>
            <a:fillRect/>
          </a:stretch>
        </p:blipFill>
        <p:spPr>
          <a:xfrm>
            <a:off x="1644577" y="1968650"/>
            <a:ext cx="8505561" cy="3248809"/>
          </a:xfrm>
          <a:prstGeom prst="rect">
            <a:avLst/>
          </a:prstGeom>
        </p:spPr>
      </p:pic>
    </p:spTree>
    <p:extLst>
      <p:ext uri="{BB962C8B-B14F-4D97-AF65-F5344CB8AC3E}">
        <p14:creationId xmlns:p14="http://schemas.microsoft.com/office/powerpoint/2010/main" val="70959658"/>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DCE2F9-F4C3-DA4C-B0FC-7FF6F22D148C}"/>
              </a:ext>
            </a:extLst>
          </p:cNvPr>
          <p:cNvSpPr>
            <a:spLocks noGrp="1"/>
          </p:cNvSpPr>
          <p:nvPr>
            <p:ph type="title"/>
          </p:nvPr>
        </p:nvSpPr>
        <p:spPr>
          <a:xfrm>
            <a:off x="838200" y="0"/>
            <a:ext cx="10515600" cy="1325563"/>
          </a:xfrm>
        </p:spPr>
        <p:txBody>
          <a:bodyPr/>
          <a:lstStyle/>
          <a:p>
            <a:r>
              <a:rPr lang="en-US" dirty="0"/>
              <a:t>Doing it better</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5C4FD65-F675-944D-A379-3A5FFFAEB784}"/>
                  </a:ext>
                </a:extLst>
              </p:cNvPr>
              <p:cNvSpPr>
                <a:spLocks noGrp="1"/>
              </p:cNvSpPr>
              <p:nvPr>
                <p:ph idx="1"/>
              </p:nvPr>
            </p:nvSpPr>
            <p:spPr>
              <a:xfrm>
                <a:off x="838200" y="1325562"/>
                <a:ext cx="10515600" cy="5532437"/>
              </a:xfrm>
            </p:spPr>
            <p:txBody>
              <a:bodyPr/>
              <a:lstStyle/>
              <a:p>
                <a:pPr>
                  <a:lnSpc>
                    <a:spcPct val="100000"/>
                  </a:lnSpc>
                </a:pPr>
                <a:r>
                  <a:rPr lang="en-US" dirty="0"/>
                  <a:t>A second-order in time discretization requires us to center the RHS in time. </a:t>
                </a:r>
              </a:p>
              <a:p>
                <a:pPr marL="0" indent="0">
                  <a:lnSpc>
                    <a:spcPct val="150000"/>
                  </a:lnSpc>
                  <a:buNone/>
                </a:pPr>
                <a14:m>
                  <m:oMathPara xmlns:m="http://schemas.openxmlformats.org/officeDocument/2006/math">
                    <m:oMathParaPr>
                      <m:jc m:val="centerGroup"/>
                    </m:oMathParaPr>
                    <m:oMath xmlns:m="http://schemas.openxmlformats.org/officeDocument/2006/math">
                      <m:f>
                        <m:fPr>
                          <m:ctrlPr>
                            <a:rPr lang="en-US" i="1">
                              <a:latin typeface="Cambria Math" panose="02040503050406030204" pitchFamily="18" charset="0"/>
                            </a:rPr>
                          </m:ctrlPr>
                        </m:fPr>
                        <m:num>
                          <m:sSubSup>
                            <m:sSubSupPr>
                              <m:ctrlPr>
                                <a:rPr lang="en-US" i="1">
                                  <a:latin typeface="Cambria Math" panose="02040503050406030204" pitchFamily="18" charset="0"/>
                                </a:rPr>
                              </m:ctrlPr>
                            </m:sSubSupPr>
                            <m:e>
                              <m:sSubSup>
                                <m:sSubSupPr>
                                  <m:ctrlPr>
                                    <a:rPr lang="en-US" i="1">
                                      <a:latin typeface="Cambria Math" panose="02040503050406030204" pitchFamily="18" charset="0"/>
                                    </a:rPr>
                                  </m:ctrlPr>
                                </m:sSubSupPr>
                                <m:e>
                                  <m:r>
                                    <a:rPr lang="en-US" i="1">
                                      <a:latin typeface="Cambria Math" panose="02040503050406030204" pitchFamily="18" charset="0"/>
                                    </a:rPr>
                                    <m:t>𝜙</m:t>
                                  </m:r>
                                </m:e>
                                <m:sub>
                                  <m:r>
                                    <a:rPr lang="en-US" i="1">
                                      <a:latin typeface="Cambria Math" panose="02040503050406030204" pitchFamily="18" charset="0"/>
                                    </a:rPr>
                                    <m:t>𝑖</m:t>
                                  </m:r>
                                </m:sub>
                                <m:sup>
                                  <m:r>
                                    <a:rPr lang="en-US" i="1">
                                      <a:latin typeface="Cambria Math" panose="02040503050406030204" pitchFamily="18" charset="0"/>
                                    </a:rPr>
                                    <m:t>𝑛</m:t>
                                  </m:r>
                                  <m:r>
                                    <a:rPr lang="en-US" i="1">
                                      <a:latin typeface="Cambria Math" panose="02040503050406030204" pitchFamily="18" charset="0"/>
                                    </a:rPr>
                                    <m:t>+1</m:t>
                                  </m:r>
                                </m:sup>
                              </m:sSubSup>
                              <m:r>
                                <a:rPr lang="en-US" i="1">
                                  <a:latin typeface="Cambria Math" panose="02040503050406030204" pitchFamily="18" charset="0"/>
                                </a:rPr>
                                <m:t>−</m:t>
                              </m:r>
                              <m:r>
                                <a:rPr lang="en-US" i="1">
                                  <a:latin typeface="Cambria Math" panose="02040503050406030204" pitchFamily="18" charset="0"/>
                                </a:rPr>
                                <m:t>𝜙</m:t>
                              </m:r>
                            </m:e>
                            <m:sub>
                              <m:r>
                                <a:rPr lang="en-US" i="1">
                                  <a:latin typeface="Cambria Math" panose="02040503050406030204" pitchFamily="18" charset="0"/>
                                </a:rPr>
                                <m:t>𝑖</m:t>
                              </m:r>
                            </m:sub>
                            <m:sup>
                              <m:r>
                                <a:rPr lang="en-US" i="1">
                                  <a:latin typeface="Cambria Math" panose="02040503050406030204" pitchFamily="18" charset="0"/>
                                </a:rPr>
                                <m:t>𝑛</m:t>
                              </m:r>
                            </m:sup>
                          </m:sSubSup>
                        </m:num>
                        <m:den>
                          <m:r>
                            <m:rPr>
                              <m:sty m:val="p"/>
                            </m:rPr>
                            <a:rPr lang="en-US">
                              <a:latin typeface="Cambria Math" panose="02040503050406030204" pitchFamily="18" charset="0"/>
                            </a:rPr>
                            <m:t>Δ</m:t>
                          </m:r>
                          <m:r>
                            <a:rPr lang="en-US" i="1">
                              <a:latin typeface="Cambria Math" panose="02040503050406030204" pitchFamily="18" charset="0"/>
                            </a:rPr>
                            <m:t>𝑡</m:t>
                          </m:r>
                        </m:den>
                      </m:f>
                      <m:r>
                        <a:rPr lang="en-US" i="1">
                          <a:latin typeface="Cambria Math" panose="02040503050406030204" pitchFamily="18" charset="0"/>
                        </a:rPr>
                        <m:t>=</m:t>
                      </m:r>
                      <m:f>
                        <m:fPr>
                          <m:ctrlPr>
                            <a:rPr lang="en-US" i="1" smtClean="0">
                              <a:latin typeface="Cambria Math" panose="02040503050406030204" pitchFamily="18" charset="0"/>
                            </a:rPr>
                          </m:ctrlPr>
                        </m:fPr>
                        <m:num>
                          <m:r>
                            <a:rPr lang="en-US" b="0" i="1" smtClean="0">
                              <a:latin typeface="Cambria Math" panose="02040503050406030204" pitchFamily="18" charset="0"/>
                            </a:rPr>
                            <m:t>𝑘</m:t>
                          </m:r>
                        </m:num>
                        <m:den>
                          <m:r>
                            <a:rPr lang="en-US" b="0" i="1" smtClean="0">
                              <a:latin typeface="Cambria Math" panose="02040503050406030204" pitchFamily="18" charset="0"/>
                            </a:rPr>
                            <m:t>2</m:t>
                          </m:r>
                        </m:den>
                      </m:f>
                      <m:d>
                        <m:dPr>
                          <m:ctrlPr>
                            <a:rPr lang="en-US" i="1" smtClean="0">
                              <a:latin typeface="Cambria Math" panose="02040503050406030204" pitchFamily="18" charset="0"/>
                            </a:rPr>
                          </m:ctrlPr>
                        </m:dPr>
                        <m:e>
                          <m:f>
                            <m:fPr>
                              <m:ctrlPr>
                                <a:rPr lang="en-US" i="1">
                                  <a:latin typeface="Cambria Math" panose="02040503050406030204" pitchFamily="18" charset="0"/>
                                </a:rPr>
                              </m:ctrlPr>
                            </m:fPr>
                            <m:num>
                              <m:sSubSup>
                                <m:sSubSupPr>
                                  <m:ctrlPr>
                                    <a:rPr lang="en-US" i="1">
                                      <a:latin typeface="Cambria Math" panose="02040503050406030204" pitchFamily="18" charset="0"/>
                                    </a:rPr>
                                  </m:ctrlPr>
                                </m:sSubSupPr>
                                <m:e>
                                  <m:sSubSup>
                                    <m:sSubSupPr>
                                      <m:ctrlPr>
                                        <a:rPr lang="en-US" i="1">
                                          <a:latin typeface="Cambria Math" panose="02040503050406030204" pitchFamily="18" charset="0"/>
                                        </a:rPr>
                                      </m:ctrlPr>
                                    </m:sSubSupPr>
                                    <m:e>
                                      <m:r>
                                        <a:rPr lang="en-US" i="1">
                                          <a:latin typeface="Cambria Math" panose="02040503050406030204" pitchFamily="18" charset="0"/>
                                        </a:rPr>
                                        <m:t>𝜙</m:t>
                                      </m:r>
                                    </m:e>
                                    <m:sub>
                                      <m:r>
                                        <a:rPr lang="en-US" i="1">
                                          <a:latin typeface="Cambria Math" panose="02040503050406030204" pitchFamily="18" charset="0"/>
                                        </a:rPr>
                                        <m:t>𝑖</m:t>
                                      </m:r>
                                      <m:r>
                                        <a:rPr lang="en-US" i="1">
                                          <a:latin typeface="Cambria Math" panose="02040503050406030204" pitchFamily="18" charset="0"/>
                                        </a:rPr>
                                        <m:t>+1</m:t>
                                      </m:r>
                                    </m:sub>
                                    <m:sup>
                                      <m:r>
                                        <a:rPr lang="en-US" i="1">
                                          <a:latin typeface="Cambria Math" panose="02040503050406030204" pitchFamily="18" charset="0"/>
                                        </a:rPr>
                                        <m:t>𝑛</m:t>
                                      </m:r>
                                    </m:sup>
                                  </m:sSubSup>
                                  <m:r>
                                    <a:rPr lang="en-US" i="1">
                                      <a:latin typeface="Cambria Math" panose="02040503050406030204" pitchFamily="18" charset="0"/>
                                    </a:rPr>
                                    <m:t>−2</m:t>
                                  </m:r>
                                  <m:r>
                                    <a:rPr lang="en-US" i="1">
                                      <a:latin typeface="Cambria Math" panose="02040503050406030204" pitchFamily="18" charset="0"/>
                                    </a:rPr>
                                    <m:t>𝜙</m:t>
                                  </m:r>
                                </m:e>
                                <m:sub>
                                  <m:r>
                                    <a:rPr lang="en-US" i="1">
                                      <a:latin typeface="Cambria Math" panose="02040503050406030204" pitchFamily="18" charset="0"/>
                                    </a:rPr>
                                    <m:t>𝑖</m:t>
                                  </m:r>
                                </m:sub>
                                <m:sup>
                                  <m:r>
                                    <a:rPr lang="en-US" i="1">
                                      <a:latin typeface="Cambria Math" panose="02040503050406030204" pitchFamily="18" charset="0"/>
                                    </a:rPr>
                                    <m:t>𝑛</m:t>
                                  </m:r>
                                </m:sup>
                              </m:sSubSup>
                              <m:r>
                                <a:rPr lang="en-US" i="1">
                                  <a:latin typeface="Cambria Math" panose="02040503050406030204" pitchFamily="18" charset="0"/>
                                </a:rPr>
                                <m:t>+</m:t>
                              </m:r>
                              <m:sSubSup>
                                <m:sSubSupPr>
                                  <m:ctrlPr>
                                    <a:rPr lang="en-US" i="1">
                                      <a:latin typeface="Cambria Math" panose="02040503050406030204" pitchFamily="18" charset="0"/>
                                    </a:rPr>
                                  </m:ctrlPr>
                                </m:sSubSupPr>
                                <m:e>
                                  <m:r>
                                    <a:rPr lang="en-US" i="1">
                                      <a:latin typeface="Cambria Math" panose="02040503050406030204" pitchFamily="18" charset="0"/>
                                    </a:rPr>
                                    <m:t>𝜙</m:t>
                                  </m:r>
                                </m:e>
                                <m:sub>
                                  <m:r>
                                    <a:rPr lang="en-US" i="1">
                                      <a:latin typeface="Cambria Math" panose="02040503050406030204" pitchFamily="18" charset="0"/>
                                    </a:rPr>
                                    <m:t>𝑖</m:t>
                                  </m:r>
                                  <m:r>
                                    <a:rPr lang="en-US" i="1">
                                      <a:latin typeface="Cambria Math" panose="02040503050406030204" pitchFamily="18" charset="0"/>
                                    </a:rPr>
                                    <m:t>−1</m:t>
                                  </m:r>
                                </m:sub>
                                <m:sup>
                                  <m:r>
                                    <a:rPr lang="en-US" i="1">
                                      <a:latin typeface="Cambria Math" panose="02040503050406030204" pitchFamily="18" charset="0"/>
                                    </a:rPr>
                                    <m:t>𝑛</m:t>
                                  </m:r>
                                </m:sup>
                              </m:sSubSup>
                              <m:r>
                                <a:rPr lang="en-US" i="1">
                                  <a:latin typeface="Cambria Math" panose="02040503050406030204" pitchFamily="18" charset="0"/>
                                </a:rPr>
                                <m:t> </m:t>
                              </m:r>
                            </m:num>
                            <m:den>
                              <m:r>
                                <m:rPr>
                                  <m:sty m:val="p"/>
                                </m:rPr>
                                <a:rPr lang="en-US">
                                  <a:latin typeface="Cambria Math" panose="02040503050406030204" pitchFamily="18" charset="0"/>
                                </a:rPr>
                                <m:t>Δ</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𝑥</m:t>
                                  </m:r>
                                </m:e>
                                <m:sup>
                                  <m:r>
                                    <a:rPr lang="en-US" b="0" i="1" smtClean="0">
                                      <a:latin typeface="Cambria Math" panose="02040503050406030204" pitchFamily="18" charset="0"/>
                                    </a:rPr>
                                    <m:t>2</m:t>
                                  </m:r>
                                </m:sup>
                              </m:sSup>
                            </m:den>
                          </m:f>
                          <m:r>
                            <a:rPr lang="en-US" b="0" i="1" smtClean="0">
                              <a:latin typeface="Cambria Math" panose="02040503050406030204" pitchFamily="18" charset="0"/>
                            </a:rPr>
                            <m:t>+</m:t>
                          </m:r>
                          <m:f>
                            <m:fPr>
                              <m:ctrlPr>
                                <a:rPr lang="en-US" i="1">
                                  <a:latin typeface="Cambria Math" panose="02040503050406030204" pitchFamily="18" charset="0"/>
                                </a:rPr>
                              </m:ctrlPr>
                            </m:fPr>
                            <m:num>
                              <m:sSubSup>
                                <m:sSubSupPr>
                                  <m:ctrlPr>
                                    <a:rPr lang="en-US" i="1">
                                      <a:latin typeface="Cambria Math" panose="02040503050406030204" pitchFamily="18" charset="0"/>
                                    </a:rPr>
                                  </m:ctrlPr>
                                </m:sSubSupPr>
                                <m:e>
                                  <m:sSubSup>
                                    <m:sSubSupPr>
                                      <m:ctrlPr>
                                        <a:rPr lang="en-US" i="1">
                                          <a:latin typeface="Cambria Math" panose="02040503050406030204" pitchFamily="18" charset="0"/>
                                        </a:rPr>
                                      </m:ctrlPr>
                                    </m:sSubSupPr>
                                    <m:e>
                                      <m:r>
                                        <a:rPr lang="en-US" i="1">
                                          <a:latin typeface="Cambria Math" panose="02040503050406030204" pitchFamily="18" charset="0"/>
                                        </a:rPr>
                                        <m:t>𝜙</m:t>
                                      </m:r>
                                    </m:e>
                                    <m:sub>
                                      <m:r>
                                        <a:rPr lang="en-US" i="1">
                                          <a:latin typeface="Cambria Math" panose="02040503050406030204" pitchFamily="18" charset="0"/>
                                        </a:rPr>
                                        <m:t>𝑖</m:t>
                                      </m:r>
                                      <m:r>
                                        <a:rPr lang="en-US" i="1">
                                          <a:latin typeface="Cambria Math" panose="02040503050406030204" pitchFamily="18" charset="0"/>
                                        </a:rPr>
                                        <m:t>+1</m:t>
                                      </m:r>
                                    </m:sub>
                                    <m:sup>
                                      <m:r>
                                        <a:rPr lang="en-US" i="1">
                                          <a:latin typeface="Cambria Math" panose="02040503050406030204" pitchFamily="18" charset="0"/>
                                        </a:rPr>
                                        <m:t>𝑛</m:t>
                                      </m:r>
                                      <m:r>
                                        <a:rPr lang="en-US" b="0" i="1" smtClean="0">
                                          <a:latin typeface="Cambria Math" panose="02040503050406030204" pitchFamily="18" charset="0"/>
                                        </a:rPr>
                                        <m:t>+1</m:t>
                                      </m:r>
                                    </m:sup>
                                  </m:sSubSup>
                                  <m:r>
                                    <a:rPr lang="en-US" i="1">
                                      <a:latin typeface="Cambria Math" panose="02040503050406030204" pitchFamily="18" charset="0"/>
                                    </a:rPr>
                                    <m:t>−2</m:t>
                                  </m:r>
                                  <m:r>
                                    <a:rPr lang="en-US" i="1">
                                      <a:latin typeface="Cambria Math" panose="02040503050406030204" pitchFamily="18" charset="0"/>
                                    </a:rPr>
                                    <m:t>𝜙</m:t>
                                  </m:r>
                                </m:e>
                                <m:sub>
                                  <m:r>
                                    <a:rPr lang="en-US" i="1">
                                      <a:latin typeface="Cambria Math" panose="02040503050406030204" pitchFamily="18" charset="0"/>
                                    </a:rPr>
                                    <m:t>𝑖</m:t>
                                  </m:r>
                                </m:sub>
                                <m:sup>
                                  <m:r>
                                    <a:rPr lang="en-US" i="1">
                                      <a:latin typeface="Cambria Math" panose="02040503050406030204" pitchFamily="18" charset="0"/>
                                    </a:rPr>
                                    <m:t>𝑛</m:t>
                                  </m:r>
                                  <m:r>
                                    <a:rPr lang="en-US" b="0" i="1" smtClean="0">
                                      <a:latin typeface="Cambria Math" panose="02040503050406030204" pitchFamily="18" charset="0"/>
                                    </a:rPr>
                                    <m:t>+1</m:t>
                                  </m:r>
                                </m:sup>
                              </m:sSubSup>
                              <m:r>
                                <a:rPr lang="en-US" i="1">
                                  <a:latin typeface="Cambria Math" panose="02040503050406030204" pitchFamily="18" charset="0"/>
                                </a:rPr>
                                <m:t>+</m:t>
                              </m:r>
                              <m:sSubSup>
                                <m:sSubSupPr>
                                  <m:ctrlPr>
                                    <a:rPr lang="en-US" i="1">
                                      <a:latin typeface="Cambria Math" panose="02040503050406030204" pitchFamily="18" charset="0"/>
                                    </a:rPr>
                                  </m:ctrlPr>
                                </m:sSubSupPr>
                                <m:e>
                                  <m:r>
                                    <a:rPr lang="en-US" i="1">
                                      <a:latin typeface="Cambria Math" panose="02040503050406030204" pitchFamily="18" charset="0"/>
                                    </a:rPr>
                                    <m:t>𝜙</m:t>
                                  </m:r>
                                </m:e>
                                <m:sub>
                                  <m:r>
                                    <a:rPr lang="en-US" i="1">
                                      <a:latin typeface="Cambria Math" panose="02040503050406030204" pitchFamily="18" charset="0"/>
                                    </a:rPr>
                                    <m:t>𝑖</m:t>
                                  </m:r>
                                  <m:r>
                                    <a:rPr lang="en-US" i="1">
                                      <a:latin typeface="Cambria Math" panose="02040503050406030204" pitchFamily="18" charset="0"/>
                                    </a:rPr>
                                    <m:t>−1</m:t>
                                  </m:r>
                                </m:sub>
                                <m:sup>
                                  <m:r>
                                    <a:rPr lang="en-US" i="1">
                                      <a:latin typeface="Cambria Math" panose="02040503050406030204" pitchFamily="18" charset="0"/>
                                    </a:rPr>
                                    <m:t>𝑛</m:t>
                                  </m:r>
                                  <m:r>
                                    <a:rPr lang="en-US" b="0" i="1" smtClean="0">
                                      <a:latin typeface="Cambria Math" panose="02040503050406030204" pitchFamily="18" charset="0"/>
                                    </a:rPr>
                                    <m:t>+1</m:t>
                                  </m:r>
                                </m:sup>
                              </m:sSubSup>
                              <m:r>
                                <a:rPr lang="en-US" i="1">
                                  <a:latin typeface="Cambria Math" panose="02040503050406030204" pitchFamily="18" charset="0"/>
                                </a:rPr>
                                <m:t> </m:t>
                              </m:r>
                            </m:num>
                            <m:den>
                              <m:r>
                                <m:rPr>
                                  <m:sty m:val="p"/>
                                </m:rPr>
                                <a:rPr lang="en-US">
                                  <a:latin typeface="Cambria Math" panose="02040503050406030204" pitchFamily="18" charset="0"/>
                                </a:rPr>
                                <m:t>Δ</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𝑥</m:t>
                                  </m:r>
                                </m:e>
                                <m:sup>
                                  <m:r>
                                    <a:rPr lang="en-US" b="0" i="1" smtClean="0">
                                      <a:latin typeface="Cambria Math" panose="02040503050406030204" pitchFamily="18" charset="0"/>
                                    </a:rPr>
                                    <m:t>2</m:t>
                                  </m:r>
                                </m:sup>
                              </m:sSup>
                            </m:den>
                          </m:f>
                        </m:e>
                      </m:d>
                    </m:oMath>
                  </m:oMathPara>
                </a14:m>
                <a:endParaRPr lang="en-US" dirty="0"/>
              </a:p>
              <a:p>
                <a:pPr>
                  <a:lnSpc>
                    <a:spcPct val="100000"/>
                  </a:lnSpc>
                </a:pPr>
                <a:r>
                  <a:rPr lang="en-US" dirty="0"/>
                  <a:t>This time- discretization is called </a:t>
                </a:r>
                <a:r>
                  <a:rPr lang="en-US" i="1" dirty="0"/>
                  <a:t>Crank-Nicolson</a:t>
                </a:r>
                <a:r>
                  <a:rPr lang="en-US" dirty="0"/>
                  <a:t>. </a:t>
                </a:r>
              </a:p>
              <a:p>
                <a:pPr>
                  <a:lnSpc>
                    <a:spcPct val="100000"/>
                  </a:lnSpc>
                </a:pPr>
                <a:r>
                  <a:rPr lang="en-US" dirty="0"/>
                  <a:t>Using the same method as before we get an altered formula</a:t>
                </a:r>
              </a:p>
              <a:p>
                <a:pPr marL="0" indent="0">
                  <a:lnSpc>
                    <a:spcPct val="150000"/>
                  </a:lnSpc>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𝛼</m:t>
                          </m:r>
                        </m:num>
                        <m:den>
                          <m:r>
                            <a:rPr lang="en-US" b="0" i="1" smtClean="0">
                              <a:latin typeface="Cambria Math" panose="02040503050406030204" pitchFamily="18" charset="0"/>
                            </a:rPr>
                            <m:t>2</m:t>
                          </m:r>
                        </m:den>
                      </m:f>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𝜙</m:t>
                          </m:r>
                        </m:e>
                        <m:sub>
                          <m:r>
                            <a:rPr lang="en-US" b="0" i="1" smtClean="0">
                              <a:latin typeface="Cambria Math" panose="02040503050406030204" pitchFamily="18" charset="0"/>
                            </a:rPr>
                            <m:t>𝑖</m:t>
                          </m:r>
                          <m:r>
                            <a:rPr lang="en-US" b="0" i="1" smtClean="0">
                              <a:latin typeface="Cambria Math" panose="02040503050406030204" pitchFamily="18" charset="0"/>
                            </a:rPr>
                            <m:t>+1</m:t>
                          </m:r>
                        </m:sub>
                        <m:sup>
                          <m:r>
                            <a:rPr lang="en-US" b="0" i="1" smtClean="0">
                              <a:latin typeface="Cambria Math" panose="02040503050406030204" pitchFamily="18" charset="0"/>
                            </a:rPr>
                            <m:t>𝑛</m:t>
                          </m:r>
                          <m:r>
                            <a:rPr lang="en-US" b="0" i="1" smtClean="0">
                              <a:latin typeface="Cambria Math" panose="02040503050406030204" pitchFamily="18" charset="0"/>
                            </a:rPr>
                            <m:t>+1</m:t>
                          </m:r>
                        </m:sup>
                      </m:sSubSup>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1+</m:t>
                          </m:r>
                          <m:r>
                            <a:rPr lang="en-US" b="0" i="1" smtClean="0">
                              <a:latin typeface="Cambria Math" panose="02040503050406030204" pitchFamily="18" charset="0"/>
                            </a:rPr>
                            <m:t>𝛼</m:t>
                          </m:r>
                        </m:e>
                      </m:d>
                      <m:sSubSup>
                        <m:sSubSupPr>
                          <m:ctrlPr>
                            <a:rPr lang="en-US" i="1">
                              <a:latin typeface="Cambria Math" panose="02040503050406030204" pitchFamily="18" charset="0"/>
                            </a:rPr>
                          </m:ctrlPr>
                        </m:sSubSupPr>
                        <m:e>
                          <m:r>
                            <a:rPr lang="en-US" i="1">
                              <a:latin typeface="Cambria Math" panose="02040503050406030204" pitchFamily="18" charset="0"/>
                            </a:rPr>
                            <m:t>𝜙</m:t>
                          </m:r>
                        </m:e>
                        <m:sub>
                          <m:r>
                            <a:rPr lang="en-US" i="1">
                              <a:latin typeface="Cambria Math" panose="02040503050406030204" pitchFamily="18" charset="0"/>
                            </a:rPr>
                            <m:t>𝑖</m:t>
                          </m:r>
                        </m:sub>
                        <m:sup>
                          <m:r>
                            <a:rPr lang="en-US" i="1">
                              <a:latin typeface="Cambria Math" panose="02040503050406030204" pitchFamily="18" charset="0"/>
                            </a:rPr>
                            <m:t>𝑛</m:t>
                          </m:r>
                          <m:r>
                            <a:rPr lang="en-US" i="1">
                              <a:latin typeface="Cambria Math" panose="02040503050406030204" pitchFamily="18" charset="0"/>
                            </a:rPr>
                            <m:t>+1</m:t>
                          </m:r>
                        </m:sup>
                      </m:sSubSup>
                      <m:r>
                        <a:rPr lang="en-US" i="1">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𝛼</m:t>
                          </m:r>
                        </m:num>
                        <m:den>
                          <m:r>
                            <a:rPr lang="en-US" i="1">
                              <a:latin typeface="Cambria Math" panose="02040503050406030204" pitchFamily="18" charset="0"/>
                            </a:rPr>
                            <m:t>2</m:t>
                          </m:r>
                        </m:den>
                      </m:f>
                      <m:sSubSup>
                        <m:sSubSupPr>
                          <m:ctrlPr>
                            <a:rPr lang="en-US" i="1">
                              <a:latin typeface="Cambria Math" panose="02040503050406030204" pitchFamily="18" charset="0"/>
                            </a:rPr>
                          </m:ctrlPr>
                        </m:sSubSupPr>
                        <m:e>
                          <m:r>
                            <a:rPr lang="en-US" i="1">
                              <a:latin typeface="Cambria Math" panose="02040503050406030204" pitchFamily="18" charset="0"/>
                            </a:rPr>
                            <m:t>𝜙</m:t>
                          </m:r>
                        </m:e>
                        <m:sub>
                          <m:r>
                            <a:rPr lang="en-US" i="1">
                              <a:latin typeface="Cambria Math" panose="02040503050406030204" pitchFamily="18" charset="0"/>
                            </a:rPr>
                            <m:t>𝑖</m:t>
                          </m:r>
                          <m:r>
                            <a:rPr lang="en-US" b="0" i="1" smtClean="0">
                              <a:latin typeface="Cambria Math" panose="02040503050406030204" pitchFamily="18" charset="0"/>
                            </a:rPr>
                            <m:t>−</m:t>
                          </m:r>
                          <m:r>
                            <a:rPr lang="en-US" i="1">
                              <a:latin typeface="Cambria Math" panose="02040503050406030204" pitchFamily="18" charset="0"/>
                            </a:rPr>
                            <m:t>1</m:t>
                          </m:r>
                        </m:sub>
                        <m:sup>
                          <m:r>
                            <a:rPr lang="en-US" i="1">
                              <a:latin typeface="Cambria Math" panose="02040503050406030204" pitchFamily="18" charset="0"/>
                            </a:rPr>
                            <m:t>𝑛</m:t>
                          </m:r>
                          <m:r>
                            <a:rPr lang="en-US" i="1">
                              <a:latin typeface="Cambria Math" panose="02040503050406030204" pitchFamily="18" charset="0"/>
                            </a:rPr>
                            <m:t>+1</m:t>
                          </m:r>
                        </m:sup>
                      </m:sSubSup>
                      <m:r>
                        <a:rPr lang="en-US" b="0" i="1" smtClean="0">
                          <a:latin typeface="Cambria Math" panose="02040503050406030204" pitchFamily="18" charset="0"/>
                        </a:rPr>
                        <m:t>=</m:t>
                      </m:r>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𝜙</m:t>
                          </m:r>
                        </m:e>
                        <m:sub>
                          <m:r>
                            <a:rPr lang="en-US" b="0" i="1" smtClean="0">
                              <a:latin typeface="Cambria Math" panose="02040503050406030204" pitchFamily="18" charset="0"/>
                            </a:rPr>
                            <m:t>𝑖</m:t>
                          </m:r>
                        </m:sub>
                        <m:sup>
                          <m:r>
                            <a:rPr lang="en-US" b="0" i="1" smtClean="0">
                              <a:latin typeface="Cambria Math" panose="02040503050406030204" pitchFamily="18" charset="0"/>
                            </a:rPr>
                            <m:t>𝑛</m:t>
                          </m:r>
                        </m:sup>
                      </m:sSubSup>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𝛼</m:t>
                          </m:r>
                        </m:num>
                        <m:den>
                          <m:r>
                            <a:rPr lang="en-US" b="0" i="1" smtClean="0">
                              <a:latin typeface="Cambria Math" panose="02040503050406030204" pitchFamily="18" charset="0"/>
                            </a:rPr>
                            <m:t>2</m:t>
                          </m:r>
                        </m:den>
                      </m:f>
                      <m:d>
                        <m:dPr>
                          <m:ctrlPr>
                            <a:rPr lang="en-US" b="0" i="1" smtClean="0">
                              <a:latin typeface="Cambria Math" panose="02040503050406030204" pitchFamily="18" charset="0"/>
                            </a:rPr>
                          </m:ctrlPr>
                        </m:dPr>
                        <m:e>
                          <m:sSubSup>
                            <m:sSubSupPr>
                              <m:ctrlPr>
                                <a:rPr lang="en-US" i="1">
                                  <a:latin typeface="Cambria Math" panose="02040503050406030204" pitchFamily="18" charset="0"/>
                                </a:rPr>
                              </m:ctrlPr>
                            </m:sSubSupPr>
                            <m:e>
                              <m:r>
                                <a:rPr lang="en-US" i="1">
                                  <a:latin typeface="Cambria Math" panose="02040503050406030204" pitchFamily="18" charset="0"/>
                                </a:rPr>
                                <m:t>𝜙</m:t>
                              </m:r>
                            </m:e>
                            <m:sub>
                              <m:r>
                                <a:rPr lang="en-US" i="1">
                                  <a:latin typeface="Cambria Math" panose="02040503050406030204" pitchFamily="18" charset="0"/>
                                </a:rPr>
                                <m:t>𝑖</m:t>
                              </m:r>
                              <m:r>
                                <a:rPr lang="en-US" i="1">
                                  <a:latin typeface="Cambria Math" panose="02040503050406030204" pitchFamily="18" charset="0"/>
                                </a:rPr>
                                <m:t>+1</m:t>
                              </m:r>
                            </m:sub>
                            <m:sup>
                              <m:r>
                                <a:rPr lang="en-US" i="1">
                                  <a:latin typeface="Cambria Math" panose="02040503050406030204" pitchFamily="18" charset="0"/>
                                </a:rPr>
                                <m:t>𝑛</m:t>
                              </m:r>
                            </m:sup>
                          </m:sSubSup>
                          <m:r>
                            <a:rPr lang="en-US" b="0" i="1" smtClean="0">
                              <a:latin typeface="Cambria Math" panose="02040503050406030204" pitchFamily="18" charset="0"/>
                            </a:rPr>
                            <m:t>−2</m:t>
                          </m:r>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𝜙</m:t>
                              </m:r>
                            </m:e>
                            <m:sub>
                              <m:r>
                                <a:rPr lang="en-US" b="0" i="1" smtClean="0">
                                  <a:latin typeface="Cambria Math" panose="02040503050406030204" pitchFamily="18" charset="0"/>
                                </a:rPr>
                                <m:t>𝑖</m:t>
                              </m:r>
                            </m:sub>
                            <m:sup>
                              <m:r>
                                <a:rPr lang="en-US" b="0" i="1" smtClean="0">
                                  <a:latin typeface="Cambria Math" panose="02040503050406030204" pitchFamily="18" charset="0"/>
                                </a:rPr>
                                <m:t>𝑛</m:t>
                              </m:r>
                            </m:sup>
                          </m:sSubSup>
                          <m:r>
                            <a:rPr lang="en-US" b="0" i="1" smtClean="0">
                              <a:latin typeface="Cambria Math" panose="02040503050406030204" pitchFamily="18" charset="0"/>
                            </a:rPr>
                            <m:t>+</m:t>
                          </m:r>
                          <m:sSubSup>
                            <m:sSubSupPr>
                              <m:ctrlPr>
                                <a:rPr lang="en-US" i="1">
                                  <a:latin typeface="Cambria Math" panose="02040503050406030204" pitchFamily="18" charset="0"/>
                                </a:rPr>
                              </m:ctrlPr>
                            </m:sSubSupPr>
                            <m:e>
                              <m:r>
                                <a:rPr lang="en-US" i="1">
                                  <a:latin typeface="Cambria Math" panose="02040503050406030204" pitchFamily="18" charset="0"/>
                                </a:rPr>
                                <m:t>𝜙</m:t>
                              </m:r>
                            </m:e>
                            <m:sub>
                              <m:r>
                                <a:rPr lang="en-US" i="1">
                                  <a:latin typeface="Cambria Math" panose="02040503050406030204" pitchFamily="18" charset="0"/>
                                </a:rPr>
                                <m:t>𝑖</m:t>
                              </m:r>
                              <m:r>
                                <a:rPr lang="en-US" i="1">
                                  <a:latin typeface="Cambria Math" panose="02040503050406030204" pitchFamily="18" charset="0"/>
                                </a:rPr>
                                <m:t>−1</m:t>
                              </m:r>
                            </m:sub>
                            <m:sup>
                              <m:r>
                                <a:rPr lang="en-US" i="1">
                                  <a:latin typeface="Cambria Math" panose="02040503050406030204" pitchFamily="18" charset="0"/>
                                </a:rPr>
                                <m:t>𝑛</m:t>
                              </m:r>
                            </m:sup>
                          </m:sSubSup>
                        </m:e>
                      </m:d>
                    </m:oMath>
                  </m:oMathPara>
                </a14:m>
                <a:endParaRPr lang="en-US" dirty="0"/>
              </a:p>
            </p:txBody>
          </p:sp>
        </mc:Choice>
        <mc:Fallback xmlns="">
          <p:sp>
            <p:nvSpPr>
              <p:cNvPr id="3" name="Content Placeholder 2">
                <a:extLst>
                  <a:ext uri="{FF2B5EF4-FFF2-40B4-BE49-F238E27FC236}">
                    <a16:creationId xmlns:a16="http://schemas.microsoft.com/office/drawing/2014/main" id="{15C4FD65-F675-944D-A379-3A5FFFAEB784}"/>
                  </a:ext>
                </a:extLst>
              </p:cNvPr>
              <p:cNvSpPr>
                <a:spLocks noGrp="1" noRot="1" noChangeAspect="1" noMove="1" noResize="1" noEditPoints="1" noAdjustHandles="1" noChangeArrowheads="1" noChangeShapeType="1" noTextEdit="1"/>
              </p:cNvSpPr>
              <p:nvPr>
                <p:ph idx="1"/>
              </p:nvPr>
            </p:nvSpPr>
            <p:spPr>
              <a:xfrm>
                <a:off x="838200" y="1325562"/>
                <a:ext cx="10515600" cy="5532437"/>
              </a:xfrm>
              <a:blipFill>
                <a:blip r:embed="rId2"/>
                <a:stretch>
                  <a:fillRect l="-965" t="-915" r="-483"/>
                </a:stretch>
              </a:blipFill>
            </p:spPr>
            <p:txBody>
              <a:bodyPr/>
              <a:lstStyle/>
              <a:p>
                <a:r>
                  <a:rPr lang="en-US">
                    <a:noFill/>
                  </a:rPr>
                  <a:t> </a:t>
                </a:r>
              </a:p>
            </p:txBody>
          </p:sp>
        </mc:Fallback>
      </mc:AlternateContent>
    </p:spTree>
    <p:extLst>
      <p:ext uri="{BB962C8B-B14F-4D97-AF65-F5344CB8AC3E}">
        <p14:creationId xmlns:p14="http://schemas.microsoft.com/office/powerpoint/2010/main" val="427170422"/>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DCE2F9-F4C3-DA4C-B0FC-7FF6F22D148C}"/>
              </a:ext>
            </a:extLst>
          </p:cNvPr>
          <p:cNvSpPr>
            <a:spLocks noGrp="1"/>
          </p:cNvSpPr>
          <p:nvPr>
            <p:ph type="title"/>
          </p:nvPr>
        </p:nvSpPr>
        <p:spPr>
          <a:xfrm>
            <a:off x="838200" y="0"/>
            <a:ext cx="10515600" cy="1325563"/>
          </a:xfrm>
        </p:spPr>
        <p:txBody>
          <a:bodyPr/>
          <a:lstStyle/>
          <a:p>
            <a:r>
              <a:rPr lang="en-US" dirty="0"/>
              <a:t>Doing it better</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5C4FD65-F675-944D-A379-3A5FFFAEB784}"/>
                  </a:ext>
                </a:extLst>
              </p:cNvPr>
              <p:cNvSpPr>
                <a:spLocks noGrp="1"/>
              </p:cNvSpPr>
              <p:nvPr>
                <p:ph idx="1"/>
              </p:nvPr>
            </p:nvSpPr>
            <p:spPr>
              <a:xfrm>
                <a:off x="838200" y="1325562"/>
                <a:ext cx="10515600" cy="5532437"/>
              </a:xfrm>
            </p:spPr>
            <p:txBody>
              <a:bodyPr/>
              <a:lstStyle/>
              <a:p>
                <a:pPr marL="0" indent="0">
                  <a:lnSpc>
                    <a:spcPct val="100000"/>
                  </a:lnSpc>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𝛼</m:t>
                          </m:r>
                        </m:num>
                        <m:den>
                          <m:r>
                            <a:rPr lang="en-US" b="0" i="1" smtClean="0">
                              <a:latin typeface="Cambria Math" panose="02040503050406030204" pitchFamily="18" charset="0"/>
                            </a:rPr>
                            <m:t>2</m:t>
                          </m:r>
                        </m:den>
                      </m:f>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𝜙</m:t>
                          </m:r>
                        </m:e>
                        <m:sub>
                          <m:r>
                            <a:rPr lang="en-US" b="0" i="1" smtClean="0">
                              <a:latin typeface="Cambria Math" panose="02040503050406030204" pitchFamily="18" charset="0"/>
                            </a:rPr>
                            <m:t>𝑖</m:t>
                          </m:r>
                          <m:r>
                            <a:rPr lang="en-US" b="0" i="1" smtClean="0">
                              <a:latin typeface="Cambria Math" panose="02040503050406030204" pitchFamily="18" charset="0"/>
                            </a:rPr>
                            <m:t>+1</m:t>
                          </m:r>
                        </m:sub>
                        <m:sup>
                          <m:r>
                            <a:rPr lang="en-US" b="0" i="1" smtClean="0">
                              <a:latin typeface="Cambria Math" panose="02040503050406030204" pitchFamily="18" charset="0"/>
                            </a:rPr>
                            <m:t>𝑛</m:t>
                          </m:r>
                          <m:r>
                            <a:rPr lang="en-US" b="0" i="1" smtClean="0">
                              <a:latin typeface="Cambria Math" panose="02040503050406030204" pitchFamily="18" charset="0"/>
                            </a:rPr>
                            <m:t>+1</m:t>
                          </m:r>
                        </m:sup>
                      </m:sSubSup>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1+</m:t>
                          </m:r>
                          <m:r>
                            <a:rPr lang="en-US" b="0" i="1" smtClean="0">
                              <a:latin typeface="Cambria Math" panose="02040503050406030204" pitchFamily="18" charset="0"/>
                            </a:rPr>
                            <m:t>𝛼</m:t>
                          </m:r>
                        </m:e>
                      </m:d>
                      <m:sSubSup>
                        <m:sSubSupPr>
                          <m:ctrlPr>
                            <a:rPr lang="en-US" i="1">
                              <a:latin typeface="Cambria Math" panose="02040503050406030204" pitchFamily="18" charset="0"/>
                            </a:rPr>
                          </m:ctrlPr>
                        </m:sSubSupPr>
                        <m:e>
                          <m:r>
                            <a:rPr lang="en-US" i="1">
                              <a:latin typeface="Cambria Math" panose="02040503050406030204" pitchFamily="18" charset="0"/>
                            </a:rPr>
                            <m:t>𝜙</m:t>
                          </m:r>
                        </m:e>
                        <m:sub>
                          <m:r>
                            <a:rPr lang="en-US" i="1">
                              <a:latin typeface="Cambria Math" panose="02040503050406030204" pitchFamily="18" charset="0"/>
                            </a:rPr>
                            <m:t>𝑖</m:t>
                          </m:r>
                        </m:sub>
                        <m:sup>
                          <m:r>
                            <a:rPr lang="en-US" i="1">
                              <a:latin typeface="Cambria Math" panose="02040503050406030204" pitchFamily="18" charset="0"/>
                            </a:rPr>
                            <m:t>𝑛</m:t>
                          </m:r>
                          <m:r>
                            <a:rPr lang="en-US" i="1">
                              <a:latin typeface="Cambria Math" panose="02040503050406030204" pitchFamily="18" charset="0"/>
                            </a:rPr>
                            <m:t>+1</m:t>
                          </m:r>
                        </m:sup>
                      </m:sSubSup>
                      <m:r>
                        <a:rPr lang="en-US" i="1">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𝛼</m:t>
                          </m:r>
                        </m:num>
                        <m:den>
                          <m:r>
                            <a:rPr lang="en-US" i="1">
                              <a:latin typeface="Cambria Math" panose="02040503050406030204" pitchFamily="18" charset="0"/>
                            </a:rPr>
                            <m:t>2</m:t>
                          </m:r>
                        </m:den>
                      </m:f>
                      <m:sSubSup>
                        <m:sSubSupPr>
                          <m:ctrlPr>
                            <a:rPr lang="en-US" i="1">
                              <a:latin typeface="Cambria Math" panose="02040503050406030204" pitchFamily="18" charset="0"/>
                            </a:rPr>
                          </m:ctrlPr>
                        </m:sSubSupPr>
                        <m:e>
                          <m:r>
                            <a:rPr lang="en-US" i="1">
                              <a:latin typeface="Cambria Math" panose="02040503050406030204" pitchFamily="18" charset="0"/>
                            </a:rPr>
                            <m:t>𝜙</m:t>
                          </m:r>
                        </m:e>
                        <m:sub>
                          <m:r>
                            <a:rPr lang="en-US" i="1">
                              <a:latin typeface="Cambria Math" panose="02040503050406030204" pitchFamily="18" charset="0"/>
                            </a:rPr>
                            <m:t>𝑖</m:t>
                          </m:r>
                          <m:r>
                            <a:rPr lang="en-US" b="0" i="1" smtClean="0">
                              <a:latin typeface="Cambria Math" panose="02040503050406030204" pitchFamily="18" charset="0"/>
                            </a:rPr>
                            <m:t>−</m:t>
                          </m:r>
                          <m:r>
                            <a:rPr lang="en-US" i="1">
                              <a:latin typeface="Cambria Math" panose="02040503050406030204" pitchFamily="18" charset="0"/>
                            </a:rPr>
                            <m:t>1</m:t>
                          </m:r>
                        </m:sub>
                        <m:sup>
                          <m:r>
                            <a:rPr lang="en-US" i="1">
                              <a:latin typeface="Cambria Math" panose="02040503050406030204" pitchFamily="18" charset="0"/>
                            </a:rPr>
                            <m:t>𝑛</m:t>
                          </m:r>
                          <m:r>
                            <a:rPr lang="en-US" i="1">
                              <a:latin typeface="Cambria Math" panose="02040503050406030204" pitchFamily="18" charset="0"/>
                            </a:rPr>
                            <m:t>+1</m:t>
                          </m:r>
                        </m:sup>
                      </m:sSubSup>
                      <m:r>
                        <a:rPr lang="en-US" b="0" i="1" smtClean="0">
                          <a:latin typeface="Cambria Math" panose="02040503050406030204" pitchFamily="18" charset="0"/>
                        </a:rPr>
                        <m:t>=</m:t>
                      </m:r>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𝜙</m:t>
                          </m:r>
                        </m:e>
                        <m:sub>
                          <m:r>
                            <a:rPr lang="en-US" b="0" i="1" smtClean="0">
                              <a:latin typeface="Cambria Math" panose="02040503050406030204" pitchFamily="18" charset="0"/>
                            </a:rPr>
                            <m:t>𝑖</m:t>
                          </m:r>
                        </m:sub>
                        <m:sup>
                          <m:r>
                            <a:rPr lang="en-US" b="0" i="1" smtClean="0">
                              <a:latin typeface="Cambria Math" panose="02040503050406030204" pitchFamily="18" charset="0"/>
                            </a:rPr>
                            <m:t>𝑛</m:t>
                          </m:r>
                        </m:sup>
                      </m:sSubSup>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𝛼</m:t>
                          </m:r>
                        </m:num>
                        <m:den>
                          <m:r>
                            <a:rPr lang="en-US" b="0" i="1" smtClean="0">
                              <a:latin typeface="Cambria Math" panose="02040503050406030204" pitchFamily="18" charset="0"/>
                            </a:rPr>
                            <m:t>2</m:t>
                          </m:r>
                        </m:den>
                      </m:f>
                      <m:d>
                        <m:dPr>
                          <m:ctrlPr>
                            <a:rPr lang="en-US" b="0" i="1" smtClean="0">
                              <a:latin typeface="Cambria Math" panose="02040503050406030204" pitchFamily="18" charset="0"/>
                            </a:rPr>
                          </m:ctrlPr>
                        </m:dPr>
                        <m:e>
                          <m:sSubSup>
                            <m:sSubSupPr>
                              <m:ctrlPr>
                                <a:rPr lang="en-US" i="1">
                                  <a:latin typeface="Cambria Math" panose="02040503050406030204" pitchFamily="18" charset="0"/>
                                </a:rPr>
                              </m:ctrlPr>
                            </m:sSubSupPr>
                            <m:e>
                              <m:r>
                                <a:rPr lang="en-US" i="1">
                                  <a:latin typeface="Cambria Math" panose="02040503050406030204" pitchFamily="18" charset="0"/>
                                </a:rPr>
                                <m:t>𝜙</m:t>
                              </m:r>
                            </m:e>
                            <m:sub>
                              <m:r>
                                <a:rPr lang="en-US" i="1">
                                  <a:latin typeface="Cambria Math" panose="02040503050406030204" pitchFamily="18" charset="0"/>
                                </a:rPr>
                                <m:t>𝑖</m:t>
                              </m:r>
                              <m:r>
                                <a:rPr lang="en-US" i="1">
                                  <a:latin typeface="Cambria Math" panose="02040503050406030204" pitchFamily="18" charset="0"/>
                                </a:rPr>
                                <m:t>+1</m:t>
                              </m:r>
                            </m:sub>
                            <m:sup>
                              <m:r>
                                <a:rPr lang="en-US" i="1">
                                  <a:latin typeface="Cambria Math" panose="02040503050406030204" pitchFamily="18" charset="0"/>
                                </a:rPr>
                                <m:t>𝑛</m:t>
                              </m:r>
                            </m:sup>
                          </m:sSubSup>
                          <m:r>
                            <a:rPr lang="en-US" b="0" i="1" smtClean="0">
                              <a:latin typeface="Cambria Math" panose="02040503050406030204" pitchFamily="18" charset="0"/>
                            </a:rPr>
                            <m:t>−2</m:t>
                          </m:r>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𝜙</m:t>
                              </m:r>
                            </m:e>
                            <m:sub>
                              <m:r>
                                <a:rPr lang="en-US" b="0" i="1" smtClean="0">
                                  <a:latin typeface="Cambria Math" panose="02040503050406030204" pitchFamily="18" charset="0"/>
                                </a:rPr>
                                <m:t>𝑖</m:t>
                              </m:r>
                            </m:sub>
                            <m:sup>
                              <m:r>
                                <a:rPr lang="en-US" b="0" i="1" smtClean="0">
                                  <a:latin typeface="Cambria Math" panose="02040503050406030204" pitchFamily="18" charset="0"/>
                                </a:rPr>
                                <m:t>𝑛</m:t>
                              </m:r>
                            </m:sup>
                          </m:sSubSup>
                          <m:r>
                            <a:rPr lang="en-US" b="0" i="1" smtClean="0">
                              <a:latin typeface="Cambria Math" panose="02040503050406030204" pitchFamily="18" charset="0"/>
                            </a:rPr>
                            <m:t>+</m:t>
                          </m:r>
                          <m:sSubSup>
                            <m:sSubSupPr>
                              <m:ctrlPr>
                                <a:rPr lang="en-US" i="1">
                                  <a:latin typeface="Cambria Math" panose="02040503050406030204" pitchFamily="18" charset="0"/>
                                </a:rPr>
                              </m:ctrlPr>
                            </m:sSubSupPr>
                            <m:e>
                              <m:r>
                                <a:rPr lang="en-US" i="1">
                                  <a:latin typeface="Cambria Math" panose="02040503050406030204" pitchFamily="18" charset="0"/>
                                </a:rPr>
                                <m:t>𝜙</m:t>
                              </m:r>
                            </m:e>
                            <m:sub>
                              <m:r>
                                <a:rPr lang="en-US" i="1">
                                  <a:latin typeface="Cambria Math" panose="02040503050406030204" pitchFamily="18" charset="0"/>
                                </a:rPr>
                                <m:t>𝑖</m:t>
                              </m:r>
                              <m:r>
                                <a:rPr lang="en-US" i="1">
                                  <a:latin typeface="Cambria Math" panose="02040503050406030204" pitchFamily="18" charset="0"/>
                                </a:rPr>
                                <m:t>−1</m:t>
                              </m:r>
                            </m:sub>
                            <m:sup>
                              <m:r>
                                <a:rPr lang="en-US" i="1">
                                  <a:latin typeface="Cambria Math" panose="02040503050406030204" pitchFamily="18" charset="0"/>
                                </a:rPr>
                                <m:t>𝑛</m:t>
                              </m:r>
                            </m:sup>
                          </m:sSubSup>
                        </m:e>
                      </m:d>
                    </m:oMath>
                  </m:oMathPara>
                </a14:m>
                <a:endParaRPr lang="en-US" dirty="0"/>
              </a:p>
              <a:p>
                <a:pPr>
                  <a:lnSpc>
                    <a:spcPct val="100000"/>
                  </a:lnSpc>
                </a:pPr>
                <a:r>
                  <a:rPr lang="en-US" dirty="0"/>
                  <a:t>Using Homogeneous Neumann BC on the left and right boundaries we have : </a:t>
                </a:r>
              </a:p>
              <a:p>
                <a:pPr marL="0" indent="0" algn="ctr">
                  <a:lnSpc>
                    <a:spcPct val="100000"/>
                  </a:lnSpc>
                  <a:buNone/>
                </a:pPr>
                <a14:m>
                  <m:oMath xmlns:m="http://schemas.openxmlformats.org/officeDocument/2006/math">
                    <m:sSubSup>
                      <m:sSubSupPr>
                        <m:ctrlPr>
                          <a:rPr lang="en-US" i="1">
                            <a:latin typeface="Cambria Math" panose="02040503050406030204" pitchFamily="18" charset="0"/>
                          </a:rPr>
                        </m:ctrlPr>
                      </m:sSubSupPr>
                      <m:e>
                        <m:r>
                          <a:rPr lang="en-US" i="1">
                            <a:latin typeface="Cambria Math" panose="02040503050406030204" pitchFamily="18" charset="0"/>
                          </a:rPr>
                          <m:t>𝜙</m:t>
                        </m:r>
                      </m:e>
                      <m:sub>
                        <m:r>
                          <a:rPr lang="en-US" i="1">
                            <a:latin typeface="Cambria Math" panose="02040503050406030204" pitchFamily="18" charset="0"/>
                          </a:rPr>
                          <m:t>𝑙𝑜</m:t>
                        </m:r>
                        <m:r>
                          <a:rPr lang="en-US" i="1">
                            <a:latin typeface="Cambria Math" panose="02040503050406030204" pitchFamily="18" charset="0"/>
                          </a:rPr>
                          <m:t>−1</m:t>
                        </m:r>
                      </m:sub>
                      <m:sup>
                        <m:r>
                          <a:rPr lang="en-US" i="1">
                            <a:latin typeface="Cambria Math" panose="02040503050406030204" pitchFamily="18" charset="0"/>
                          </a:rPr>
                          <m:t>𝑛</m:t>
                        </m:r>
                        <m:r>
                          <a:rPr lang="en-US" i="1">
                            <a:latin typeface="Cambria Math" panose="02040503050406030204" pitchFamily="18" charset="0"/>
                          </a:rPr>
                          <m:t>+1</m:t>
                        </m:r>
                      </m:sup>
                    </m:sSubSup>
                    <m:r>
                      <a:rPr lang="en-US" b="0" i="1" smtClean="0">
                        <a:latin typeface="Cambria Math" panose="02040503050406030204" pitchFamily="18" charset="0"/>
                      </a:rPr>
                      <m:t>=</m:t>
                    </m:r>
                    <m:sSubSup>
                      <m:sSubSupPr>
                        <m:ctrlPr>
                          <a:rPr lang="en-US" i="1">
                            <a:latin typeface="Cambria Math" panose="02040503050406030204" pitchFamily="18" charset="0"/>
                          </a:rPr>
                        </m:ctrlPr>
                      </m:sSubSupPr>
                      <m:e>
                        <m:r>
                          <a:rPr lang="en-US" i="1">
                            <a:latin typeface="Cambria Math" panose="02040503050406030204" pitchFamily="18" charset="0"/>
                          </a:rPr>
                          <m:t>𝜙</m:t>
                        </m:r>
                      </m:e>
                      <m:sub>
                        <m:r>
                          <a:rPr lang="en-US" i="1">
                            <a:latin typeface="Cambria Math" panose="02040503050406030204" pitchFamily="18" charset="0"/>
                          </a:rPr>
                          <m:t>𝑙𝑜</m:t>
                        </m:r>
                      </m:sub>
                      <m:sup>
                        <m:r>
                          <a:rPr lang="en-US" i="1">
                            <a:latin typeface="Cambria Math" panose="02040503050406030204" pitchFamily="18" charset="0"/>
                          </a:rPr>
                          <m:t>𝑛</m:t>
                        </m:r>
                        <m:r>
                          <a:rPr lang="en-US" i="1">
                            <a:latin typeface="Cambria Math" panose="02040503050406030204" pitchFamily="18" charset="0"/>
                          </a:rPr>
                          <m:t>+1</m:t>
                        </m:r>
                      </m:sup>
                    </m:sSubSup>
                  </m:oMath>
                </a14:m>
                <a:r>
                  <a:rPr lang="en-US" b="0" dirty="0"/>
                  <a:t> ,   </a:t>
                </a:r>
                <a14:m>
                  <m:oMath xmlns:m="http://schemas.openxmlformats.org/officeDocument/2006/math">
                    <m:sSubSup>
                      <m:sSubSupPr>
                        <m:ctrlPr>
                          <a:rPr lang="en-US" i="1">
                            <a:latin typeface="Cambria Math" panose="02040503050406030204" pitchFamily="18" charset="0"/>
                          </a:rPr>
                        </m:ctrlPr>
                      </m:sSubSupPr>
                      <m:e>
                        <m:r>
                          <a:rPr lang="en-US" i="1">
                            <a:latin typeface="Cambria Math" panose="02040503050406030204" pitchFamily="18" charset="0"/>
                          </a:rPr>
                          <m:t>𝜙</m:t>
                        </m:r>
                      </m:e>
                      <m:sub>
                        <m:r>
                          <a:rPr lang="en-US" b="0" i="1" smtClean="0">
                            <a:latin typeface="Cambria Math" panose="02040503050406030204" pitchFamily="18" charset="0"/>
                          </a:rPr>
                          <m:t>h𝑖</m:t>
                        </m:r>
                        <m:r>
                          <a:rPr lang="en-US" i="1">
                            <a:latin typeface="Cambria Math" panose="02040503050406030204" pitchFamily="18" charset="0"/>
                          </a:rPr>
                          <m:t>−1</m:t>
                        </m:r>
                      </m:sub>
                      <m:sup>
                        <m:r>
                          <a:rPr lang="en-US" i="1">
                            <a:latin typeface="Cambria Math" panose="02040503050406030204" pitchFamily="18" charset="0"/>
                          </a:rPr>
                          <m:t>𝑛</m:t>
                        </m:r>
                        <m:r>
                          <a:rPr lang="en-US" i="1">
                            <a:latin typeface="Cambria Math" panose="02040503050406030204" pitchFamily="18" charset="0"/>
                          </a:rPr>
                          <m:t>+1</m:t>
                        </m:r>
                      </m:sup>
                    </m:sSubSup>
                    <m:r>
                      <a:rPr lang="en-US" i="1">
                        <a:latin typeface="Cambria Math" panose="02040503050406030204" pitchFamily="18" charset="0"/>
                      </a:rPr>
                      <m:t>=</m:t>
                    </m:r>
                    <m:sSubSup>
                      <m:sSubSupPr>
                        <m:ctrlPr>
                          <a:rPr lang="en-US" i="1">
                            <a:latin typeface="Cambria Math" panose="02040503050406030204" pitchFamily="18" charset="0"/>
                          </a:rPr>
                        </m:ctrlPr>
                      </m:sSubSupPr>
                      <m:e>
                        <m:r>
                          <a:rPr lang="en-US" i="1">
                            <a:latin typeface="Cambria Math" panose="02040503050406030204" pitchFamily="18" charset="0"/>
                          </a:rPr>
                          <m:t>𝜙</m:t>
                        </m:r>
                      </m:e>
                      <m:sub>
                        <m:r>
                          <a:rPr lang="en-US" b="0" i="1" smtClean="0">
                            <a:latin typeface="Cambria Math" panose="02040503050406030204" pitchFamily="18" charset="0"/>
                          </a:rPr>
                          <m:t>h𝑖</m:t>
                        </m:r>
                      </m:sub>
                      <m:sup>
                        <m:r>
                          <a:rPr lang="en-US" i="1">
                            <a:latin typeface="Cambria Math" panose="02040503050406030204" pitchFamily="18" charset="0"/>
                          </a:rPr>
                          <m:t>𝑛</m:t>
                        </m:r>
                        <m:r>
                          <a:rPr lang="en-US" i="1">
                            <a:latin typeface="Cambria Math" panose="02040503050406030204" pitchFamily="18" charset="0"/>
                          </a:rPr>
                          <m:t>+1</m:t>
                        </m:r>
                      </m:sup>
                    </m:sSubSup>
                  </m:oMath>
                </a14:m>
                <a:r>
                  <a:rPr lang="en-US" b="0" dirty="0"/>
                  <a:t> </a:t>
                </a:r>
              </a:p>
              <a:p>
                <a:pPr marL="0" indent="0">
                  <a:lnSpc>
                    <a:spcPct val="100000"/>
                  </a:lnSpc>
                  <a:buNone/>
                </a:pPr>
                <a:r>
                  <a:rPr lang="en-US" b="0" dirty="0"/>
                  <a:t>and our stencil at the boundary becomes</a:t>
                </a:r>
              </a:p>
              <a:p>
                <a:pPr marL="0" indent="0">
                  <a:lnSpc>
                    <a:spcPct val="150000"/>
                  </a:lnSpc>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𝛼</m:t>
                          </m:r>
                        </m:num>
                        <m:den>
                          <m:r>
                            <a:rPr lang="en-US" i="1">
                              <a:latin typeface="Cambria Math" panose="02040503050406030204" pitchFamily="18" charset="0"/>
                            </a:rPr>
                            <m:t>2</m:t>
                          </m:r>
                        </m:den>
                      </m:f>
                      <m:sSubSup>
                        <m:sSubSupPr>
                          <m:ctrlPr>
                            <a:rPr lang="en-US" i="1">
                              <a:latin typeface="Cambria Math" panose="02040503050406030204" pitchFamily="18" charset="0"/>
                            </a:rPr>
                          </m:ctrlPr>
                        </m:sSubSupPr>
                        <m:e>
                          <m:r>
                            <a:rPr lang="en-US" i="1">
                              <a:latin typeface="Cambria Math" panose="02040503050406030204" pitchFamily="18" charset="0"/>
                            </a:rPr>
                            <m:t>𝜙</m:t>
                          </m:r>
                        </m:e>
                        <m:sub>
                          <m:r>
                            <a:rPr lang="en-US" b="0" i="1" smtClean="0">
                              <a:latin typeface="Cambria Math" panose="02040503050406030204" pitchFamily="18" charset="0"/>
                            </a:rPr>
                            <m:t>𝑙𝑜</m:t>
                          </m:r>
                          <m:r>
                            <a:rPr lang="en-US" i="1">
                              <a:latin typeface="Cambria Math" panose="02040503050406030204" pitchFamily="18" charset="0"/>
                            </a:rPr>
                            <m:t>+1</m:t>
                          </m:r>
                        </m:sub>
                        <m:sup>
                          <m:r>
                            <a:rPr lang="en-US" i="1">
                              <a:latin typeface="Cambria Math" panose="02040503050406030204" pitchFamily="18" charset="0"/>
                            </a:rPr>
                            <m:t>𝑛</m:t>
                          </m:r>
                          <m:r>
                            <a:rPr lang="en-US" i="1">
                              <a:latin typeface="Cambria Math" panose="02040503050406030204" pitchFamily="18" charset="0"/>
                            </a:rPr>
                            <m:t>+1</m:t>
                          </m:r>
                        </m:sup>
                      </m:sSubSup>
                      <m:r>
                        <a:rPr lang="en-US" i="1">
                          <a:latin typeface="Cambria Math" panose="02040503050406030204" pitchFamily="18" charset="0"/>
                        </a:rPr>
                        <m:t>+</m:t>
                      </m:r>
                      <m:d>
                        <m:dPr>
                          <m:ctrlPr>
                            <a:rPr lang="en-US" i="1">
                              <a:latin typeface="Cambria Math" panose="02040503050406030204" pitchFamily="18" charset="0"/>
                            </a:rPr>
                          </m:ctrlPr>
                        </m:dPr>
                        <m:e>
                          <m:r>
                            <a:rPr lang="en-US" i="1">
                              <a:latin typeface="Cambria Math" panose="02040503050406030204" pitchFamily="18" charset="0"/>
                            </a:rPr>
                            <m:t>1+</m:t>
                          </m:r>
                          <m:f>
                            <m:fPr>
                              <m:ctrlPr>
                                <a:rPr lang="en-US" b="0" i="1" smtClean="0">
                                  <a:latin typeface="Cambria Math" panose="02040503050406030204" pitchFamily="18" charset="0"/>
                                </a:rPr>
                              </m:ctrlPr>
                            </m:fPr>
                            <m:num>
                              <m:r>
                                <a:rPr lang="en-US" i="1">
                                  <a:latin typeface="Cambria Math" panose="02040503050406030204" pitchFamily="18" charset="0"/>
                                </a:rPr>
                                <m:t>𝛼</m:t>
                              </m:r>
                            </m:num>
                            <m:den>
                              <m:r>
                                <a:rPr lang="en-US" b="0" i="1" smtClean="0">
                                  <a:latin typeface="Cambria Math" panose="02040503050406030204" pitchFamily="18" charset="0"/>
                                </a:rPr>
                                <m:t>2</m:t>
                              </m:r>
                            </m:den>
                          </m:f>
                        </m:e>
                      </m:d>
                      <m:sSubSup>
                        <m:sSubSupPr>
                          <m:ctrlPr>
                            <a:rPr lang="en-US" i="1">
                              <a:latin typeface="Cambria Math" panose="02040503050406030204" pitchFamily="18" charset="0"/>
                            </a:rPr>
                          </m:ctrlPr>
                        </m:sSubSupPr>
                        <m:e>
                          <m:r>
                            <a:rPr lang="en-US" i="1">
                              <a:latin typeface="Cambria Math" panose="02040503050406030204" pitchFamily="18" charset="0"/>
                            </a:rPr>
                            <m:t>𝜙</m:t>
                          </m:r>
                        </m:e>
                        <m:sub>
                          <m:r>
                            <a:rPr lang="en-US" b="0" i="1" smtClean="0">
                              <a:latin typeface="Cambria Math" panose="02040503050406030204" pitchFamily="18" charset="0"/>
                            </a:rPr>
                            <m:t>𝑙𝑜</m:t>
                          </m:r>
                        </m:sub>
                        <m:sup>
                          <m:r>
                            <a:rPr lang="en-US" i="1">
                              <a:latin typeface="Cambria Math" panose="02040503050406030204" pitchFamily="18" charset="0"/>
                            </a:rPr>
                            <m:t>𝑛</m:t>
                          </m:r>
                          <m:r>
                            <a:rPr lang="en-US" i="1">
                              <a:latin typeface="Cambria Math" panose="02040503050406030204" pitchFamily="18" charset="0"/>
                            </a:rPr>
                            <m:t>+1</m:t>
                          </m:r>
                        </m:sup>
                      </m:sSubSup>
                      <m:r>
                        <a:rPr lang="en-US" i="1">
                          <a:latin typeface="Cambria Math" panose="02040503050406030204" pitchFamily="18" charset="0"/>
                        </a:rPr>
                        <m:t>=</m:t>
                      </m:r>
                      <m:sSubSup>
                        <m:sSubSupPr>
                          <m:ctrlPr>
                            <a:rPr lang="en-US" i="1">
                              <a:latin typeface="Cambria Math" panose="02040503050406030204" pitchFamily="18" charset="0"/>
                            </a:rPr>
                          </m:ctrlPr>
                        </m:sSubSupPr>
                        <m:e>
                          <m:r>
                            <a:rPr lang="en-US" i="1">
                              <a:latin typeface="Cambria Math" panose="02040503050406030204" pitchFamily="18" charset="0"/>
                            </a:rPr>
                            <m:t>𝜙</m:t>
                          </m:r>
                        </m:e>
                        <m:sub>
                          <m:r>
                            <a:rPr lang="en-US" b="0" i="1" smtClean="0">
                              <a:latin typeface="Cambria Math" panose="02040503050406030204" pitchFamily="18" charset="0"/>
                            </a:rPr>
                            <m:t>𝑙𝑜</m:t>
                          </m:r>
                        </m:sub>
                        <m:sup>
                          <m:r>
                            <a:rPr lang="en-US" i="1">
                              <a:latin typeface="Cambria Math" panose="02040503050406030204" pitchFamily="18" charset="0"/>
                            </a:rPr>
                            <m:t>𝑛</m:t>
                          </m:r>
                        </m:sup>
                      </m:sSubSup>
                      <m:r>
                        <a:rPr lang="en-US" i="1">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𝛼</m:t>
                          </m:r>
                        </m:num>
                        <m:den>
                          <m:r>
                            <a:rPr lang="en-US" i="1">
                              <a:latin typeface="Cambria Math" panose="02040503050406030204" pitchFamily="18" charset="0"/>
                            </a:rPr>
                            <m:t>2</m:t>
                          </m:r>
                        </m:den>
                      </m:f>
                      <m:d>
                        <m:dPr>
                          <m:ctrlPr>
                            <a:rPr lang="en-US" i="1">
                              <a:latin typeface="Cambria Math" panose="02040503050406030204" pitchFamily="18" charset="0"/>
                            </a:rPr>
                          </m:ctrlPr>
                        </m:dPr>
                        <m:e>
                          <m:sSubSup>
                            <m:sSubSupPr>
                              <m:ctrlPr>
                                <a:rPr lang="en-US" i="1">
                                  <a:latin typeface="Cambria Math" panose="02040503050406030204" pitchFamily="18" charset="0"/>
                                </a:rPr>
                              </m:ctrlPr>
                            </m:sSubSupPr>
                            <m:e>
                              <m:r>
                                <a:rPr lang="en-US" i="1">
                                  <a:latin typeface="Cambria Math" panose="02040503050406030204" pitchFamily="18" charset="0"/>
                                </a:rPr>
                                <m:t>𝜙</m:t>
                              </m:r>
                            </m:e>
                            <m:sub>
                              <m:r>
                                <a:rPr lang="en-US" b="0" i="1" smtClean="0">
                                  <a:latin typeface="Cambria Math" panose="02040503050406030204" pitchFamily="18" charset="0"/>
                                </a:rPr>
                                <m:t>𝑙𝑜</m:t>
                              </m:r>
                              <m:r>
                                <a:rPr lang="en-US" i="1">
                                  <a:latin typeface="Cambria Math" panose="02040503050406030204" pitchFamily="18" charset="0"/>
                                </a:rPr>
                                <m:t>+1</m:t>
                              </m:r>
                            </m:sub>
                            <m:sup>
                              <m:r>
                                <a:rPr lang="en-US" i="1">
                                  <a:latin typeface="Cambria Math" panose="02040503050406030204" pitchFamily="18" charset="0"/>
                                </a:rPr>
                                <m:t>𝑛</m:t>
                              </m:r>
                            </m:sup>
                          </m:sSubSup>
                          <m:r>
                            <a:rPr lang="en-US" i="1">
                              <a:latin typeface="Cambria Math" panose="02040503050406030204" pitchFamily="18" charset="0"/>
                            </a:rPr>
                            <m:t>−2</m:t>
                          </m:r>
                          <m:sSubSup>
                            <m:sSubSupPr>
                              <m:ctrlPr>
                                <a:rPr lang="en-US" i="1">
                                  <a:latin typeface="Cambria Math" panose="02040503050406030204" pitchFamily="18" charset="0"/>
                                </a:rPr>
                              </m:ctrlPr>
                            </m:sSubSupPr>
                            <m:e>
                              <m:r>
                                <a:rPr lang="en-US" i="1">
                                  <a:latin typeface="Cambria Math" panose="02040503050406030204" pitchFamily="18" charset="0"/>
                                </a:rPr>
                                <m:t>𝜙</m:t>
                              </m:r>
                            </m:e>
                            <m:sub>
                              <m:r>
                                <a:rPr lang="en-US" b="0" i="1" smtClean="0">
                                  <a:latin typeface="Cambria Math" panose="02040503050406030204" pitchFamily="18" charset="0"/>
                                </a:rPr>
                                <m:t>𝑙𝑜</m:t>
                              </m:r>
                            </m:sub>
                            <m:sup>
                              <m:r>
                                <a:rPr lang="en-US" i="1">
                                  <a:latin typeface="Cambria Math" panose="02040503050406030204" pitchFamily="18" charset="0"/>
                                </a:rPr>
                                <m:t>𝑛</m:t>
                              </m:r>
                            </m:sup>
                          </m:sSubSup>
                          <m:r>
                            <a:rPr lang="en-US" i="1">
                              <a:latin typeface="Cambria Math" panose="02040503050406030204" pitchFamily="18" charset="0"/>
                            </a:rPr>
                            <m:t>+</m:t>
                          </m:r>
                          <m:sSubSup>
                            <m:sSubSupPr>
                              <m:ctrlPr>
                                <a:rPr lang="en-US" i="1">
                                  <a:latin typeface="Cambria Math" panose="02040503050406030204" pitchFamily="18" charset="0"/>
                                </a:rPr>
                              </m:ctrlPr>
                            </m:sSubSupPr>
                            <m:e>
                              <m:r>
                                <a:rPr lang="en-US" i="1">
                                  <a:latin typeface="Cambria Math" panose="02040503050406030204" pitchFamily="18" charset="0"/>
                                </a:rPr>
                                <m:t>𝜙</m:t>
                              </m:r>
                            </m:e>
                            <m:sub>
                              <m:r>
                                <a:rPr lang="en-US" b="0" i="1" smtClean="0">
                                  <a:latin typeface="Cambria Math" panose="02040503050406030204" pitchFamily="18" charset="0"/>
                                </a:rPr>
                                <m:t>𝑙𝑜</m:t>
                              </m:r>
                              <m:r>
                                <a:rPr lang="en-US" i="1">
                                  <a:latin typeface="Cambria Math" panose="02040503050406030204" pitchFamily="18" charset="0"/>
                                </a:rPr>
                                <m:t>−1</m:t>
                              </m:r>
                            </m:sub>
                            <m:sup>
                              <m:r>
                                <a:rPr lang="en-US" i="1">
                                  <a:latin typeface="Cambria Math" panose="02040503050406030204" pitchFamily="18" charset="0"/>
                                </a:rPr>
                                <m:t>𝑛</m:t>
                              </m:r>
                            </m:sup>
                          </m:sSubSup>
                        </m:e>
                      </m:d>
                    </m:oMath>
                  </m:oMathPara>
                </a14:m>
                <a:endParaRPr lang="en-US" b="0" dirty="0"/>
              </a:p>
            </p:txBody>
          </p:sp>
        </mc:Choice>
        <mc:Fallback xmlns="">
          <p:sp>
            <p:nvSpPr>
              <p:cNvPr id="3" name="Content Placeholder 2">
                <a:extLst>
                  <a:ext uri="{FF2B5EF4-FFF2-40B4-BE49-F238E27FC236}">
                    <a16:creationId xmlns:a16="http://schemas.microsoft.com/office/drawing/2014/main" id="{15C4FD65-F675-944D-A379-3A5FFFAEB784}"/>
                  </a:ext>
                </a:extLst>
              </p:cNvPr>
              <p:cNvSpPr>
                <a:spLocks noGrp="1" noRot="1" noChangeAspect="1" noMove="1" noResize="1" noEditPoints="1" noAdjustHandles="1" noChangeArrowheads="1" noChangeShapeType="1" noTextEdit="1"/>
              </p:cNvSpPr>
              <p:nvPr>
                <p:ph idx="1"/>
              </p:nvPr>
            </p:nvSpPr>
            <p:spPr>
              <a:xfrm>
                <a:off x="838200" y="1325562"/>
                <a:ext cx="10515600" cy="5532437"/>
              </a:xfrm>
              <a:blipFill>
                <a:blip r:embed="rId2"/>
                <a:stretch>
                  <a:fillRect l="-1086"/>
                </a:stretch>
              </a:blipFill>
            </p:spPr>
            <p:txBody>
              <a:bodyPr/>
              <a:lstStyle/>
              <a:p>
                <a:r>
                  <a:rPr lang="en-US">
                    <a:noFill/>
                  </a:rPr>
                  <a:t> </a:t>
                </a:r>
              </a:p>
            </p:txBody>
          </p:sp>
        </mc:Fallback>
      </mc:AlternateContent>
    </p:spTree>
    <p:extLst>
      <p:ext uri="{BB962C8B-B14F-4D97-AF65-F5344CB8AC3E}">
        <p14:creationId xmlns:p14="http://schemas.microsoft.com/office/powerpoint/2010/main" val="1946981716"/>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DCE2F9-F4C3-DA4C-B0FC-7FF6F22D148C}"/>
              </a:ext>
            </a:extLst>
          </p:cNvPr>
          <p:cNvSpPr>
            <a:spLocks noGrp="1"/>
          </p:cNvSpPr>
          <p:nvPr>
            <p:ph type="title"/>
          </p:nvPr>
        </p:nvSpPr>
        <p:spPr>
          <a:xfrm>
            <a:off x="838200" y="0"/>
            <a:ext cx="10515600" cy="1325563"/>
          </a:xfrm>
        </p:spPr>
        <p:txBody>
          <a:bodyPr/>
          <a:lstStyle/>
          <a:p>
            <a:r>
              <a:rPr lang="en-US" dirty="0"/>
              <a:t>Doing it better</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5C4FD65-F675-944D-A379-3A5FFFAEB784}"/>
                  </a:ext>
                </a:extLst>
              </p:cNvPr>
              <p:cNvSpPr>
                <a:spLocks noGrp="1"/>
              </p:cNvSpPr>
              <p:nvPr>
                <p:ph idx="1"/>
              </p:nvPr>
            </p:nvSpPr>
            <p:spPr>
              <a:xfrm>
                <a:off x="838200" y="1325562"/>
                <a:ext cx="10515600" cy="5532437"/>
              </a:xfrm>
            </p:spPr>
            <p:txBody>
              <a:bodyPr/>
              <a:lstStyle/>
              <a:p>
                <a:pPr marL="0" indent="0">
                  <a:lnSpc>
                    <a:spcPct val="100000"/>
                  </a:lnSpc>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𝛼</m:t>
                          </m:r>
                        </m:num>
                        <m:den>
                          <m:r>
                            <a:rPr lang="en-US" i="1">
                              <a:latin typeface="Cambria Math" panose="02040503050406030204" pitchFamily="18" charset="0"/>
                            </a:rPr>
                            <m:t>2</m:t>
                          </m:r>
                        </m:den>
                      </m:f>
                      <m:sSubSup>
                        <m:sSubSupPr>
                          <m:ctrlPr>
                            <a:rPr lang="en-US" i="1">
                              <a:latin typeface="Cambria Math" panose="02040503050406030204" pitchFamily="18" charset="0"/>
                            </a:rPr>
                          </m:ctrlPr>
                        </m:sSubSupPr>
                        <m:e>
                          <m:r>
                            <a:rPr lang="en-US" i="1">
                              <a:latin typeface="Cambria Math" panose="02040503050406030204" pitchFamily="18" charset="0"/>
                            </a:rPr>
                            <m:t>𝜙</m:t>
                          </m:r>
                        </m:e>
                        <m:sub>
                          <m:r>
                            <a:rPr lang="en-US" b="0" i="1" smtClean="0">
                              <a:latin typeface="Cambria Math" panose="02040503050406030204" pitchFamily="18" charset="0"/>
                            </a:rPr>
                            <m:t>𝑙𝑜</m:t>
                          </m:r>
                          <m:r>
                            <a:rPr lang="en-US" i="1">
                              <a:latin typeface="Cambria Math" panose="02040503050406030204" pitchFamily="18" charset="0"/>
                            </a:rPr>
                            <m:t>+1</m:t>
                          </m:r>
                        </m:sub>
                        <m:sup>
                          <m:r>
                            <a:rPr lang="en-US" i="1">
                              <a:latin typeface="Cambria Math" panose="02040503050406030204" pitchFamily="18" charset="0"/>
                            </a:rPr>
                            <m:t>𝑛</m:t>
                          </m:r>
                          <m:r>
                            <a:rPr lang="en-US" i="1">
                              <a:latin typeface="Cambria Math" panose="02040503050406030204" pitchFamily="18" charset="0"/>
                            </a:rPr>
                            <m:t>+1</m:t>
                          </m:r>
                        </m:sup>
                      </m:sSubSup>
                      <m:r>
                        <a:rPr lang="en-US" i="1">
                          <a:latin typeface="Cambria Math" panose="02040503050406030204" pitchFamily="18" charset="0"/>
                        </a:rPr>
                        <m:t>+</m:t>
                      </m:r>
                      <m:d>
                        <m:dPr>
                          <m:ctrlPr>
                            <a:rPr lang="en-US" i="1">
                              <a:latin typeface="Cambria Math" panose="02040503050406030204" pitchFamily="18" charset="0"/>
                            </a:rPr>
                          </m:ctrlPr>
                        </m:dPr>
                        <m:e>
                          <m:r>
                            <a:rPr lang="en-US" i="1">
                              <a:latin typeface="Cambria Math" panose="02040503050406030204" pitchFamily="18" charset="0"/>
                            </a:rPr>
                            <m:t>1+</m:t>
                          </m:r>
                          <m:f>
                            <m:fPr>
                              <m:ctrlPr>
                                <a:rPr lang="en-US" b="0" i="1" smtClean="0">
                                  <a:latin typeface="Cambria Math" panose="02040503050406030204" pitchFamily="18" charset="0"/>
                                </a:rPr>
                              </m:ctrlPr>
                            </m:fPr>
                            <m:num>
                              <m:r>
                                <a:rPr lang="en-US" i="1">
                                  <a:latin typeface="Cambria Math" panose="02040503050406030204" pitchFamily="18" charset="0"/>
                                </a:rPr>
                                <m:t>𝛼</m:t>
                              </m:r>
                            </m:num>
                            <m:den>
                              <m:r>
                                <a:rPr lang="en-US" b="0" i="1" smtClean="0">
                                  <a:latin typeface="Cambria Math" panose="02040503050406030204" pitchFamily="18" charset="0"/>
                                </a:rPr>
                                <m:t>2</m:t>
                              </m:r>
                            </m:den>
                          </m:f>
                        </m:e>
                      </m:d>
                      <m:sSubSup>
                        <m:sSubSupPr>
                          <m:ctrlPr>
                            <a:rPr lang="en-US" i="1">
                              <a:latin typeface="Cambria Math" panose="02040503050406030204" pitchFamily="18" charset="0"/>
                            </a:rPr>
                          </m:ctrlPr>
                        </m:sSubSupPr>
                        <m:e>
                          <m:r>
                            <a:rPr lang="en-US" i="1">
                              <a:latin typeface="Cambria Math" panose="02040503050406030204" pitchFamily="18" charset="0"/>
                            </a:rPr>
                            <m:t>𝜙</m:t>
                          </m:r>
                        </m:e>
                        <m:sub>
                          <m:r>
                            <a:rPr lang="en-US" b="0" i="1" smtClean="0">
                              <a:latin typeface="Cambria Math" panose="02040503050406030204" pitchFamily="18" charset="0"/>
                            </a:rPr>
                            <m:t>𝑙𝑜</m:t>
                          </m:r>
                        </m:sub>
                        <m:sup>
                          <m:r>
                            <a:rPr lang="en-US" i="1">
                              <a:latin typeface="Cambria Math" panose="02040503050406030204" pitchFamily="18" charset="0"/>
                            </a:rPr>
                            <m:t>𝑛</m:t>
                          </m:r>
                          <m:r>
                            <a:rPr lang="en-US" i="1">
                              <a:latin typeface="Cambria Math" panose="02040503050406030204" pitchFamily="18" charset="0"/>
                            </a:rPr>
                            <m:t>+1</m:t>
                          </m:r>
                        </m:sup>
                      </m:sSubSup>
                      <m:r>
                        <a:rPr lang="en-US" i="1">
                          <a:latin typeface="Cambria Math" panose="02040503050406030204" pitchFamily="18" charset="0"/>
                        </a:rPr>
                        <m:t>=</m:t>
                      </m:r>
                      <m:sSubSup>
                        <m:sSubSupPr>
                          <m:ctrlPr>
                            <a:rPr lang="en-US" i="1">
                              <a:latin typeface="Cambria Math" panose="02040503050406030204" pitchFamily="18" charset="0"/>
                            </a:rPr>
                          </m:ctrlPr>
                        </m:sSubSupPr>
                        <m:e>
                          <m:r>
                            <a:rPr lang="en-US" i="1">
                              <a:latin typeface="Cambria Math" panose="02040503050406030204" pitchFamily="18" charset="0"/>
                            </a:rPr>
                            <m:t>𝜙</m:t>
                          </m:r>
                        </m:e>
                        <m:sub>
                          <m:r>
                            <a:rPr lang="en-US" b="0" i="1" smtClean="0">
                              <a:latin typeface="Cambria Math" panose="02040503050406030204" pitchFamily="18" charset="0"/>
                            </a:rPr>
                            <m:t>𝑙𝑜</m:t>
                          </m:r>
                        </m:sub>
                        <m:sup>
                          <m:r>
                            <a:rPr lang="en-US" i="1">
                              <a:latin typeface="Cambria Math" panose="02040503050406030204" pitchFamily="18" charset="0"/>
                            </a:rPr>
                            <m:t>𝑛</m:t>
                          </m:r>
                        </m:sup>
                      </m:sSubSup>
                      <m:r>
                        <a:rPr lang="en-US" i="1">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𝛼</m:t>
                          </m:r>
                        </m:num>
                        <m:den>
                          <m:r>
                            <a:rPr lang="en-US" i="1">
                              <a:latin typeface="Cambria Math" panose="02040503050406030204" pitchFamily="18" charset="0"/>
                            </a:rPr>
                            <m:t>2</m:t>
                          </m:r>
                        </m:den>
                      </m:f>
                      <m:d>
                        <m:dPr>
                          <m:ctrlPr>
                            <a:rPr lang="en-US" i="1">
                              <a:latin typeface="Cambria Math" panose="02040503050406030204" pitchFamily="18" charset="0"/>
                            </a:rPr>
                          </m:ctrlPr>
                        </m:dPr>
                        <m:e>
                          <m:sSubSup>
                            <m:sSubSupPr>
                              <m:ctrlPr>
                                <a:rPr lang="en-US" i="1">
                                  <a:latin typeface="Cambria Math" panose="02040503050406030204" pitchFamily="18" charset="0"/>
                                </a:rPr>
                              </m:ctrlPr>
                            </m:sSubSupPr>
                            <m:e>
                              <m:r>
                                <a:rPr lang="en-US" i="1">
                                  <a:latin typeface="Cambria Math" panose="02040503050406030204" pitchFamily="18" charset="0"/>
                                </a:rPr>
                                <m:t>𝜙</m:t>
                              </m:r>
                            </m:e>
                            <m:sub>
                              <m:r>
                                <a:rPr lang="en-US" b="0" i="1" smtClean="0">
                                  <a:latin typeface="Cambria Math" panose="02040503050406030204" pitchFamily="18" charset="0"/>
                                </a:rPr>
                                <m:t>𝑙𝑜</m:t>
                              </m:r>
                              <m:r>
                                <a:rPr lang="en-US" i="1">
                                  <a:latin typeface="Cambria Math" panose="02040503050406030204" pitchFamily="18" charset="0"/>
                                </a:rPr>
                                <m:t>+1</m:t>
                              </m:r>
                            </m:sub>
                            <m:sup>
                              <m:r>
                                <a:rPr lang="en-US" i="1">
                                  <a:latin typeface="Cambria Math" panose="02040503050406030204" pitchFamily="18" charset="0"/>
                                </a:rPr>
                                <m:t>𝑛</m:t>
                              </m:r>
                            </m:sup>
                          </m:sSubSup>
                          <m:r>
                            <a:rPr lang="en-US" i="1">
                              <a:latin typeface="Cambria Math" panose="02040503050406030204" pitchFamily="18" charset="0"/>
                            </a:rPr>
                            <m:t>−2</m:t>
                          </m:r>
                          <m:sSubSup>
                            <m:sSubSupPr>
                              <m:ctrlPr>
                                <a:rPr lang="en-US" i="1">
                                  <a:latin typeface="Cambria Math" panose="02040503050406030204" pitchFamily="18" charset="0"/>
                                </a:rPr>
                              </m:ctrlPr>
                            </m:sSubSupPr>
                            <m:e>
                              <m:r>
                                <a:rPr lang="en-US" i="1">
                                  <a:latin typeface="Cambria Math" panose="02040503050406030204" pitchFamily="18" charset="0"/>
                                </a:rPr>
                                <m:t>𝜙</m:t>
                              </m:r>
                            </m:e>
                            <m:sub>
                              <m:r>
                                <a:rPr lang="en-US" b="0" i="1" smtClean="0">
                                  <a:latin typeface="Cambria Math" panose="02040503050406030204" pitchFamily="18" charset="0"/>
                                </a:rPr>
                                <m:t>𝑙𝑜</m:t>
                              </m:r>
                            </m:sub>
                            <m:sup>
                              <m:r>
                                <a:rPr lang="en-US" i="1">
                                  <a:latin typeface="Cambria Math" panose="02040503050406030204" pitchFamily="18" charset="0"/>
                                </a:rPr>
                                <m:t>𝑛</m:t>
                              </m:r>
                            </m:sup>
                          </m:sSubSup>
                          <m:r>
                            <a:rPr lang="en-US" i="1">
                              <a:latin typeface="Cambria Math" panose="02040503050406030204" pitchFamily="18" charset="0"/>
                            </a:rPr>
                            <m:t>+</m:t>
                          </m:r>
                          <m:sSubSup>
                            <m:sSubSupPr>
                              <m:ctrlPr>
                                <a:rPr lang="en-US" i="1">
                                  <a:latin typeface="Cambria Math" panose="02040503050406030204" pitchFamily="18" charset="0"/>
                                </a:rPr>
                              </m:ctrlPr>
                            </m:sSubSupPr>
                            <m:e>
                              <m:r>
                                <a:rPr lang="en-US" i="1">
                                  <a:latin typeface="Cambria Math" panose="02040503050406030204" pitchFamily="18" charset="0"/>
                                </a:rPr>
                                <m:t>𝜙</m:t>
                              </m:r>
                            </m:e>
                            <m:sub>
                              <m:r>
                                <a:rPr lang="en-US" b="0" i="1" smtClean="0">
                                  <a:latin typeface="Cambria Math" panose="02040503050406030204" pitchFamily="18" charset="0"/>
                                </a:rPr>
                                <m:t>𝑙𝑜</m:t>
                              </m:r>
                              <m:r>
                                <a:rPr lang="en-US" i="1">
                                  <a:latin typeface="Cambria Math" panose="02040503050406030204" pitchFamily="18" charset="0"/>
                                </a:rPr>
                                <m:t>−1</m:t>
                              </m:r>
                            </m:sub>
                            <m:sup>
                              <m:r>
                                <a:rPr lang="en-US" i="1">
                                  <a:latin typeface="Cambria Math" panose="02040503050406030204" pitchFamily="18" charset="0"/>
                                </a:rPr>
                                <m:t>𝑛</m:t>
                              </m:r>
                            </m:sup>
                          </m:sSubSup>
                        </m:e>
                      </m:d>
                    </m:oMath>
                  </m:oMathPara>
                </a14:m>
                <a:endParaRPr lang="en-US" b="0" dirty="0"/>
              </a:p>
              <a:p>
                <a:pPr marL="0" indent="0">
                  <a:lnSpc>
                    <a:spcPct val="100000"/>
                  </a:lnSpc>
                  <a:buNone/>
                </a:pPr>
                <a:r>
                  <a:rPr lang="en-US" dirty="0"/>
                  <a:t>   with the matrix form:</a:t>
                </a:r>
                <a:endParaRPr lang="en-US" b="0" dirty="0"/>
              </a:p>
            </p:txBody>
          </p:sp>
        </mc:Choice>
        <mc:Fallback xmlns="">
          <p:sp>
            <p:nvSpPr>
              <p:cNvPr id="3" name="Content Placeholder 2">
                <a:extLst>
                  <a:ext uri="{FF2B5EF4-FFF2-40B4-BE49-F238E27FC236}">
                    <a16:creationId xmlns:a16="http://schemas.microsoft.com/office/drawing/2014/main" id="{15C4FD65-F675-944D-A379-3A5FFFAEB784}"/>
                  </a:ext>
                </a:extLst>
              </p:cNvPr>
              <p:cNvSpPr>
                <a:spLocks noGrp="1" noRot="1" noChangeAspect="1" noMove="1" noResize="1" noEditPoints="1" noAdjustHandles="1" noChangeArrowheads="1" noChangeShapeType="1" noTextEdit="1"/>
              </p:cNvSpPr>
              <p:nvPr>
                <p:ph idx="1"/>
              </p:nvPr>
            </p:nvSpPr>
            <p:spPr>
              <a:xfrm>
                <a:off x="838200" y="1325562"/>
                <a:ext cx="10515600" cy="5532437"/>
              </a:xfrm>
              <a:blipFill>
                <a:blip r:embed="rId2"/>
                <a:stretch>
                  <a:fillRect/>
                </a:stretch>
              </a:blipFill>
            </p:spPr>
            <p:txBody>
              <a:bodyPr/>
              <a:lstStyle/>
              <a:p>
                <a:r>
                  <a:rPr lang="en-US">
                    <a:noFill/>
                  </a:rPr>
                  <a:t> </a:t>
                </a:r>
              </a:p>
            </p:txBody>
          </p:sp>
        </mc:Fallback>
      </mc:AlternateContent>
      <p:pic>
        <p:nvPicPr>
          <p:cNvPr id="4" name="Picture 3">
            <a:extLst>
              <a:ext uri="{FF2B5EF4-FFF2-40B4-BE49-F238E27FC236}">
                <a16:creationId xmlns:a16="http://schemas.microsoft.com/office/drawing/2014/main" id="{E8839AF1-B6DB-F045-BD40-89B7DCEF93B1}"/>
              </a:ext>
            </a:extLst>
          </p:cNvPr>
          <p:cNvPicPr>
            <a:picLocks noChangeAspect="1"/>
          </p:cNvPicPr>
          <p:nvPr/>
        </p:nvPicPr>
        <p:blipFill>
          <a:blip r:embed="rId3"/>
          <a:stretch>
            <a:fillRect/>
          </a:stretch>
        </p:blipFill>
        <p:spPr>
          <a:xfrm>
            <a:off x="1269401" y="2723094"/>
            <a:ext cx="9482134" cy="3301188"/>
          </a:xfrm>
          <a:prstGeom prst="rect">
            <a:avLst/>
          </a:prstGeom>
        </p:spPr>
      </p:pic>
    </p:spTree>
    <p:extLst>
      <p:ext uri="{BB962C8B-B14F-4D97-AF65-F5344CB8AC3E}">
        <p14:creationId xmlns:p14="http://schemas.microsoft.com/office/powerpoint/2010/main" val="2301804129"/>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DCE2F9-F4C3-DA4C-B0FC-7FF6F22D148C}"/>
              </a:ext>
            </a:extLst>
          </p:cNvPr>
          <p:cNvSpPr>
            <a:spLocks noGrp="1"/>
          </p:cNvSpPr>
          <p:nvPr>
            <p:ph type="title"/>
          </p:nvPr>
        </p:nvSpPr>
        <p:spPr>
          <a:xfrm>
            <a:off x="838200" y="0"/>
            <a:ext cx="10515600" cy="1325563"/>
          </a:xfrm>
        </p:spPr>
        <p:txBody>
          <a:bodyPr/>
          <a:lstStyle/>
          <a:p>
            <a:r>
              <a:rPr lang="en-US" dirty="0"/>
              <a:t>Doing it better</a:t>
            </a:r>
          </a:p>
        </p:txBody>
      </p:sp>
      <p:pic>
        <p:nvPicPr>
          <p:cNvPr id="6" name="Content Placeholder 5">
            <a:extLst>
              <a:ext uri="{FF2B5EF4-FFF2-40B4-BE49-F238E27FC236}">
                <a16:creationId xmlns:a16="http://schemas.microsoft.com/office/drawing/2014/main" id="{45C7C2EC-5F56-0D41-A4FE-D6C1A433F0BE}"/>
              </a:ext>
            </a:extLst>
          </p:cNvPr>
          <p:cNvPicPr>
            <a:picLocks noGrp="1" noChangeAspect="1"/>
          </p:cNvPicPr>
          <p:nvPr>
            <p:ph idx="1"/>
          </p:nvPr>
        </p:nvPicPr>
        <p:blipFill>
          <a:blip r:embed="rId2"/>
          <a:stretch>
            <a:fillRect/>
          </a:stretch>
        </p:blipFill>
        <p:spPr>
          <a:xfrm>
            <a:off x="2647751" y="1473798"/>
            <a:ext cx="7070971" cy="5109882"/>
          </a:xfrm>
        </p:spPr>
      </p:pic>
    </p:spTree>
    <p:extLst>
      <p:ext uri="{BB962C8B-B14F-4D97-AF65-F5344CB8AC3E}">
        <p14:creationId xmlns:p14="http://schemas.microsoft.com/office/powerpoint/2010/main" val="3284874905"/>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DCE2F9-F4C3-DA4C-B0FC-7FF6F22D148C}"/>
              </a:ext>
            </a:extLst>
          </p:cNvPr>
          <p:cNvSpPr>
            <a:spLocks noGrp="1"/>
          </p:cNvSpPr>
          <p:nvPr>
            <p:ph type="title"/>
          </p:nvPr>
        </p:nvSpPr>
        <p:spPr>
          <a:xfrm>
            <a:off x="838200" y="0"/>
            <a:ext cx="10515600" cy="1325563"/>
          </a:xfrm>
        </p:spPr>
        <p:txBody>
          <a:bodyPr/>
          <a:lstStyle/>
          <a:p>
            <a:r>
              <a:rPr lang="en-US" dirty="0"/>
              <a:t>Doing it better</a:t>
            </a:r>
          </a:p>
        </p:txBody>
      </p:sp>
      <p:pic>
        <p:nvPicPr>
          <p:cNvPr id="4" name="Picture 3">
            <a:extLst>
              <a:ext uri="{FF2B5EF4-FFF2-40B4-BE49-F238E27FC236}">
                <a16:creationId xmlns:a16="http://schemas.microsoft.com/office/drawing/2014/main" id="{5185D3FB-8443-1D4C-9AB2-BAC152B04F1A}"/>
              </a:ext>
            </a:extLst>
          </p:cNvPr>
          <p:cNvPicPr>
            <a:picLocks noChangeAspect="1"/>
          </p:cNvPicPr>
          <p:nvPr/>
        </p:nvPicPr>
        <p:blipFill>
          <a:blip r:embed="rId2"/>
          <a:stretch>
            <a:fillRect/>
          </a:stretch>
        </p:blipFill>
        <p:spPr>
          <a:xfrm>
            <a:off x="2626235" y="1495314"/>
            <a:ext cx="7070971" cy="5109882"/>
          </a:xfrm>
          <a:prstGeom prst="rect">
            <a:avLst/>
          </a:prstGeom>
        </p:spPr>
      </p:pic>
    </p:spTree>
    <p:extLst>
      <p:ext uri="{BB962C8B-B14F-4D97-AF65-F5344CB8AC3E}">
        <p14:creationId xmlns:p14="http://schemas.microsoft.com/office/powerpoint/2010/main" val="2164454728"/>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DCE2F9-F4C3-DA4C-B0FC-7FF6F22D148C}"/>
              </a:ext>
            </a:extLst>
          </p:cNvPr>
          <p:cNvSpPr>
            <a:spLocks noGrp="1"/>
          </p:cNvSpPr>
          <p:nvPr>
            <p:ph type="title"/>
          </p:nvPr>
        </p:nvSpPr>
        <p:spPr>
          <a:xfrm>
            <a:off x="838200" y="0"/>
            <a:ext cx="10515600" cy="1325563"/>
          </a:xfrm>
        </p:spPr>
        <p:txBody>
          <a:bodyPr/>
          <a:lstStyle/>
          <a:p>
            <a:r>
              <a:rPr lang="en-US" dirty="0"/>
              <a:t>Implicit methods: Relaxation</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15C4FD65-F675-944D-A379-3A5FFFAEB784}"/>
                  </a:ext>
                </a:extLst>
              </p:cNvPr>
              <p:cNvSpPr>
                <a:spLocks noGrp="1"/>
              </p:cNvSpPr>
              <p:nvPr>
                <p:ph idx="1"/>
              </p:nvPr>
            </p:nvSpPr>
            <p:spPr>
              <a:xfrm>
                <a:off x="838199" y="1121790"/>
                <a:ext cx="10851037" cy="5736209"/>
              </a:xfrm>
            </p:spPr>
            <p:txBody>
              <a:bodyPr>
                <a:normAutofit fontScale="92500"/>
              </a:bodyPr>
              <a:lstStyle/>
              <a:p>
                <a:r>
                  <a:rPr lang="en-US" dirty="0"/>
                  <a:t>Instead of directly solving the matrix form, we can use multigrid.</a:t>
                </a:r>
              </a:p>
              <a:p>
                <a:r>
                  <a:rPr lang="en-US" dirty="0"/>
                  <a:t>Consider the Crank-Nicolson system:</a:t>
                </a:r>
              </a:p>
              <a:p>
                <a:pPr marL="0" indent="0">
                  <a:spcAft>
                    <a:spcPts val="600"/>
                  </a:spcAft>
                  <a:buNone/>
                </a:pPr>
                <a14:m>
                  <m:oMathPara xmlns:m="http://schemas.openxmlformats.org/officeDocument/2006/math">
                    <m:oMathParaPr>
                      <m:jc m:val="centerGroup"/>
                    </m:oMathParaPr>
                    <m:oMath xmlns:m="http://schemas.openxmlformats.org/officeDocument/2006/math">
                      <m:f>
                        <m:fPr>
                          <m:ctrlPr>
                            <a:rPr lang="en-US" i="1">
                              <a:latin typeface="Cambria Math" panose="02040503050406030204" pitchFamily="18" charset="0"/>
                            </a:rPr>
                          </m:ctrlPr>
                        </m:fPr>
                        <m:num>
                          <m:sSubSup>
                            <m:sSubSupPr>
                              <m:ctrlPr>
                                <a:rPr lang="en-US" i="1">
                                  <a:latin typeface="Cambria Math" panose="02040503050406030204" pitchFamily="18" charset="0"/>
                                </a:rPr>
                              </m:ctrlPr>
                            </m:sSubSupPr>
                            <m:e>
                              <m:sSubSup>
                                <m:sSubSupPr>
                                  <m:ctrlPr>
                                    <a:rPr lang="en-US" i="1">
                                      <a:latin typeface="Cambria Math" panose="02040503050406030204" pitchFamily="18" charset="0"/>
                                    </a:rPr>
                                  </m:ctrlPr>
                                </m:sSubSupPr>
                                <m:e>
                                  <m:r>
                                    <a:rPr lang="en-US" i="1">
                                      <a:latin typeface="Cambria Math" panose="02040503050406030204" pitchFamily="18" charset="0"/>
                                    </a:rPr>
                                    <m:t>𝜙</m:t>
                                  </m:r>
                                </m:e>
                                <m:sub>
                                  <m:r>
                                    <a:rPr lang="en-US" i="1">
                                      <a:latin typeface="Cambria Math" panose="02040503050406030204" pitchFamily="18" charset="0"/>
                                    </a:rPr>
                                    <m:t>𝑖</m:t>
                                  </m:r>
                                </m:sub>
                                <m:sup>
                                  <m:r>
                                    <a:rPr lang="en-US" i="1">
                                      <a:latin typeface="Cambria Math" panose="02040503050406030204" pitchFamily="18" charset="0"/>
                                    </a:rPr>
                                    <m:t>𝑛</m:t>
                                  </m:r>
                                  <m:r>
                                    <a:rPr lang="en-US" i="1">
                                      <a:latin typeface="Cambria Math" panose="02040503050406030204" pitchFamily="18" charset="0"/>
                                    </a:rPr>
                                    <m:t>+1</m:t>
                                  </m:r>
                                </m:sup>
                              </m:sSubSup>
                              <m:r>
                                <a:rPr lang="en-US" i="1">
                                  <a:latin typeface="Cambria Math" panose="02040503050406030204" pitchFamily="18" charset="0"/>
                                </a:rPr>
                                <m:t>−</m:t>
                              </m:r>
                              <m:r>
                                <a:rPr lang="en-US" i="1">
                                  <a:latin typeface="Cambria Math" panose="02040503050406030204" pitchFamily="18" charset="0"/>
                                </a:rPr>
                                <m:t>𝜙</m:t>
                              </m:r>
                            </m:e>
                            <m:sub>
                              <m:r>
                                <a:rPr lang="en-US" i="1">
                                  <a:latin typeface="Cambria Math" panose="02040503050406030204" pitchFamily="18" charset="0"/>
                                </a:rPr>
                                <m:t>𝑖</m:t>
                              </m:r>
                            </m:sub>
                            <m:sup>
                              <m:r>
                                <a:rPr lang="en-US" i="1">
                                  <a:latin typeface="Cambria Math" panose="02040503050406030204" pitchFamily="18" charset="0"/>
                                </a:rPr>
                                <m:t>𝑛</m:t>
                              </m:r>
                            </m:sup>
                          </m:sSubSup>
                        </m:num>
                        <m:den>
                          <m:r>
                            <m:rPr>
                              <m:sty m:val="p"/>
                            </m:rPr>
                            <a:rPr lang="en-US">
                              <a:latin typeface="Cambria Math" panose="02040503050406030204" pitchFamily="18" charset="0"/>
                            </a:rPr>
                            <m:t>Δ</m:t>
                          </m:r>
                          <m:r>
                            <a:rPr lang="en-US" i="1">
                              <a:latin typeface="Cambria Math" panose="02040503050406030204" pitchFamily="18" charset="0"/>
                            </a:rPr>
                            <m:t>𝑡</m:t>
                          </m:r>
                        </m:den>
                      </m:f>
                      <m:r>
                        <a:rPr lang="en-US" i="1">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2</m:t>
                          </m:r>
                        </m:den>
                      </m:f>
                      <m:d>
                        <m:dPr>
                          <m:ctrlPr>
                            <a:rPr lang="en-US" b="0" i="1" smtClean="0">
                              <a:latin typeface="Cambria Math" panose="02040503050406030204" pitchFamily="18" charset="0"/>
                            </a:rPr>
                          </m:ctrlPr>
                        </m:dPr>
                        <m:e>
                          <m:r>
                            <a:rPr lang="en-US" b="0" i="1" smtClean="0">
                              <a:latin typeface="Cambria Math" panose="02040503050406030204" pitchFamily="18" charset="0"/>
                            </a:rPr>
                            <m:t>𝑘</m:t>
                          </m:r>
                          <m:sSup>
                            <m:sSupPr>
                              <m:ctrlPr>
                                <a:rPr lang="en-US" b="0" i="1" smtClean="0">
                                  <a:latin typeface="Cambria Math" panose="02040503050406030204" pitchFamily="18" charset="0"/>
                                </a:rPr>
                              </m:ctrlPr>
                            </m:sSupPr>
                            <m:e>
                              <m:r>
                                <m:rPr>
                                  <m:sty m:val="p"/>
                                </m:rPr>
                                <a:rPr lang="en-US" b="0" i="0" smtClean="0">
                                  <a:latin typeface="Cambria Math" panose="02040503050406030204" pitchFamily="18" charset="0"/>
                                </a:rPr>
                                <m:t>∇</m:t>
                              </m:r>
                            </m:e>
                            <m:sup>
                              <m:r>
                                <a:rPr lang="en-US" b="0" i="1" smtClean="0">
                                  <a:latin typeface="Cambria Math" panose="02040503050406030204" pitchFamily="18" charset="0"/>
                                </a:rPr>
                                <m:t>2</m:t>
                              </m:r>
                            </m:sup>
                          </m:sSup>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𝜙</m:t>
                              </m:r>
                            </m:e>
                            <m:sub>
                              <m:r>
                                <a:rPr lang="en-US" b="0" i="1" smtClean="0">
                                  <a:latin typeface="Cambria Math" panose="02040503050406030204" pitchFamily="18" charset="0"/>
                                </a:rPr>
                                <m:t>𝑖</m:t>
                              </m:r>
                            </m:sub>
                            <m:sup>
                              <m:r>
                                <a:rPr lang="en-US" b="0" i="1" smtClean="0">
                                  <a:latin typeface="Cambria Math" panose="02040503050406030204" pitchFamily="18" charset="0"/>
                                </a:rPr>
                                <m:t>𝑛</m:t>
                              </m:r>
                            </m:sup>
                          </m:sSubSup>
                          <m:r>
                            <a:rPr lang="en-US" i="1">
                              <a:latin typeface="Cambria Math" panose="02040503050406030204" pitchFamily="18" charset="0"/>
                            </a:rPr>
                            <m:t>+</m:t>
                          </m:r>
                          <m:r>
                            <a:rPr lang="en-US" i="1">
                              <a:latin typeface="Cambria Math" panose="02040503050406030204" pitchFamily="18" charset="0"/>
                            </a:rPr>
                            <m:t>𝑘</m:t>
                          </m:r>
                          <m:sSup>
                            <m:sSupPr>
                              <m:ctrlPr>
                                <a:rPr lang="en-US" i="1">
                                  <a:latin typeface="Cambria Math" panose="02040503050406030204" pitchFamily="18" charset="0"/>
                                </a:rPr>
                              </m:ctrlPr>
                            </m:sSupPr>
                            <m:e>
                              <m:r>
                                <m:rPr>
                                  <m:sty m:val="p"/>
                                </m:rPr>
                                <a:rPr lang="en-US">
                                  <a:latin typeface="Cambria Math" panose="02040503050406030204" pitchFamily="18" charset="0"/>
                                </a:rPr>
                                <m:t>∇</m:t>
                              </m:r>
                            </m:e>
                            <m:sup>
                              <m:r>
                                <a:rPr lang="en-US" i="1">
                                  <a:latin typeface="Cambria Math" panose="02040503050406030204" pitchFamily="18" charset="0"/>
                                </a:rPr>
                                <m:t>2</m:t>
                              </m:r>
                            </m:sup>
                          </m:sSup>
                          <m:sSubSup>
                            <m:sSubSupPr>
                              <m:ctrlPr>
                                <a:rPr lang="en-US" i="1">
                                  <a:latin typeface="Cambria Math" panose="02040503050406030204" pitchFamily="18" charset="0"/>
                                </a:rPr>
                              </m:ctrlPr>
                            </m:sSubSupPr>
                            <m:e>
                              <m:r>
                                <a:rPr lang="en-US" i="1">
                                  <a:latin typeface="Cambria Math" panose="02040503050406030204" pitchFamily="18" charset="0"/>
                                </a:rPr>
                                <m:t>𝜙</m:t>
                              </m:r>
                            </m:e>
                            <m:sub>
                              <m:r>
                                <a:rPr lang="en-US" i="1">
                                  <a:latin typeface="Cambria Math" panose="02040503050406030204" pitchFamily="18" charset="0"/>
                                </a:rPr>
                                <m:t>𝑖</m:t>
                              </m:r>
                            </m:sub>
                            <m:sup>
                              <m:r>
                                <a:rPr lang="en-US" i="1">
                                  <a:latin typeface="Cambria Math" panose="02040503050406030204" pitchFamily="18" charset="0"/>
                                </a:rPr>
                                <m:t>𝑛</m:t>
                              </m:r>
                              <m:r>
                                <a:rPr lang="en-US" i="1">
                                  <a:latin typeface="Cambria Math" panose="02040503050406030204" pitchFamily="18" charset="0"/>
                                </a:rPr>
                                <m:t>+1</m:t>
                              </m:r>
                            </m:sup>
                          </m:sSubSup>
                        </m:e>
                      </m:d>
                    </m:oMath>
                  </m:oMathPara>
                </a14:m>
                <a:endParaRPr lang="en-US" dirty="0"/>
              </a:p>
              <a:p>
                <a:pPr marL="0" indent="0">
                  <a:lnSpc>
                    <a:spcPct val="150000"/>
                  </a:lnSpc>
                  <a:spcAft>
                    <a:spcPts val="600"/>
                  </a:spcAft>
                  <a:buNone/>
                </a:pPr>
                <a14:m>
                  <m:oMathPara xmlns:m="http://schemas.openxmlformats.org/officeDocument/2006/math">
                    <m:oMathParaPr>
                      <m:jc m:val="centerGroup"/>
                    </m:oMathParaPr>
                    <m:oMath xmlns:m="http://schemas.openxmlformats.org/officeDocument/2006/math">
                      <m:sSubSup>
                        <m:sSubSupPr>
                          <m:ctrlPr>
                            <a:rPr lang="en-US" i="1">
                              <a:latin typeface="Cambria Math" panose="02040503050406030204" pitchFamily="18" charset="0"/>
                            </a:rPr>
                          </m:ctrlPr>
                        </m:sSubSupPr>
                        <m:e>
                          <m:r>
                            <a:rPr lang="en-US" i="1">
                              <a:latin typeface="Cambria Math" panose="02040503050406030204" pitchFamily="18" charset="0"/>
                            </a:rPr>
                            <m:t>𝜙</m:t>
                          </m:r>
                        </m:e>
                        <m:sub>
                          <m:r>
                            <a:rPr lang="en-US" i="1">
                              <a:latin typeface="Cambria Math" panose="02040503050406030204" pitchFamily="18" charset="0"/>
                            </a:rPr>
                            <m:t>𝑖</m:t>
                          </m:r>
                        </m:sub>
                        <m:sup>
                          <m:r>
                            <a:rPr lang="en-US" i="1">
                              <a:latin typeface="Cambria Math" panose="02040503050406030204" pitchFamily="18" charset="0"/>
                            </a:rPr>
                            <m:t>𝑛</m:t>
                          </m:r>
                          <m:r>
                            <a:rPr lang="en-US" i="1">
                              <a:latin typeface="Cambria Math" panose="02040503050406030204" pitchFamily="18" charset="0"/>
                            </a:rPr>
                            <m:t>+1</m:t>
                          </m:r>
                        </m:sup>
                      </m:sSubSup>
                      <m:r>
                        <a:rPr lang="en-US" b="0" i="1" smtClean="0">
                          <a:latin typeface="Cambria Math" panose="02040503050406030204" pitchFamily="18" charset="0"/>
                        </a:rPr>
                        <m:t>−</m:t>
                      </m:r>
                      <m:f>
                        <m:fPr>
                          <m:ctrlPr>
                            <a:rPr lang="en-US" i="1" smtClean="0">
                              <a:solidFill>
                                <a:srgbClr val="FF0000"/>
                              </a:solidFill>
                              <a:latin typeface="Cambria Math" panose="02040503050406030204" pitchFamily="18" charset="0"/>
                            </a:rPr>
                          </m:ctrlPr>
                        </m:fPr>
                        <m:num>
                          <m:r>
                            <m:rPr>
                              <m:sty m:val="p"/>
                            </m:rPr>
                            <a:rPr lang="en-US" b="0" i="0" smtClean="0">
                              <a:solidFill>
                                <a:srgbClr val="FF0000"/>
                              </a:solidFill>
                              <a:latin typeface="Cambria Math" panose="02040503050406030204" pitchFamily="18" charset="0"/>
                            </a:rPr>
                            <m:t>Δ</m:t>
                          </m:r>
                          <m:r>
                            <a:rPr lang="en-US" b="0" i="1" smtClean="0">
                              <a:solidFill>
                                <a:srgbClr val="FF0000"/>
                              </a:solidFill>
                              <a:latin typeface="Cambria Math" panose="02040503050406030204" pitchFamily="18" charset="0"/>
                            </a:rPr>
                            <m:t>𝑡</m:t>
                          </m:r>
                        </m:num>
                        <m:den>
                          <m:r>
                            <a:rPr lang="en-US" i="1">
                              <a:solidFill>
                                <a:srgbClr val="FF0000"/>
                              </a:solidFill>
                              <a:latin typeface="Cambria Math" panose="02040503050406030204" pitchFamily="18" charset="0"/>
                            </a:rPr>
                            <m:t>2</m:t>
                          </m:r>
                        </m:den>
                      </m:f>
                      <m:r>
                        <a:rPr lang="en-US" i="1">
                          <a:solidFill>
                            <a:srgbClr val="FF0000"/>
                          </a:solidFill>
                          <a:latin typeface="Cambria Math" panose="02040503050406030204" pitchFamily="18" charset="0"/>
                        </a:rPr>
                        <m:t>𝑘</m:t>
                      </m:r>
                      <m:sSup>
                        <m:sSupPr>
                          <m:ctrlPr>
                            <a:rPr lang="en-US" i="1">
                              <a:latin typeface="Cambria Math" panose="02040503050406030204" pitchFamily="18" charset="0"/>
                            </a:rPr>
                          </m:ctrlPr>
                        </m:sSupPr>
                        <m:e>
                          <m:r>
                            <m:rPr>
                              <m:sty m:val="p"/>
                            </m:rPr>
                            <a:rPr lang="en-US">
                              <a:latin typeface="Cambria Math" panose="02040503050406030204" pitchFamily="18" charset="0"/>
                            </a:rPr>
                            <m:t>∇</m:t>
                          </m:r>
                        </m:e>
                        <m:sup>
                          <m:r>
                            <a:rPr lang="en-US" i="1">
                              <a:latin typeface="Cambria Math" panose="02040503050406030204" pitchFamily="18" charset="0"/>
                            </a:rPr>
                            <m:t>2</m:t>
                          </m:r>
                        </m:sup>
                      </m:sSup>
                      <m:sSubSup>
                        <m:sSubSupPr>
                          <m:ctrlPr>
                            <a:rPr lang="en-US" i="1">
                              <a:latin typeface="Cambria Math" panose="02040503050406030204" pitchFamily="18" charset="0"/>
                            </a:rPr>
                          </m:ctrlPr>
                        </m:sSubSupPr>
                        <m:e>
                          <m:r>
                            <a:rPr lang="en-US" i="1">
                              <a:latin typeface="Cambria Math" panose="02040503050406030204" pitchFamily="18" charset="0"/>
                            </a:rPr>
                            <m:t>𝜙</m:t>
                          </m:r>
                        </m:e>
                        <m:sub>
                          <m:r>
                            <a:rPr lang="en-US" i="1">
                              <a:latin typeface="Cambria Math" panose="02040503050406030204" pitchFamily="18" charset="0"/>
                            </a:rPr>
                            <m:t>𝑖</m:t>
                          </m:r>
                        </m:sub>
                        <m:sup>
                          <m:r>
                            <a:rPr lang="en-US" i="1">
                              <a:latin typeface="Cambria Math" panose="02040503050406030204" pitchFamily="18" charset="0"/>
                            </a:rPr>
                            <m:t>𝑛</m:t>
                          </m:r>
                        </m:sup>
                      </m:sSubSup>
                      <m:r>
                        <a:rPr lang="en-US" b="0" i="1" smtClean="0">
                          <a:latin typeface="Cambria Math" panose="02040503050406030204" pitchFamily="18" charset="0"/>
                        </a:rPr>
                        <m:t>=</m:t>
                      </m:r>
                      <m:sSubSup>
                        <m:sSubSupPr>
                          <m:ctrlPr>
                            <a:rPr lang="en-US" b="0" i="1" smtClean="0">
                              <a:solidFill>
                                <a:srgbClr val="0070C0"/>
                              </a:solidFill>
                              <a:latin typeface="Cambria Math" panose="02040503050406030204" pitchFamily="18" charset="0"/>
                            </a:rPr>
                          </m:ctrlPr>
                        </m:sSubSupPr>
                        <m:e>
                          <m:r>
                            <a:rPr lang="en-US" b="0" i="1" smtClean="0">
                              <a:solidFill>
                                <a:srgbClr val="0070C0"/>
                              </a:solidFill>
                              <a:latin typeface="Cambria Math" panose="02040503050406030204" pitchFamily="18" charset="0"/>
                            </a:rPr>
                            <m:t>𝜙</m:t>
                          </m:r>
                        </m:e>
                        <m:sub>
                          <m:r>
                            <a:rPr lang="en-US" b="0" i="1" smtClean="0">
                              <a:solidFill>
                                <a:srgbClr val="0070C0"/>
                              </a:solidFill>
                              <a:latin typeface="Cambria Math" panose="02040503050406030204" pitchFamily="18" charset="0"/>
                            </a:rPr>
                            <m:t>𝑖</m:t>
                          </m:r>
                        </m:sub>
                        <m:sup>
                          <m:r>
                            <a:rPr lang="en-US" b="0" i="1" smtClean="0">
                              <a:solidFill>
                                <a:srgbClr val="0070C0"/>
                              </a:solidFill>
                              <a:latin typeface="Cambria Math" panose="02040503050406030204" pitchFamily="18" charset="0"/>
                            </a:rPr>
                            <m:t>𝑛</m:t>
                          </m:r>
                        </m:sup>
                      </m:sSubSup>
                      <m:r>
                        <a:rPr lang="en-US" b="0" i="1" smtClean="0">
                          <a:solidFill>
                            <a:srgbClr val="0070C0"/>
                          </a:solidFill>
                          <a:latin typeface="Cambria Math" panose="02040503050406030204" pitchFamily="18" charset="0"/>
                        </a:rPr>
                        <m:t>+</m:t>
                      </m:r>
                      <m:f>
                        <m:fPr>
                          <m:ctrlPr>
                            <a:rPr lang="en-US" i="1">
                              <a:solidFill>
                                <a:srgbClr val="0070C0"/>
                              </a:solidFill>
                              <a:latin typeface="Cambria Math" panose="02040503050406030204" pitchFamily="18" charset="0"/>
                            </a:rPr>
                          </m:ctrlPr>
                        </m:fPr>
                        <m:num>
                          <m:r>
                            <m:rPr>
                              <m:sty m:val="p"/>
                            </m:rPr>
                            <a:rPr lang="en-US">
                              <a:solidFill>
                                <a:srgbClr val="0070C0"/>
                              </a:solidFill>
                              <a:latin typeface="Cambria Math" panose="02040503050406030204" pitchFamily="18" charset="0"/>
                            </a:rPr>
                            <m:t>Δ</m:t>
                          </m:r>
                          <m:r>
                            <a:rPr lang="en-US" i="1">
                              <a:solidFill>
                                <a:srgbClr val="0070C0"/>
                              </a:solidFill>
                              <a:latin typeface="Cambria Math" panose="02040503050406030204" pitchFamily="18" charset="0"/>
                            </a:rPr>
                            <m:t>𝑡</m:t>
                          </m:r>
                        </m:num>
                        <m:den>
                          <m:r>
                            <a:rPr lang="en-US" i="1">
                              <a:solidFill>
                                <a:srgbClr val="0070C0"/>
                              </a:solidFill>
                              <a:latin typeface="Cambria Math" panose="02040503050406030204" pitchFamily="18" charset="0"/>
                            </a:rPr>
                            <m:t>2</m:t>
                          </m:r>
                        </m:den>
                      </m:f>
                      <m:r>
                        <a:rPr lang="en-US" i="1">
                          <a:solidFill>
                            <a:srgbClr val="0070C0"/>
                          </a:solidFill>
                          <a:latin typeface="Cambria Math" panose="02040503050406030204" pitchFamily="18" charset="0"/>
                        </a:rPr>
                        <m:t>𝑘</m:t>
                      </m:r>
                      <m:sSup>
                        <m:sSupPr>
                          <m:ctrlPr>
                            <a:rPr lang="en-US" i="1">
                              <a:solidFill>
                                <a:srgbClr val="0070C0"/>
                              </a:solidFill>
                              <a:latin typeface="Cambria Math" panose="02040503050406030204" pitchFamily="18" charset="0"/>
                            </a:rPr>
                          </m:ctrlPr>
                        </m:sSupPr>
                        <m:e>
                          <m:r>
                            <m:rPr>
                              <m:sty m:val="p"/>
                            </m:rPr>
                            <a:rPr lang="en-US">
                              <a:solidFill>
                                <a:srgbClr val="0070C0"/>
                              </a:solidFill>
                              <a:latin typeface="Cambria Math" panose="02040503050406030204" pitchFamily="18" charset="0"/>
                            </a:rPr>
                            <m:t>∇</m:t>
                          </m:r>
                        </m:e>
                        <m:sup>
                          <m:r>
                            <a:rPr lang="en-US" i="1">
                              <a:solidFill>
                                <a:srgbClr val="0070C0"/>
                              </a:solidFill>
                              <a:latin typeface="Cambria Math" panose="02040503050406030204" pitchFamily="18" charset="0"/>
                            </a:rPr>
                            <m:t>2</m:t>
                          </m:r>
                        </m:sup>
                      </m:sSup>
                      <m:sSubSup>
                        <m:sSubSupPr>
                          <m:ctrlPr>
                            <a:rPr lang="en-US" i="1">
                              <a:solidFill>
                                <a:srgbClr val="0070C0"/>
                              </a:solidFill>
                              <a:latin typeface="Cambria Math" panose="02040503050406030204" pitchFamily="18" charset="0"/>
                            </a:rPr>
                          </m:ctrlPr>
                        </m:sSubSupPr>
                        <m:e>
                          <m:r>
                            <a:rPr lang="en-US" i="1">
                              <a:solidFill>
                                <a:srgbClr val="0070C0"/>
                              </a:solidFill>
                              <a:latin typeface="Cambria Math" panose="02040503050406030204" pitchFamily="18" charset="0"/>
                            </a:rPr>
                            <m:t>𝜙</m:t>
                          </m:r>
                        </m:e>
                        <m:sub>
                          <m:r>
                            <a:rPr lang="en-US" i="1">
                              <a:solidFill>
                                <a:srgbClr val="0070C0"/>
                              </a:solidFill>
                              <a:latin typeface="Cambria Math" panose="02040503050406030204" pitchFamily="18" charset="0"/>
                            </a:rPr>
                            <m:t>𝑖</m:t>
                          </m:r>
                        </m:sub>
                        <m:sup>
                          <m:r>
                            <a:rPr lang="en-US" i="1">
                              <a:solidFill>
                                <a:srgbClr val="0070C0"/>
                              </a:solidFill>
                              <a:latin typeface="Cambria Math" panose="02040503050406030204" pitchFamily="18" charset="0"/>
                            </a:rPr>
                            <m:t>𝑛</m:t>
                          </m:r>
                        </m:sup>
                      </m:sSubSup>
                    </m:oMath>
                  </m:oMathPara>
                </a14:m>
                <a:endParaRPr lang="en-US" dirty="0"/>
              </a:p>
              <a:p>
                <a:pPr>
                  <a:lnSpc>
                    <a:spcPct val="100000"/>
                  </a:lnSpc>
                </a:pPr>
                <a:r>
                  <a:rPr lang="en-US" dirty="0"/>
                  <a:t>This is a form of a constant-coefficient Helmholtz equation:</a:t>
                </a:r>
              </a:p>
              <a:p>
                <a:pPr marL="0" indent="0">
                  <a:lnSpc>
                    <a:spcPct val="150000"/>
                  </a:lnSpc>
                  <a:buNone/>
                </a:pPr>
                <a14:m>
                  <m:oMathPara xmlns:m="http://schemas.openxmlformats.org/officeDocument/2006/math">
                    <m:oMathParaPr>
                      <m:jc m:val="centerGroup"/>
                    </m:oMathParaPr>
                    <m:oMath xmlns:m="http://schemas.openxmlformats.org/officeDocument/2006/math">
                      <m:d>
                        <m:dPr>
                          <m:ctrlPr>
                            <a:rPr lang="en-US" b="0" i="1" smtClean="0">
                              <a:latin typeface="Cambria Math" panose="02040503050406030204" pitchFamily="18" charset="0"/>
                            </a:rPr>
                          </m:ctrlPr>
                        </m:dPr>
                        <m:e>
                          <m:r>
                            <a:rPr lang="en-US" i="1">
                              <a:latin typeface="Cambria Math" panose="02040503050406030204" pitchFamily="18" charset="0"/>
                            </a:rPr>
                            <m:t>𝛼</m:t>
                          </m:r>
                          <m:r>
                            <a:rPr lang="en-US" b="0" i="1" smtClean="0">
                              <a:latin typeface="Cambria Math" panose="02040503050406030204" pitchFamily="18" charset="0"/>
                            </a:rPr>
                            <m:t>−</m:t>
                          </m:r>
                          <m:r>
                            <a:rPr lang="en-US" b="0" i="1" smtClean="0">
                              <a:solidFill>
                                <a:srgbClr val="FF0000"/>
                              </a:solidFill>
                              <a:latin typeface="Cambria Math" panose="02040503050406030204" pitchFamily="18" charset="0"/>
                            </a:rPr>
                            <m:t>𝛽</m:t>
                          </m:r>
                          <m:sSup>
                            <m:sSupPr>
                              <m:ctrlPr>
                                <a:rPr lang="en-US" b="0" i="1" smtClean="0">
                                  <a:latin typeface="Cambria Math" panose="02040503050406030204" pitchFamily="18" charset="0"/>
                                </a:rPr>
                              </m:ctrlPr>
                            </m:sSupPr>
                            <m:e>
                              <m:r>
                                <m:rPr>
                                  <m:sty m:val="p"/>
                                </m:rPr>
                                <a:rPr lang="en-US" b="0" i="0" smtClean="0">
                                  <a:latin typeface="Cambria Math" panose="02040503050406030204" pitchFamily="18" charset="0"/>
                                </a:rPr>
                                <m:t>∇</m:t>
                              </m:r>
                            </m:e>
                            <m:sup>
                              <m:r>
                                <a:rPr lang="en-US" b="0" i="1" smtClean="0">
                                  <a:latin typeface="Cambria Math" panose="02040503050406030204" pitchFamily="18" charset="0"/>
                                </a:rPr>
                                <m:t>2</m:t>
                              </m:r>
                            </m:sup>
                          </m:sSup>
                        </m:e>
                      </m:d>
                      <m:sSup>
                        <m:sSupPr>
                          <m:ctrlPr>
                            <a:rPr lang="en-US" b="0" i="1" smtClean="0">
                              <a:latin typeface="Cambria Math" panose="02040503050406030204" pitchFamily="18" charset="0"/>
                            </a:rPr>
                          </m:ctrlPr>
                        </m:sSupPr>
                        <m:e>
                          <m:r>
                            <a:rPr lang="en-US" b="0" i="1" smtClean="0">
                              <a:latin typeface="Cambria Math" panose="02040503050406030204" pitchFamily="18" charset="0"/>
                            </a:rPr>
                            <m:t>𝜙</m:t>
                          </m:r>
                        </m:e>
                        <m:sup>
                          <m:r>
                            <a:rPr lang="en-US" b="0" i="1" smtClean="0">
                              <a:latin typeface="Cambria Math" panose="02040503050406030204" pitchFamily="18" charset="0"/>
                            </a:rPr>
                            <m:t>𝑛</m:t>
                          </m:r>
                          <m:r>
                            <a:rPr lang="en-US" b="0" i="1" smtClean="0">
                              <a:latin typeface="Cambria Math" panose="02040503050406030204" pitchFamily="18" charset="0"/>
                            </a:rPr>
                            <m:t>+1</m:t>
                          </m:r>
                        </m:sup>
                      </m:sSup>
                      <m:r>
                        <a:rPr lang="en-US" b="0" i="1" smtClean="0">
                          <a:latin typeface="Cambria Math" panose="02040503050406030204" pitchFamily="18" charset="0"/>
                        </a:rPr>
                        <m:t>=</m:t>
                      </m:r>
                      <m:r>
                        <a:rPr lang="en-US" b="0" i="1" smtClean="0">
                          <a:solidFill>
                            <a:srgbClr val="0070C0"/>
                          </a:solidFill>
                          <a:latin typeface="Cambria Math" panose="02040503050406030204" pitchFamily="18" charset="0"/>
                        </a:rPr>
                        <m:t>𝑓</m:t>
                      </m:r>
                    </m:oMath>
                  </m:oMathPara>
                </a14:m>
                <a:endParaRPr lang="en-US" dirty="0">
                  <a:solidFill>
                    <a:srgbClr val="0070C0"/>
                  </a:solidFill>
                </a:endParaRPr>
              </a:p>
              <a:p>
                <a:pPr>
                  <a:lnSpc>
                    <a:spcPct val="100000"/>
                  </a:lnSpc>
                </a:pPr>
                <a:r>
                  <a:rPr lang="en-US" dirty="0"/>
                  <a:t>With </a:t>
                </a:r>
                <a14:m>
                  <m:oMath xmlns:m="http://schemas.openxmlformats.org/officeDocument/2006/math">
                    <m:r>
                      <a:rPr lang="en-US" b="0" i="1" smtClean="0">
                        <a:latin typeface="Cambria Math" panose="02040503050406030204" pitchFamily="18" charset="0"/>
                      </a:rPr>
                      <m:t>𝛼</m:t>
                    </m:r>
                    <m:r>
                      <a:rPr lang="en-US" b="0" i="1" smtClean="0">
                        <a:latin typeface="Cambria Math" panose="02040503050406030204" pitchFamily="18" charset="0"/>
                      </a:rPr>
                      <m:t>=1</m:t>
                    </m:r>
                  </m:oMath>
                </a14:m>
                <a:r>
                  <a:rPr lang="en-US" dirty="0"/>
                  <a:t>   ,  </a:t>
                </a:r>
                <a14:m>
                  <m:oMath xmlns:m="http://schemas.openxmlformats.org/officeDocument/2006/math">
                    <m:r>
                      <a:rPr lang="en-US" b="0" i="1" smtClean="0">
                        <a:solidFill>
                          <a:srgbClr val="FF0000"/>
                        </a:solidFill>
                        <a:latin typeface="Cambria Math" panose="02040503050406030204" pitchFamily="18" charset="0"/>
                      </a:rPr>
                      <m:t>𝛽</m:t>
                    </m:r>
                    <m:r>
                      <a:rPr lang="en-US" b="0" i="1" smtClean="0">
                        <a:solidFill>
                          <a:srgbClr val="FF0000"/>
                        </a:solidFill>
                        <a:latin typeface="Cambria Math" panose="02040503050406030204" pitchFamily="18" charset="0"/>
                      </a:rPr>
                      <m:t>=</m:t>
                    </m:r>
                    <m:r>
                      <a:rPr lang="en-US" b="0" i="1" smtClean="0">
                        <a:solidFill>
                          <a:srgbClr val="FF0000"/>
                        </a:solidFill>
                        <a:latin typeface="Cambria Math" panose="02040503050406030204" pitchFamily="18" charset="0"/>
                      </a:rPr>
                      <m:t>𝑘</m:t>
                    </m:r>
                    <m:r>
                      <m:rPr>
                        <m:sty m:val="p"/>
                      </m:rPr>
                      <a:rPr lang="en-US" b="0" i="0" smtClean="0">
                        <a:solidFill>
                          <a:srgbClr val="FF0000"/>
                        </a:solidFill>
                        <a:latin typeface="Cambria Math" panose="02040503050406030204" pitchFamily="18" charset="0"/>
                      </a:rPr>
                      <m:t>Δ</m:t>
                    </m:r>
                    <m:r>
                      <a:rPr lang="en-US" b="0" i="1" smtClean="0">
                        <a:solidFill>
                          <a:srgbClr val="FF0000"/>
                        </a:solidFill>
                        <a:latin typeface="Cambria Math" panose="02040503050406030204" pitchFamily="18" charset="0"/>
                      </a:rPr>
                      <m:t>𝑡</m:t>
                    </m:r>
                    <m:r>
                      <a:rPr lang="en-US" b="0" i="1" smtClean="0">
                        <a:solidFill>
                          <a:srgbClr val="FF0000"/>
                        </a:solidFill>
                        <a:latin typeface="Cambria Math" panose="02040503050406030204" pitchFamily="18" charset="0"/>
                      </a:rPr>
                      <m:t>/2</m:t>
                    </m:r>
                  </m:oMath>
                </a14:m>
                <a:r>
                  <a:rPr lang="en-US" dirty="0">
                    <a:solidFill>
                      <a:srgbClr val="FF0000"/>
                    </a:solidFill>
                  </a:rPr>
                  <a:t>   </a:t>
                </a:r>
                <a:r>
                  <a:rPr lang="en-US" dirty="0"/>
                  <a:t>,  </a:t>
                </a:r>
                <a14:m>
                  <m:oMath xmlns:m="http://schemas.openxmlformats.org/officeDocument/2006/math">
                    <m:r>
                      <a:rPr lang="en-US" b="0" i="1" smtClean="0">
                        <a:solidFill>
                          <a:srgbClr val="0070C0"/>
                        </a:solidFill>
                        <a:latin typeface="Cambria Math" panose="02040503050406030204" pitchFamily="18" charset="0"/>
                      </a:rPr>
                      <m:t>𝑓</m:t>
                    </m:r>
                    <m:r>
                      <a:rPr lang="en-US" b="0" i="1" smtClean="0">
                        <a:solidFill>
                          <a:srgbClr val="0070C0"/>
                        </a:solidFill>
                        <a:latin typeface="Cambria Math" panose="02040503050406030204" pitchFamily="18" charset="0"/>
                      </a:rPr>
                      <m:t>=</m:t>
                    </m:r>
                    <m:sSubSup>
                      <m:sSubSupPr>
                        <m:ctrlPr>
                          <a:rPr lang="en-US" i="1">
                            <a:solidFill>
                              <a:srgbClr val="0070C0"/>
                            </a:solidFill>
                            <a:latin typeface="Cambria Math" panose="02040503050406030204" pitchFamily="18" charset="0"/>
                          </a:rPr>
                        </m:ctrlPr>
                      </m:sSubSupPr>
                      <m:e>
                        <m:r>
                          <a:rPr lang="en-US" i="1">
                            <a:solidFill>
                              <a:srgbClr val="0070C0"/>
                            </a:solidFill>
                            <a:latin typeface="Cambria Math" panose="02040503050406030204" pitchFamily="18" charset="0"/>
                          </a:rPr>
                          <m:t>𝜙</m:t>
                        </m:r>
                      </m:e>
                      <m:sub>
                        <m:r>
                          <a:rPr lang="en-US" i="1">
                            <a:solidFill>
                              <a:srgbClr val="0070C0"/>
                            </a:solidFill>
                            <a:latin typeface="Cambria Math" panose="02040503050406030204" pitchFamily="18" charset="0"/>
                          </a:rPr>
                          <m:t>𝑖</m:t>
                        </m:r>
                      </m:sub>
                      <m:sup>
                        <m:r>
                          <a:rPr lang="en-US" i="1">
                            <a:solidFill>
                              <a:srgbClr val="0070C0"/>
                            </a:solidFill>
                            <a:latin typeface="Cambria Math" panose="02040503050406030204" pitchFamily="18" charset="0"/>
                          </a:rPr>
                          <m:t>𝑛</m:t>
                        </m:r>
                      </m:sup>
                    </m:sSubSup>
                    <m:r>
                      <a:rPr lang="en-US" i="1">
                        <a:solidFill>
                          <a:srgbClr val="0070C0"/>
                        </a:solidFill>
                        <a:latin typeface="Cambria Math" panose="02040503050406030204" pitchFamily="18" charset="0"/>
                      </a:rPr>
                      <m:t>+</m:t>
                    </m:r>
                    <m:f>
                      <m:fPr>
                        <m:ctrlPr>
                          <a:rPr lang="en-US" i="1">
                            <a:solidFill>
                              <a:srgbClr val="0070C0"/>
                            </a:solidFill>
                            <a:latin typeface="Cambria Math" panose="02040503050406030204" pitchFamily="18" charset="0"/>
                          </a:rPr>
                        </m:ctrlPr>
                      </m:fPr>
                      <m:num>
                        <m:r>
                          <m:rPr>
                            <m:sty m:val="p"/>
                          </m:rPr>
                          <a:rPr lang="en-US">
                            <a:solidFill>
                              <a:srgbClr val="0070C0"/>
                            </a:solidFill>
                            <a:latin typeface="Cambria Math" panose="02040503050406030204" pitchFamily="18" charset="0"/>
                          </a:rPr>
                          <m:t>Δ</m:t>
                        </m:r>
                        <m:r>
                          <a:rPr lang="en-US" i="1">
                            <a:solidFill>
                              <a:srgbClr val="0070C0"/>
                            </a:solidFill>
                            <a:latin typeface="Cambria Math" panose="02040503050406030204" pitchFamily="18" charset="0"/>
                          </a:rPr>
                          <m:t>𝑡</m:t>
                        </m:r>
                      </m:num>
                      <m:den>
                        <m:r>
                          <a:rPr lang="en-US" i="1">
                            <a:solidFill>
                              <a:srgbClr val="0070C0"/>
                            </a:solidFill>
                            <a:latin typeface="Cambria Math" panose="02040503050406030204" pitchFamily="18" charset="0"/>
                          </a:rPr>
                          <m:t>2</m:t>
                        </m:r>
                      </m:den>
                    </m:f>
                    <m:r>
                      <a:rPr lang="en-US" i="1">
                        <a:solidFill>
                          <a:srgbClr val="0070C0"/>
                        </a:solidFill>
                        <a:latin typeface="Cambria Math" panose="02040503050406030204" pitchFamily="18" charset="0"/>
                      </a:rPr>
                      <m:t>𝑘</m:t>
                    </m:r>
                    <m:sSup>
                      <m:sSupPr>
                        <m:ctrlPr>
                          <a:rPr lang="en-US" i="1">
                            <a:solidFill>
                              <a:srgbClr val="0070C0"/>
                            </a:solidFill>
                            <a:latin typeface="Cambria Math" panose="02040503050406030204" pitchFamily="18" charset="0"/>
                          </a:rPr>
                        </m:ctrlPr>
                      </m:sSupPr>
                      <m:e>
                        <m:r>
                          <m:rPr>
                            <m:sty m:val="p"/>
                          </m:rPr>
                          <a:rPr lang="en-US">
                            <a:solidFill>
                              <a:srgbClr val="0070C0"/>
                            </a:solidFill>
                            <a:latin typeface="Cambria Math" panose="02040503050406030204" pitchFamily="18" charset="0"/>
                          </a:rPr>
                          <m:t>∇</m:t>
                        </m:r>
                      </m:e>
                      <m:sup>
                        <m:r>
                          <a:rPr lang="en-US" i="1">
                            <a:solidFill>
                              <a:srgbClr val="0070C0"/>
                            </a:solidFill>
                            <a:latin typeface="Cambria Math" panose="02040503050406030204" pitchFamily="18" charset="0"/>
                          </a:rPr>
                          <m:t>2</m:t>
                        </m:r>
                      </m:sup>
                    </m:sSup>
                    <m:sSubSup>
                      <m:sSubSupPr>
                        <m:ctrlPr>
                          <a:rPr lang="en-US" i="1">
                            <a:solidFill>
                              <a:srgbClr val="0070C0"/>
                            </a:solidFill>
                            <a:latin typeface="Cambria Math" panose="02040503050406030204" pitchFamily="18" charset="0"/>
                          </a:rPr>
                        </m:ctrlPr>
                      </m:sSubSupPr>
                      <m:e>
                        <m:r>
                          <a:rPr lang="en-US" i="1">
                            <a:solidFill>
                              <a:srgbClr val="0070C0"/>
                            </a:solidFill>
                            <a:latin typeface="Cambria Math" panose="02040503050406030204" pitchFamily="18" charset="0"/>
                          </a:rPr>
                          <m:t>𝜙</m:t>
                        </m:r>
                      </m:e>
                      <m:sub>
                        <m:r>
                          <a:rPr lang="en-US" i="1">
                            <a:solidFill>
                              <a:srgbClr val="0070C0"/>
                            </a:solidFill>
                            <a:latin typeface="Cambria Math" panose="02040503050406030204" pitchFamily="18" charset="0"/>
                          </a:rPr>
                          <m:t>𝑖</m:t>
                        </m:r>
                      </m:sub>
                      <m:sup>
                        <m:r>
                          <a:rPr lang="en-US" i="1">
                            <a:solidFill>
                              <a:srgbClr val="0070C0"/>
                            </a:solidFill>
                            <a:latin typeface="Cambria Math" panose="02040503050406030204" pitchFamily="18" charset="0"/>
                          </a:rPr>
                          <m:t>𝑛</m:t>
                        </m:r>
                      </m:sup>
                    </m:sSubSup>
                  </m:oMath>
                </a14:m>
                <a:endParaRPr lang="en-US" dirty="0"/>
              </a:p>
              <a:p>
                <a:pPr>
                  <a:lnSpc>
                    <a:spcPct val="100000"/>
                  </a:lnSpc>
                </a:pPr>
                <a:r>
                  <a:rPr lang="en-US" dirty="0"/>
                  <a:t>Can be solved using multigrid techniques with a Helmholtz operator (See M. </a:t>
                </a:r>
                <a:r>
                  <a:rPr lang="en-US" dirty="0" err="1"/>
                  <a:t>Zingale</a:t>
                </a:r>
                <a:r>
                  <a:rPr lang="en-US" dirty="0"/>
                  <a:t> book, chapter 10). </a:t>
                </a:r>
              </a:p>
              <a:p>
                <a:pPr marL="0" indent="0">
                  <a:lnSpc>
                    <a:spcPct val="100000"/>
                  </a:lnSpc>
                  <a:buNone/>
                </a:pPr>
                <a:endParaRPr lang="en-US" dirty="0"/>
              </a:p>
              <a:p>
                <a:pPr marL="0" indent="0">
                  <a:lnSpc>
                    <a:spcPct val="100000"/>
                  </a:lnSpc>
                  <a:buNone/>
                </a:pPr>
                <a:endParaRPr lang="en-US" dirty="0"/>
              </a:p>
            </p:txBody>
          </p:sp>
        </mc:Choice>
        <mc:Fallback>
          <p:sp>
            <p:nvSpPr>
              <p:cNvPr id="3" name="Content Placeholder 2">
                <a:extLst>
                  <a:ext uri="{FF2B5EF4-FFF2-40B4-BE49-F238E27FC236}">
                    <a16:creationId xmlns:a16="http://schemas.microsoft.com/office/drawing/2014/main" id="{15C4FD65-F675-944D-A379-3A5FFFAEB784}"/>
                  </a:ext>
                </a:extLst>
              </p:cNvPr>
              <p:cNvSpPr>
                <a:spLocks noGrp="1" noRot="1" noChangeAspect="1" noMove="1" noResize="1" noEditPoints="1" noAdjustHandles="1" noChangeArrowheads="1" noChangeShapeType="1" noTextEdit="1"/>
              </p:cNvSpPr>
              <p:nvPr>
                <p:ph idx="1"/>
              </p:nvPr>
            </p:nvSpPr>
            <p:spPr>
              <a:xfrm>
                <a:off x="838199" y="1121790"/>
                <a:ext cx="10851037" cy="5736209"/>
              </a:xfrm>
              <a:blipFill>
                <a:blip r:embed="rId2"/>
                <a:stretch>
                  <a:fillRect l="-819" t="-1325" b="-1325"/>
                </a:stretch>
              </a:blipFill>
            </p:spPr>
            <p:txBody>
              <a:bodyPr/>
              <a:lstStyle/>
              <a:p>
                <a:r>
                  <a:rPr lang="en-US">
                    <a:noFill/>
                  </a:rPr>
                  <a:t> </a:t>
                </a:r>
              </a:p>
            </p:txBody>
          </p:sp>
        </mc:Fallback>
      </mc:AlternateContent>
    </p:spTree>
    <p:extLst>
      <p:ext uri="{BB962C8B-B14F-4D97-AF65-F5344CB8AC3E}">
        <p14:creationId xmlns:p14="http://schemas.microsoft.com/office/powerpoint/2010/main" val="464040966"/>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DCE2F9-F4C3-DA4C-B0FC-7FF6F22D148C}"/>
              </a:ext>
            </a:extLst>
          </p:cNvPr>
          <p:cNvSpPr>
            <a:spLocks noGrp="1"/>
          </p:cNvSpPr>
          <p:nvPr>
            <p:ph type="title"/>
          </p:nvPr>
        </p:nvSpPr>
        <p:spPr>
          <a:xfrm>
            <a:off x="838200" y="0"/>
            <a:ext cx="10515600" cy="1325563"/>
          </a:xfrm>
        </p:spPr>
        <p:txBody>
          <a:bodyPr/>
          <a:lstStyle/>
          <a:p>
            <a:r>
              <a:rPr lang="en-US" dirty="0"/>
              <a:t>Implicit methods: Relaxation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5C4FD65-F675-944D-A379-3A5FFFAEB784}"/>
                  </a:ext>
                </a:extLst>
              </p:cNvPr>
              <p:cNvSpPr>
                <a:spLocks noGrp="1"/>
              </p:cNvSpPr>
              <p:nvPr>
                <p:ph idx="1"/>
              </p:nvPr>
            </p:nvSpPr>
            <p:spPr>
              <a:xfrm>
                <a:off x="838200" y="1325562"/>
                <a:ext cx="10515600" cy="5532437"/>
              </a:xfrm>
            </p:spPr>
            <p:txBody>
              <a:bodyPr>
                <a:normAutofit/>
              </a:bodyPr>
              <a:lstStyle/>
              <a:p>
                <a:r>
                  <a:rPr lang="en-US" dirty="0"/>
                  <a:t>Instead of directly solving the matrix form, we can use multigrid:</a:t>
                </a:r>
              </a:p>
              <a:p>
                <a:r>
                  <a:rPr lang="en-US" dirty="0"/>
                  <a:t>First order in time:</a:t>
                </a:r>
              </a:p>
              <a:p>
                <a:pPr marL="0" indent="0">
                  <a:spcAft>
                    <a:spcPts val="600"/>
                  </a:spcAft>
                  <a:buNone/>
                </a:pPr>
                <a14:m>
                  <m:oMathPara xmlns:m="http://schemas.openxmlformats.org/officeDocument/2006/math">
                    <m:oMathParaPr>
                      <m:jc m:val="centerGroup"/>
                    </m:oMathParaPr>
                    <m:oMath xmlns:m="http://schemas.openxmlformats.org/officeDocument/2006/math">
                      <m:f>
                        <m:fPr>
                          <m:ctrlPr>
                            <a:rPr lang="en-US" i="1">
                              <a:latin typeface="Cambria Math" panose="02040503050406030204" pitchFamily="18" charset="0"/>
                            </a:rPr>
                          </m:ctrlPr>
                        </m:fPr>
                        <m:num>
                          <m:sSubSup>
                            <m:sSubSupPr>
                              <m:ctrlPr>
                                <a:rPr lang="en-US" i="1">
                                  <a:latin typeface="Cambria Math" panose="02040503050406030204" pitchFamily="18" charset="0"/>
                                </a:rPr>
                              </m:ctrlPr>
                            </m:sSubSupPr>
                            <m:e>
                              <m:sSubSup>
                                <m:sSubSupPr>
                                  <m:ctrlPr>
                                    <a:rPr lang="en-US" i="1">
                                      <a:latin typeface="Cambria Math" panose="02040503050406030204" pitchFamily="18" charset="0"/>
                                    </a:rPr>
                                  </m:ctrlPr>
                                </m:sSubSupPr>
                                <m:e>
                                  <m:r>
                                    <a:rPr lang="en-US" i="1">
                                      <a:latin typeface="Cambria Math" panose="02040503050406030204" pitchFamily="18" charset="0"/>
                                    </a:rPr>
                                    <m:t>𝜙</m:t>
                                  </m:r>
                                </m:e>
                                <m:sub>
                                  <m:r>
                                    <a:rPr lang="en-US" i="1">
                                      <a:latin typeface="Cambria Math" panose="02040503050406030204" pitchFamily="18" charset="0"/>
                                    </a:rPr>
                                    <m:t>𝑖</m:t>
                                  </m:r>
                                </m:sub>
                                <m:sup>
                                  <m:r>
                                    <a:rPr lang="en-US" i="1">
                                      <a:latin typeface="Cambria Math" panose="02040503050406030204" pitchFamily="18" charset="0"/>
                                    </a:rPr>
                                    <m:t>𝑛</m:t>
                                  </m:r>
                                  <m:r>
                                    <a:rPr lang="en-US" i="1">
                                      <a:latin typeface="Cambria Math" panose="02040503050406030204" pitchFamily="18" charset="0"/>
                                    </a:rPr>
                                    <m:t>+1</m:t>
                                  </m:r>
                                </m:sup>
                              </m:sSubSup>
                              <m:r>
                                <a:rPr lang="en-US" i="1">
                                  <a:latin typeface="Cambria Math" panose="02040503050406030204" pitchFamily="18" charset="0"/>
                                </a:rPr>
                                <m:t>−</m:t>
                              </m:r>
                              <m:r>
                                <a:rPr lang="en-US" i="1">
                                  <a:latin typeface="Cambria Math" panose="02040503050406030204" pitchFamily="18" charset="0"/>
                                </a:rPr>
                                <m:t>𝜙</m:t>
                              </m:r>
                            </m:e>
                            <m:sub>
                              <m:r>
                                <a:rPr lang="en-US" i="1">
                                  <a:latin typeface="Cambria Math" panose="02040503050406030204" pitchFamily="18" charset="0"/>
                                </a:rPr>
                                <m:t>𝑖</m:t>
                              </m:r>
                            </m:sub>
                            <m:sup>
                              <m:r>
                                <a:rPr lang="en-US" i="1">
                                  <a:latin typeface="Cambria Math" panose="02040503050406030204" pitchFamily="18" charset="0"/>
                                </a:rPr>
                                <m:t>𝑛</m:t>
                              </m:r>
                            </m:sup>
                          </m:sSubSup>
                        </m:num>
                        <m:den>
                          <m:r>
                            <m:rPr>
                              <m:sty m:val="p"/>
                            </m:rPr>
                            <a:rPr lang="en-US">
                              <a:latin typeface="Cambria Math" panose="02040503050406030204" pitchFamily="18" charset="0"/>
                            </a:rPr>
                            <m:t>Δ</m:t>
                          </m:r>
                          <m:r>
                            <a:rPr lang="en-US" i="1">
                              <a:latin typeface="Cambria Math" panose="02040503050406030204" pitchFamily="18" charset="0"/>
                            </a:rPr>
                            <m:t>𝑡</m:t>
                          </m:r>
                        </m:den>
                      </m:f>
                      <m:r>
                        <a:rPr lang="en-US" i="1">
                          <a:latin typeface="Cambria Math" panose="02040503050406030204" pitchFamily="18" charset="0"/>
                        </a:rPr>
                        <m:t>=</m:t>
                      </m:r>
                      <m:r>
                        <a:rPr lang="en-US" b="0" i="1" smtClean="0">
                          <a:latin typeface="Cambria Math" panose="02040503050406030204" pitchFamily="18" charset="0"/>
                        </a:rPr>
                        <m:t>𝑘</m:t>
                      </m:r>
                      <m:sSup>
                        <m:sSupPr>
                          <m:ctrlPr>
                            <a:rPr lang="en-US" b="0" i="1" smtClean="0">
                              <a:latin typeface="Cambria Math" panose="02040503050406030204" pitchFamily="18" charset="0"/>
                            </a:rPr>
                          </m:ctrlPr>
                        </m:sSupPr>
                        <m:e>
                          <m:r>
                            <m:rPr>
                              <m:sty m:val="p"/>
                            </m:rPr>
                            <a:rPr lang="en-US" b="0" i="0" smtClean="0">
                              <a:latin typeface="Cambria Math" panose="02040503050406030204" pitchFamily="18" charset="0"/>
                            </a:rPr>
                            <m:t>∇</m:t>
                          </m:r>
                        </m:e>
                        <m:sup>
                          <m:r>
                            <a:rPr lang="en-US" b="0" i="1" smtClean="0">
                              <a:latin typeface="Cambria Math" panose="02040503050406030204" pitchFamily="18" charset="0"/>
                            </a:rPr>
                            <m:t>2</m:t>
                          </m:r>
                        </m:sup>
                      </m:sSup>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𝜙</m:t>
                          </m:r>
                        </m:e>
                        <m:sub>
                          <m:r>
                            <a:rPr lang="en-US" b="0" i="1" smtClean="0">
                              <a:latin typeface="Cambria Math" panose="02040503050406030204" pitchFamily="18" charset="0"/>
                            </a:rPr>
                            <m:t>𝑖</m:t>
                          </m:r>
                        </m:sub>
                        <m:sup>
                          <m:r>
                            <a:rPr lang="en-US" b="0" i="1" smtClean="0">
                              <a:latin typeface="Cambria Math" panose="02040503050406030204" pitchFamily="18" charset="0"/>
                            </a:rPr>
                            <m:t>𝑛</m:t>
                          </m:r>
                          <m:r>
                            <a:rPr lang="en-US" b="0" i="1" smtClean="0">
                              <a:latin typeface="Cambria Math" panose="02040503050406030204" pitchFamily="18" charset="0"/>
                            </a:rPr>
                            <m:t>+1</m:t>
                          </m:r>
                        </m:sup>
                      </m:sSubSup>
                      <m:r>
                        <a:rPr lang="en-US" b="0" i="1" smtClean="0">
                          <a:latin typeface="Cambria Math" panose="02040503050406030204" pitchFamily="18" charset="0"/>
                        </a:rPr>
                        <m:t>=</m:t>
                      </m:r>
                      <m:r>
                        <a:rPr lang="en-US" i="1">
                          <a:latin typeface="Cambria Math" panose="02040503050406030204" pitchFamily="18" charset="0"/>
                        </a:rPr>
                        <m:t>𝑘</m:t>
                      </m:r>
                      <m:f>
                        <m:fPr>
                          <m:ctrlPr>
                            <a:rPr lang="en-US" i="1">
                              <a:latin typeface="Cambria Math" panose="02040503050406030204" pitchFamily="18" charset="0"/>
                            </a:rPr>
                          </m:ctrlPr>
                        </m:fPr>
                        <m:num>
                          <m:sSubSup>
                            <m:sSubSupPr>
                              <m:ctrlPr>
                                <a:rPr lang="en-US" i="1">
                                  <a:latin typeface="Cambria Math" panose="02040503050406030204" pitchFamily="18" charset="0"/>
                                </a:rPr>
                              </m:ctrlPr>
                            </m:sSubSupPr>
                            <m:e>
                              <m:sSubSup>
                                <m:sSubSupPr>
                                  <m:ctrlPr>
                                    <a:rPr lang="en-US" i="1">
                                      <a:latin typeface="Cambria Math" panose="02040503050406030204" pitchFamily="18" charset="0"/>
                                    </a:rPr>
                                  </m:ctrlPr>
                                </m:sSubSupPr>
                                <m:e>
                                  <m:r>
                                    <a:rPr lang="en-US" i="1">
                                      <a:latin typeface="Cambria Math" panose="02040503050406030204" pitchFamily="18" charset="0"/>
                                    </a:rPr>
                                    <m:t>𝜙</m:t>
                                  </m:r>
                                </m:e>
                                <m:sub>
                                  <m:r>
                                    <a:rPr lang="en-US" i="1">
                                      <a:latin typeface="Cambria Math" panose="02040503050406030204" pitchFamily="18" charset="0"/>
                                    </a:rPr>
                                    <m:t>𝑖</m:t>
                                  </m:r>
                                  <m:r>
                                    <a:rPr lang="en-US" i="1">
                                      <a:latin typeface="Cambria Math" panose="02040503050406030204" pitchFamily="18" charset="0"/>
                                    </a:rPr>
                                    <m:t>+1</m:t>
                                  </m:r>
                                </m:sub>
                                <m:sup>
                                  <m:r>
                                    <a:rPr lang="en-US" i="1">
                                      <a:latin typeface="Cambria Math" panose="02040503050406030204" pitchFamily="18" charset="0"/>
                                    </a:rPr>
                                    <m:t>𝑛</m:t>
                                  </m:r>
                                  <m:r>
                                    <a:rPr lang="en-US" i="1">
                                      <a:latin typeface="Cambria Math" panose="02040503050406030204" pitchFamily="18" charset="0"/>
                                    </a:rPr>
                                    <m:t>+1</m:t>
                                  </m:r>
                                </m:sup>
                              </m:sSubSup>
                              <m:r>
                                <a:rPr lang="en-US" i="1">
                                  <a:latin typeface="Cambria Math" panose="02040503050406030204" pitchFamily="18" charset="0"/>
                                </a:rPr>
                                <m:t>−2</m:t>
                              </m:r>
                              <m:r>
                                <a:rPr lang="en-US" i="1">
                                  <a:latin typeface="Cambria Math" panose="02040503050406030204" pitchFamily="18" charset="0"/>
                                </a:rPr>
                                <m:t>𝜙</m:t>
                              </m:r>
                            </m:e>
                            <m:sub>
                              <m:r>
                                <a:rPr lang="en-US" i="1">
                                  <a:latin typeface="Cambria Math" panose="02040503050406030204" pitchFamily="18" charset="0"/>
                                </a:rPr>
                                <m:t>𝑖</m:t>
                              </m:r>
                            </m:sub>
                            <m:sup>
                              <m:r>
                                <a:rPr lang="en-US" i="1">
                                  <a:latin typeface="Cambria Math" panose="02040503050406030204" pitchFamily="18" charset="0"/>
                                </a:rPr>
                                <m:t>𝑛</m:t>
                              </m:r>
                              <m:r>
                                <a:rPr lang="en-US" i="1">
                                  <a:latin typeface="Cambria Math" panose="02040503050406030204" pitchFamily="18" charset="0"/>
                                </a:rPr>
                                <m:t>+1</m:t>
                              </m:r>
                            </m:sup>
                          </m:sSubSup>
                          <m:r>
                            <a:rPr lang="en-US" i="1">
                              <a:latin typeface="Cambria Math" panose="02040503050406030204" pitchFamily="18" charset="0"/>
                            </a:rPr>
                            <m:t>+</m:t>
                          </m:r>
                          <m:sSubSup>
                            <m:sSubSupPr>
                              <m:ctrlPr>
                                <a:rPr lang="en-US" i="1">
                                  <a:latin typeface="Cambria Math" panose="02040503050406030204" pitchFamily="18" charset="0"/>
                                </a:rPr>
                              </m:ctrlPr>
                            </m:sSubSupPr>
                            <m:e>
                              <m:r>
                                <a:rPr lang="en-US" i="1">
                                  <a:latin typeface="Cambria Math" panose="02040503050406030204" pitchFamily="18" charset="0"/>
                                </a:rPr>
                                <m:t>𝜙</m:t>
                              </m:r>
                            </m:e>
                            <m:sub>
                              <m:r>
                                <a:rPr lang="en-US" i="1">
                                  <a:latin typeface="Cambria Math" panose="02040503050406030204" pitchFamily="18" charset="0"/>
                                </a:rPr>
                                <m:t>𝑖</m:t>
                              </m:r>
                              <m:r>
                                <a:rPr lang="en-US" i="1">
                                  <a:latin typeface="Cambria Math" panose="02040503050406030204" pitchFamily="18" charset="0"/>
                                </a:rPr>
                                <m:t>−1</m:t>
                              </m:r>
                            </m:sub>
                            <m:sup>
                              <m:r>
                                <a:rPr lang="en-US" i="1">
                                  <a:latin typeface="Cambria Math" panose="02040503050406030204" pitchFamily="18" charset="0"/>
                                </a:rPr>
                                <m:t>𝑛</m:t>
                              </m:r>
                              <m:r>
                                <a:rPr lang="en-US" i="1">
                                  <a:latin typeface="Cambria Math" panose="02040503050406030204" pitchFamily="18" charset="0"/>
                                </a:rPr>
                                <m:t>+1</m:t>
                              </m:r>
                            </m:sup>
                          </m:sSubSup>
                          <m:r>
                            <a:rPr lang="en-US" i="1">
                              <a:latin typeface="Cambria Math" panose="02040503050406030204" pitchFamily="18" charset="0"/>
                            </a:rPr>
                            <m:t> </m:t>
                          </m:r>
                        </m:num>
                        <m:den>
                          <m:r>
                            <m:rPr>
                              <m:sty m:val="p"/>
                            </m:rPr>
                            <a:rPr lang="en-US">
                              <a:latin typeface="Cambria Math" panose="02040503050406030204" pitchFamily="18" charset="0"/>
                            </a:rPr>
                            <m:t>Δ</m:t>
                          </m:r>
                          <m:sSup>
                            <m:sSupPr>
                              <m:ctrlPr>
                                <a:rPr lang="en-US" i="1">
                                  <a:latin typeface="Cambria Math" panose="02040503050406030204" pitchFamily="18" charset="0"/>
                                </a:rPr>
                              </m:ctrlPr>
                            </m:sSupPr>
                            <m:e>
                              <m:r>
                                <a:rPr lang="en-US" i="1">
                                  <a:latin typeface="Cambria Math" panose="02040503050406030204" pitchFamily="18" charset="0"/>
                                </a:rPr>
                                <m:t>𝑥</m:t>
                              </m:r>
                            </m:e>
                            <m:sup>
                              <m:r>
                                <a:rPr lang="en-US" i="1">
                                  <a:latin typeface="Cambria Math" panose="02040503050406030204" pitchFamily="18" charset="0"/>
                                </a:rPr>
                                <m:t>2</m:t>
                              </m:r>
                            </m:sup>
                          </m:sSup>
                        </m:den>
                      </m:f>
                    </m:oMath>
                  </m:oMathPara>
                </a14:m>
                <a:endParaRPr lang="en-US" dirty="0"/>
              </a:p>
              <a:p>
                <a:pPr marL="0" indent="0">
                  <a:lnSpc>
                    <a:spcPct val="150000"/>
                  </a:lnSpc>
                  <a:spcAft>
                    <a:spcPts val="600"/>
                  </a:spcAft>
                  <a:buNone/>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m:t>
                      </m:r>
                      <m:r>
                        <a:rPr lang="en-US" i="1" smtClean="0">
                          <a:latin typeface="Cambria Math" panose="02040503050406030204" pitchFamily="18" charset="0"/>
                        </a:rPr>
                        <m:t>𝛼</m:t>
                      </m:r>
                      <m:sSubSup>
                        <m:sSubSupPr>
                          <m:ctrlPr>
                            <a:rPr lang="en-US" i="1">
                              <a:latin typeface="Cambria Math" panose="02040503050406030204" pitchFamily="18" charset="0"/>
                            </a:rPr>
                          </m:ctrlPr>
                        </m:sSubSupPr>
                        <m:e>
                          <m:r>
                            <a:rPr lang="en-US" i="1">
                              <a:latin typeface="Cambria Math" panose="02040503050406030204" pitchFamily="18" charset="0"/>
                            </a:rPr>
                            <m:t>𝜙</m:t>
                          </m:r>
                        </m:e>
                        <m:sub>
                          <m:r>
                            <a:rPr lang="en-US" i="1">
                              <a:latin typeface="Cambria Math" panose="02040503050406030204" pitchFamily="18" charset="0"/>
                            </a:rPr>
                            <m:t>𝑖</m:t>
                          </m:r>
                          <m:r>
                            <a:rPr lang="en-US" i="1">
                              <a:latin typeface="Cambria Math" panose="02040503050406030204" pitchFamily="18" charset="0"/>
                            </a:rPr>
                            <m:t>+1</m:t>
                          </m:r>
                        </m:sub>
                        <m:sup>
                          <m:r>
                            <a:rPr lang="en-US" i="1">
                              <a:latin typeface="Cambria Math" panose="02040503050406030204" pitchFamily="18" charset="0"/>
                            </a:rPr>
                            <m:t>𝑛</m:t>
                          </m:r>
                          <m:r>
                            <a:rPr lang="en-US" i="1">
                              <a:latin typeface="Cambria Math" panose="02040503050406030204" pitchFamily="18" charset="0"/>
                            </a:rPr>
                            <m:t>+1</m:t>
                          </m:r>
                        </m:sup>
                      </m:sSubSup>
                      <m:r>
                        <a:rPr lang="en-US" i="1">
                          <a:latin typeface="Cambria Math" panose="02040503050406030204" pitchFamily="18" charset="0"/>
                        </a:rPr>
                        <m:t>+(1+2</m:t>
                      </m:r>
                      <m:r>
                        <a:rPr lang="en-US" i="1">
                          <a:latin typeface="Cambria Math" panose="02040503050406030204" pitchFamily="18" charset="0"/>
                        </a:rPr>
                        <m:t>𝛼</m:t>
                      </m:r>
                      <m:r>
                        <a:rPr lang="en-US" i="1">
                          <a:latin typeface="Cambria Math" panose="02040503050406030204" pitchFamily="18" charset="0"/>
                        </a:rPr>
                        <m:t>)</m:t>
                      </m:r>
                      <m:sSubSup>
                        <m:sSubSupPr>
                          <m:ctrlPr>
                            <a:rPr lang="en-US" i="1">
                              <a:latin typeface="Cambria Math" panose="02040503050406030204" pitchFamily="18" charset="0"/>
                            </a:rPr>
                          </m:ctrlPr>
                        </m:sSubSupPr>
                        <m:e>
                          <m:sSubSup>
                            <m:sSubSupPr>
                              <m:ctrlPr>
                                <a:rPr lang="en-US" i="1">
                                  <a:latin typeface="Cambria Math" panose="02040503050406030204" pitchFamily="18" charset="0"/>
                                </a:rPr>
                              </m:ctrlPr>
                            </m:sSubSupPr>
                            <m:e>
                              <m:r>
                                <a:rPr lang="en-US" i="1">
                                  <a:latin typeface="Cambria Math" panose="02040503050406030204" pitchFamily="18" charset="0"/>
                                </a:rPr>
                                <m:t>𝜙</m:t>
                              </m:r>
                            </m:e>
                            <m:sub>
                              <m:r>
                                <a:rPr lang="en-US" i="1">
                                  <a:latin typeface="Cambria Math" panose="02040503050406030204" pitchFamily="18" charset="0"/>
                                </a:rPr>
                                <m:t>𝑖</m:t>
                              </m:r>
                            </m:sub>
                            <m:sup>
                              <m:r>
                                <a:rPr lang="en-US" i="1">
                                  <a:latin typeface="Cambria Math" panose="02040503050406030204" pitchFamily="18" charset="0"/>
                                </a:rPr>
                                <m:t>𝑛</m:t>
                              </m:r>
                              <m:r>
                                <a:rPr lang="en-US" i="1">
                                  <a:latin typeface="Cambria Math" panose="02040503050406030204" pitchFamily="18" charset="0"/>
                                </a:rPr>
                                <m:t>+1</m:t>
                              </m:r>
                            </m:sup>
                          </m:sSubSup>
                          <m:r>
                            <a:rPr lang="en-US" i="1">
                              <a:latin typeface="Cambria Math" panose="02040503050406030204" pitchFamily="18" charset="0"/>
                            </a:rPr>
                            <m:t>−</m:t>
                          </m:r>
                          <m:r>
                            <a:rPr lang="en-US" i="1">
                              <a:latin typeface="Cambria Math" panose="02040503050406030204" pitchFamily="18" charset="0"/>
                            </a:rPr>
                            <m:t>𝛼</m:t>
                          </m:r>
                          <m:sSubSup>
                            <m:sSubSupPr>
                              <m:ctrlPr>
                                <a:rPr lang="en-US" i="1">
                                  <a:latin typeface="Cambria Math" panose="02040503050406030204" pitchFamily="18" charset="0"/>
                                </a:rPr>
                              </m:ctrlPr>
                            </m:sSubSupPr>
                            <m:e>
                              <m:r>
                                <a:rPr lang="en-US" i="1">
                                  <a:latin typeface="Cambria Math" panose="02040503050406030204" pitchFamily="18" charset="0"/>
                                </a:rPr>
                                <m:t>𝜙</m:t>
                              </m:r>
                            </m:e>
                            <m:sub>
                              <m:r>
                                <a:rPr lang="en-US" i="1">
                                  <a:latin typeface="Cambria Math" panose="02040503050406030204" pitchFamily="18" charset="0"/>
                                </a:rPr>
                                <m:t>𝑖</m:t>
                              </m:r>
                              <m:r>
                                <a:rPr lang="en-US" i="1">
                                  <a:latin typeface="Cambria Math" panose="02040503050406030204" pitchFamily="18" charset="0"/>
                                </a:rPr>
                                <m:t>−1</m:t>
                              </m:r>
                            </m:sub>
                            <m:sup>
                              <m:r>
                                <a:rPr lang="en-US" i="1">
                                  <a:latin typeface="Cambria Math" panose="02040503050406030204" pitchFamily="18" charset="0"/>
                                </a:rPr>
                                <m:t>𝑛</m:t>
                              </m:r>
                              <m:r>
                                <a:rPr lang="en-US" i="1">
                                  <a:latin typeface="Cambria Math" panose="02040503050406030204" pitchFamily="18" charset="0"/>
                                </a:rPr>
                                <m:t>+1</m:t>
                              </m:r>
                            </m:sup>
                          </m:sSubSup>
                          <m:r>
                            <a:rPr lang="en-US" i="1">
                              <a:latin typeface="Cambria Math" panose="02040503050406030204" pitchFamily="18" charset="0"/>
                            </a:rPr>
                            <m:t>=</m:t>
                          </m:r>
                          <m:r>
                            <a:rPr lang="en-US" i="1">
                              <a:latin typeface="Cambria Math" panose="02040503050406030204" pitchFamily="18" charset="0"/>
                            </a:rPr>
                            <m:t>𝜙</m:t>
                          </m:r>
                        </m:e>
                        <m:sub>
                          <m:r>
                            <a:rPr lang="en-US" i="1">
                              <a:latin typeface="Cambria Math" panose="02040503050406030204" pitchFamily="18" charset="0"/>
                            </a:rPr>
                            <m:t>𝑖</m:t>
                          </m:r>
                        </m:sub>
                        <m:sup>
                          <m:r>
                            <a:rPr lang="en-US" i="1">
                              <a:latin typeface="Cambria Math" panose="02040503050406030204" pitchFamily="18" charset="0"/>
                            </a:rPr>
                            <m:t>𝑛</m:t>
                          </m:r>
                        </m:sup>
                      </m:sSubSup>
                    </m:oMath>
                  </m:oMathPara>
                </a14:m>
                <a:endParaRPr lang="en-US" dirty="0"/>
              </a:p>
              <a:p>
                <a:pPr>
                  <a:lnSpc>
                    <a:spcPct val="100000"/>
                  </a:lnSpc>
                </a:pPr>
                <a:r>
                  <a:rPr lang="en-US" dirty="0"/>
                  <a:t>We write the RHS as </a:t>
                </a:r>
                <a14:m>
                  <m:oMath xmlns:m="http://schemas.openxmlformats.org/officeDocument/2006/math">
                    <m:sSub>
                      <m:sSubPr>
                        <m:ctrlPr>
                          <a:rPr lang="en-US" b="0" i="1" smtClean="0">
                            <a:latin typeface="Cambria Math" panose="02040503050406030204" pitchFamily="18" charset="0"/>
                          </a:rPr>
                        </m:ctrlPr>
                      </m:sSubPr>
                      <m:e>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𝜙</m:t>
                            </m:r>
                          </m:e>
                          <m:sub>
                            <m:r>
                              <a:rPr lang="en-US" b="0" i="1" smtClean="0">
                                <a:latin typeface="Cambria Math" panose="02040503050406030204" pitchFamily="18" charset="0"/>
                              </a:rPr>
                              <m:t>𝑖</m:t>
                            </m:r>
                          </m:sub>
                          <m:sup>
                            <m:r>
                              <a:rPr lang="en-US" b="0" i="1" smtClean="0">
                                <a:latin typeface="Cambria Math" panose="02040503050406030204" pitchFamily="18" charset="0"/>
                              </a:rPr>
                              <m:t>𝑛</m:t>
                            </m:r>
                          </m:sup>
                        </m:sSubSup>
                        <m:r>
                          <a:rPr lang="en-US" b="0" i="1" smtClean="0">
                            <a:latin typeface="Cambria Math" panose="02040503050406030204" pitchFamily="18" charset="0"/>
                          </a:rPr>
                          <m:t>=</m:t>
                        </m:r>
                        <m:r>
                          <a:rPr lang="en-US" b="0" i="1" smtClean="0">
                            <a:latin typeface="Cambria Math" panose="02040503050406030204" pitchFamily="18" charset="0"/>
                          </a:rPr>
                          <m:t>𝑓</m:t>
                        </m:r>
                      </m:e>
                      <m:sub>
                        <m:r>
                          <a:rPr lang="en-US" b="0" i="1" smtClean="0">
                            <a:latin typeface="Cambria Math" panose="02040503050406030204" pitchFamily="18" charset="0"/>
                          </a:rPr>
                          <m:t>𝑖</m:t>
                        </m:r>
                      </m:sub>
                    </m:sSub>
                  </m:oMath>
                </a14:m>
                <a:r>
                  <a:rPr lang="en-US" dirty="0"/>
                  <a:t> and express </a:t>
                </a:r>
                <a14:m>
                  <m:oMath xmlns:m="http://schemas.openxmlformats.org/officeDocument/2006/math">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𝜙</m:t>
                        </m:r>
                      </m:e>
                      <m:sub>
                        <m:r>
                          <a:rPr lang="en-US" b="0" i="1" smtClean="0">
                            <a:latin typeface="Cambria Math" panose="02040503050406030204" pitchFamily="18" charset="0"/>
                          </a:rPr>
                          <m:t>𝑖</m:t>
                        </m:r>
                      </m:sub>
                      <m:sup>
                        <m:r>
                          <a:rPr lang="en-US" b="0" i="1" smtClean="0">
                            <a:latin typeface="Cambria Math" panose="02040503050406030204" pitchFamily="18" charset="0"/>
                          </a:rPr>
                          <m:t>𝑛</m:t>
                        </m:r>
                        <m:r>
                          <a:rPr lang="en-US" b="0" i="1" smtClean="0">
                            <a:latin typeface="Cambria Math" panose="02040503050406030204" pitchFamily="18" charset="0"/>
                          </a:rPr>
                          <m:t>+1</m:t>
                        </m:r>
                      </m:sup>
                    </m:sSubSup>
                  </m:oMath>
                </a14:m>
                <a:r>
                  <a:rPr lang="en-US" dirty="0"/>
                  <a:t>:</a:t>
                </a:r>
              </a:p>
              <a:p>
                <a:pPr marL="0" indent="0">
                  <a:lnSpc>
                    <a:spcPct val="150000"/>
                  </a:lnSpc>
                  <a:buNone/>
                </a:pPr>
                <a14:m>
                  <m:oMathPara xmlns:m="http://schemas.openxmlformats.org/officeDocument/2006/math">
                    <m:oMathParaPr>
                      <m:jc m:val="centerGroup"/>
                    </m:oMathParaPr>
                    <m:oMath xmlns:m="http://schemas.openxmlformats.org/officeDocument/2006/math">
                      <m:sSubSup>
                        <m:sSubSupPr>
                          <m:ctrlPr>
                            <a:rPr lang="en-US" i="1">
                              <a:latin typeface="Cambria Math" panose="02040503050406030204" pitchFamily="18" charset="0"/>
                            </a:rPr>
                          </m:ctrlPr>
                        </m:sSubSupPr>
                        <m:e>
                          <m:r>
                            <a:rPr lang="en-US" i="1">
                              <a:latin typeface="Cambria Math" panose="02040503050406030204" pitchFamily="18" charset="0"/>
                            </a:rPr>
                            <m:t>𝜙</m:t>
                          </m:r>
                        </m:e>
                        <m:sub>
                          <m:r>
                            <a:rPr lang="en-US" i="1">
                              <a:latin typeface="Cambria Math" panose="02040503050406030204" pitchFamily="18" charset="0"/>
                            </a:rPr>
                            <m:t>𝑖</m:t>
                          </m:r>
                        </m:sub>
                        <m:sup>
                          <m:r>
                            <a:rPr lang="en-US" i="1">
                              <a:latin typeface="Cambria Math" panose="02040503050406030204" pitchFamily="18" charset="0"/>
                            </a:rPr>
                            <m:t>𝑛</m:t>
                          </m:r>
                          <m:r>
                            <a:rPr lang="en-US" i="1">
                              <a:latin typeface="Cambria Math" panose="02040503050406030204" pitchFamily="18" charset="0"/>
                            </a:rPr>
                            <m:t>+1</m:t>
                          </m:r>
                        </m:sup>
                      </m:sSubSup>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d>
                            <m:dPr>
                              <m:ctrlPr>
                                <a:rPr lang="en-US" i="1">
                                  <a:latin typeface="Cambria Math" panose="02040503050406030204" pitchFamily="18" charset="0"/>
                                </a:rPr>
                              </m:ctrlPr>
                            </m:dPr>
                            <m:e>
                              <m:r>
                                <a:rPr lang="en-US" i="1">
                                  <a:latin typeface="Cambria Math" panose="02040503050406030204" pitchFamily="18" charset="0"/>
                                </a:rPr>
                                <m:t>1+2</m:t>
                              </m:r>
                              <m:r>
                                <a:rPr lang="en-US" i="1">
                                  <a:latin typeface="Cambria Math" panose="02040503050406030204" pitchFamily="18" charset="0"/>
                                </a:rPr>
                                <m:t>𝛼</m:t>
                              </m:r>
                            </m:e>
                          </m:d>
                        </m:e>
                        <m:sup>
                          <m:r>
                            <a:rPr lang="en-US" b="0" i="0" smtClean="0">
                              <a:latin typeface="Cambria Math" panose="02040503050406030204" pitchFamily="18" charset="0"/>
                            </a:rPr>
                            <m:t>−1</m:t>
                          </m:r>
                        </m:sup>
                      </m:sSup>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𝑓</m:t>
                              </m:r>
                            </m:e>
                            <m:sub>
                              <m:r>
                                <a:rPr lang="en-US" b="0" i="1" smtClean="0">
                                  <a:latin typeface="Cambria Math" panose="02040503050406030204" pitchFamily="18" charset="0"/>
                                </a:rPr>
                                <m:t>𝑖</m:t>
                              </m:r>
                            </m:sub>
                          </m:sSub>
                          <m:r>
                            <a:rPr lang="en-US" b="0" i="1" smtClean="0">
                              <a:latin typeface="Cambria Math" panose="02040503050406030204" pitchFamily="18" charset="0"/>
                            </a:rPr>
                            <m:t>+</m:t>
                          </m:r>
                          <m:r>
                            <a:rPr lang="en-US" i="1">
                              <a:latin typeface="Cambria Math" panose="02040503050406030204" pitchFamily="18" charset="0"/>
                            </a:rPr>
                            <m:t>𝛼</m:t>
                          </m:r>
                          <m:sSubSup>
                            <m:sSubSupPr>
                              <m:ctrlPr>
                                <a:rPr lang="en-US" i="1">
                                  <a:latin typeface="Cambria Math" panose="02040503050406030204" pitchFamily="18" charset="0"/>
                                </a:rPr>
                              </m:ctrlPr>
                            </m:sSubSupPr>
                            <m:e>
                              <m:r>
                                <a:rPr lang="en-US" i="1">
                                  <a:latin typeface="Cambria Math" panose="02040503050406030204" pitchFamily="18" charset="0"/>
                                </a:rPr>
                                <m:t>𝜙</m:t>
                              </m:r>
                            </m:e>
                            <m:sub>
                              <m:r>
                                <a:rPr lang="en-US" i="1">
                                  <a:latin typeface="Cambria Math" panose="02040503050406030204" pitchFamily="18" charset="0"/>
                                </a:rPr>
                                <m:t>𝑖</m:t>
                              </m:r>
                              <m:r>
                                <a:rPr lang="en-US" i="1">
                                  <a:latin typeface="Cambria Math" panose="02040503050406030204" pitchFamily="18" charset="0"/>
                                </a:rPr>
                                <m:t>+1</m:t>
                              </m:r>
                            </m:sub>
                            <m:sup>
                              <m:r>
                                <a:rPr lang="en-US" i="1">
                                  <a:latin typeface="Cambria Math" panose="02040503050406030204" pitchFamily="18" charset="0"/>
                                </a:rPr>
                                <m:t>𝑛</m:t>
                              </m:r>
                              <m:r>
                                <a:rPr lang="en-US" i="1">
                                  <a:latin typeface="Cambria Math" panose="02040503050406030204" pitchFamily="18" charset="0"/>
                                </a:rPr>
                                <m:t>+1</m:t>
                              </m:r>
                            </m:sup>
                          </m:sSubSup>
                          <m:r>
                            <a:rPr lang="en-US" b="0" i="1" smtClean="0">
                              <a:latin typeface="Cambria Math" panose="02040503050406030204" pitchFamily="18" charset="0"/>
                            </a:rPr>
                            <m:t>+</m:t>
                          </m:r>
                          <m:r>
                            <a:rPr lang="en-US" i="1">
                              <a:latin typeface="Cambria Math" panose="02040503050406030204" pitchFamily="18" charset="0"/>
                            </a:rPr>
                            <m:t>𝛼</m:t>
                          </m:r>
                          <m:sSubSup>
                            <m:sSubSupPr>
                              <m:ctrlPr>
                                <a:rPr lang="en-US" i="1">
                                  <a:latin typeface="Cambria Math" panose="02040503050406030204" pitchFamily="18" charset="0"/>
                                </a:rPr>
                              </m:ctrlPr>
                            </m:sSubSupPr>
                            <m:e>
                              <m:r>
                                <a:rPr lang="en-US" i="1">
                                  <a:latin typeface="Cambria Math" panose="02040503050406030204" pitchFamily="18" charset="0"/>
                                </a:rPr>
                                <m:t>𝜙</m:t>
                              </m:r>
                            </m:e>
                            <m:sub>
                              <m:r>
                                <a:rPr lang="en-US" i="1">
                                  <a:latin typeface="Cambria Math" panose="02040503050406030204" pitchFamily="18" charset="0"/>
                                </a:rPr>
                                <m:t>𝑖</m:t>
                              </m:r>
                              <m:r>
                                <a:rPr lang="en-US" b="0" i="1" smtClean="0">
                                  <a:latin typeface="Cambria Math" panose="02040503050406030204" pitchFamily="18" charset="0"/>
                                </a:rPr>
                                <m:t>−</m:t>
                              </m:r>
                              <m:r>
                                <a:rPr lang="en-US" i="1">
                                  <a:latin typeface="Cambria Math" panose="02040503050406030204" pitchFamily="18" charset="0"/>
                                </a:rPr>
                                <m:t>1</m:t>
                              </m:r>
                            </m:sub>
                            <m:sup>
                              <m:r>
                                <a:rPr lang="en-US" i="1">
                                  <a:latin typeface="Cambria Math" panose="02040503050406030204" pitchFamily="18" charset="0"/>
                                </a:rPr>
                                <m:t>𝑛</m:t>
                              </m:r>
                              <m:r>
                                <a:rPr lang="en-US" i="1">
                                  <a:latin typeface="Cambria Math" panose="02040503050406030204" pitchFamily="18" charset="0"/>
                                </a:rPr>
                                <m:t>+1</m:t>
                              </m:r>
                            </m:sup>
                          </m:sSubSup>
                        </m:e>
                      </m:d>
                    </m:oMath>
                  </m:oMathPara>
                </a14:m>
                <a:endParaRPr lang="en-US" dirty="0"/>
              </a:p>
              <a:p>
                <a:pPr>
                  <a:lnSpc>
                    <a:spcPct val="100000"/>
                  </a:lnSpc>
                </a:pPr>
                <a:r>
                  <a:rPr lang="en-US" dirty="0"/>
                  <a:t>We can use the same class we did for the Poisson equation, but with a modified relaxation and residual routine as well as a time loop encompassing the entire update (See M. </a:t>
                </a:r>
                <a:r>
                  <a:rPr lang="en-US" dirty="0" err="1"/>
                  <a:t>Zingale</a:t>
                </a:r>
                <a:r>
                  <a:rPr lang="en-US" dirty="0"/>
                  <a:t> book).</a:t>
                </a:r>
              </a:p>
              <a:p>
                <a:pPr marL="0" indent="0">
                  <a:lnSpc>
                    <a:spcPct val="100000"/>
                  </a:lnSpc>
                  <a:buNone/>
                </a:pPr>
                <a:endParaRPr lang="en-US" dirty="0"/>
              </a:p>
            </p:txBody>
          </p:sp>
        </mc:Choice>
        <mc:Fallback xmlns="">
          <p:sp>
            <p:nvSpPr>
              <p:cNvPr id="3" name="Content Placeholder 2">
                <a:extLst>
                  <a:ext uri="{FF2B5EF4-FFF2-40B4-BE49-F238E27FC236}">
                    <a16:creationId xmlns:a16="http://schemas.microsoft.com/office/drawing/2014/main" id="{15C4FD65-F675-944D-A379-3A5FFFAEB784}"/>
                  </a:ext>
                </a:extLst>
              </p:cNvPr>
              <p:cNvSpPr>
                <a:spLocks noGrp="1" noRot="1" noChangeAspect="1" noMove="1" noResize="1" noEditPoints="1" noAdjustHandles="1" noChangeArrowheads="1" noChangeShapeType="1" noTextEdit="1"/>
              </p:cNvSpPr>
              <p:nvPr>
                <p:ph idx="1"/>
              </p:nvPr>
            </p:nvSpPr>
            <p:spPr>
              <a:xfrm>
                <a:off x="838200" y="1325562"/>
                <a:ext cx="10515600" cy="5532437"/>
              </a:xfrm>
              <a:blipFill>
                <a:blip r:embed="rId2"/>
                <a:stretch>
                  <a:fillRect l="-965" t="-160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A26CEF03-C3AD-BB40-836C-8CE3793FDFFC}"/>
                  </a:ext>
                </a:extLst>
              </p:cNvPr>
              <p:cNvSpPr txBox="1"/>
              <p:nvPr/>
            </p:nvSpPr>
            <p:spPr>
              <a:xfrm>
                <a:off x="1073888" y="3163664"/>
                <a:ext cx="1161087" cy="676724"/>
              </a:xfrm>
              <a:prstGeom prst="rect">
                <a:avLst/>
              </a:prstGeom>
              <a:noFill/>
              <a:ln>
                <a:solidFill>
                  <a:srgbClr val="FF0000"/>
                </a:solidFill>
              </a:ln>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000" b="0" i="1" smtClean="0">
                          <a:solidFill>
                            <a:srgbClr val="FF0000"/>
                          </a:solidFill>
                          <a:latin typeface="Cambria Math" panose="02040503050406030204" pitchFamily="18" charset="0"/>
                        </a:rPr>
                        <m:t>𝛼</m:t>
                      </m:r>
                      <m:r>
                        <a:rPr lang="en-US" sz="2000" b="0" i="1" smtClean="0">
                          <a:solidFill>
                            <a:srgbClr val="FF0000"/>
                          </a:solidFill>
                          <a:latin typeface="Cambria Math" panose="02040503050406030204" pitchFamily="18" charset="0"/>
                        </a:rPr>
                        <m:t>=</m:t>
                      </m:r>
                      <m:f>
                        <m:fPr>
                          <m:ctrlPr>
                            <a:rPr lang="en-US" sz="2000" b="0" i="1" smtClean="0">
                              <a:solidFill>
                                <a:srgbClr val="FF0000"/>
                              </a:solidFill>
                              <a:latin typeface="Cambria Math" panose="02040503050406030204" pitchFamily="18" charset="0"/>
                            </a:rPr>
                          </m:ctrlPr>
                        </m:fPr>
                        <m:num>
                          <m:r>
                            <a:rPr lang="en-US" sz="2000" b="0" i="1" smtClean="0">
                              <a:solidFill>
                                <a:srgbClr val="FF0000"/>
                              </a:solidFill>
                              <a:latin typeface="Cambria Math" panose="02040503050406030204" pitchFamily="18" charset="0"/>
                            </a:rPr>
                            <m:t>𝑘</m:t>
                          </m:r>
                          <m:r>
                            <m:rPr>
                              <m:sty m:val="p"/>
                            </m:rPr>
                            <a:rPr lang="en-US" sz="2000" b="0" i="0" smtClean="0">
                              <a:solidFill>
                                <a:srgbClr val="FF0000"/>
                              </a:solidFill>
                              <a:latin typeface="Cambria Math" panose="02040503050406030204" pitchFamily="18" charset="0"/>
                            </a:rPr>
                            <m:t>Δ</m:t>
                          </m:r>
                          <m:r>
                            <a:rPr lang="en-US" sz="2000" b="0" i="1" smtClean="0">
                              <a:solidFill>
                                <a:srgbClr val="FF0000"/>
                              </a:solidFill>
                              <a:latin typeface="Cambria Math" panose="02040503050406030204" pitchFamily="18" charset="0"/>
                            </a:rPr>
                            <m:t>𝑡</m:t>
                          </m:r>
                        </m:num>
                        <m:den>
                          <m:r>
                            <m:rPr>
                              <m:sty m:val="p"/>
                            </m:rPr>
                            <a:rPr lang="en-US" sz="2000" b="0" i="0" smtClean="0">
                              <a:solidFill>
                                <a:srgbClr val="FF0000"/>
                              </a:solidFill>
                              <a:latin typeface="Cambria Math" panose="02040503050406030204" pitchFamily="18" charset="0"/>
                            </a:rPr>
                            <m:t>Δ</m:t>
                          </m:r>
                          <m:sSup>
                            <m:sSupPr>
                              <m:ctrlPr>
                                <a:rPr lang="en-US" sz="2000" b="0" i="1" smtClean="0">
                                  <a:solidFill>
                                    <a:srgbClr val="FF0000"/>
                                  </a:solidFill>
                                  <a:latin typeface="Cambria Math" panose="02040503050406030204" pitchFamily="18" charset="0"/>
                                </a:rPr>
                              </m:ctrlPr>
                            </m:sSupPr>
                            <m:e>
                              <m:r>
                                <a:rPr lang="en-US" sz="2000" b="0" i="1" smtClean="0">
                                  <a:solidFill>
                                    <a:srgbClr val="FF0000"/>
                                  </a:solidFill>
                                  <a:latin typeface="Cambria Math" panose="02040503050406030204" pitchFamily="18" charset="0"/>
                                </a:rPr>
                                <m:t>𝑥</m:t>
                              </m:r>
                            </m:e>
                            <m:sup>
                              <m:r>
                                <a:rPr lang="en-US" sz="2000" b="0" i="1" smtClean="0">
                                  <a:solidFill>
                                    <a:srgbClr val="FF0000"/>
                                  </a:solidFill>
                                  <a:latin typeface="Cambria Math" panose="02040503050406030204" pitchFamily="18" charset="0"/>
                                </a:rPr>
                                <m:t>2</m:t>
                              </m:r>
                            </m:sup>
                          </m:sSup>
                        </m:den>
                      </m:f>
                    </m:oMath>
                  </m:oMathPara>
                </a14:m>
                <a:endParaRPr lang="en-US" sz="2000" dirty="0">
                  <a:solidFill>
                    <a:srgbClr val="FF0000"/>
                  </a:solidFill>
                </a:endParaRPr>
              </a:p>
            </p:txBody>
          </p:sp>
        </mc:Choice>
        <mc:Fallback xmlns="">
          <p:sp>
            <p:nvSpPr>
              <p:cNvPr id="4" name="TextBox 3">
                <a:extLst>
                  <a:ext uri="{FF2B5EF4-FFF2-40B4-BE49-F238E27FC236}">
                    <a16:creationId xmlns:a16="http://schemas.microsoft.com/office/drawing/2014/main" id="{A26CEF03-C3AD-BB40-836C-8CE3793FDFFC}"/>
                  </a:ext>
                </a:extLst>
              </p:cNvPr>
              <p:cNvSpPr txBox="1">
                <a:spLocks noRot="1" noChangeAspect="1" noMove="1" noResize="1" noEditPoints="1" noAdjustHandles="1" noChangeArrowheads="1" noChangeShapeType="1" noTextEdit="1"/>
              </p:cNvSpPr>
              <p:nvPr/>
            </p:nvSpPr>
            <p:spPr>
              <a:xfrm>
                <a:off x="1073888" y="3163664"/>
                <a:ext cx="1161087" cy="676724"/>
              </a:xfrm>
              <a:prstGeom prst="rect">
                <a:avLst/>
              </a:prstGeom>
              <a:blipFill>
                <a:blip r:embed="rId3"/>
                <a:stretch>
                  <a:fillRect b="-3636"/>
                </a:stretch>
              </a:blipFill>
              <a:ln>
                <a:solidFill>
                  <a:srgbClr val="FF0000"/>
                </a:solidFill>
              </a:ln>
            </p:spPr>
            <p:txBody>
              <a:bodyPr/>
              <a:lstStyle/>
              <a:p>
                <a:r>
                  <a:rPr lang="en-US">
                    <a:noFill/>
                  </a:rPr>
                  <a:t> </a:t>
                </a:r>
              </a:p>
            </p:txBody>
          </p:sp>
        </mc:Fallback>
      </mc:AlternateContent>
    </p:spTree>
    <p:extLst>
      <p:ext uri="{BB962C8B-B14F-4D97-AF65-F5344CB8AC3E}">
        <p14:creationId xmlns:p14="http://schemas.microsoft.com/office/powerpoint/2010/main" val="419308662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21863</TotalTime>
  <Words>6270</Words>
  <Application>Microsoft Macintosh PowerPoint</Application>
  <PresentationFormat>Widescreen</PresentationFormat>
  <Paragraphs>839</Paragraphs>
  <Slides>112</Slides>
  <Notes>12</Notes>
  <HiddenSlides>1</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112</vt:i4>
      </vt:variant>
    </vt:vector>
  </HeadingPairs>
  <TitlesOfParts>
    <vt:vector size="118" baseType="lpstr">
      <vt:lpstr>Arial</vt:lpstr>
      <vt:lpstr>Calibri</vt:lpstr>
      <vt:lpstr>Calibri Light</vt:lpstr>
      <vt:lpstr>Cambria Math</vt:lpstr>
      <vt:lpstr>Times New Roman</vt:lpstr>
      <vt:lpstr>Office Theme</vt:lpstr>
      <vt:lpstr>Lecture 7 - Burgers’ Equation  &amp; Characteristics</vt:lpstr>
      <vt:lpstr>Burgers’ Equation</vt:lpstr>
      <vt:lpstr>Burgers’ Equation</vt:lpstr>
      <vt:lpstr>Nonlinear behavior &amp; shock formation</vt:lpstr>
      <vt:lpstr>Characteristic curves</vt:lpstr>
      <vt:lpstr>Characteristic curves</vt:lpstr>
      <vt:lpstr>Characteristic curves</vt:lpstr>
      <vt:lpstr>Burgers’ Riemann Problem</vt:lpstr>
      <vt:lpstr>Burgers’ Riemann Problem</vt:lpstr>
      <vt:lpstr>Burgers’ Riemann Problem</vt:lpstr>
      <vt:lpstr>Burgers’ Riemann Problem</vt:lpstr>
      <vt:lpstr>The reconstruction of states on the interfaces</vt:lpstr>
      <vt:lpstr>The full time step (2nd order in time)</vt:lpstr>
      <vt:lpstr>Example – steepening of a sine wave in u</vt:lpstr>
      <vt:lpstr>Example – steepening of a sine wave in u</vt:lpstr>
      <vt:lpstr>Example – steepening of a sine wave in u</vt:lpstr>
      <vt:lpstr>Example – steepening of a sine wave in u</vt:lpstr>
      <vt:lpstr>Example – steepening of a sine wave in u</vt:lpstr>
      <vt:lpstr>Example – steepening of a sine wave in u</vt:lpstr>
      <vt:lpstr>Example – steepening of a sine wave in u</vt:lpstr>
      <vt:lpstr>Rarefaction waves and Shock capturing</vt:lpstr>
      <vt:lpstr>Rarefaction waves and Shock capturing</vt:lpstr>
      <vt:lpstr>Rarefaction waves and Shock capturing</vt:lpstr>
      <vt:lpstr>Rarefaction waves and Shock capturing</vt:lpstr>
      <vt:lpstr>Rarefaction waves and Shock capturing</vt:lpstr>
      <vt:lpstr>Rarefaction waves and Shock capturing</vt:lpstr>
      <vt:lpstr>Rarefaction waves and Shock capturing</vt:lpstr>
      <vt:lpstr>Rarefaction waves and Shock capturing</vt:lpstr>
      <vt:lpstr>Rarefaction waves and Shock capturing</vt:lpstr>
      <vt:lpstr>Rarefaction waves and Shock capturing</vt:lpstr>
      <vt:lpstr>Lecture 8 - Elliptic Equations and Multigrid </vt:lpstr>
      <vt:lpstr>Elliptic Equations and Multigrid </vt:lpstr>
      <vt:lpstr>Elliptic Equations and Multigrid </vt:lpstr>
      <vt:lpstr>Boundary conditions</vt:lpstr>
      <vt:lpstr>Boundary conditions</vt:lpstr>
      <vt:lpstr>Boundary conditions</vt:lpstr>
      <vt:lpstr>Solution methods</vt:lpstr>
      <vt:lpstr>The relaxation method for the Poisson problem:</vt:lpstr>
      <vt:lpstr>The relaxation method for the Poisson problem:</vt:lpstr>
      <vt:lpstr>The relaxation method for the Poisson problem:</vt:lpstr>
      <vt:lpstr>PowerPoint Presentation</vt:lpstr>
      <vt:lpstr>The relaxation method for the Poisson problem:</vt:lpstr>
      <vt:lpstr>The relaxation method for the Poisson problem:</vt:lpstr>
      <vt:lpstr>The relaxation method for the Poisson problem:</vt:lpstr>
      <vt:lpstr>The relaxation method for the Poisson problem:</vt:lpstr>
      <vt:lpstr>The relaxation method for the Poisson problem:</vt:lpstr>
      <vt:lpstr>Boundary conditions </vt:lpstr>
      <vt:lpstr>Boundary conditions</vt:lpstr>
      <vt:lpstr>Boundary conditions : Dirichlet</vt:lpstr>
      <vt:lpstr>Boundary conditions : Dirichlet</vt:lpstr>
      <vt:lpstr>Boundary conditions : Neumann </vt:lpstr>
      <vt:lpstr>Boundary conditions : Neumann</vt:lpstr>
      <vt:lpstr>Residuals and errors </vt:lpstr>
      <vt:lpstr>Residuals and errors </vt:lpstr>
      <vt:lpstr>Residuals and errors </vt:lpstr>
      <vt:lpstr>Normalizations</vt:lpstr>
      <vt:lpstr>Performance  </vt:lpstr>
      <vt:lpstr>Error decency on normalization   </vt:lpstr>
      <vt:lpstr>Error decency on normalization  </vt:lpstr>
      <vt:lpstr>Error decency on boundary conditions  </vt:lpstr>
      <vt:lpstr>Behavior of a single mode</vt:lpstr>
      <vt:lpstr>Relaxation with of a sine wave with m=1</vt:lpstr>
      <vt:lpstr>Relaxation with of a sine wave with m=5</vt:lpstr>
      <vt:lpstr>Relaxation with of a sine wave with m=10</vt:lpstr>
      <vt:lpstr>Relaxasion of a 3 wave sine (m=1,5,10)</vt:lpstr>
      <vt:lpstr>Frequency dependent relaxation</vt:lpstr>
      <vt:lpstr>Example of coarse grid relaxation, 〖m=2, n〗_x=64</vt:lpstr>
      <vt:lpstr>Example of coarse grid relaxation, 〖m=2, n〗_x=32</vt:lpstr>
      <vt:lpstr>Example of coarse grid relaxation, 〖m=2, n〗_x=32</vt:lpstr>
      <vt:lpstr>Multigrid</vt:lpstr>
      <vt:lpstr>Restriction and Prolongation</vt:lpstr>
      <vt:lpstr>Restriction – 1D</vt:lpstr>
      <vt:lpstr>Restriction – 2D</vt:lpstr>
      <vt:lpstr>Prolongation – 1D (1st order accuracy)</vt:lpstr>
      <vt:lpstr>Prolongation – 1D (2nd order accuracy)</vt:lpstr>
      <vt:lpstr>Prolongation – 1D (2nd order accuracy)</vt:lpstr>
      <vt:lpstr>Prolongation – 1D (2nd order accuracy)</vt:lpstr>
      <vt:lpstr>Prolongation – 2D (2nd order accuracy)</vt:lpstr>
      <vt:lpstr>Prolongation – 2D (2nd order accuracy)</vt:lpstr>
      <vt:lpstr>Multigrid cycle</vt:lpstr>
      <vt:lpstr>Multigrid cycle</vt:lpstr>
      <vt:lpstr>Boundary conditions and stopping criteria</vt:lpstr>
      <vt:lpstr>Error example in ∇^2 ϕ=sin⁡x</vt:lpstr>
      <vt:lpstr>Lecture 9 - Parabolic equations: Diffusion &amp; Heat flow</vt:lpstr>
      <vt:lpstr>Diffusion</vt:lpstr>
      <vt:lpstr>Diffusion</vt:lpstr>
      <vt:lpstr>Explicit Discretization of Diffusion in 1D</vt:lpstr>
      <vt:lpstr>Explicit Discretization of Diffusion in 1D</vt:lpstr>
      <vt:lpstr>Stability</vt:lpstr>
      <vt:lpstr>Stability</vt:lpstr>
      <vt:lpstr>Solution:</vt:lpstr>
      <vt:lpstr>Stability</vt:lpstr>
      <vt:lpstr>Boundary conditions</vt:lpstr>
      <vt:lpstr>Example: time forward method</vt:lpstr>
      <vt:lpstr>Example: time forward method</vt:lpstr>
      <vt:lpstr>Effect of resolution</vt:lpstr>
      <vt:lpstr>Unstable solution , C&gt;1</vt:lpstr>
      <vt:lpstr>Convergence</vt:lpstr>
      <vt:lpstr>Implicit methods</vt:lpstr>
      <vt:lpstr>Implicit methods</vt:lpstr>
      <vt:lpstr>Implicit methods</vt:lpstr>
      <vt:lpstr>Implicit methods: Direct solve</vt:lpstr>
      <vt:lpstr>Implicit methods: Direct solve</vt:lpstr>
      <vt:lpstr>Implicit methods: Direct solve</vt:lpstr>
      <vt:lpstr>Implicit methods: Direct solve</vt:lpstr>
      <vt:lpstr>Doing it better</vt:lpstr>
      <vt:lpstr>Doing it better</vt:lpstr>
      <vt:lpstr>Doing it better</vt:lpstr>
      <vt:lpstr>Doing it better</vt:lpstr>
      <vt:lpstr>Doing it better</vt:lpstr>
      <vt:lpstr>Implicit methods: Relaxation</vt:lpstr>
      <vt:lpstr>Implicit methods: Relaxation</vt:lpstr>
    </vt:vector>
  </TitlesOfParts>
  <Company/>
  <LinksUpToDate>false</LinksUpToDate>
  <SharedDoc>false</SharedDoc>
  <HyperlinksChanged>false</HyperlinksChanged>
  <AppVersion>16.0016</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Lecture 8 - Burgers’ Equation  &amp; Characteristics</dc:title>
  <dc:creator>Omer Bromberg</dc:creator>
  <cp:lastModifiedBy>Omer Bromberg</cp:lastModifiedBy>
  <cp:revision>215</cp:revision>
  <dcterms:created xsi:type="dcterms:W3CDTF">2023-10-02T14:08:17Z</dcterms:created>
  <dcterms:modified xsi:type="dcterms:W3CDTF">2025-11-30T22:26:37Z</dcterms:modified>
</cp:coreProperties>
</file>