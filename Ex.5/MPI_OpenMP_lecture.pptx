
<file path=[Content_Types].xml><?xml version="1.0" encoding="utf-8"?>
<Types xmlns="http://schemas.openxmlformats.org/package/2006/content-types">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1"/>
  </p:notesMasterIdLst>
  <p:sldIdLst>
    <p:sldId id="256" r:id="rId2"/>
    <p:sldId id="258" r:id="rId3"/>
    <p:sldId id="265" r:id="rId4"/>
    <p:sldId id="266" r:id="rId5"/>
    <p:sldId id="267" r:id="rId6"/>
    <p:sldId id="268" r:id="rId7"/>
    <p:sldId id="263" r:id="rId8"/>
    <p:sldId id="269" r:id="rId9"/>
    <p:sldId id="260" r:id="rId10"/>
    <p:sldId id="438" r:id="rId11"/>
    <p:sldId id="439" r:id="rId12"/>
    <p:sldId id="440" r:id="rId13"/>
    <p:sldId id="441" r:id="rId14"/>
    <p:sldId id="423" r:id="rId15"/>
    <p:sldId id="426" r:id="rId16"/>
    <p:sldId id="427" r:id="rId17"/>
    <p:sldId id="425" r:id="rId18"/>
    <p:sldId id="297" r:id="rId19"/>
    <p:sldId id="304" r:id="rId20"/>
    <p:sldId id="436" r:id="rId21"/>
    <p:sldId id="270" r:id="rId22"/>
    <p:sldId id="310" r:id="rId23"/>
    <p:sldId id="311" r:id="rId24"/>
    <p:sldId id="259" r:id="rId25"/>
    <p:sldId id="312" r:id="rId26"/>
    <p:sldId id="313" r:id="rId27"/>
    <p:sldId id="314" r:id="rId28"/>
    <p:sldId id="315" r:id="rId29"/>
    <p:sldId id="493" r:id="rId30"/>
    <p:sldId id="316" r:id="rId31"/>
    <p:sldId id="317" r:id="rId32"/>
    <p:sldId id="319" r:id="rId33"/>
    <p:sldId id="428" r:id="rId34"/>
    <p:sldId id="437" r:id="rId35"/>
    <p:sldId id="429" r:id="rId36"/>
    <p:sldId id="501" r:id="rId37"/>
    <p:sldId id="261" r:id="rId38"/>
    <p:sldId id="443" r:id="rId39"/>
    <p:sldId id="444" r:id="rId40"/>
    <p:sldId id="445" r:id="rId41"/>
    <p:sldId id="504" r:id="rId42"/>
    <p:sldId id="336" r:id="rId43"/>
    <p:sldId id="337" r:id="rId44"/>
    <p:sldId id="431" r:id="rId45"/>
    <p:sldId id="505" r:id="rId46"/>
    <p:sldId id="407" r:id="rId47"/>
    <p:sldId id="446" r:id="rId48"/>
    <p:sldId id="349" r:id="rId49"/>
    <p:sldId id="450" r:id="rId50"/>
    <p:sldId id="354" r:id="rId51"/>
    <p:sldId id="355" r:id="rId52"/>
    <p:sldId id="448" r:id="rId53"/>
    <p:sldId id="452" r:id="rId54"/>
    <p:sldId id="453" r:id="rId55"/>
    <p:sldId id="454" r:id="rId56"/>
    <p:sldId id="455" r:id="rId57"/>
    <p:sldId id="456" r:id="rId58"/>
    <p:sldId id="419" r:id="rId59"/>
    <p:sldId id="418" r:id="rId60"/>
    <p:sldId id="415" r:id="rId61"/>
    <p:sldId id="416" r:id="rId62"/>
    <p:sldId id="417" r:id="rId63"/>
    <p:sldId id="491" r:id="rId64"/>
    <p:sldId id="492" r:id="rId65"/>
    <p:sldId id="489" r:id="rId66"/>
    <p:sldId id="506" r:id="rId67"/>
    <p:sldId id="490" r:id="rId68"/>
    <p:sldId id="380" r:id="rId69"/>
    <p:sldId id="457" r:id="rId70"/>
    <p:sldId id="458" r:id="rId71"/>
    <p:sldId id="502" r:id="rId72"/>
    <p:sldId id="459" r:id="rId73"/>
    <p:sldId id="463" r:id="rId74"/>
    <p:sldId id="464" r:id="rId75"/>
    <p:sldId id="465" r:id="rId76"/>
    <p:sldId id="460" r:id="rId77"/>
    <p:sldId id="461" r:id="rId78"/>
    <p:sldId id="462" r:id="rId79"/>
    <p:sldId id="466" r:id="rId80"/>
    <p:sldId id="467" r:id="rId81"/>
    <p:sldId id="468" r:id="rId82"/>
    <p:sldId id="469" r:id="rId83"/>
    <p:sldId id="470" r:id="rId84"/>
    <p:sldId id="471" r:id="rId85"/>
    <p:sldId id="472" r:id="rId86"/>
    <p:sldId id="494" r:id="rId87"/>
    <p:sldId id="473" r:id="rId88"/>
    <p:sldId id="474" r:id="rId89"/>
    <p:sldId id="475" r:id="rId90"/>
    <p:sldId id="476" r:id="rId91"/>
    <p:sldId id="495" r:id="rId92"/>
    <p:sldId id="477" r:id="rId93"/>
    <p:sldId id="479" r:id="rId94"/>
    <p:sldId id="507" r:id="rId95"/>
    <p:sldId id="480" r:id="rId96"/>
    <p:sldId id="481" r:id="rId97"/>
    <p:sldId id="508" r:id="rId98"/>
    <p:sldId id="478" r:id="rId99"/>
    <p:sldId id="503" r:id="rId100"/>
    <p:sldId id="482" r:id="rId101"/>
    <p:sldId id="483" r:id="rId102"/>
    <p:sldId id="484" r:id="rId103"/>
    <p:sldId id="485" r:id="rId104"/>
    <p:sldId id="486" r:id="rId105"/>
    <p:sldId id="487" r:id="rId106"/>
    <p:sldId id="488" r:id="rId107"/>
    <p:sldId id="498" r:id="rId108"/>
    <p:sldId id="499" r:id="rId109"/>
    <p:sldId id="500"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162"/>
    <p:restoredTop sz="72034"/>
  </p:normalViewPr>
  <p:slideViewPr>
    <p:cSldViewPr snapToGrid="0" snapToObjects="1">
      <p:cViewPr varScale="1">
        <p:scale>
          <a:sx n="100" d="100"/>
          <a:sy n="100" d="100"/>
        </p:scale>
        <p:origin x="16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Users\ananth\Documents\work\teaching\Others\ParallelWorkshop\slides\speedu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ananth\Documents\work\teaching\Others\ParallelWorkshop\slides\speedup.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48303322549798"/>
          <c:y val="4.5360862150295701E-2"/>
          <c:w val="0.85169667745020206"/>
          <c:h val="0.85729138696372598"/>
        </c:manualLayout>
      </c:layout>
      <c:lineChart>
        <c:grouping val="standard"/>
        <c:varyColors val="0"/>
        <c:ser>
          <c:idx val="0"/>
          <c:order val="0"/>
          <c:tx>
            <c:v>n=1,000</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Sheet1!$B$3:$F$3</c:f>
              <c:numCache>
                <c:formatCode>General</c:formatCode>
                <c:ptCount val="5"/>
                <c:pt idx="0">
                  <c:v>1</c:v>
                </c:pt>
                <c:pt idx="1">
                  <c:v>2</c:v>
                </c:pt>
                <c:pt idx="2">
                  <c:v>4</c:v>
                </c:pt>
                <c:pt idx="3">
                  <c:v>8</c:v>
                </c:pt>
                <c:pt idx="4">
                  <c:v>16</c:v>
                </c:pt>
              </c:numCache>
            </c:numRef>
          </c:cat>
          <c:val>
            <c:numRef>
              <c:f>Sheet1!$B$4:$F$4</c:f>
              <c:numCache>
                <c:formatCode>General</c:formatCode>
                <c:ptCount val="5"/>
                <c:pt idx="0">
                  <c:v>800</c:v>
                </c:pt>
                <c:pt idx="1">
                  <c:v>410</c:v>
                </c:pt>
                <c:pt idx="2">
                  <c:v>201</c:v>
                </c:pt>
                <c:pt idx="3">
                  <c:v>150</c:v>
                </c:pt>
                <c:pt idx="4">
                  <c:v>100</c:v>
                </c:pt>
              </c:numCache>
            </c:numRef>
          </c:val>
          <c:smooth val="0"/>
          <c:extLst>
            <c:ext xmlns:c16="http://schemas.microsoft.com/office/drawing/2014/chart" uri="{C3380CC4-5D6E-409C-BE32-E72D297353CC}">
              <c16:uniqueId val="{00000000-F8F2-4711-9DE6-14749262FD85}"/>
            </c:ext>
          </c:extLst>
        </c:ser>
        <c:ser>
          <c:idx val="1"/>
          <c:order val="1"/>
          <c:tx>
            <c:v>n=2,000</c:v>
          </c:tx>
          <c:spPr>
            <a:ln w="28575" cap="rnd">
              <a:solidFill>
                <a:schemeClr val="accent2"/>
              </a:solidFill>
              <a:round/>
            </a:ln>
            <a:effectLst/>
          </c:spPr>
          <c:marker>
            <c:symbol val="square"/>
            <c:size val="5"/>
            <c:spPr>
              <a:solidFill>
                <a:schemeClr val="accent2"/>
              </a:solidFill>
              <a:ln w="9525">
                <a:solidFill>
                  <a:schemeClr val="accent2"/>
                </a:solidFill>
              </a:ln>
              <a:effectLst/>
            </c:spPr>
          </c:marker>
          <c:cat>
            <c:numRef>
              <c:f>Sheet1!$B$3:$F$3</c:f>
              <c:numCache>
                <c:formatCode>General</c:formatCode>
                <c:ptCount val="5"/>
                <c:pt idx="0">
                  <c:v>1</c:v>
                </c:pt>
                <c:pt idx="1">
                  <c:v>2</c:v>
                </c:pt>
                <c:pt idx="2">
                  <c:v>4</c:v>
                </c:pt>
                <c:pt idx="3">
                  <c:v>8</c:v>
                </c:pt>
                <c:pt idx="4">
                  <c:v>16</c:v>
                </c:pt>
              </c:numCache>
            </c:numRef>
          </c:cat>
          <c:val>
            <c:numRef>
              <c:f>Sheet1!$B$5:$F$5</c:f>
              <c:numCache>
                <c:formatCode>General</c:formatCode>
                <c:ptCount val="5"/>
                <c:pt idx="0" formatCode="#,##0">
                  <c:v>1601</c:v>
                </c:pt>
                <c:pt idx="1">
                  <c:v>802</c:v>
                </c:pt>
                <c:pt idx="2">
                  <c:v>409</c:v>
                </c:pt>
                <c:pt idx="3">
                  <c:v>210</c:v>
                </c:pt>
                <c:pt idx="4">
                  <c:v>120</c:v>
                </c:pt>
              </c:numCache>
            </c:numRef>
          </c:val>
          <c:smooth val="0"/>
          <c:extLst>
            <c:ext xmlns:c16="http://schemas.microsoft.com/office/drawing/2014/chart" uri="{C3380CC4-5D6E-409C-BE32-E72D297353CC}">
              <c16:uniqueId val="{00000001-F8F2-4711-9DE6-14749262FD85}"/>
            </c:ext>
          </c:extLst>
        </c:ser>
        <c:ser>
          <c:idx val="2"/>
          <c:order val="2"/>
          <c:tx>
            <c:v>n=4,000</c:v>
          </c:tx>
          <c:spPr>
            <a:ln w="28575" cap="rnd">
              <a:solidFill>
                <a:schemeClr val="accent3"/>
              </a:solidFill>
              <a:round/>
            </a:ln>
            <a:effectLst/>
          </c:spPr>
          <c:marker>
            <c:symbol val="plus"/>
            <c:size val="5"/>
            <c:spPr>
              <a:noFill/>
              <a:ln w="9525">
                <a:solidFill>
                  <a:schemeClr val="accent3"/>
                </a:solidFill>
              </a:ln>
              <a:effectLst/>
            </c:spPr>
          </c:marker>
          <c:cat>
            <c:numRef>
              <c:f>Sheet1!$B$3:$F$3</c:f>
              <c:numCache>
                <c:formatCode>General</c:formatCode>
                <c:ptCount val="5"/>
                <c:pt idx="0">
                  <c:v>1</c:v>
                </c:pt>
                <c:pt idx="1">
                  <c:v>2</c:v>
                </c:pt>
                <c:pt idx="2">
                  <c:v>4</c:v>
                </c:pt>
                <c:pt idx="3">
                  <c:v>8</c:v>
                </c:pt>
                <c:pt idx="4">
                  <c:v>16</c:v>
                </c:pt>
              </c:numCache>
            </c:numRef>
          </c:cat>
          <c:val>
            <c:numRef>
              <c:f>Sheet1!$B$6:$F$6</c:f>
              <c:numCache>
                <c:formatCode>#,##0</c:formatCode>
                <c:ptCount val="5"/>
                <c:pt idx="0">
                  <c:v>3100</c:v>
                </c:pt>
                <c:pt idx="1">
                  <c:v>1504</c:v>
                </c:pt>
                <c:pt idx="2" formatCode="General">
                  <c:v>789</c:v>
                </c:pt>
                <c:pt idx="3" formatCode="General">
                  <c:v>399</c:v>
                </c:pt>
                <c:pt idx="4" formatCode="General">
                  <c:v>208</c:v>
                </c:pt>
              </c:numCache>
            </c:numRef>
          </c:val>
          <c:smooth val="0"/>
          <c:extLst>
            <c:ext xmlns:c16="http://schemas.microsoft.com/office/drawing/2014/chart" uri="{C3380CC4-5D6E-409C-BE32-E72D297353CC}">
              <c16:uniqueId val="{00000002-F8F2-4711-9DE6-14749262FD85}"/>
            </c:ext>
          </c:extLst>
        </c:ser>
        <c:ser>
          <c:idx val="4"/>
          <c:order val="3"/>
          <c:tx>
            <c:v>n=8,000</c:v>
          </c:tx>
          <c:spPr>
            <a:ln w="28575" cap="rnd">
              <a:solidFill>
                <a:schemeClr val="accent5"/>
              </a:solidFill>
              <a:round/>
            </a:ln>
            <a:effectLst/>
          </c:spPr>
          <c:marker>
            <c:symbol val="star"/>
            <c:size val="5"/>
            <c:spPr>
              <a:noFill/>
              <a:ln w="9525">
                <a:solidFill>
                  <a:schemeClr val="accent5"/>
                </a:solidFill>
              </a:ln>
              <a:effectLst/>
            </c:spPr>
          </c:marker>
          <c:cat>
            <c:numRef>
              <c:f>Sheet1!$B$3:$F$3</c:f>
              <c:numCache>
                <c:formatCode>General</c:formatCode>
                <c:ptCount val="5"/>
                <c:pt idx="0">
                  <c:v>1</c:v>
                </c:pt>
                <c:pt idx="1">
                  <c:v>2</c:v>
                </c:pt>
                <c:pt idx="2">
                  <c:v>4</c:v>
                </c:pt>
                <c:pt idx="3">
                  <c:v>8</c:v>
                </c:pt>
                <c:pt idx="4">
                  <c:v>16</c:v>
                </c:pt>
              </c:numCache>
            </c:numRef>
          </c:cat>
          <c:val>
            <c:numRef>
              <c:f>Sheet1!$B$7:$F$7</c:f>
              <c:numCache>
                <c:formatCode>#,##0</c:formatCode>
                <c:ptCount val="5"/>
                <c:pt idx="0">
                  <c:v>6010</c:v>
                </c:pt>
                <c:pt idx="1">
                  <c:v>3005</c:v>
                </c:pt>
                <c:pt idx="2">
                  <c:v>1500</c:v>
                </c:pt>
                <c:pt idx="3" formatCode="General">
                  <c:v>758</c:v>
                </c:pt>
                <c:pt idx="4" formatCode="General">
                  <c:v>376</c:v>
                </c:pt>
              </c:numCache>
            </c:numRef>
          </c:val>
          <c:smooth val="0"/>
          <c:extLst>
            <c:ext xmlns:c16="http://schemas.microsoft.com/office/drawing/2014/chart" uri="{C3380CC4-5D6E-409C-BE32-E72D297353CC}">
              <c16:uniqueId val="{00000003-F8F2-4711-9DE6-14749262FD85}"/>
            </c:ext>
          </c:extLst>
        </c:ser>
        <c:ser>
          <c:idx val="3"/>
          <c:order val="4"/>
          <c:tx>
            <c:v>n=16,000</c:v>
          </c:tx>
          <c:spPr>
            <a:ln w="28575" cap="rnd">
              <a:solidFill>
                <a:schemeClr val="accent4"/>
              </a:solidFill>
              <a:round/>
            </a:ln>
            <a:effectLst/>
          </c:spPr>
          <c:marker>
            <c:symbol val="triangle"/>
            <c:size val="5"/>
            <c:spPr>
              <a:solidFill>
                <a:schemeClr val="accent4"/>
              </a:solidFill>
              <a:ln w="9525">
                <a:solidFill>
                  <a:schemeClr val="accent4"/>
                </a:solidFill>
              </a:ln>
              <a:effectLst/>
            </c:spPr>
          </c:marker>
          <c:cat>
            <c:numRef>
              <c:f>Sheet1!$B$3:$F$3</c:f>
              <c:numCache>
                <c:formatCode>General</c:formatCode>
                <c:ptCount val="5"/>
                <c:pt idx="0">
                  <c:v>1</c:v>
                </c:pt>
                <c:pt idx="1">
                  <c:v>2</c:v>
                </c:pt>
                <c:pt idx="2">
                  <c:v>4</c:v>
                </c:pt>
                <c:pt idx="3">
                  <c:v>8</c:v>
                </c:pt>
                <c:pt idx="4">
                  <c:v>16</c:v>
                </c:pt>
              </c:numCache>
            </c:numRef>
          </c:cat>
          <c:val>
            <c:numRef>
              <c:f>Sheet1!$B$8:$F$8</c:f>
              <c:numCache>
                <c:formatCode>#,##0</c:formatCode>
                <c:ptCount val="5"/>
                <c:pt idx="0">
                  <c:v>12000</c:v>
                </c:pt>
                <c:pt idx="1">
                  <c:v>6000</c:v>
                </c:pt>
                <c:pt idx="2">
                  <c:v>3001</c:v>
                </c:pt>
                <c:pt idx="3">
                  <c:v>1509</c:v>
                </c:pt>
                <c:pt idx="4" formatCode="General">
                  <c:v>758</c:v>
                </c:pt>
              </c:numCache>
            </c:numRef>
          </c:val>
          <c:smooth val="0"/>
          <c:extLst>
            <c:ext xmlns:c16="http://schemas.microsoft.com/office/drawing/2014/chart" uri="{C3380CC4-5D6E-409C-BE32-E72D297353CC}">
              <c16:uniqueId val="{00000004-F8F2-4711-9DE6-14749262FD85}"/>
            </c:ext>
          </c:extLst>
        </c:ser>
        <c:dLbls>
          <c:showLegendKey val="0"/>
          <c:showVal val="0"/>
          <c:showCatName val="0"/>
          <c:showSerName val="0"/>
          <c:showPercent val="0"/>
          <c:showBubbleSize val="0"/>
        </c:dLbls>
        <c:marker val="1"/>
        <c:smooth val="0"/>
        <c:axId val="1420896624"/>
        <c:axId val="1420897984"/>
      </c:lineChart>
      <c:catAx>
        <c:axId val="1420896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20897984"/>
        <c:crosses val="autoZero"/>
        <c:auto val="1"/>
        <c:lblAlgn val="ctr"/>
        <c:lblOffset val="100"/>
        <c:noMultiLvlLbl val="0"/>
      </c:catAx>
      <c:valAx>
        <c:axId val="14208979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20896624"/>
        <c:crosses val="autoZero"/>
        <c:crossBetween val="between"/>
      </c:valAx>
      <c:spPr>
        <a:noFill/>
        <a:ln>
          <a:noFill/>
        </a:ln>
        <a:effectLst/>
      </c:spPr>
    </c:plotArea>
    <c:legend>
      <c:legendPos val="b"/>
      <c:layout>
        <c:manualLayout>
          <c:xMode val="edge"/>
          <c:yMode val="edge"/>
          <c:x val="0.65033306883151198"/>
          <c:y val="3.8786119477000801E-2"/>
          <c:w val="0.27814523184601903"/>
          <c:h val="0.3006916070974999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7329079029531401E-2"/>
          <c:y val="3.5763411279229697E-2"/>
          <c:w val="0.85402488615422101"/>
          <c:h val="0.85227436666702805"/>
        </c:manualLayout>
      </c:layout>
      <c:lineChart>
        <c:grouping val="standard"/>
        <c:varyColors val="0"/>
        <c:ser>
          <c:idx val="0"/>
          <c:order val="0"/>
          <c:tx>
            <c:v>n=1,000</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Sheet1!$B$12:$F$12</c:f>
              <c:numCache>
                <c:formatCode>General</c:formatCode>
                <c:ptCount val="5"/>
                <c:pt idx="0">
                  <c:v>1</c:v>
                </c:pt>
                <c:pt idx="1">
                  <c:v>2</c:v>
                </c:pt>
                <c:pt idx="2">
                  <c:v>4</c:v>
                </c:pt>
                <c:pt idx="3">
                  <c:v>8</c:v>
                </c:pt>
                <c:pt idx="4">
                  <c:v>16</c:v>
                </c:pt>
              </c:numCache>
            </c:numRef>
          </c:cat>
          <c:val>
            <c:numRef>
              <c:f>Sheet1!$B$13:$F$13</c:f>
              <c:numCache>
                <c:formatCode>General</c:formatCode>
                <c:ptCount val="5"/>
                <c:pt idx="0">
                  <c:v>1</c:v>
                </c:pt>
                <c:pt idx="1">
                  <c:v>1.9512195121951219</c:v>
                </c:pt>
                <c:pt idx="2">
                  <c:v>3.9800995024875618</c:v>
                </c:pt>
                <c:pt idx="3">
                  <c:v>5.3333333333333321</c:v>
                </c:pt>
                <c:pt idx="4">
                  <c:v>8</c:v>
                </c:pt>
              </c:numCache>
            </c:numRef>
          </c:val>
          <c:smooth val="0"/>
          <c:extLst>
            <c:ext xmlns:c16="http://schemas.microsoft.com/office/drawing/2014/chart" uri="{C3380CC4-5D6E-409C-BE32-E72D297353CC}">
              <c16:uniqueId val="{00000000-5B6E-41D6-993F-6745C979C72C}"/>
            </c:ext>
          </c:extLst>
        </c:ser>
        <c:ser>
          <c:idx val="1"/>
          <c:order val="1"/>
          <c:tx>
            <c:v>n=2,000</c:v>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Sheet1!$B$12:$F$12</c:f>
              <c:numCache>
                <c:formatCode>General</c:formatCode>
                <c:ptCount val="5"/>
                <c:pt idx="0">
                  <c:v>1</c:v>
                </c:pt>
                <c:pt idx="1">
                  <c:v>2</c:v>
                </c:pt>
                <c:pt idx="2">
                  <c:v>4</c:v>
                </c:pt>
                <c:pt idx="3">
                  <c:v>8</c:v>
                </c:pt>
                <c:pt idx="4">
                  <c:v>16</c:v>
                </c:pt>
              </c:numCache>
            </c:numRef>
          </c:cat>
          <c:val>
            <c:numRef>
              <c:f>Sheet1!$B$14:$F$14</c:f>
              <c:numCache>
                <c:formatCode>General</c:formatCode>
                <c:ptCount val="5"/>
                <c:pt idx="0">
                  <c:v>1</c:v>
                </c:pt>
                <c:pt idx="1">
                  <c:v>1.9962593516209479</c:v>
                </c:pt>
                <c:pt idx="2">
                  <c:v>3.9144254278728581</c:v>
                </c:pt>
                <c:pt idx="3">
                  <c:v>7.6238095238095207</c:v>
                </c:pt>
                <c:pt idx="4">
                  <c:v>13.34166666666667</c:v>
                </c:pt>
              </c:numCache>
            </c:numRef>
          </c:val>
          <c:smooth val="0"/>
          <c:extLst>
            <c:ext xmlns:c16="http://schemas.microsoft.com/office/drawing/2014/chart" uri="{C3380CC4-5D6E-409C-BE32-E72D297353CC}">
              <c16:uniqueId val="{00000001-5B6E-41D6-993F-6745C979C72C}"/>
            </c:ext>
          </c:extLst>
        </c:ser>
        <c:ser>
          <c:idx val="2"/>
          <c:order val="2"/>
          <c:tx>
            <c:v>n=4,000</c:v>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Sheet1!$B$12:$F$12</c:f>
              <c:numCache>
                <c:formatCode>General</c:formatCode>
                <c:ptCount val="5"/>
                <c:pt idx="0">
                  <c:v>1</c:v>
                </c:pt>
                <c:pt idx="1">
                  <c:v>2</c:v>
                </c:pt>
                <c:pt idx="2">
                  <c:v>4</c:v>
                </c:pt>
                <c:pt idx="3">
                  <c:v>8</c:v>
                </c:pt>
                <c:pt idx="4">
                  <c:v>16</c:v>
                </c:pt>
              </c:numCache>
            </c:numRef>
          </c:cat>
          <c:val>
            <c:numRef>
              <c:f>Sheet1!$B$15:$F$15</c:f>
              <c:numCache>
                <c:formatCode>General</c:formatCode>
                <c:ptCount val="5"/>
                <c:pt idx="0">
                  <c:v>1</c:v>
                </c:pt>
                <c:pt idx="1">
                  <c:v>2.061170212765957</c:v>
                </c:pt>
                <c:pt idx="2">
                  <c:v>3.9290240811153359</c:v>
                </c:pt>
                <c:pt idx="3">
                  <c:v>7.7694235588972393</c:v>
                </c:pt>
                <c:pt idx="4">
                  <c:v>14.90384615384615</c:v>
                </c:pt>
              </c:numCache>
            </c:numRef>
          </c:val>
          <c:smooth val="0"/>
          <c:extLst>
            <c:ext xmlns:c16="http://schemas.microsoft.com/office/drawing/2014/chart" uri="{C3380CC4-5D6E-409C-BE32-E72D297353CC}">
              <c16:uniqueId val="{00000002-5B6E-41D6-993F-6745C979C72C}"/>
            </c:ext>
          </c:extLst>
        </c:ser>
        <c:ser>
          <c:idx val="3"/>
          <c:order val="3"/>
          <c:tx>
            <c:v>n=8,000</c:v>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Sheet1!$B$12:$F$12</c:f>
              <c:numCache>
                <c:formatCode>General</c:formatCode>
                <c:ptCount val="5"/>
                <c:pt idx="0">
                  <c:v>1</c:v>
                </c:pt>
                <c:pt idx="1">
                  <c:v>2</c:v>
                </c:pt>
                <c:pt idx="2">
                  <c:v>4</c:v>
                </c:pt>
                <c:pt idx="3">
                  <c:v>8</c:v>
                </c:pt>
                <c:pt idx="4">
                  <c:v>16</c:v>
                </c:pt>
              </c:numCache>
            </c:numRef>
          </c:cat>
          <c:val>
            <c:numRef>
              <c:f>Sheet1!$B$16:$F$16</c:f>
              <c:numCache>
                <c:formatCode>General</c:formatCode>
                <c:ptCount val="5"/>
                <c:pt idx="0">
                  <c:v>1</c:v>
                </c:pt>
                <c:pt idx="1">
                  <c:v>2</c:v>
                </c:pt>
                <c:pt idx="2">
                  <c:v>4.0066666666666659</c:v>
                </c:pt>
                <c:pt idx="3">
                  <c:v>7.9287598944591018</c:v>
                </c:pt>
                <c:pt idx="4">
                  <c:v>15.9840425531915</c:v>
                </c:pt>
              </c:numCache>
            </c:numRef>
          </c:val>
          <c:smooth val="0"/>
          <c:extLst>
            <c:ext xmlns:c16="http://schemas.microsoft.com/office/drawing/2014/chart" uri="{C3380CC4-5D6E-409C-BE32-E72D297353CC}">
              <c16:uniqueId val="{00000003-5B6E-41D6-993F-6745C979C72C}"/>
            </c:ext>
          </c:extLst>
        </c:ser>
        <c:ser>
          <c:idx val="4"/>
          <c:order val="4"/>
          <c:tx>
            <c:v>n=16,000</c:v>
          </c:tx>
          <c:spPr>
            <a:ln w="28575" cap="rnd">
              <a:solidFill>
                <a:schemeClr val="accent5"/>
              </a:solidFill>
              <a:round/>
            </a:ln>
            <a:effectLst/>
          </c:spPr>
          <c:marker>
            <c:symbol val="circle"/>
            <c:size val="5"/>
            <c:spPr>
              <a:solidFill>
                <a:schemeClr val="accent5"/>
              </a:solidFill>
              <a:ln w="9525">
                <a:solidFill>
                  <a:schemeClr val="accent5"/>
                </a:solidFill>
              </a:ln>
              <a:effectLst/>
            </c:spPr>
          </c:marker>
          <c:cat>
            <c:numRef>
              <c:f>Sheet1!$B$12:$F$12</c:f>
              <c:numCache>
                <c:formatCode>General</c:formatCode>
                <c:ptCount val="5"/>
                <c:pt idx="0">
                  <c:v>1</c:v>
                </c:pt>
                <c:pt idx="1">
                  <c:v>2</c:v>
                </c:pt>
                <c:pt idx="2">
                  <c:v>4</c:v>
                </c:pt>
                <c:pt idx="3">
                  <c:v>8</c:v>
                </c:pt>
                <c:pt idx="4">
                  <c:v>16</c:v>
                </c:pt>
              </c:numCache>
            </c:numRef>
          </c:cat>
          <c:val>
            <c:numRef>
              <c:f>Sheet1!$B$17:$F$17</c:f>
              <c:numCache>
                <c:formatCode>General</c:formatCode>
                <c:ptCount val="5"/>
                <c:pt idx="0">
                  <c:v>1</c:v>
                </c:pt>
                <c:pt idx="1">
                  <c:v>2</c:v>
                </c:pt>
                <c:pt idx="2">
                  <c:v>3.998667110963011</c:v>
                </c:pt>
                <c:pt idx="3">
                  <c:v>7.9522862823061633</c:v>
                </c:pt>
                <c:pt idx="4">
                  <c:v>15.831134564643801</c:v>
                </c:pt>
              </c:numCache>
            </c:numRef>
          </c:val>
          <c:smooth val="0"/>
          <c:extLst>
            <c:ext xmlns:c16="http://schemas.microsoft.com/office/drawing/2014/chart" uri="{C3380CC4-5D6E-409C-BE32-E72D297353CC}">
              <c16:uniqueId val="{00000004-5B6E-41D6-993F-6745C979C72C}"/>
            </c:ext>
          </c:extLst>
        </c:ser>
        <c:ser>
          <c:idx val="5"/>
          <c:order val="5"/>
          <c:tx>
            <c:v>Ideal</c:v>
          </c:tx>
          <c:spPr>
            <a:ln w="28575" cap="rnd">
              <a:solidFill>
                <a:schemeClr val="accent6"/>
              </a:solidFill>
              <a:round/>
            </a:ln>
            <a:effectLst/>
          </c:spPr>
          <c:marker>
            <c:symbol val="circle"/>
            <c:size val="5"/>
            <c:spPr>
              <a:solidFill>
                <a:schemeClr val="accent6"/>
              </a:solidFill>
              <a:ln w="9525">
                <a:solidFill>
                  <a:schemeClr val="accent6"/>
                </a:solidFill>
              </a:ln>
              <a:effectLst/>
            </c:spPr>
          </c:marker>
          <c:cat>
            <c:numRef>
              <c:f>Sheet1!$B$12:$F$12</c:f>
              <c:numCache>
                <c:formatCode>General</c:formatCode>
                <c:ptCount val="5"/>
                <c:pt idx="0">
                  <c:v>1</c:v>
                </c:pt>
                <c:pt idx="1">
                  <c:v>2</c:v>
                </c:pt>
                <c:pt idx="2">
                  <c:v>4</c:v>
                </c:pt>
                <c:pt idx="3">
                  <c:v>8</c:v>
                </c:pt>
                <c:pt idx="4">
                  <c:v>16</c:v>
                </c:pt>
              </c:numCache>
            </c:numRef>
          </c:cat>
          <c:val>
            <c:numRef>
              <c:f>Sheet1!$B$12:$F$12</c:f>
              <c:numCache>
                <c:formatCode>General</c:formatCode>
                <c:ptCount val="5"/>
                <c:pt idx="0">
                  <c:v>1</c:v>
                </c:pt>
                <c:pt idx="1">
                  <c:v>2</c:v>
                </c:pt>
                <c:pt idx="2">
                  <c:v>4</c:v>
                </c:pt>
                <c:pt idx="3">
                  <c:v>8</c:v>
                </c:pt>
                <c:pt idx="4">
                  <c:v>16</c:v>
                </c:pt>
              </c:numCache>
            </c:numRef>
          </c:val>
          <c:smooth val="0"/>
          <c:extLst>
            <c:ext xmlns:c16="http://schemas.microsoft.com/office/drawing/2014/chart" uri="{C3380CC4-5D6E-409C-BE32-E72D297353CC}">
              <c16:uniqueId val="{00000005-5B6E-41D6-993F-6745C979C72C}"/>
            </c:ext>
          </c:extLst>
        </c:ser>
        <c:dLbls>
          <c:showLegendKey val="0"/>
          <c:showVal val="0"/>
          <c:showCatName val="0"/>
          <c:showSerName val="0"/>
          <c:showPercent val="0"/>
          <c:showBubbleSize val="0"/>
        </c:dLbls>
        <c:marker val="1"/>
        <c:smooth val="0"/>
        <c:axId val="1420580656"/>
        <c:axId val="1420582448"/>
      </c:lineChart>
      <c:catAx>
        <c:axId val="1420580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20582448"/>
        <c:crosses val="autoZero"/>
        <c:auto val="1"/>
        <c:lblAlgn val="ctr"/>
        <c:lblOffset val="100"/>
        <c:noMultiLvlLbl val="0"/>
      </c:catAx>
      <c:valAx>
        <c:axId val="1420582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20580656"/>
        <c:crosses val="autoZero"/>
        <c:crossBetween val="between"/>
      </c:valAx>
      <c:spPr>
        <a:noFill/>
        <a:ln>
          <a:noFill/>
        </a:ln>
        <a:effectLst/>
      </c:spPr>
    </c:plotArea>
    <c:legend>
      <c:legendPos val="r"/>
      <c:layout>
        <c:manualLayout>
          <c:xMode val="edge"/>
          <c:yMode val="edge"/>
          <c:x val="0.26062855054143402"/>
          <c:y val="0.14614758093340099"/>
          <c:w val="0.35378553789768902"/>
          <c:h val="0.350070725340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0F812-0E2F-CE43-8261-DA3F967AFB3C}" type="datetimeFigureOut">
              <a:rPr lang="en-US" smtClean="0"/>
              <a:t>12/28/25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720E11-AB88-1143-8F69-852C936C6DC2}" type="slidenum">
              <a:rPr lang="en-US" smtClean="0"/>
              <a:t>‹#›</a:t>
            </a:fld>
            <a:endParaRPr lang="en-US"/>
          </a:p>
        </p:txBody>
      </p:sp>
    </p:spTree>
    <p:extLst>
      <p:ext uri="{BB962C8B-B14F-4D97-AF65-F5344CB8AC3E}">
        <p14:creationId xmlns:p14="http://schemas.microsoft.com/office/powerpoint/2010/main" val="3074281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CAA69C-D349-EE45-B066-F759E7403BE7}" type="slidenum">
              <a:rPr lang="en-US" smtClean="0"/>
              <a:t>6</a:t>
            </a:fld>
            <a:endParaRPr lang="en-US"/>
          </a:p>
        </p:txBody>
      </p:sp>
    </p:spTree>
    <p:extLst>
      <p:ext uri="{BB962C8B-B14F-4D97-AF65-F5344CB8AC3E}">
        <p14:creationId xmlns:p14="http://schemas.microsoft.com/office/powerpoint/2010/main" val="1130002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10</a:t>
            </a:fld>
            <a:endParaRPr lang="en-US"/>
          </a:p>
        </p:txBody>
      </p:sp>
    </p:spTree>
    <p:extLst>
      <p:ext uri="{BB962C8B-B14F-4D97-AF65-F5344CB8AC3E}">
        <p14:creationId xmlns:p14="http://schemas.microsoft.com/office/powerpoint/2010/main" val="251667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11</a:t>
            </a:fld>
            <a:endParaRPr lang="en-US"/>
          </a:p>
        </p:txBody>
      </p:sp>
    </p:spTree>
    <p:extLst>
      <p:ext uri="{BB962C8B-B14F-4D97-AF65-F5344CB8AC3E}">
        <p14:creationId xmlns:p14="http://schemas.microsoft.com/office/powerpoint/2010/main" val="2125598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12</a:t>
            </a:fld>
            <a:endParaRPr lang="en-US"/>
          </a:p>
        </p:txBody>
      </p:sp>
    </p:spTree>
    <p:extLst>
      <p:ext uri="{BB962C8B-B14F-4D97-AF65-F5344CB8AC3E}">
        <p14:creationId xmlns:p14="http://schemas.microsoft.com/office/powerpoint/2010/main" val="2047692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13</a:t>
            </a:fld>
            <a:endParaRPr lang="en-US"/>
          </a:p>
        </p:txBody>
      </p:sp>
    </p:spTree>
    <p:extLst>
      <p:ext uri="{BB962C8B-B14F-4D97-AF65-F5344CB8AC3E}">
        <p14:creationId xmlns:p14="http://schemas.microsoft.com/office/powerpoint/2010/main" val="153395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t>
            </a:r>
            <a:r>
              <a:rPr lang="en-US" dirty="0" err="1"/>
              <a:t>jeff</a:t>
            </a:r>
            <a:r>
              <a:rPr lang="en-US" dirty="0"/>
              <a:t> to add in notes about the</a:t>
            </a:r>
            <a:r>
              <a:rPr lang="en-US" baseline="0" dirty="0"/>
              <a:t> standard compute node architecture</a:t>
            </a:r>
            <a:endParaRPr lang="en-US" dirty="0"/>
          </a:p>
        </p:txBody>
      </p:sp>
      <p:sp>
        <p:nvSpPr>
          <p:cNvPr id="4" name="Slide Number Placeholder 3"/>
          <p:cNvSpPr>
            <a:spLocks noGrp="1"/>
          </p:cNvSpPr>
          <p:nvPr>
            <p:ph type="sldNum" sz="quarter" idx="10"/>
          </p:nvPr>
        </p:nvSpPr>
        <p:spPr/>
        <p:txBody>
          <a:bodyPr/>
          <a:lstStyle/>
          <a:p>
            <a:fld id="{03CAA69C-D349-EE45-B066-F759E7403BE7}" type="slidenum">
              <a:rPr lang="en-US" smtClean="0"/>
              <a:t>14</a:t>
            </a:fld>
            <a:endParaRPr lang="en-US"/>
          </a:p>
        </p:txBody>
      </p:sp>
    </p:spTree>
    <p:extLst>
      <p:ext uri="{BB962C8B-B14F-4D97-AF65-F5344CB8AC3E}">
        <p14:creationId xmlns:p14="http://schemas.microsoft.com/office/powerpoint/2010/main" val="1600128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CAA69C-D349-EE45-B066-F759E7403BE7}" type="slidenum">
              <a:rPr lang="en-US" smtClean="0"/>
              <a:t>15</a:t>
            </a:fld>
            <a:endParaRPr lang="en-US"/>
          </a:p>
        </p:txBody>
      </p:sp>
    </p:spTree>
    <p:extLst>
      <p:ext uri="{BB962C8B-B14F-4D97-AF65-F5344CB8AC3E}">
        <p14:creationId xmlns:p14="http://schemas.microsoft.com/office/powerpoint/2010/main" val="347216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CAA69C-D349-EE45-B066-F759E7403BE7}" type="slidenum">
              <a:rPr lang="en-US" smtClean="0"/>
              <a:t>17</a:t>
            </a:fld>
            <a:endParaRPr lang="en-US"/>
          </a:p>
        </p:txBody>
      </p:sp>
    </p:spTree>
    <p:extLst>
      <p:ext uri="{BB962C8B-B14F-4D97-AF65-F5344CB8AC3E}">
        <p14:creationId xmlns:p14="http://schemas.microsoft.com/office/powerpoint/2010/main" val="387897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F95F03FC-6858-C147-A313-ABDD0C08F3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400" b="1">
                <a:solidFill>
                  <a:schemeClr val="tx1"/>
                </a:solidFill>
                <a:latin typeface="Arial" panose="020B0604020202020204" pitchFamily="34" charset="0"/>
                <a:ea typeface="ＭＳ Ｐゴシック" panose="020B0600070205080204" pitchFamily="34" charset="-128"/>
              </a:defRPr>
            </a:lvl1pPr>
            <a:lvl2pPr marL="742950" indent="-285750" defTabSz="922338">
              <a:defRPr sz="2400" b="1">
                <a:solidFill>
                  <a:schemeClr val="tx1"/>
                </a:solidFill>
                <a:latin typeface="Arial" panose="020B0604020202020204" pitchFamily="34" charset="0"/>
                <a:ea typeface="ＭＳ Ｐゴシック" panose="020B0600070205080204" pitchFamily="34" charset="-128"/>
              </a:defRPr>
            </a:lvl2pPr>
            <a:lvl3pPr marL="1143000" indent="-228600" defTabSz="922338">
              <a:defRPr sz="2400" b="1">
                <a:solidFill>
                  <a:schemeClr val="tx1"/>
                </a:solidFill>
                <a:latin typeface="Arial" panose="020B0604020202020204" pitchFamily="34" charset="0"/>
                <a:ea typeface="ＭＳ Ｐゴシック" panose="020B0600070205080204" pitchFamily="34" charset="-128"/>
              </a:defRPr>
            </a:lvl3pPr>
            <a:lvl4pPr marL="1600200" indent="-228600" defTabSz="922338">
              <a:defRPr sz="2400" b="1">
                <a:solidFill>
                  <a:schemeClr val="tx1"/>
                </a:solidFill>
                <a:latin typeface="Arial" panose="020B0604020202020204" pitchFamily="34" charset="0"/>
                <a:ea typeface="ＭＳ Ｐゴシック" panose="020B0600070205080204" pitchFamily="34" charset="-128"/>
              </a:defRPr>
            </a:lvl4pPr>
            <a:lvl5pPr marL="2057400" indent="-228600" defTabSz="922338">
              <a:defRPr sz="2400" b="1">
                <a:solidFill>
                  <a:schemeClr val="tx1"/>
                </a:solidFill>
                <a:latin typeface="Arial" panose="020B0604020202020204" pitchFamily="34" charset="0"/>
                <a:ea typeface="ＭＳ Ｐゴシック" panose="020B0600070205080204" pitchFamily="34" charset="-128"/>
              </a:defRPr>
            </a:lvl5pPr>
            <a:lvl6pPr marL="25146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1C54E619-9E1F-7142-B0F9-CAB6FB84FA89}" type="slidenum">
              <a:rPr lang="en-US" altLang="en-US" sz="1200" b="0"/>
              <a:pPr/>
              <a:t>22</a:t>
            </a:fld>
            <a:endParaRPr lang="en-US" altLang="en-US" sz="1200" b="0"/>
          </a:p>
        </p:txBody>
      </p:sp>
      <p:sp>
        <p:nvSpPr>
          <p:cNvPr id="80899" name="Rectangle 2">
            <a:extLst>
              <a:ext uri="{FF2B5EF4-FFF2-40B4-BE49-F238E27FC236}">
                <a16:creationId xmlns:a16="http://schemas.microsoft.com/office/drawing/2014/main" id="{A4C0B522-A03C-B946-9D8C-A203779E8DC8}"/>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265BD12-E1CD-5743-B7B0-3D3AF9D9CD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42124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4E5984F7-7AF4-9046-A762-ED3A279343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400" b="1">
                <a:solidFill>
                  <a:schemeClr val="tx1"/>
                </a:solidFill>
                <a:latin typeface="Arial" panose="020B0604020202020204" pitchFamily="34" charset="0"/>
                <a:ea typeface="ＭＳ Ｐゴシック" panose="020B0600070205080204" pitchFamily="34" charset="-128"/>
              </a:defRPr>
            </a:lvl1pPr>
            <a:lvl2pPr marL="742950" indent="-285750" defTabSz="922338">
              <a:defRPr sz="2400" b="1">
                <a:solidFill>
                  <a:schemeClr val="tx1"/>
                </a:solidFill>
                <a:latin typeface="Arial" panose="020B0604020202020204" pitchFamily="34" charset="0"/>
                <a:ea typeface="ＭＳ Ｐゴシック" panose="020B0600070205080204" pitchFamily="34" charset="-128"/>
              </a:defRPr>
            </a:lvl2pPr>
            <a:lvl3pPr marL="1143000" indent="-228600" defTabSz="922338">
              <a:defRPr sz="2400" b="1">
                <a:solidFill>
                  <a:schemeClr val="tx1"/>
                </a:solidFill>
                <a:latin typeface="Arial" panose="020B0604020202020204" pitchFamily="34" charset="0"/>
                <a:ea typeface="ＭＳ Ｐゴシック" panose="020B0600070205080204" pitchFamily="34" charset="-128"/>
              </a:defRPr>
            </a:lvl3pPr>
            <a:lvl4pPr marL="1600200" indent="-228600" defTabSz="922338">
              <a:defRPr sz="2400" b="1">
                <a:solidFill>
                  <a:schemeClr val="tx1"/>
                </a:solidFill>
                <a:latin typeface="Arial" panose="020B0604020202020204" pitchFamily="34" charset="0"/>
                <a:ea typeface="ＭＳ Ｐゴシック" panose="020B0600070205080204" pitchFamily="34" charset="-128"/>
              </a:defRPr>
            </a:lvl4pPr>
            <a:lvl5pPr marL="2057400" indent="-228600" defTabSz="922338">
              <a:defRPr sz="2400" b="1">
                <a:solidFill>
                  <a:schemeClr val="tx1"/>
                </a:solidFill>
                <a:latin typeface="Arial" panose="020B0604020202020204" pitchFamily="34" charset="0"/>
                <a:ea typeface="ＭＳ Ｐゴシック" panose="020B0600070205080204" pitchFamily="34" charset="-128"/>
              </a:defRPr>
            </a:lvl5pPr>
            <a:lvl6pPr marL="25146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6940CDB4-05A2-7243-9AE1-3748098A0501}" type="slidenum">
              <a:rPr lang="en-US" altLang="en-US" sz="1200" b="0"/>
              <a:pPr/>
              <a:t>23</a:t>
            </a:fld>
            <a:endParaRPr lang="en-US" altLang="en-US" sz="1200" b="0"/>
          </a:p>
        </p:txBody>
      </p:sp>
      <p:sp>
        <p:nvSpPr>
          <p:cNvPr id="81923" name="Rectangle 2">
            <a:extLst>
              <a:ext uri="{FF2B5EF4-FFF2-40B4-BE49-F238E27FC236}">
                <a16:creationId xmlns:a16="http://schemas.microsoft.com/office/drawing/2014/main" id="{32784091-45EA-4544-BD1C-123428277A55}"/>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602A53E8-6411-8849-849F-7949166453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11480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both serial performance and parallel performance the work is the same so it cancels out in the </a:t>
            </a:r>
            <a:r>
              <a:rPr lang="en-US" dirty="0" err="1"/>
              <a:t>sopeedup</a:t>
            </a:r>
            <a:r>
              <a:rPr lang="en-US" dirty="0"/>
              <a:t>. </a:t>
            </a:r>
          </a:p>
        </p:txBody>
      </p:sp>
      <p:sp>
        <p:nvSpPr>
          <p:cNvPr id="4" name="Slide Number Placeholder 3"/>
          <p:cNvSpPr>
            <a:spLocks noGrp="1"/>
          </p:cNvSpPr>
          <p:nvPr>
            <p:ph type="sldNum" sz="quarter" idx="5"/>
          </p:nvPr>
        </p:nvSpPr>
        <p:spPr/>
        <p:txBody>
          <a:bodyPr/>
          <a:lstStyle/>
          <a:p>
            <a:fld id="{25720E11-AB88-1143-8F69-852C936C6DC2}" type="slidenum">
              <a:rPr lang="en-US" smtClean="0"/>
              <a:t>28</a:t>
            </a:fld>
            <a:endParaRPr lang="en-US"/>
          </a:p>
        </p:txBody>
      </p:sp>
    </p:spTree>
    <p:extLst>
      <p:ext uri="{BB962C8B-B14F-4D97-AF65-F5344CB8AC3E}">
        <p14:creationId xmlns:p14="http://schemas.microsoft.com/office/powerpoint/2010/main" val="950143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t>
            </a:r>
            <a:r>
              <a:rPr lang="en-US" baseline="0" dirty="0"/>
              <a:t> animation on these slides</a:t>
            </a:r>
            <a:endParaRPr lang="en-US" dirty="0"/>
          </a:p>
        </p:txBody>
      </p:sp>
      <p:sp>
        <p:nvSpPr>
          <p:cNvPr id="4" name="Slide Number Placeholder 3"/>
          <p:cNvSpPr>
            <a:spLocks noGrp="1"/>
          </p:cNvSpPr>
          <p:nvPr>
            <p:ph type="sldNum" sz="quarter" idx="10"/>
          </p:nvPr>
        </p:nvSpPr>
        <p:spPr/>
        <p:txBody>
          <a:bodyPr/>
          <a:lstStyle/>
          <a:p>
            <a:fld id="{03CAA69C-D349-EE45-B066-F759E7403BE7}" type="slidenum">
              <a:rPr lang="en-US" smtClean="0"/>
              <a:t>33</a:t>
            </a:fld>
            <a:endParaRPr lang="en-US"/>
          </a:p>
        </p:txBody>
      </p:sp>
    </p:spTree>
    <p:extLst>
      <p:ext uri="{BB962C8B-B14F-4D97-AF65-F5344CB8AC3E}">
        <p14:creationId xmlns:p14="http://schemas.microsoft.com/office/powerpoint/2010/main" val="4027246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t>
            </a:r>
            <a:r>
              <a:rPr lang="en-US" baseline="0" dirty="0"/>
              <a:t> animation on these slides</a:t>
            </a:r>
            <a:endParaRPr lang="en-US" dirty="0"/>
          </a:p>
        </p:txBody>
      </p:sp>
      <p:sp>
        <p:nvSpPr>
          <p:cNvPr id="4" name="Slide Number Placeholder 3"/>
          <p:cNvSpPr>
            <a:spLocks noGrp="1"/>
          </p:cNvSpPr>
          <p:nvPr>
            <p:ph type="sldNum" sz="quarter" idx="10"/>
          </p:nvPr>
        </p:nvSpPr>
        <p:spPr/>
        <p:txBody>
          <a:bodyPr/>
          <a:lstStyle/>
          <a:p>
            <a:fld id="{03CAA69C-D349-EE45-B066-F759E7403BE7}" type="slidenum">
              <a:rPr lang="en-US" smtClean="0"/>
              <a:t>34</a:t>
            </a:fld>
            <a:endParaRPr lang="en-US"/>
          </a:p>
        </p:txBody>
      </p:sp>
    </p:spTree>
    <p:extLst>
      <p:ext uri="{BB962C8B-B14F-4D97-AF65-F5344CB8AC3E}">
        <p14:creationId xmlns:p14="http://schemas.microsoft.com/office/powerpoint/2010/main" val="2924093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46</a:t>
            </a:fld>
            <a:endParaRPr lang="en-US"/>
          </a:p>
        </p:txBody>
      </p:sp>
    </p:spTree>
    <p:extLst>
      <p:ext uri="{BB962C8B-B14F-4D97-AF65-F5344CB8AC3E}">
        <p14:creationId xmlns:p14="http://schemas.microsoft.com/office/powerpoint/2010/main" val="5115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49</a:t>
            </a:fld>
            <a:endParaRPr lang="en-US"/>
          </a:p>
        </p:txBody>
      </p:sp>
    </p:spTree>
    <p:extLst>
      <p:ext uri="{BB962C8B-B14F-4D97-AF65-F5344CB8AC3E}">
        <p14:creationId xmlns:p14="http://schemas.microsoft.com/office/powerpoint/2010/main" val="3792192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52</a:t>
            </a:fld>
            <a:endParaRPr lang="en-US"/>
          </a:p>
        </p:txBody>
      </p:sp>
    </p:spTree>
    <p:extLst>
      <p:ext uri="{BB962C8B-B14F-4D97-AF65-F5344CB8AC3E}">
        <p14:creationId xmlns:p14="http://schemas.microsoft.com/office/powerpoint/2010/main" val="1816552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Reduction: takes the list of variables and doing something with them according to the operator (e.g. summing) and the result is transmitted to the master thread.</a:t>
            </a:r>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53</a:t>
            </a:fld>
            <a:endParaRPr lang="en-US"/>
          </a:p>
        </p:txBody>
      </p:sp>
    </p:spTree>
    <p:extLst>
      <p:ext uri="{BB962C8B-B14F-4D97-AF65-F5344CB8AC3E}">
        <p14:creationId xmlns:p14="http://schemas.microsoft.com/office/powerpoint/2010/main" val="27809691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58</a:t>
            </a:fld>
            <a:endParaRPr lang="en-US"/>
          </a:p>
        </p:txBody>
      </p:sp>
    </p:spTree>
    <p:extLst>
      <p:ext uri="{BB962C8B-B14F-4D97-AF65-F5344CB8AC3E}">
        <p14:creationId xmlns:p14="http://schemas.microsoft.com/office/powerpoint/2010/main" val="2715682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CAA69C-D349-EE45-B066-F759E7403BE7}" type="slidenum">
              <a:rPr lang="en-US" smtClean="0"/>
              <a:t>60</a:t>
            </a:fld>
            <a:endParaRPr lang="en-US"/>
          </a:p>
        </p:txBody>
      </p:sp>
    </p:spTree>
    <p:extLst>
      <p:ext uri="{BB962C8B-B14F-4D97-AF65-F5344CB8AC3E}">
        <p14:creationId xmlns:p14="http://schemas.microsoft.com/office/powerpoint/2010/main" val="2656982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sum is used for reduction it is automatically gets the scope private</a:t>
            </a:r>
          </a:p>
          <a:p>
            <a:r>
              <a:rPr lang="en-US" dirty="0"/>
              <a:t>factor was declared in the loop it is automatically private</a:t>
            </a:r>
          </a:p>
        </p:txBody>
      </p:sp>
      <p:sp>
        <p:nvSpPr>
          <p:cNvPr id="4" name="Slide Number Placeholder 3"/>
          <p:cNvSpPr>
            <a:spLocks noGrp="1"/>
          </p:cNvSpPr>
          <p:nvPr>
            <p:ph type="sldNum" sz="quarter" idx="5"/>
          </p:nvPr>
        </p:nvSpPr>
        <p:spPr/>
        <p:txBody>
          <a:bodyPr/>
          <a:lstStyle/>
          <a:p>
            <a:fld id="{25720E11-AB88-1143-8F69-852C936C6DC2}" type="slidenum">
              <a:rPr lang="en-US" smtClean="0"/>
              <a:t>65</a:t>
            </a:fld>
            <a:endParaRPr lang="en-US"/>
          </a:p>
        </p:txBody>
      </p:sp>
    </p:spTree>
    <p:extLst>
      <p:ext uri="{BB962C8B-B14F-4D97-AF65-F5344CB8AC3E}">
        <p14:creationId xmlns:p14="http://schemas.microsoft.com/office/powerpoint/2010/main" val="614130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sum is used for reduction it is automatically gets the scope private</a:t>
            </a:r>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66</a:t>
            </a:fld>
            <a:endParaRPr lang="en-US"/>
          </a:p>
        </p:txBody>
      </p:sp>
    </p:spTree>
    <p:extLst>
      <p:ext uri="{BB962C8B-B14F-4D97-AF65-F5344CB8AC3E}">
        <p14:creationId xmlns:p14="http://schemas.microsoft.com/office/powerpoint/2010/main" val="3910407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factor was declared outside needs a scope</a:t>
            </a:r>
          </a:p>
        </p:txBody>
      </p:sp>
      <p:sp>
        <p:nvSpPr>
          <p:cNvPr id="4" name="Slide Number Placeholder 3"/>
          <p:cNvSpPr>
            <a:spLocks noGrp="1"/>
          </p:cNvSpPr>
          <p:nvPr>
            <p:ph type="sldNum" sz="quarter" idx="5"/>
          </p:nvPr>
        </p:nvSpPr>
        <p:spPr/>
        <p:txBody>
          <a:bodyPr/>
          <a:lstStyle/>
          <a:p>
            <a:fld id="{25720E11-AB88-1143-8F69-852C936C6DC2}" type="slidenum">
              <a:rPr lang="en-US" smtClean="0"/>
              <a:t>67</a:t>
            </a:fld>
            <a:endParaRPr lang="en-US"/>
          </a:p>
        </p:txBody>
      </p:sp>
    </p:spTree>
    <p:extLst>
      <p:ext uri="{BB962C8B-B14F-4D97-AF65-F5344CB8AC3E}">
        <p14:creationId xmlns:p14="http://schemas.microsoft.com/office/powerpoint/2010/main" val="17150143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p:cNvSpPr>
          <p:nvPr>
            <p:ph type="sldImg"/>
          </p:nvPr>
        </p:nvSpPr>
        <p:spPr>
          <a:ln/>
        </p:spPr>
      </p:sp>
      <p:sp>
        <p:nvSpPr>
          <p:cNvPr id="10752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Times New Roman" charset="0"/>
              </a:rPr>
              <a:t>Please refer to the detailed slides on cache coherence and thread-safety in Chapter 4.</a:t>
            </a:r>
          </a:p>
        </p:txBody>
      </p:sp>
      <p:sp>
        <p:nvSpPr>
          <p:cNvPr id="107523" name="Header Placeholder 3"/>
          <p:cNvSpPr>
            <a:spLocks noGrp="1"/>
          </p:cNvSpPr>
          <p:nvPr>
            <p:ph type="hdr"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1pPr>
            <a:lvl2pPr marL="685817" indent="-263776"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2pPr>
            <a:lvl3pPr marL="1055103"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3pPr>
            <a:lvl4pPr marL="1477145"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4pPr>
            <a:lvl5pPr marL="1899186"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5pPr>
            <a:lvl6pPr marL="2321227"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6pPr>
            <a:lvl7pPr marL="2743269"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7pPr>
            <a:lvl8pPr marL="3165310"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8pPr>
            <a:lvl9pPr marL="3587351"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9pPr>
          </a:lstStyle>
          <a:p>
            <a:pPr>
              <a:spcBef>
                <a:spcPct val="0"/>
              </a:spcBef>
              <a:buClrTx/>
              <a:buSzTx/>
              <a:buFontTx/>
              <a:buNone/>
            </a:pPr>
            <a:r>
              <a:rPr lang="en-US" sz="1200">
                <a:latin typeface="Times New Roman" charset="0"/>
              </a:rPr>
              <a:t>The University of Adelaide, School of Computer Science</a:t>
            </a:r>
          </a:p>
        </p:txBody>
      </p:sp>
      <p:sp>
        <p:nvSpPr>
          <p:cNvPr id="107524" name="Date Placeholder 4"/>
          <p:cNvSpPr>
            <a:spLocks noGrp="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1pPr>
            <a:lvl2pPr marL="685817" indent="-263776"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2pPr>
            <a:lvl3pPr marL="1055103"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3pPr>
            <a:lvl4pPr marL="1477145"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4pPr>
            <a:lvl5pPr marL="1899186"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5pPr>
            <a:lvl6pPr marL="2321227"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6pPr>
            <a:lvl7pPr marL="2743269"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7pPr>
            <a:lvl8pPr marL="3165310"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8pPr>
            <a:lvl9pPr marL="3587351"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9pPr>
          </a:lstStyle>
          <a:p>
            <a:pPr>
              <a:spcBef>
                <a:spcPct val="0"/>
              </a:spcBef>
              <a:buClrTx/>
              <a:buSzTx/>
              <a:buFontTx/>
              <a:buNone/>
            </a:pPr>
            <a:fld id="{88BC15CB-BAF2-C746-BC24-D38B48AF645B}" type="datetime3">
              <a:rPr lang="en-US" sz="1200">
                <a:latin typeface="Times New Roman" charset="0"/>
              </a:rPr>
              <a:pPr>
                <a:spcBef>
                  <a:spcPct val="0"/>
                </a:spcBef>
                <a:buClrTx/>
                <a:buSzTx/>
                <a:buFontTx/>
                <a:buNone/>
              </a:pPr>
              <a:t>28 December 2025</a:t>
            </a:fld>
            <a:endParaRPr lang="en-US" sz="1200">
              <a:latin typeface="Times New Roman" charset="0"/>
            </a:endParaRPr>
          </a:p>
        </p:txBody>
      </p:sp>
      <p:sp>
        <p:nvSpPr>
          <p:cNvPr id="107525" name="Footer Placeholder 5"/>
          <p:cNvSpPr>
            <a:spLocks noGrp="1"/>
          </p:cNvSpPr>
          <p:nvPr>
            <p:ph type="ftr" sz="quarter" idx="4"/>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1pPr>
            <a:lvl2pPr marL="685817" indent="-263776"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2pPr>
            <a:lvl3pPr marL="1055103"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3pPr>
            <a:lvl4pPr marL="1477145"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4pPr>
            <a:lvl5pPr marL="1899186"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5pPr>
            <a:lvl6pPr marL="2321227"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6pPr>
            <a:lvl7pPr marL="2743269"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7pPr>
            <a:lvl8pPr marL="3165310"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8pPr>
            <a:lvl9pPr marL="3587351"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9pPr>
          </a:lstStyle>
          <a:p>
            <a:pPr>
              <a:spcBef>
                <a:spcPct val="0"/>
              </a:spcBef>
              <a:buClrTx/>
              <a:buSzTx/>
              <a:buFontTx/>
              <a:buNone/>
            </a:pPr>
            <a:r>
              <a:rPr lang="en-US" sz="1200">
                <a:latin typeface="Times New Roman" charset="0"/>
              </a:rPr>
              <a:t>Chapter 2 — Instructions: Language of the Computer</a:t>
            </a:r>
          </a:p>
        </p:txBody>
      </p:sp>
      <p:sp>
        <p:nvSpPr>
          <p:cNvPr id="107526" name="Slide Number Placeholder 6"/>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1pPr>
            <a:lvl2pPr marL="685817" indent="-263776"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2pPr>
            <a:lvl3pPr marL="1055103"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3pPr>
            <a:lvl4pPr marL="1477145"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4pPr>
            <a:lvl5pPr marL="1899186" indent="-211021" defTabSz="892442">
              <a:spcBef>
                <a:spcPct val="20000"/>
              </a:spcBef>
              <a:buClr>
                <a:schemeClr val="tx1"/>
              </a:buClr>
              <a:buSzPct val="60000"/>
              <a:buFont typeface="Wingdings" charset="0"/>
              <a:defRPr sz="3000">
                <a:solidFill>
                  <a:schemeClr val="tx1"/>
                </a:solidFill>
                <a:latin typeface="Arial Black" charset="0"/>
                <a:ea typeface="ＭＳ Ｐゴシック" charset="0"/>
              </a:defRPr>
            </a:lvl5pPr>
            <a:lvl6pPr marL="2321227"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6pPr>
            <a:lvl7pPr marL="2743269"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7pPr>
            <a:lvl8pPr marL="3165310"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8pPr>
            <a:lvl9pPr marL="3587351" indent="-211021" defTabSz="892442" fontAlgn="base">
              <a:spcBef>
                <a:spcPct val="20000"/>
              </a:spcBef>
              <a:spcAft>
                <a:spcPct val="0"/>
              </a:spcAft>
              <a:buClr>
                <a:schemeClr val="tx1"/>
              </a:buClr>
              <a:buSzPct val="60000"/>
              <a:buFont typeface="Wingdings" charset="0"/>
              <a:defRPr sz="3000">
                <a:solidFill>
                  <a:schemeClr val="tx1"/>
                </a:solidFill>
                <a:latin typeface="Arial Black" charset="0"/>
                <a:ea typeface="ＭＳ Ｐゴシック" charset="0"/>
              </a:defRPr>
            </a:lvl9pPr>
          </a:lstStyle>
          <a:p>
            <a:pPr>
              <a:spcBef>
                <a:spcPct val="0"/>
              </a:spcBef>
              <a:buClrTx/>
              <a:buSzTx/>
              <a:buFontTx/>
              <a:buNone/>
            </a:pPr>
            <a:fld id="{A6697C02-B6CE-4D49-916C-A9073055DB1A}" type="slidenum">
              <a:rPr lang="en-US" sz="1200">
                <a:latin typeface="Times New Roman" charset="0"/>
              </a:rPr>
              <a:pPr>
                <a:spcBef>
                  <a:spcPct val="0"/>
                </a:spcBef>
                <a:buClrTx/>
                <a:buSzTx/>
                <a:buFontTx/>
                <a:buNone/>
              </a:pPr>
              <a:t>68</a:t>
            </a:fld>
            <a:endParaRPr lang="en-US" sz="1200">
              <a:latin typeface="Times New Roman" charset="0"/>
            </a:endParaRPr>
          </a:p>
        </p:txBody>
      </p:sp>
    </p:spTree>
    <p:extLst>
      <p:ext uri="{BB962C8B-B14F-4D97-AF65-F5344CB8AC3E}">
        <p14:creationId xmlns:p14="http://schemas.microsoft.com/office/powerpoint/2010/main" val="4111431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redistribution</a:t>
            </a:r>
          </a:p>
        </p:txBody>
      </p:sp>
      <p:sp>
        <p:nvSpPr>
          <p:cNvPr id="4" name="Slide Number Placeholder 3"/>
          <p:cNvSpPr>
            <a:spLocks noGrp="1"/>
          </p:cNvSpPr>
          <p:nvPr>
            <p:ph type="sldNum" sz="quarter" idx="5"/>
          </p:nvPr>
        </p:nvSpPr>
        <p:spPr/>
        <p:txBody>
          <a:bodyPr/>
          <a:lstStyle/>
          <a:p>
            <a:fld id="{25720E11-AB88-1143-8F69-852C936C6DC2}" type="slidenum">
              <a:rPr lang="en-US" smtClean="0"/>
              <a:t>75</a:t>
            </a:fld>
            <a:endParaRPr lang="en-US"/>
          </a:p>
        </p:txBody>
      </p:sp>
    </p:spTree>
    <p:extLst>
      <p:ext uri="{BB962C8B-B14F-4D97-AF65-F5344CB8AC3E}">
        <p14:creationId xmlns:p14="http://schemas.microsoft.com/office/powerpoint/2010/main" val="257023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mpi</a:t>
            </a:r>
            <a:r>
              <a:rPr lang="en-US" dirty="0"/>
              <a:t> libraries exist in </a:t>
            </a:r>
            <a:r>
              <a:rPr lang="en-US" dirty="0" err="1"/>
              <a:t>matlab</a:t>
            </a:r>
            <a:r>
              <a:rPr lang="en-US" dirty="0"/>
              <a:t> and python</a:t>
            </a:r>
          </a:p>
        </p:txBody>
      </p:sp>
      <p:sp>
        <p:nvSpPr>
          <p:cNvPr id="4" name="Slide Number Placeholder 3"/>
          <p:cNvSpPr>
            <a:spLocks noGrp="1"/>
          </p:cNvSpPr>
          <p:nvPr>
            <p:ph type="sldNum" sz="quarter" idx="5"/>
          </p:nvPr>
        </p:nvSpPr>
        <p:spPr/>
        <p:txBody>
          <a:bodyPr/>
          <a:lstStyle/>
          <a:p>
            <a:fld id="{25720E11-AB88-1143-8F69-852C936C6DC2}" type="slidenum">
              <a:rPr lang="en-US" smtClean="0"/>
              <a:t>76</a:t>
            </a:fld>
            <a:endParaRPr lang="en-US"/>
          </a:p>
        </p:txBody>
      </p:sp>
    </p:spTree>
    <p:extLst>
      <p:ext uri="{BB962C8B-B14F-4D97-AF65-F5344CB8AC3E}">
        <p14:creationId xmlns:p14="http://schemas.microsoft.com/office/powerpoint/2010/main" val="3669280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a:t>
            </a:r>
            <a:r>
              <a:rPr lang="en-US" dirty="0" err="1"/>
              <a:t>senting</a:t>
            </a:r>
            <a:r>
              <a:rPr lang="en-US" dirty="0"/>
              <a:t> the message has </a:t>
            </a:r>
            <a:r>
              <a:rPr lang="en-US" dirty="0" err="1"/>
              <a:t>MPI_Send</a:t>
            </a:r>
            <a:r>
              <a:rPr lang="en-US" dirty="0"/>
              <a:t>, the processor receiving the message must have </a:t>
            </a:r>
            <a:r>
              <a:rPr lang="en-US" dirty="0" err="1"/>
              <a:t>MPI_Recv</a:t>
            </a:r>
            <a:r>
              <a:rPr lang="en-US" dirty="0"/>
              <a:t>.</a:t>
            </a:r>
          </a:p>
          <a:p>
            <a:r>
              <a:rPr lang="en-US" dirty="0" err="1"/>
              <a:t>buf</a:t>
            </a:r>
            <a:r>
              <a:rPr lang="en-US" dirty="0"/>
              <a:t> - the buffer into which message is copied.</a:t>
            </a:r>
          </a:p>
          <a:p>
            <a:r>
              <a:rPr lang="en-US" dirty="0"/>
              <a:t>count - the number of data cells</a:t>
            </a:r>
          </a:p>
          <a:p>
            <a:r>
              <a:rPr lang="en-US" dirty="0"/>
              <a:t>datatype - char, </a:t>
            </a:r>
            <a:r>
              <a:rPr lang="en-US" dirty="0" err="1"/>
              <a:t>int</a:t>
            </a:r>
            <a:r>
              <a:rPr lang="en-US" dirty="0"/>
              <a:t>, double …</a:t>
            </a:r>
          </a:p>
          <a:p>
            <a:r>
              <a:rPr lang="en-US" dirty="0"/>
              <a:t>#</a:t>
            </a:r>
            <a:r>
              <a:rPr lang="en-US" dirty="0" err="1"/>
              <a:t>dest</a:t>
            </a:r>
            <a:r>
              <a:rPr lang="en-US" dirty="0"/>
              <a:t> - rank or destination processor</a:t>
            </a:r>
          </a:p>
          <a:p>
            <a:r>
              <a:rPr lang="en-US" dirty="0"/>
              <a:t># source - rank of the sending processor</a:t>
            </a:r>
          </a:p>
          <a:p>
            <a:r>
              <a:rPr lang="en-US" dirty="0" err="1"/>
              <a:t>comm</a:t>
            </a:r>
            <a:r>
              <a:rPr lang="en-US" dirty="0"/>
              <a:t> - the communication database (</a:t>
            </a:r>
            <a:r>
              <a:rPr lang="en-US" dirty="0">
                <a:solidFill>
                  <a:srgbClr val="0070C0"/>
                </a:solidFill>
              </a:rPr>
              <a:t>MPI_COMM_WORLD)</a:t>
            </a:r>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85</a:t>
            </a:fld>
            <a:endParaRPr lang="en-US"/>
          </a:p>
        </p:txBody>
      </p:sp>
    </p:spTree>
    <p:extLst>
      <p:ext uri="{BB962C8B-B14F-4D97-AF65-F5344CB8AC3E}">
        <p14:creationId xmlns:p14="http://schemas.microsoft.com/office/powerpoint/2010/main" val="9257428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first if statement is what we really want to take a look at here. If rank does not equal zero the program will put our message into a variable called message and then send it to process 0. This if statement will be run on all processes that do not have a rank of 0. The else statement tells us what to do if the process does equal zero. Here the process 0 will receive the variable message from each process and then display the contents of it. So in this program each process that is not 0 will send messages to process 0, it is then the job of process 0 to receive and use the information. As you can see this is where MPI will get its speed. We can have each process do computations and then send the results back to a receiving master process to display a result.</a:t>
            </a:r>
          </a:p>
          <a:p>
            <a:br>
              <a:rPr lang="en-US" dirty="0"/>
            </a:br>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87</a:t>
            </a:fld>
            <a:endParaRPr lang="en-US"/>
          </a:p>
        </p:txBody>
      </p:sp>
    </p:spTree>
    <p:extLst>
      <p:ext uri="{BB962C8B-B14F-4D97-AF65-F5344CB8AC3E}">
        <p14:creationId xmlns:p14="http://schemas.microsoft.com/office/powerpoint/2010/main" val="41427086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first if statement is what we really want to take a look at here. If rank does not equal zero the program will put our message into a variable called message and then send it to process 0. This if statement will be run on all processes that do not have a rank of 0. The else statement tells us what to do if the process does equal zero. Here the process 0 will receive the variable message from each process and then display the contents of it. So in this program each process that is not 0 will send messages to process 0, it is then the job of process 0 to receive and use the information. As you can see this is where MPI will get its speed. We can have each process do computations and then send the results back to a receiving master process to display a result.</a:t>
            </a:r>
          </a:p>
          <a:p>
            <a:br>
              <a:rPr lang="en-US" dirty="0"/>
            </a:b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88</a:t>
            </a:fld>
            <a:endParaRPr lang="en-US"/>
          </a:p>
        </p:txBody>
      </p:sp>
    </p:spTree>
    <p:extLst>
      <p:ext uri="{BB962C8B-B14F-4D97-AF65-F5344CB8AC3E}">
        <p14:creationId xmlns:p14="http://schemas.microsoft.com/office/powerpoint/2010/main" val="40281162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err="1">
                <a:solidFill>
                  <a:schemeClr val="tx1"/>
                </a:solidFill>
                <a:effectLst/>
                <a:latin typeface="+mn-lt"/>
                <a:ea typeface="+mn-ea"/>
                <a:cs typeface="+mn-cs"/>
              </a:rPr>
              <a:t>MPI_Bcast</a:t>
            </a:r>
            <a:r>
              <a:rPr lang="en-US" sz="1200" b="1" i="0" kern="1200" dirty="0">
                <a:solidFill>
                  <a:schemeClr val="tx1"/>
                </a:solidFill>
                <a:effectLst/>
                <a:latin typeface="+mn-lt"/>
                <a:ea typeface="+mn-ea"/>
                <a:cs typeface="+mn-cs"/>
              </a:rPr>
              <a:t> is a blocking collective operation:</a:t>
            </a:r>
            <a:r>
              <a:rPr lang="en-US" sz="1200" b="0" i="0" kern="1200" dirty="0">
                <a:solidFill>
                  <a:schemeClr val="tx1"/>
                </a:solidFill>
                <a:effectLst/>
                <a:latin typeface="+mn-lt"/>
                <a:ea typeface="+mn-ea"/>
                <a:cs typeface="+mn-cs"/>
              </a:rPr>
              <a:t> This means that the call on the root process will not return until the message buffer is safe to reuse. The specifics depend on the underlying implementation, but generally, the operation is considered complete when the data has been sent [1].</a:t>
            </a:r>
          </a:p>
          <a:p>
            <a:r>
              <a:rPr lang="en-US" sz="1200" b="1" i="0" kern="1200" dirty="0">
                <a:solidFill>
                  <a:schemeClr val="tx1"/>
                </a:solidFill>
                <a:effectLst/>
                <a:latin typeface="+mn-lt"/>
                <a:ea typeface="+mn-ea"/>
                <a:cs typeface="+mn-cs"/>
              </a:rPr>
              <a:t>Sender vs. Receiver Blocking:</a:t>
            </a:r>
            <a:r>
              <a:rPr lang="en-US" sz="1200" b="0" i="0" kern="1200" dirty="0">
                <a:solidFill>
                  <a:schemeClr val="tx1"/>
                </a:solidFill>
                <a:effectLst/>
                <a:latin typeface="+mn-lt"/>
                <a:ea typeface="+mn-ea"/>
                <a:cs typeface="+mn-cs"/>
              </a:rPr>
              <a:t> The root (sender) typically returns once the data has been sent out, not necessarily when every single receiver has </a:t>
            </a:r>
            <a:r>
              <a:rPr lang="en-US" sz="1200" b="0" i="1" kern="1200" dirty="0">
                <a:solidFill>
                  <a:schemeClr val="tx1"/>
                </a:solidFill>
                <a:effectLst/>
                <a:latin typeface="+mn-lt"/>
                <a:ea typeface="+mn-ea"/>
                <a:cs typeface="+mn-cs"/>
              </a:rPr>
              <a:t>fully received</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processed</a:t>
            </a:r>
            <a:r>
              <a:rPr lang="en-US" sz="1200" b="0" i="0" kern="1200" dirty="0">
                <a:solidFill>
                  <a:schemeClr val="tx1"/>
                </a:solidFill>
                <a:effectLst/>
                <a:latin typeface="+mn-lt"/>
                <a:ea typeface="+mn-ea"/>
                <a:cs typeface="+mn-cs"/>
              </a:rPr>
              <a:t> the data [1]. The receiving processes, however, will block until they have received the data from the root.</a:t>
            </a:r>
          </a:p>
          <a:p>
            <a:r>
              <a:rPr lang="en-US" sz="1200" b="1" i="0" kern="1200" dirty="0">
                <a:solidFill>
                  <a:schemeClr val="tx1"/>
                </a:solidFill>
                <a:effectLst/>
                <a:latin typeface="+mn-lt"/>
                <a:ea typeface="+mn-ea"/>
                <a:cs typeface="+mn-cs"/>
              </a:rPr>
              <a:t>Execution Order:</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The root process calls </a:t>
            </a:r>
            <a:r>
              <a:rPr lang="en-US" sz="1200" b="0" i="0" kern="1200" dirty="0" err="1">
                <a:solidFill>
                  <a:schemeClr val="tx1"/>
                </a:solidFill>
                <a:effectLst/>
                <a:latin typeface="+mn-lt"/>
                <a:ea typeface="+mn-ea"/>
                <a:cs typeface="+mn-cs"/>
              </a:rPr>
              <a:t>MPI_Bcast</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All other processes call </a:t>
            </a:r>
            <a:r>
              <a:rPr lang="en-US" sz="1200" b="0" i="0" kern="1200" dirty="0" err="1">
                <a:solidFill>
                  <a:schemeClr val="tx1"/>
                </a:solidFill>
                <a:effectLst/>
                <a:latin typeface="+mn-lt"/>
                <a:ea typeface="+mn-ea"/>
                <a:cs typeface="+mn-cs"/>
              </a:rPr>
              <a:t>MPI_Bcast</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The data transfer occurs.</a:t>
            </a:r>
          </a:p>
          <a:p>
            <a:pPr lvl="1"/>
            <a:r>
              <a:rPr lang="en-US" sz="1200" b="0" i="0" kern="1200" dirty="0">
                <a:solidFill>
                  <a:schemeClr val="tx1"/>
                </a:solidFill>
                <a:effectLst/>
                <a:latin typeface="+mn-lt"/>
                <a:ea typeface="+mn-ea"/>
                <a:cs typeface="+mn-cs"/>
              </a:rPr>
              <a:t>Once the root process's data has been sent (or at least handed off to the system buffers), the </a:t>
            </a:r>
            <a:r>
              <a:rPr lang="en-US" sz="1200" b="0" i="0" kern="1200" dirty="0" err="1">
                <a:solidFill>
                  <a:schemeClr val="tx1"/>
                </a:solidFill>
                <a:effectLst/>
                <a:latin typeface="+mn-lt"/>
                <a:ea typeface="+mn-ea"/>
                <a:cs typeface="+mn-cs"/>
              </a:rPr>
              <a:t>MPI_Bcast</a:t>
            </a:r>
            <a:r>
              <a:rPr lang="en-US" sz="1200" b="0" i="0" kern="1200" dirty="0">
                <a:solidFill>
                  <a:schemeClr val="tx1"/>
                </a:solidFill>
                <a:effectLst/>
                <a:latin typeface="+mn-lt"/>
                <a:ea typeface="+mn-ea"/>
                <a:cs typeface="+mn-cs"/>
              </a:rPr>
              <a:t> function on the root returns.</a:t>
            </a:r>
          </a:p>
          <a:p>
            <a:pPr lvl="1"/>
            <a:r>
              <a:rPr lang="en-US" sz="1200" b="0" i="0" kern="1200" dirty="0">
                <a:solidFill>
                  <a:schemeClr val="tx1"/>
                </a:solidFill>
                <a:effectLst/>
                <a:latin typeface="+mn-lt"/>
                <a:ea typeface="+mn-ea"/>
                <a:cs typeface="+mn-cs"/>
              </a:rPr>
              <a:t>The root process immediately proceeds to execute the print statement. </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89</a:t>
            </a:fld>
            <a:endParaRPr lang="en-US"/>
          </a:p>
        </p:txBody>
      </p:sp>
    </p:spTree>
    <p:extLst>
      <p:ext uri="{BB962C8B-B14F-4D97-AF65-F5344CB8AC3E}">
        <p14:creationId xmlns:p14="http://schemas.microsoft.com/office/powerpoint/2010/main" val="566137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90</a:t>
            </a:fld>
            <a:endParaRPr lang="en-US"/>
          </a:p>
        </p:txBody>
      </p:sp>
    </p:spTree>
    <p:extLst>
      <p:ext uri="{BB962C8B-B14F-4D97-AF65-F5344CB8AC3E}">
        <p14:creationId xmlns:p14="http://schemas.microsoft.com/office/powerpoint/2010/main" val="4895528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91</a:t>
            </a:fld>
            <a:endParaRPr lang="en-US"/>
          </a:p>
        </p:txBody>
      </p:sp>
    </p:spTree>
    <p:extLst>
      <p:ext uri="{BB962C8B-B14F-4D97-AF65-F5344CB8AC3E}">
        <p14:creationId xmlns:p14="http://schemas.microsoft.com/office/powerpoint/2010/main" val="28129515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Sendbuff</a:t>
            </a:r>
            <a:r>
              <a:rPr lang="en-US" dirty="0"/>
              <a:t> here is 1, </a:t>
            </a:r>
            <a:r>
              <a:rPr lang="en-US" dirty="0" err="1"/>
              <a:t>receivebuff</a:t>
            </a:r>
            <a:r>
              <a:rPr lang="en-US" dirty="0"/>
              <a:t> is 4</a:t>
            </a:r>
          </a:p>
          <a:p>
            <a:r>
              <a:rPr lang="en-US" dirty="0"/>
              <a:t>root - the rank of the processor receiving the message</a:t>
            </a:r>
          </a:p>
        </p:txBody>
      </p:sp>
      <p:sp>
        <p:nvSpPr>
          <p:cNvPr id="4" name="Slide Number Placeholder 3"/>
          <p:cNvSpPr>
            <a:spLocks noGrp="1"/>
          </p:cNvSpPr>
          <p:nvPr>
            <p:ph type="sldNum" sz="quarter" idx="5"/>
          </p:nvPr>
        </p:nvSpPr>
        <p:spPr/>
        <p:txBody>
          <a:bodyPr/>
          <a:lstStyle/>
          <a:p>
            <a:fld id="{25720E11-AB88-1143-8F69-852C936C6DC2}" type="slidenum">
              <a:rPr lang="en-US" smtClean="0"/>
              <a:t>92</a:t>
            </a:fld>
            <a:endParaRPr lang="en-US"/>
          </a:p>
        </p:txBody>
      </p:sp>
    </p:spTree>
    <p:extLst>
      <p:ext uri="{BB962C8B-B14F-4D97-AF65-F5344CB8AC3E}">
        <p14:creationId xmlns:p14="http://schemas.microsoft.com/office/powerpoint/2010/main" val="22643069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of print doesn’t necessarily reflects the order of work.</a:t>
            </a:r>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97</a:t>
            </a:fld>
            <a:endParaRPr lang="en-US"/>
          </a:p>
        </p:txBody>
      </p:sp>
    </p:spTree>
    <p:extLst>
      <p:ext uri="{BB962C8B-B14F-4D97-AF65-F5344CB8AC3E}">
        <p14:creationId xmlns:p14="http://schemas.microsoft.com/office/powerpoint/2010/main" val="9477097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MPI_Scatter</a:t>
            </a:r>
            <a:r>
              <a:rPr lang="en-US" dirty="0"/>
              <a:t>:</a:t>
            </a:r>
          </a:p>
          <a:p>
            <a:r>
              <a:rPr lang="en-US" b="1" dirty="0"/>
              <a:t>On the root:</a:t>
            </a:r>
            <a:r>
              <a:rPr lang="en-US" dirty="0"/>
              <a:t> </a:t>
            </a:r>
            <a:r>
              <a:rPr lang="en-US" dirty="0" err="1"/>
              <a:t>sendbuf</a:t>
            </a:r>
            <a:r>
              <a:rPr lang="en-US" dirty="0"/>
              <a:t> holds P contiguous blocks (where P = size of </a:t>
            </a:r>
            <a:r>
              <a:rPr lang="en-US" dirty="0" err="1"/>
              <a:t>comm</a:t>
            </a:r>
            <a:r>
              <a:rPr lang="en-US" dirty="0"/>
              <a:t>), each of length </a:t>
            </a:r>
            <a:r>
              <a:rPr lang="en-US" dirty="0" err="1"/>
              <a:t>sendcount</a:t>
            </a:r>
            <a:r>
              <a:rPr lang="en-US" dirty="0"/>
              <a:t>. Block r (0…P−1) is delivered to rank r.</a:t>
            </a:r>
          </a:p>
          <a:p>
            <a:r>
              <a:rPr lang="en-US" b="1" dirty="0"/>
              <a:t>On every rank (including root):</a:t>
            </a:r>
            <a:r>
              <a:rPr lang="en-US" dirty="0"/>
              <a:t> </a:t>
            </a:r>
            <a:r>
              <a:rPr lang="en-US" dirty="0" err="1"/>
              <a:t>recvbuf</a:t>
            </a:r>
            <a:r>
              <a:rPr lang="en-US" dirty="0"/>
              <a:t> receives exactly </a:t>
            </a:r>
            <a:r>
              <a:rPr lang="en-US" dirty="0" err="1"/>
              <a:t>recvcount</a:t>
            </a:r>
            <a:r>
              <a:rPr lang="en-US" dirty="0"/>
              <a:t> items. Usually </a:t>
            </a:r>
            <a:r>
              <a:rPr lang="en-US" dirty="0" err="1"/>
              <a:t>recvcount</a:t>
            </a:r>
            <a:r>
              <a:rPr lang="en-US" dirty="0"/>
              <a:t> == </a:t>
            </a:r>
            <a:r>
              <a:rPr lang="en-US" dirty="0" err="1"/>
              <a:t>sendcount</a:t>
            </a:r>
            <a:r>
              <a:rPr lang="en-US" dirty="0"/>
              <a:t> and </a:t>
            </a:r>
            <a:r>
              <a:rPr lang="en-US" dirty="0" err="1"/>
              <a:t>recvtype</a:t>
            </a:r>
            <a:r>
              <a:rPr lang="en-US" dirty="0"/>
              <a:t> == </a:t>
            </a:r>
            <a:r>
              <a:rPr lang="en-US" dirty="0" err="1"/>
              <a:t>sendtype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Non-root ranks</a:t>
            </a:r>
            <a:r>
              <a:rPr lang="en-US" dirty="0"/>
              <a:t> ignore </a:t>
            </a:r>
            <a:r>
              <a:rPr lang="en-US" dirty="0" err="1"/>
              <a:t>sendbuf</a:t>
            </a:r>
            <a:r>
              <a:rPr lang="en-US" dirty="0"/>
              <a:t>/</a:t>
            </a:r>
            <a:r>
              <a:rPr lang="en-US" dirty="0" err="1"/>
              <a:t>sendcount</a:t>
            </a:r>
            <a:r>
              <a:rPr lang="en-US" dirty="0"/>
              <a:t>/</a:t>
            </a:r>
            <a:r>
              <a:rPr lang="en-US" dirty="0" err="1"/>
              <a:t>sendtype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ranks must call the routine (it’s a collective).</a:t>
            </a:r>
          </a:p>
          <a:p>
            <a:r>
              <a:rPr lang="en-US" dirty="0"/>
              <a:t>So if P=4, </a:t>
            </a:r>
            <a:r>
              <a:rPr lang="en-US" dirty="0" err="1"/>
              <a:t>sendbuf</a:t>
            </a:r>
            <a:r>
              <a:rPr lang="en-US" dirty="0"/>
              <a:t> = [A0 A1 … A_{k-1} | B0 … | C0 … | D0 …], then rank 0 gets A*, rank 1 gets B*, etc. The root’s own piece is moved (often just copied) into its </a:t>
            </a:r>
            <a:r>
              <a:rPr lang="en-US" dirty="0" err="1"/>
              <a:t>recvbuf</a:t>
            </a:r>
            <a:r>
              <a:rPr lang="en-US" dirty="0"/>
              <a:t>.</a:t>
            </a:r>
          </a:p>
        </p:txBody>
      </p:sp>
      <p:sp>
        <p:nvSpPr>
          <p:cNvPr id="4" name="Slide Number Placeholder 3"/>
          <p:cNvSpPr>
            <a:spLocks noGrp="1"/>
          </p:cNvSpPr>
          <p:nvPr>
            <p:ph type="sldNum" sz="quarter" idx="5"/>
          </p:nvPr>
        </p:nvSpPr>
        <p:spPr/>
        <p:txBody>
          <a:bodyPr/>
          <a:lstStyle/>
          <a:p>
            <a:fld id="{25720E11-AB88-1143-8F69-852C936C6DC2}" type="slidenum">
              <a:rPr lang="en-US" smtClean="0"/>
              <a:t>98</a:t>
            </a:fld>
            <a:endParaRPr lang="en-US"/>
          </a:p>
        </p:txBody>
      </p:sp>
    </p:spTree>
    <p:extLst>
      <p:ext uri="{BB962C8B-B14F-4D97-AF65-F5344CB8AC3E}">
        <p14:creationId xmlns:p14="http://schemas.microsoft.com/office/powerpoint/2010/main" val="37679951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many different modes that we can use to communicate messages in MPI:</a:t>
            </a:r>
          </a:p>
          <a:p>
            <a:r>
              <a:rPr lang="en-US" sz="1200" b="0" i="0" u="sng" kern="1200" dirty="0">
                <a:solidFill>
                  <a:schemeClr val="tx1"/>
                </a:solidFill>
                <a:effectLst/>
                <a:latin typeface="+mn-lt"/>
                <a:ea typeface="+mn-ea"/>
                <a:cs typeface="+mn-cs"/>
              </a:rPr>
              <a:t>Standard Mode</a:t>
            </a:r>
            <a:r>
              <a:rPr lang="en-US" sz="1200" b="0" i="0" kern="1200" dirty="0">
                <a:solidFill>
                  <a:schemeClr val="tx1"/>
                </a:solidFill>
                <a:effectLst/>
                <a:latin typeface="+mn-lt"/>
                <a:ea typeface="+mn-ea"/>
                <a:cs typeface="+mn-cs"/>
              </a:rPr>
              <a:t>: In this mode we initiate a send to a process but it is not always sure if the matching receive is started and no assumption should be made in the application program about whether the out-going data is buffered by MPI. If a send is buffered then the send will complete before a receive is called, if buffer space is unavailable then the message will not be buffered by MPI and a matching receive will have to be posted for the send to complete.</a:t>
            </a:r>
          </a:p>
          <a:p>
            <a:r>
              <a:rPr lang="en-US" sz="1200" b="0" i="0" u="sng" kern="1200" dirty="0">
                <a:solidFill>
                  <a:schemeClr val="tx1"/>
                </a:solidFill>
                <a:effectLst/>
                <a:latin typeface="+mn-lt"/>
                <a:ea typeface="+mn-ea"/>
                <a:cs typeface="+mn-cs"/>
              </a:rPr>
              <a:t>Buffered Mode</a:t>
            </a:r>
            <a:r>
              <a:rPr lang="en-US" sz="1200" b="0" i="0" kern="1200" dirty="0">
                <a:solidFill>
                  <a:schemeClr val="tx1"/>
                </a:solidFill>
                <a:effectLst/>
                <a:latin typeface="+mn-lt"/>
                <a:ea typeface="+mn-ea"/>
                <a:cs typeface="+mn-cs"/>
              </a:rPr>
              <a:t>: The programmer can guarantee that space is available for messages by specifying a buffer space. The programmer must do this inside of the application program, if the buffer is unavailable then the send will fail. This allows a send to complete without have to have a matching receive posted yet.</a:t>
            </a:r>
          </a:p>
          <a:p>
            <a:r>
              <a:rPr lang="en-US" sz="1200" b="0" i="0" u="sng" kern="1200" dirty="0">
                <a:solidFill>
                  <a:schemeClr val="tx1"/>
                </a:solidFill>
                <a:effectLst/>
                <a:latin typeface="+mn-lt"/>
                <a:ea typeface="+mn-ea"/>
                <a:cs typeface="+mn-cs"/>
              </a:rPr>
              <a:t>Synchronous Mode</a:t>
            </a:r>
            <a:r>
              <a:rPr lang="en-US" sz="1200" b="0" i="0" kern="1200" dirty="0">
                <a:solidFill>
                  <a:schemeClr val="tx1"/>
                </a:solidFill>
                <a:effectLst/>
                <a:latin typeface="+mn-lt"/>
                <a:ea typeface="+mn-ea"/>
                <a:cs typeface="+mn-cs"/>
              </a:rPr>
              <a:t>: A send can be posted without having a matching receive. When a receive is posted the send will not complete until the matching receive has started to receive the message that was started by the synchronous send operation.</a:t>
            </a:r>
          </a:p>
          <a:p>
            <a:r>
              <a:rPr lang="en-US" sz="1200" b="0" i="0" u="sng" kern="1200" dirty="0">
                <a:solidFill>
                  <a:schemeClr val="tx1"/>
                </a:solidFill>
                <a:effectLst/>
                <a:latin typeface="+mn-lt"/>
                <a:ea typeface="+mn-ea"/>
                <a:cs typeface="+mn-cs"/>
              </a:rPr>
              <a:t>Ready Mode</a:t>
            </a:r>
            <a:r>
              <a:rPr lang="en-US" sz="1200" b="0" i="0" kern="1200" dirty="0">
                <a:solidFill>
                  <a:schemeClr val="tx1"/>
                </a:solidFill>
                <a:effectLst/>
                <a:latin typeface="+mn-lt"/>
                <a:ea typeface="+mn-ea"/>
                <a:cs typeface="+mn-cs"/>
              </a:rPr>
              <a:t>: A ready mode send may only start is a matching receive has first been posted. This can remove the slow down of the handshake between communication and increase performance. The send will contain extra information about the receiving process.</a:t>
            </a:r>
          </a:p>
          <a:p>
            <a:r>
              <a:rPr lang="en-US" sz="1200" b="0" i="0" kern="1200" dirty="0">
                <a:solidFill>
                  <a:schemeClr val="tx1"/>
                </a:solidFill>
                <a:effectLst/>
                <a:latin typeface="+mn-lt"/>
                <a:ea typeface="+mn-ea"/>
                <a:cs typeface="+mn-cs"/>
              </a:rPr>
              <a:t>All four of these modes can be either blocking or non-blocking communications.</a:t>
            </a:r>
          </a:p>
          <a:p>
            <a:endParaRPr lang="en-US" dirty="0"/>
          </a:p>
          <a:p>
            <a:endParaRPr lang="en-US" dirty="0"/>
          </a:p>
          <a:p>
            <a:r>
              <a:rPr lang="en-US" dirty="0"/>
              <a:t>http://</a:t>
            </a:r>
            <a:r>
              <a:rPr lang="en-US" dirty="0" err="1"/>
              <a:t>www.rc.usf.edu</a:t>
            </a:r>
            <a:r>
              <a:rPr lang="en-US" dirty="0"/>
              <a:t>/tutorials/classes/tutorial/</a:t>
            </a:r>
            <a:r>
              <a:rPr lang="en-US" dirty="0" err="1"/>
              <a:t>mpi</a:t>
            </a:r>
            <a:r>
              <a:rPr lang="en-US" dirty="0"/>
              <a:t>/chapter4.html</a:t>
            </a:r>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99</a:t>
            </a:fld>
            <a:endParaRPr lang="en-US"/>
          </a:p>
        </p:txBody>
      </p:sp>
    </p:spTree>
    <p:extLst>
      <p:ext uri="{BB962C8B-B14F-4D97-AF65-F5344CB8AC3E}">
        <p14:creationId xmlns:p14="http://schemas.microsoft.com/office/powerpoint/2010/main" val="21499395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MPI-3 standard introduces “non-blocking collective calls”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25720E11-AB88-1143-8F69-852C936C6DC2}" type="slidenum">
              <a:rPr lang="en-US" smtClean="0"/>
              <a:t>102</a:t>
            </a:fld>
            <a:endParaRPr lang="en-US"/>
          </a:p>
        </p:txBody>
      </p:sp>
    </p:spTree>
    <p:extLst>
      <p:ext uri="{BB962C8B-B14F-4D97-AF65-F5344CB8AC3E}">
        <p14:creationId xmlns:p14="http://schemas.microsoft.com/office/powerpoint/2010/main" val="546086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5A891-23B5-D64C-A15C-A76A596608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B3CF5D-DC31-354B-8A03-7B8C254C23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70D1FF-C1C6-F440-9D63-5FC6E5545B20}"/>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5" name="Footer Placeholder 4">
            <a:extLst>
              <a:ext uri="{FF2B5EF4-FFF2-40B4-BE49-F238E27FC236}">
                <a16:creationId xmlns:a16="http://schemas.microsoft.com/office/drawing/2014/main" id="{9AD2E90F-756D-A64E-B7E9-F48E6B839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0C2EF-F6A4-6749-9038-CA66A2D7C093}"/>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190396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0DE6F-9B53-6F4D-989A-86ABD818CA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57DA44-32CB-4648-BFF6-CA3E0520E4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A3E3A-AD28-5243-A1A7-604B4A9BB1B6}"/>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5" name="Footer Placeholder 4">
            <a:extLst>
              <a:ext uri="{FF2B5EF4-FFF2-40B4-BE49-F238E27FC236}">
                <a16:creationId xmlns:a16="http://schemas.microsoft.com/office/drawing/2014/main" id="{4D7C2E78-9328-8743-B871-69FB7FFB3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1C40A-A963-4643-9B65-237BAF362FAA}"/>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3354698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BC65-F9E5-834A-8745-24FA3635B4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993D1B-E676-3C41-94D2-56A2B06E22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ABA325B-1530-7A42-863C-4546ED87C2DB}"/>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5" name="Footer Placeholder 4">
            <a:extLst>
              <a:ext uri="{FF2B5EF4-FFF2-40B4-BE49-F238E27FC236}">
                <a16:creationId xmlns:a16="http://schemas.microsoft.com/office/drawing/2014/main" id="{BA0EAAEB-5B42-5444-BB50-674D34918D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2006C0-94D5-CC4B-BF29-879AE345EE80}"/>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426764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138E-5116-524D-8638-412AE8EA9F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281F52-7561-E24F-95C3-CA14C08645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AA5803-3939-724A-9F36-0C62AB5E5B1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C2DEAA-C97F-0049-938B-DC9E616F076F}"/>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6" name="Footer Placeholder 5">
            <a:extLst>
              <a:ext uri="{FF2B5EF4-FFF2-40B4-BE49-F238E27FC236}">
                <a16:creationId xmlns:a16="http://schemas.microsoft.com/office/drawing/2014/main" id="{691E716A-8038-5344-8117-321094BA5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B107C6-2DD7-5C41-B678-A3BEFE51B0E3}"/>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1623643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0C32F-0C65-1243-A87D-794B965598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BD894-F702-5340-AE58-80430A5E0B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123B02A-B0FB-394A-B38E-6880689E654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2F7747-8B36-3646-AFC3-48543E4AE7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B6E7DE0-A1B1-F44D-9624-459CB499D90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1D36A4-C9BA-9C41-BB66-097473B01AEA}"/>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8" name="Footer Placeholder 7">
            <a:extLst>
              <a:ext uri="{FF2B5EF4-FFF2-40B4-BE49-F238E27FC236}">
                <a16:creationId xmlns:a16="http://schemas.microsoft.com/office/drawing/2014/main" id="{A39F8612-60B7-4449-8AAE-53AFC0EC95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78A32B-1F98-E248-82A8-1BB23F4AE22C}"/>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691285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226AE-3016-2840-8F76-7FB106E6D6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310F8F-2759-4F43-8ED5-3FF59F00F8FE}"/>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4" name="Footer Placeholder 3">
            <a:extLst>
              <a:ext uri="{FF2B5EF4-FFF2-40B4-BE49-F238E27FC236}">
                <a16:creationId xmlns:a16="http://schemas.microsoft.com/office/drawing/2014/main" id="{0F4B8EA6-FF04-0842-85FC-D2C300A249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A993BD-7A81-C24F-8574-92B643BD5DD2}"/>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3850355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FBBCC-269A-F14C-BF8E-BFB1458498D3}"/>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3" name="Footer Placeholder 2">
            <a:extLst>
              <a:ext uri="{FF2B5EF4-FFF2-40B4-BE49-F238E27FC236}">
                <a16:creationId xmlns:a16="http://schemas.microsoft.com/office/drawing/2014/main" id="{1C11D458-15B5-A24D-831D-FAF1B6E653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750EC7-94E2-0048-BF0F-42DEAFACFF81}"/>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3197898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F6FE3-C51E-3149-BE89-1EE0BC12CA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2F178E-1BA9-634F-8A5E-3D53F519FB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9B3D85-00D7-3149-962A-2A4002C5F0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303379E-110F-7F41-9363-37085B9E7AAB}"/>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6" name="Footer Placeholder 5">
            <a:extLst>
              <a:ext uri="{FF2B5EF4-FFF2-40B4-BE49-F238E27FC236}">
                <a16:creationId xmlns:a16="http://schemas.microsoft.com/office/drawing/2014/main" id="{2B17CECA-1509-9241-9EBE-4D784FA7A5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53A9F3-7785-164B-93D2-EB7D45E3ACB3}"/>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993423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3AB5-B5A4-6A4C-8559-84F7A2846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E5EE9E-9E9A-8548-902A-48AC651BBB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3C053E-D138-BD40-B8D8-A34F450D6A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7E64C6-4776-BF47-A1C4-16BB1164FDF5}"/>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6" name="Footer Placeholder 5">
            <a:extLst>
              <a:ext uri="{FF2B5EF4-FFF2-40B4-BE49-F238E27FC236}">
                <a16:creationId xmlns:a16="http://schemas.microsoft.com/office/drawing/2014/main" id="{EC7A71F1-F840-7B46-A379-23EE98B8E8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F387CE-D880-4444-B4BD-55D2D6C9A0A9}"/>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709966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FA48-5EF7-2B4A-8BD8-5C35AC9C8D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3111E2-F4B0-4A40-8429-0136CB89489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CB07CE-49AD-C140-802F-A97CA8AF83AD}"/>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5" name="Footer Placeholder 4">
            <a:extLst>
              <a:ext uri="{FF2B5EF4-FFF2-40B4-BE49-F238E27FC236}">
                <a16:creationId xmlns:a16="http://schemas.microsoft.com/office/drawing/2014/main" id="{57E83A3E-9B58-BF41-8153-A7A9DE007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768CB-626B-FA49-8E35-0F97F512FACB}"/>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2466640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0F51D-6F51-6D4E-A168-47B8025E7E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B4C329-1737-FE45-9EFE-34A97C87CC2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62D726-E49A-F448-ACF0-C23206B83BA0}"/>
              </a:ext>
            </a:extLst>
          </p:cNvPr>
          <p:cNvSpPr>
            <a:spLocks noGrp="1"/>
          </p:cNvSpPr>
          <p:nvPr>
            <p:ph type="dt" sz="half" idx="10"/>
          </p:nvPr>
        </p:nvSpPr>
        <p:spPr/>
        <p:txBody>
          <a:bodyPr/>
          <a:lstStyle/>
          <a:p>
            <a:fld id="{6F050C9E-0DCA-434C-AFF1-6C6F1467D6C5}" type="datetimeFigureOut">
              <a:rPr lang="en-US" smtClean="0"/>
              <a:t>12/28/25</a:t>
            </a:fld>
            <a:endParaRPr lang="en-US"/>
          </a:p>
        </p:txBody>
      </p:sp>
      <p:sp>
        <p:nvSpPr>
          <p:cNvPr id="5" name="Footer Placeholder 4">
            <a:extLst>
              <a:ext uri="{FF2B5EF4-FFF2-40B4-BE49-F238E27FC236}">
                <a16:creationId xmlns:a16="http://schemas.microsoft.com/office/drawing/2014/main" id="{9A223DAE-BD20-D948-BF6C-CDF6F00C44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C3135-C6ED-0849-9C47-99B30FECAF27}"/>
              </a:ext>
            </a:extLst>
          </p:cNvPr>
          <p:cNvSpPr>
            <a:spLocks noGrp="1"/>
          </p:cNvSpPr>
          <p:nvPr>
            <p:ph type="sldNum" sz="quarter" idx="12"/>
          </p:nvPr>
        </p:nvSpPr>
        <p:spPr/>
        <p:txBody>
          <a:bodyPr/>
          <a:lstStyle/>
          <a:p>
            <a:fld id="{26D32C15-9B0E-5C4A-91E2-EB456E9DFF59}" type="slidenum">
              <a:rPr lang="en-US" smtClean="0"/>
              <a:t>‹#›</a:t>
            </a:fld>
            <a:endParaRPr lang="en-US"/>
          </a:p>
        </p:txBody>
      </p:sp>
    </p:spTree>
    <p:extLst>
      <p:ext uri="{BB962C8B-B14F-4D97-AF65-F5344CB8AC3E}">
        <p14:creationId xmlns:p14="http://schemas.microsoft.com/office/powerpoint/2010/main" val="3700807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ECC88-B324-E343-A800-FF9CC99B07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F3C336-726B-324D-A45C-2E431C41BE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19CB4-C1A5-8D43-B99C-BDC138D386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050C9E-0DCA-434C-AFF1-6C6F1467D6C5}" type="datetimeFigureOut">
              <a:rPr lang="en-US" smtClean="0"/>
              <a:t>12/28/25</a:t>
            </a:fld>
            <a:endParaRPr lang="en-US"/>
          </a:p>
        </p:txBody>
      </p:sp>
      <p:sp>
        <p:nvSpPr>
          <p:cNvPr id="5" name="Footer Placeholder 4">
            <a:extLst>
              <a:ext uri="{FF2B5EF4-FFF2-40B4-BE49-F238E27FC236}">
                <a16:creationId xmlns:a16="http://schemas.microsoft.com/office/drawing/2014/main" id="{87640F1F-0459-384B-BD66-7A441E6656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8C5D00-57EC-E64F-826E-9B432633F4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32C15-9B0E-5C4A-91E2-EB456E9DFF59}" type="slidenum">
              <a:rPr lang="en-US" smtClean="0"/>
              <a:t>‹#›</a:t>
            </a:fld>
            <a:endParaRPr lang="en-US"/>
          </a:p>
        </p:txBody>
      </p:sp>
    </p:spTree>
    <p:extLst>
      <p:ext uri="{BB962C8B-B14F-4D97-AF65-F5344CB8AC3E}">
        <p14:creationId xmlns:p14="http://schemas.microsoft.com/office/powerpoint/2010/main" val="3176379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omerbr@tauex.tau.ac.i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www.onlinegdb.com/?utm_source=chatgpt.com" TargetMode="External"/><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0.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hyperlink" Target="https://www.onlinegdb.com/?utm_source=chatgpt.com" TargetMode="External"/><Relationship Id="rId2" Type="http://schemas.openxmlformats.org/officeDocument/2006/relationships/image" Target="../media/image290.png"/><Relationship Id="rId1" Type="http://schemas.openxmlformats.org/officeDocument/2006/relationships/slideLayout" Target="../slideLayouts/slideLayout6.xml"/><Relationship Id="rId6" Type="http://schemas.openxmlformats.org/officeDocument/2006/relationships/hyperlink" Target="https://www.codingame.com/playgrounds/54443/openmp/playground" TargetMode="External"/><Relationship Id="rId5" Type="http://schemas.openxmlformats.org/officeDocument/2006/relationships/image" Target="../media/image32.png"/><Relationship Id="rId4" Type="http://schemas.openxmlformats.org/officeDocument/2006/relationships/image" Target="../media/image3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mcs.anl.gov/petsc/"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https://www.codingame.com/playgrounds/349/introduction-to-mpi/hello-world"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8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www.codingame.com/playgrounds/47058/have-fun-with-mpi-in-c/take-the-first-steps-hello-world"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www.codingame.com/playgrounds/47058/have-fun-with-mpi-in-c/take-the-first-steps-hello-world"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learn.microsoft.com/en-us/message-passing-interface/microsoft-mpi" TargetMode="External"/><Relationship Id="rId2" Type="http://schemas.openxmlformats.org/officeDocument/2006/relationships/hyperlink" Target="http://www-unix.mcs.anl.gov/mpi/mpich"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52.png"/><Relationship Id="rId4" Type="http://schemas.openxmlformats.org/officeDocument/2006/relationships/hyperlink" Target="https://www.codingame.com/playgrounds/47058/have-fun-with-mpi-in-c/take-the-first-steps-hello-world"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58E5-5119-B340-906E-D4B427C9DC93}"/>
              </a:ext>
            </a:extLst>
          </p:cNvPr>
          <p:cNvSpPr>
            <a:spLocks noGrp="1"/>
          </p:cNvSpPr>
          <p:nvPr>
            <p:ph type="ctrTitle"/>
          </p:nvPr>
        </p:nvSpPr>
        <p:spPr/>
        <p:txBody>
          <a:bodyPr>
            <a:normAutofit fontScale="90000"/>
          </a:bodyPr>
          <a:lstStyle/>
          <a:p>
            <a:r>
              <a:rPr lang="en-US" dirty="0"/>
              <a:t>Lecture 12 – Introduction to parallel computation,             MPI &amp; OpenMP</a:t>
            </a:r>
          </a:p>
        </p:txBody>
      </p:sp>
      <p:sp>
        <p:nvSpPr>
          <p:cNvPr id="3" name="Subtitle 2">
            <a:extLst>
              <a:ext uri="{FF2B5EF4-FFF2-40B4-BE49-F238E27FC236}">
                <a16:creationId xmlns:a16="http://schemas.microsoft.com/office/drawing/2014/main" id="{131FC7CF-2073-4F44-B4C9-2AC04460E535}"/>
              </a:ext>
            </a:extLst>
          </p:cNvPr>
          <p:cNvSpPr>
            <a:spLocks noGrp="1"/>
          </p:cNvSpPr>
          <p:nvPr>
            <p:ph type="subTitle" idx="1"/>
          </p:nvPr>
        </p:nvSpPr>
        <p:spPr/>
        <p:txBody>
          <a:bodyPr>
            <a:normAutofit lnSpcReduction="10000"/>
          </a:bodyPr>
          <a:lstStyle/>
          <a:p>
            <a:r>
              <a:rPr lang="en-US" dirty="0"/>
              <a:t>Omer Bromberg</a:t>
            </a:r>
          </a:p>
          <a:p>
            <a:r>
              <a:rPr lang="en-US" dirty="0">
                <a:hlinkClick r:id="rId2"/>
              </a:rPr>
              <a:t>omerbr@tauex.tau.ac.il</a:t>
            </a:r>
            <a:endParaRPr lang="en-US" dirty="0"/>
          </a:p>
          <a:p>
            <a:endParaRPr lang="en-US" dirty="0"/>
          </a:p>
          <a:p>
            <a:r>
              <a:rPr lang="en-US" dirty="0"/>
              <a:t>Winter </a:t>
            </a:r>
            <a:r>
              <a:rPr lang="en-US" u="sng" dirty="0"/>
              <a:t>2025/6</a:t>
            </a:r>
          </a:p>
        </p:txBody>
      </p:sp>
    </p:spTree>
    <p:extLst>
      <p:ext uri="{BB962C8B-B14F-4D97-AF65-F5344CB8AC3E}">
        <p14:creationId xmlns:p14="http://schemas.microsoft.com/office/powerpoint/2010/main" val="978896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6AB66-C651-BA41-9B80-5C5F4D6DF1F7}"/>
              </a:ext>
            </a:extLst>
          </p:cNvPr>
          <p:cNvSpPr>
            <a:spLocks noGrp="1"/>
          </p:cNvSpPr>
          <p:nvPr>
            <p:ph type="title"/>
          </p:nvPr>
        </p:nvSpPr>
        <p:spPr/>
        <p:txBody>
          <a:bodyPr/>
          <a:lstStyle/>
          <a:p>
            <a:r>
              <a:rPr lang="en-US" dirty="0"/>
              <a:t>Why parallelize? </a:t>
            </a:r>
          </a:p>
        </p:txBody>
      </p:sp>
      <p:sp>
        <p:nvSpPr>
          <p:cNvPr id="3" name="Content Placeholder 2">
            <a:extLst>
              <a:ext uri="{FF2B5EF4-FFF2-40B4-BE49-F238E27FC236}">
                <a16:creationId xmlns:a16="http://schemas.microsoft.com/office/drawing/2014/main" id="{EFE8E04E-C75D-5740-B916-FCC1CDFEB801}"/>
              </a:ext>
            </a:extLst>
          </p:cNvPr>
          <p:cNvSpPr>
            <a:spLocks noGrp="1"/>
          </p:cNvSpPr>
          <p:nvPr>
            <p:ph idx="1"/>
          </p:nvPr>
        </p:nvSpPr>
        <p:spPr>
          <a:xfrm>
            <a:off x="838199" y="1825625"/>
            <a:ext cx="10850217" cy="4351338"/>
          </a:xfrm>
        </p:spPr>
        <p:txBody>
          <a:bodyPr>
            <a:noAutofit/>
          </a:bodyPr>
          <a:lstStyle/>
          <a:p>
            <a:r>
              <a:rPr lang="en-US" dirty="0">
                <a:latin typeface="Arial" charset="0"/>
              </a:rPr>
              <a:t>Data parallelism</a:t>
            </a:r>
          </a:p>
          <a:p>
            <a:pPr lvl="1"/>
            <a:r>
              <a:rPr lang="en-US" sz="2800" dirty="0">
                <a:latin typeface="Arial" charset="0"/>
              </a:rPr>
              <a:t>Partition the data used in solving the problem among the cores.</a:t>
            </a:r>
          </a:p>
          <a:p>
            <a:pPr lvl="1"/>
            <a:r>
              <a:rPr lang="en-US" sz="2800" dirty="0">
                <a:latin typeface="Arial" charset="0"/>
              </a:rPr>
              <a:t>Each core carries out similar operations on it</a:t>
            </a:r>
            <a:r>
              <a:rPr lang="ja-JP" altLang="en-US" sz="2800">
                <a:latin typeface="Arial" charset="0"/>
              </a:rPr>
              <a:t>’</a:t>
            </a:r>
            <a:r>
              <a:rPr lang="en-US" sz="2800" dirty="0">
                <a:latin typeface="Arial" charset="0"/>
              </a:rPr>
              <a:t>s part of the data.</a:t>
            </a:r>
          </a:p>
          <a:p>
            <a:r>
              <a:rPr lang="en-US" dirty="0">
                <a:latin typeface="Arial" charset="0"/>
              </a:rPr>
              <a:t>Task parallelism </a:t>
            </a:r>
          </a:p>
          <a:p>
            <a:pPr lvl="1"/>
            <a:r>
              <a:rPr lang="en-US" sz="2800" dirty="0">
                <a:latin typeface="Arial" charset="0"/>
              </a:rPr>
              <a:t>Partition various tasks carried out solving the problem among the cores.</a:t>
            </a:r>
            <a:br>
              <a:rPr lang="en-US" sz="2800" dirty="0">
                <a:latin typeface="Arial" charset="0"/>
              </a:rPr>
            </a:br>
            <a:endParaRPr lang="en-US" sz="2800" dirty="0"/>
          </a:p>
        </p:txBody>
      </p:sp>
    </p:spTree>
    <p:extLst>
      <p:ext uri="{BB962C8B-B14F-4D97-AF65-F5344CB8AC3E}">
        <p14:creationId xmlns:p14="http://schemas.microsoft.com/office/powerpoint/2010/main" val="318298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r>
              <a:rPr lang="en-US" dirty="0">
                <a:latin typeface="Arial" charset="0"/>
              </a:rPr>
              <a:t>Example 1: Grading </a:t>
            </a:r>
          </a:p>
        </p:txBody>
      </p:sp>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50179" name="Picture 2" descr="C:\Documents and Settings\liszka\Local Settings\Temporary Internet Files\Content.IE5\1G3WK4XC\MP90042259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587" y="1487488"/>
            <a:ext cx="3248025" cy="48688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0180" name="Picture 3" descr="C:\Documents and Settings\liszka\Local Settings\Temporary Internet Files\Content.IE5\Q7HGDQRM\MC900024275[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4292600"/>
            <a:ext cx="1946275" cy="1155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extBox 5"/>
          <p:cNvSpPr txBox="1"/>
          <p:nvPr/>
        </p:nvSpPr>
        <p:spPr>
          <a:xfrm>
            <a:off x="3719513" y="2565401"/>
            <a:ext cx="1369670" cy="701731"/>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latin typeface="+mj-lt"/>
              </a:rPr>
              <a:t>15 questions</a:t>
            </a:r>
          </a:p>
          <a:p>
            <a:pPr>
              <a:spcBef>
                <a:spcPct val="20000"/>
              </a:spcBef>
              <a:buClr>
                <a:schemeClr val="tx1"/>
              </a:buClr>
              <a:buSzPct val="60000"/>
              <a:buFont typeface="Wingdings" pitchFamily="2" charset="2"/>
              <a:buNone/>
              <a:defRPr/>
            </a:pPr>
            <a:r>
              <a:rPr lang="en-US" dirty="0">
                <a:latin typeface="+mj-lt"/>
              </a:rPr>
              <a:t>300 exams</a:t>
            </a:r>
          </a:p>
        </p:txBody>
      </p:sp>
      <p:sp>
        <p:nvSpPr>
          <p:cNvPr id="2" name="Slide Number Placeholder 1"/>
          <p:cNvSpPr>
            <a:spLocks noGrp="1"/>
          </p:cNvSpPr>
          <p:nvPr>
            <p:ph type="sldNum" sz="quarter" idx="12"/>
          </p:nvPr>
        </p:nvSpPr>
        <p:spPr/>
        <p:txBody>
          <a:bodyPr/>
          <a:lstStyle/>
          <a:p>
            <a:fld id="{E36BE44D-6AB7-7747-A5B3-8E5957F8FC9E}" type="slidenum">
              <a:rPr lang="en-US" smtClean="0"/>
              <a:t>3</a:t>
            </a:fld>
            <a:endParaRPr lang="en-US"/>
          </a:p>
        </p:txBody>
      </p:sp>
    </p:spTree>
    <p:extLst>
      <p:ext uri="{BB962C8B-B14F-4D97-AF65-F5344CB8AC3E}">
        <p14:creationId xmlns:p14="http://schemas.microsoft.com/office/powerpoint/2010/main" val="2676991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normAutofit/>
          </a:bodyPr>
          <a:lstStyle/>
          <a:p>
            <a:r>
              <a:rPr lang="en-US" dirty="0">
                <a:latin typeface="Arial" charset="0"/>
              </a:rPr>
              <a:t>Three teaching assistants</a:t>
            </a:r>
          </a:p>
        </p:txBody>
      </p:sp>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51203" name="Picture 4" descr="C:\Documents and Settings\liszka\Local Settings\Temporary Internet Files\Content.IE5\1G3WK4XC\MP90043956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874932"/>
            <a:ext cx="6400800" cy="4273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TextBox 7"/>
          <p:cNvSpPr txBox="1"/>
          <p:nvPr/>
        </p:nvSpPr>
        <p:spPr>
          <a:xfrm>
            <a:off x="3503613" y="5235670"/>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TA#1</a:t>
            </a:r>
          </a:p>
        </p:txBody>
      </p:sp>
      <p:sp>
        <p:nvSpPr>
          <p:cNvPr id="9" name="TextBox 8"/>
          <p:cNvSpPr txBox="1"/>
          <p:nvPr/>
        </p:nvSpPr>
        <p:spPr>
          <a:xfrm>
            <a:off x="5519738" y="5451570"/>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TA#2</a:t>
            </a:r>
          </a:p>
        </p:txBody>
      </p:sp>
      <p:sp>
        <p:nvSpPr>
          <p:cNvPr id="10" name="TextBox 9"/>
          <p:cNvSpPr txBox="1"/>
          <p:nvPr/>
        </p:nvSpPr>
        <p:spPr>
          <a:xfrm>
            <a:off x="7391400" y="5380132"/>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TA#3</a:t>
            </a:r>
          </a:p>
        </p:txBody>
      </p:sp>
      <p:sp>
        <p:nvSpPr>
          <p:cNvPr id="2" name="Slide Number Placeholder 1"/>
          <p:cNvSpPr>
            <a:spLocks noGrp="1"/>
          </p:cNvSpPr>
          <p:nvPr>
            <p:ph type="sldNum" sz="quarter" idx="12"/>
          </p:nvPr>
        </p:nvSpPr>
        <p:spPr/>
        <p:txBody>
          <a:bodyPr/>
          <a:lstStyle/>
          <a:p>
            <a:fld id="{E36BE44D-6AB7-7747-A5B3-8E5957F8FC9E}" type="slidenum">
              <a:rPr lang="en-US" smtClean="0"/>
              <a:t>4</a:t>
            </a:fld>
            <a:endParaRPr lang="en-US"/>
          </a:p>
        </p:txBody>
      </p:sp>
    </p:spTree>
    <p:extLst>
      <p:ext uri="{BB962C8B-B14F-4D97-AF65-F5344CB8AC3E}">
        <p14:creationId xmlns:p14="http://schemas.microsoft.com/office/powerpoint/2010/main" val="455998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1397001" y="1"/>
            <a:ext cx="9020176" cy="1323975"/>
          </a:xfrm>
        </p:spPr>
        <p:txBody>
          <a:bodyPr>
            <a:normAutofit/>
          </a:bodyPr>
          <a:lstStyle/>
          <a:p>
            <a:r>
              <a:rPr lang="en-US" dirty="0">
                <a:latin typeface="Arial" charset="0"/>
              </a:rPr>
              <a:t>Division of work –  data parallelism</a:t>
            </a:r>
          </a:p>
        </p:txBody>
      </p:sp>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52227" name="Picture 2" descr="C:\Documents and Settings\liszka\Local Settings\Temporary Internet Files\Content.IE5\Q7HGDQRM\MC900024275[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1" y="3086100"/>
            <a:ext cx="1947863" cy="1155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4"/>
          <p:cNvSpPr txBox="1"/>
          <p:nvPr/>
        </p:nvSpPr>
        <p:spPr>
          <a:xfrm>
            <a:off x="2424113" y="2725738"/>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TA#1</a:t>
            </a:r>
          </a:p>
        </p:txBody>
      </p:sp>
      <p:sp>
        <p:nvSpPr>
          <p:cNvPr id="6" name="TextBox 5"/>
          <p:cNvSpPr txBox="1"/>
          <p:nvPr/>
        </p:nvSpPr>
        <p:spPr>
          <a:xfrm>
            <a:off x="6959600" y="5318125"/>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TA#2</a:t>
            </a:r>
          </a:p>
        </p:txBody>
      </p:sp>
      <p:sp>
        <p:nvSpPr>
          <p:cNvPr id="7" name="TextBox 6"/>
          <p:cNvSpPr txBox="1"/>
          <p:nvPr/>
        </p:nvSpPr>
        <p:spPr>
          <a:xfrm>
            <a:off x="8759825" y="3157538"/>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TA#3</a:t>
            </a:r>
          </a:p>
        </p:txBody>
      </p:sp>
      <p:pic>
        <p:nvPicPr>
          <p:cNvPr id="52231" name="Picture 2" descr="C:\Documents and Settings\liszka\Local Settings\Temporary Internet Files\Content.IE5\Q7HGDQRM\MC900024275[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376" y="4597400"/>
            <a:ext cx="1947863" cy="1155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2232" name="Picture 2" descr="C:\Documents and Settings\liszka\Local Settings\Temporary Internet Files\Content.IE5\Q7HGDQRM\MC900024275[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626" y="2365375"/>
            <a:ext cx="1947863" cy="1155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Box 9"/>
          <p:cNvSpPr txBox="1"/>
          <p:nvPr/>
        </p:nvSpPr>
        <p:spPr>
          <a:xfrm>
            <a:off x="2711451" y="4165600"/>
            <a:ext cx="1280351"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latin typeface="+mj-lt"/>
              </a:rPr>
              <a:t>100 exams</a:t>
            </a:r>
          </a:p>
        </p:txBody>
      </p:sp>
      <p:sp>
        <p:nvSpPr>
          <p:cNvPr id="11" name="TextBox 10"/>
          <p:cNvSpPr txBox="1"/>
          <p:nvPr/>
        </p:nvSpPr>
        <p:spPr>
          <a:xfrm>
            <a:off x="6672264" y="3444875"/>
            <a:ext cx="1280351"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latin typeface="+mj-lt"/>
              </a:rPr>
              <a:t>100 exams</a:t>
            </a:r>
          </a:p>
        </p:txBody>
      </p:sp>
      <p:sp>
        <p:nvSpPr>
          <p:cNvPr id="12" name="TextBox 11"/>
          <p:cNvSpPr txBox="1"/>
          <p:nvPr/>
        </p:nvSpPr>
        <p:spPr>
          <a:xfrm>
            <a:off x="4511676" y="5605463"/>
            <a:ext cx="1280351"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latin typeface="+mj-lt"/>
              </a:rPr>
              <a:t>100 exams</a:t>
            </a:r>
          </a:p>
        </p:txBody>
      </p:sp>
      <p:sp>
        <p:nvSpPr>
          <p:cNvPr id="4" name="Rectangle 3">
            <a:extLst>
              <a:ext uri="{FF2B5EF4-FFF2-40B4-BE49-F238E27FC236}">
                <a16:creationId xmlns:a16="http://schemas.microsoft.com/office/drawing/2014/main" id="{FF5408D0-9F97-DC41-9363-9231A3FD8C9F}"/>
              </a:ext>
            </a:extLst>
          </p:cNvPr>
          <p:cNvSpPr/>
          <p:nvPr/>
        </p:nvSpPr>
        <p:spPr>
          <a:xfrm>
            <a:off x="1203738" y="1250117"/>
            <a:ext cx="8816561" cy="1077218"/>
          </a:xfrm>
          <a:prstGeom prst="rect">
            <a:avLst/>
          </a:prstGeom>
        </p:spPr>
        <p:txBody>
          <a:bodyPr wrap="square">
            <a:spAutoFit/>
          </a:bodyPr>
          <a:lstStyle/>
          <a:p>
            <a:pPr marL="457200" indent="-457200">
              <a:buFont typeface="Arial" panose="020B0604020202020204" pitchFamily="34" charset="0"/>
              <a:buChar char="•"/>
            </a:pPr>
            <a:r>
              <a:rPr lang="en-US" sz="3200" dirty="0">
                <a:latin typeface="Calibri" panose="020F0502020204030204" pitchFamily="34" charset="0"/>
              </a:rPr>
              <a:t>Each does the same type of work (task), but working on different sheet (data) </a:t>
            </a:r>
            <a:endParaRPr lang="en-US" sz="3200" dirty="0"/>
          </a:p>
        </p:txBody>
      </p:sp>
    </p:spTree>
    <p:extLst>
      <p:ext uri="{BB962C8B-B14F-4D97-AF65-F5344CB8AC3E}">
        <p14:creationId xmlns:p14="http://schemas.microsoft.com/office/powerpoint/2010/main" val="307877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
        <p:nvSpPr>
          <p:cNvPr id="5" name="TextBox 4"/>
          <p:cNvSpPr txBox="1"/>
          <p:nvPr/>
        </p:nvSpPr>
        <p:spPr>
          <a:xfrm>
            <a:off x="2424113" y="2738438"/>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TA#1</a:t>
            </a:r>
          </a:p>
        </p:txBody>
      </p:sp>
      <p:sp>
        <p:nvSpPr>
          <p:cNvPr id="6" name="TextBox 5"/>
          <p:cNvSpPr txBox="1"/>
          <p:nvPr/>
        </p:nvSpPr>
        <p:spPr>
          <a:xfrm>
            <a:off x="6959600" y="5330825"/>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TA#2</a:t>
            </a:r>
          </a:p>
        </p:txBody>
      </p:sp>
      <p:sp>
        <p:nvSpPr>
          <p:cNvPr id="7" name="TextBox 6"/>
          <p:cNvSpPr txBox="1"/>
          <p:nvPr/>
        </p:nvSpPr>
        <p:spPr>
          <a:xfrm>
            <a:off x="8759825" y="3170238"/>
            <a:ext cx="641138" cy="369332"/>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dirty="0">
                <a:solidFill>
                  <a:srgbClr val="0066FF"/>
                </a:solidFill>
                <a:latin typeface="+mj-lt"/>
              </a:rPr>
              <a:t>TA#3</a:t>
            </a:r>
          </a:p>
        </p:txBody>
      </p:sp>
      <p:sp>
        <p:nvSpPr>
          <p:cNvPr id="10" name="TextBox 9"/>
          <p:cNvSpPr txBox="1"/>
          <p:nvPr/>
        </p:nvSpPr>
        <p:spPr>
          <a:xfrm>
            <a:off x="2711450" y="4178300"/>
            <a:ext cx="1746376"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00B050"/>
                </a:solidFill>
                <a:latin typeface="+mj-lt"/>
              </a:rPr>
              <a:t>Questions 1 - 5</a:t>
            </a:r>
          </a:p>
        </p:txBody>
      </p:sp>
      <p:sp>
        <p:nvSpPr>
          <p:cNvPr id="13" name="TextBox 12"/>
          <p:cNvSpPr txBox="1"/>
          <p:nvPr/>
        </p:nvSpPr>
        <p:spPr>
          <a:xfrm>
            <a:off x="4656139" y="5691188"/>
            <a:ext cx="1876219"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00B050"/>
                </a:solidFill>
                <a:latin typeface="+mj-lt"/>
              </a:rPr>
              <a:t>Questions 6 - 10</a:t>
            </a:r>
          </a:p>
        </p:txBody>
      </p:sp>
      <p:sp>
        <p:nvSpPr>
          <p:cNvPr id="14" name="TextBox 13"/>
          <p:cNvSpPr txBox="1"/>
          <p:nvPr/>
        </p:nvSpPr>
        <p:spPr>
          <a:xfrm>
            <a:off x="6600825" y="3746500"/>
            <a:ext cx="2006062"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00B050"/>
                </a:solidFill>
                <a:latin typeface="+mj-lt"/>
              </a:rPr>
              <a:t>Questions 11 - 15</a:t>
            </a:r>
          </a:p>
        </p:txBody>
      </p:sp>
      <p:pic>
        <p:nvPicPr>
          <p:cNvPr id="53257" name="Picture 2" descr="C:\Documents and Settings\liszka\Local Settings\Temporary Internet Files\Content.IE5\1G3WK4XC\MC900310998[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513" y="2665413"/>
            <a:ext cx="1306512" cy="127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3258" name="Picture 2" descr="C:\Documents and Settings\liszka\Local Settings\Temporary Internet Files\Content.IE5\1G3WK4XC\MC900310998[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7938" y="4322763"/>
            <a:ext cx="1306512" cy="1268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3259" name="Picture 2" descr="C:\Documents and Settings\liszka\Local Settings\Temporary Internet Files\Content.IE5\1G3WK4XC\MC900310998[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5501" y="2378075"/>
            <a:ext cx="1306513" cy="127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 name="TextBox 14"/>
          <p:cNvSpPr txBox="1"/>
          <p:nvPr/>
        </p:nvSpPr>
        <p:spPr>
          <a:xfrm>
            <a:off x="2711450" y="4591020"/>
            <a:ext cx="1746376"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FF0000"/>
                </a:solidFill>
                <a:latin typeface="+mj-lt"/>
              </a:rPr>
              <a:t>Questions 1 - 7</a:t>
            </a:r>
          </a:p>
        </p:txBody>
      </p:sp>
      <p:sp>
        <p:nvSpPr>
          <p:cNvPr id="16" name="TextBox 15"/>
          <p:cNvSpPr txBox="1"/>
          <p:nvPr/>
        </p:nvSpPr>
        <p:spPr>
          <a:xfrm>
            <a:off x="4691370" y="6171102"/>
            <a:ext cx="1876219"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FF0000"/>
                </a:solidFill>
                <a:latin typeface="+mj-lt"/>
              </a:rPr>
              <a:t>Questions 8 - 11</a:t>
            </a:r>
          </a:p>
        </p:txBody>
      </p:sp>
      <p:sp>
        <p:nvSpPr>
          <p:cNvPr id="17" name="TextBox 16"/>
          <p:cNvSpPr txBox="1"/>
          <p:nvPr/>
        </p:nvSpPr>
        <p:spPr>
          <a:xfrm>
            <a:off x="6653149" y="4122708"/>
            <a:ext cx="2006062" cy="400110"/>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FF0000"/>
                </a:solidFill>
                <a:latin typeface="+mj-lt"/>
              </a:rPr>
              <a:t>Questions 12 - 15</a:t>
            </a:r>
          </a:p>
        </p:txBody>
      </p:sp>
      <p:sp>
        <p:nvSpPr>
          <p:cNvPr id="2" name="TextBox 1"/>
          <p:cNvSpPr txBox="1"/>
          <p:nvPr/>
        </p:nvSpPr>
        <p:spPr>
          <a:xfrm>
            <a:off x="9400963" y="5493994"/>
            <a:ext cx="2574936" cy="1107996"/>
          </a:xfrm>
          <a:prstGeom prst="rect">
            <a:avLst/>
          </a:prstGeom>
          <a:noFill/>
        </p:spPr>
        <p:txBody>
          <a:bodyPr wrap="none" rtlCol="0">
            <a:spAutoFit/>
          </a:bodyPr>
          <a:lstStyle/>
          <a:p>
            <a:r>
              <a:rPr lang="en-US" sz="2200" dirty="0"/>
              <a:t>Partitioning strategy:</a:t>
            </a:r>
          </a:p>
          <a:p>
            <a:r>
              <a:rPr lang="en-US" sz="2200" dirty="0"/>
              <a:t>- either by </a:t>
            </a:r>
            <a:r>
              <a:rPr lang="en-US" sz="2200" dirty="0">
                <a:solidFill>
                  <a:srgbClr val="00B050"/>
                </a:solidFill>
              </a:rPr>
              <a:t>number</a:t>
            </a:r>
          </a:p>
          <a:p>
            <a:r>
              <a:rPr lang="en-US" sz="2200" dirty="0"/>
              <a:t>- or by </a:t>
            </a:r>
            <a:r>
              <a:rPr lang="en-US" sz="2200" dirty="0">
                <a:solidFill>
                  <a:srgbClr val="FF0000"/>
                </a:solidFill>
              </a:rPr>
              <a:t>workload</a:t>
            </a:r>
            <a:r>
              <a:rPr lang="en-US" sz="2200" dirty="0"/>
              <a:t> </a:t>
            </a:r>
          </a:p>
        </p:txBody>
      </p:sp>
      <p:sp>
        <p:nvSpPr>
          <p:cNvPr id="4" name="TextBox 3"/>
          <p:cNvSpPr txBox="1"/>
          <p:nvPr/>
        </p:nvSpPr>
        <p:spPr>
          <a:xfrm>
            <a:off x="2262554" y="4522818"/>
            <a:ext cx="386644" cy="369332"/>
          </a:xfrm>
          <a:prstGeom prst="rect">
            <a:avLst/>
          </a:prstGeom>
          <a:noFill/>
        </p:spPr>
        <p:txBody>
          <a:bodyPr wrap="none" rtlCol="0">
            <a:spAutoFit/>
          </a:bodyPr>
          <a:lstStyle/>
          <a:p>
            <a:r>
              <a:rPr lang="en-US" dirty="0"/>
              <a:t>or</a:t>
            </a:r>
          </a:p>
        </p:txBody>
      </p:sp>
      <p:sp>
        <p:nvSpPr>
          <p:cNvPr id="19" name="TextBox 18"/>
          <p:cNvSpPr txBox="1"/>
          <p:nvPr/>
        </p:nvSpPr>
        <p:spPr>
          <a:xfrm>
            <a:off x="4214510" y="5986436"/>
            <a:ext cx="386644" cy="369332"/>
          </a:xfrm>
          <a:prstGeom prst="rect">
            <a:avLst/>
          </a:prstGeom>
          <a:noFill/>
        </p:spPr>
        <p:txBody>
          <a:bodyPr wrap="none" rtlCol="0">
            <a:spAutoFit/>
          </a:bodyPr>
          <a:lstStyle/>
          <a:p>
            <a:r>
              <a:rPr lang="en-US"/>
              <a:t>or</a:t>
            </a:r>
          </a:p>
        </p:txBody>
      </p:sp>
      <p:sp>
        <p:nvSpPr>
          <p:cNvPr id="20" name="TextBox 19"/>
          <p:cNvSpPr txBox="1"/>
          <p:nvPr/>
        </p:nvSpPr>
        <p:spPr>
          <a:xfrm>
            <a:off x="6266505" y="4028435"/>
            <a:ext cx="386644" cy="369332"/>
          </a:xfrm>
          <a:prstGeom prst="rect">
            <a:avLst/>
          </a:prstGeom>
          <a:noFill/>
        </p:spPr>
        <p:txBody>
          <a:bodyPr wrap="none" rtlCol="0">
            <a:spAutoFit/>
          </a:bodyPr>
          <a:lstStyle/>
          <a:p>
            <a:r>
              <a:rPr lang="en-US"/>
              <a:t>or</a:t>
            </a:r>
          </a:p>
        </p:txBody>
      </p:sp>
      <p:sp>
        <p:nvSpPr>
          <p:cNvPr id="21" name="Title 1">
            <a:extLst>
              <a:ext uri="{FF2B5EF4-FFF2-40B4-BE49-F238E27FC236}">
                <a16:creationId xmlns:a16="http://schemas.microsoft.com/office/drawing/2014/main" id="{DC39D92A-4ACA-5A48-9E47-04159408744B}"/>
              </a:ext>
            </a:extLst>
          </p:cNvPr>
          <p:cNvSpPr txBox="1">
            <a:spLocks/>
          </p:cNvSpPr>
          <p:nvPr/>
        </p:nvSpPr>
        <p:spPr>
          <a:xfrm>
            <a:off x="1397001" y="1"/>
            <a:ext cx="9020176" cy="1323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charset="0"/>
              </a:rPr>
              <a:t>Division of work –  task parallelism</a:t>
            </a:r>
          </a:p>
        </p:txBody>
      </p:sp>
      <p:sp>
        <p:nvSpPr>
          <p:cNvPr id="24" name="Rectangle 23">
            <a:extLst>
              <a:ext uri="{FF2B5EF4-FFF2-40B4-BE49-F238E27FC236}">
                <a16:creationId xmlns:a16="http://schemas.microsoft.com/office/drawing/2014/main" id="{FC561D10-DAEC-4447-89E0-56D8A1A40BC7}"/>
              </a:ext>
            </a:extLst>
          </p:cNvPr>
          <p:cNvSpPr/>
          <p:nvPr/>
        </p:nvSpPr>
        <p:spPr>
          <a:xfrm>
            <a:off x="1203738" y="1250117"/>
            <a:ext cx="8816561" cy="1077218"/>
          </a:xfrm>
          <a:prstGeom prst="rect">
            <a:avLst/>
          </a:prstGeom>
        </p:spPr>
        <p:txBody>
          <a:bodyPr wrap="square">
            <a:spAutoFit/>
          </a:bodyPr>
          <a:lstStyle/>
          <a:p>
            <a:pPr marL="457200" indent="-457200">
              <a:buFont typeface="Arial" panose="020B0604020202020204" pitchFamily="34" charset="0"/>
              <a:buChar char="•"/>
            </a:pPr>
            <a:r>
              <a:rPr lang="en-US" sz="3200" dirty="0"/>
              <a:t>Each does different type of work (task), but working on same sheets (data) </a:t>
            </a:r>
            <a:endParaRPr lang="en-US" sz="3200" dirty="0">
              <a:effectLst/>
            </a:endParaRPr>
          </a:p>
        </p:txBody>
      </p:sp>
    </p:spTree>
    <p:extLst>
      <p:ext uri="{BB962C8B-B14F-4D97-AF65-F5344CB8AC3E}">
        <p14:creationId xmlns:p14="http://schemas.microsoft.com/office/powerpoint/2010/main" val="4089325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5BE2-048A-A84D-91EE-2F12657C5E2F}"/>
              </a:ext>
            </a:extLst>
          </p:cNvPr>
          <p:cNvSpPr>
            <a:spLocks noGrp="1"/>
          </p:cNvSpPr>
          <p:nvPr>
            <p:ph type="title"/>
          </p:nvPr>
        </p:nvSpPr>
        <p:spPr>
          <a:xfrm>
            <a:off x="838200" y="-257175"/>
            <a:ext cx="10515600" cy="1325563"/>
          </a:xfrm>
        </p:spPr>
        <p:txBody>
          <a:bodyPr/>
          <a:lstStyle/>
          <a:p>
            <a:r>
              <a:rPr lang="en-US" dirty="0"/>
              <a:t>Summary</a:t>
            </a:r>
          </a:p>
        </p:txBody>
      </p:sp>
      <p:sp>
        <p:nvSpPr>
          <p:cNvPr id="3" name="Content Placeholder 2">
            <a:extLst>
              <a:ext uri="{FF2B5EF4-FFF2-40B4-BE49-F238E27FC236}">
                <a16:creationId xmlns:a16="http://schemas.microsoft.com/office/drawing/2014/main" id="{098919BB-531B-6E41-8005-ED518BCC7989}"/>
              </a:ext>
            </a:extLst>
          </p:cNvPr>
          <p:cNvSpPr>
            <a:spLocks noGrp="1"/>
          </p:cNvSpPr>
          <p:nvPr>
            <p:ph idx="1"/>
          </p:nvPr>
        </p:nvSpPr>
        <p:spPr>
          <a:xfrm>
            <a:off x="838200" y="800100"/>
            <a:ext cx="10515600" cy="6057899"/>
          </a:xfrm>
        </p:spPr>
        <p:txBody>
          <a:bodyPr>
            <a:normAutofit/>
          </a:bodyPr>
          <a:lstStyle/>
          <a:p>
            <a:r>
              <a:rPr lang="en-US" dirty="0"/>
              <a:t>Data: 300 copies of exam </a:t>
            </a:r>
          </a:p>
          <a:p>
            <a:r>
              <a:rPr lang="en-US" dirty="0"/>
              <a:t>Task: grade total 300*15 questions </a:t>
            </a:r>
          </a:p>
          <a:p>
            <a:r>
              <a:rPr lang="en-US" dirty="0"/>
              <a:t>Data parallelism </a:t>
            </a:r>
          </a:p>
          <a:p>
            <a:pPr marL="457200" lvl="1" indent="0">
              <a:buNone/>
            </a:pPr>
            <a:r>
              <a:rPr lang="en-US" dirty="0"/>
              <a:t>– </a:t>
            </a:r>
            <a:r>
              <a:rPr lang="en-US" b="1" dirty="0"/>
              <a:t>Distributed 300 copies to three TAs </a:t>
            </a:r>
          </a:p>
          <a:p>
            <a:pPr marL="457200" lvl="1" indent="0">
              <a:buNone/>
            </a:pPr>
            <a:r>
              <a:rPr lang="en-US" dirty="0"/>
              <a:t>– </a:t>
            </a:r>
            <a:r>
              <a:rPr lang="en-US" b="1" dirty="0"/>
              <a:t>They work independently </a:t>
            </a:r>
            <a:endParaRPr lang="en-US" dirty="0"/>
          </a:p>
          <a:p>
            <a:r>
              <a:rPr lang="en-US" dirty="0"/>
              <a:t>Task Parallelism </a:t>
            </a:r>
          </a:p>
          <a:p>
            <a:pPr marL="457200" lvl="1" indent="0">
              <a:buNone/>
            </a:pPr>
            <a:r>
              <a:rPr lang="en-US" dirty="0"/>
              <a:t>– </a:t>
            </a:r>
            <a:r>
              <a:rPr lang="en-US" b="1" dirty="0"/>
              <a:t>Distributed 300 copies to three TAs</a:t>
            </a:r>
            <a:br>
              <a:rPr lang="en-US" b="1" dirty="0"/>
            </a:br>
            <a:r>
              <a:rPr lang="en-US" dirty="0"/>
              <a:t>– </a:t>
            </a:r>
            <a:r>
              <a:rPr lang="en-US" b="1" dirty="0"/>
              <a:t>Each grades 5 questions of 100 copies </a:t>
            </a:r>
          </a:p>
          <a:p>
            <a:pPr marL="457200" lvl="1" indent="0">
              <a:buNone/>
            </a:pPr>
            <a:r>
              <a:rPr lang="en-US" dirty="0"/>
              <a:t>– </a:t>
            </a:r>
            <a:r>
              <a:rPr lang="en-US" b="1" dirty="0"/>
              <a:t>Exchange copies</a:t>
            </a:r>
            <a:br>
              <a:rPr lang="en-US" b="1" dirty="0"/>
            </a:br>
            <a:r>
              <a:rPr lang="en-US" dirty="0"/>
              <a:t>– </a:t>
            </a:r>
            <a:r>
              <a:rPr lang="en-US" b="1" dirty="0"/>
              <a:t>Grade 5 questions again</a:t>
            </a:r>
            <a:br>
              <a:rPr lang="en-US" b="1" dirty="0"/>
            </a:br>
            <a:r>
              <a:rPr lang="en-US" dirty="0"/>
              <a:t>– </a:t>
            </a:r>
            <a:r>
              <a:rPr lang="en-US" b="1" dirty="0"/>
              <a:t>Exchange copies</a:t>
            </a:r>
            <a:br>
              <a:rPr lang="en-US" b="1" dirty="0"/>
            </a:br>
            <a:r>
              <a:rPr lang="en-US" dirty="0"/>
              <a:t>– </a:t>
            </a:r>
            <a:r>
              <a:rPr lang="en-US" b="1" dirty="0"/>
              <a:t>Grade 5 questions </a:t>
            </a:r>
          </a:p>
          <a:p>
            <a:r>
              <a:rPr lang="en-US" dirty="0"/>
              <a:t>The three TAs can do in parallel, we can achieve 3 time speedup theoretically </a:t>
            </a:r>
          </a:p>
          <a:p>
            <a:endParaRPr lang="en-US" dirty="0"/>
          </a:p>
          <a:p>
            <a:pPr lvl="1"/>
            <a:endParaRPr lang="en-US" dirty="0"/>
          </a:p>
        </p:txBody>
      </p:sp>
    </p:spTree>
    <p:extLst>
      <p:ext uri="{BB962C8B-B14F-4D97-AF65-F5344CB8AC3E}">
        <p14:creationId xmlns:p14="http://schemas.microsoft.com/office/powerpoint/2010/main" val="64251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65CE9-896C-7541-B49D-47FAF3B9B354}"/>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D58839A8-0458-CF43-A47B-6BFF73A5D6DD}"/>
              </a:ext>
            </a:extLst>
          </p:cNvPr>
          <p:cNvSpPr>
            <a:spLocks noGrp="1"/>
          </p:cNvSpPr>
          <p:nvPr>
            <p:ph idx="1"/>
          </p:nvPr>
        </p:nvSpPr>
        <p:spPr>
          <a:xfrm>
            <a:off x="838200" y="1825624"/>
            <a:ext cx="10515600" cy="5032375"/>
          </a:xfrm>
        </p:spPr>
        <p:txBody>
          <a:bodyPr/>
          <a:lstStyle/>
          <a:p>
            <a:r>
              <a:rPr lang="en-US" dirty="0"/>
              <a:t>Are the three TAs grading in the same performance? </a:t>
            </a:r>
          </a:p>
          <a:p>
            <a:pPr marL="457200" lvl="1" indent="0">
              <a:buNone/>
            </a:pPr>
            <a:r>
              <a:rPr lang="en-US" dirty="0"/>
              <a:t>– One TA (CPU) may be slower than the other</a:t>
            </a:r>
            <a:br>
              <a:rPr lang="en-US" dirty="0"/>
            </a:br>
            <a:r>
              <a:rPr lang="en-US" dirty="0"/>
              <a:t>– They may not work on grading the same time </a:t>
            </a:r>
          </a:p>
          <a:p>
            <a:r>
              <a:rPr lang="en-US" dirty="0"/>
              <a:t>How the TAs communicate? </a:t>
            </a:r>
          </a:p>
          <a:p>
            <a:pPr marL="457200" lvl="1" indent="0">
              <a:buNone/>
            </a:pPr>
            <a:r>
              <a:rPr lang="en-US" dirty="0"/>
              <a:t>– Do they sit on the same table? Or each take copies and grade from home?</a:t>
            </a:r>
          </a:p>
          <a:p>
            <a:pPr marL="457200" lvl="1" indent="0">
              <a:buNone/>
            </a:pPr>
            <a:r>
              <a:rPr lang="en-US" dirty="0"/>
              <a:t>– How they share intermediate results (task parallelism)?</a:t>
            </a:r>
          </a:p>
          <a:p>
            <a:r>
              <a:rPr lang="en-US" dirty="0"/>
              <a:t>Where the solutions are stored so they can refer to when grading </a:t>
            </a:r>
          </a:p>
          <a:p>
            <a:pPr marL="457200" lvl="1" indent="0">
              <a:buNone/>
            </a:pPr>
            <a:r>
              <a:rPr lang="en-US" dirty="0"/>
              <a:t>– Remember answers to 5 questions vs to 15 questions </a:t>
            </a:r>
          </a:p>
          <a:p>
            <a:pPr marL="457200" lvl="1" indent="0">
              <a:buNone/>
            </a:pPr>
            <a:r>
              <a:rPr lang="en-US" dirty="0"/>
              <a:t>– Cache and Memory issues </a:t>
            </a:r>
          </a:p>
          <a:p>
            <a:endParaRPr lang="en-US" dirty="0"/>
          </a:p>
        </p:txBody>
      </p:sp>
    </p:spTree>
    <p:extLst>
      <p:ext uri="{BB962C8B-B14F-4D97-AF65-F5344CB8AC3E}">
        <p14:creationId xmlns:p14="http://schemas.microsoft.com/office/powerpoint/2010/main" val="423799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D849-8D96-3A45-B57D-C47FF2874AC2}"/>
              </a:ext>
            </a:extLst>
          </p:cNvPr>
          <p:cNvSpPr>
            <a:spLocks noGrp="1"/>
          </p:cNvSpPr>
          <p:nvPr>
            <p:ph type="title"/>
          </p:nvPr>
        </p:nvSpPr>
        <p:spPr>
          <a:xfrm>
            <a:off x="228600" y="0"/>
            <a:ext cx="11760200" cy="1325563"/>
          </a:xfrm>
        </p:spPr>
        <p:txBody>
          <a:bodyPr/>
          <a:lstStyle/>
          <a:p>
            <a:r>
              <a:rPr lang="en-US" dirty="0"/>
              <a:t>Basic system architecture and memory sharing</a:t>
            </a:r>
          </a:p>
        </p:txBody>
      </p:sp>
      <p:pic>
        <p:nvPicPr>
          <p:cNvPr id="6" name="Picture 5">
            <a:extLst>
              <a:ext uri="{FF2B5EF4-FFF2-40B4-BE49-F238E27FC236}">
                <a16:creationId xmlns:a16="http://schemas.microsoft.com/office/drawing/2014/main" id="{0E96BC86-5D56-A74B-AFF2-7380CAE85DC7}"/>
              </a:ext>
            </a:extLst>
          </p:cNvPr>
          <p:cNvPicPr>
            <a:picLocks noChangeAspect="1"/>
          </p:cNvPicPr>
          <p:nvPr/>
        </p:nvPicPr>
        <p:blipFill>
          <a:blip r:embed="rId2"/>
          <a:stretch>
            <a:fillRect/>
          </a:stretch>
        </p:blipFill>
        <p:spPr>
          <a:xfrm>
            <a:off x="8550275" y="3683000"/>
            <a:ext cx="3175000" cy="3175000"/>
          </a:xfrm>
          <a:prstGeom prst="rect">
            <a:avLst/>
          </a:prstGeom>
        </p:spPr>
      </p:pic>
      <p:pic>
        <p:nvPicPr>
          <p:cNvPr id="4" name="Picture 2" descr="Image result for IBM Power 9 chip picture">
            <a:extLst>
              <a:ext uri="{FF2B5EF4-FFF2-40B4-BE49-F238E27FC236}">
                <a16:creationId xmlns:a16="http://schemas.microsoft.com/office/drawing/2014/main" id="{879947D3-A9E5-0048-BF9F-EB7428929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144000" y="1325563"/>
            <a:ext cx="2581275" cy="2396164"/>
          </a:xfrm>
          <a:prstGeom prst="rect">
            <a:avLst/>
          </a:prstGeom>
          <a:noFill/>
        </p:spPr>
      </p:pic>
      <p:sp>
        <p:nvSpPr>
          <p:cNvPr id="10" name="Content Placeholder 2">
            <a:extLst>
              <a:ext uri="{FF2B5EF4-FFF2-40B4-BE49-F238E27FC236}">
                <a16:creationId xmlns:a16="http://schemas.microsoft.com/office/drawing/2014/main" id="{011DF250-C0E4-9145-A506-8DE05C6F4551}"/>
              </a:ext>
            </a:extLst>
          </p:cNvPr>
          <p:cNvSpPr>
            <a:spLocks noGrp="1"/>
          </p:cNvSpPr>
          <p:nvPr>
            <p:ph idx="1"/>
          </p:nvPr>
        </p:nvSpPr>
        <p:spPr>
          <a:xfrm>
            <a:off x="0" y="1325563"/>
            <a:ext cx="8572500" cy="6116637"/>
          </a:xfrm>
        </p:spPr>
        <p:txBody>
          <a:bodyPr>
            <a:normAutofit/>
          </a:bodyPr>
          <a:lstStyle/>
          <a:p>
            <a:r>
              <a:rPr lang="en-US" dirty="0"/>
              <a:t>The basic computing unit is the </a:t>
            </a:r>
            <a:r>
              <a:rPr lang="en-US" i="1" dirty="0">
                <a:solidFill>
                  <a:srgbClr val="FF0000"/>
                </a:solidFill>
              </a:rPr>
              <a:t>processor</a:t>
            </a:r>
            <a:r>
              <a:rPr lang="en-US" dirty="0"/>
              <a:t> (CPU)</a:t>
            </a:r>
          </a:p>
          <a:p>
            <a:r>
              <a:rPr lang="en-US" dirty="0"/>
              <a:t>Processors are usually composed of several </a:t>
            </a:r>
            <a:r>
              <a:rPr lang="en-US" i="1" dirty="0">
                <a:solidFill>
                  <a:srgbClr val="FF0000"/>
                </a:solidFill>
              </a:rPr>
              <a:t>cores</a:t>
            </a:r>
            <a:r>
              <a:rPr lang="en-US" dirty="0"/>
              <a:t> (intel i3, 2-4 cores; i7, 6-8 cores; i9. 8-16 cores).</a:t>
            </a:r>
          </a:p>
          <a:p>
            <a:r>
              <a:rPr lang="en-US" dirty="0"/>
              <a:t>When a program is executed it runs on </a:t>
            </a:r>
            <a:r>
              <a:rPr lang="en-US" i="1" dirty="0">
                <a:solidFill>
                  <a:srgbClr val="0070C0"/>
                </a:solidFill>
              </a:rPr>
              <a:t>processes</a:t>
            </a:r>
            <a:r>
              <a:rPr lang="en-US" i="1" dirty="0"/>
              <a:t>, </a:t>
            </a:r>
            <a:r>
              <a:rPr lang="en-US" dirty="0"/>
              <a:t>where each process is assigned to a specific core</a:t>
            </a:r>
            <a:r>
              <a:rPr lang="en-US" i="1" dirty="0"/>
              <a:t>. </a:t>
            </a:r>
          </a:p>
          <a:p>
            <a:r>
              <a:rPr lang="en-US" dirty="0"/>
              <a:t>A process has its own virtual memory space that cannot be accessed by other processes. </a:t>
            </a:r>
          </a:p>
          <a:p>
            <a:r>
              <a:rPr lang="en-US" dirty="0"/>
              <a:t>A process can create several </a:t>
            </a:r>
            <a:r>
              <a:rPr lang="en-US" i="1" dirty="0">
                <a:solidFill>
                  <a:srgbClr val="0070C0"/>
                </a:solidFill>
              </a:rPr>
              <a:t>threads</a:t>
            </a:r>
            <a:r>
              <a:rPr lang="en-US" dirty="0"/>
              <a:t>, which can work independently executing different codes. </a:t>
            </a:r>
          </a:p>
          <a:p>
            <a:r>
              <a:rPr lang="en-US" dirty="0"/>
              <a:t>All </a:t>
            </a:r>
            <a:r>
              <a:rPr lang="en-US" i="1" dirty="0">
                <a:solidFill>
                  <a:srgbClr val="0070C0"/>
                </a:solidFill>
              </a:rPr>
              <a:t>threads</a:t>
            </a:r>
            <a:r>
              <a:rPr lang="en-US" dirty="0"/>
              <a:t> created by a </a:t>
            </a:r>
            <a:r>
              <a:rPr lang="en-US" i="1" dirty="0">
                <a:solidFill>
                  <a:srgbClr val="0070C0"/>
                </a:solidFill>
              </a:rPr>
              <a:t>process</a:t>
            </a:r>
            <a:r>
              <a:rPr lang="en-US" dirty="0"/>
              <a:t> share the virtual address space of that process. They read and write to the same address space in memory. </a:t>
            </a:r>
          </a:p>
        </p:txBody>
      </p:sp>
      <p:sp>
        <p:nvSpPr>
          <p:cNvPr id="11" name="Rectangle 10">
            <a:extLst>
              <a:ext uri="{FF2B5EF4-FFF2-40B4-BE49-F238E27FC236}">
                <a16:creationId xmlns:a16="http://schemas.microsoft.com/office/drawing/2014/main" id="{6413DC4C-FD86-D745-A880-A19190FA318F}"/>
              </a:ext>
            </a:extLst>
          </p:cNvPr>
          <p:cNvSpPr/>
          <p:nvPr/>
        </p:nvSpPr>
        <p:spPr>
          <a:xfrm>
            <a:off x="0" y="1790700"/>
            <a:ext cx="8550275" cy="5067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7687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D849-8D96-3A45-B57D-C47FF2874AC2}"/>
              </a:ext>
            </a:extLst>
          </p:cNvPr>
          <p:cNvSpPr>
            <a:spLocks noGrp="1"/>
          </p:cNvSpPr>
          <p:nvPr>
            <p:ph type="title"/>
          </p:nvPr>
        </p:nvSpPr>
        <p:spPr>
          <a:xfrm>
            <a:off x="228600" y="0"/>
            <a:ext cx="11760200" cy="1325563"/>
          </a:xfrm>
        </p:spPr>
        <p:txBody>
          <a:bodyPr/>
          <a:lstStyle/>
          <a:p>
            <a:r>
              <a:rPr lang="en-US" dirty="0"/>
              <a:t>Basic system architecture and memory sharing</a:t>
            </a:r>
          </a:p>
        </p:txBody>
      </p:sp>
      <p:sp>
        <p:nvSpPr>
          <p:cNvPr id="3" name="Content Placeholder 2">
            <a:extLst>
              <a:ext uri="{FF2B5EF4-FFF2-40B4-BE49-F238E27FC236}">
                <a16:creationId xmlns:a16="http://schemas.microsoft.com/office/drawing/2014/main" id="{C06E0292-4860-2F44-A3B0-0F112AB5843E}"/>
              </a:ext>
            </a:extLst>
          </p:cNvPr>
          <p:cNvSpPr>
            <a:spLocks noGrp="1"/>
          </p:cNvSpPr>
          <p:nvPr>
            <p:ph idx="1"/>
          </p:nvPr>
        </p:nvSpPr>
        <p:spPr>
          <a:xfrm>
            <a:off x="0" y="1325563"/>
            <a:ext cx="8115300" cy="6116637"/>
          </a:xfrm>
        </p:spPr>
        <p:txBody>
          <a:bodyPr>
            <a:normAutofit/>
          </a:bodyPr>
          <a:lstStyle/>
          <a:p>
            <a:r>
              <a:rPr lang="en-US" dirty="0"/>
              <a:t>The basic computing unit is the </a:t>
            </a:r>
            <a:r>
              <a:rPr lang="en-US" i="1" dirty="0">
                <a:solidFill>
                  <a:srgbClr val="FF0000"/>
                </a:solidFill>
              </a:rPr>
              <a:t>processor</a:t>
            </a:r>
            <a:r>
              <a:rPr lang="en-US" dirty="0"/>
              <a:t> (CPU)</a:t>
            </a:r>
          </a:p>
          <a:p>
            <a:r>
              <a:rPr lang="en-US" dirty="0"/>
              <a:t>Processors are usually composed of several </a:t>
            </a:r>
            <a:r>
              <a:rPr lang="en-US" i="1" dirty="0">
                <a:solidFill>
                  <a:srgbClr val="FF0000"/>
                </a:solidFill>
              </a:rPr>
              <a:t>cores</a:t>
            </a:r>
            <a:r>
              <a:rPr lang="en-US" dirty="0"/>
              <a:t> (intel i3, 2-4 cores; i7, 6-8 cores; i9. 8-16 cores).</a:t>
            </a:r>
          </a:p>
          <a:p>
            <a:r>
              <a:rPr lang="en-US" dirty="0"/>
              <a:t>When a program is executed it runs on </a:t>
            </a:r>
            <a:r>
              <a:rPr lang="en-US" i="1" dirty="0">
                <a:solidFill>
                  <a:srgbClr val="0070C0"/>
                </a:solidFill>
              </a:rPr>
              <a:t>processes</a:t>
            </a:r>
            <a:r>
              <a:rPr lang="en-US" i="1" dirty="0"/>
              <a:t>, </a:t>
            </a:r>
            <a:r>
              <a:rPr lang="en-US" dirty="0"/>
              <a:t>where each process is assigned to a specific core</a:t>
            </a:r>
            <a:r>
              <a:rPr lang="en-US" i="1" dirty="0"/>
              <a:t>. </a:t>
            </a:r>
          </a:p>
          <a:p>
            <a:r>
              <a:rPr lang="en-US" dirty="0"/>
              <a:t>A process has its own virtual memory space that cannot be accessed by other processes. </a:t>
            </a:r>
          </a:p>
          <a:p>
            <a:r>
              <a:rPr lang="en-US" dirty="0"/>
              <a:t>A process can create several </a:t>
            </a:r>
            <a:r>
              <a:rPr lang="en-US" i="1" dirty="0">
                <a:solidFill>
                  <a:srgbClr val="0070C0"/>
                </a:solidFill>
              </a:rPr>
              <a:t>threads</a:t>
            </a:r>
            <a:r>
              <a:rPr lang="en-US" dirty="0"/>
              <a:t>, which can work independently executing different codes. </a:t>
            </a:r>
          </a:p>
          <a:p>
            <a:r>
              <a:rPr lang="en-US" dirty="0"/>
              <a:t>All </a:t>
            </a:r>
            <a:r>
              <a:rPr lang="en-US" i="1" dirty="0">
                <a:solidFill>
                  <a:srgbClr val="0070C0"/>
                </a:solidFill>
              </a:rPr>
              <a:t>threads</a:t>
            </a:r>
            <a:r>
              <a:rPr lang="en-US" dirty="0"/>
              <a:t> created by a </a:t>
            </a:r>
            <a:r>
              <a:rPr lang="en-US" i="1" dirty="0">
                <a:solidFill>
                  <a:srgbClr val="0070C0"/>
                </a:solidFill>
              </a:rPr>
              <a:t>process</a:t>
            </a:r>
            <a:r>
              <a:rPr lang="en-US" dirty="0"/>
              <a:t> share the virtual address space of that process. They read and write to the same address space in memory. </a:t>
            </a:r>
          </a:p>
        </p:txBody>
      </p:sp>
      <p:pic>
        <p:nvPicPr>
          <p:cNvPr id="5" name="Picture 4">
            <a:extLst>
              <a:ext uri="{FF2B5EF4-FFF2-40B4-BE49-F238E27FC236}">
                <a16:creationId xmlns:a16="http://schemas.microsoft.com/office/drawing/2014/main" id="{FBA1C31C-E709-AB48-8DE9-5AB3EF12BF67}"/>
              </a:ext>
            </a:extLst>
          </p:cNvPr>
          <p:cNvPicPr>
            <a:picLocks noChangeAspect="1"/>
          </p:cNvPicPr>
          <p:nvPr/>
        </p:nvPicPr>
        <p:blipFill rotWithShape="1">
          <a:blip r:embed="rId3"/>
          <a:srcRect r="52744" b="71293"/>
          <a:stretch/>
        </p:blipFill>
        <p:spPr>
          <a:xfrm>
            <a:off x="8737117" y="2079626"/>
            <a:ext cx="3340583" cy="3254374"/>
          </a:xfrm>
          <a:prstGeom prst="rect">
            <a:avLst/>
          </a:prstGeom>
        </p:spPr>
      </p:pic>
      <p:sp>
        <p:nvSpPr>
          <p:cNvPr id="24" name="Rectangle 23">
            <a:extLst>
              <a:ext uri="{FF2B5EF4-FFF2-40B4-BE49-F238E27FC236}">
                <a16:creationId xmlns:a16="http://schemas.microsoft.com/office/drawing/2014/main" id="{90B9364B-C044-1645-B2DD-117306F33007}"/>
              </a:ext>
            </a:extLst>
          </p:cNvPr>
          <p:cNvSpPr/>
          <p:nvPr/>
        </p:nvSpPr>
        <p:spPr>
          <a:xfrm>
            <a:off x="0" y="2755900"/>
            <a:ext cx="8550275" cy="4102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99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D849-8D96-3A45-B57D-C47FF2874AC2}"/>
              </a:ext>
            </a:extLst>
          </p:cNvPr>
          <p:cNvSpPr>
            <a:spLocks noGrp="1"/>
          </p:cNvSpPr>
          <p:nvPr>
            <p:ph type="title"/>
          </p:nvPr>
        </p:nvSpPr>
        <p:spPr>
          <a:xfrm>
            <a:off x="228600" y="0"/>
            <a:ext cx="11760200" cy="1325563"/>
          </a:xfrm>
        </p:spPr>
        <p:txBody>
          <a:bodyPr/>
          <a:lstStyle/>
          <a:p>
            <a:r>
              <a:rPr lang="en-US" dirty="0"/>
              <a:t>Basic system architecture and memory sharing</a:t>
            </a:r>
          </a:p>
        </p:txBody>
      </p:sp>
      <p:sp>
        <p:nvSpPr>
          <p:cNvPr id="3" name="Content Placeholder 2">
            <a:extLst>
              <a:ext uri="{FF2B5EF4-FFF2-40B4-BE49-F238E27FC236}">
                <a16:creationId xmlns:a16="http://schemas.microsoft.com/office/drawing/2014/main" id="{C06E0292-4860-2F44-A3B0-0F112AB5843E}"/>
              </a:ext>
            </a:extLst>
          </p:cNvPr>
          <p:cNvSpPr>
            <a:spLocks noGrp="1"/>
          </p:cNvSpPr>
          <p:nvPr>
            <p:ph idx="1"/>
          </p:nvPr>
        </p:nvSpPr>
        <p:spPr>
          <a:xfrm>
            <a:off x="0" y="1325563"/>
            <a:ext cx="7861300" cy="6116637"/>
          </a:xfrm>
        </p:spPr>
        <p:txBody>
          <a:bodyPr>
            <a:normAutofit/>
          </a:bodyPr>
          <a:lstStyle/>
          <a:p>
            <a:r>
              <a:rPr lang="en-US" dirty="0"/>
              <a:t>The basic computing unit is the </a:t>
            </a:r>
            <a:r>
              <a:rPr lang="en-US" i="1" dirty="0">
                <a:solidFill>
                  <a:srgbClr val="FF0000"/>
                </a:solidFill>
              </a:rPr>
              <a:t>processor</a:t>
            </a:r>
            <a:r>
              <a:rPr lang="en-US" dirty="0"/>
              <a:t> (CPU)</a:t>
            </a:r>
          </a:p>
          <a:p>
            <a:r>
              <a:rPr lang="en-US" dirty="0"/>
              <a:t>Processors are usually composed of several </a:t>
            </a:r>
            <a:r>
              <a:rPr lang="en-US" i="1" dirty="0">
                <a:solidFill>
                  <a:srgbClr val="FF0000"/>
                </a:solidFill>
              </a:rPr>
              <a:t>cores</a:t>
            </a:r>
            <a:r>
              <a:rPr lang="en-US" dirty="0"/>
              <a:t> (intel i3, 2-4 cores; i7, 6-8 cores; i9. 8-16 cores).</a:t>
            </a:r>
          </a:p>
          <a:p>
            <a:r>
              <a:rPr lang="en-US" dirty="0"/>
              <a:t>When a program is executed it runs on </a:t>
            </a:r>
            <a:r>
              <a:rPr lang="en-US" i="1" dirty="0">
                <a:solidFill>
                  <a:srgbClr val="0070C0"/>
                </a:solidFill>
              </a:rPr>
              <a:t>processes</a:t>
            </a:r>
            <a:r>
              <a:rPr lang="en-US" i="1" dirty="0"/>
              <a:t>, </a:t>
            </a:r>
            <a:r>
              <a:rPr lang="en-US" dirty="0"/>
              <a:t>where each process is assigned to a specific core</a:t>
            </a:r>
            <a:r>
              <a:rPr lang="en-US" i="1" dirty="0"/>
              <a:t>. </a:t>
            </a:r>
          </a:p>
          <a:p>
            <a:r>
              <a:rPr lang="en-US" dirty="0"/>
              <a:t>A process has its own virtual memory space that cannot be accessed by other processes. </a:t>
            </a:r>
          </a:p>
          <a:p>
            <a:r>
              <a:rPr lang="en-US" dirty="0"/>
              <a:t>A process can create several </a:t>
            </a:r>
            <a:r>
              <a:rPr lang="en-US" i="1" dirty="0">
                <a:solidFill>
                  <a:srgbClr val="0070C0"/>
                </a:solidFill>
              </a:rPr>
              <a:t>threads</a:t>
            </a:r>
            <a:r>
              <a:rPr lang="en-US" dirty="0"/>
              <a:t>, which can work independently executing different codes. </a:t>
            </a:r>
          </a:p>
          <a:p>
            <a:r>
              <a:rPr lang="en-US" dirty="0"/>
              <a:t>All </a:t>
            </a:r>
            <a:r>
              <a:rPr lang="en-US" i="1" dirty="0">
                <a:solidFill>
                  <a:srgbClr val="0070C0"/>
                </a:solidFill>
              </a:rPr>
              <a:t>threads</a:t>
            </a:r>
            <a:r>
              <a:rPr lang="en-US" dirty="0"/>
              <a:t> created by a </a:t>
            </a:r>
            <a:r>
              <a:rPr lang="en-US" i="1" dirty="0">
                <a:solidFill>
                  <a:srgbClr val="0070C0"/>
                </a:solidFill>
              </a:rPr>
              <a:t>process</a:t>
            </a:r>
            <a:r>
              <a:rPr lang="en-US" dirty="0"/>
              <a:t> share the virtual address space of that process. They read and write to the same address space in memory. </a:t>
            </a:r>
          </a:p>
        </p:txBody>
      </p:sp>
      <p:pic>
        <p:nvPicPr>
          <p:cNvPr id="5" name="Picture 4">
            <a:extLst>
              <a:ext uri="{FF2B5EF4-FFF2-40B4-BE49-F238E27FC236}">
                <a16:creationId xmlns:a16="http://schemas.microsoft.com/office/drawing/2014/main" id="{FBA1C31C-E709-AB48-8DE9-5AB3EF12BF67}"/>
              </a:ext>
            </a:extLst>
          </p:cNvPr>
          <p:cNvPicPr>
            <a:picLocks noChangeAspect="1"/>
          </p:cNvPicPr>
          <p:nvPr/>
        </p:nvPicPr>
        <p:blipFill rotWithShape="1">
          <a:blip r:embed="rId3"/>
          <a:srcRect r="52744" b="71293"/>
          <a:stretch/>
        </p:blipFill>
        <p:spPr>
          <a:xfrm>
            <a:off x="8737117" y="2079626"/>
            <a:ext cx="3340583" cy="3254374"/>
          </a:xfrm>
          <a:prstGeom prst="rect">
            <a:avLst/>
          </a:prstGeom>
        </p:spPr>
      </p:pic>
      <p:grpSp>
        <p:nvGrpSpPr>
          <p:cNvPr id="23" name="Group 22">
            <a:extLst>
              <a:ext uri="{FF2B5EF4-FFF2-40B4-BE49-F238E27FC236}">
                <a16:creationId xmlns:a16="http://schemas.microsoft.com/office/drawing/2014/main" id="{29EE311D-F368-A84A-8F28-11212D6647F5}"/>
              </a:ext>
            </a:extLst>
          </p:cNvPr>
          <p:cNvGrpSpPr/>
          <p:nvPr/>
        </p:nvGrpSpPr>
        <p:grpSpPr>
          <a:xfrm>
            <a:off x="9017000" y="2413000"/>
            <a:ext cx="2732318" cy="2500392"/>
            <a:chOff x="9017000" y="2413000"/>
            <a:chExt cx="2732318" cy="2500392"/>
          </a:xfrm>
        </p:grpSpPr>
        <p:sp>
          <p:nvSpPr>
            <p:cNvPr id="7" name="TextBox 6">
              <a:extLst>
                <a:ext uri="{FF2B5EF4-FFF2-40B4-BE49-F238E27FC236}">
                  <a16:creationId xmlns:a16="http://schemas.microsoft.com/office/drawing/2014/main" id="{290C92F9-B213-894B-B238-1FCAA6B3F86C}"/>
                </a:ext>
              </a:extLst>
            </p:cNvPr>
            <p:cNvSpPr txBox="1"/>
            <p:nvPr/>
          </p:nvSpPr>
          <p:spPr>
            <a:xfrm>
              <a:off x="9017000" y="2413000"/>
              <a:ext cx="602537" cy="369332"/>
            </a:xfrm>
            <a:prstGeom prst="rect">
              <a:avLst/>
            </a:prstGeom>
            <a:noFill/>
          </p:spPr>
          <p:txBody>
            <a:bodyPr wrap="none" rtlCol="0">
              <a:spAutoFit/>
            </a:bodyPr>
            <a:lstStyle/>
            <a:p>
              <a:r>
                <a:rPr lang="en-US" dirty="0"/>
                <a:t>proc</a:t>
              </a:r>
            </a:p>
          </p:txBody>
        </p:sp>
        <p:sp>
          <p:nvSpPr>
            <p:cNvPr id="8" name="TextBox 7">
              <a:extLst>
                <a:ext uri="{FF2B5EF4-FFF2-40B4-BE49-F238E27FC236}">
                  <a16:creationId xmlns:a16="http://schemas.microsoft.com/office/drawing/2014/main" id="{BBF5D216-92BD-0F47-BB69-CE96C29AD16D}"/>
                </a:ext>
              </a:extLst>
            </p:cNvPr>
            <p:cNvSpPr txBox="1"/>
            <p:nvPr/>
          </p:nvSpPr>
          <p:spPr>
            <a:xfrm>
              <a:off x="9734308" y="2413000"/>
              <a:ext cx="602537" cy="369332"/>
            </a:xfrm>
            <a:prstGeom prst="rect">
              <a:avLst/>
            </a:prstGeom>
            <a:noFill/>
          </p:spPr>
          <p:txBody>
            <a:bodyPr wrap="none" rtlCol="0">
              <a:spAutoFit/>
            </a:bodyPr>
            <a:lstStyle/>
            <a:p>
              <a:r>
                <a:rPr lang="en-US" dirty="0"/>
                <a:t>proc</a:t>
              </a:r>
            </a:p>
          </p:txBody>
        </p:sp>
        <p:sp>
          <p:nvSpPr>
            <p:cNvPr id="9" name="TextBox 8">
              <a:extLst>
                <a:ext uri="{FF2B5EF4-FFF2-40B4-BE49-F238E27FC236}">
                  <a16:creationId xmlns:a16="http://schemas.microsoft.com/office/drawing/2014/main" id="{C38EA2A9-8E96-C446-98C1-F5EDB7DFFE01}"/>
                </a:ext>
              </a:extLst>
            </p:cNvPr>
            <p:cNvSpPr txBox="1"/>
            <p:nvPr/>
          </p:nvSpPr>
          <p:spPr>
            <a:xfrm>
              <a:off x="10438445" y="2413000"/>
              <a:ext cx="602537" cy="369332"/>
            </a:xfrm>
            <a:prstGeom prst="rect">
              <a:avLst/>
            </a:prstGeom>
            <a:noFill/>
          </p:spPr>
          <p:txBody>
            <a:bodyPr wrap="none" rtlCol="0">
              <a:spAutoFit/>
            </a:bodyPr>
            <a:lstStyle/>
            <a:p>
              <a:r>
                <a:rPr lang="en-US" dirty="0"/>
                <a:t>proc</a:t>
              </a:r>
            </a:p>
          </p:txBody>
        </p:sp>
        <p:sp>
          <p:nvSpPr>
            <p:cNvPr id="10" name="TextBox 9">
              <a:extLst>
                <a:ext uri="{FF2B5EF4-FFF2-40B4-BE49-F238E27FC236}">
                  <a16:creationId xmlns:a16="http://schemas.microsoft.com/office/drawing/2014/main" id="{3218D94A-A195-1643-9ADA-3E4349FE8920}"/>
                </a:ext>
              </a:extLst>
            </p:cNvPr>
            <p:cNvSpPr txBox="1"/>
            <p:nvPr/>
          </p:nvSpPr>
          <p:spPr>
            <a:xfrm>
              <a:off x="11146781" y="2413000"/>
              <a:ext cx="602537" cy="369332"/>
            </a:xfrm>
            <a:prstGeom prst="rect">
              <a:avLst/>
            </a:prstGeom>
            <a:noFill/>
          </p:spPr>
          <p:txBody>
            <a:bodyPr wrap="none" rtlCol="0">
              <a:spAutoFit/>
            </a:bodyPr>
            <a:lstStyle/>
            <a:p>
              <a:r>
                <a:rPr lang="en-US" dirty="0"/>
                <a:t>proc</a:t>
              </a:r>
            </a:p>
          </p:txBody>
        </p:sp>
        <p:sp>
          <p:nvSpPr>
            <p:cNvPr id="11" name="TextBox 10">
              <a:extLst>
                <a:ext uri="{FF2B5EF4-FFF2-40B4-BE49-F238E27FC236}">
                  <a16:creationId xmlns:a16="http://schemas.microsoft.com/office/drawing/2014/main" id="{9D00F974-0B44-4B43-8051-E6AEB4E6A8D8}"/>
                </a:ext>
              </a:extLst>
            </p:cNvPr>
            <p:cNvSpPr txBox="1"/>
            <p:nvPr/>
          </p:nvSpPr>
          <p:spPr>
            <a:xfrm>
              <a:off x="9017000" y="3115706"/>
              <a:ext cx="602537" cy="369332"/>
            </a:xfrm>
            <a:prstGeom prst="rect">
              <a:avLst/>
            </a:prstGeom>
            <a:noFill/>
          </p:spPr>
          <p:txBody>
            <a:bodyPr wrap="none" rtlCol="0">
              <a:spAutoFit/>
            </a:bodyPr>
            <a:lstStyle/>
            <a:p>
              <a:r>
                <a:rPr lang="en-US" dirty="0"/>
                <a:t>proc</a:t>
              </a:r>
            </a:p>
          </p:txBody>
        </p:sp>
        <p:sp>
          <p:nvSpPr>
            <p:cNvPr id="12" name="TextBox 11">
              <a:extLst>
                <a:ext uri="{FF2B5EF4-FFF2-40B4-BE49-F238E27FC236}">
                  <a16:creationId xmlns:a16="http://schemas.microsoft.com/office/drawing/2014/main" id="{7A718CF3-4F03-A74D-854D-0C6092874ED1}"/>
                </a:ext>
              </a:extLst>
            </p:cNvPr>
            <p:cNvSpPr txBox="1"/>
            <p:nvPr/>
          </p:nvSpPr>
          <p:spPr>
            <a:xfrm>
              <a:off x="9734308" y="3115706"/>
              <a:ext cx="602537" cy="369332"/>
            </a:xfrm>
            <a:prstGeom prst="rect">
              <a:avLst/>
            </a:prstGeom>
            <a:noFill/>
          </p:spPr>
          <p:txBody>
            <a:bodyPr wrap="none" rtlCol="0">
              <a:spAutoFit/>
            </a:bodyPr>
            <a:lstStyle/>
            <a:p>
              <a:r>
                <a:rPr lang="en-US" dirty="0"/>
                <a:t>proc</a:t>
              </a:r>
            </a:p>
          </p:txBody>
        </p:sp>
        <p:sp>
          <p:nvSpPr>
            <p:cNvPr id="13" name="TextBox 12">
              <a:extLst>
                <a:ext uri="{FF2B5EF4-FFF2-40B4-BE49-F238E27FC236}">
                  <a16:creationId xmlns:a16="http://schemas.microsoft.com/office/drawing/2014/main" id="{AD6A3DE2-DECC-EA40-B5EF-9D875033C5EE}"/>
                </a:ext>
              </a:extLst>
            </p:cNvPr>
            <p:cNvSpPr txBox="1"/>
            <p:nvPr/>
          </p:nvSpPr>
          <p:spPr>
            <a:xfrm>
              <a:off x="10438445" y="3115706"/>
              <a:ext cx="602537" cy="369332"/>
            </a:xfrm>
            <a:prstGeom prst="rect">
              <a:avLst/>
            </a:prstGeom>
            <a:noFill/>
          </p:spPr>
          <p:txBody>
            <a:bodyPr wrap="none" rtlCol="0">
              <a:spAutoFit/>
            </a:bodyPr>
            <a:lstStyle/>
            <a:p>
              <a:r>
                <a:rPr lang="en-US" dirty="0"/>
                <a:t>proc</a:t>
              </a:r>
            </a:p>
          </p:txBody>
        </p:sp>
        <p:sp>
          <p:nvSpPr>
            <p:cNvPr id="14" name="TextBox 13">
              <a:extLst>
                <a:ext uri="{FF2B5EF4-FFF2-40B4-BE49-F238E27FC236}">
                  <a16:creationId xmlns:a16="http://schemas.microsoft.com/office/drawing/2014/main" id="{1D2EF54B-4443-BC45-8498-CFD6317436C6}"/>
                </a:ext>
              </a:extLst>
            </p:cNvPr>
            <p:cNvSpPr txBox="1"/>
            <p:nvPr/>
          </p:nvSpPr>
          <p:spPr>
            <a:xfrm>
              <a:off x="11146781" y="3115706"/>
              <a:ext cx="602537" cy="369332"/>
            </a:xfrm>
            <a:prstGeom prst="rect">
              <a:avLst/>
            </a:prstGeom>
            <a:noFill/>
          </p:spPr>
          <p:txBody>
            <a:bodyPr wrap="none" rtlCol="0">
              <a:spAutoFit/>
            </a:bodyPr>
            <a:lstStyle/>
            <a:p>
              <a:r>
                <a:rPr lang="en-US" dirty="0"/>
                <a:t>proc</a:t>
              </a:r>
            </a:p>
          </p:txBody>
        </p:sp>
        <p:sp>
          <p:nvSpPr>
            <p:cNvPr id="15" name="TextBox 14">
              <a:extLst>
                <a:ext uri="{FF2B5EF4-FFF2-40B4-BE49-F238E27FC236}">
                  <a16:creationId xmlns:a16="http://schemas.microsoft.com/office/drawing/2014/main" id="{60584BA4-93E5-8949-B7C6-ABD50C3C940E}"/>
                </a:ext>
              </a:extLst>
            </p:cNvPr>
            <p:cNvSpPr txBox="1"/>
            <p:nvPr/>
          </p:nvSpPr>
          <p:spPr>
            <a:xfrm>
              <a:off x="9017000" y="3829883"/>
              <a:ext cx="602537" cy="369332"/>
            </a:xfrm>
            <a:prstGeom prst="rect">
              <a:avLst/>
            </a:prstGeom>
            <a:noFill/>
          </p:spPr>
          <p:txBody>
            <a:bodyPr wrap="none" rtlCol="0">
              <a:spAutoFit/>
            </a:bodyPr>
            <a:lstStyle/>
            <a:p>
              <a:r>
                <a:rPr lang="en-US" dirty="0"/>
                <a:t>proc</a:t>
              </a:r>
            </a:p>
          </p:txBody>
        </p:sp>
        <p:sp>
          <p:nvSpPr>
            <p:cNvPr id="16" name="TextBox 15">
              <a:extLst>
                <a:ext uri="{FF2B5EF4-FFF2-40B4-BE49-F238E27FC236}">
                  <a16:creationId xmlns:a16="http://schemas.microsoft.com/office/drawing/2014/main" id="{1AAF1AEF-8332-7341-A814-1F88318010B9}"/>
                </a:ext>
              </a:extLst>
            </p:cNvPr>
            <p:cNvSpPr txBox="1"/>
            <p:nvPr/>
          </p:nvSpPr>
          <p:spPr>
            <a:xfrm>
              <a:off x="9734308" y="3829883"/>
              <a:ext cx="602537" cy="369332"/>
            </a:xfrm>
            <a:prstGeom prst="rect">
              <a:avLst/>
            </a:prstGeom>
            <a:noFill/>
          </p:spPr>
          <p:txBody>
            <a:bodyPr wrap="none" rtlCol="0">
              <a:spAutoFit/>
            </a:bodyPr>
            <a:lstStyle/>
            <a:p>
              <a:r>
                <a:rPr lang="en-US" dirty="0"/>
                <a:t>proc</a:t>
              </a:r>
            </a:p>
          </p:txBody>
        </p:sp>
        <p:sp>
          <p:nvSpPr>
            <p:cNvPr id="17" name="TextBox 16">
              <a:extLst>
                <a:ext uri="{FF2B5EF4-FFF2-40B4-BE49-F238E27FC236}">
                  <a16:creationId xmlns:a16="http://schemas.microsoft.com/office/drawing/2014/main" id="{67C9032B-4DDC-0843-9904-5666938BF16F}"/>
                </a:ext>
              </a:extLst>
            </p:cNvPr>
            <p:cNvSpPr txBox="1"/>
            <p:nvPr/>
          </p:nvSpPr>
          <p:spPr>
            <a:xfrm>
              <a:off x="10438445" y="3829883"/>
              <a:ext cx="602537" cy="369332"/>
            </a:xfrm>
            <a:prstGeom prst="rect">
              <a:avLst/>
            </a:prstGeom>
            <a:noFill/>
          </p:spPr>
          <p:txBody>
            <a:bodyPr wrap="none" rtlCol="0">
              <a:spAutoFit/>
            </a:bodyPr>
            <a:lstStyle/>
            <a:p>
              <a:r>
                <a:rPr lang="en-US" dirty="0"/>
                <a:t>proc</a:t>
              </a:r>
            </a:p>
          </p:txBody>
        </p:sp>
        <p:sp>
          <p:nvSpPr>
            <p:cNvPr id="18" name="TextBox 17">
              <a:extLst>
                <a:ext uri="{FF2B5EF4-FFF2-40B4-BE49-F238E27FC236}">
                  <a16:creationId xmlns:a16="http://schemas.microsoft.com/office/drawing/2014/main" id="{B5C6FAF0-F0AB-AA45-8791-3DF6953F2137}"/>
                </a:ext>
              </a:extLst>
            </p:cNvPr>
            <p:cNvSpPr txBox="1"/>
            <p:nvPr/>
          </p:nvSpPr>
          <p:spPr>
            <a:xfrm>
              <a:off x="11146781" y="3829883"/>
              <a:ext cx="602537" cy="369332"/>
            </a:xfrm>
            <a:prstGeom prst="rect">
              <a:avLst/>
            </a:prstGeom>
            <a:noFill/>
          </p:spPr>
          <p:txBody>
            <a:bodyPr wrap="none" rtlCol="0">
              <a:spAutoFit/>
            </a:bodyPr>
            <a:lstStyle/>
            <a:p>
              <a:r>
                <a:rPr lang="en-US" dirty="0"/>
                <a:t>proc</a:t>
              </a:r>
            </a:p>
          </p:txBody>
        </p:sp>
        <p:sp>
          <p:nvSpPr>
            <p:cNvPr id="19" name="TextBox 18">
              <a:extLst>
                <a:ext uri="{FF2B5EF4-FFF2-40B4-BE49-F238E27FC236}">
                  <a16:creationId xmlns:a16="http://schemas.microsoft.com/office/drawing/2014/main" id="{8D249D39-2A12-DC48-AF4A-FB1F3E6AFA83}"/>
                </a:ext>
              </a:extLst>
            </p:cNvPr>
            <p:cNvSpPr txBox="1"/>
            <p:nvPr/>
          </p:nvSpPr>
          <p:spPr>
            <a:xfrm>
              <a:off x="9017000" y="4544060"/>
              <a:ext cx="602537" cy="369332"/>
            </a:xfrm>
            <a:prstGeom prst="rect">
              <a:avLst/>
            </a:prstGeom>
            <a:noFill/>
          </p:spPr>
          <p:txBody>
            <a:bodyPr wrap="none" rtlCol="0">
              <a:spAutoFit/>
            </a:bodyPr>
            <a:lstStyle/>
            <a:p>
              <a:r>
                <a:rPr lang="en-US" dirty="0"/>
                <a:t>proc</a:t>
              </a:r>
            </a:p>
          </p:txBody>
        </p:sp>
        <p:sp>
          <p:nvSpPr>
            <p:cNvPr id="20" name="TextBox 19">
              <a:extLst>
                <a:ext uri="{FF2B5EF4-FFF2-40B4-BE49-F238E27FC236}">
                  <a16:creationId xmlns:a16="http://schemas.microsoft.com/office/drawing/2014/main" id="{A66BC241-6270-8D46-A8A6-1FE8446C8080}"/>
                </a:ext>
              </a:extLst>
            </p:cNvPr>
            <p:cNvSpPr txBox="1"/>
            <p:nvPr/>
          </p:nvSpPr>
          <p:spPr>
            <a:xfrm>
              <a:off x="9734308" y="4544060"/>
              <a:ext cx="602537" cy="369332"/>
            </a:xfrm>
            <a:prstGeom prst="rect">
              <a:avLst/>
            </a:prstGeom>
            <a:noFill/>
          </p:spPr>
          <p:txBody>
            <a:bodyPr wrap="none" rtlCol="0">
              <a:spAutoFit/>
            </a:bodyPr>
            <a:lstStyle/>
            <a:p>
              <a:r>
                <a:rPr lang="en-US" dirty="0"/>
                <a:t>proc</a:t>
              </a:r>
            </a:p>
          </p:txBody>
        </p:sp>
        <p:sp>
          <p:nvSpPr>
            <p:cNvPr id="21" name="TextBox 20">
              <a:extLst>
                <a:ext uri="{FF2B5EF4-FFF2-40B4-BE49-F238E27FC236}">
                  <a16:creationId xmlns:a16="http://schemas.microsoft.com/office/drawing/2014/main" id="{843342DE-44BF-604D-97DA-CF5F09CB063B}"/>
                </a:ext>
              </a:extLst>
            </p:cNvPr>
            <p:cNvSpPr txBox="1"/>
            <p:nvPr/>
          </p:nvSpPr>
          <p:spPr>
            <a:xfrm>
              <a:off x="10438445" y="4544060"/>
              <a:ext cx="602537" cy="369332"/>
            </a:xfrm>
            <a:prstGeom prst="rect">
              <a:avLst/>
            </a:prstGeom>
            <a:noFill/>
          </p:spPr>
          <p:txBody>
            <a:bodyPr wrap="none" rtlCol="0">
              <a:spAutoFit/>
            </a:bodyPr>
            <a:lstStyle/>
            <a:p>
              <a:r>
                <a:rPr lang="en-US" dirty="0"/>
                <a:t>proc</a:t>
              </a:r>
            </a:p>
          </p:txBody>
        </p:sp>
        <p:sp>
          <p:nvSpPr>
            <p:cNvPr id="22" name="TextBox 21">
              <a:extLst>
                <a:ext uri="{FF2B5EF4-FFF2-40B4-BE49-F238E27FC236}">
                  <a16:creationId xmlns:a16="http://schemas.microsoft.com/office/drawing/2014/main" id="{F071C2A8-287B-C540-8A27-7EB304D3EE69}"/>
                </a:ext>
              </a:extLst>
            </p:cNvPr>
            <p:cNvSpPr txBox="1"/>
            <p:nvPr/>
          </p:nvSpPr>
          <p:spPr>
            <a:xfrm>
              <a:off x="11146781" y="4544060"/>
              <a:ext cx="602537" cy="369332"/>
            </a:xfrm>
            <a:prstGeom prst="rect">
              <a:avLst/>
            </a:prstGeom>
            <a:noFill/>
          </p:spPr>
          <p:txBody>
            <a:bodyPr wrap="none" rtlCol="0">
              <a:spAutoFit/>
            </a:bodyPr>
            <a:lstStyle/>
            <a:p>
              <a:r>
                <a:rPr lang="en-US" dirty="0"/>
                <a:t>proc</a:t>
              </a:r>
            </a:p>
          </p:txBody>
        </p:sp>
      </p:grpSp>
      <p:sp>
        <p:nvSpPr>
          <p:cNvPr id="24" name="Rectangle 23">
            <a:extLst>
              <a:ext uri="{FF2B5EF4-FFF2-40B4-BE49-F238E27FC236}">
                <a16:creationId xmlns:a16="http://schemas.microsoft.com/office/drawing/2014/main" id="{EDE78338-10EE-3947-A370-BB47DE6F6E9A}"/>
              </a:ext>
            </a:extLst>
          </p:cNvPr>
          <p:cNvSpPr/>
          <p:nvPr/>
        </p:nvSpPr>
        <p:spPr>
          <a:xfrm>
            <a:off x="0" y="4544060"/>
            <a:ext cx="8550275" cy="23139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0320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D849-8D96-3A45-B57D-C47FF2874AC2}"/>
              </a:ext>
            </a:extLst>
          </p:cNvPr>
          <p:cNvSpPr>
            <a:spLocks noGrp="1"/>
          </p:cNvSpPr>
          <p:nvPr>
            <p:ph type="title"/>
          </p:nvPr>
        </p:nvSpPr>
        <p:spPr>
          <a:xfrm>
            <a:off x="228600" y="0"/>
            <a:ext cx="11760200" cy="1325563"/>
          </a:xfrm>
        </p:spPr>
        <p:txBody>
          <a:bodyPr/>
          <a:lstStyle/>
          <a:p>
            <a:r>
              <a:rPr lang="en-US" dirty="0"/>
              <a:t>Basic system architecture and memory sharing</a:t>
            </a:r>
          </a:p>
        </p:txBody>
      </p:sp>
      <p:sp>
        <p:nvSpPr>
          <p:cNvPr id="3" name="Content Placeholder 2">
            <a:extLst>
              <a:ext uri="{FF2B5EF4-FFF2-40B4-BE49-F238E27FC236}">
                <a16:creationId xmlns:a16="http://schemas.microsoft.com/office/drawing/2014/main" id="{C06E0292-4860-2F44-A3B0-0F112AB5843E}"/>
              </a:ext>
            </a:extLst>
          </p:cNvPr>
          <p:cNvSpPr>
            <a:spLocks noGrp="1"/>
          </p:cNvSpPr>
          <p:nvPr>
            <p:ph idx="1"/>
          </p:nvPr>
        </p:nvSpPr>
        <p:spPr>
          <a:xfrm>
            <a:off x="0" y="1325563"/>
            <a:ext cx="8362951" cy="6116637"/>
          </a:xfrm>
        </p:spPr>
        <p:txBody>
          <a:bodyPr>
            <a:normAutofit/>
          </a:bodyPr>
          <a:lstStyle/>
          <a:p>
            <a:r>
              <a:rPr lang="en-US" dirty="0"/>
              <a:t>The basic computing unit is the </a:t>
            </a:r>
            <a:r>
              <a:rPr lang="en-US" i="1" dirty="0">
                <a:solidFill>
                  <a:srgbClr val="FF0000"/>
                </a:solidFill>
              </a:rPr>
              <a:t>processor</a:t>
            </a:r>
            <a:r>
              <a:rPr lang="en-US" dirty="0"/>
              <a:t> (CPU)</a:t>
            </a:r>
          </a:p>
          <a:p>
            <a:r>
              <a:rPr lang="en-US" dirty="0"/>
              <a:t>Processors are usually composed of several </a:t>
            </a:r>
            <a:r>
              <a:rPr lang="en-US" i="1" dirty="0">
                <a:solidFill>
                  <a:srgbClr val="FF0000"/>
                </a:solidFill>
              </a:rPr>
              <a:t>cores</a:t>
            </a:r>
            <a:r>
              <a:rPr lang="en-US" dirty="0"/>
              <a:t>   (intel i3, 2-4 cores; i7, 6-8 cores; i9. 8-16 cores).</a:t>
            </a:r>
          </a:p>
          <a:p>
            <a:r>
              <a:rPr lang="en-US" dirty="0"/>
              <a:t>When a program is executed it runs on </a:t>
            </a:r>
            <a:r>
              <a:rPr lang="en-US" i="1" dirty="0">
                <a:solidFill>
                  <a:srgbClr val="0070C0"/>
                </a:solidFill>
              </a:rPr>
              <a:t>processes</a:t>
            </a:r>
            <a:r>
              <a:rPr lang="en-US" i="1" dirty="0"/>
              <a:t>, </a:t>
            </a:r>
            <a:r>
              <a:rPr lang="en-US" dirty="0"/>
              <a:t>where each process is assigned to a specific core</a:t>
            </a:r>
            <a:r>
              <a:rPr lang="en-US" i="1" dirty="0"/>
              <a:t>. </a:t>
            </a:r>
          </a:p>
          <a:p>
            <a:r>
              <a:rPr lang="en-US" dirty="0"/>
              <a:t>A process has its own virtual memory space that cannot be accessed by other processes. </a:t>
            </a:r>
          </a:p>
          <a:p>
            <a:r>
              <a:rPr lang="en-US" dirty="0"/>
              <a:t>A process can create several </a:t>
            </a:r>
            <a:r>
              <a:rPr lang="en-US" i="1" dirty="0">
                <a:solidFill>
                  <a:srgbClr val="0070C0"/>
                </a:solidFill>
              </a:rPr>
              <a:t>threads</a:t>
            </a:r>
            <a:r>
              <a:rPr lang="en-US" dirty="0"/>
              <a:t>, which can work independently executing different codes. </a:t>
            </a:r>
          </a:p>
          <a:p>
            <a:r>
              <a:rPr lang="en-US" dirty="0"/>
              <a:t>All </a:t>
            </a:r>
            <a:r>
              <a:rPr lang="en-US" i="1" dirty="0">
                <a:solidFill>
                  <a:srgbClr val="0070C0"/>
                </a:solidFill>
              </a:rPr>
              <a:t>threads</a:t>
            </a:r>
            <a:r>
              <a:rPr lang="en-US" dirty="0"/>
              <a:t> created by a </a:t>
            </a:r>
            <a:r>
              <a:rPr lang="en-US" i="1" dirty="0">
                <a:solidFill>
                  <a:srgbClr val="0070C0"/>
                </a:solidFill>
              </a:rPr>
              <a:t>process</a:t>
            </a:r>
            <a:r>
              <a:rPr lang="en-US" dirty="0"/>
              <a:t> share the virtual address space of that process. They read and write to the same address space in memory. </a:t>
            </a:r>
          </a:p>
        </p:txBody>
      </p:sp>
      <p:pic>
        <p:nvPicPr>
          <p:cNvPr id="5" name="Picture 4">
            <a:extLst>
              <a:ext uri="{FF2B5EF4-FFF2-40B4-BE49-F238E27FC236}">
                <a16:creationId xmlns:a16="http://schemas.microsoft.com/office/drawing/2014/main" id="{FBA1C31C-E709-AB48-8DE9-5AB3EF12BF67}"/>
              </a:ext>
            </a:extLst>
          </p:cNvPr>
          <p:cNvPicPr>
            <a:picLocks noChangeAspect="1"/>
          </p:cNvPicPr>
          <p:nvPr/>
        </p:nvPicPr>
        <p:blipFill rotWithShape="1">
          <a:blip r:embed="rId3"/>
          <a:srcRect r="52744" b="71293"/>
          <a:stretch/>
        </p:blipFill>
        <p:spPr>
          <a:xfrm>
            <a:off x="8737117" y="2079626"/>
            <a:ext cx="3340583" cy="3254374"/>
          </a:xfrm>
          <a:prstGeom prst="rect">
            <a:avLst/>
          </a:prstGeom>
        </p:spPr>
      </p:pic>
      <p:grpSp>
        <p:nvGrpSpPr>
          <p:cNvPr id="28" name="Group 27">
            <a:extLst>
              <a:ext uri="{FF2B5EF4-FFF2-40B4-BE49-F238E27FC236}">
                <a16:creationId xmlns:a16="http://schemas.microsoft.com/office/drawing/2014/main" id="{EB5545A2-16DD-5A48-A0CA-FA7BC6CF78C5}"/>
              </a:ext>
            </a:extLst>
          </p:cNvPr>
          <p:cNvGrpSpPr/>
          <p:nvPr/>
        </p:nvGrpSpPr>
        <p:grpSpPr>
          <a:xfrm>
            <a:off x="9067800" y="2324100"/>
            <a:ext cx="508000" cy="558800"/>
            <a:chOff x="9067800" y="2324100"/>
            <a:chExt cx="508000" cy="558800"/>
          </a:xfrm>
        </p:grpSpPr>
        <p:cxnSp>
          <p:nvCxnSpPr>
            <p:cNvPr id="6" name="Straight Connector 5">
              <a:extLst>
                <a:ext uri="{FF2B5EF4-FFF2-40B4-BE49-F238E27FC236}">
                  <a16:creationId xmlns:a16="http://schemas.microsoft.com/office/drawing/2014/main" id="{2104AF1D-426F-1045-ABED-81CE3747D16B}"/>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DAABB01-7C4D-A649-B904-809807DE3CA2}"/>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F516B51-B9A7-804C-8FEC-20A41B3DA5DE}"/>
              </a:ext>
            </a:extLst>
          </p:cNvPr>
          <p:cNvGrpSpPr/>
          <p:nvPr/>
        </p:nvGrpSpPr>
        <p:grpSpPr>
          <a:xfrm>
            <a:off x="9772650" y="2324100"/>
            <a:ext cx="508000" cy="558800"/>
            <a:chOff x="9067800" y="2324100"/>
            <a:chExt cx="508000" cy="558800"/>
          </a:xfrm>
        </p:grpSpPr>
        <p:cxnSp>
          <p:nvCxnSpPr>
            <p:cNvPr id="30" name="Straight Connector 29">
              <a:extLst>
                <a:ext uri="{FF2B5EF4-FFF2-40B4-BE49-F238E27FC236}">
                  <a16:creationId xmlns:a16="http://schemas.microsoft.com/office/drawing/2014/main" id="{E8EE5697-A957-9F4A-A198-564365522F23}"/>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D3F72F3-59BA-C74B-9529-165C750BA14E}"/>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647C65-6560-744D-8E45-93603454F3A0}"/>
              </a:ext>
            </a:extLst>
          </p:cNvPr>
          <p:cNvGrpSpPr/>
          <p:nvPr/>
        </p:nvGrpSpPr>
        <p:grpSpPr>
          <a:xfrm>
            <a:off x="10477499" y="2324100"/>
            <a:ext cx="508000" cy="558800"/>
            <a:chOff x="9067800" y="2324100"/>
            <a:chExt cx="508000" cy="558800"/>
          </a:xfrm>
        </p:grpSpPr>
        <p:cxnSp>
          <p:nvCxnSpPr>
            <p:cNvPr id="33" name="Straight Connector 32">
              <a:extLst>
                <a:ext uri="{FF2B5EF4-FFF2-40B4-BE49-F238E27FC236}">
                  <a16:creationId xmlns:a16="http://schemas.microsoft.com/office/drawing/2014/main" id="{0D36FE03-11A8-0948-9F59-040CD6C7FC76}"/>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11D2C01-35A3-0046-B0D8-6934D5ECA9C4}"/>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BEC3D0C1-7404-2D48-9A0F-39A5EB192DA5}"/>
              </a:ext>
            </a:extLst>
          </p:cNvPr>
          <p:cNvGrpSpPr/>
          <p:nvPr/>
        </p:nvGrpSpPr>
        <p:grpSpPr>
          <a:xfrm>
            <a:off x="11182348" y="2324100"/>
            <a:ext cx="508000" cy="558800"/>
            <a:chOff x="9067800" y="2324100"/>
            <a:chExt cx="508000" cy="558800"/>
          </a:xfrm>
        </p:grpSpPr>
        <p:cxnSp>
          <p:nvCxnSpPr>
            <p:cNvPr id="36" name="Straight Connector 35">
              <a:extLst>
                <a:ext uri="{FF2B5EF4-FFF2-40B4-BE49-F238E27FC236}">
                  <a16:creationId xmlns:a16="http://schemas.microsoft.com/office/drawing/2014/main" id="{1CBF15DF-29AE-8F4D-B464-7C852C077E58}"/>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B91652A-C2D1-2340-BF7E-2280F441F00C}"/>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E90B314D-4C9E-F94F-A9D4-FCA8E02199D3}"/>
              </a:ext>
            </a:extLst>
          </p:cNvPr>
          <p:cNvGrpSpPr/>
          <p:nvPr/>
        </p:nvGrpSpPr>
        <p:grpSpPr>
          <a:xfrm>
            <a:off x="9067800" y="3035301"/>
            <a:ext cx="508000" cy="558800"/>
            <a:chOff x="9067800" y="2324100"/>
            <a:chExt cx="508000" cy="558800"/>
          </a:xfrm>
        </p:grpSpPr>
        <p:cxnSp>
          <p:nvCxnSpPr>
            <p:cNvPr id="39" name="Straight Connector 38">
              <a:extLst>
                <a:ext uri="{FF2B5EF4-FFF2-40B4-BE49-F238E27FC236}">
                  <a16:creationId xmlns:a16="http://schemas.microsoft.com/office/drawing/2014/main" id="{E39C3A52-ECC9-154C-A965-BF1F0DD5518C}"/>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2C39358-73F3-414C-9116-C66FCA1B95C8}"/>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E23C8EF9-5EFB-A64E-A7E6-59B03B01DA9A}"/>
              </a:ext>
            </a:extLst>
          </p:cNvPr>
          <p:cNvGrpSpPr/>
          <p:nvPr/>
        </p:nvGrpSpPr>
        <p:grpSpPr>
          <a:xfrm>
            <a:off x="9772650" y="3035301"/>
            <a:ext cx="508000" cy="558800"/>
            <a:chOff x="9067800" y="2324100"/>
            <a:chExt cx="508000" cy="558800"/>
          </a:xfrm>
        </p:grpSpPr>
        <p:cxnSp>
          <p:nvCxnSpPr>
            <p:cNvPr id="42" name="Straight Connector 41">
              <a:extLst>
                <a:ext uri="{FF2B5EF4-FFF2-40B4-BE49-F238E27FC236}">
                  <a16:creationId xmlns:a16="http://schemas.microsoft.com/office/drawing/2014/main" id="{E7651F05-7848-1D4A-9B5C-8734F67993E3}"/>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DF6009E-8492-824B-AAFA-E2CD12CAA04E}"/>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6E976B2A-9133-974D-818C-E0D65B4BC2D1}"/>
              </a:ext>
            </a:extLst>
          </p:cNvPr>
          <p:cNvGrpSpPr/>
          <p:nvPr/>
        </p:nvGrpSpPr>
        <p:grpSpPr>
          <a:xfrm>
            <a:off x="10477499" y="3035301"/>
            <a:ext cx="508000" cy="558800"/>
            <a:chOff x="9067800" y="2324100"/>
            <a:chExt cx="508000" cy="558800"/>
          </a:xfrm>
        </p:grpSpPr>
        <p:cxnSp>
          <p:nvCxnSpPr>
            <p:cNvPr id="45" name="Straight Connector 44">
              <a:extLst>
                <a:ext uri="{FF2B5EF4-FFF2-40B4-BE49-F238E27FC236}">
                  <a16:creationId xmlns:a16="http://schemas.microsoft.com/office/drawing/2014/main" id="{7B77188C-2DB9-6F4F-815F-835498785442}"/>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E2E6FA3-9B5C-6942-97D8-7F2C4DAC2BDF}"/>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680B919C-0A8E-B440-AA26-BC0BCE6C0511}"/>
              </a:ext>
            </a:extLst>
          </p:cNvPr>
          <p:cNvGrpSpPr/>
          <p:nvPr/>
        </p:nvGrpSpPr>
        <p:grpSpPr>
          <a:xfrm>
            <a:off x="11182348" y="3035301"/>
            <a:ext cx="508000" cy="558800"/>
            <a:chOff x="9067800" y="2324100"/>
            <a:chExt cx="508000" cy="558800"/>
          </a:xfrm>
        </p:grpSpPr>
        <p:cxnSp>
          <p:nvCxnSpPr>
            <p:cNvPr id="48" name="Straight Connector 47">
              <a:extLst>
                <a:ext uri="{FF2B5EF4-FFF2-40B4-BE49-F238E27FC236}">
                  <a16:creationId xmlns:a16="http://schemas.microsoft.com/office/drawing/2014/main" id="{289B9231-2C6A-C24A-8D8A-EEB1D4F356F4}"/>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B8C65FC-AD74-404D-83B1-C559CD35C944}"/>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33AB50ED-CA6B-5046-B4A5-EFEE53DF9946}"/>
              </a:ext>
            </a:extLst>
          </p:cNvPr>
          <p:cNvGrpSpPr/>
          <p:nvPr/>
        </p:nvGrpSpPr>
        <p:grpSpPr>
          <a:xfrm>
            <a:off x="9067800" y="3746501"/>
            <a:ext cx="508000" cy="558800"/>
            <a:chOff x="9067800" y="2324100"/>
            <a:chExt cx="508000" cy="558800"/>
          </a:xfrm>
        </p:grpSpPr>
        <p:cxnSp>
          <p:nvCxnSpPr>
            <p:cNvPr id="51" name="Straight Connector 50">
              <a:extLst>
                <a:ext uri="{FF2B5EF4-FFF2-40B4-BE49-F238E27FC236}">
                  <a16:creationId xmlns:a16="http://schemas.microsoft.com/office/drawing/2014/main" id="{7627F892-24C7-DA49-AAEB-EA350B14E704}"/>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A095501-BCE1-4046-8F8E-898F9D4189FA}"/>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A494716A-234E-134A-845C-1D434FF27F6A}"/>
              </a:ext>
            </a:extLst>
          </p:cNvPr>
          <p:cNvGrpSpPr/>
          <p:nvPr/>
        </p:nvGrpSpPr>
        <p:grpSpPr>
          <a:xfrm>
            <a:off x="9772650" y="3746501"/>
            <a:ext cx="508000" cy="558800"/>
            <a:chOff x="9067800" y="2324100"/>
            <a:chExt cx="508000" cy="558800"/>
          </a:xfrm>
        </p:grpSpPr>
        <p:cxnSp>
          <p:nvCxnSpPr>
            <p:cNvPr id="54" name="Straight Connector 53">
              <a:extLst>
                <a:ext uri="{FF2B5EF4-FFF2-40B4-BE49-F238E27FC236}">
                  <a16:creationId xmlns:a16="http://schemas.microsoft.com/office/drawing/2014/main" id="{EC0935E4-51EE-6A43-9CA3-38D0F2F55EEA}"/>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BC100A-2643-E244-9446-C1B8DC7393A8}"/>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0B09F1B3-DB9E-584C-8987-797AE6C47479}"/>
              </a:ext>
            </a:extLst>
          </p:cNvPr>
          <p:cNvGrpSpPr/>
          <p:nvPr/>
        </p:nvGrpSpPr>
        <p:grpSpPr>
          <a:xfrm>
            <a:off x="10477499" y="3746501"/>
            <a:ext cx="508000" cy="558800"/>
            <a:chOff x="9067800" y="2324100"/>
            <a:chExt cx="508000" cy="558800"/>
          </a:xfrm>
        </p:grpSpPr>
        <p:cxnSp>
          <p:nvCxnSpPr>
            <p:cNvPr id="57" name="Straight Connector 56">
              <a:extLst>
                <a:ext uri="{FF2B5EF4-FFF2-40B4-BE49-F238E27FC236}">
                  <a16:creationId xmlns:a16="http://schemas.microsoft.com/office/drawing/2014/main" id="{6764D4EF-D924-A942-97C5-2C1EF2B79FD9}"/>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DB912DE-1F91-8B42-9DF0-2B708D7BF90F}"/>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20F7F973-24F6-7E41-863F-BE00E0E0F2F3}"/>
              </a:ext>
            </a:extLst>
          </p:cNvPr>
          <p:cNvGrpSpPr/>
          <p:nvPr/>
        </p:nvGrpSpPr>
        <p:grpSpPr>
          <a:xfrm>
            <a:off x="11182348" y="3746501"/>
            <a:ext cx="508000" cy="558800"/>
            <a:chOff x="9067800" y="2324100"/>
            <a:chExt cx="508000" cy="558800"/>
          </a:xfrm>
        </p:grpSpPr>
        <p:cxnSp>
          <p:nvCxnSpPr>
            <p:cNvPr id="60" name="Straight Connector 59">
              <a:extLst>
                <a:ext uri="{FF2B5EF4-FFF2-40B4-BE49-F238E27FC236}">
                  <a16:creationId xmlns:a16="http://schemas.microsoft.com/office/drawing/2014/main" id="{F65808AC-BA79-C048-8F17-CD05BEF310F3}"/>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4C826D6-E90F-9146-9AB9-CC97C2B205A6}"/>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DB29D589-4DD7-8240-823A-C60AF5867E5F}"/>
              </a:ext>
            </a:extLst>
          </p:cNvPr>
          <p:cNvGrpSpPr/>
          <p:nvPr/>
        </p:nvGrpSpPr>
        <p:grpSpPr>
          <a:xfrm>
            <a:off x="9067800" y="4457700"/>
            <a:ext cx="508000" cy="558800"/>
            <a:chOff x="9067800" y="2324100"/>
            <a:chExt cx="508000" cy="558800"/>
          </a:xfrm>
        </p:grpSpPr>
        <p:cxnSp>
          <p:nvCxnSpPr>
            <p:cNvPr id="63" name="Straight Connector 62">
              <a:extLst>
                <a:ext uri="{FF2B5EF4-FFF2-40B4-BE49-F238E27FC236}">
                  <a16:creationId xmlns:a16="http://schemas.microsoft.com/office/drawing/2014/main" id="{C5FBD6E2-2304-4A43-B30D-01D9A8A6FF17}"/>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83FBB3-524C-EC41-B88C-0CDCEE792158}"/>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D6EF5501-3890-384F-93C3-C3B836A5A948}"/>
              </a:ext>
            </a:extLst>
          </p:cNvPr>
          <p:cNvGrpSpPr/>
          <p:nvPr/>
        </p:nvGrpSpPr>
        <p:grpSpPr>
          <a:xfrm>
            <a:off x="9772650" y="4457700"/>
            <a:ext cx="508000" cy="558800"/>
            <a:chOff x="9067800" y="2324100"/>
            <a:chExt cx="508000" cy="558800"/>
          </a:xfrm>
        </p:grpSpPr>
        <p:cxnSp>
          <p:nvCxnSpPr>
            <p:cNvPr id="66" name="Straight Connector 65">
              <a:extLst>
                <a:ext uri="{FF2B5EF4-FFF2-40B4-BE49-F238E27FC236}">
                  <a16:creationId xmlns:a16="http://schemas.microsoft.com/office/drawing/2014/main" id="{C33B6548-4A61-3147-8A63-5025896DA89C}"/>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FA6E102-57BF-AC4B-888E-43D648B06E3E}"/>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ECD958DD-8812-8C4F-A182-7307591086C3}"/>
              </a:ext>
            </a:extLst>
          </p:cNvPr>
          <p:cNvGrpSpPr/>
          <p:nvPr/>
        </p:nvGrpSpPr>
        <p:grpSpPr>
          <a:xfrm>
            <a:off x="10477499" y="4457700"/>
            <a:ext cx="508000" cy="558800"/>
            <a:chOff x="9067800" y="2324100"/>
            <a:chExt cx="508000" cy="558800"/>
          </a:xfrm>
        </p:grpSpPr>
        <p:cxnSp>
          <p:nvCxnSpPr>
            <p:cNvPr id="69" name="Straight Connector 68">
              <a:extLst>
                <a:ext uri="{FF2B5EF4-FFF2-40B4-BE49-F238E27FC236}">
                  <a16:creationId xmlns:a16="http://schemas.microsoft.com/office/drawing/2014/main" id="{83CD3C93-0747-5C4C-B68E-3180DCA5EFB8}"/>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FCA305A-3F7F-704D-B7E3-57BE32D0BB8C}"/>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951ACC67-F593-9B4B-82CE-4DFDFBCB90EE}"/>
              </a:ext>
            </a:extLst>
          </p:cNvPr>
          <p:cNvGrpSpPr/>
          <p:nvPr/>
        </p:nvGrpSpPr>
        <p:grpSpPr>
          <a:xfrm>
            <a:off x="11182348" y="4457700"/>
            <a:ext cx="508000" cy="558800"/>
            <a:chOff x="9067800" y="2324100"/>
            <a:chExt cx="508000" cy="558800"/>
          </a:xfrm>
        </p:grpSpPr>
        <p:cxnSp>
          <p:nvCxnSpPr>
            <p:cNvPr id="72" name="Straight Connector 71">
              <a:extLst>
                <a:ext uri="{FF2B5EF4-FFF2-40B4-BE49-F238E27FC236}">
                  <a16:creationId xmlns:a16="http://schemas.microsoft.com/office/drawing/2014/main" id="{33F8D37B-79EC-1345-B66C-4C21A450724B}"/>
                </a:ext>
              </a:extLst>
            </p:cNvPr>
            <p:cNvCxnSpPr>
              <a:cxnSpLocks/>
            </p:cNvCxnSpPr>
            <p:nvPr/>
          </p:nvCxnSpPr>
          <p:spPr>
            <a:xfrm>
              <a:off x="9321800" y="2324100"/>
              <a:ext cx="0" cy="5588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08A2D31-2932-0C4F-BE8E-6E5A899C06AA}"/>
                </a:ext>
              </a:extLst>
            </p:cNvPr>
            <p:cNvCxnSpPr>
              <a:cxnSpLocks/>
            </p:cNvCxnSpPr>
            <p:nvPr/>
          </p:nvCxnSpPr>
          <p:spPr>
            <a:xfrm flipH="1">
              <a:off x="9067800" y="2616200"/>
              <a:ext cx="50800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17412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D849-8D96-3A45-B57D-C47FF2874AC2}"/>
              </a:ext>
            </a:extLst>
          </p:cNvPr>
          <p:cNvSpPr>
            <a:spLocks noGrp="1"/>
          </p:cNvSpPr>
          <p:nvPr>
            <p:ph type="title"/>
          </p:nvPr>
        </p:nvSpPr>
        <p:spPr>
          <a:xfrm>
            <a:off x="228600" y="0"/>
            <a:ext cx="11760200" cy="1325563"/>
          </a:xfrm>
        </p:spPr>
        <p:txBody>
          <a:bodyPr/>
          <a:lstStyle/>
          <a:p>
            <a:r>
              <a:rPr lang="en-US" dirty="0"/>
              <a:t>Basic system architecture and memory sharing</a:t>
            </a:r>
          </a:p>
        </p:txBody>
      </p:sp>
      <p:sp>
        <p:nvSpPr>
          <p:cNvPr id="3" name="Content Placeholder 2">
            <a:extLst>
              <a:ext uri="{FF2B5EF4-FFF2-40B4-BE49-F238E27FC236}">
                <a16:creationId xmlns:a16="http://schemas.microsoft.com/office/drawing/2014/main" id="{C06E0292-4860-2F44-A3B0-0F112AB5843E}"/>
              </a:ext>
            </a:extLst>
          </p:cNvPr>
          <p:cNvSpPr>
            <a:spLocks noGrp="1"/>
          </p:cNvSpPr>
          <p:nvPr>
            <p:ph idx="1"/>
          </p:nvPr>
        </p:nvSpPr>
        <p:spPr>
          <a:xfrm>
            <a:off x="0" y="1325563"/>
            <a:ext cx="8572500" cy="6116637"/>
          </a:xfrm>
        </p:spPr>
        <p:txBody>
          <a:bodyPr>
            <a:normAutofit/>
          </a:bodyPr>
          <a:lstStyle/>
          <a:p>
            <a:r>
              <a:rPr lang="en-US" dirty="0"/>
              <a:t>Two major classes of parallel programming models:</a:t>
            </a:r>
          </a:p>
          <a:p>
            <a:pPr lvl="1"/>
            <a:r>
              <a:rPr lang="en-US" sz="2800" dirty="0"/>
              <a:t>Shared Memory </a:t>
            </a:r>
          </a:p>
          <a:p>
            <a:pPr lvl="1"/>
            <a:r>
              <a:rPr lang="en-US" sz="2800" dirty="0"/>
              <a:t>Distributed Memory</a:t>
            </a:r>
          </a:p>
        </p:txBody>
      </p:sp>
      <p:pic>
        <p:nvPicPr>
          <p:cNvPr id="4" name="Picture 3">
            <a:extLst>
              <a:ext uri="{FF2B5EF4-FFF2-40B4-BE49-F238E27FC236}">
                <a16:creationId xmlns:a16="http://schemas.microsoft.com/office/drawing/2014/main" id="{CCB10E28-7F0F-F145-8875-F80B4C60C043}"/>
              </a:ext>
            </a:extLst>
          </p:cNvPr>
          <p:cNvPicPr>
            <a:picLocks noChangeAspect="1"/>
          </p:cNvPicPr>
          <p:nvPr/>
        </p:nvPicPr>
        <p:blipFill>
          <a:blip r:embed="rId3"/>
          <a:stretch>
            <a:fillRect/>
          </a:stretch>
        </p:blipFill>
        <p:spPr>
          <a:xfrm>
            <a:off x="1770335" y="3379995"/>
            <a:ext cx="7718037" cy="3179831"/>
          </a:xfrm>
          <a:prstGeom prst="rect">
            <a:avLst/>
          </a:prstGeom>
        </p:spPr>
      </p:pic>
    </p:spTree>
    <p:extLst>
      <p:ext uri="{BB962C8B-B14F-4D97-AF65-F5344CB8AC3E}">
        <p14:creationId xmlns:p14="http://schemas.microsoft.com/office/powerpoint/2010/main" val="1515832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8529" y="-189361"/>
            <a:ext cx="8229600" cy="1143000"/>
          </a:xfrm>
        </p:spPr>
        <p:txBody>
          <a:bodyPr/>
          <a:lstStyle/>
          <a:p>
            <a:r>
              <a:rPr lang="en-US" dirty="0"/>
              <a:t>Shared Memory Architecture</a:t>
            </a:r>
          </a:p>
        </p:txBody>
      </p:sp>
      <p:sp>
        <p:nvSpPr>
          <p:cNvPr id="11" name="Rectangle 10"/>
          <p:cNvSpPr/>
          <p:nvPr/>
        </p:nvSpPr>
        <p:spPr>
          <a:xfrm>
            <a:off x="2226010" y="1598158"/>
            <a:ext cx="1817256" cy="12756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CPU core #1</a:t>
            </a:r>
          </a:p>
        </p:txBody>
      </p:sp>
      <p:sp>
        <p:nvSpPr>
          <p:cNvPr id="12" name="Rectangle 11"/>
          <p:cNvSpPr/>
          <p:nvPr/>
        </p:nvSpPr>
        <p:spPr>
          <a:xfrm>
            <a:off x="4248539" y="3796511"/>
            <a:ext cx="3001488" cy="11860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t>Memory</a:t>
            </a:r>
            <a:br>
              <a:rPr lang="en-US" sz="2400"/>
            </a:br>
            <a:r>
              <a:rPr lang="en-US" sz="2400"/>
              <a:t>(Shared address space)</a:t>
            </a:r>
            <a:endParaRPr lang="en-US" sz="2400" dirty="0"/>
          </a:p>
        </p:txBody>
      </p:sp>
      <p:sp>
        <p:nvSpPr>
          <p:cNvPr id="13" name="Can 12"/>
          <p:cNvSpPr/>
          <p:nvPr/>
        </p:nvSpPr>
        <p:spPr>
          <a:xfrm>
            <a:off x="4077619" y="5786093"/>
            <a:ext cx="3172408" cy="989045"/>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disk</a:t>
            </a:r>
          </a:p>
        </p:txBody>
      </p:sp>
      <p:sp>
        <p:nvSpPr>
          <p:cNvPr id="16" name="TextBox 15"/>
          <p:cNvSpPr txBox="1"/>
          <p:nvPr/>
        </p:nvSpPr>
        <p:spPr>
          <a:xfrm>
            <a:off x="3875313" y="3062387"/>
            <a:ext cx="1374992" cy="369332"/>
          </a:xfrm>
          <a:prstGeom prst="rect">
            <a:avLst/>
          </a:prstGeom>
          <a:noFill/>
        </p:spPr>
        <p:txBody>
          <a:bodyPr wrap="none" rtlCol="0">
            <a:spAutoFit/>
          </a:bodyPr>
          <a:lstStyle/>
          <a:p>
            <a:r>
              <a:rPr lang="en-US" dirty="0"/>
              <a:t>Memory bus</a:t>
            </a:r>
          </a:p>
        </p:txBody>
      </p:sp>
      <p:sp>
        <p:nvSpPr>
          <p:cNvPr id="17" name="Rounded Rectangle 16"/>
          <p:cNvSpPr/>
          <p:nvPr/>
        </p:nvSpPr>
        <p:spPr>
          <a:xfrm flipH="1">
            <a:off x="1899953" y="1394445"/>
            <a:ext cx="7293810" cy="3772768"/>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p:cNvSpPr txBox="1"/>
          <p:nvPr/>
        </p:nvSpPr>
        <p:spPr>
          <a:xfrm>
            <a:off x="2037886" y="4557233"/>
            <a:ext cx="2041072" cy="461665"/>
          </a:xfrm>
          <a:prstGeom prst="rect">
            <a:avLst/>
          </a:prstGeom>
          <a:noFill/>
        </p:spPr>
        <p:txBody>
          <a:bodyPr wrap="none" rtlCol="0">
            <a:spAutoFit/>
          </a:bodyPr>
          <a:lstStyle/>
          <a:p>
            <a:r>
              <a:rPr lang="en-US" sz="2400"/>
              <a:t>Compute node</a:t>
            </a:r>
          </a:p>
        </p:txBody>
      </p:sp>
      <p:sp>
        <p:nvSpPr>
          <p:cNvPr id="21" name="TextBox 20"/>
          <p:cNvSpPr txBox="1"/>
          <p:nvPr/>
        </p:nvSpPr>
        <p:spPr>
          <a:xfrm>
            <a:off x="5993330" y="5371157"/>
            <a:ext cx="870751" cy="369332"/>
          </a:xfrm>
          <a:prstGeom prst="rect">
            <a:avLst/>
          </a:prstGeom>
          <a:noFill/>
        </p:spPr>
        <p:txBody>
          <a:bodyPr wrap="none" rtlCol="0">
            <a:spAutoFit/>
          </a:bodyPr>
          <a:lstStyle/>
          <a:p>
            <a:r>
              <a:rPr lang="en-US"/>
              <a:t>I/O bus</a:t>
            </a:r>
          </a:p>
        </p:txBody>
      </p:sp>
      <p:sp>
        <p:nvSpPr>
          <p:cNvPr id="22" name="Rounded Rectangle 21"/>
          <p:cNvSpPr/>
          <p:nvPr/>
        </p:nvSpPr>
        <p:spPr>
          <a:xfrm>
            <a:off x="2469785" y="2438986"/>
            <a:ext cx="1317830" cy="42726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Cache ($)</a:t>
            </a:r>
          </a:p>
        </p:txBody>
      </p:sp>
      <p:sp>
        <p:nvSpPr>
          <p:cNvPr id="29" name="Rectangle 28"/>
          <p:cNvSpPr/>
          <p:nvPr/>
        </p:nvSpPr>
        <p:spPr>
          <a:xfrm>
            <a:off x="4671643" y="1604141"/>
            <a:ext cx="1817256" cy="125441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CPU core #2</a:t>
            </a:r>
          </a:p>
        </p:txBody>
      </p:sp>
      <p:sp>
        <p:nvSpPr>
          <p:cNvPr id="30" name="Rounded Rectangle 29"/>
          <p:cNvSpPr/>
          <p:nvPr/>
        </p:nvSpPr>
        <p:spPr>
          <a:xfrm>
            <a:off x="4921356" y="2425422"/>
            <a:ext cx="1317830" cy="42726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Cache ($)</a:t>
            </a:r>
          </a:p>
        </p:txBody>
      </p:sp>
      <p:sp>
        <p:nvSpPr>
          <p:cNvPr id="35" name="TextBox 34"/>
          <p:cNvSpPr txBox="1"/>
          <p:nvPr/>
        </p:nvSpPr>
        <p:spPr>
          <a:xfrm>
            <a:off x="7122367" y="2146041"/>
            <a:ext cx="450764" cy="553998"/>
          </a:xfrm>
          <a:prstGeom prst="rect">
            <a:avLst/>
          </a:prstGeom>
          <a:noFill/>
        </p:spPr>
        <p:txBody>
          <a:bodyPr wrap="none" rtlCol="0">
            <a:spAutoFit/>
          </a:bodyPr>
          <a:lstStyle/>
          <a:p>
            <a:r>
              <a:rPr lang="mr-IN" sz="3000" dirty="0"/>
              <a:t>…</a:t>
            </a:r>
            <a:endParaRPr lang="en-US" sz="3000" dirty="0"/>
          </a:p>
        </p:txBody>
      </p:sp>
      <p:cxnSp>
        <p:nvCxnSpPr>
          <p:cNvPr id="37" name="Straight Connector 36"/>
          <p:cNvCxnSpPr/>
          <p:nvPr/>
        </p:nvCxnSpPr>
        <p:spPr>
          <a:xfrm>
            <a:off x="3072883" y="3394397"/>
            <a:ext cx="4963885" cy="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flipH="1" flipV="1">
            <a:off x="3097317" y="2873831"/>
            <a:ext cx="12889" cy="520567"/>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flipV="1">
            <a:off x="5626922" y="2886367"/>
            <a:ext cx="0" cy="50803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flipV="1">
            <a:off x="8074655" y="2886367"/>
            <a:ext cx="0" cy="508030"/>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4" name="Straight Connector 43"/>
          <p:cNvCxnSpPr>
            <a:stCxn id="12" idx="0"/>
          </p:cNvCxnSpPr>
          <p:nvPr/>
        </p:nvCxnSpPr>
        <p:spPr>
          <a:xfrm flipH="1" flipV="1">
            <a:off x="5733533" y="3394398"/>
            <a:ext cx="15751" cy="402113"/>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45" name="Up-Down Arrow 44"/>
          <p:cNvSpPr/>
          <p:nvPr/>
        </p:nvSpPr>
        <p:spPr>
          <a:xfrm>
            <a:off x="5626923" y="5167213"/>
            <a:ext cx="366407" cy="606056"/>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p:cNvSpPr/>
          <p:nvPr/>
        </p:nvSpPr>
        <p:spPr>
          <a:xfrm>
            <a:off x="7194018" y="1588592"/>
            <a:ext cx="1817256" cy="125441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CPU core #3</a:t>
            </a:r>
          </a:p>
        </p:txBody>
      </p:sp>
      <p:sp>
        <p:nvSpPr>
          <p:cNvPr id="47" name="Rounded Rectangle 46"/>
          <p:cNvSpPr/>
          <p:nvPr/>
        </p:nvSpPr>
        <p:spPr>
          <a:xfrm>
            <a:off x="7443731" y="2409873"/>
            <a:ext cx="1317830" cy="42726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Cache ($)</a:t>
            </a:r>
          </a:p>
        </p:txBody>
      </p:sp>
      <p:grpSp>
        <p:nvGrpSpPr>
          <p:cNvPr id="55" name="Group 54"/>
          <p:cNvGrpSpPr/>
          <p:nvPr/>
        </p:nvGrpSpPr>
        <p:grpSpPr>
          <a:xfrm>
            <a:off x="7424371" y="661066"/>
            <a:ext cx="1190876" cy="1362799"/>
            <a:chOff x="8133893" y="1287095"/>
            <a:chExt cx="1190876" cy="1362799"/>
          </a:xfrm>
        </p:grpSpPr>
        <p:sp>
          <p:nvSpPr>
            <p:cNvPr id="50" name="TextBox 49"/>
            <p:cNvSpPr txBox="1"/>
            <p:nvPr/>
          </p:nvSpPr>
          <p:spPr>
            <a:xfrm>
              <a:off x="8192393" y="1287095"/>
              <a:ext cx="1018099" cy="400110"/>
            </a:xfrm>
            <a:prstGeom prst="rect">
              <a:avLst/>
            </a:prstGeom>
            <a:noFill/>
          </p:spPr>
          <p:txBody>
            <a:bodyPr wrap="none" rtlCol="0">
              <a:spAutoFit/>
            </a:bodyPr>
            <a:lstStyle/>
            <a:p>
              <a:r>
                <a:rPr lang="en-US" sz="2000" dirty="0"/>
                <a:t>Threads</a:t>
              </a:r>
            </a:p>
          </p:txBody>
        </p:sp>
        <p:sp>
          <p:nvSpPr>
            <p:cNvPr id="52" name="Freeform 51"/>
            <p:cNvSpPr/>
            <p:nvPr/>
          </p:nvSpPr>
          <p:spPr>
            <a:xfrm>
              <a:off x="8133893" y="1642188"/>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Freeform 52"/>
            <p:cNvSpPr/>
            <p:nvPr/>
          </p:nvSpPr>
          <p:spPr>
            <a:xfrm>
              <a:off x="8570684" y="162280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Freeform 53"/>
            <p:cNvSpPr/>
            <p:nvPr/>
          </p:nvSpPr>
          <p:spPr>
            <a:xfrm>
              <a:off x="9023762" y="158859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6" name="Group 55"/>
          <p:cNvGrpSpPr/>
          <p:nvPr/>
        </p:nvGrpSpPr>
        <p:grpSpPr>
          <a:xfrm>
            <a:off x="2469684" y="662204"/>
            <a:ext cx="1190876" cy="1382397"/>
            <a:chOff x="8133893" y="1267497"/>
            <a:chExt cx="1190876" cy="1382397"/>
          </a:xfrm>
        </p:grpSpPr>
        <p:sp>
          <p:nvSpPr>
            <p:cNvPr id="57" name="TextBox 56"/>
            <p:cNvSpPr txBox="1"/>
            <p:nvPr/>
          </p:nvSpPr>
          <p:spPr>
            <a:xfrm>
              <a:off x="8212137" y="1267497"/>
              <a:ext cx="1018099" cy="400110"/>
            </a:xfrm>
            <a:prstGeom prst="rect">
              <a:avLst/>
            </a:prstGeom>
            <a:noFill/>
          </p:spPr>
          <p:txBody>
            <a:bodyPr wrap="none" rtlCol="0">
              <a:spAutoFit/>
            </a:bodyPr>
            <a:lstStyle/>
            <a:p>
              <a:r>
                <a:rPr lang="en-US" sz="2000" dirty="0"/>
                <a:t>Threads</a:t>
              </a:r>
            </a:p>
          </p:txBody>
        </p:sp>
        <p:sp>
          <p:nvSpPr>
            <p:cNvPr id="58" name="Freeform 57"/>
            <p:cNvSpPr/>
            <p:nvPr/>
          </p:nvSpPr>
          <p:spPr>
            <a:xfrm>
              <a:off x="8133893" y="1642188"/>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Freeform 58"/>
            <p:cNvSpPr/>
            <p:nvPr/>
          </p:nvSpPr>
          <p:spPr>
            <a:xfrm>
              <a:off x="8570684" y="162280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Freeform 59"/>
            <p:cNvSpPr/>
            <p:nvPr/>
          </p:nvSpPr>
          <p:spPr>
            <a:xfrm>
              <a:off x="9023762" y="158859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p:cNvGrpSpPr/>
          <p:nvPr/>
        </p:nvGrpSpPr>
        <p:grpSpPr>
          <a:xfrm>
            <a:off x="4854891" y="667441"/>
            <a:ext cx="1190876" cy="1362799"/>
            <a:chOff x="8133893" y="1287095"/>
            <a:chExt cx="1190876" cy="1362799"/>
          </a:xfrm>
        </p:grpSpPr>
        <p:sp>
          <p:nvSpPr>
            <p:cNvPr id="62" name="TextBox 61"/>
            <p:cNvSpPr txBox="1"/>
            <p:nvPr/>
          </p:nvSpPr>
          <p:spPr>
            <a:xfrm>
              <a:off x="8192393" y="1287095"/>
              <a:ext cx="1018099" cy="400110"/>
            </a:xfrm>
            <a:prstGeom prst="rect">
              <a:avLst/>
            </a:prstGeom>
            <a:noFill/>
          </p:spPr>
          <p:txBody>
            <a:bodyPr wrap="none" rtlCol="0">
              <a:spAutoFit/>
            </a:bodyPr>
            <a:lstStyle/>
            <a:p>
              <a:r>
                <a:rPr lang="en-US" sz="2000" dirty="0"/>
                <a:t>Threads</a:t>
              </a:r>
            </a:p>
          </p:txBody>
        </p:sp>
        <p:sp>
          <p:nvSpPr>
            <p:cNvPr id="63" name="Freeform 62"/>
            <p:cNvSpPr/>
            <p:nvPr/>
          </p:nvSpPr>
          <p:spPr>
            <a:xfrm>
              <a:off x="8133893" y="1642188"/>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Freeform 63"/>
            <p:cNvSpPr/>
            <p:nvPr/>
          </p:nvSpPr>
          <p:spPr>
            <a:xfrm>
              <a:off x="8570684" y="162280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Freeform 64"/>
            <p:cNvSpPr/>
            <p:nvPr/>
          </p:nvSpPr>
          <p:spPr>
            <a:xfrm>
              <a:off x="9023762" y="158859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1" name="TextBox 70"/>
          <p:cNvSpPr txBox="1"/>
          <p:nvPr/>
        </p:nvSpPr>
        <p:spPr>
          <a:xfrm>
            <a:off x="9193763" y="3587736"/>
            <a:ext cx="2885983" cy="1200329"/>
          </a:xfrm>
          <a:prstGeom prst="rect">
            <a:avLst/>
          </a:prstGeom>
          <a:noFill/>
        </p:spPr>
        <p:txBody>
          <a:bodyPr wrap="none" rtlCol="0">
            <a:spAutoFit/>
          </a:bodyPr>
          <a:lstStyle/>
          <a:p>
            <a:r>
              <a:rPr lang="en-US" dirty="0"/>
              <a:t>All threads can see a single </a:t>
            </a:r>
            <a:br>
              <a:rPr lang="en-US" dirty="0"/>
            </a:br>
            <a:r>
              <a:rPr lang="en-US" dirty="0"/>
              <a:t>shared address space. </a:t>
            </a:r>
            <a:br>
              <a:rPr lang="en-US" dirty="0"/>
            </a:br>
            <a:r>
              <a:rPr lang="en-US" dirty="0"/>
              <a:t>Therefore, they can see each</a:t>
            </a:r>
            <a:br>
              <a:rPr lang="en-US" dirty="0"/>
            </a:br>
            <a:r>
              <a:rPr lang="en-US" dirty="0"/>
              <a:t>other’s data.</a:t>
            </a:r>
          </a:p>
        </p:txBody>
      </p:sp>
      <p:sp>
        <p:nvSpPr>
          <p:cNvPr id="38" name="Rounded Rectangle 37"/>
          <p:cNvSpPr/>
          <p:nvPr/>
        </p:nvSpPr>
        <p:spPr>
          <a:xfrm>
            <a:off x="7466273" y="5359180"/>
            <a:ext cx="3510723" cy="113052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tx1"/>
                </a:solidFill>
              </a:rPr>
              <a:t>Each compute node has 1-2 CPUs each with 10-96 cores</a:t>
            </a:r>
          </a:p>
        </p:txBody>
      </p:sp>
    </p:spTree>
    <p:extLst>
      <p:ext uri="{BB962C8B-B14F-4D97-AF65-F5344CB8AC3E}">
        <p14:creationId xmlns:p14="http://schemas.microsoft.com/office/powerpoint/2010/main" val="1996244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838200" y="19867"/>
            <a:ext cx="10515600" cy="1325563"/>
          </a:xfrm>
        </p:spPr>
        <p:txBody>
          <a:bodyPr>
            <a:normAutofit/>
          </a:bodyPr>
          <a:lstStyle/>
          <a:p>
            <a:r>
              <a:rPr lang="en-US" dirty="0">
                <a:latin typeface="Arial" charset="0"/>
              </a:rPr>
              <a:t>Multi-Threading  (for shared memory architectures)</a:t>
            </a:r>
          </a:p>
        </p:txBody>
      </p:sp>
      <p:sp>
        <p:nvSpPr>
          <p:cNvPr id="32770" name="Content Placeholder 2"/>
          <p:cNvSpPr>
            <a:spLocks noGrp="1"/>
          </p:cNvSpPr>
          <p:nvPr>
            <p:ph idx="1"/>
          </p:nvPr>
        </p:nvSpPr>
        <p:spPr>
          <a:xfrm>
            <a:off x="965996" y="1600200"/>
            <a:ext cx="5792933" cy="4588505"/>
          </a:xfrm>
        </p:spPr>
        <p:txBody>
          <a:bodyPr>
            <a:normAutofit fontScale="77500" lnSpcReduction="20000"/>
          </a:bodyPr>
          <a:lstStyle/>
          <a:p>
            <a:r>
              <a:rPr lang="en-US" dirty="0">
                <a:latin typeface="Arial" charset="0"/>
              </a:rPr>
              <a:t>Threads are contained within processes</a:t>
            </a:r>
          </a:p>
          <a:p>
            <a:pPr lvl="1"/>
            <a:r>
              <a:rPr lang="en-US" dirty="0">
                <a:latin typeface="Arial" charset="0"/>
              </a:rPr>
              <a:t>One process =&gt; multiple threads</a:t>
            </a:r>
          </a:p>
          <a:p>
            <a:endParaRPr lang="en-US" dirty="0">
              <a:latin typeface="Arial" charset="0"/>
            </a:endParaRPr>
          </a:p>
          <a:p>
            <a:r>
              <a:rPr lang="en-US" dirty="0">
                <a:latin typeface="Arial" charset="0"/>
              </a:rPr>
              <a:t>All threads of a process share the same address space (in memory).</a:t>
            </a:r>
          </a:p>
          <a:p>
            <a:endParaRPr lang="en-US" dirty="0">
              <a:latin typeface="Arial" charset="0"/>
            </a:endParaRPr>
          </a:p>
          <a:p>
            <a:r>
              <a:rPr lang="en-US" dirty="0">
                <a:latin typeface="Arial" charset="0"/>
              </a:rPr>
              <a:t>Threads have the capability to run concurrently (executing different instructions and accessing different pieces of data at the same time)</a:t>
            </a:r>
          </a:p>
          <a:p>
            <a:endParaRPr lang="en-US" dirty="0">
              <a:latin typeface="Arial" charset="0"/>
            </a:endParaRPr>
          </a:p>
          <a:p>
            <a:r>
              <a:rPr lang="en-US" dirty="0">
                <a:latin typeface="Arial" charset="0"/>
              </a:rPr>
              <a:t>But if the resource is occupied by another thread, they form a queue and wait.</a:t>
            </a:r>
          </a:p>
          <a:p>
            <a:pPr lvl="1"/>
            <a:r>
              <a:rPr lang="en-US" dirty="0">
                <a:latin typeface="Arial" charset="0"/>
              </a:rPr>
              <a:t>For maximum throughput, it is ideal to map each thread to a unique/distinct core</a:t>
            </a:r>
          </a:p>
        </p:txBody>
      </p:sp>
      <p:sp>
        <p:nvSpPr>
          <p:cNvPr id="4" name="Footer Placeholder 3"/>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
        <p:nvSpPr>
          <p:cNvPr id="6" name="Rectangle 5"/>
          <p:cNvSpPr/>
          <p:nvPr/>
        </p:nvSpPr>
        <p:spPr>
          <a:xfrm>
            <a:off x="7272795" y="2624767"/>
            <a:ext cx="1817256" cy="12756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CPU cores</a:t>
            </a:r>
          </a:p>
        </p:txBody>
      </p:sp>
      <p:sp>
        <p:nvSpPr>
          <p:cNvPr id="7" name="Rounded Rectangle 6"/>
          <p:cNvSpPr/>
          <p:nvPr/>
        </p:nvSpPr>
        <p:spPr>
          <a:xfrm>
            <a:off x="7516570" y="3465595"/>
            <a:ext cx="1317830" cy="42726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Cache ($)</a:t>
            </a:r>
          </a:p>
        </p:txBody>
      </p:sp>
      <p:grpSp>
        <p:nvGrpSpPr>
          <p:cNvPr id="8" name="Group 7"/>
          <p:cNvGrpSpPr/>
          <p:nvPr/>
        </p:nvGrpSpPr>
        <p:grpSpPr>
          <a:xfrm>
            <a:off x="7516469" y="1688813"/>
            <a:ext cx="1190876" cy="1382397"/>
            <a:chOff x="8133893" y="1267497"/>
            <a:chExt cx="1190876" cy="1382397"/>
          </a:xfrm>
        </p:grpSpPr>
        <p:sp>
          <p:nvSpPr>
            <p:cNvPr id="9" name="TextBox 8"/>
            <p:cNvSpPr txBox="1"/>
            <p:nvPr/>
          </p:nvSpPr>
          <p:spPr>
            <a:xfrm>
              <a:off x="8212137" y="1267497"/>
              <a:ext cx="1018099" cy="400110"/>
            </a:xfrm>
            <a:prstGeom prst="rect">
              <a:avLst/>
            </a:prstGeom>
            <a:noFill/>
          </p:spPr>
          <p:txBody>
            <a:bodyPr wrap="none" rtlCol="0">
              <a:spAutoFit/>
            </a:bodyPr>
            <a:lstStyle/>
            <a:p>
              <a:r>
                <a:rPr lang="en-US" sz="2000" dirty="0"/>
                <a:t>Threads</a:t>
              </a:r>
            </a:p>
          </p:txBody>
        </p:sp>
        <p:sp>
          <p:nvSpPr>
            <p:cNvPr id="10" name="Freeform 9"/>
            <p:cNvSpPr/>
            <p:nvPr/>
          </p:nvSpPr>
          <p:spPr>
            <a:xfrm>
              <a:off x="8133893" y="1642188"/>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Freeform 10"/>
            <p:cNvSpPr/>
            <p:nvPr/>
          </p:nvSpPr>
          <p:spPr>
            <a:xfrm>
              <a:off x="8570684" y="162280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Freeform 11"/>
            <p:cNvSpPr/>
            <p:nvPr/>
          </p:nvSpPr>
          <p:spPr>
            <a:xfrm>
              <a:off x="9023762" y="1588591"/>
              <a:ext cx="301007" cy="1007706"/>
            </a:xfrm>
            <a:custGeom>
              <a:avLst/>
              <a:gdLst>
                <a:gd name="connsiteX0" fmla="*/ 170352 w 301007"/>
                <a:gd name="connsiteY0" fmla="*/ 0 h 1007706"/>
                <a:gd name="connsiteX1" fmla="*/ 2401 w 301007"/>
                <a:gd name="connsiteY1" fmla="*/ 223934 h 1007706"/>
                <a:gd name="connsiteX2" fmla="*/ 282319 w 301007"/>
                <a:gd name="connsiteY2" fmla="*/ 335902 h 1007706"/>
                <a:gd name="connsiteX3" fmla="*/ 39723 w 301007"/>
                <a:gd name="connsiteY3" fmla="*/ 485192 h 1007706"/>
                <a:gd name="connsiteX4" fmla="*/ 300980 w 301007"/>
                <a:gd name="connsiteY4" fmla="*/ 597159 h 1007706"/>
                <a:gd name="connsiteX5" fmla="*/ 21062 w 301007"/>
                <a:gd name="connsiteY5" fmla="*/ 690465 h 1007706"/>
                <a:gd name="connsiteX6" fmla="*/ 207674 w 301007"/>
                <a:gd name="connsiteY6" fmla="*/ 821094 h 1007706"/>
                <a:gd name="connsiteX7" fmla="*/ 226336 w 301007"/>
                <a:gd name="connsiteY7" fmla="*/ 1007706 h 1007706"/>
                <a:gd name="connsiteX8" fmla="*/ 226336 w 301007"/>
                <a:gd name="connsiteY8" fmla="*/ 1007706 h 100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007" h="1007706">
                  <a:moveTo>
                    <a:pt x="170352" y="0"/>
                  </a:moveTo>
                  <a:cubicBezTo>
                    <a:pt x="77046" y="83975"/>
                    <a:pt x="-16260" y="167950"/>
                    <a:pt x="2401" y="223934"/>
                  </a:cubicBezTo>
                  <a:cubicBezTo>
                    <a:pt x="21062" y="279918"/>
                    <a:pt x="276099" y="292359"/>
                    <a:pt x="282319" y="335902"/>
                  </a:cubicBezTo>
                  <a:cubicBezTo>
                    <a:pt x="288539" y="379445"/>
                    <a:pt x="36613" y="441649"/>
                    <a:pt x="39723" y="485192"/>
                  </a:cubicBezTo>
                  <a:cubicBezTo>
                    <a:pt x="42833" y="528735"/>
                    <a:pt x="304090" y="562947"/>
                    <a:pt x="300980" y="597159"/>
                  </a:cubicBezTo>
                  <a:cubicBezTo>
                    <a:pt x="297870" y="631371"/>
                    <a:pt x="36613" y="653143"/>
                    <a:pt x="21062" y="690465"/>
                  </a:cubicBezTo>
                  <a:cubicBezTo>
                    <a:pt x="5511" y="727788"/>
                    <a:pt x="173462" y="768221"/>
                    <a:pt x="207674" y="821094"/>
                  </a:cubicBezTo>
                  <a:cubicBezTo>
                    <a:pt x="241886" y="873968"/>
                    <a:pt x="226336" y="1007706"/>
                    <a:pt x="226336" y="1007706"/>
                  </a:cubicBezTo>
                  <a:lnTo>
                    <a:pt x="226336" y="1007706"/>
                  </a:ln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 name="Rectangle 13"/>
          <p:cNvSpPr/>
          <p:nvPr/>
        </p:nvSpPr>
        <p:spPr>
          <a:xfrm>
            <a:off x="7220053" y="4519759"/>
            <a:ext cx="1962919" cy="16689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Memory</a:t>
            </a:r>
            <a:br>
              <a:rPr lang="en-US" sz="2400" dirty="0"/>
            </a:br>
            <a:r>
              <a:rPr lang="en-US" sz="2400" dirty="0"/>
              <a:t>(Shared address space)</a:t>
            </a:r>
          </a:p>
        </p:txBody>
      </p:sp>
      <p:cxnSp>
        <p:nvCxnSpPr>
          <p:cNvPr id="13" name="Straight Arrow Connector 12"/>
          <p:cNvCxnSpPr>
            <a:stCxn id="7" idx="2"/>
            <a:endCxn id="14" idx="0"/>
          </p:cNvCxnSpPr>
          <p:nvPr/>
        </p:nvCxnSpPr>
        <p:spPr>
          <a:xfrm>
            <a:off x="8175485" y="3892856"/>
            <a:ext cx="26028" cy="62690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7328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113" y="1916113"/>
            <a:ext cx="7180262" cy="2381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794" name="Title 1"/>
          <p:cNvSpPr>
            <a:spLocks noGrp="1"/>
          </p:cNvSpPr>
          <p:nvPr>
            <p:ph type="title"/>
          </p:nvPr>
        </p:nvSpPr>
        <p:spPr/>
        <p:txBody>
          <a:bodyPr/>
          <a:lstStyle/>
          <a:p>
            <a:r>
              <a:rPr lang="en-US">
                <a:latin typeface="Arial" charset="0"/>
              </a:rPr>
              <a:t>A process and two threads</a:t>
            </a:r>
          </a:p>
        </p:txBody>
      </p:sp>
      <p:sp>
        <p:nvSpPr>
          <p:cNvPr id="4" name="Footer Placeholder 3"/>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
        <p:nvSpPr>
          <p:cNvPr id="7" name="Rectangle 6"/>
          <p:cNvSpPr/>
          <p:nvPr/>
        </p:nvSpPr>
        <p:spPr>
          <a:xfrm>
            <a:off x="2640013" y="1484313"/>
            <a:ext cx="2404826" cy="400110"/>
          </a:xfrm>
          <a:prstGeom prst="rect">
            <a:avLst/>
          </a:prstGeom>
        </p:spPr>
        <p:txBody>
          <a:bodyPr wrap="none">
            <a:spAutoFit/>
          </a:bodyPr>
          <a:lstStyle/>
          <a:p>
            <a:pPr>
              <a:spcBef>
                <a:spcPct val="20000"/>
              </a:spcBef>
              <a:buClr>
                <a:schemeClr val="tx1"/>
              </a:buClr>
              <a:buSzPct val="60000"/>
              <a:buFont typeface="Wingdings" charset="0"/>
              <a:buNone/>
            </a:pPr>
            <a:r>
              <a:rPr lang="en-US" sz="2000">
                <a:solidFill>
                  <a:srgbClr val="3177FF"/>
                </a:solidFill>
                <a:latin typeface="Arial" charset="0"/>
              </a:rPr>
              <a:t>the </a:t>
            </a:r>
            <a:r>
              <a:rPr lang="ja-JP" altLang="en-US" sz="2000">
                <a:solidFill>
                  <a:srgbClr val="3177FF"/>
                </a:solidFill>
                <a:latin typeface="Arial" charset="0"/>
              </a:rPr>
              <a:t>“</a:t>
            </a:r>
            <a:r>
              <a:rPr lang="en-US" sz="2000">
                <a:solidFill>
                  <a:srgbClr val="3177FF"/>
                </a:solidFill>
                <a:latin typeface="Arial" charset="0"/>
              </a:rPr>
              <a:t>master</a:t>
            </a:r>
            <a:r>
              <a:rPr lang="ja-JP" altLang="en-US" sz="2000">
                <a:solidFill>
                  <a:srgbClr val="3177FF"/>
                </a:solidFill>
                <a:latin typeface="Arial" charset="0"/>
              </a:rPr>
              <a:t>”</a:t>
            </a:r>
            <a:r>
              <a:rPr lang="en-US" sz="2000">
                <a:solidFill>
                  <a:srgbClr val="3177FF"/>
                </a:solidFill>
                <a:latin typeface="Arial" charset="0"/>
              </a:rPr>
              <a:t> thread</a:t>
            </a:r>
            <a:endParaRPr lang="en-US" sz="2000">
              <a:solidFill>
                <a:srgbClr val="3177FF"/>
              </a:solidFill>
            </a:endParaRPr>
          </a:p>
        </p:txBody>
      </p:sp>
      <p:cxnSp>
        <p:nvCxnSpPr>
          <p:cNvPr id="33798" name="Straight Arrow Connector 8"/>
          <p:cNvCxnSpPr>
            <a:cxnSpLocks noChangeShapeType="1"/>
          </p:cNvCxnSpPr>
          <p:nvPr/>
        </p:nvCxnSpPr>
        <p:spPr bwMode="auto">
          <a:xfrm rot="5400000">
            <a:off x="2855913" y="2132013"/>
            <a:ext cx="792162" cy="360362"/>
          </a:xfrm>
          <a:prstGeom prst="straightConnector1">
            <a:avLst/>
          </a:prstGeom>
          <a:noFill/>
          <a:ln w="9525">
            <a:solidFill>
              <a:srgbClr val="0066FF"/>
            </a:solidFill>
            <a:round/>
            <a:headEnd/>
            <a:tailEnd type="arrow" w="med" len="med"/>
          </a:ln>
          <a:extLst>
            <a:ext uri="{909E8E84-426E-40dd-AFC4-6F175D3DCCD1}">
              <a14:hiddenFill xmlns:a14="http://schemas.microsoft.com/office/drawing/2010/main" xmlns="">
                <a:noFill/>
              </a14:hiddenFill>
            </a:ext>
          </a:extLst>
        </p:spPr>
      </p:cxnSp>
      <p:sp>
        <p:nvSpPr>
          <p:cNvPr id="11" name="Rectangle 10"/>
          <p:cNvSpPr/>
          <p:nvPr/>
        </p:nvSpPr>
        <p:spPr>
          <a:xfrm>
            <a:off x="2135189" y="4292600"/>
            <a:ext cx="2065337" cy="769938"/>
          </a:xfrm>
          <a:prstGeom prst="rect">
            <a:avLst/>
          </a:prstGeom>
        </p:spPr>
        <p:txBody>
          <a:bodyPr wrap="none">
            <a:spAutoFit/>
          </a:bodyPr>
          <a:lstStyle/>
          <a:p>
            <a:pPr>
              <a:spcBef>
                <a:spcPct val="20000"/>
              </a:spcBef>
              <a:buClr>
                <a:schemeClr val="tx1"/>
              </a:buClr>
              <a:buSzPct val="60000"/>
              <a:buFont typeface="Wingdings" pitchFamily="2" charset="2"/>
              <a:buNone/>
              <a:defRPr/>
            </a:pPr>
            <a:r>
              <a:rPr lang="en-US" sz="2000" kern="0" dirty="0">
                <a:solidFill>
                  <a:schemeClr val="tx2">
                    <a:lumMod val="60000"/>
                    <a:lumOff val="40000"/>
                  </a:schemeClr>
                </a:solidFill>
                <a:latin typeface="Arial"/>
              </a:rPr>
              <a:t>starting a thread</a:t>
            </a:r>
          </a:p>
          <a:p>
            <a:pPr>
              <a:spcBef>
                <a:spcPct val="20000"/>
              </a:spcBef>
              <a:buClr>
                <a:schemeClr val="tx1"/>
              </a:buClr>
              <a:buSzPct val="60000"/>
              <a:buFont typeface="Wingdings" pitchFamily="2" charset="2"/>
              <a:buNone/>
              <a:defRPr/>
            </a:pPr>
            <a:r>
              <a:rPr lang="en-US" sz="2000" kern="0" dirty="0">
                <a:solidFill>
                  <a:schemeClr val="tx2">
                    <a:lumMod val="60000"/>
                    <a:lumOff val="40000"/>
                  </a:schemeClr>
                </a:solidFill>
                <a:latin typeface="Arial"/>
              </a:rPr>
              <a:t>Is called </a:t>
            </a:r>
            <a:r>
              <a:rPr lang="en-US" sz="2000" b="1" i="1" u="sng" kern="0" dirty="0">
                <a:solidFill>
                  <a:schemeClr val="tx2">
                    <a:lumMod val="60000"/>
                    <a:lumOff val="40000"/>
                  </a:schemeClr>
                </a:solidFill>
                <a:latin typeface="Arial"/>
              </a:rPr>
              <a:t>fork</a:t>
            </a:r>
            <a:r>
              <a:rPr lang="en-US" sz="2000" b="1" i="1" kern="0" dirty="0">
                <a:solidFill>
                  <a:schemeClr val="tx2">
                    <a:lumMod val="60000"/>
                    <a:lumOff val="40000"/>
                  </a:schemeClr>
                </a:solidFill>
                <a:latin typeface="Arial"/>
              </a:rPr>
              <a:t>ing</a:t>
            </a:r>
            <a:endParaRPr lang="en-US" sz="2000" b="1" i="1" dirty="0">
              <a:solidFill>
                <a:schemeClr val="tx2">
                  <a:lumMod val="60000"/>
                  <a:lumOff val="40000"/>
                </a:schemeClr>
              </a:solidFill>
              <a:latin typeface="Arial Black" pitchFamily="34" charset="0"/>
            </a:endParaRPr>
          </a:p>
        </p:txBody>
      </p:sp>
      <p:cxnSp>
        <p:nvCxnSpPr>
          <p:cNvPr id="33800" name="Straight Arrow Connector 12"/>
          <p:cNvCxnSpPr>
            <a:cxnSpLocks noChangeShapeType="1"/>
          </p:cNvCxnSpPr>
          <p:nvPr/>
        </p:nvCxnSpPr>
        <p:spPr bwMode="auto">
          <a:xfrm rot="5400000" flipH="1" flipV="1">
            <a:off x="3036094" y="3680619"/>
            <a:ext cx="1079500" cy="144462"/>
          </a:xfrm>
          <a:prstGeom prst="straightConnector1">
            <a:avLst/>
          </a:prstGeom>
          <a:noFill/>
          <a:ln w="9525">
            <a:solidFill>
              <a:srgbClr val="0066FF"/>
            </a:solidFill>
            <a:round/>
            <a:headEnd/>
            <a:tailEnd type="arrow" w="med" len="med"/>
          </a:ln>
          <a:extLst>
            <a:ext uri="{909E8E84-426E-40dd-AFC4-6F175D3DCCD1}">
              <a14:hiddenFill xmlns:a14="http://schemas.microsoft.com/office/drawing/2010/main" xmlns="">
                <a:noFill/>
              </a14:hiddenFill>
            </a:ext>
          </a:extLst>
        </p:spPr>
      </p:cxnSp>
      <p:cxnSp>
        <p:nvCxnSpPr>
          <p:cNvPr id="33801" name="Straight Arrow Connector 14"/>
          <p:cNvCxnSpPr>
            <a:cxnSpLocks noChangeShapeType="1"/>
          </p:cNvCxnSpPr>
          <p:nvPr/>
        </p:nvCxnSpPr>
        <p:spPr bwMode="auto">
          <a:xfrm rot="5400000" flipH="1" flipV="1">
            <a:off x="3215483" y="3572670"/>
            <a:ext cx="1081087" cy="504825"/>
          </a:xfrm>
          <a:prstGeom prst="straightConnector1">
            <a:avLst/>
          </a:prstGeom>
          <a:noFill/>
          <a:ln w="9525">
            <a:solidFill>
              <a:srgbClr val="0066FF"/>
            </a:solidFill>
            <a:round/>
            <a:headEnd/>
            <a:tailEnd type="arrow" w="med" len="med"/>
          </a:ln>
          <a:extLst>
            <a:ext uri="{909E8E84-426E-40dd-AFC4-6F175D3DCCD1}">
              <a14:hiddenFill xmlns:a14="http://schemas.microsoft.com/office/drawing/2010/main" xmlns="">
                <a:noFill/>
              </a14:hiddenFill>
            </a:ext>
          </a:extLst>
        </p:spPr>
      </p:cxnSp>
      <p:sp>
        <p:nvSpPr>
          <p:cNvPr id="16" name="Rectangle 15"/>
          <p:cNvSpPr/>
          <p:nvPr/>
        </p:nvSpPr>
        <p:spPr>
          <a:xfrm>
            <a:off x="7608888" y="4076700"/>
            <a:ext cx="2462212" cy="769938"/>
          </a:xfrm>
          <a:prstGeom prst="rect">
            <a:avLst/>
          </a:prstGeom>
        </p:spPr>
        <p:txBody>
          <a:bodyPr wrap="none">
            <a:spAutoFit/>
          </a:bodyPr>
          <a:lstStyle/>
          <a:p>
            <a:pPr>
              <a:spcBef>
                <a:spcPct val="20000"/>
              </a:spcBef>
              <a:buClr>
                <a:schemeClr val="tx1"/>
              </a:buClr>
              <a:buSzPct val="60000"/>
              <a:buFont typeface="Wingdings" pitchFamily="2" charset="2"/>
              <a:buNone/>
              <a:defRPr/>
            </a:pPr>
            <a:r>
              <a:rPr lang="en-US" sz="2000" kern="0" dirty="0">
                <a:solidFill>
                  <a:schemeClr val="tx2">
                    <a:lumMod val="60000"/>
                    <a:lumOff val="40000"/>
                  </a:schemeClr>
                </a:solidFill>
                <a:latin typeface="Arial"/>
              </a:rPr>
              <a:t>terminating a thread</a:t>
            </a:r>
          </a:p>
          <a:p>
            <a:pPr>
              <a:spcBef>
                <a:spcPct val="20000"/>
              </a:spcBef>
              <a:buClr>
                <a:schemeClr val="tx1"/>
              </a:buClr>
              <a:buSzPct val="60000"/>
              <a:buFont typeface="Wingdings" pitchFamily="2" charset="2"/>
              <a:buNone/>
              <a:defRPr/>
            </a:pPr>
            <a:r>
              <a:rPr lang="en-US" sz="2000" kern="0" dirty="0">
                <a:solidFill>
                  <a:schemeClr val="tx2">
                    <a:lumMod val="60000"/>
                    <a:lumOff val="40000"/>
                  </a:schemeClr>
                </a:solidFill>
                <a:latin typeface="Arial"/>
              </a:rPr>
              <a:t>Is called </a:t>
            </a:r>
            <a:r>
              <a:rPr lang="en-US" sz="2000" b="1" i="1" u="sng" kern="0" dirty="0">
                <a:solidFill>
                  <a:schemeClr val="tx2">
                    <a:lumMod val="60000"/>
                    <a:lumOff val="40000"/>
                  </a:schemeClr>
                </a:solidFill>
                <a:latin typeface="Arial"/>
              </a:rPr>
              <a:t>join</a:t>
            </a:r>
            <a:r>
              <a:rPr lang="en-US" sz="2000" b="1" i="1" kern="0" dirty="0">
                <a:solidFill>
                  <a:schemeClr val="tx2">
                    <a:lumMod val="60000"/>
                    <a:lumOff val="40000"/>
                  </a:schemeClr>
                </a:solidFill>
                <a:latin typeface="Arial"/>
              </a:rPr>
              <a:t>ing</a:t>
            </a:r>
            <a:endParaRPr lang="en-US" sz="2000" b="1" i="1" dirty="0">
              <a:solidFill>
                <a:schemeClr val="tx2">
                  <a:lumMod val="60000"/>
                  <a:lumOff val="40000"/>
                </a:schemeClr>
              </a:solidFill>
              <a:latin typeface="Arial Black" pitchFamily="34" charset="0"/>
            </a:endParaRPr>
          </a:p>
        </p:txBody>
      </p:sp>
      <p:cxnSp>
        <p:nvCxnSpPr>
          <p:cNvPr id="33803" name="Straight Arrow Connector 17"/>
          <p:cNvCxnSpPr>
            <a:cxnSpLocks noChangeShapeType="1"/>
          </p:cNvCxnSpPr>
          <p:nvPr/>
        </p:nvCxnSpPr>
        <p:spPr bwMode="auto">
          <a:xfrm rot="16200000" flipV="1">
            <a:off x="7716045" y="3248820"/>
            <a:ext cx="936625" cy="865187"/>
          </a:xfrm>
          <a:prstGeom prst="straightConnector1">
            <a:avLst/>
          </a:prstGeom>
          <a:noFill/>
          <a:ln w="9525">
            <a:solidFill>
              <a:srgbClr val="0066FF"/>
            </a:solidFill>
            <a:round/>
            <a:headEnd/>
            <a:tailEnd type="arrow" w="med" len="med"/>
          </a:ln>
          <a:extLst>
            <a:ext uri="{909E8E84-426E-40dd-AFC4-6F175D3DCCD1}">
              <a14:hiddenFill xmlns:a14="http://schemas.microsoft.com/office/drawing/2010/main" xmlns="">
                <a:noFill/>
              </a14:hiddenFill>
            </a:ext>
          </a:extLst>
        </p:spPr>
      </p:cxnSp>
      <p:cxnSp>
        <p:nvCxnSpPr>
          <p:cNvPr id="33804" name="Straight Arrow Connector 19"/>
          <p:cNvCxnSpPr>
            <a:cxnSpLocks noChangeShapeType="1"/>
          </p:cNvCxnSpPr>
          <p:nvPr/>
        </p:nvCxnSpPr>
        <p:spPr bwMode="auto">
          <a:xfrm rot="16200000" flipV="1">
            <a:off x="8004176" y="3536951"/>
            <a:ext cx="865187" cy="360362"/>
          </a:xfrm>
          <a:prstGeom prst="straightConnector1">
            <a:avLst/>
          </a:prstGeom>
          <a:noFill/>
          <a:ln w="9525">
            <a:solidFill>
              <a:srgbClr val="0066FF"/>
            </a:solidFill>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2047572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940"/>
            <a:ext cx="8229600" cy="1143000"/>
          </a:xfrm>
        </p:spPr>
        <p:txBody>
          <a:bodyPr/>
          <a:lstStyle/>
          <a:p>
            <a:r>
              <a:rPr lang="en-US" dirty="0"/>
              <a:t>Distributed Memory Architecture</a:t>
            </a:r>
          </a:p>
        </p:txBody>
      </p:sp>
      <p:sp>
        <p:nvSpPr>
          <p:cNvPr id="12" name="Rectangle 11"/>
          <p:cNvSpPr/>
          <p:nvPr/>
        </p:nvSpPr>
        <p:spPr>
          <a:xfrm>
            <a:off x="2342125" y="3553990"/>
            <a:ext cx="1536160" cy="4581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Local Memory</a:t>
            </a:r>
          </a:p>
        </p:txBody>
      </p:sp>
      <p:sp>
        <p:nvSpPr>
          <p:cNvPr id="17" name="Rounded Rectangle 16"/>
          <p:cNvSpPr/>
          <p:nvPr/>
        </p:nvSpPr>
        <p:spPr>
          <a:xfrm flipH="1">
            <a:off x="2175794" y="1525073"/>
            <a:ext cx="1923119" cy="2692363"/>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TextBox 17"/>
          <p:cNvSpPr txBox="1"/>
          <p:nvPr/>
        </p:nvSpPr>
        <p:spPr>
          <a:xfrm>
            <a:off x="2175796" y="1155740"/>
            <a:ext cx="1751698" cy="369332"/>
          </a:xfrm>
          <a:prstGeom prst="rect">
            <a:avLst/>
          </a:prstGeom>
          <a:noFill/>
        </p:spPr>
        <p:txBody>
          <a:bodyPr wrap="none" rtlCol="0">
            <a:spAutoFit/>
          </a:bodyPr>
          <a:lstStyle/>
          <a:p>
            <a:r>
              <a:rPr lang="en-US" dirty="0"/>
              <a:t>Compute node 1</a:t>
            </a:r>
          </a:p>
        </p:txBody>
      </p:sp>
      <p:cxnSp>
        <p:nvCxnSpPr>
          <p:cNvPr id="39" name="Straight Connector 38"/>
          <p:cNvCxnSpPr/>
          <p:nvPr/>
        </p:nvCxnSpPr>
        <p:spPr>
          <a:xfrm flipH="1" flipV="1">
            <a:off x="3097317" y="2985797"/>
            <a:ext cx="12889" cy="520567"/>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flipV="1">
            <a:off x="3110205" y="3485291"/>
            <a:ext cx="0" cy="21073"/>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45" name="Up-Down Arrow 44"/>
          <p:cNvSpPr/>
          <p:nvPr/>
        </p:nvSpPr>
        <p:spPr>
          <a:xfrm>
            <a:off x="2868442" y="4227198"/>
            <a:ext cx="366407" cy="606056"/>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5079542" y="3549879"/>
            <a:ext cx="1536160" cy="4581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Local Memory</a:t>
            </a:r>
          </a:p>
        </p:txBody>
      </p:sp>
      <p:sp>
        <p:nvSpPr>
          <p:cNvPr id="26" name="Rounded Rectangle 25"/>
          <p:cNvSpPr/>
          <p:nvPr/>
        </p:nvSpPr>
        <p:spPr>
          <a:xfrm flipH="1">
            <a:off x="4874099" y="1520962"/>
            <a:ext cx="1873351" cy="2692363"/>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p:nvSpPr>
        <p:spPr>
          <a:xfrm>
            <a:off x="4913213" y="1151629"/>
            <a:ext cx="1751698" cy="369332"/>
          </a:xfrm>
          <a:prstGeom prst="rect">
            <a:avLst/>
          </a:prstGeom>
          <a:noFill/>
        </p:spPr>
        <p:txBody>
          <a:bodyPr wrap="none" rtlCol="0">
            <a:spAutoFit/>
          </a:bodyPr>
          <a:lstStyle/>
          <a:p>
            <a:r>
              <a:rPr lang="en-US" dirty="0"/>
              <a:t>Compute node 2</a:t>
            </a:r>
          </a:p>
        </p:txBody>
      </p:sp>
      <p:cxnSp>
        <p:nvCxnSpPr>
          <p:cNvPr id="31" name="Straight Connector 30"/>
          <p:cNvCxnSpPr/>
          <p:nvPr/>
        </p:nvCxnSpPr>
        <p:spPr>
          <a:xfrm flipH="1" flipV="1">
            <a:off x="5834734" y="2981686"/>
            <a:ext cx="12889" cy="520567"/>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flipV="1">
            <a:off x="5847622" y="3481180"/>
            <a:ext cx="0" cy="21073"/>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653933" y="3549879"/>
            <a:ext cx="1536160" cy="4581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Local Memory</a:t>
            </a:r>
          </a:p>
        </p:txBody>
      </p:sp>
      <p:sp>
        <p:nvSpPr>
          <p:cNvPr id="36" name="Rounded Rectangle 35"/>
          <p:cNvSpPr/>
          <p:nvPr/>
        </p:nvSpPr>
        <p:spPr>
          <a:xfrm flipH="1">
            <a:off x="8487604" y="1520962"/>
            <a:ext cx="1819023" cy="2692363"/>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37"/>
          <p:cNvSpPr txBox="1"/>
          <p:nvPr/>
        </p:nvSpPr>
        <p:spPr>
          <a:xfrm>
            <a:off x="8487604" y="1151629"/>
            <a:ext cx="1819024" cy="369332"/>
          </a:xfrm>
          <a:prstGeom prst="rect">
            <a:avLst/>
          </a:prstGeom>
          <a:noFill/>
        </p:spPr>
        <p:txBody>
          <a:bodyPr wrap="none" rtlCol="0">
            <a:spAutoFit/>
          </a:bodyPr>
          <a:lstStyle/>
          <a:p>
            <a:r>
              <a:rPr lang="en-US" dirty="0"/>
              <a:t>Compute node m</a:t>
            </a:r>
          </a:p>
        </p:txBody>
      </p:sp>
      <p:cxnSp>
        <p:nvCxnSpPr>
          <p:cNvPr id="43" name="Straight Connector 42"/>
          <p:cNvCxnSpPr/>
          <p:nvPr/>
        </p:nvCxnSpPr>
        <p:spPr>
          <a:xfrm flipH="1" flipV="1">
            <a:off x="9409125" y="2981686"/>
            <a:ext cx="12889" cy="520567"/>
          </a:xfrm>
          <a:prstGeom prst="line">
            <a:avLst/>
          </a:prstGeom>
          <a:ln w="47625"/>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flipV="1">
            <a:off x="9422013" y="3481180"/>
            <a:ext cx="0" cy="21073"/>
          </a:xfrm>
          <a:prstGeom prst="line">
            <a:avLst/>
          </a:prstGeom>
          <a:ln w="47625"/>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74786" y="2369976"/>
            <a:ext cx="675185" cy="369332"/>
          </a:xfrm>
          <a:prstGeom prst="rect">
            <a:avLst/>
          </a:prstGeom>
          <a:noFill/>
        </p:spPr>
        <p:txBody>
          <a:bodyPr wrap="none" rtlCol="0">
            <a:spAutoFit/>
          </a:bodyPr>
          <a:lstStyle/>
          <a:p>
            <a:r>
              <a:rPr lang="mr-IN" dirty="0"/>
              <a:t>………</a:t>
            </a:r>
            <a:endParaRPr lang="en-US" dirty="0"/>
          </a:p>
        </p:txBody>
      </p:sp>
      <p:sp>
        <p:nvSpPr>
          <p:cNvPr id="49" name="Up-Down Arrow 48"/>
          <p:cNvSpPr/>
          <p:nvPr/>
        </p:nvSpPr>
        <p:spPr>
          <a:xfrm>
            <a:off x="5605859" y="4213324"/>
            <a:ext cx="366407" cy="606056"/>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Up-Down Arrow 49"/>
          <p:cNvSpPr/>
          <p:nvPr/>
        </p:nvSpPr>
        <p:spPr>
          <a:xfrm>
            <a:off x="9225921" y="4196064"/>
            <a:ext cx="366407" cy="606056"/>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Left-Right Arrow 5"/>
          <p:cNvSpPr/>
          <p:nvPr/>
        </p:nvSpPr>
        <p:spPr>
          <a:xfrm>
            <a:off x="1899952" y="4707414"/>
            <a:ext cx="8455123" cy="14134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Internal network / Interconnect</a:t>
            </a:r>
          </a:p>
        </p:txBody>
      </p:sp>
      <p:graphicFrame>
        <p:nvGraphicFramePr>
          <p:cNvPr id="7" name="Table 6"/>
          <p:cNvGraphicFramePr>
            <a:graphicFrameLocks noGrp="1"/>
          </p:cNvGraphicFramePr>
          <p:nvPr>
            <p:extLst/>
          </p:nvPr>
        </p:nvGraphicFramePr>
        <p:xfrm>
          <a:off x="2488958" y="2197663"/>
          <a:ext cx="1321324" cy="962787"/>
        </p:xfrm>
        <a:graphic>
          <a:graphicData uri="http://schemas.openxmlformats.org/drawingml/2006/table">
            <a:tbl>
              <a:tblPr firstRow="1" bandRow="1">
                <a:tableStyleId>{5C22544A-7EE6-4342-B048-85BDC9FD1C3A}</a:tableStyleId>
              </a:tblPr>
              <a:tblGrid>
                <a:gridCol w="304005">
                  <a:extLst>
                    <a:ext uri="{9D8B030D-6E8A-4147-A177-3AD203B41FA5}">
                      <a16:colId xmlns:a16="http://schemas.microsoft.com/office/drawing/2014/main" val="20000"/>
                    </a:ext>
                  </a:extLst>
                </a:gridCol>
                <a:gridCol w="356657">
                  <a:extLst>
                    <a:ext uri="{9D8B030D-6E8A-4147-A177-3AD203B41FA5}">
                      <a16:colId xmlns:a16="http://schemas.microsoft.com/office/drawing/2014/main" val="20001"/>
                    </a:ext>
                  </a:extLst>
                </a:gridCol>
                <a:gridCol w="330331">
                  <a:extLst>
                    <a:ext uri="{9D8B030D-6E8A-4147-A177-3AD203B41FA5}">
                      <a16:colId xmlns:a16="http://schemas.microsoft.com/office/drawing/2014/main" val="20002"/>
                    </a:ext>
                  </a:extLst>
                </a:gridCol>
                <a:gridCol w="330331">
                  <a:extLst>
                    <a:ext uri="{9D8B030D-6E8A-4147-A177-3AD203B41FA5}">
                      <a16:colId xmlns:a16="http://schemas.microsoft.com/office/drawing/2014/main" val="20003"/>
                    </a:ext>
                  </a:extLst>
                </a:gridCol>
              </a:tblGrid>
              <a:tr h="962787">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8" name="TextBox 7"/>
          <p:cNvSpPr txBox="1"/>
          <p:nvPr/>
        </p:nvSpPr>
        <p:spPr>
          <a:xfrm>
            <a:off x="2267692" y="1548927"/>
            <a:ext cx="1881734" cy="646331"/>
          </a:xfrm>
          <a:prstGeom prst="rect">
            <a:avLst/>
          </a:prstGeom>
          <a:noFill/>
        </p:spPr>
        <p:txBody>
          <a:bodyPr wrap="none" rtlCol="0">
            <a:spAutoFit/>
          </a:bodyPr>
          <a:lstStyle/>
          <a:p>
            <a:pPr algn="ctr"/>
            <a:r>
              <a:rPr lang="en-US" dirty="0"/>
              <a:t>Processes running</a:t>
            </a:r>
            <a:br>
              <a:rPr lang="en-US" dirty="0"/>
            </a:br>
            <a:r>
              <a:rPr lang="en-US" dirty="0"/>
              <a:t>on cores</a:t>
            </a:r>
          </a:p>
        </p:txBody>
      </p:sp>
      <p:graphicFrame>
        <p:nvGraphicFramePr>
          <p:cNvPr id="51" name="Table 50"/>
          <p:cNvGraphicFramePr>
            <a:graphicFrameLocks noGrp="1"/>
          </p:cNvGraphicFramePr>
          <p:nvPr>
            <p:extLst/>
          </p:nvPr>
        </p:nvGraphicFramePr>
        <p:xfrm>
          <a:off x="5179284" y="2200775"/>
          <a:ext cx="1321324" cy="962787"/>
        </p:xfrm>
        <a:graphic>
          <a:graphicData uri="http://schemas.openxmlformats.org/drawingml/2006/table">
            <a:tbl>
              <a:tblPr firstRow="1" bandRow="1">
                <a:tableStyleId>{5C22544A-7EE6-4342-B048-85BDC9FD1C3A}</a:tableStyleId>
              </a:tblPr>
              <a:tblGrid>
                <a:gridCol w="304005">
                  <a:extLst>
                    <a:ext uri="{9D8B030D-6E8A-4147-A177-3AD203B41FA5}">
                      <a16:colId xmlns:a16="http://schemas.microsoft.com/office/drawing/2014/main" val="20000"/>
                    </a:ext>
                  </a:extLst>
                </a:gridCol>
                <a:gridCol w="356657">
                  <a:extLst>
                    <a:ext uri="{9D8B030D-6E8A-4147-A177-3AD203B41FA5}">
                      <a16:colId xmlns:a16="http://schemas.microsoft.com/office/drawing/2014/main" val="20001"/>
                    </a:ext>
                  </a:extLst>
                </a:gridCol>
                <a:gridCol w="330331">
                  <a:extLst>
                    <a:ext uri="{9D8B030D-6E8A-4147-A177-3AD203B41FA5}">
                      <a16:colId xmlns:a16="http://schemas.microsoft.com/office/drawing/2014/main" val="20002"/>
                    </a:ext>
                  </a:extLst>
                </a:gridCol>
                <a:gridCol w="330331">
                  <a:extLst>
                    <a:ext uri="{9D8B030D-6E8A-4147-A177-3AD203B41FA5}">
                      <a16:colId xmlns:a16="http://schemas.microsoft.com/office/drawing/2014/main" val="20003"/>
                    </a:ext>
                  </a:extLst>
                </a:gridCol>
              </a:tblGrid>
              <a:tr h="962787">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extLst/>
          </p:nvPr>
        </p:nvGraphicFramePr>
        <p:xfrm>
          <a:off x="8728024" y="2203887"/>
          <a:ext cx="1321324" cy="962787"/>
        </p:xfrm>
        <a:graphic>
          <a:graphicData uri="http://schemas.openxmlformats.org/drawingml/2006/table">
            <a:tbl>
              <a:tblPr firstRow="1" bandRow="1">
                <a:tableStyleId>{5C22544A-7EE6-4342-B048-85BDC9FD1C3A}</a:tableStyleId>
              </a:tblPr>
              <a:tblGrid>
                <a:gridCol w="304005">
                  <a:extLst>
                    <a:ext uri="{9D8B030D-6E8A-4147-A177-3AD203B41FA5}">
                      <a16:colId xmlns:a16="http://schemas.microsoft.com/office/drawing/2014/main" val="20000"/>
                    </a:ext>
                  </a:extLst>
                </a:gridCol>
                <a:gridCol w="356657">
                  <a:extLst>
                    <a:ext uri="{9D8B030D-6E8A-4147-A177-3AD203B41FA5}">
                      <a16:colId xmlns:a16="http://schemas.microsoft.com/office/drawing/2014/main" val="20001"/>
                    </a:ext>
                  </a:extLst>
                </a:gridCol>
                <a:gridCol w="330331">
                  <a:extLst>
                    <a:ext uri="{9D8B030D-6E8A-4147-A177-3AD203B41FA5}">
                      <a16:colId xmlns:a16="http://schemas.microsoft.com/office/drawing/2014/main" val="20002"/>
                    </a:ext>
                  </a:extLst>
                </a:gridCol>
                <a:gridCol w="330331">
                  <a:extLst>
                    <a:ext uri="{9D8B030D-6E8A-4147-A177-3AD203B41FA5}">
                      <a16:colId xmlns:a16="http://schemas.microsoft.com/office/drawing/2014/main" val="20003"/>
                    </a:ext>
                  </a:extLst>
                </a:gridCol>
              </a:tblGrid>
              <a:tr h="962787">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grpSp>
        <p:nvGrpSpPr>
          <p:cNvPr id="58" name="Group 57"/>
          <p:cNvGrpSpPr/>
          <p:nvPr/>
        </p:nvGrpSpPr>
        <p:grpSpPr>
          <a:xfrm>
            <a:off x="2610378" y="2371008"/>
            <a:ext cx="1088566" cy="628745"/>
            <a:chOff x="9629192" y="2556588"/>
            <a:chExt cx="1088566" cy="628745"/>
          </a:xfrm>
        </p:grpSpPr>
        <p:sp>
          <p:nvSpPr>
            <p:cNvPr id="59" name="Down Arrow 58"/>
            <p:cNvSpPr/>
            <p:nvPr/>
          </p:nvSpPr>
          <p:spPr>
            <a:xfrm>
              <a:off x="9629192" y="2556588"/>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Down Arrow 59"/>
            <p:cNvSpPr/>
            <p:nvPr/>
          </p:nvSpPr>
          <p:spPr>
            <a:xfrm>
              <a:off x="9909109" y="2556588"/>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Down Arrow 60"/>
            <p:cNvSpPr/>
            <p:nvPr/>
          </p:nvSpPr>
          <p:spPr>
            <a:xfrm>
              <a:off x="10229458" y="2559699"/>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Down Arrow 61"/>
            <p:cNvSpPr/>
            <p:nvPr/>
          </p:nvSpPr>
          <p:spPr>
            <a:xfrm>
              <a:off x="10549807" y="2562811"/>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3" name="TextBox 62"/>
          <p:cNvSpPr txBox="1"/>
          <p:nvPr/>
        </p:nvSpPr>
        <p:spPr>
          <a:xfrm>
            <a:off x="4940008" y="1533347"/>
            <a:ext cx="1881734" cy="646331"/>
          </a:xfrm>
          <a:prstGeom prst="rect">
            <a:avLst/>
          </a:prstGeom>
          <a:noFill/>
        </p:spPr>
        <p:txBody>
          <a:bodyPr wrap="none" rtlCol="0">
            <a:spAutoFit/>
          </a:bodyPr>
          <a:lstStyle/>
          <a:p>
            <a:pPr algn="ctr"/>
            <a:r>
              <a:rPr lang="en-US" dirty="0"/>
              <a:t>Processes running</a:t>
            </a:r>
            <a:br>
              <a:rPr lang="en-US" dirty="0"/>
            </a:br>
            <a:r>
              <a:rPr lang="en-US" dirty="0"/>
              <a:t>on cores</a:t>
            </a:r>
          </a:p>
        </p:txBody>
      </p:sp>
      <p:grpSp>
        <p:nvGrpSpPr>
          <p:cNvPr id="64" name="Group 63"/>
          <p:cNvGrpSpPr/>
          <p:nvPr/>
        </p:nvGrpSpPr>
        <p:grpSpPr>
          <a:xfrm>
            <a:off x="5301355" y="2355428"/>
            <a:ext cx="1088566" cy="628745"/>
            <a:chOff x="9629192" y="2556588"/>
            <a:chExt cx="1088566" cy="628745"/>
          </a:xfrm>
        </p:grpSpPr>
        <p:sp>
          <p:nvSpPr>
            <p:cNvPr id="65" name="Down Arrow 64"/>
            <p:cNvSpPr/>
            <p:nvPr/>
          </p:nvSpPr>
          <p:spPr>
            <a:xfrm>
              <a:off x="9629192" y="2556588"/>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Down Arrow 65"/>
            <p:cNvSpPr/>
            <p:nvPr/>
          </p:nvSpPr>
          <p:spPr>
            <a:xfrm>
              <a:off x="9909109" y="2556588"/>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Down Arrow 66"/>
            <p:cNvSpPr/>
            <p:nvPr/>
          </p:nvSpPr>
          <p:spPr>
            <a:xfrm>
              <a:off x="10229458" y="2559699"/>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Down Arrow 67"/>
            <p:cNvSpPr/>
            <p:nvPr/>
          </p:nvSpPr>
          <p:spPr>
            <a:xfrm>
              <a:off x="10549807" y="2562811"/>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9" name="TextBox 68"/>
          <p:cNvSpPr txBox="1"/>
          <p:nvPr/>
        </p:nvSpPr>
        <p:spPr>
          <a:xfrm>
            <a:off x="8522717" y="1535501"/>
            <a:ext cx="1881734" cy="646331"/>
          </a:xfrm>
          <a:prstGeom prst="rect">
            <a:avLst/>
          </a:prstGeom>
          <a:noFill/>
        </p:spPr>
        <p:txBody>
          <a:bodyPr wrap="none" rtlCol="0">
            <a:spAutoFit/>
          </a:bodyPr>
          <a:lstStyle/>
          <a:p>
            <a:pPr algn="ctr"/>
            <a:r>
              <a:rPr lang="en-US" dirty="0"/>
              <a:t>Processes running</a:t>
            </a:r>
            <a:br>
              <a:rPr lang="en-US" dirty="0"/>
            </a:br>
            <a:r>
              <a:rPr lang="en-US" dirty="0"/>
              <a:t>on cores</a:t>
            </a:r>
          </a:p>
        </p:txBody>
      </p:sp>
      <p:grpSp>
        <p:nvGrpSpPr>
          <p:cNvPr id="70" name="Group 69"/>
          <p:cNvGrpSpPr/>
          <p:nvPr/>
        </p:nvGrpSpPr>
        <p:grpSpPr>
          <a:xfrm>
            <a:off x="8884064" y="2357582"/>
            <a:ext cx="1088566" cy="628745"/>
            <a:chOff x="9629192" y="2556588"/>
            <a:chExt cx="1088566" cy="628745"/>
          </a:xfrm>
        </p:grpSpPr>
        <p:sp>
          <p:nvSpPr>
            <p:cNvPr id="71" name="Down Arrow 70"/>
            <p:cNvSpPr/>
            <p:nvPr/>
          </p:nvSpPr>
          <p:spPr>
            <a:xfrm>
              <a:off x="9629192" y="2556588"/>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Down Arrow 71"/>
            <p:cNvSpPr/>
            <p:nvPr/>
          </p:nvSpPr>
          <p:spPr>
            <a:xfrm>
              <a:off x="9909109" y="2556588"/>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Down Arrow 72"/>
            <p:cNvSpPr/>
            <p:nvPr/>
          </p:nvSpPr>
          <p:spPr>
            <a:xfrm>
              <a:off x="10229458" y="2559699"/>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Down Arrow 73"/>
            <p:cNvSpPr/>
            <p:nvPr/>
          </p:nvSpPr>
          <p:spPr>
            <a:xfrm>
              <a:off x="10549807" y="2562811"/>
              <a:ext cx="167951" cy="622522"/>
            </a:xfrm>
            <a:prstGeom prst="down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5" name="TextBox 74"/>
          <p:cNvSpPr txBox="1"/>
          <p:nvPr/>
        </p:nvSpPr>
        <p:spPr>
          <a:xfrm>
            <a:off x="3623766" y="5921651"/>
            <a:ext cx="5708166" cy="646331"/>
          </a:xfrm>
          <a:prstGeom prst="rect">
            <a:avLst/>
          </a:prstGeom>
          <a:noFill/>
        </p:spPr>
        <p:txBody>
          <a:bodyPr wrap="none" rtlCol="0">
            <a:spAutoFit/>
          </a:bodyPr>
          <a:lstStyle/>
          <a:p>
            <a:r>
              <a:rPr lang="en-US" dirty="0"/>
              <a:t>Processes cannot see each other’s memory address space. </a:t>
            </a:r>
          </a:p>
          <a:p>
            <a:r>
              <a:rPr lang="en-US" dirty="0"/>
              <a:t>They have to send inter-process messages (using MPI). </a:t>
            </a:r>
          </a:p>
        </p:txBody>
      </p:sp>
    </p:spTree>
    <p:extLst>
      <p:ext uri="{BB962C8B-B14F-4D97-AF65-F5344CB8AC3E}">
        <p14:creationId xmlns:p14="http://schemas.microsoft.com/office/powerpoint/2010/main" val="3528457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838200" y="123825"/>
            <a:ext cx="10515600" cy="1325563"/>
          </a:xfrm>
        </p:spPr>
        <p:txBody>
          <a:bodyPr/>
          <a:lstStyle/>
          <a:p>
            <a:r>
              <a:rPr lang="en-US" dirty="0">
                <a:latin typeface="Arial" charset="0"/>
              </a:rPr>
              <a:t>Distributed Memory System</a:t>
            </a:r>
          </a:p>
        </p:txBody>
      </p:sp>
      <p:sp>
        <p:nvSpPr>
          <p:cNvPr id="92162" name="Content Placeholder 3"/>
          <p:cNvSpPr>
            <a:spLocks noGrp="1"/>
          </p:cNvSpPr>
          <p:nvPr>
            <p:ph idx="1"/>
          </p:nvPr>
        </p:nvSpPr>
        <p:spPr>
          <a:xfrm>
            <a:off x="838200" y="1287464"/>
            <a:ext cx="10947400" cy="3621391"/>
          </a:xfrm>
        </p:spPr>
        <p:txBody>
          <a:bodyPr/>
          <a:lstStyle/>
          <a:p>
            <a:r>
              <a:rPr lang="en-US" dirty="0">
                <a:solidFill>
                  <a:srgbClr val="0066FF"/>
                </a:solidFill>
                <a:latin typeface="Arial" charset="0"/>
              </a:rPr>
              <a:t>Clusters</a:t>
            </a:r>
            <a:r>
              <a:rPr lang="en-US" dirty="0">
                <a:latin typeface="Arial" charset="0"/>
              </a:rPr>
              <a:t> (most popular)</a:t>
            </a:r>
          </a:p>
          <a:p>
            <a:pPr lvl="1"/>
            <a:r>
              <a:rPr lang="en-US" dirty="0">
                <a:latin typeface="Arial" charset="0"/>
              </a:rPr>
              <a:t>A collection of commodity systems.</a:t>
            </a:r>
          </a:p>
          <a:p>
            <a:pPr lvl="1"/>
            <a:r>
              <a:rPr lang="en-US" dirty="0">
                <a:latin typeface="Arial" charset="0"/>
              </a:rPr>
              <a:t>Connected by a commodity interconnection network.</a:t>
            </a:r>
          </a:p>
          <a:p>
            <a:r>
              <a:rPr lang="en-US" dirty="0">
                <a:solidFill>
                  <a:srgbClr val="00B050"/>
                </a:solidFill>
                <a:latin typeface="Arial" charset="0"/>
              </a:rPr>
              <a:t>Nodes</a:t>
            </a:r>
            <a:r>
              <a:rPr lang="en-US" dirty="0">
                <a:latin typeface="Arial" charset="0"/>
              </a:rPr>
              <a:t> of a cluster are individual computers joined by a communication network.</a:t>
            </a:r>
          </a:p>
          <a:p>
            <a:r>
              <a:rPr lang="en-US" dirty="0">
                <a:solidFill>
                  <a:srgbClr val="FF0000"/>
                </a:solidFill>
                <a:latin typeface="Arial" charset="0"/>
              </a:rPr>
              <a:t>Nodes communication</a:t>
            </a:r>
            <a:r>
              <a:rPr lang="en-US" dirty="0">
                <a:latin typeface="Arial" charset="0"/>
              </a:rPr>
              <a:t> the nodes are connected with each other, either via Ethernet (regular internal network, 👎) or via fast connection e.g. </a:t>
            </a:r>
            <a:r>
              <a:rPr lang="en-US" dirty="0" err="1">
                <a:latin typeface="Arial" charset="0"/>
              </a:rPr>
              <a:t>infiniband</a:t>
            </a:r>
            <a:r>
              <a:rPr lang="en-US" dirty="0">
                <a:latin typeface="Arial" charset="0"/>
              </a:rPr>
              <a:t> (💪🏻) or </a:t>
            </a:r>
            <a:r>
              <a:rPr lang="en-US" dirty="0" err="1">
                <a:latin typeface="Arial" charset="0"/>
              </a:rPr>
              <a:t>omnipath</a:t>
            </a:r>
            <a:r>
              <a:rPr lang="en-US" dirty="0">
                <a:latin typeface="Arial" charset="0"/>
              </a:rPr>
              <a:t> (🤮)</a:t>
            </a:r>
          </a:p>
          <a:p>
            <a:endParaRPr lang="en-US" dirty="0">
              <a:latin typeface="Arial" charset="0"/>
            </a:endParaRPr>
          </a:p>
        </p:txBody>
      </p:sp>
      <p:sp>
        <p:nvSpPr>
          <p:cNvPr id="2" name="Slide Number Placeholder 1"/>
          <p:cNvSpPr>
            <a:spLocks noGrp="1"/>
          </p:cNvSpPr>
          <p:nvPr>
            <p:ph type="sldNum" sz="quarter" idx="12"/>
          </p:nvPr>
        </p:nvSpPr>
        <p:spPr/>
        <p:txBody>
          <a:bodyPr/>
          <a:lstStyle/>
          <a:p>
            <a:fld id="{E36BE44D-6AB7-7747-A5B3-8E5957F8FC9E}" type="slidenum">
              <a:rPr lang="en-US" smtClean="0"/>
              <a:t>18</a:t>
            </a:fld>
            <a:endParaRPr lang="en-US"/>
          </a:p>
        </p:txBody>
      </p:sp>
    </p:spTree>
    <p:extLst>
      <p:ext uri="{BB962C8B-B14F-4D97-AF65-F5344CB8AC3E}">
        <p14:creationId xmlns:p14="http://schemas.microsoft.com/office/powerpoint/2010/main" val="4176160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p:cNvSpPr>
            <a:spLocks noGrp="1"/>
          </p:cNvSpPr>
          <p:nvPr>
            <p:ph type="title"/>
          </p:nvPr>
        </p:nvSpPr>
        <p:spPr>
          <a:xfrm>
            <a:off x="622852" y="231304"/>
            <a:ext cx="9463791" cy="708025"/>
          </a:xfrm>
        </p:spPr>
        <p:txBody>
          <a:bodyPr>
            <a:normAutofit fontScale="90000"/>
          </a:bodyPr>
          <a:lstStyle/>
          <a:p>
            <a:r>
              <a:rPr lang="en-US" dirty="0">
                <a:latin typeface="Arial" charset="0"/>
              </a:rPr>
              <a:t>Single Program Models:  SIMD vs. MIMD</a:t>
            </a:r>
          </a:p>
        </p:txBody>
      </p:sp>
      <p:sp>
        <p:nvSpPr>
          <p:cNvPr id="3" name="Slide Number Placeholder 2"/>
          <p:cNvSpPr>
            <a:spLocks noGrp="1"/>
          </p:cNvSpPr>
          <p:nvPr>
            <p:ph type="sldNum" sz="quarter" idx="12"/>
          </p:nvPr>
        </p:nvSpPr>
        <p:spPr/>
        <p:txBody>
          <a:bodyPr/>
          <a:lstStyle/>
          <a:p>
            <a:fld id="{E36BE44D-6AB7-7747-A5B3-8E5957F8FC9E}" type="slidenum">
              <a:rPr lang="en-US" smtClean="0"/>
              <a:t>19</a:t>
            </a:fld>
            <a:endParaRPr lang="en-US"/>
          </a:p>
        </p:txBody>
      </p:sp>
      <p:sp>
        <p:nvSpPr>
          <p:cNvPr id="5" name="Content Placeholder 4"/>
          <p:cNvSpPr>
            <a:spLocks noGrp="1"/>
          </p:cNvSpPr>
          <p:nvPr>
            <p:ph idx="1"/>
          </p:nvPr>
        </p:nvSpPr>
        <p:spPr>
          <a:xfrm>
            <a:off x="838200" y="1375052"/>
            <a:ext cx="10515600" cy="4351338"/>
          </a:xfrm>
        </p:spPr>
        <p:txBody>
          <a:bodyPr>
            <a:noAutofit/>
          </a:bodyPr>
          <a:lstStyle/>
          <a:p>
            <a:r>
              <a:rPr lang="en-US" b="1" dirty="0">
                <a:solidFill>
                  <a:srgbClr val="FF0000"/>
                </a:solidFill>
              </a:rPr>
              <a:t>SP</a:t>
            </a:r>
            <a:r>
              <a:rPr lang="en-US" dirty="0"/>
              <a:t>: Single Program </a:t>
            </a:r>
          </a:p>
          <a:p>
            <a:pPr lvl="1"/>
            <a:r>
              <a:rPr lang="en-US" sz="2800" dirty="0"/>
              <a:t>Your parallel program is a single program that you execute on all threads (or processes)</a:t>
            </a:r>
          </a:p>
          <a:p>
            <a:r>
              <a:rPr lang="en-US" b="1" dirty="0">
                <a:solidFill>
                  <a:srgbClr val="FF0000"/>
                </a:solidFill>
              </a:rPr>
              <a:t>SI</a:t>
            </a:r>
            <a:r>
              <a:rPr lang="en-US" dirty="0"/>
              <a:t>: Single Instruction</a:t>
            </a:r>
          </a:p>
          <a:p>
            <a:pPr lvl="1"/>
            <a:r>
              <a:rPr lang="en-US" sz="2800" dirty="0"/>
              <a:t>Each thread should be executing the same line of code at any given clock cycle.</a:t>
            </a:r>
          </a:p>
          <a:p>
            <a:r>
              <a:rPr lang="en-US" b="1" dirty="0">
                <a:solidFill>
                  <a:srgbClr val="FF0000"/>
                </a:solidFill>
              </a:rPr>
              <a:t>MI</a:t>
            </a:r>
            <a:r>
              <a:rPr lang="en-US" dirty="0"/>
              <a:t>: Multiple Instruction</a:t>
            </a:r>
          </a:p>
          <a:p>
            <a:pPr lvl="1"/>
            <a:r>
              <a:rPr lang="en-US" sz="2800" dirty="0"/>
              <a:t>Each thread (or process) could be independently running a different line of your code (instruction) concurrently</a:t>
            </a:r>
          </a:p>
          <a:p>
            <a:r>
              <a:rPr lang="en-US" b="1" dirty="0">
                <a:solidFill>
                  <a:srgbClr val="FF0000"/>
                </a:solidFill>
              </a:rPr>
              <a:t>MD</a:t>
            </a:r>
            <a:r>
              <a:rPr lang="en-US" dirty="0"/>
              <a:t>: Multiple Data</a:t>
            </a:r>
          </a:p>
          <a:p>
            <a:pPr lvl="1"/>
            <a:r>
              <a:rPr lang="en-US" sz="2800" dirty="0"/>
              <a:t>Each thread (or process) could be operating/accessing a different piece of the data from the memory concurrently</a:t>
            </a:r>
          </a:p>
        </p:txBody>
      </p:sp>
    </p:spTree>
    <p:extLst>
      <p:ext uri="{BB962C8B-B14F-4D97-AF65-F5344CB8AC3E}">
        <p14:creationId xmlns:p14="http://schemas.microsoft.com/office/powerpoint/2010/main" val="1408132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623391" y="2131052"/>
            <a:ext cx="3945607" cy="4093428"/>
          </a:xfrm>
          <a:prstGeom prst="rect">
            <a:avLst/>
          </a:prstGeom>
          <a:noFill/>
          <a:ln>
            <a:solidFill>
              <a:schemeClr val="tx1"/>
            </a:solidFill>
          </a:ln>
        </p:spPr>
        <p:txBody>
          <a:bodyPr wrap="square" rtlCol="0">
            <a:spAutoFit/>
          </a:bodyPr>
          <a:lstStyle/>
          <a:p>
            <a:r>
              <a:rPr lang="en-US" sz="2000" dirty="0"/>
              <a:t>// Begin: parallel region of the code</a:t>
            </a:r>
          </a:p>
          <a:p>
            <a:endParaRPr lang="en-US" sz="2000" dirty="0"/>
          </a:p>
          <a:p>
            <a:r>
              <a:rPr lang="mr-IN" sz="2000" dirty="0"/>
              <a:t>…</a:t>
            </a:r>
            <a:endParaRPr lang="en-US" sz="2000" dirty="0"/>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 End: parallel region of the code</a:t>
            </a:r>
          </a:p>
        </p:txBody>
      </p:sp>
      <p:sp>
        <p:nvSpPr>
          <p:cNvPr id="8" name="TextBox 7"/>
          <p:cNvSpPr txBox="1"/>
          <p:nvPr/>
        </p:nvSpPr>
        <p:spPr>
          <a:xfrm>
            <a:off x="6066439" y="2131052"/>
            <a:ext cx="4020204" cy="4093428"/>
          </a:xfrm>
          <a:prstGeom prst="rect">
            <a:avLst/>
          </a:prstGeom>
          <a:noFill/>
          <a:ln>
            <a:solidFill>
              <a:schemeClr val="tx1"/>
            </a:solidFill>
          </a:ln>
        </p:spPr>
        <p:txBody>
          <a:bodyPr wrap="square" rtlCol="0">
            <a:spAutoFit/>
          </a:bodyPr>
          <a:lstStyle/>
          <a:p>
            <a:r>
              <a:rPr lang="en-US" sz="2000" dirty="0"/>
              <a:t>// Begin: parallel region of the code</a:t>
            </a:r>
          </a:p>
          <a:p>
            <a:endParaRPr lang="en-US" sz="2000" dirty="0"/>
          </a:p>
          <a:p>
            <a:r>
              <a:rPr lang="mr-IN" sz="2000" dirty="0"/>
              <a:t>…</a:t>
            </a:r>
            <a:endParaRPr lang="en-US" sz="2000" dirty="0"/>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a:t>
            </a:r>
          </a:p>
          <a:p>
            <a:r>
              <a:rPr lang="en-US" sz="2000" dirty="0"/>
              <a:t>// End: parallel region of the code</a:t>
            </a:r>
          </a:p>
        </p:txBody>
      </p:sp>
      <p:cxnSp>
        <p:nvCxnSpPr>
          <p:cNvPr id="10" name="Straight Arrow Connector 9"/>
          <p:cNvCxnSpPr/>
          <p:nvPr/>
        </p:nvCxnSpPr>
        <p:spPr>
          <a:xfrm flipH="1">
            <a:off x="1834409" y="3811232"/>
            <a:ext cx="949569" cy="439616"/>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0596" y="2741719"/>
            <a:ext cx="2828403" cy="1323439"/>
          </a:xfrm>
          <a:prstGeom prst="rect">
            <a:avLst/>
          </a:prstGeom>
          <a:noFill/>
        </p:spPr>
        <p:txBody>
          <a:bodyPr wrap="none" rtlCol="0">
            <a:spAutoFit/>
          </a:bodyPr>
          <a:lstStyle/>
          <a:p>
            <a:r>
              <a:rPr lang="en-US" sz="2000" dirty="0"/>
              <a:t>All threads executing the </a:t>
            </a:r>
            <a:br>
              <a:rPr lang="en-US" sz="2000" dirty="0"/>
            </a:br>
            <a:r>
              <a:rPr lang="en-US" sz="2000" dirty="0"/>
              <a:t>same line of code. </a:t>
            </a:r>
            <a:br>
              <a:rPr lang="en-US" sz="2000" dirty="0"/>
            </a:br>
            <a:r>
              <a:rPr lang="en-US" sz="2000" dirty="0"/>
              <a:t>They may be accessing</a:t>
            </a:r>
            <a:br>
              <a:rPr lang="en-US" sz="2000" dirty="0"/>
            </a:br>
            <a:r>
              <a:rPr lang="en-US" sz="2000" dirty="0"/>
              <a:t>different pieces of data.</a:t>
            </a:r>
          </a:p>
        </p:txBody>
      </p:sp>
      <p:cxnSp>
        <p:nvCxnSpPr>
          <p:cNvPr id="13" name="Straight Arrow Connector 12"/>
          <p:cNvCxnSpPr/>
          <p:nvPr/>
        </p:nvCxnSpPr>
        <p:spPr>
          <a:xfrm flipH="1">
            <a:off x="6455651" y="2996572"/>
            <a:ext cx="949569" cy="439616"/>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6397037" y="3822256"/>
            <a:ext cx="949569" cy="439616"/>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H="1">
            <a:off x="6397036" y="4669455"/>
            <a:ext cx="949569" cy="439616"/>
          </a:xfrm>
          <a:prstGeom prst="straightConnector1">
            <a:avLst/>
          </a:prstGeom>
          <a:ln w="539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06018" y="2847048"/>
            <a:ext cx="1104598" cy="400110"/>
          </a:xfrm>
          <a:prstGeom prst="rect">
            <a:avLst/>
          </a:prstGeom>
          <a:noFill/>
        </p:spPr>
        <p:txBody>
          <a:bodyPr wrap="none" rtlCol="0">
            <a:spAutoFit/>
          </a:bodyPr>
          <a:lstStyle/>
          <a:p>
            <a:r>
              <a:rPr lang="en-US" sz="2000" dirty="0"/>
              <a:t>Thread 1</a:t>
            </a:r>
          </a:p>
        </p:txBody>
      </p:sp>
      <p:sp>
        <p:nvSpPr>
          <p:cNvPr id="17" name="TextBox 16"/>
          <p:cNvSpPr txBox="1"/>
          <p:nvPr/>
        </p:nvSpPr>
        <p:spPr>
          <a:xfrm>
            <a:off x="7400153" y="3562156"/>
            <a:ext cx="1104598" cy="400110"/>
          </a:xfrm>
          <a:prstGeom prst="rect">
            <a:avLst/>
          </a:prstGeom>
          <a:noFill/>
        </p:spPr>
        <p:txBody>
          <a:bodyPr wrap="none" rtlCol="0">
            <a:spAutoFit/>
          </a:bodyPr>
          <a:lstStyle/>
          <a:p>
            <a:r>
              <a:rPr lang="en-US" sz="2000" dirty="0"/>
              <a:t>Thread 2</a:t>
            </a:r>
          </a:p>
        </p:txBody>
      </p:sp>
      <p:sp>
        <p:nvSpPr>
          <p:cNvPr id="18" name="TextBox 17"/>
          <p:cNvSpPr txBox="1"/>
          <p:nvPr/>
        </p:nvSpPr>
        <p:spPr>
          <a:xfrm>
            <a:off x="7411873" y="4435527"/>
            <a:ext cx="1104598" cy="400110"/>
          </a:xfrm>
          <a:prstGeom prst="rect">
            <a:avLst/>
          </a:prstGeom>
          <a:noFill/>
        </p:spPr>
        <p:txBody>
          <a:bodyPr wrap="none" rtlCol="0">
            <a:spAutoFit/>
          </a:bodyPr>
          <a:lstStyle/>
          <a:p>
            <a:r>
              <a:rPr lang="en-US" sz="2000" dirty="0"/>
              <a:t>Thread 3</a:t>
            </a:r>
          </a:p>
        </p:txBody>
      </p:sp>
      <p:sp>
        <p:nvSpPr>
          <p:cNvPr id="19" name="TextBox 18"/>
          <p:cNvSpPr txBox="1"/>
          <p:nvPr/>
        </p:nvSpPr>
        <p:spPr>
          <a:xfrm>
            <a:off x="2783978" y="1339744"/>
            <a:ext cx="1221809" cy="646331"/>
          </a:xfrm>
          <a:prstGeom prst="rect">
            <a:avLst/>
          </a:prstGeom>
          <a:noFill/>
        </p:spPr>
        <p:txBody>
          <a:bodyPr wrap="none" rtlCol="0">
            <a:spAutoFit/>
          </a:bodyPr>
          <a:lstStyle/>
          <a:p>
            <a:r>
              <a:rPr lang="en-US" sz="3600" b="1" u="sng"/>
              <a:t>SIMD</a:t>
            </a:r>
          </a:p>
        </p:txBody>
      </p:sp>
      <p:sp>
        <p:nvSpPr>
          <p:cNvPr id="21" name="TextBox 20"/>
          <p:cNvSpPr txBox="1"/>
          <p:nvPr/>
        </p:nvSpPr>
        <p:spPr>
          <a:xfrm>
            <a:off x="7046039" y="1336428"/>
            <a:ext cx="1407758" cy="646331"/>
          </a:xfrm>
          <a:prstGeom prst="rect">
            <a:avLst/>
          </a:prstGeom>
          <a:noFill/>
        </p:spPr>
        <p:txBody>
          <a:bodyPr wrap="none" rtlCol="0">
            <a:spAutoFit/>
          </a:bodyPr>
          <a:lstStyle/>
          <a:p>
            <a:r>
              <a:rPr lang="en-US" sz="3600" b="1" u="sng" dirty="0"/>
              <a:t>MIMD</a:t>
            </a:r>
          </a:p>
        </p:txBody>
      </p:sp>
      <p:sp>
        <p:nvSpPr>
          <p:cNvPr id="20" name="Title 1">
            <a:extLst>
              <a:ext uri="{FF2B5EF4-FFF2-40B4-BE49-F238E27FC236}">
                <a16:creationId xmlns:a16="http://schemas.microsoft.com/office/drawing/2014/main" id="{F9D74196-E7AE-EB4D-97C3-A3ABAFDF0469}"/>
              </a:ext>
            </a:extLst>
          </p:cNvPr>
          <p:cNvSpPr>
            <a:spLocks noGrp="1"/>
          </p:cNvSpPr>
          <p:nvPr>
            <p:ph type="title"/>
          </p:nvPr>
        </p:nvSpPr>
        <p:spPr>
          <a:xfrm>
            <a:off x="622852" y="231304"/>
            <a:ext cx="9463791" cy="708025"/>
          </a:xfrm>
        </p:spPr>
        <p:txBody>
          <a:bodyPr>
            <a:normAutofit fontScale="90000"/>
          </a:bodyPr>
          <a:lstStyle/>
          <a:p>
            <a:r>
              <a:rPr lang="en-US" dirty="0">
                <a:latin typeface="Arial" charset="0"/>
              </a:rPr>
              <a:t>Single Program Models:  SIMD vs. MIMD</a:t>
            </a:r>
          </a:p>
        </p:txBody>
      </p:sp>
    </p:spTree>
    <p:extLst>
      <p:ext uri="{BB962C8B-B14F-4D97-AF65-F5344CB8AC3E}">
        <p14:creationId xmlns:p14="http://schemas.microsoft.com/office/powerpoint/2010/main" val="1484845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3960-25A8-0047-9E25-DE8F39388C75}"/>
              </a:ext>
            </a:extLst>
          </p:cNvPr>
          <p:cNvSpPr>
            <a:spLocks noGrp="1"/>
          </p:cNvSpPr>
          <p:nvPr>
            <p:ph type="title"/>
          </p:nvPr>
        </p:nvSpPr>
        <p:spPr>
          <a:xfrm>
            <a:off x="838200" y="0"/>
            <a:ext cx="10515600" cy="1325563"/>
          </a:xfrm>
        </p:spPr>
        <p:txBody>
          <a:bodyPr/>
          <a:lstStyle/>
          <a:p>
            <a:r>
              <a:rPr lang="en-US" dirty="0"/>
              <a:t>Example: summation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1C950-6E7F-0F4A-BAB4-6291A10DD1DF}"/>
                  </a:ext>
                </a:extLst>
              </p:cNvPr>
              <p:cNvSpPr>
                <a:spLocks noGrp="1"/>
              </p:cNvSpPr>
              <p:nvPr>
                <p:ph idx="1"/>
              </p:nvPr>
            </p:nvSpPr>
            <p:spPr>
              <a:xfrm>
                <a:off x="838200" y="1325564"/>
                <a:ext cx="10515600" cy="5532436"/>
              </a:xfrm>
            </p:spPr>
            <p:txBody>
              <a:bodyPr>
                <a:normAutofit/>
              </a:bodyPr>
              <a:lstStyle/>
              <a:p>
                <a:r>
                  <a:rPr lang="en-US" dirty="0"/>
                  <a:t>Consider a simple task</a:t>
                </a:r>
              </a:p>
              <a:p>
                <a:r>
                  <a:rPr lang="en-US" altLang="en-US" dirty="0">
                    <a:ea typeface="ＭＳ Ｐゴシック" panose="020B0600070205080204" pitchFamily="34" charset="-128"/>
                  </a:rPr>
                  <a:t>Adding a sequence of numbers </a:t>
                </a:r>
                <a:r>
                  <a:rPr lang="en-US" altLang="en-US" sz="2400" dirty="0">
                    <a:ea typeface="ＭＳ Ｐゴシック" panose="020B0600070205080204" pitchFamily="34" charset="-128"/>
                  </a:rPr>
                  <a:t>A[0],…,A[n-1]</a:t>
                </a:r>
                <a:endParaRPr lang="en-US" altLang="en-US" dirty="0">
                  <a:ea typeface="ＭＳ Ｐゴシック" panose="020B0600070205080204" pitchFamily="34" charset="-128"/>
                </a:endParaRPr>
              </a:p>
              <a:p>
                <a:r>
                  <a:rPr lang="en-US" altLang="en-US" dirty="0">
                    <a:ea typeface="ＭＳ Ｐゴシック" panose="020B0600070205080204" pitchFamily="34" charset="-128"/>
                  </a:rPr>
                  <a:t>Standard way to express it (in c)</a:t>
                </a:r>
              </a:p>
              <a:p>
                <a:pPr marL="0" indent="0">
                  <a:buNone/>
                </a:pPr>
                <a:r>
                  <a:rPr lang="en-US" altLang="en-US" dirty="0">
                    <a:ea typeface="ＭＳ Ｐゴシック" panose="020B0600070205080204" pitchFamily="34" charset="-128"/>
                  </a:rPr>
                  <a:t>	</a:t>
                </a:r>
              </a:p>
              <a:p>
                <a:endParaRPr lang="en-US" altLang="en-US" dirty="0">
                  <a:ea typeface="ＭＳ Ｐゴシック" panose="020B0600070205080204" pitchFamily="34" charset="-128"/>
                </a:endParaRPr>
              </a:p>
              <a:p>
                <a:pPr marL="0" indent="0">
                  <a:buNone/>
                </a:pPr>
                <a:endParaRPr lang="en-US" altLang="en-US" dirty="0">
                  <a:ea typeface="ＭＳ Ｐゴシック" panose="020B0600070205080204" pitchFamily="34" charset="-128"/>
                </a:endParaRPr>
              </a:p>
              <a:p>
                <a:r>
                  <a:rPr lang="en-US" altLang="en-US" dirty="0">
                    <a:ea typeface="ＭＳ Ｐゴシック" panose="020B0600070205080204" pitchFamily="34" charset="-128"/>
                  </a:rPr>
                  <a:t>Semantics require: </a:t>
                </a:r>
                <a:r>
                  <a:rPr lang="en-US" altLang="en-US" sz="2400" dirty="0">
                    <a:solidFill>
                      <a:srgbClr val="7030A0"/>
                    </a:solidFill>
                    <a:ea typeface="ＭＳ Ｐゴシック" panose="020B0600070205080204" pitchFamily="34" charset="-128"/>
                  </a:rPr>
                  <a:t>(</a:t>
                </a:r>
                <a:r>
                  <a:rPr lang="en-US" altLang="en-US" sz="2400" dirty="0">
                    <a:ea typeface="ＭＳ Ｐゴシック" panose="020B0600070205080204" pitchFamily="34" charset="-128"/>
                  </a:rPr>
                  <a:t>…</a:t>
                </a:r>
                <a:r>
                  <a:rPr lang="en-US" altLang="en-US" sz="2400" dirty="0">
                    <a:solidFill>
                      <a:srgbClr val="00B050"/>
                    </a:solidFill>
                    <a:ea typeface="ＭＳ Ｐゴシック" panose="020B0600070205080204" pitchFamily="34" charset="-128"/>
                  </a:rPr>
                  <a:t>(</a:t>
                </a:r>
                <a:r>
                  <a:rPr lang="en-US" altLang="en-US" sz="2400" dirty="0">
                    <a:solidFill>
                      <a:srgbClr val="0070C0"/>
                    </a:solidFill>
                    <a:ea typeface="ＭＳ Ｐゴシック" panose="020B0600070205080204" pitchFamily="34" charset="-128"/>
                  </a:rPr>
                  <a:t>(</a:t>
                </a:r>
                <a:r>
                  <a:rPr lang="en-US" altLang="en-US" sz="2400" dirty="0">
                    <a:solidFill>
                      <a:srgbClr val="FF0000"/>
                    </a:solidFill>
                    <a:ea typeface="ＭＳ Ｐゴシック" panose="020B0600070205080204" pitchFamily="34" charset="-128"/>
                  </a:rPr>
                  <a:t>(</a:t>
                </a:r>
                <a:r>
                  <a:rPr lang="en-US" altLang="en-US" sz="2400" dirty="0" err="1">
                    <a:solidFill>
                      <a:srgbClr val="FF0000"/>
                    </a:solidFill>
                    <a:ea typeface="ＭＳ Ｐゴシック" panose="020B0600070205080204" pitchFamily="34" charset="-128"/>
                  </a:rPr>
                  <a:t>sum+A</a:t>
                </a:r>
                <a:r>
                  <a:rPr lang="en-US" altLang="en-US" sz="2400" dirty="0">
                    <a:solidFill>
                      <a:srgbClr val="FF0000"/>
                    </a:solidFill>
                    <a:ea typeface="ＭＳ Ｐゴシック" panose="020B0600070205080204" pitchFamily="34" charset="-128"/>
                  </a:rPr>
                  <a:t>[0])</a:t>
                </a:r>
                <a:r>
                  <a:rPr lang="en-US" altLang="en-US" sz="2400" dirty="0">
                    <a:solidFill>
                      <a:srgbClr val="0070C0"/>
                    </a:solidFill>
                    <a:ea typeface="ＭＳ Ｐゴシック" panose="020B0600070205080204" pitchFamily="34" charset="-128"/>
                  </a:rPr>
                  <a:t>+A[1])</a:t>
                </a:r>
                <a:r>
                  <a:rPr lang="en-US" altLang="en-US" sz="2400" dirty="0">
                    <a:solidFill>
                      <a:srgbClr val="00B050"/>
                    </a:solidFill>
                    <a:ea typeface="ＭＳ Ｐゴシック" panose="020B0600070205080204" pitchFamily="34" charset="-128"/>
                  </a:rPr>
                  <a:t>+A[2])</a:t>
                </a:r>
                <a:r>
                  <a:rPr lang="en-US" altLang="en-US" sz="2400" dirty="0">
                    <a:ea typeface="ＭＳ Ｐゴシック" panose="020B0600070205080204" pitchFamily="34" charset="-128"/>
                  </a:rPr>
                  <a:t>…</a:t>
                </a:r>
                <a:r>
                  <a:rPr lang="en-US" altLang="en-US" sz="2400" dirty="0">
                    <a:solidFill>
                      <a:srgbClr val="7030A0"/>
                    </a:solidFill>
                    <a:ea typeface="ＭＳ Ｐゴシック" panose="020B0600070205080204" pitchFamily="34" charset="-128"/>
                  </a:rPr>
                  <a:t>+A[n-1])</a:t>
                </a:r>
              </a:p>
              <a:p>
                <a:pPr lvl="1"/>
                <a:r>
                  <a:rPr lang="en-US" altLang="en-US" dirty="0">
                    <a:ea typeface="ＭＳ Ｐゴシック" panose="020B0600070205080204" pitchFamily="34" charset="-128"/>
                  </a:rPr>
                  <a:t>That is, </a:t>
                </a:r>
                <a:r>
                  <a:rPr lang="en-US" altLang="en-US" u="sng" dirty="0">
                    <a:ea typeface="ＭＳ Ｐゴシック" panose="020B0600070205080204" pitchFamily="34" charset="-128"/>
                  </a:rPr>
                  <a:t>sequential</a:t>
                </a:r>
              </a:p>
              <a:p>
                <a:pPr lvl="1"/>
                <a:r>
                  <a:rPr lang="en-US" altLang="en-US" dirty="0">
                    <a:ea typeface="ＭＳ Ｐゴシック" panose="020B0600070205080204" pitchFamily="34" charset="-128"/>
                  </a:rPr>
                  <a:t>performance: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𝒪</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𝑛</m:t>
                    </m:r>
                    <m:r>
                      <a:rPr lang="en-US" altLang="en-US" b="0" i="1" smtClean="0">
                        <a:latin typeface="Cambria Math" panose="02040503050406030204" pitchFamily="18" charset="0"/>
                        <a:ea typeface="Cambria Math" panose="02040503050406030204" pitchFamily="18" charset="0"/>
                      </a:rPr>
                      <m:t>)</m:t>
                    </m:r>
                  </m:oMath>
                </a14:m>
                <a:endParaRPr lang="en-US" altLang="en-US" dirty="0">
                  <a:ea typeface="ＭＳ Ｐゴシック" panose="020B0600070205080204" pitchFamily="34" charset="-128"/>
                </a:endParaRPr>
              </a:p>
              <a:p>
                <a:r>
                  <a:rPr lang="en-US" altLang="en-US" dirty="0">
                    <a:ea typeface="ＭＳ Ｐゴシック" panose="020B0600070205080204" pitchFamily="34" charset="-128"/>
                  </a:rPr>
                  <a:t>Can it be executed in parallel?</a:t>
                </a:r>
                <a:endParaRPr lang="en-US" dirty="0"/>
              </a:p>
            </p:txBody>
          </p:sp>
        </mc:Choice>
        <mc:Fallback xmlns="">
          <p:sp>
            <p:nvSpPr>
              <p:cNvPr id="3" name="Content Placeholder 2">
                <a:extLst>
                  <a:ext uri="{FF2B5EF4-FFF2-40B4-BE49-F238E27FC236}">
                    <a16:creationId xmlns:a16="http://schemas.microsoft.com/office/drawing/2014/main" id="{1731C950-6E7F-0F4A-BAB4-6291A10DD1DF}"/>
                  </a:ext>
                </a:extLst>
              </p:cNvPr>
              <p:cNvSpPr>
                <a:spLocks noGrp="1" noRot="1" noChangeAspect="1" noMove="1" noResize="1" noEditPoints="1" noAdjustHandles="1" noChangeArrowheads="1" noChangeShapeType="1" noTextEdit="1"/>
              </p:cNvSpPr>
              <p:nvPr>
                <p:ph idx="1"/>
              </p:nvPr>
            </p:nvSpPr>
            <p:spPr>
              <a:xfrm>
                <a:off x="838200" y="1325564"/>
                <a:ext cx="10515600" cy="5532436"/>
              </a:xfrm>
              <a:blipFill>
                <a:blip r:embed="rId2"/>
                <a:stretch>
                  <a:fillRect l="-965" t="-160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E559BC59-2E78-C245-8DD0-E0DB4A9890F7}"/>
              </a:ext>
            </a:extLst>
          </p:cNvPr>
          <p:cNvSpPr/>
          <p:nvPr/>
        </p:nvSpPr>
        <p:spPr>
          <a:xfrm>
            <a:off x="1498600" y="2802553"/>
            <a:ext cx="6096000" cy="1569660"/>
          </a:xfrm>
          <a:prstGeom prst="rect">
            <a:avLst/>
          </a:prstGeom>
        </p:spPr>
        <p:txBody>
          <a:bodyPr>
            <a:spAutoFit/>
          </a:bodyPr>
          <a:lstStyle/>
          <a:p>
            <a:r>
              <a:rPr lang="en-US" altLang="en-US" sz="2400" dirty="0">
                <a:solidFill>
                  <a:srgbClr val="FF0000"/>
                </a:solidFill>
                <a:latin typeface="Arial" panose="020B0604020202020204" pitchFamily="34" charset="0"/>
                <a:cs typeface="Arial" panose="020B0604020202020204" pitchFamily="34" charset="0"/>
              </a:rPr>
              <a:t>sum = 0;</a:t>
            </a:r>
          </a:p>
          <a:p>
            <a:r>
              <a:rPr lang="en-US" altLang="en-US" sz="2400" dirty="0">
                <a:solidFill>
                  <a:srgbClr val="FF0000"/>
                </a:solidFill>
                <a:latin typeface="Arial" panose="020B0604020202020204" pitchFamily="34" charset="0"/>
                <a:cs typeface="Arial" panose="020B0604020202020204" pitchFamily="34" charset="0"/>
              </a:rPr>
              <a:t>for (</a:t>
            </a:r>
            <a:r>
              <a:rPr lang="en-US" altLang="en-US" sz="2400" dirty="0" err="1">
                <a:solidFill>
                  <a:srgbClr val="FF0000"/>
                </a:solidFill>
                <a:latin typeface="Arial" panose="020B0604020202020204" pitchFamily="34" charset="0"/>
                <a:cs typeface="Arial" panose="020B0604020202020204" pitchFamily="34" charset="0"/>
              </a:rPr>
              <a:t>i</a:t>
            </a:r>
            <a:r>
              <a:rPr lang="en-US" altLang="en-US" sz="2400" dirty="0">
                <a:solidFill>
                  <a:srgbClr val="FF0000"/>
                </a:solidFill>
                <a:latin typeface="Arial" panose="020B0604020202020204" pitchFamily="34" charset="0"/>
                <a:cs typeface="Arial" panose="020B0604020202020204" pitchFamily="34" charset="0"/>
              </a:rPr>
              <a:t>=0; </a:t>
            </a:r>
            <a:r>
              <a:rPr lang="en-US" altLang="en-US" sz="2400" dirty="0" err="1">
                <a:solidFill>
                  <a:srgbClr val="FF0000"/>
                </a:solidFill>
                <a:latin typeface="Arial" panose="020B0604020202020204" pitchFamily="34" charset="0"/>
                <a:cs typeface="Arial" panose="020B0604020202020204" pitchFamily="34" charset="0"/>
              </a:rPr>
              <a:t>i</a:t>
            </a:r>
            <a:r>
              <a:rPr lang="en-US" altLang="en-US" sz="2400" dirty="0">
                <a:solidFill>
                  <a:srgbClr val="FF0000"/>
                </a:solidFill>
                <a:latin typeface="Arial" panose="020B0604020202020204" pitchFamily="34" charset="0"/>
                <a:cs typeface="Arial" panose="020B0604020202020204" pitchFamily="34" charset="0"/>
              </a:rPr>
              <a:t>&lt;n; </a:t>
            </a:r>
            <a:r>
              <a:rPr lang="en-US" altLang="en-US" sz="2400" dirty="0" err="1">
                <a:solidFill>
                  <a:srgbClr val="FF0000"/>
                </a:solidFill>
                <a:latin typeface="Arial" panose="020B0604020202020204" pitchFamily="34" charset="0"/>
                <a:cs typeface="Arial" panose="020B0604020202020204" pitchFamily="34" charset="0"/>
              </a:rPr>
              <a:t>i</a:t>
            </a:r>
            <a:r>
              <a:rPr lang="en-US" altLang="en-US" sz="2400" dirty="0">
                <a:solidFill>
                  <a:srgbClr val="FF0000"/>
                </a:solidFill>
                <a:latin typeface="Arial" panose="020B0604020202020204" pitchFamily="34" charset="0"/>
                <a:cs typeface="Arial" panose="020B0604020202020204" pitchFamily="34" charset="0"/>
              </a:rPr>
              <a:t>++) {</a:t>
            </a:r>
          </a:p>
          <a:p>
            <a:r>
              <a:rPr lang="en-US" altLang="en-US" sz="2400" dirty="0">
                <a:solidFill>
                  <a:srgbClr val="FF0000"/>
                </a:solidFill>
                <a:latin typeface="Arial" panose="020B0604020202020204" pitchFamily="34" charset="0"/>
                <a:cs typeface="Arial" panose="020B0604020202020204" pitchFamily="34" charset="0"/>
              </a:rPr>
              <a:t>   sum += A[</a:t>
            </a:r>
            <a:r>
              <a:rPr lang="en-US" altLang="en-US" sz="2400" dirty="0" err="1">
                <a:solidFill>
                  <a:srgbClr val="FF0000"/>
                </a:solidFill>
                <a:latin typeface="Arial" panose="020B0604020202020204" pitchFamily="34" charset="0"/>
                <a:cs typeface="Arial" panose="020B0604020202020204" pitchFamily="34" charset="0"/>
              </a:rPr>
              <a:t>i</a:t>
            </a:r>
            <a:r>
              <a:rPr lang="en-US" altLang="en-US" sz="2400" dirty="0">
                <a:solidFill>
                  <a:srgbClr val="FF0000"/>
                </a:solidFill>
                <a:latin typeface="Arial" panose="020B0604020202020204" pitchFamily="34" charset="0"/>
                <a:cs typeface="Arial" panose="020B0604020202020204" pitchFamily="34" charset="0"/>
              </a:rPr>
              <a:t>];</a:t>
            </a:r>
          </a:p>
          <a:p>
            <a:r>
              <a:rPr lang="en-US" altLang="en-US" sz="2400" dirty="0">
                <a:solidFill>
                  <a:srgbClr val="FF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681744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6B3829E-12CB-A443-B825-92F6111FF09F}"/>
              </a:ext>
            </a:extLst>
          </p:cNvPr>
          <p:cNvSpPr>
            <a:spLocks noGrp="1" noChangeArrowheads="1"/>
          </p:cNvSpPr>
          <p:nvPr>
            <p:ph type="title"/>
          </p:nvPr>
        </p:nvSpPr>
        <p:spPr>
          <a:xfrm>
            <a:off x="800100" y="0"/>
            <a:ext cx="10515600" cy="1325563"/>
          </a:xfrm>
        </p:spPr>
        <p:txBody>
          <a:bodyPr/>
          <a:lstStyle/>
          <a:p>
            <a:pPr eaLnBrk="1" hangingPunct="1"/>
            <a:r>
              <a:rPr lang="en-US" altLang="en-US" dirty="0">
                <a:ea typeface="ＭＳ Ｐゴシック" panose="020B0600070205080204" pitchFamily="34" charset="-128"/>
              </a:rPr>
              <a:t>Parallel Summation</a:t>
            </a:r>
          </a:p>
        </p:txBody>
      </p:sp>
      <mc:AlternateContent xmlns:mc="http://schemas.openxmlformats.org/markup-compatibility/2006" xmlns:a14="http://schemas.microsoft.com/office/drawing/2010/main">
        <mc:Choice Requires="a14">
          <p:sp>
            <p:nvSpPr>
              <p:cNvPr id="17411" name="Rectangle 3">
                <a:extLst>
                  <a:ext uri="{FF2B5EF4-FFF2-40B4-BE49-F238E27FC236}">
                    <a16:creationId xmlns:a16="http://schemas.microsoft.com/office/drawing/2014/main" id="{58B40F3F-FF2C-B048-BB55-C8A57F34341C}"/>
                  </a:ext>
                </a:extLst>
              </p:cNvPr>
              <p:cNvSpPr>
                <a:spLocks noGrp="1" noChangeArrowheads="1"/>
              </p:cNvSpPr>
              <p:nvPr>
                <p:ph idx="1"/>
              </p:nvPr>
            </p:nvSpPr>
            <p:spPr>
              <a:xfrm>
                <a:off x="800100" y="1325563"/>
                <a:ext cx="8043862" cy="4267200"/>
              </a:xfrm>
            </p:spPr>
            <p:txBody>
              <a:bodyPr>
                <a:normAutofit/>
              </a:bodyPr>
              <a:lstStyle/>
              <a:p>
                <a:pPr eaLnBrk="1" hangingPunct="1"/>
                <a:r>
                  <a:rPr lang="en-US" altLang="en-US" dirty="0">
                    <a:ea typeface="ＭＳ Ｐゴシック" panose="020B0600070205080204" pitchFamily="34" charset="-128"/>
                  </a:rPr>
                  <a:t>To sum a sequence in parallel </a:t>
                </a:r>
              </a:p>
              <a:p>
                <a:pPr lvl="1" eaLnBrk="1" hangingPunct="1"/>
                <a:r>
                  <a:rPr lang="en-US" altLang="en-US" sz="2800" dirty="0">
                    <a:ea typeface="ＭＳ Ｐゴシック" panose="020B0600070205080204" pitchFamily="34" charset="-128"/>
                  </a:rPr>
                  <a:t>add pairs of values producing 1st level results, </a:t>
                </a:r>
              </a:p>
              <a:p>
                <a:pPr lvl="1" eaLnBrk="1" hangingPunct="1"/>
                <a:r>
                  <a:rPr lang="en-US" altLang="en-US" sz="2800" dirty="0">
                    <a:ea typeface="ＭＳ Ｐゴシック" panose="020B0600070205080204" pitchFamily="34" charset="-128"/>
                  </a:rPr>
                  <a:t>add pairs of 1st level results producing 2nd level results, </a:t>
                </a:r>
              </a:p>
              <a:p>
                <a:pPr lvl="1" eaLnBrk="1" hangingPunct="1"/>
                <a:r>
                  <a:rPr lang="en-US" altLang="en-US" sz="2800" dirty="0">
                    <a:ea typeface="ＭＳ Ｐゴシック" panose="020B0600070205080204" pitchFamily="34" charset="-128"/>
                  </a:rPr>
                  <a:t>sum pairs of 2nd level results …</a:t>
                </a:r>
              </a:p>
              <a:p>
                <a:pPr eaLnBrk="1" hangingPunct="1"/>
                <a:r>
                  <a:rPr lang="en-US" altLang="en-US" dirty="0">
                    <a:ea typeface="ＭＳ Ｐゴシック" panose="020B0600070205080204" pitchFamily="34" charset="-128"/>
                  </a:rPr>
                  <a:t>That is,</a:t>
                </a:r>
              </a:p>
              <a:p>
                <a:pPr eaLnBrk="1" hangingPunct="1"/>
                <a:endParaRPr lang="en-US" altLang="en-US" dirty="0">
                  <a:ea typeface="ＭＳ Ｐゴシック" panose="020B0600070205080204" pitchFamily="34" charset="-128"/>
                </a:endParaRPr>
              </a:p>
              <a:p>
                <a:r>
                  <a:rPr lang="en-US" altLang="en-US" dirty="0">
                    <a:ea typeface="ＭＳ Ｐゴシック" panose="020B0600070205080204" pitchFamily="34" charset="-128"/>
                  </a:rPr>
                  <a:t>performance:  </a:t>
                </a:r>
                <a14:m>
                  <m:oMath xmlns:m="http://schemas.openxmlformats.org/officeDocument/2006/math">
                    <m:r>
                      <a:rPr lang="en-US" altLang="en-US" i="1">
                        <a:latin typeface="Cambria Math" panose="02040503050406030204" pitchFamily="18" charset="0"/>
                        <a:ea typeface="Cambria Math" panose="02040503050406030204" pitchFamily="18" charset="0"/>
                      </a:rPr>
                      <m:t>𝒪</m:t>
                    </m:r>
                    <m:r>
                      <a:rPr lang="en-US" altLang="en-US" i="1">
                        <a:latin typeface="Cambria Math" panose="02040503050406030204" pitchFamily="18" charset="0"/>
                        <a:ea typeface="Cambria Math" panose="02040503050406030204" pitchFamily="18" charset="0"/>
                      </a:rPr>
                      <m:t>(</m:t>
                    </m:r>
                    <m:func>
                      <m:funcPr>
                        <m:ctrlPr>
                          <a:rPr lang="en-US" altLang="en-US" b="0" i="1" smtClean="0">
                            <a:latin typeface="Cambria Math" panose="02040503050406030204" pitchFamily="18" charset="0"/>
                            <a:ea typeface="Cambria Math" panose="02040503050406030204" pitchFamily="18" charset="0"/>
                          </a:rPr>
                        </m:ctrlPr>
                      </m:funcPr>
                      <m:fName>
                        <m:r>
                          <m:rPr>
                            <m:sty m:val="p"/>
                          </m:rPr>
                          <a:rPr lang="en-US" altLang="en-US" b="0" i="0" smtClean="0">
                            <a:latin typeface="Cambria Math" panose="02040503050406030204" pitchFamily="18" charset="0"/>
                            <a:ea typeface="Cambria Math" panose="02040503050406030204" pitchFamily="18" charset="0"/>
                          </a:rPr>
                          <m:t>log</m:t>
                        </m:r>
                      </m:fName>
                      <m:e>
                        <m:r>
                          <a:rPr lang="en-US" altLang="en-US" b="0" i="1" smtClean="0">
                            <a:latin typeface="Cambria Math" panose="02040503050406030204" pitchFamily="18" charset="0"/>
                            <a:ea typeface="Cambria Math" panose="02040503050406030204" pitchFamily="18" charset="0"/>
                          </a:rPr>
                          <m:t>𝑛</m:t>
                        </m:r>
                      </m:e>
                    </m:func>
                    <m:r>
                      <a:rPr lang="en-US" altLang="en-US" i="1">
                        <a:latin typeface="Cambria Math" panose="02040503050406030204" pitchFamily="18" charset="0"/>
                        <a:ea typeface="Cambria Math" panose="02040503050406030204" pitchFamily="18" charset="0"/>
                      </a:rPr>
                      <m:t>)</m:t>
                    </m:r>
                  </m:oMath>
                </a14:m>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mc:Choice>
        <mc:Fallback xmlns="">
          <p:sp>
            <p:nvSpPr>
              <p:cNvPr id="17411" name="Rectangle 3">
                <a:extLst>
                  <a:ext uri="{FF2B5EF4-FFF2-40B4-BE49-F238E27FC236}">
                    <a16:creationId xmlns:a16="http://schemas.microsoft.com/office/drawing/2014/main" id="{58B40F3F-FF2C-B048-BB55-C8A57F34341C}"/>
                  </a:ext>
                </a:extLst>
              </p:cNvPr>
              <p:cNvSpPr>
                <a:spLocks noGrp="1" noRot="1" noChangeAspect="1" noMove="1" noResize="1" noEditPoints="1" noAdjustHandles="1" noChangeArrowheads="1" noChangeShapeType="1" noTextEdit="1"/>
              </p:cNvSpPr>
              <p:nvPr>
                <p:ph idx="1"/>
              </p:nvPr>
            </p:nvSpPr>
            <p:spPr>
              <a:xfrm>
                <a:off x="800100" y="1325563"/>
                <a:ext cx="8043862" cy="4267200"/>
              </a:xfrm>
              <a:blipFill>
                <a:blip r:embed="rId3"/>
                <a:stretch>
                  <a:fillRect l="-1262" t="-2077"/>
                </a:stretch>
              </a:blipFill>
            </p:spPr>
            <p:txBody>
              <a:bodyPr/>
              <a:lstStyle/>
              <a:p>
                <a:r>
                  <a:rPr lang="en-US">
                    <a:noFill/>
                  </a:rPr>
                  <a:t> </a:t>
                </a:r>
              </a:p>
            </p:txBody>
          </p:sp>
        </mc:Fallback>
      </mc:AlternateContent>
      <p:sp>
        <p:nvSpPr>
          <p:cNvPr id="17412" name="Text Box 4">
            <a:extLst>
              <a:ext uri="{FF2B5EF4-FFF2-40B4-BE49-F238E27FC236}">
                <a16:creationId xmlns:a16="http://schemas.microsoft.com/office/drawing/2014/main" id="{A67518D9-0960-D34A-B819-FB1B8587532F}"/>
              </a:ext>
            </a:extLst>
          </p:cNvPr>
          <p:cNvSpPr txBox="1">
            <a:spLocks noChangeArrowheads="1"/>
          </p:cNvSpPr>
          <p:nvPr/>
        </p:nvSpPr>
        <p:spPr bwMode="auto">
          <a:xfrm>
            <a:off x="1460500" y="4089400"/>
            <a:ext cx="1000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b="0" dirty="0">
                <a:solidFill>
                  <a:srgbClr val="7030A0"/>
                </a:solidFill>
              </a:rPr>
              <a:t>(</a:t>
            </a:r>
            <a:r>
              <a:rPr lang="en-US" altLang="en-US" b="0" dirty="0"/>
              <a:t>…</a:t>
            </a:r>
            <a:r>
              <a:rPr lang="en-US" altLang="en-US" b="0" dirty="0">
                <a:solidFill>
                  <a:srgbClr val="0070C0"/>
                </a:solidFill>
              </a:rPr>
              <a:t>(</a:t>
            </a:r>
            <a:r>
              <a:rPr lang="en-US" altLang="en-US" b="0" dirty="0">
                <a:solidFill>
                  <a:srgbClr val="FF0000"/>
                </a:solidFill>
              </a:rPr>
              <a:t>(A[0]+A[1])</a:t>
            </a:r>
            <a:r>
              <a:rPr lang="en-US" altLang="en-US" b="0" dirty="0"/>
              <a:t> </a:t>
            </a:r>
            <a:r>
              <a:rPr lang="en-US" altLang="en-US" b="0" dirty="0">
                <a:solidFill>
                  <a:srgbClr val="0070C0"/>
                </a:solidFill>
              </a:rPr>
              <a:t>+</a:t>
            </a:r>
            <a:r>
              <a:rPr lang="en-US" altLang="en-US" b="0" dirty="0"/>
              <a:t> </a:t>
            </a:r>
            <a:r>
              <a:rPr lang="en-US" altLang="en-US" b="0" dirty="0">
                <a:solidFill>
                  <a:srgbClr val="FF0000"/>
                </a:solidFill>
              </a:rPr>
              <a:t>(A[2]+A[3])</a:t>
            </a:r>
            <a:r>
              <a:rPr lang="en-US" altLang="en-US" b="0" dirty="0">
                <a:solidFill>
                  <a:srgbClr val="0070C0"/>
                </a:solidFill>
              </a:rPr>
              <a:t>)</a:t>
            </a:r>
            <a:r>
              <a:rPr lang="en-US" altLang="en-US" b="0" dirty="0"/>
              <a:t> </a:t>
            </a:r>
            <a:r>
              <a:rPr lang="en-US" altLang="en-US" b="0" dirty="0">
                <a:solidFill>
                  <a:srgbClr val="00B050"/>
                </a:solidFill>
              </a:rPr>
              <a:t>+</a:t>
            </a:r>
            <a:r>
              <a:rPr lang="en-US" altLang="en-US" b="0" dirty="0"/>
              <a:t> ... </a:t>
            </a:r>
            <a:r>
              <a:rPr lang="en-US" altLang="en-US" b="0" dirty="0">
                <a:solidFill>
                  <a:srgbClr val="00B050"/>
                </a:solidFill>
              </a:rPr>
              <a:t>+</a:t>
            </a:r>
            <a:r>
              <a:rPr lang="en-US" altLang="en-US" b="0" dirty="0">
                <a:solidFill>
                  <a:srgbClr val="0070C0"/>
                </a:solidFill>
              </a:rPr>
              <a:t>(</a:t>
            </a:r>
            <a:r>
              <a:rPr lang="en-US" altLang="en-US" b="0" dirty="0">
                <a:solidFill>
                  <a:srgbClr val="FF0000"/>
                </a:solidFill>
              </a:rPr>
              <a:t>(A[n-4]+A[n-3])</a:t>
            </a:r>
            <a:r>
              <a:rPr lang="en-US" altLang="en-US" b="0" dirty="0">
                <a:solidFill>
                  <a:srgbClr val="0070C0"/>
                </a:solidFill>
              </a:rPr>
              <a:t> + </a:t>
            </a:r>
            <a:r>
              <a:rPr lang="en-US" altLang="en-US" b="0" dirty="0">
                <a:solidFill>
                  <a:srgbClr val="FF0000"/>
                </a:solidFill>
              </a:rPr>
              <a:t>(A[n-2]+A[n-1])</a:t>
            </a:r>
            <a:r>
              <a:rPr lang="en-US" altLang="en-US" b="0" dirty="0">
                <a:solidFill>
                  <a:srgbClr val="0070C0"/>
                </a:solidFill>
              </a:rPr>
              <a:t>)</a:t>
            </a:r>
            <a:r>
              <a:rPr lang="en-US" altLang="en-US" b="0" dirty="0"/>
              <a:t>…</a:t>
            </a:r>
            <a:r>
              <a:rPr lang="en-US" altLang="en-US" b="0" dirty="0">
                <a:solidFill>
                  <a:srgbClr val="7030A0"/>
                </a:solidFill>
              </a:rPr>
              <a:t>)</a:t>
            </a:r>
          </a:p>
        </p:txBody>
      </p:sp>
    </p:spTree>
    <p:extLst>
      <p:ext uri="{BB962C8B-B14F-4D97-AF65-F5344CB8AC3E}">
        <p14:creationId xmlns:p14="http://schemas.microsoft.com/office/powerpoint/2010/main" val="3555010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2A6BB-3314-1845-BC42-3B6DAA5F3C84}"/>
              </a:ext>
            </a:extLst>
          </p:cNvPr>
          <p:cNvSpPr>
            <a:spLocks noGrp="1"/>
          </p:cNvSpPr>
          <p:nvPr>
            <p:ph idx="1"/>
          </p:nvPr>
        </p:nvSpPr>
        <p:spPr>
          <a:xfrm>
            <a:off x="838200" y="1327295"/>
            <a:ext cx="10515600" cy="4351338"/>
          </a:xfrm>
        </p:spPr>
        <p:txBody>
          <a:bodyPr/>
          <a:lstStyle/>
          <a:p>
            <a:r>
              <a:rPr lang="en-US" altLang="en-US" dirty="0">
                <a:ea typeface="ＭＳ Ｐゴシック" panose="020B0600070205080204" pitchFamily="34" charset="-128"/>
              </a:rPr>
              <a:t>Graphic representation makes difference clear</a:t>
            </a:r>
          </a:p>
          <a:p>
            <a:pPr marL="0" indent="0">
              <a:buNone/>
            </a:pPr>
            <a:endParaRPr lang="en-US" dirty="0"/>
          </a:p>
        </p:txBody>
      </p:sp>
      <p:sp>
        <p:nvSpPr>
          <p:cNvPr id="18434" name="Rectangle 2">
            <a:extLst>
              <a:ext uri="{FF2B5EF4-FFF2-40B4-BE49-F238E27FC236}">
                <a16:creationId xmlns:a16="http://schemas.microsoft.com/office/drawing/2014/main" id="{6F769173-5A32-7F4A-9BA5-4AA4449CAAB7}"/>
              </a:ext>
            </a:extLst>
          </p:cNvPr>
          <p:cNvSpPr>
            <a:spLocks noGrp="1" noChangeArrowheads="1"/>
          </p:cNvSpPr>
          <p:nvPr>
            <p:ph type="title"/>
          </p:nvPr>
        </p:nvSpPr>
        <p:spPr>
          <a:xfrm>
            <a:off x="838200" y="-2696"/>
            <a:ext cx="10515600" cy="1325563"/>
          </a:xfrm>
        </p:spPr>
        <p:txBody>
          <a:bodyPr/>
          <a:lstStyle/>
          <a:p>
            <a:pPr eaLnBrk="1" hangingPunct="1"/>
            <a:r>
              <a:rPr lang="en-US" altLang="en-US" dirty="0">
                <a:ea typeface="ＭＳ Ｐゴシック" panose="020B0600070205080204" pitchFamily="34" charset="-128"/>
              </a:rPr>
              <a:t>Express the Two Formulations</a:t>
            </a:r>
          </a:p>
        </p:txBody>
      </p:sp>
      <p:grpSp>
        <p:nvGrpSpPr>
          <p:cNvPr id="18436" name="Group 36">
            <a:extLst>
              <a:ext uri="{FF2B5EF4-FFF2-40B4-BE49-F238E27FC236}">
                <a16:creationId xmlns:a16="http://schemas.microsoft.com/office/drawing/2014/main" id="{532FFA94-CDA9-DF49-9622-23A2B28C9674}"/>
              </a:ext>
            </a:extLst>
          </p:cNvPr>
          <p:cNvGrpSpPr>
            <a:grpSpLocks/>
          </p:cNvGrpSpPr>
          <p:nvPr/>
        </p:nvGrpSpPr>
        <p:grpSpPr bwMode="auto">
          <a:xfrm>
            <a:off x="863946" y="2392364"/>
            <a:ext cx="5029200" cy="3429000"/>
            <a:chOff x="384" y="1968"/>
            <a:chExt cx="2544" cy="1584"/>
          </a:xfrm>
        </p:grpSpPr>
        <p:sp>
          <p:nvSpPr>
            <p:cNvPr id="17443" name="Rectangle 35">
              <a:extLst>
                <a:ext uri="{FF2B5EF4-FFF2-40B4-BE49-F238E27FC236}">
                  <a16:creationId xmlns:a16="http://schemas.microsoft.com/office/drawing/2014/main" id="{87E473CE-5C31-C540-A745-8042FDADE581}"/>
                </a:ext>
              </a:extLst>
            </p:cNvPr>
            <p:cNvSpPr>
              <a:spLocks noChangeArrowheads="1"/>
            </p:cNvSpPr>
            <p:nvPr/>
          </p:nvSpPr>
          <p:spPr bwMode="auto">
            <a:xfrm>
              <a:off x="384" y="1968"/>
              <a:ext cx="2544" cy="1584"/>
            </a:xfrm>
            <a:prstGeom prst="rect">
              <a:avLst/>
            </a:prstGeom>
            <a:solidFill>
              <a:schemeClr val="bg1"/>
            </a:solidFill>
            <a:ln w="9525">
              <a:solidFill>
                <a:schemeClr val="tx1"/>
              </a:solidFill>
              <a:miter lim="800000"/>
              <a:headEnd/>
              <a:tailEnd/>
            </a:ln>
            <a:effectLst>
              <a:outerShdw blurRad="63500" dist="107763" dir="2700000" algn="ctr" rotWithShape="0">
                <a:srgbClr val="000000">
                  <a:alpha val="74998"/>
                </a:srgbClr>
              </a:outerShdw>
            </a:effectLst>
          </p:spPr>
          <p:txBody>
            <a:bodyPr wrap="none" anchor="ctr"/>
            <a:lstStyle/>
            <a:p>
              <a:pPr>
                <a:defRPr/>
              </a:pPr>
              <a:endParaRPr lang="en-US">
                <a:latin typeface="Arial" charset="0"/>
                <a:ea typeface="ＭＳ Ｐゴシック" charset="-128"/>
              </a:endParaRPr>
            </a:p>
          </p:txBody>
        </p:sp>
        <p:grpSp>
          <p:nvGrpSpPr>
            <p:cNvPr id="18477" name="Group 4">
              <a:extLst>
                <a:ext uri="{FF2B5EF4-FFF2-40B4-BE49-F238E27FC236}">
                  <a16:creationId xmlns:a16="http://schemas.microsoft.com/office/drawing/2014/main" id="{E511B2D3-6B03-584D-9BBE-C4AFFDDB89AF}"/>
                </a:ext>
              </a:extLst>
            </p:cNvPr>
            <p:cNvGrpSpPr>
              <a:grpSpLocks/>
            </p:cNvGrpSpPr>
            <p:nvPr/>
          </p:nvGrpSpPr>
          <p:grpSpPr bwMode="auto">
            <a:xfrm>
              <a:off x="432" y="2016"/>
              <a:ext cx="2496" cy="1536"/>
              <a:chOff x="3515" y="3365"/>
              <a:chExt cx="4025" cy="1965"/>
            </a:xfrm>
          </p:grpSpPr>
          <p:sp>
            <p:nvSpPr>
              <p:cNvPr id="18478" name="Text Box 5">
                <a:extLst>
                  <a:ext uri="{FF2B5EF4-FFF2-40B4-BE49-F238E27FC236}">
                    <a16:creationId xmlns:a16="http://schemas.microsoft.com/office/drawing/2014/main" id="{903DD34D-90A1-7A4E-AC6E-58800BEF9E0A}"/>
                  </a:ext>
                </a:extLst>
              </p:cNvPr>
              <p:cNvSpPr txBox="1">
                <a:spLocks noChangeArrowheads="1"/>
              </p:cNvSpPr>
              <p:nvPr/>
            </p:nvSpPr>
            <p:spPr bwMode="auto">
              <a:xfrm>
                <a:off x="6749" y="4971"/>
                <a:ext cx="341" cy="3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2</a:t>
                </a:r>
              </a:p>
            </p:txBody>
          </p:sp>
          <p:sp>
            <p:nvSpPr>
              <p:cNvPr id="18479" name="Text Box 6">
                <a:extLst>
                  <a:ext uri="{FF2B5EF4-FFF2-40B4-BE49-F238E27FC236}">
                    <a16:creationId xmlns:a16="http://schemas.microsoft.com/office/drawing/2014/main" id="{13CBFB3C-BD25-D34D-AB71-E2CC426EFBE7}"/>
                  </a:ext>
                </a:extLst>
              </p:cNvPr>
              <p:cNvSpPr txBox="1">
                <a:spLocks noChangeArrowheads="1"/>
              </p:cNvSpPr>
              <p:nvPr/>
            </p:nvSpPr>
            <p:spPr bwMode="auto">
              <a:xfrm>
                <a:off x="3965" y="4971"/>
                <a:ext cx="342"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4</a:t>
                </a:r>
              </a:p>
            </p:txBody>
          </p:sp>
          <p:sp>
            <p:nvSpPr>
              <p:cNvPr id="18480" name="Text Box 7">
                <a:extLst>
                  <a:ext uri="{FF2B5EF4-FFF2-40B4-BE49-F238E27FC236}">
                    <a16:creationId xmlns:a16="http://schemas.microsoft.com/office/drawing/2014/main" id="{10D11920-10D7-8843-9B65-FA0CAA5A61EA}"/>
                  </a:ext>
                </a:extLst>
              </p:cNvPr>
              <p:cNvSpPr txBox="1">
                <a:spLocks noChangeArrowheads="1"/>
              </p:cNvSpPr>
              <p:nvPr/>
            </p:nvSpPr>
            <p:spPr bwMode="auto">
              <a:xfrm>
                <a:off x="3515" y="4971"/>
                <a:ext cx="342"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FF0000"/>
                    </a:solidFill>
                  </a:rPr>
                  <a:t>6</a:t>
                </a:r>
              </a:p>
            </p:txBody>
          </p:sp>
          <p:sp>
            <p:nvSpPr>
              <p:cNvPr id="18481" name="Text Box 8">
                <a:extLst>
                  <a:ext uri="{FF2B5EF4-FFF2-40B4-BE49-F238E27FC236}">
                    <a16:creationId xmlns:a16="http://schemas.microsoft.com/office/drawing/2014/main" id="{8350FA6F-2FFD-EA42-872F-71EDC096C512}"/>
                  </a:ext>
                </a:extLst>
              </p:cNvPr>
              <p:cNvSpPr txBox="1">
                <a:spLocks noChangeArrowheads="1"/>
              </p:cNvSpPr>
              <p:nvPr/>
            </p:nvSpPr>
            <p:spPr bwMode="auto">
              <a:xfrm>
                <a:off x="7199" y="4971"/>
                <a:ext cx="341"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8</a:t>
                </a:r>
              </a:p>
            </p:txBody>
          </p:sp>
          <p:sp>
            <p:nvSpPr>
              <p:cNvPr id="18482" name="Text Box 9">
                <a:extLst>
                  <a:ext uri="{FF2B5EF4-FFF2-40B4-BE49-F238E27FC236}">
                    <a16:creationId xmlns:a16="http://schemas.microsoft.com/office/drawing/2014/main" id="{EE1BF87D-B4FB-9343-A3A0-A5D31B658E71}"/>
                  </a:ext>
                </a:extLst>
              </p:cNvPr>
              <p:cNvSpPr txBox="1">
                <a:spLocks noChangeArrowheads="1"/>
              </p:cNvSpPr>
              <p:nvPr/>
            </p:nvSpPr>
            <p:spPr bwMode="auto">
              <a:xfrm>
                <a:off x="4999" y="4971"/>
                <a:ext cx="475"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00B050"/>
                    </a:solidFill>
                  </a:rPr>
                  <a:t>10</a:t>
                </a:r>
              </a:p>
            </p:txBody>
          </p:sp>
          <p:sp>
            <p:nvSpPr>
              <p:cNvPr id="18483" name="Text Box 10">
                <a:extLst>
                  <a:ext uri="{FF2B5EF4-FFF2-40B4-BE49-F238E27FC236}">
                    <a16:creationId xmlns:a16="http://schemas.microsoft.com/office/drawing/2014/main" id="{F45DD036-A3DF-7640-BD40-58F640A121A3}"/>
                  </a:ext>
                </a:extLst>
              </p:cNvPr>
              <p:cNvSpPr txBox="1">
                <a:spLocks noChangeArrowheads="1"/>
              </p:cNvSpPr>
              <p:nvPr/>
            </p:nvSpPr>
            <p:spPr bwMode="auto">
              <a:xfrm>
                <a:off x="5582" y="4971"/>
                <a:ext cx="476"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7030A0"/>
                    </a:solidFill>
                  </a:rPr>
                  <a:t>16</a:t>
                </a:r>
              </a:p>
            </p:txBody>
          </p:sp>
          <p:sp>
            <p:nvSpPr>
              <p:cNvPr id="18484" name="Text Box 11">
                <a:extLst>
                  <a:ext uri="{FF2B5EF4-FFF2-40B4-BE49-F238E27FC236}">
                    <a16:creationId xmlns:a16="http://schemas.microsoft.com/office/drawing/2014/main" id="{06CF95B5-4F39-2C4B-BF33-53752B776E2A}"/>
                  </a:ext>
                </a:extLst>
              </p:cNvPr>
              <p:cNvSpPr txBox="1">
                <a:spLocks noChangeArrowheads="1"/>
              </p:cNvSpPr>
              <p:nvPr/>
            </p:nvSpPr>
            <p:spPr bwMode="auto">
              <a:xfrm>
                <a:off x="6165" y="4971"/>
                <a:ext cx="475" cy="3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14</a:t>
                </a:r>
              </a:p>
            </p:txBody>
          </p:sp>
          <p:sp>
            <p:nvSpPr>
              <p:cNvPr id="18485" name="Text Box 12">
                <a:extLst>
                  <a:ext uri="{FF2B5EF4-FFF2-40B4-BE49-F238E27FC236}">
                    <a16:creationId xmlns:a16="http://schemas.microsoft.com/office/drawing/2014/main" id="{ED120EDB-C5C8-5B47-93E3-7B3CA66BEB57}"/>
                  </a:ext>
                </a:extLst>
              </p:cNvPr>
              <p:cNvSpPr txBox="1">
                <a:spLocks noChangeArrowheads="1"/>
              </p:cNvSpPr>
              <p:nvPr/>
            </p:nvSpPr>
            <p:spPr bwMode="auto">
              <a:xfrm>
                <a:off x="4415" y="4971"/>
                <a:ext cx="475"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0070C0"/>
                    </a:solidFill>
                  </a:rPr>
                  <a:t>16</a:t>
                </a:r>
              </a:p>
            </p:txBody>
          </p:sp>
          <p:sp>
            <p:nvSpPr>
              <p:cNvPr id="18486" name="Text Box 13">
                <a:extLst>
                  <a:ext uri="{FF2B5EF4-FFF2-40B4-BE49-F238E27FC236}">
                    <a16:creationId xmlns:a16="http://schemas.microsoft.com/office/drawing/2014/main" id="{2EE755ED-F04C-0448-ABEF-B16310DB97B4}"/>
                  </a:ext>
                </a:extLst>
              </p:cNvPr>
              <p:cNvSpPr txBox="1">
                <a:spLocks noChangeArrowheads="1"/>
              </p:cNvSpPr>
              <p:nvPr/>
            </p:nvSpPr>
            <p:spPr bwMode="auto">
              <a:xfrm>
                <a:off x="3657" y="4640"/>
                <a:ext cx="476"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0070C0"/>
                    </a:solidFill>
                  </a:rPr>
                  <a:t>10</a:t>
                </a:r>
              </a:p>
            </p:txBody>
          </p:sp>
          <p:sp>
            <p:nvSpPr>
              <p:cNvPr id="18487" name="Text Box 14">
                <a:extLst>
                  <a:ext uri="{FF2B5EF4-FFF2-40B4-BE49-F238E27FC236}">
                    <a16:creationId xmlns:a16="http://schemas.microsoft.com/office/drawing/2014/main" id="{CFE22751-F678-E247-85D1-A154FE242225}"/>
                  </a:ext>
                </a:extLst>
              </p:cNvPr>
              <p:cNvSpPr txBox="1">
                <a:spLocks noChangeArrowheads="1"/>
              </p:cNvSpPr>
              <p:nvPr/>
            </p:nvSpPr>
            <p:spPr bwMode="auto">
              <a:xfrm>
                <a:off x="4053" y="4357"/>
                <a:ext cx="477" cy="3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00B050"/>
                    </a:solidFill>
                  </a:rPr>
                  <a:t>26</a:t>
                </a:r>
              </a:p>
            </p:txBody>
          </p:sp>
          <p:sp>
            <p:nvSpPr>
              <p:cNvPr id="18488" name="Text Box 15">
                <a:extLst>
                  <a:ext uri="{FF2B5EF4-FFF2-40B4-BE49-F238E27FC236}">
                    <a16:creationId xmlns:a16="http://schemas.microsoft.com/office/drawing/2014/main" id="{34D9745F-9ED0-AA4E-808F-C18471D0880D}"/>
                  </a:ext>
                </a:extLst>
              </p:cNvPr>
              <p:cNvSpPr txBox="1">
                <a:spLocks noChangeArrowheads="1"/>
              </p:cNvSpPr>
              <p:nvPr/>
            </p:nvSpPr>
            <p:spPr bwMode="auto">
              <a:xfrm>
                <a:off x="5192" y="3807"/>
                <a:ext cx="476"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52</a:t>
                </a:r>
              </a:p>
            </p:txBody>
          </p:sp>
          <p:sp>
            <p:nvSpPr>
              <p:cNvPr id="18489" name="Text Box 16">
                <a:extLst>
                  <a:ext uri="{FF2B5EF4-FFF2-40B4-BE49-F238E27FC236}">
                    <a16:creationId xmlns:a16="http://schemas.microsoft.com/office/drawing/2014/main" id="{4F97B136-18AD-0C44-86DE-5AFD63C054AE}"/>
                  </a:ext>
                </a:extLst>
              </p:cNvPr>
              <p:cNvSpPr txBox="1">
                <a:spLocks noChangeArrowheads="1"/>
              </p:cNvSpPr>
              <p:nvPr/>
            </p:nvSpPr>
            <p:spPr bwMode="auto">
              <a:xfrm>
                <a:off x="5690" y="3573"/>
                <a:ext cx="477"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66</a:t>
                </a:r>
              </a:p>
            </p:txBody>
          </p:sp>
          <p:sp>
            <p:nvSpPr>
              <p:cNvPr id="18490" name="Text Box 17">
                <a:extLst>
                  <a:ext uri="{FF2B5EF4-FFF2-40B4-BE49-F238E27FC236}">
                    <a16:creationId xmlns:a16="http://schemas.microsoft.com/office/drawing/2014/main" id="{86C81E28-FDDD-8948-9DDB-8577E63694E1}"/>
                  </a:ext>
                </a:extLst>
              </p:cNvPr>
              <p:cNvSpPr txBox="1">
                <a:spLocks noChangeArrowheads="1"/>
              </p:cNvSpPr>
              <p:nvPr/>
            </p:nvSpPr>
            <p:spPr bwMode="auto">
              <a:xfrm>
                <a:off x="4565" y="4040"/>
                <a:ext cx="476"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7030A0"/>
                    </a:solidFill>
                  </a:rPr>
                  <a:t>36</a:t>
                </a:r>
              </a:p>
            </p:txBody>
          </p:sp>
          <p:sp>
            <p:nvSpPr>
              <p:cNvPr id="18491" name="Text Box 18">
                <a:extLst>
                  <a:ext uri="{FF2B5EF4-FFF2-40B4-BE49-F238E27FC236}">
                    <a16:creationId xmlns:a16="http://schemas.microsoft.com/office/drawing/2014/main" id="{3BE0E93B-2848-594C-A427-9043A1E59BE8}"/>
                  </a:ext>
                </a:extLst>
              </p:cNvPr>
              <p:cNvSpPr txBox="1">
                <a:spLocks noChangeArrowheads="1"/>
              </p:cNvSpPr>
              <p:nvPr/>
            </p:nvSpPr>
            <p:spPr bwMode="auto">
              <a:xfrm>
                <a:off x="6298" y="3382"/>
                <a:ext cx="477" cy="3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68</a:t>
                </a:r>
              </a:p>
            </p:txBody>
          </p:sp>
          <p:sp>
            <p:nvSpPr>
              <p:cNvPr id="18492" name="Text Box 19">
                <a:extLst>
                  <a:ext uri="{FF2B5EF4-FFF2-40B4-BE49-F238E27FC236}">
                    <a16:creationId xmlns:a16="http://schemas.microsoft.com/office/drawing/2014/main" id="{34CA4E9A-A976-D141-A8B2-D18C325CCDA7}"/>
                  </a:ext>
                </a:extLst>
              </p:cNvPr>
              <p:cNvSpPr txBox="1">
                <a:spLocks noChangeArrowheads="1"/>
              </p:cNvSpPr>
              <p:nvPr/>
            </p:nvSpPr>
            <p:spPr bwMode="auto">
              <a:xfrm>
                <a:off x="6849" y="3365"/>
                <a:ext cx="475"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t>76</a:t>
                </a:r>
              </a:p>
            </p:txBody>
          </p:sp>
          <p:grpSp>
            <p:nvGrpSpPr>
              <p:cNvPr id="18493" name="Group 20">
                <a:extLst>
                  <a:ext uri="{FF2B5EF4-FFF2-40B4-BE49-F238E27FC236}">
                    <a16:creationId xmlns:a16="http://schemas.microsoft.com/office/drawing/2014/main" id="{BA3E69FD-745C-2F48-8D9D-F27CE616D3EB}"/>
                  </a:ext>
                </a:extLst>
              </p:cNvPr>
              <p:cNvGrpSpPr>
                <a:grpSpLocks/>
              </p:cNvGrpSpPr>
              <p:nvPr/>
            </p:nvGrpSpPr>
            <p:grpSpPr bwMode="auto">
              <a:xfrm>
                <a:off x="3752" y="4898"/>
                <a:ext cx="325" cy="185"/>
                <a:chOff x="3752" y="4865"/>
                <a:chExt cx="325" cy="184"/>
              </a:xfrm>
            </p:grpSpPr>
            <p:sp>
              <p:nvSpPr>
                <p:cNvPr id="18506" name="Line 21">
                  <a:extLst>
                    <a:ext uri="{FF2B5EF4-FFF2-40B4-BE49-F238E27FC236}">
                      <a16:creationId xmlns:a16="http://schemas.microsoft.com/office/drawing/2014/main" id="{998A71D2-442D-ED46-96AE-198C898AE62A}"/>
                    </a:ext>
                  </a:extLst>
                </p:cNvPr>
                <p:cNvSpPr>
                  <a:spLocks noChangeShapeType="1"/>
                </p:cNvSpPr>
                <p:nvPr/>
              </p:nvSpPr>
              <p:spPr bwMode="auto">
                <a:xfrm flipV="1">
                  <a:off x="3752" y="4865"/>
                  <a:ext cx="158" cy="18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7" name="Line 22">
                  <a:extLst>
                    <a:ext uri="{FF2B5EF4-FFF2-40B4-BE49-F238E27FC236}">
                      <a16:creationId xmlns:a16="http://schemas.microsoft.com/office/drawing/2014/main" id="{E2513682-80B7-8741-AD18-74356D5510ED}"/>
                    </a:ext>
                  </a:extLst>
                </p:cNvPr>
                <p:cNvSpPr>
                  <a:spLocks noChangeShapeType="1"/>
                </p:cNvSpPr>
                <p:nvPr/>
              </p:nvSpPr>
              <p:spPr bwMode="auto">
                <a:xfrm flipH="1" flipV="1">
                  <a:off x="3918" y="4865"/>
                  <a:ext cx="159" cy="1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494" name="Line 23">
                <a:extLst>
                  <a:ext uri="{FF2B5EF4-FFF2-40B4-BE49-F238E27FC236}">
                    <a16:creationId xmlns:a16="http://schemas.microsoft.com/office/drawing/2014/main" id="{ADF4F4F6-9AFB-3345-9997-484A87CF7CC5}"/>
                  </a:ext>
                </a:extLst>
              </p:cNvPr>
              <p:cNvSpPr>
                <a:spLocks noChangeShapeType="1"/>
              </p:cNvSpPr>
              <p:nvPr/>
            </p:nvSpPr>
            <p:spPr bwMode="auto">
              <a:xfrm flipV="1">
                <a:off x="4085" y="4608"/>
                <a:ext cx="208" cy="175"/>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5" name="Line 24">
                <a:extLst>
                  <a:ext uri="{FF2B5EF4-FFF2-40B4-BE49-F238E27FC236}">
                    <a16:creationId xmlns:a16="http://schemas.microsoft.com/office/drawing/2014/main" id="{664F4EAE-056C-F940-8CE9-9643CE476293}"/>
                  </a:ext>
                </a:extLst>
              </p:cNvPr>
              <p:cNvSpPr>
                <a:spLocks noChangeShapeType="1"/>
              </p:cNvSpPr>
              <p:nvPr/>
            </p:nvSpPr>
            <p:spPr bwMode="auto">
              <a:xfrm flipH="1" flipV="1">
                <a:off x="4293" y="4617"/>
                <a:ext cx="350" cy="375"/>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6" name="Line 25">
                <a:extLst>
                  <a:ext uri="{FF2B5EF4-FFF2-40B4-BE49-F238E27FC236}">
                    <a16:creationId xmlns:a16="http://schemas.microsoft.com/office/drawing/2014/main" id="{78949FCD-E683-4A43-B17F-A7EA95CD5934}"/>
                  </a:ext>
                </a:extLst>
              </p:cNvPr>
              <p:cNvSpPr>
                <a:spLocks noChangeShapeType="1"/>
              </p:cNvSpPr>
              <p:nvPr/>
            </p:nvSpPr>
            <p:spPr bwMode="auto">
              <a:xfrm flipV="1">
                <a:off x="4435" y="4342"/>
                <a:ext cx="333" cy="166"/>
              </a:xfrm>
              <a:prstGeom prst="line">
                <a:avLst/>
              </a:prstGeom>
              <a:noFill/>
              <a:ln w="9525">
                <a:solidFill>
                  <a:srgbClr val="00B05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7" name="Line 26">
                <a:extLst>
                  <a:ext uri="{FF2B5EF4-FFF2-40B4-BE49-F238E27FC236}">
                    <a16:creationId xmlns:a16="http://schemas.microsoft.com/office/drawing/2014/main" id="{F7D0EAAF-9DAF-8D48-A498-EF39BAB6A4DD}"/>
                  </a:ext>
                </a:extLst>
              </p:cNvPr>
              <p:cNvSpPr>
                <a:spLocks noChangeShapeType="1"/>
              </p:cNvSpPr>
              <p:nvPr/>
            </p:nvSpPr>
            <p:spPr bwMode="auto">
              <a:xfrm>
                <a:off x="4760" y="4340"/>
                <a:ext cx="442" cy="692"/>
              </a:xfrm>
              <a:prstGeom prst="line">
                <a:avLst/>
              </a:prstGeom>
              <a:noFill/>
              <a:ln w="9525">
                <a:solidFill>
                  <a:srgbClr val="00B05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8" name="Line 27">
                <a:extLst>
                  <a:ext uri="{FF2B5EF4-FFF2-40B4-BE49-F238E27FC236}">
                    <a16:creationId xmlns:a16="http://schemas.microsoft.com/office/drawing/2014/main" id="{FA5D21AB-826B-6A41-8102-1E2F8E1E644F}"/>
                  </a:ext>
                </a:extLst>
              </p:cNvPr>
              <p:cNvSpPr>
                <a:spLocks noChangeShapeType="1"/>
              </p:cNvSpPr>
              <p:nvPr/>
            </p:nvSpPr>
            <p:spPr bwMode="auto">
              <a:xfrm flipV="1">
                <a:off x="4960" y="4092"/>
                <a:ext cx="425" cy="125"/>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9" name="Line 28">
                <a:extLst>
                  <a:ext uri="{FF2B5EF4-FFF2-40B4-BE49-F238E27FC236}">
                    <a16:creationId xmlns:a16="http://schemas.microsoft.com/office/drawing/2014/main" id="{DEBD564C-73B7-B24D-8E8A-97B5453DED7A}"/>
                  </a:ext>
                </a:extLst>
              </p:cNvPr>
              <p:cNvSpPr>
                <a:spLocks noChangeShapeType="1"/>
              </p:cNvSpPr>
              <p:nvPr/>
            </p:nvSpPr>
            <p:spPr bwMode="auto">
              <a:xfrm>
                <a:off x="5368" y="4090"/>
                <a:ext cx="442" cy="933"/>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0" name="Line 29">
                <a:extLst>
                  <a:ext uri="{FF2B5EF4-FFF2-40B4-BE49-F238E27FC236}">
                    <a16:creationId xmlns:a16="http://schemas.microsoft.com/office/drawing/2014/main" id="{C6C509A4-166E-7A4E-B2F0-8CAD6EAB1AE0}"/>
                  </a:ext>
                </a:extLst>
              </p:cNvPr>
              <p:cNvSpPr>
                <a:spLocks noChangeShapeType="1"/>
              </p:cNvSpPr>
              <p:nvPr/>
            </p:nvSpPr>
            <p:spPr bwMode="auto">
              <a:xfrm flipV="1">
                <a:off x="5568" y="3842"/>
                <a:ext cx="325" cy="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1" name="Line 30">
                <a:extLst>
                  <a:ext uri="{FF2B5EF4-FFF2-40B4-BE49-F238E27FC236}">
                    <a16:creationId xmlns:a16="http://schemas.microsoft.com/office/drawing/2014/main" id="{CF668262-CAA5-944E-80F0-43E3D8B2F2E0}"/>
                  </a:ext>
                </a:extLst>
              </p:cNvPr>
              <p:cNvSpPr>
                <a:spLocks noChangeShapeType="1"/>
              </p:cNvSpPr>
              <p:nvPr/>
            </p:nvSpPr>
            <p:spPr bwMode="auto">
              <a:xfrm flipH="1" flipV="1">
                <a:off x="5902" y="3857"/>
                <a:ext cx="483" cy="11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2" name="Line 31">
                <a:extLst>
                  <a:ext uri="{FF2B5EF4-FFF2-40B4-BE49-F238E27FC236}">
                    <a16:creationId xmlns:a16="http://schemas.microsoft.com/office/drawing/2014/main" id="{B8CF9FCC-6D3C-BB44-B479-58CB706469B2}"/>
                  </a:ext>
                </a:extLst>
              </p:cNvPr>
              <p:cNvSpPr>
                <a:spLocks noChangeShapeType="1"/>
              </p:cNvSpPr>
              <p:nvPr/>
            </p:nvSpPr>
            <p:spPr bwMode="auto">
              <a:xfrm flipV="1">
                <a:off x="6110" y="3665"/>
                <a:ext cx="358" cy="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3" name="Line 32">
                <a:extLst>
                  <a:ext uri="{FF2B5EF4-FFF2-40B4-BE49-F238E27FC236}">
                    <a16:creationId xmlns:a16="http://schemas.microsoft.com/office/drawing/2014/main" id="{C05AE192-4B6A-F540-BD51-FC70B7024A07}"/>
                  </a:ext>
                </a:extLst>
              </p:cNvPr>
              <p:cNvSpPr>
                <a:spLocks noChangeShapeType="1"/>
              </p:cNvSpPr>
              <p:nvPr/>
            </p:nvSpPr>
            <p:spPr bwMode="auto">
              <a:xfrm>
                <a:off x="6577" y="3640"/>
                <a:ext cx="325" cy="13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4" name="Line 33">
                <a:extLst>
                  <a:ext uri="{FF2B5EF4-FFF2-40B4-BE49-F238E27FC236}">
                    <a16:creationId xmlns:a16="http://schemas.microsoft.com/office/drawing/2014/main" id="{D572C93A-CFBA-6B42-874E-480FA340F4C7}"/>
                  </a:ext>
                </a:extLst>
              </p:cNvPr>
              <p:cNvSpPr>
                <a:spLocks noChangeShapeType="1"/>
              </p:cNvSpPr>
              <p:nvPr/>
            </p:nvSpPr>
            <p:spPr bwMode="auto">
              <a:xfrm flipV="1">
                <a:off x="6702" y="3558"/>
                <a:ext cx="233" cy="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5" name="Line 34">
                <a:extLst>
                  <a:ext uri="{FF2B5EF4-FFF2-40B4-BE49-F238E27FC236}">
                    <a16:creationId xmlns:a16="http://schemas.microsoft.com/office/drawing/2014/main" id="{7948926D-4360-4240-8E52-AEFBFC7E3C1D}"/>
                  </a:ext>
                </a:extLst>
              </p:cNvPr>
              <p:cNvSpPr>
                <a:spLocks noChangeShapeType="1"/>
              </p:cNvSpPr>
              <p:nvPr/>
            </p:nvSpPr>
            <p:spPr bwMode="auto">
              <a:xfrm>
                <a:off x="7060" y="3598"/>
                <a:ext cx="300" cy="1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437" name="Group 76">
            <a:extLst>
              <a:ext uri="{FF2B5EF4-FFF2-40B4-BE49-F238E27FC236}">
                <a16:creationId xmlns:a16="http://schemas.microsoft.com/office/drawing/2014/main" id="{75C4E4F0-D980-FA4D-9ECA-53B3C271F666}"/>
              </a:ext>
            </a:extLst>
          </p:cNvPr>
          <p:cNvGrpSpPr>
            <a:grpSpLocks/>
          </p:cNvGrpSpPr>
          <p:nvPr/>
        </p:nvGrpSpPr>
        <p:grpSpPr bwMode="auto">
          <a:xfrm>
            <a:off x="6094692" y="2394056"/>
            <a:ext cx="5143500" cy="3425616"/>
            <a:chOff x="2880" y="1824"/>
            <a:chExt cx="2640" cy="1440"/>
          </a:xfrm>
        </p:grpSpPr>
        <p:sp>
          <p:nvSpPr>
            <p:cNvPr id="17482" name="Rectangle 74">
              <a:extLst>
                <a:ext uri="{FF2B5EF4-FFF2-40B4-BE49-F238E27FC236}">
                  <a16:creationId xmlns:a16="http://schemas.microsoft.com/office/drawing/2014/main" id="{91D7D1F3-3755-A74E-80AB-580C6782CF1B}"/>
                </a:ext>
              </a:extLst>
            </p:cNvPr>
            <p:cNvSpPr>
              <a:spLocks noChangeArrowheads="1"/>
            </p:cNvSpPr>
            <p:nvPr/>
          </p:nvSpPr>
          <p:spPr bwMode="auto">
            <a:xfrm>
              <a:off x="2880" y="1824"/>
              <a:ext cx="2640" cy="1440"/>
            </a:xfrm>
            <a:prstGeom prst="rect">
              <a:avLst/>
            </a:prstGeom>
            <a:solidFill>
              <a:schemeClr val="bg1"/>
            </a:solidFill>
            <a:ln w="9525">
              <a:solidFill>
                <a:schemeClr val="tx1"/>
              </a:solidFill>
              <a:miter lim="800000"/>
              <a:headEnd/>
              <a:tailEnd/>
            </a:ln>
            <a:effectLst>
              <a:outerShdw blurRad="63500" dist="107763" dir="2700000" algn="ctr" rotWithShape="0">
                <a:srgbClr val="000000">
                  <a:alpha val="74998"/>
                </a:srgbClr>
              </a:outerShdw>
            </a:effectLst>
          </p:spPr>
          <p:txBody>
            <a:bodyPr wrap="none" anchor="ctr"/>
            <a:lstStyle/>
            <a:p>
              <a:pPr>
                <a:defRPr/>
              </a:pPr>
              <a:endParaRPr lang="en-US">
                <a:latin typeface="Arial" charset="0"/>
                <a:ea typeface="ＭＳ Ｐゴシック" charset="-128"/>
              </a:endParaRPr>
            </a:p>
          </p:txBody>
        </p:sp>
        <p:grpSp>
          <p:nvGrpSpPr>
            <p:cNvPr id="18439" name="Group 37">
              <a:extLst>
                <a:ext uri="{FF2B5EF4-FFF2-40B4-BE49-F238E27FC236}">
                  <a16:creationId xmlns:a16="http://schemas.microsoft.com/office/drawing/2014/main" id="{DA515EA4-C139-6B44-9BDA-1DFE2DB948D1}"/>
                </a:ext>
              </a:extLst>
            </p:cNvPr>
            <p:cNvGrpSpPr>
              <a:grpSpLocks/>
            </p:cNvGrpSpPr>
            <p:nvPr/>
          </p:nvGrpSpPr>
          <p:grpSpPr bwMode="auto">
            <a:xfrm>
              <a:off x="2928" y="1872"/>
              <a:ext cx="2592" cy="1344"/>
              <a:chOff x="3548" y="1967"/>
              <a:chExt cx="4025" cy="2024"/>
            </a:xfrm>
          </p:grpSpPr>
          <p:sp>
            <p:nvSpPr>
              <p:cNvPr id="18440" name="Text Box 38">
                <a:extLst>
                  <a:ext uri="{FF2B5EF4-FFF2-40B4-BE49-F238E27FC236}">
                    <a16:creationId xmlns:a16="http://schemas.microsoft.com/office/drawing/2014/main" id="{979968CA-F526-0148-86EE-E0C431D61AF1}"/>
                  </a:ext>
                </a:extLst>
              </p:cNvPr>
              <p:cNvSpPr txBox="1">
                <a:spLocks noChangeArrowheads="1"/>
              </p:cNvSpPr>
              <p:nvPr/>
            </p:nvSpPr>
            <p:spPr bwMode="auto">
              <a:xfrm>
                <a:off x="6782" y="3632"/>
                <a:ext cx="341" cy="3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2</a:t>
                </a:r>
              </a:p>
            </p:txBody>
          </p:sp>
          <p:sp>
            <p:nvSpPr>
              <p:cNvPr id="18441" name="Text Box 39">
                <a:extLst>
                  <a:ext uri="{FF2B5EF4-FFF2-40B4-BE49-F238E27FC236}">
                    <a16:creationId xmlns:a16="http://schemas.microsoft.com/office/drawing/2014/main" id="{78A0F3A5-867A-3D4F-B48B-64F69AEBF900}"/>
                  </a:ext>
                </a:extLst>
              </p:cNvPr>
              <p:cNvSpPr txBox="1">
                <a:spLocks noChangeArrowheads="1"/>
              </p:cNvSpPr>
              <p:nvPr/>
            </p:nvSpPr>
            <p:spPr bwMode="auto">
              <a:xfrm>
                <a:off x="3998" y="3632"/>
                <a:ext cx="341"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4</a:t>
                </a:r>
              </a:p>
            </p:txBody>
          </p:sp>
          <p:sp>
            <p:nvSpPr>
              <p:cNvPr id="18442" name="Text Box 40">
                <a:extLst>
                  <a:ext uri="{FF2B5EF4-FFF2-40B4-BE49-F238E27FC236}">
                    <a16:creationId xmlns:a16="http://schemas.microsoft.com/office/drawing/2014/main" id="{27CE80DA-E290-FD4D-A732-DD29F27F5593}"/>
                  </a:ext>
                </a:extLst>
              </p:cNvPr>
              <p:cNvSpPr txBox="1">
                <a:spLocks noChangeArrowheads="1"/>
              </p:cNvSpPr>
              <p:nvPr/>
            </p:nvSpPr>
            <p:spPr bwMode="auto">
              <a:xfrm>
                <a:off x="3548" y="3632"/>
                <a:ext cx="341"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6</a:t>
                </a:r>
              </a:p>
            </p:txBody>
          </p:sp>
          <p:sp>
            <p:nvSpPr>
              <p:cNvPr id="18443" name="Text Box 41">
                <a:extLst>
                  <a:ext uri="{FF2B5EF4-FFF2-40B4-BE49-F238E27FC236}">
                    <a16:creationId xmlns:a16="http://schemas.microsoft.com/office/drawing/2014/main" id="{1EF936D3-D5C6-EB40-9054-FB820EE875BA}"/>
                  </a:ext>
                </a:extLst>
              </p:cNvPr>
              <p:cNvSpPr txBox="1">
                <a:spLocks noChangeArrowheads="1"/>
              </p:cNvSpPr>
              <p:nvPr/>
            </p:nvSpPr>
            <p:spPr bwMode="auto">
              <a:xfrm>
                <a:off x="7232" y="3632"/>
                <a:ext cx="341"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8</a:t>
                </a:r>
              </a:p>
            </p:txBody>
          </p:sp>
          <p:sp>
            <p:nvSpPr>
              <p:cNvPr id="18444" name="Text Box 42">
                <a:extLst>
                  <a:ext uri="{FF2B5EF4-FFF2-40B4-BE49-F238E27FC236}">
                    <a16:creationId xmlns:a16="http://schemas.microsoft.com/office/drawing/2014/main" id="{CDE7BB8E-022C-6240-9FAC-DB6FEB37E084}"/>
                  </a:ext>
                </a:extLst>
              </p:cNvPr>
              <p:cNvSpPr txBox="1">
                <a:spLocks noChangeArrowheads="1"/>
              </p:cNvSpPr>
              <p:nvPr/>
            </p:nvSpPr>
            <p:spPr bwMode="auto">
              <a:xfrm>
                <a:off x="5032" y="3632"/>
                <a:ext cx="475"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FF0000"/>
                    </a:solidFill>
                  </a:rPr>
                  <a:t>10</a:t>
                </a:r>
              </a:p>
            </p:txBody>
          </p:sp>
          <p:sp>
            <p:nvSpPr>
              <p:cNvPr id="18445" name="Text Box 43">
                <a:extLst>
                  <a:ext uri="{FF2B5EF4-FFF2-40B4-BE49-F238E27FC236}">
                    <a16:creationId xmlns:a16="http://schemas.microsoft.com/office/drawing/2014/main" id="{301A796A-349C-E049-BFFC-3E40E146C815}"/>
                  </a:ext>
                </a:extLst>
              </p:cNvPr>
              <p:cNvSpPr txBox="1">
                <a:spLocks noChangeArrowheads="1"/>
              </p:cNvSpPr>
              <p:nvPr/>
            </p:nvSpPr>
            <p:spPr bwMode="auto">
              <a:xfrm>
                <a:off x="5614" y="3632"/>
                <a:ext cx="476"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16</a:t>
                </a:r>
              </a:p>
            </p:txBody>
          </p:sp>
          <p:sp>
            <p:nvSpPr>
              <p:cNvPr id="18446" name="Text Box 44">
                <a:extLst>
                  <a:ext uri="{FF2B5EF4-FFF2-40B4-BE49-F238E27FC236}">
                    <a16:creationId xmlns:a16="http://schemas.microsoft.com/office/drawing/2014/main" id="{423E9DC6-78A0-0A4B-82D2-71759B5B0AB2}"/>
                  </a:ext>
                </a:extLst>
              </p:cNvPr>
              <p:cNvSpPr txBox="1">
                <a:spLocks noChangeArrowheads="1"/>
              </p:cNvSpPr>
              <p:nvPr/>
            </p:nvSpPr>
            <p:spPr bwMode="auto">
              <a:xfrm>
                <a:off x="6198" y="3632"/>
                <a:ext cx="475" cy="3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14</a:t>
                </a:r>
              </a:p>
            </p:txBody>
          </p:sp>
          <p:sp>
            <p:nvSpPr>
              <p:cNvPr id="18447" name="Text Box 45">
                <a:extLst>
                  <a:ext uri="{FF2B5EF4-FFF2-40B4-BE49-F238E27FC236}">
                    <a16:creationId xmlns:a16="http://schemas.microsoft.com/office/drawing/2014/main" id="{3CECC855-6055-2448-A103-12B66A0569C5}"/>
                  </a:ext>
                </a:extLst>
              </p:cNvPr>
              <p:cNvSpPr txBox="1">
                <a:spLocks noChangeArrowheads="1"/>
              </p:cNvSpPr>
              <p:nvPr/>
            </p:nvSpPr>
            <p:spPr bwMode="auto">
              <a:xfrm>
                <a:off x="4448" y="3632"/>
                <a:ext cx="475"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FF0000"/>
                    </a:solidFill>
                  </a:rPr>
                  <a:t>16</a:t>
                </a:r>
              </a:p>
            </p:txBody>
          </p:sp>
          <p:sp>
            <p:nvSpPr>
              <p:cNvPr id="18448" name="Text Box 46">
                <a:extLst>
                  <a:ext uri="{FF2B5EF4-FFF2-40B4-BE49-F238E27FC236}">
                    <a16:creationId xmlns:a16="http://schemas.microsoft.com/office/drawing/2014/main" id="{AA970C90-EF6C-A244-9731-E333BB852C98}"/>
                  </a:ext>
                </a:extLst>
              </p:cNvPr>
              <p:cNvSpPr txBox="1">
                <a:spLocks noChangeArrowheads="1"/>
              </p:cNvSpPr>
              <p:nvPr/>
            </p:nvSpPr>
            <p:spPr bwMode="auto">
              <a:xfrm>
                <a:off x="3689" y="3067"/>
                <a:ext cx="476"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0070C0"/>
                    </a:solidFill>
                  </a:rPr>
                  <a:t>10</a:t>
                </a:r>
              </a:p>
            </p:txBody>
          </p:sp>
          <p:sp>
            <p:nvSpPr>
              <p:cNvPr id="18449" name="Text Box 47">
                <a:extLst>
                  <a:ext uri="{FF2B5EF4-FFF2-40B4-BE49-F238E27FC236}">
                    <a16:creationId xmlns:a16="http://schemas.microsoft.com/office/drawing/2014/main" id="{D9AAA191-9AE7-B44A-A068-EC51F1EF21A3}"/>
                  </a:ext>
                </a:extLst>
              </p:cNvPr>
              <p:cNvSpPr txBox="1">
                <a:spLocks noChangeArrowheads="1"/>
              </p:cNvSpPr>
              <p:nvPr/>
            </p:nvSpPr>
            <p:spPr bwMode="auto">
              <a:xfrm>
                <a:off x="4761" y="3067"/>
                <a:ext cx="476"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0070C0"/>
                    </a:solidFill>
                  </a:rPr>
                  <a:t>26</a:t>
                </a:r>
              </a:p>
            </p:txBody>
          </p:sp>
          <p:sp>
            <p:nvSpPr>
              <p:cNvPr id="18450" name="Text Box 48">
                <a:extLst>
                  <a:ext uri="{FF2B5EF4-FFF2-40B4-BE49-F238E27FC236}">
                    <a16:creationId xmlns:a16="http://schemas.microsoft.com/office/drawing/2014/main" id="{0313D6AE-FBE1-C74A-8B78-B78903B82C78}"/>
                  </a:ext>
                </a:extLst>
              </p:cNvPr>
              <p:cNvSpPr txBox="1">
                <a:spLocks noChangeArrowheads="1"/>
              </p:cNvSpPr>
              <p:nvPr/>
            </p:nvSpPr>
            <p:spPr bwMode="auto">
              <a:xfrm>
                <a:off x="5833" y="3067"/>
                <a:ext cx="476"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0070C0"/>
                    </a:solidFill>
                  </a:rPr>
                  <a:t>30</a:t>
                </a:r>
              </a:p>
            </p:txBody>
          </p:sp>
          <p:sp>
            <p:nvSpPr>
              <p:cNvPr id="18451" name="Text Box 49">
                <a:extLst>
                  <a:ext uri="{FF2B5EF4-FFF2-40B4-BE49-F238E27FC236}">
                    <a16:creationId xmlns:a16="http://schemas.microsoft.com/office/drawing/2014/main" id="{E9876291-75BE-7B40-B06E-BBC9A71D1C5B}"/>
                  </a:ext>
                </a:extLst>
              </p:cNvPr>
              <p:cNvSpPr txBox="1">
                <a:spLocks noChangeArrowheads="1"/>
              </p:cNvSpPr>
              <p:nvPr/>
            </p:nvSpPr>
            <p:spPr bwMode="auto">
              <a:xfrm>
                <a:off x="6906" y="3067"/>
                <a:ext cx="476"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0070C0"/>
                    </a:solidFill>
                  </a:rPr>
                  <a:t>10</a:t>
                </a:r>
              </a:p>
            </p:txBody>
          </p:sp>
          <p:sp>
            <p:nvSpPr>
              <p:cNvPr id="18452" name="Text Box 50">
                <a:extLst>
                  <a:ext uri="{FF2B5EF4-FFF2-40B4-BE49-F238E27FC236}">
                    <a16:creationId xmlns:a16="http://schemas.microsoft.com/office/drawing/2014/main" id="{FDD229EB-FE66-894F-932B-1589BF0C32BC}"/>
                  </a:ext>
                </a:extLst>
              </p:cNvPr>
              <p:cNvSpPr txBox="1">
                <a:spLocks noChangeArrowheads="1"/>
              </p:cNvSpPr>
              <p:nvPr/>
            </p:nvSpPr>
            <p:spPr bwMode="auto">
              <a:xfrm>
                <a:off x="4264" y="2483"/>
                <a:ext cx="476" cy="3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00B050"/>
                    </a:solidFill>
                  </a:rPr>
                  <a:t>36</a:t>
                </a:r>
              </a:p>
            </p:txBody>
          </p:sp>
          <p:sp>
            <p:nvSpPr>
              <p:cNvPr id="18453" name="Text Box 51">
                <a:extLst>
                  <a:ext uri="{FF2B5EF4-FFF2-40B4-BE49-F238E27FC236}">
                    <a16:creationId xmlns:a16="http://schemas.microsoft.com/office/drawing/2014/main" id="{30919C22-8128-B648-8293-CEE43A0D25BF}"/>
                  </a:ext>
                </a:extLst>
              </p:cNvPr>
              <p:cNvSpPr txBox="1">
                <a:spLocks noChangeArrowheads="1"/>
              </p:cNvSpPr>
              <p:nvPr/>
            </p:nvSpPr>
            <p:spPr bwMode="auto">
              <a:xfrm>
                <a:off x="6464" y="2483"/>
                <a:ext cx="476" cy="3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a:solidFill>
                      <a:srgbClr val="00B050"/>
                    </a:solidFill>
                  </a:rPr>
                  <a:t>40</a:t>
                </a:r>
              </a:p>
            </p:txBody>
          </p:sp>
          <p:sp>
            <p:nvSpPr>
              <p:cNvPr id="18454" name="Text Box 52">
                <a:extLst>
                  <a:ext uri="{FF2B5EF4-FFF2-40B4-BE49-F238E27FC236}">
                    <a16:creationId xmlns:a16="http://schemas.microsoft.com/office/drawing/2014/main" id="{707E8C71-1155-924E-9E8D-7A8A6734BE48}"/>
                  </a:ext>
                </a:extLst>
              </p:cNvPr>
              <p:cNvSpPr txBox="1">
                <a:spLocks noChangeArrowheads="1"/>
              </p:cNvSpPr>
              <p:nvPr/>
            </p:nvSpPr>
            <p:spPr bwMode="auto">
              <a:xfrm>
                <a:off x="5382" y="1967"/>
                <a:ext cx="475" cy="358"/>
              </a:xfrm>
              <a:prstGeom prst="rect">
                <a:avLst/>
              </a:prstGeom>
              <a:solidFill>
                <a:srgbClr val="FFFFFF"/>
              </a:solidFill>
              <a:ln w="9525">
                <a:solidFill>
                  <a:srgbClr val="000000"/>
                </a:solidFill>
                <a:miter lim="800000"/>
                <a:headEnd/>
                <a:tailEnd/>
              </a:ln>
            </p:spPr>
            <p:txBody>
              <a:bodyPr/>
              <a:lstStyle>
                <a:lvl1pPr>
                  <a:defRPr sz="2400" b="1">
                    <a:solidFill>
                      <a:schemeClr val="tx1"/>
                    </a:solidFill>
                    <a:latin typeface="Arial" panose="020B0604020202020204" pitchFamily="34" charset="0"/>
                    <a:ea typeface="ＭＳ Ｐゴシック" panose="020B0600070205080204" pitchFamily="34" charset="-128"/>
                  </a:defRPr>
                </a:lvl1pPr>
                <a:lvl2pPr marL="742950" indent="-285750">
                  <a:defRPr sz="2400" b="1">
                    <a:solidFill>
                      <a:schemeClr val="tx1"/>
                    </a:solidFill>
                    <a:latin typeface="Arial" panose="020B0604020202020204" pitchFamily="34" charset="0"/>
                    <a:ea typeface="ＭＳ Ｐゴシック" panose="020B0600070205080204" pitchFamily="34" charset="-128"/>
                  </a:defRPr>
                </a:lvl2pPr>
                <a:lvl3pPr marL="1143000" indent="-228600">
                  <a:defRPr sz="2400" b="1">
                    <a:solidFill>
                      <a:schemeClr val="tx1"/>
                    </a:solidFill>
                    <a:latin typeface="Arial" panose="020B0604020202020204" pitchFamily="34" charset="0"/>
                    <a:ea typeface="ＭＳ Ｐゴシック" panose="020B0600070205080204" pitchFamily="34" charset="-128"/>
                  </a:defRPr>
                </a:lvl3pPr>
                <a:lvl4pPr marL="1600200" indent="-228600">
                  <a:defRPr sz="2400" b="1">
                    <a:solidFill>
                      <a:schemeClr val="tx1"/>
                    </a:solidFill>
                    <a:latin typeface="Arial" panose="020B0604020202020204" pitchFamily="34" charset="0"/>
                    <a:ea typeface="ＭＳ Ｐゴシック" panose="020B0600070205080204" pitchFamily="34" charset="-128"/>
                  </a:defRPr>
                </a:lvl4pPr>
                <a:lvl5pPr marL="2057400" indent="-228600">
                  <a:defRPr sz="2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r>
                  <a:rPr lang="en-US" altLang="en-US" sz="2000" b="0" dirty="0">
                    <a:solidFill>
                      <a:srgbClr val="7030A0"/>
                    </a:solidFill>
                  </a:rPr>
                  <a:t>76</a:t>
                </a:r>
              </a:p>
            </p:txBody>
          </p:sp>
          <p:grpSp>
            <p:nvGrpSpPr>
              <p:cNvPr id="18455" name="Group 53">
                <a:extLst>
                  <a:ext uri="{FF2B5EF4-FFF2-40B4-BE49-F238E27FC236}">
                    <a16:creationId xmlns:a16="http://schemas.microsoft.com/office/drawing/2014/main" id="{5F5A623D-C2BF-474D-936A-55A000FE957A}"/>
                  </a:ext>
                </a:extLst>
              </p:cNvPr>
              <p:cNvGrpSpPr>
                <a:grpSpLocks/>
              </p:cNvGrpSpPr>
              <p:nvPr/>
            </p:nvGrpSpPr>
            <p:grpSpPr bwMode="auto">
              <a:xfrm>
                <a:off x="3743" y="3317"/>
                <a:ext cx="359" cy="333"/>
                <a:chOff x="3743" y="3317"/>
                <a:chExt cx="359" cy="333"/>
              </a:xfrm>
            </p:grpSpPr>
            <p:sp>
              <p:nvSpPr>
                <p:cNvPr id="18474" name="Line 54">
                  <a:extLst>
                    <a:ext uri="{FF2B5EF4-FFF2-40B4-BE49-F238E27FC236}">
                      <a16:creationId xmlns:a16="http://schemas.microsoft.com/office/drawing/2014/main" id="{1A7F3097-2FC9-9740-B73F-B64F3EF51A85}"/>
                    </a:ext>
                  </a:extLst>
                </p:cNvPr>
                <p:cNvSpPr>
                  <a:spLocks noChangeShapeType="1"/>
                </p:cNvSpPr>
                <p:nvPr/>
              </p:nvSpPr>
              <p:spPr bwMode="auto">
                <a:xfrm flipV="1">
                  <a:off x="3743"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solidFill>
                      <a:srgbClr val="FF0000"/>
                    </a:solidFill>
                  </a:endParaRPr>
                </a:p>
              </p:txBody>
            </p:sp>
            <p:sp>
              <p:nvSpPr>
                <p:cNvPr id="18475" name="Line 55">
                  <a:extLst>
                    <a:ext uri="{FF2B5EF4-FFF2-40B4-BE49-F238E27FC236}">
                      <a16:creationId xmlns:a16="http://schemas.microsoft.com/office/drawing/2014/main" id="{F269EED8-1E26-1143-9E08-86464638E0ED}"/>
                    </a:ext>
                  </a:extLst>
                </p:cNvPr>
                <p:cNvSpPr>
                  <a:spLocks noChangeShapeType="1"/>
                </p:cNvSpPr>
                <p:nvPr/>
              </p:nvSpPr>
              <p:spPr bwMode="auto">
                <a:xfrm flipH="1" flipV="1">
                  <a:off x="3918"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solidFill>
                      <a:srgbClr val="FF0000"/>
                    </a:solidFill>
                  </a:endParaRPr>
                </a:p>
              </p:txBody>
            </p:sp>
          </p:grpSp>
          <p:grpSp>
            <p:nvGrpSpPr>
              <p:cNvPr id="18456" name="Group 56">
                <a:extLst>
                  <a:ext uri="{FF2B5EF4-FFF2-40B4-BE49-F238E27FC236}">
                    <a16:creationId xmlns:a16="http://schemas.microsoft.com/office/drawing/2014/main" id="{50B4D90F-78A3-B841-954A-9C938D918796}"/>
                  </a:ext>
                </a:extLst>
              </p:cNvPr>
              <p:cNvGrpSpPr>
                <a:grpSpLocks/>
              </p:cNvGrpSpPr>
              <p:nvPr/>
            </p:nvGrpSpPr>
            <p:grpSpPr bwMode="auto">
              <a:xfrm>
                <a:off x="4824" y="3317"/>
                <a:ext cx="358" cy="334"/>
                <a:chOff x="3743" y="3317"/>
                <a:chExt cx="359" cy="333"/>
              </a:xfrm>
            </p:grpSpPr>
            <p:sp>
              <p:nvSpPr>
                <p:cNvPr id="18472" name="Line 57">
                  <a:extLst>
                    <a:ext uri="{FF2B5EF4-FFF2-40B4-BE49-F238E27FC236}">
                      <a16:creationId xmlns:a16="http://schemas.microsoft.com/office/drawing/2014/main" id="{3A3C12F8-3FA9-EE40-B9A8-D755FADB6875}"/>
                    </a:ext>
                  </a:extLst>
                </p:cNvPr>
                <p:cNvSpPr>
                  <a:spLocks noChangeShapeType="1"/>
                </p:cNvSpPr>
                <p:nvPr/>
              </p:nvSpPr>
              <p:spPr bwMode="auto">
                <a:xfrm flipV="1">
                  <a:off x="3743"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3" name="Line 58">
                  <a:extLst>
                    <a:ext uri="{FF2B5EF4-FFF2-40B4-BE49-F238E27FC236}">
                      <a16:creationId xmlns:a16="http://schemas.microsoft.com/office/drawing/2014/main" id="{3A931552-7714-2947-AAF4-70537168DE2B}"/>
                    </a:ext>
                  </a:extLst>
                </p:cNvPr>
                <p:cNvSpPr>
                  <a:spLocks noChangeShapeType="1"/>
                </p:cNvSpPr>
                <p:nvPr/>
              </p:nvSpPr>
              <p:spPr bwMode="auto">
                <a:xfrm flipH="1" flipV="1">
                  <a:off x="3918"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57" name="Group 59">
                <a:extLst>
                  <a:ext uri="{FF2B5EF4-FFF2-40B4-BE49-F238E27FC236}">
                    <a16:creationId xmlns:a16="http://schemas.microsoft.com/office/drawing/2014/main" id="{DB084D1C-18BF-964D-B359-96E635D2DD5D}"/>
                  </a:ext>
                </a:extLst>
              </p:cNvPr>
              <p:cNvGrpSpPr>
                <a:grpSpLocks/>
              </p:cNvGrpSpPr>
              <p:nvPr/>
            </p:nvGrpSpPr>
            <p:grpSpPr bwMode="auto">
              <a:xfrm>
                <a:off x="5904" y="3317"/>
                <a:ext cx="359" cy="333"/>
                <a:chOff x="3743" y="3317"/>
                <a:chExt cx="359" cy="333"/>
              </a:xfrm>
            </p:grpSpPr>
            <p:sp>
              <p:nvSpPr>
                <p:cNvPr id="18470" name="Line 60">
                  <a:extLst>
                    <a:ext uri="{FF2B5EF4-FFF2-40B4-BE49-F238E27FC236}">
                      <a16:creationId xmlns:a16="http://schemas.microsoft.com/office/drawing/2014/main" id="{C6495D75-C63C-3249-B80A-C1029C7352F1}"/>
                    </a:ext>
                  </a:extLst>
                </p:cNvPr>
                <p:cNvSpPr>
                  <a:spLocks noChangeShapeType="1"/>
                </p:cNvSpPr>
                <p:nvPr/>
              </p:nvSpPr>
              <p:spPr bwMode="auto">
                <a:xfrm flipV="1">
                  <a:off x="3743"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1" name="Line 61">
                  <a:extLst>
                    <a:ext uri="{FF2B5EF4-FFF2-40B4-BE49-F238E27FC236}">
                      <a16:creationId xmlns:a16="http://schemas.microsoft.com/office/drawing/2014/main" id="{CA797DD9-92F8-A84C-B52B-680F12404A9E}"/>
                    </a:ext>
                  </a:extLst>
                </p:cNvPr>
                <p:cNvSpPr>
                  <a:spLocks noChangeShapeType="1"/>
                </p:cNvSpPr>
                <p:nvPr/>
              </p:nvSpPr>
              <p:spPr bwMode="auto">
                <a:xfrm flipH="1" flipV="1">
                  <a:off x="3918"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58" name="Group 62">
                <a:extLst>
                  <a:ext uri="{FF2B5EF4-FFF2-40B4-BE49-F238E27FC236}">
                    <a16:creationId xmlns:a16="http://schemas.microsoft.com/office/drawing/2014/main" id="{EF67626A-B7F7-9644-BB1B-415A2C5787E0}"/>
                  </a:ext>
                </a:extLst>
              </p:cNvPr>
              <p:cNvGrpSpPr>
                <a:grpSpLocks/>
              </p:cNvGrpSpPr>
              <p:nvPr/>
            </p:nvGrpSpPr>
            <p:grpSpPr bwMode="auto">
              <a:xfrm>
                <a:off x="6985" y="3317"/>
                <a:ext cx="358" cy="333"/>
                <a:chOff x="3743" y="3317"/>
                <a:chExt cx="359" cy="333"/>
              </a:xfrm>
            </p:grpSpPr>
            <p:sp>
              <p:nvSpPr>
                <p:cNvPr id="18468" name="Line 63">
                  <a:extLst>
                    <a:ext uri="{FF2B5EF4-FFF2-40B4-BE49-F238E27FC236}">
                      <a16:creationId xmlns:a16="http://schemas.microsoft.com/office/drawing/2014/main" id="{B2714694-C522-4441-A78E-A140F5C28948}"/>
                    </a:ext>
                  </a:extLst>
                </p:cNvPr>
                <p:cNvSpPr>
                  <a:spLocks noChangeShapeType="1"/>
                </p:cNvSpPr>
                <p:nvPr/>
              </p:nvSpPr>
              <p:spPr bwMode="auto">
                <a:xfrm flipV="1">
                  <a:off x="3743"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9" name="Line 64">
                  <a:extLst>
                    <a:ext uri="{FF2B5EF4-FFF2-40B4-BE49-F238E27FC236}">
                      <a16:creationId xmlns:a16="http://schemas.microsoft.com/office/drawing/2014/main" id="{1FB2812F-E249-DD4D-8802-2BAA59760785}"/>
                    </a:ext>
                  </a:extLst>
                </p:cNvPr>
                <p:cNvSpPr>
                  <a:spLocks noChangeShapeType="1"/>
                </p:cNvSpPr>
                <p:nvPr/>
              </p:nvSpPr>
              <p:spPr bwMode="auto">
                <a:xfrm flipH="1" flipV="1">
                  <a:off x="3918" y="3317"/>
                  <a:ext cx="184" cy="3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59" name="Group 65">
                <a:extLst>
                  <a:ext uri="{FF2B5EF4-FFF2-40B4-BE49-F238E27FC236}">
                    <a16:creationId xmlns:a16="http://schemas.microsoft.com/office/drawing/2014/main" id="{77693889-3706-3F44-BA58-6DA26CC49620}"/>
                  </a:ext>
                </a:extLst>
              </p:cNvPr>
              <p:cNvGrpSpPr>
                <a:grpSpLocks/>
              </p:cNvGrpSpPr>
              <p:nvPr/>
            </p:nvGrpSpPr>
            <p:grpSpPr bwMode="auto">
              <a:xfrm>
                <a:off x="6222" y="2777"/>
                <a:ext cx="891" cy="333"/>
                <a:chOff x="3743" y="3317"/>
                <a:chExt cx="359" cy="333"/>
              </a:xfrm>
            </p:grpSpPr>
            <p:sp>
              <p:nvSpPr>
                <p:cNvPr id="18466" name="Line 66">
                  <a:extLst>
                    <a:ext uri="{FF2B5EF4-FFF2-40B4-BE49-F238E27FC236}">
                      <a16:creationId xmlns:a16="http://schemas.microsoft.com/office/drawing/2014/main" id="{C8D74FE8-7277-2D44-B004-628B24563DCC}"/>
                    </a:ext>
                  </a:extLst>
                </p:cNvPr>
                <p:cNvSpPr>
                  <a:spLocks noChangeShapeType="1"/>
                </p:cNvSpPr>
                <p:nvPr/>
              </p:nvSpPr>
              <p:spPr bwMode="auto">
                <a:xfrm flipV="1">
                  <a:off x="3743" y="3317"/>
                  <a:ext cx="184" cy="333"/>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7" name="Line 67">
                  <a:extLst>
                    <a:ext uri="{FF2B5EF4-FFF2-40B4-BE49-F238E27FC236}">
                      <a16:creationId xmlns:a16="http://schemas.microsoft.com/office/drawing/2014/main" id="{325E0069-60E4-A742-8281-CD46E3C1A169}"/>
                    </a:ext>
                  </a:extLst>
                </p:cNvPr>
                <p:cNvSpPr>
                  <a:spLocks noChangeShapeType="1"/>
                </p:cNvSpPr>
                <p:nvPr/>
              </p:nvSpPr>
              <p:spPr bwMode="auto">
                <a:xfrm flipH="1" flipV="1">
                  <a:off x="3918" y="3317"/>
                  <a:ext cx="184" cy="333"/>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60" name="Group 68">
                <a:extLst>
                  <a:ext uri="{FF2B5EF4-FFF2-40B4-BE49-F238E27FC236}">
                    <a16:creationId xmlns:a16="http://schemas.microsoft.com/office/drawing/2014/main" id="{B2AF59D1-A8F6-834A-9182-B67151052486}"/>
                  </a:ext>
                </a:extLst>
              </p:cNvPr>
              <p:cNvGrpSpPr>
                <a:grpSpLocks/>
              </p:cNvGrpSpPr>
              <p:nvPr/>
            </p:nvGrpSpPr>
            <p:grpSpPr bwMode="auto">
              <a:xfrm>
                <a:off x="4593" y="2285"/>
                <a:ext cx="2025" cy="267"/>
                <a:chOff x="3743" y="3317"/>
                <a:chExt cx="359" cy="333"/>
              </a:xfrm>
            </p:grpSpPr>
            <p:sp>
              <p:nvSpPr>
                <p:cNvPr id="18464" name="Line 69">
                  <a:extLst>
                    <a:ext uri="{FF2B5EF4-FFF2-40B4-BE49-F238E27FC236}">
                      <a16:creationId xmlns:a16="http://schemas.microsoft.com/office/drawing/2014/main" id="{D9F5A011-01FB-7B48-BC6E-AF0EB77A1077}"/>
                    </a:ext>
                  </a:extLst>
                </p:cNvPr>
                <p:cNvSpPr>
                  <a:spLocks noChangeShapeType="1"/>
                </p:cNvSpPr>
                <p:nvPr/>
              </p:nvSpPr>
              <p:spPr bwMode="auto">
                <a:xfrm flipV="1">
                  <a:off x="3743" y="3317"/>
                  <a:ext cx="184" cy="333"/>
                </a:xfrm>
                <a:prstGeom prst="line">
                  <a:avLst/>
                </a:prstGeom>
                <a:noFill/>
                <a:ln w="9525">
                  <a:solidFill>
                    <a:srgbClr val="00B05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5" name="Line 70">
                  <a:extLst>
                    <a:ext uri="{FF2B5EF4-FFF2-40B4-BE49-F238E27FC236}">
                      <a16:creationId xmlns:a16="http://schemas.microsoft.com/office/drawing/2014/main" id="{0C546941-3BB7-0349-AC39-A1910A3803F1}"/>
                    </a:ext>
                  </a:extLst>
                </p:cNvPr>
                <p:cNvSpPr>
                  <a:spLocks noChangeShapeType="1"/>
                </p:cNvSpPr>
                <p:nvPr/>
              </p:nvSpPr>
              <p:spPr bwMode="auto">
                <a:xfrm flipH="1" flipV="1">
                  <a:off x="3918" y="3317"/>
                  <a:ext cx="184" cy="333"/>
                </a:xfrm>
                <a:prstGeom prst="line">
                  <a:avLst/>
                </a:prstGeom>
                <a:noFill/>
                <a:ln w="9525">
                  <a:solidFill>
                    <a:srgbClr val="00B05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61" name="Group 71">
                <a:extLst>
                  <a:ext uri="{FF2B5EF4-FFF2-40B4-BE49-F238E27FC236}">
                    <a16:creationId xmlns:a16="http://schemas.microsoft.com/office/drawing/2014/main" id="{7C847CCB-3742-1845-A53F-2408A9D9C4D8}"/>
                  </a:ext>
                </a:extLst>
              </p:cNvPr>
              <p:cNvGrpSpPr>
                <a:grpSpLocks/>
              </p:cNvGrpSpPr>
              <p:nvPr/>
            </p:nvGrpSpPr>
            <p:grpSpPr bwMode="auto">
              <a:xfrm>
                <a:off x="4038" y="2737"/>
                <a:ext cx="892" cy="333"/>
                <a:chOff x="3743" y="3317"/>
                <a:chExt cx="359" cy="333"/>
              </a:xfrm>
            </p:grpSpPr>
            <p:sp>
              <p:nvSpPr>
                <p:cNvPr id="18462" name="Line 72">
                  <a:extLst>
                    <a:ext uri="{FF2B5EF4-FFF2-40B4-BE49-F238E27FC236}">
                      <a16:creationId xmlns:a16="http://schemas.microsoft.com/office/drawing/2014/main" id="{B63E9F92-E6BC-E44C-9BDB-ED9729EBACC3}"/>
                    </a:ext>
                  </a:extLst>
                </p:cNvPr>
                <p:cNvSpPr>
                  <a:spLocks noChangeShapeType="1"/>
                </p:cNvSpPr>
                <p:nvPr/>
              </p:nvSpPr>
              <p:spPr bwMode="auto">
                <a:xfrm flipV="1">
                  <a:off x="3743" y="3317"/>
                  <a:ext cx="184" cy="333"/>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3" name="Line 73">
                  <a:extLst>
                    <a:ext uri="{FF2B5EF4-FFF2-40B4-BE49-F238E27FC236}">
                      <a16:creationId xmlns:a16="http://schemas.microsoft.com/office/drawing/2014/main" id="{354A6B8A-6B7C-C64C-A494-A33C931E44D8}"/>
                    </a:ext>
                  </a:extLst>
                </p:cNvPr>
                <p:cNvSpPr>
                  <a:spLocks noChangeShapeType="1"/>
                </p:cNvSpPr>
                <p:nvPr/>
              </p:nvSpPr>
              <p:spPr bwMode="auto">
                <a:xfrm flipH="1" flipV="1">
                  <a:off x="3918" y="3317"/>
                  <a:ext cx="184" cy="333"/>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4" name="TextBox 3">
            <a:extLst>
              <a:ext uri="{FF2B5EF4-FFF2-40B4-BE49-F238E27FC236}">
                <a16:creationId xmlns:a16="http://schemas.microsoft.com/office/drawing/2014/main" id="{3128B1B5-AED9-0847-AA9E-6AA0B9C73748}"/>
              </a:ext>
            </a:extLst>
          </p:cNvPr>
          <p:cNvSpPr txBox="1"/>
          <p:nvPr/>
        </p:nvSpPr>
        <p:spPr>
          <a:xfrm>
            <a:off x="2130560" y="5994666"/>
            <a:ext cx="2554545" cy="523220"/>
          </a:xfrm>
          <a:prstGeom prst="rect">
            <a:avLst/>
          </a:prstGeom>
          <a:noFill/>
        </p:spPr>
        <p:txBody>
          <a:bodyPr wrap="none" rtlCol="0">
            <a:spAutoFit/>
          </a:bodyPr>
          <a:lstStyle/>
          <a:p>
            <a:r>
              <a:rPr lang="en-US" sz="2800" dirty="0"/>
              <a:t>Single processor</a:t>
            </a:r>
          </a:p>
        </p:txBody>
      </p:sp>
      <p:sp>
        <p:nvSpPr>
          <p:cNvPr id="79" name="TextBox 78">
            <a:extLst>
              <a:ext uri="{FF2B5EF4-FFF2-40B4-BE49-F238E27FC236}">
                <a16:creationId xmlns:a16="http://schemas.microsoft.com/office/drawing/2014/main" id="{3256685D-B8A1-AC47-A330-F850CA605A22}"/>
              </a:ext>
            </a:extLst>
          </p:cNvPr>
          <p:cNvSpPr txBox="1"/>
          <p:nvPr/>
        </p:nvSpPr>
        <p:spPr>
          <a:xfrm>
            <a:off x="7177502" y="6007794"/>
            <a:ext cx="3054939" cy="523220"/>
          </a:xfrm>
          <a:prstGeom prst="rect">
            <a:avLst/>
          </a:prstGeom>
          <a:noFill/>
        </p:spPr>
        <p:txBody>
          <a:bodyPr wrap="none" rtlCol="0">
            <a:spAutoFit/>
          </a:bodyPr>
          <a:lstStyle/>
          <a:p>
            <a:r>
              <a:rPr lang="en-US" sz="2800" dirty="0"/>
              <a:t>Multiple processors</a:t>
            </a:r>
          </a:p>
        </p:txBody>
      </p:sp>
    </p:spTree>
    <p:extLst>
      <p:ext uri="{BB962C8B-B14F-4D97-AF65-F5344CB8AC3E}">
        <p14:creationId xmlns:p14="http://schemas.microsoft.com/office/powerpoint/2010/main" val="1138961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64B97-41F0-D146-84DF-FBE5481BCD47}"/>
              </a:ext>
            </a:extLst>
          </p:cNvPr>
          <p:cNvSpPr>
            <a:spLocks noGrp="1"/>
          </p:cNvSpPr>
          <p:nvPr>
            <p:ph type="title"/>
          </p:nvPr>
        </p:nvSpPr>
        <p:spPr>
          <a:xfrm>
            <a:off x="838200" y="0"/>
            <a:ext cx="10515600" cy="1325563"/>
          </a:xfrm>
        </p:spPr>
        <p:txBody>
          <a:bodyPr/>
          <a:lstStyle/>
          <a:p>
            <a:r>
              <a:rPr lang="en-US" dirty="0"/>
              <a:t>How fast can my program get: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5AEDAE-9385-C847-BB4C-0F977813A08E}"/>
                  </a:ext>
                </a:extLst>
              </p:cNvPr>
              <p:cNvSpPr>
                <a:spLocks noGrp="1"/>
              </p:cNvSpPr>
              <p:nvPr>
                <p:ph idx="1"/>
              </p:nvPr>
            </p:nvSpPr>
            <p:spPr>
              <a:xfrm>
                <a:off x="838200" y="1325563"/>
                <a:ext cx="10515600" cy="4313237"/>
              </a:xfrm>
            </p:spPr>
            <p:txBody>
              <a:bodyPr>
                <a:normAutofit/>
              </a:bodyPr>
              <a:lstStyle/>
              <a:p>
                <a:r>
                  <a:rPr lang="en-US" dirty="0"/>
                  <a:t>Suppose our work can be divided into a serial (</a:t>
                </a:r>
                <a:r>
                  <a:rPr lang="en-US" dirty="0" err="1"/>
                  <a:t>nonparallelizable</a:t>
                </a:r>
                <a:r>
                  <a:rPr lang="en-US" dirty="0"/>
                  <a:t>) part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and a perfectly parallelizable part </a:t>
                </a:r>
                <a14:m>
                  <m:oMath xmlns:m="http://schemas.openxmlformats.org/officeDocument/2006/math">
                    <m:r>
                      <a:rPr lang="en-US" i="1" dirty="0" smtClean="0">
                        <a:solidFill>
                          <a:srgbClr val="0070C0"/>
                        </a:solidFill>
                        <a:latin typeface="Cambria Math" panose="02040503050406030204" pitchFamily="18" charset="0"/>
                      </a:rPr>
                      <m:t>𝑝</m:t>
                    </m:r>
                  </m:oMath>
                </a14:m>
                <a:r>
                  <a:rPr lang="en-US" dirty="0"/>
                  <a:t>.</a:t>
                </a:r>
              </a:p>
              <a:p>
                <a:r>
                  <a:rPr lang="en-US" dirty="0"/>
                  <a:t>The problem size will be just the summation of the two parts</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𝑠</m:t>
                      </m:r>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𝑝</m:t>
                      </m:r>
                    </m:oMath>
                  </m:oMathPara>
                </a14:m>
                <a:endParaRPr lang="en-US" dirty="0"/>
              </a:p>
              <a:p>
                <a:r>
                  <a:rPr lang="en-US" dirty="0"/>
                  <a:t>In a fixed ideal case the overall runtime of a single worker will be</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m:rPr>
                              <m:sty m:val="p"/>
                            </m:rPr>
                            <a:rPr lang="en-US" b="0" i="0" smtClean="0">
                              <a:latin typeface="Cambria Math" panose="02040503050406030204" pitchFamily="18" charset="0"/>
                            </a:rPr>
                            <m:t>f</m:t>
                          </m:r>
                        </m:sub>
                        <m:sup>
                          <m:r>
                            <m:rPr>
                              <m:sty m:val="p"/>
                            </m:rPr>
                            <a:rPr lang="en-US" b="0" i="0" smtClean="0">
                              <a:latin typeface="Cambria Math" panose="02040503050406030204" pitchFamily="18" charset="0"/>
                            </a:rPr>
                            <m:t>s</m:t>
                          </m:r>
                        </m:sup>
                      </m:sSubSup>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𝑠</m:t>
                      </m:r>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𝑝</m:t>
                      </m:r>
                      <m:r>
                        <a:rPr lang="en-US" b="0" i="1" smtClean="0">
                          <a:latin typeface="Cambria Math" panose="02040503050406030204" pitchFamily="18" charset="0"/>
                        </a:rPr>
                        <m:t>≡1</m:t>
                      </m:r>
                    </m:oMath>
                  </m:oMathPara>
                </a14:m>
                <a:endParaRPr lang="en-US" dirty="0"/>
              </a:p>
              <a:p>
                <a:r>
                  <a:rPr lang="en-US" dirty="0"/>
                  <a:t>If the problem is solved by </a:t>
                </a:r>
                <a14:m>
                  <m:oMath xmlns:m="http://schemas.openxmlformats.org/officeDocument/2006/math">
                    <m:r>
                      <a:rPr lang="en-US" i="1" dirty="0" smtClean="0">
                        <a:latin typeface="Cambria Math" panose="02040503050406030204" pitchFamily="18" charset="0"/>
                      </a:rPr>
                      <m:t>𝑁</m:t>
                    </m:r>
                  </m:oMath>
                </a14:m>
                <a:r>
                  <a:rPr lang="en-US" dirty="0"/>
                  <a:t> workers, the runtime will be</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a:latin typeface="Cambria Math" panose="02040503050406030204" pitchFamily="18" charset="0"/>
                            </a:rPr>
                            <m:t>f</m:t>
                          </m:r>
                        </m:sub>
                        <m:sup>
                          <m:r>
                            <m:rPr>
                              <m:sty m:val="p"/>
                            </m:rPr>
                            <a:rPr lang="en-US" b="0" i="0" smtClean="0">
                              <a:latin typeface="Cambria Math" panose="02040503050406030204" pitchFamily="18" charset="0"/>
                            </a:rPr>
                            <m:t>p</m:t>
                          </m:r>
                        </m:sup>
                      </m:sSubSup>
                      <m:r>
                        <a:rPr lang="en-US" i="1">
                          <a:latin typeface="Cambria Math" panose="02040503050406030204" pitchFamily="18" charset="0"/>
                        </a:rPr>
                        <m:t>=</m:t>
                      </m:r>
                      <m:r>
                        <a:rPr lang="en-US" i="1" smtClean="0">
                          <a:solidFill>
                            <a:srgbClr val="FF0000"/>
                          </a:solidFill>
                          <a:latin typeface="Cambria Math" panose="02040503050406030204" pitchFamily="18" charset="0"/>
                        </a:rPr>
                        <m:t>𝑠</m:t>
                      </m:r>
                      <m:r>
                        <a:rPr lang="en-US" i="1">
                          <a:latin typeface="Cambria Math" panose="02040503050406030204" pitchFamily="18" charset="0"/>
                        </a:rPr>
                        <m:t>+</m:t>
                      </m:r>
                      <m:f>
                        <m:fPr>
                          <m:ctrlPr>
                            <a:rPr lang="en-US" b="0" i="1" smtClean="0">
                              <a:solidFill>
                                <a:srgbClr val="0070C0"/>
                              </a:solidFill>
                              <a:latin typeface="Cambria Math" panose="02040503050406030204" pitchFamily="18" charset="0"/>
                            </a:rPr>
                          </m:ctrlPr>
                        </m:fPr>
                        <m:num>
                          <m:r>
                            <a:rPr lang="en-US" i="1">
                              <a:solidFill>
                                <a:srgbClr val="0070C0"/>
                              </a:solidFill>
                              <a:latin typeface="Cambria Math" panose="02040503050406030204" pitchFamily="18" charset="0"/>
                            </a:rPr>
                            <m:t>𝑝</m:t>
                          </m:r>
                        </m:num>
                        <m:den>
                          <m:r>
                            <a:rPr lang="en-US" b="0" i="1" smtClean="0">
                              <a:solidFill>
                                <a:srgbClr val="0070C0"/>
                              </a:solidFill>
                              <a:latin typeface="Cambria Math" panose="02040503050406030204" pitchFamily="18" charset="0"/>
                            </a:rPr>
                            <m:t>𝑁</m:t>
                          </m:r>
                        </m:den>
                      </m:f>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15AEDAE-9385-C847-BB4C-0F977813A08E}"/>
                  </a:ext>
                </a:extLst>
              </p:cNvPr>
              <p:cNvSpPr>
                <a:spLocks noGrp="1" noRot="1" noChangeAspect="1" noMove="1" noResize="1" noEditPoints="1" noAdjustHandles="1" noChangeArrowheads="1" noChangeShapeType="1" noTextEdit="1"/>
              </p:cNvSpPr>
              <p:nvPr>
                <p:ph idx="1"/>
              </p:nvPr>
            </p:nvSpPr>
            <p:spPr>
              <a:xfrm>
                <a:off x="838200" y="1325563"/>
                <a:ext cx="10515600" cy="4313237"/>
              </a:xfrm>
              <a:blipFill>
                <a:blip r:embed="rId2"/>
                <a:stretch>
                  <a:fillRect l="-965" t="-2053" r="-60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0437C55-28B5-F94F-B9DC-D842A9CE8484}"/>
              </a:ext>
            </a:extLst>
          </p:cNvPr>
          <p:cNvSpPr/>
          <p:nvPr/>
        </p:nvSpPr>
        <p:spPr>
          <a:xfrm>
            <a:off x="977900" y="5803900"/>
            <a:ext cx="9537700" cy="954107"/>
          </a:xfrm>
          <a:prstGeom prst="rect">
            <a:avLst/>
          </a:prstGeom>
        </p:spPr>
        <p:txBody>
          <a:bodyPr wrap="square">
            <a:spAutoFit/>
          </a:bodyPr>
          <a:lstStyle/>
          <a:p>
            <a:r>
              <a:rPr lang="en-US" sz="2800" dirty="0">
                <a:latin typeface="Times" pitchFamily="2" charset="0"/>
              </a:rPr>
              <a:t>This is called </a:t>
            </a:r>
            <a:r>
              <a:rPr lang="en-US" sz="2800" i="1" dirty="0">
                <a:solidFill>
                  <a:srgbClr val="FF0000"/>
                </a:solidFill>
                <a:latin typeface="Times" pitchFamily="2" charset="0"/>
              </a:rPr>
              <a:t>strong scaling </a:t>
            </a:r>
            <a:r>
              <a:rPr lang="en-US" sz="2800" dirty="0">
                <a:latin typeface="Times" pitchFamily="2" charset="0"/>
              </a:rPr>
              <a:t>because the amount of work stays constant no matter how many workers are used. </a:t>
            </a:r>
            <a:endParaRPr lang="en-US" sz="2800" dirty="0"/>
          </a:p>
        </p:txBody>
      </p:sp>
    </p:spTree>
    <p:extLst>
      <p:ext uri="{BB962C8B-B14F-4D97-AF65-F5344CB8AC3E}">
        <p14:creationId xmlns:p14="http://schemas.microsoft.com/office/powerpoint/2010/main" val="2264100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64B97-41F0-D146-84DF-FBE5481BCD47}"/>
              </a:ext>
            </a:extLst>
          </p:cNvPr>
          <p:cNvSpPr>
            <a:spLocks noGrp="1"/>
          </p:cNvSpPr>
          <p:nvPr>
            <p:ph type="title"/>
          </p:nvPr>
        </p:nvSpPr>
        <p:spPr>
          <a:xfrm>
            <a:off x="838200" y="0"/>
            <a:ext cx="10515600" cy="1325563"/>
          </a:xfrm>
        </p:spPr>
        <p:txBody>
          <a:bodyPr/>
          <a:lstStyle/>
          <a:p>
            <a:r>
              <a:rPr lang="en-US" dirty="0"/>
              <a:t>How fast can my program get: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5AEDAE-9385-C847-BB4C-0F977813A08E}"/>
                  </a:ext>
                </a:extLst>
              </p:cNvPr>
              <p:cNvSpPr>
                <a:spLocks noGrp="1"/>
              </p:cNvSpPr>
              <p:nvPr>
                <p:ph idx="1"/>
              </p:nvPr>
            </p:nvSpPr>
            <p:spPr>
              <a:xfrm>
                <a:off x="838200" y="1325563"/>
                <a:ext cx="10960100" cy="4478337"/>
              </a:xfrm>
            </p:spPr>
            <p:txBody>
              <a:bodyPr>
                <a:normAutofit/>
              </a:bodyPr>
              <a:lstStyle/>
              <a:p>
                <a:r>
                  <a:rPr lang="en-US" dirty="0"/>
                  <a:t>If adding of more workers adds an excess load on the system (e.g. communication), then the problem size is no longer constant.</a:t>
                </a:r>
              </a:p>
              <a:p>
                <a:r>
                  <a:rPr lang="en-US" dirty="0"/>
                  <a:t>It is appropriate to scale the problem size with some power of </a:t>
                </a:r>
                <a14:m>
                  <m:oMath xmlns:m="http://schemas.openxmlformats.org/officeDocument/2006/math">
                    <m:r>
                      <a:rPr lang="en-US" i="1" dirty="0" smtClean="0">
                        <a:latin typeface="Cambria Math" panose="02040503050406030204" pitchFamily="18" charset="0"/>
                      </a:rPr>
                      <m:t>𝑁</m:t>
                    </m:r>
                  </m:oMath>
                </a14:m>
                <a:r>
                  <a:rPr lang="en-US" i="1" dirty="0"/>
                  <a:t> </a:t>
                </a:r>
                <a:r>
                  <a:rPr lang="en-US" dirty="0"/>
                  <a:t>so that the total amount of work is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𝑝</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𝛼</m:t>
                          </m:r>
                        </m:sup>
                      </m:sSup>
                    </m:oMath>
                  </m:oMathPara>
                </a14:m>
                <a:endParaRPr lang="en-US" dirty="0"/>
              </a:p>
              <a:p>
                <a:pPr marL="0" indent="0">
                  <a:buNone/>
                </a:pPr>
                <a:r>
                  <a:rPr lang="en-US" dirty="0"/>
                  <a:t>    where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&gt;0</m:t>
                    </m:r>
                  </m:oMath>
                </a14:m>
                <a:r>
                  <a:rPr lang="en-US" dirty="0"/>
                  <a:t>.</a:t>
                </a:r>
              </a:p>
              <a:p>
                <a:r>
                  <a:rPr lang="en-US" dirty="0"/>
                  <a:t>The serial runtime for the scaled (variably-sized) problem is now </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b="0" i="0" smtClean="0">
                              <a:latin typeface="Cambria Math" panose="02040503050406030204" pitchFamily="18" charset="0"/>
                            </a:rPr>
                            <m:t>v</m:t>
                          </m:r>
                        </m:sub>
                        <m:sup>
                          <m:r>
                            <m:rPr>
                              <m:sty m:val="p"/>
                            </m:rPr>
                            <a:rPr lang="en-US">
                              <a:latin typeface="Cambria Math" panose="02040503050406030204" pitchFamily="18" charset="0"/>
                            </a:rPr>
                            <m:t>s</m:t>
                          </m:r>
                        </m:sup>
                      </m:sSubSup>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𝛼</m:t>
                          </m:r>
                        </m:sup>
                      </m:sSup>
                    </m:oMath>
                  </m:oMathPara>
                </a14:m>
                <a:endParaRPr lang="en-US" dirty="0"/>
              </a:p>
              <a:p>
                <a:r>
                  <a:rPr lang="en-US" dirty="0"/>
                  <a:t>Seemingly the parallel runtime will be</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a:latin typeface="Cambria Math" panose="02040503050406030204" pitchFamily="18" charset="0"/>
                            </a:rPr>
                            <m:t>v</m:t>
                          </m:r>
                        </m:sub>
                        <m:sup>
                          <m:r>
                            <m:rPr>
                              <m:sty m:val="p"/>
                            </m:rPr>
                            <a:rPr lang="en-US" b="0" i="0" smtClean="0">
                              <a:latin typeface="Cambria Math" panose="02040503050406030204" pitchFamily="18" charset="0"/>
                            </a:rPr>
                            <m:t>p</m:t>
                          </m:r>
                        </m:sup>
                      </m:sSubSup>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sSup>
                        <m:sSupPr>
                          <m:ctrlPr>
                            <a:rPr lang="en-US" i="1">
                              <a:latin typeface="Cambria Math" panose="02040503050406030204" pitchFamily="18" charset="0"/>
                            </a:rPr>
                          </m:ctrlPr>
                        </m:sSupPr>
                        <m:e>
                          <m:r>
                            <a:rPr lang="en-US" i="1">
                              <a:latin typeface="Cambria Math" panose="02040503050406030204" pitchFamily="18" charset="0"/>
                            </a:rPr>
                            <m:t>𝑁</m:t>
                          </m:r>
                        </m:e>
                        <m:sup>
                          <m:r>
                            <a:rPr lang="en-US" i="1">
                              <a:latin typeface="Cambria Math" panose="02040503050406030204" pitchFamily="18" charset="0"/>
                            </a:rPr>
                            <m:t>𝛼</m:t>
                          </m:r>
                          <m:r>
                            <a:rPr lang="en-US" b="0" i="1" smtClean="0">
                              <a:latin typeface="Cambria Math" panose="02040503050406030204" pitchFamily="18" charset="0"/>
                            </a:rPr>
                            <m:t>−1</m:t>
                          </m:r>
                        </m:sup>
                      </m:sSup>
                    </m:oMath>
                  </m:oMathPara>
                </a14:m>
                <a:endParaRPr lang="en-US" dirty="0"/>
              </a:p>
              <a:p>
                <a:pPr marL="0" indent="0">
                  <a:buNone/>
                </a:pPr>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15AEDAE-9385-C847-BB4C-0F977813A08E}"/>
                  </a:ext>
                </a:extLst>
              </p:cNvPr>
              <p:cNvSpPr>
                <a:spLocks noGrp="1" noRot="1" noChangeAspect="1" noMove="1" noResize="1" noEditPoints="1" noAdjustHandles="1" noChangeArrowheads="1" noChangeShapeType="1" noTextEdit="1"/>
              </p:cNvSpPr>
              <p:nvPr>
                <p:ph idx="1"/>
              </p:nvPr>
            </p:nvSpPr>
            <p:spPr>
              <a:xfrm>
                <a:off x="838200" y="1325563"/>
                <a:ext cx="10960100" cy="4478337"/>
              </a:xfrm>
              <a:blipFill>
                <a:blip r:embed="rId2"/>
                <a:stretch>
                  <a:fillRect l="-926" t="-1977" b="-84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0437C55-28B5-F94F-B9DC-D842A9CE8484}"/>
              </a:ext>
            </a:extLst>
          </p:cNvPr>
          <p:cNvSpPr/>
          <p:nvPr/>
        </p:nvSpPr>
        <p:spPr>
          <a:xfrm>
            <a:off x="990600" y="6210300"/>
            <a:ext cx="9537700" cy="523220"/>
          </a:xfrm>
          <a:prstGeom prst="rect">
            <a:avLst/>
          </a:prstGeom>
        </p:spPr>
        <p:txBody>
          <a:bodyPr wrap="square">
            <a:spAutoFit/>
          </a:bodyPr>
          <a:lstStyle/>
          <a:p>
            <a:r>
              <a:rPr lang="en-US" sz="2800" dirty="0">
                <a:latin typeface="Times" pitchFamily="2" charset="0"/>
              </a:rPr>
              <a:t>This is called </a:t>
            </a:r>
            <a:r>
              <a:rPr lang="en-US" sz="2800" i="1" dirty="0">
                <a:solidFill>
                  <a:srgbClr val="FF0000"/>
                </a:solidFill>
                <a:latin typeface="Times" pitchFamily="2" charset="0"/>
              </a:rPr>
              <a:t>weak scaling</a:t>
            </a:r>
            <a:r>
              <a:rPr lang="en-US" sz="2800" dirty="0">
                <a:latin typeface="Times" pitchFamily="2" charset="0"/>
              </a:rPr>
              <a:t>. </a:t>
            </a:r>
            <a:endParaRPr lang="en-US" sz="2800" dirty="0"/>
          </a:p>
        </p:txBody>
      </p:sp>
    </p:spTree>
    <p:extLst>
      <p:ext uri="{BB962C8B-B14F-4D97-AF65-F5344CB8AC3E}">
        <p14:creationId xmlns:p14="http://schemas.microsoft.com/office/powerpoint/2010/main" val="2476925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5BEA8-ED6F-D446-89E3-0EFF3464E46D}"/>
              </a:ext>
            </a:extLst>
          </p:cNvPr>
          <p:cNvSpPr>
            <a:spLocks noGrp="1"/>
          </p:cNvSpPr>
          <p:nvPr>
            <p:ph type="title"/>
          </p:nvPr>
        </p:nvSpPr>
        <p:spPr>
          <a:xfrm>
            <a:off x="838200" y="0"/>
            <a:ext cx="10515600" cy="1325563"/>
          </a:xfrm>
        </p:spPr>
        <p:txBody>
          <a:bodyPr/>
          <a:lstStyle/>
          <a:p>
            <a:r>
              <a:rPr lang="en-US" dirty="0"/>
              <a:t>Scalability of strong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8648DA-F5C8-A64E-8A49-D8CD885F4A4C}"/>
                  </a:ext>
                </a:extLst>
              </p:cNvPr>
              <p:cNvSpPr>
                <a:spLocks noGrp="1"/>
              </p:cNvSpPr>
              <p:nvPr>
                <p:ph idx="1"/>
              </p:nvPr>
            </p:nvSpPr>
            <p:spPr>
              <a:xfrm>
                <a:off x="838200" y="1360488"/>
                <a:ext cx="11252200" cy="5497512"/>
              </a:xfrm>
            </p:spPr>
            <p:txBody>
              <a:bodyPr/>
              <a:lstStyle/>
              <a:p>
                <a:r>
                  <a:rPr lang="en-US" dirty="0"/>
                  <a:t>We define the performance as the ratio between the problem size and work time.</a:t>
                </a:r>
              </a:p>
              <a:p>
                <a:r>
                  <a:rPr lang="en-US" dirty="0"/>
                  <a:t>For the fixed problem size (no workers latencies) the serial performance is</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s</m:t>
                          </m:r>
                        </m:sup>
                      </m:sSubSup>
                      <m:r>
                        <a:rPr lang="en-US" i="1">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num>
                        <m:den>
                          <m:sSubSup>
                            <m:sSubSupPr>
                              <m:ctrlPr>
                                <a:rPr lang="en-US" i="1">
                                  <a:latin typeface="Cambria Math" panose="02040503050406030204" pitchFamily="18" charset="0"/>
                                </a:rPr>
                              </m:ctrlPr>
                            </m:sSubSupPr>
                            <m:e>
                              <m:r>
                                <a:rPr lang="en-US" b="0" i="1" smtClean="0">
                                  <a:latin typeface="Cambria Math" panose="02040503050406030204" pitchFamily="18" charset="0"/>
                                </a:rPr>
                                <m:t>𝑇</m:t>
                              </m:r>
                            </m:e>
                            <m:sub>
                              <m:r>
                                <m:rPr>
                                  <m:sty m:val="p"/>
                                </m:rPr>
                                <a:rPr lang="en-US">
                                  <a:latin typeface="Cambria Math" panose="02040503050406030204" pitchFamily="18" charset="0"/>
                                </a:rPr>
                                <m:t>f</m:t>
                              </m:r>
                            </m:sub>
                            <m:sup>
                              <m:r>
                                <m:rPr>
                                  <m:sty m:val="p"/>
                                </m:rPr>
                                <a:rPr lang="en-US">
                                  <a:latin typeface="Cambria Math" panose="02040503050406030204" pitchFamily="18" charset="0"/>
                                </a:rPr>
                                <m:t>s</m:t>
                              </m:r>
                            </m:sup>
                          </m:sSubSup>
                        </m:den>
                      </m:f>
                      <m:r>
                        <a:rPr lang="en-US" b="0" i="1" smtClean="0">
                          <a:latin typeface="Cambria Math" panose="02040503050406030204" pitchFamily="18" charset="0"/>
                        </a:rPr>
                        <m:t>=</m:t>
                      </m:r>
                      <m:r>
                        <a:rPr lang="en-US" i="1">
                          <a:latin typeface="Cambria Math" panose="02040503050406030204" pitchFamily="18" charset="0"/>
                        </a:rPr>
                        <m:t>1</m:t>
                      </m:r>
                    </m:oMath>
                  </m:oMathPara>
                </a14:m>
                <a:endParaRPr lang="en-US" dirty="0"/>
              </a:p>
              <a:p>
                <a:r>
                  <a:rPr lang="en-US" dirty="0"/>
                  <a:t>The parallel performance in this case is</a:t>
                </a:r>
              </a:p>
              <a:p>
                <a:pPr marL="0" indent="0">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b="0" i="0" smtClean="0">
                              <a:latin typeface="Cambria Math" panose="02040503050406030204" pitchFamily="18" charset="0"/>
                            </a:rPr>
                            <m:t>p</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num>
                        <m:den>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a:latin typeface="Cambria Math" panose="02040503050406030204" pitchFamily="18" charset="0"/>
                                </a:rPr>
                                <m:t>f</m:t>
                              </m:r>
                            </m:sub>
                            <m:sup>
                              <m:r>
                                <m:rPr>
                                  <m:sty m:val="p"/>
                                </m:rPr>
                                <a:rPr lang="en-US" b="0" i="0" smtClean="0">
                                  <a:latin typeface="Cambria Math" panose="02040503050406030204" pitchFamily="18" charset="0"/>
                                </a:rPr>
                                <m:t>p</m:t>
                              </m:r>
                            </m:sup>
                          </m:sSubSup>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num>
                        <m:den>
                          <m:r>
                            <a:rPr lang="en-US" b="0" i="1" smtClean="0">
                              <a:latin typeface="Cambria Math" panose="02040503050406030204" pitchFamily="18" charset="0"/>
                            </a:rPr>
                            <m:t>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𝑁</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𝑠</m:t>
                              </m:r>
                            </m:num>
                            <m:den>
                              <m:r>
                                <a:rPr lang="en-US" b="0" i="1" smtClean="0">
                                  <a:latin typeface="Cambria Math" panose="02040503050406030204" pitchFamily="18" charset="0"/>
                                </a:rPr>
                                <m:t>𝑁</m:t>
                              </m:r>
                            </m:den>
                          </m:f>
                        </m:den>
                      </m:f>
                    </m:oMath>
                  </m:oMathPara>
                </a14:m>
                <a:endParaRPr lang="en-US" dirty="0"/>
              </a:p>
              <a:p>
                <a:r>
                  <a:rPr lang="en-US" dirty="0"/>
                  <a:t>The application speedup (scalability) is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m:rPr>
                              <m:sty m:val="p"/>
                            </m:rPr>
                            <a:rPr lang="en-US" b="0" i="0" smtClean="0">
                              <a:latin typeface="Cambria Math" panose="02040503050406030204" pitchFamily="18" charset="0"/>
                            </a:rPr>
                            <m:t>f</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p</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b="0" i="0" smtClean="0">
                                  <a:latin typeface="Cambria Math" panose="02040503050406030204" pitchFamily="18" charset="0"/>
                                </a:rPr>
                                <m:t>s</m:t>
                              </m:r>
                            </m:sup>
                          </m:sSub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𝑠</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𝑠</m:t>
                              </m:r>
                            </m:num>
                            <m:den>
                              <m:r>
                                <a:rPr lang="en-US" i="1">
                                  <a:latin typeface="Cambria Math" panose="02040503050406030204" pitchFamily="18" charset="0"/>
                                </a:rPr>
                                <m:t>𝑁</m:t>
                              </m:r>
                            </m:den>
                          </m:f>
                        </m:den>
                      </m:f>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F8648DA-F5C8-A64E-8A49-D8CD885F4A4C}"/>
                  </a:ext>
                </a:extLst>
              </p:cNvPr>
              <p:cNvSpPr>
                <a:spLocks noGrp="1" noRot="1" noChangeAspect="1" noMove="1" noResize="1" noEditPoints="1" noAdjustHandles="1" noChangeArrowheads="1" noChangeShapeType="1" noTextEdit="1"/>
              </p:cNvSpPr>
              <p:nvPr>
                <p:ph idx="1"/>
              </p:nvPr>
            </p:nvSpPr>
            <p:spPr>
              <a:xfrm>
                <a:off x="838200" y="1360488"/>
                <a:ext cx="11252200" cy="5497512"/>
              </a:xfrm>
              <a:blipFill>
                <a:blip r:embed="rId2"/>
                <a:stretch>
                  <a:fillRect l="-902" t="-184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317A8308-EA7E-0842-8D7A-1D35035EC2B3}"/>
              </a:ext>
            </a:extLst>
          </p:cNvPr>
          <p:cNvSpPr/>
          <p:nvPr/>
        </p:nvSpPr>
        <p:spPr>
          <a:xfrm>
            <a:off x="8791305" y="5682734"/>
            <a:ext cx="2178481" cy="523220"/>
          </a:xfrm>
          <a:prstGeom prst="rect">
            <a:avLst/>
          </a:prstGeom>
          <a:ln>
            <a:solidFill>
              <a:srgbClr val="FF0000"/>
            </a:solidFill>
          </a:ln>
        </p:spPr>
        <p:txBody>
          <a:bodyPr wrap="none">
            <a:spAutoFit/>
          </a:bodyPr>
          <a:lstStyle/>
          <a:p>
            <a:r>
              <a:rPr lang="en-US" sz="2800" dirty="0">
                <a:solidFill>
                  <a:srgbClr val="FF0000"/>
                </a:solidFill>
              </a:rPr>
              <a:t>Amdahl’s Law</a:t>
            </a:r>
          </a:p>
        </p:txBody>
      </p:sp>
    </p:spTree>
    <p:extLst>
      <p:ext uri="{BB962C8B-B14F-4D97-AF65-F5344CB8AC3E}">
        <p14:creationId xmlns:p14="http://schemas.microsoft.com/office/powerpoint/2010/main" val="393906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5BEA8-ED6F-D446-89E3-0EFF3464E46D}"/>
              </a:ext>
            </a:extLst>
          </p:cNvPr>
          <p:cNvSpPr>
            <a:spLocks noGrp="1"/>
          </p:cNvSpPr>
          <p:nvPr>
            <p:ph type="title"/>
          </p:nvPr>
        </p:nvSpPr>
        <p:spPr>
          <a:xfrm>
            <a:off x="838200" y="0"/>
            <a:ext cx="10515600" cy="1325563"/>
          </a:xfrm>
        </p:spPr>
        <p:txBody>
          <a:bodyPr/>
          <a:lstStyle/>
          <a:p>
            <a:r>
              <a:rPr lang="en-US" dirty="0"/>
              <a:t>Scalability of strong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8648DA-F5C8-A64E-8A49-D8CD885F4A4C}"/>
                  </a:ext>
                </a:extLst>
              </p:cNvPr>
              <p:cNvSpPr>
                <a:spLocks noGrp="1"/>
              </p:cNvSpPr>
              <p:nvPr>
                <p:ph idx="1"/>
              </p:nvPr>
            </p:nvSpPr>
            <p:spPr>
              <a:xfrm>
                <a:off x="838200" y="1360488"/>
                <a:ext cx="11252200" cy="5497512"/>
              </a:xfrm>
            </p:spPr>
            <p:txBody>
              <a:bodyPr/>
              <a:lstStyle/>
              <a:p>
                <a:r>
                  <a:rPr lang="en-US" dirty="0"/>
                  <a:t>The application speedup (scalability) is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m:rPr>
                              <m:sty m:val="p"/>
                            </m:rPr>
                            <a:rPr lang="en-US" b="0" i="0" smtClean="0">
                              <a:latin typeface="Cambria Math" panose="02040503050406030204" pitchFamily="18" charset="0"/>
                            </a:rPr>
                            <m:t>f</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p</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b="0" i="0" smtClean="0">
                                  <a:latin typeface="Cambria Math" panose="02040503050406030204" pitchFamily="18" charset="0"/>
                                </a:rPr>
                                <m:t>s</m:t>
                              </m:r>
                            </m:sup>
                          </m:sSub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𝑠</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𝑠</m:t>
                              </m:r>
                            </m:num>
                            <m:den>
                              <m:r>
                                <a:rPr lang="en-US" i="1">
                                  <a:latin typeface="Cambria Math" panose="02040503050406030204" pitchFamily="18" charset="0"/>
                                </a:rPr>
                                <m:t>𝑁</m:t>
                              </m:r>
                            </m:den>
                          </m:f>
                        </m:den>
                      </m:f>
                    </m:oMath>
                  </m:oMathPara>
                </a14:m>
                <a:endParaRPr lang="he-IL" dirty="0"/>
              </a:p>
              <a:p>
                <a:r>
                  <a:rPr lang="en-US" dirty="0"/>
                  <a:t>Amdahl’s law (Gene Amdahl 1967) limits the application speedup</a:t>
                </a:r>
                <a:r>
                  <a:rPr lang="he-IL" dirty="0"/>
                  <a:t> </a:t>
                </a:r>
                <a:r>
                  <a:rPr lang="en-US" dirty="0"/>
                  <a:t>in case of a large </a:t>
                </a:r>
                <a14:m>
                  <m:oMath xmlns:m="http://schemas.openxmlformats.org/officeDocument/2006/math">
                    <m:r>
                      <a:rPr lang="en-US" b="0" i="1" smtClean="0">
                        <a:latin typeface="Cambria Math" panose="02040503050406030204" pitchFamily="18" charset="0"/>
                      </a:rPr>
                      <m:t>𝑁</m:t>
                    </m:r>
                  </m:oMath>
                </a14:m>
                <a:r>
                  <a:rPr lang="en-US" dirty="0"/>
                  <a:t> to:</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𝑓</m:t>
                          </m:r>
                        </m:sub>
                      </m:sSub>
                      <m:groupChr>
                        <m:groupChrPr>
                          <m:chr m:val="→"/>
                          <m:pos m:val="top"/>
                          <m:ctrlPr>
                            <a:rPr lang="en-US" i="1" smtClean="0">
                              <a:latin typeface="Cambria Math" panose="02040503050406030204" pitchFamily="18" charset="0"/>
                              <a:ea typeface="Cambria Math" panose="02040503050406030204" pitchFamily="18" charset="0"/>
                            </a:rPr>
                          </m:ctrlPr>
                        </m:groupChrPr>
                        <m:e>
                          <m:r>
                            <m:rPr>
                              <m:brk m:alnAt="1"/>
                            </m:rP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e>
                      </m:groupCh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𝑠</m:t>
                      </m:r>
                    </m:oMath>
                  </m:oMathPara>
                </a14:m>
                <a:endParaRPr lang="he-IL" dirty="0"/>
              </a:p>
              <a:p>
                <a:pPr marL="457200" lvl="1" indent="0">
                  <a:buNone/>
                </a:pPr>
                <a:endParaRPr lang="en-US" dirty="0"/>
              </a:p>
              <a:p>
                <a:pPr marL="457200" lvl="1" indent="0">
                  <a:buNone/>
                </a:pPr>
                <a:r>
                  <a:rPr lang="en-US" dirty="0"/>
                  <a:t>*Since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&lt;1</m:t>
                    </m:r>
                  </m:oMath>
                </a14:m>
                <a:r>
                  <a:rPr lang="en-US" dirty="0"/>
                  <a:t> the scalability is larger than one, however it has a maximal limit.</a:t>
                </a:r>
              </a:p>
              <a:p>
                <a:r>
                  <a:rPr lang="en-US" dirty="0"/>
                  <a:t>This answers the question “How faster can my application run when I put the same problem on </a:t>
                </a:r>
                <a14:m>
                  <m:oMath xmlns:m="http://schemas.openxmlformats.org/officeDocument/2006/math">
                    <m:r>
                      <a:rPr lang="en-US" i="1" dirty="0" smtClean="0">
                        <a:latin typeface="Cambria Math" panose="02040503050406030204" pitchFamily="18" charset="0"/>
                      </a:rPr>
                      <m:t>𝑁</m:t>
                    </m:r>
                  </m:oMath>
                </a14:m>
                <a:r>
                  <a:rPr lang="en-US" i="1" dirty="0"/>
                  <a:t> </a:t>
                </a:r>
                <a:r>
                  <a:rPr lang="en-US" dirty="0"/>
                  <a:t>CPUs?” </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EF8648DA-F5C8-A64E-8A49-D8CD885F4A4C}"/>
                  </a:ext>
                </a:extLst>
              </p:cNvPr>
              <p:cNvSpPr>
                <a:spLocks noGrp="1" noRot="1" noChangeAspect="1" noMove="1" noResize="1" noEditPoints="1" noAdjustHandles="1" noChangeArrowheads="1" noChangeShapeType="1" noTextEdit="1"/>
              </p:cNvSpPr>
              <p:nvPr>
                <p:ph idx="1"/>
              </p:nvPr>
            </p:nvSpPr>
            <p:spPr>
              <a:xfrm>
                <a:off x="838200" y="1360488"/>
                <a:ext cx="11252200" cy="5497512"/>
              </a:xfrm>
              <a:blipFill>
                <a:blip r:embed="rId2"/>
                <a:stretch>
                  <a:fillRect l="-902" t="-184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317A8308-EA7E-0842-8D7A-1D35035EC2B3}"/>
              </a:ext>
            </a:extLst>
          </p:cNvPr>
          <p:cNvSpPr/>
          <p:nvPr/>
        </p:nvSpPr>
        <p:spPr>
          <a:xfrm>
            <a:off x="8791304" y="1948934"/>
            <a:ext cx="2178481" cy="523220"/>
          </a:xfrm>
          <a:prstGeom prst="rect">
            <a:avLst/>
          </a:prstGeom>
          <a:ln>
            <a:solidFill>
              <a:srgbClr val="FF0000"/>
            </a:solidFill>
          </a:ln>
        </p:spPr>
        <p:txBody>
          <a:bodyPr wrap="none">
            <a:spAutoFit/>
          </a:bodyPr>
          <a:lstStyle/>
          <a:p>
            <a:r>
              <a:rPr lang="en-US" sz="2800" dirty="0">
                <a:solidFill>
                  <a:srgbClr val="FF0000"/>
                </a:solidFill>
              </a:rPr>
              <a:t>Amdahl’s Law</a:t>
            </a:r>
          </a:p>
        </p:txBody>
      </p:sp>
      <p:sp>
        <p:nvSpPr>
          <p:cNvPr id="6" name="TextBox 5">
            <a:extLst>
              <a:ext uri="{FF2B5EF4-FFF2-40B4-BE49-F238E27FC236}">
                <a16:creationId xmlns:a16="http://schemas.microsoft.com/office/drawing/2014/main" id="{83246721-92E5-F74F-B00D-BF8F5F141D49}"/>
              </a:ext>
            </a:extLst>
          </p:cNvPr>
          <p:cNvSpPr txBox="1"/>
          <p:nvPr/>
        </p:nvSpPr>
        <p:spPr>
          <a:xfrm>
            <a:off x="1989570" y="6057900"/>
            <a:ext cx="8980215" cy="584775"/>
          </a:xfrm>
          <a:prstGeom prst="rect">
            <a:avLst/>
          </a:prstGeom>
          <a:noFill/>
        </p:spPr>
        <p:txBody>
          <a:bodyPr wrap="none" rtlCol="0">
            <a:spAutoFit/>
          </a:bodyPr>
          <a:lstStyle/>
          <a:p>
            <a:r>
              <a:rPr lang="en-US" sz="3200" dirty="0">
                <a:solidFill>
                  <a:srgbClr val="FF0000"/>
                </a:solidFill>
              </a:rPr>
              <a:t>The answer depends on our definition of the “work”</a:t>
            </a:r>
          </a:p>
        </p:txBody>
      </p:sp>
    </p:spTree>
    <p:extLst>
      <p:ext uri="{BB962C8B-B14F-4D97-AF65-F5344CB8AC3E}">
        <p14:creationId xmlns:p14="http://schemas.microsoft.com/office/powerpoint/2010/main" val="2288733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D6F7-9C40-9242-B5AD-FA99D6D0A3DF}"/>
              </a:ext>
            </a:extLst>
          </p:cNvPr>
          <p:cNvSpPr>
            <a:spLocks noGrp="1"/>
          </p:cNvSpPr>
          <p:nvPr>
            <p:ph type="title"/>
          </p:nvPr>
        </p:nvSpPr>
        <p:spPr>
          <a:xfrm>
            <a:off x="838200" y="0"/>
            <a:ext cx="10515600" cy="1325563"/>
          </a:xfrm>
        </p:spPr>
        <p:txBody>
          <a:bodyPr/>
          <a:lstStyle/>
          <a:p>
            <a:r>
              <a:rPr lang="en-US" dirty="0"/>
              <a:t>Scalability of the parallel part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80824E-1A05-5341-82AF-1AE616A0B745}"/>
                  </a:ext>
                </a:extLst>
              </p:cNvPr>
              <p:cNvSpPr>
                <a:spLocks noGrp="1"/>
              </p:cNvSpPr>
              <p:nvPr>
                <p:ph idx="1"/>
              </p:nvPr>
            </p:nvSpPr>
            <p:spPr>
              <a:xfrm>
                <a:off x="838200" y="1373188"/>
                <a:ext cx="11036300" cy="5484812"/>
              </a:xfrm>
            </p:spPr>
            <p:txBody>
              <a:bodyPr/>
              <a:lstStyle/>
              <a:p>
                <a:r>
                  <a:rPr lang="en-US" dirty="0"/>
                  <a:t>If we define by “work” only the parallelizable part of the calculation</a:t>
                </a:r>
              </a:p>
              <a:p>
                <a:r>
                  <a:rPr lang="en-US" dirty="0"/>
                  <a:t>The serial performance then becomes</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s</m:t>
                          </m:r>
                          <m:r>
                            <a:rPr lang="en-US" b="0" i="1" smtClean="0">
                              <a:latin typeface="Cambria Math" panose="02040503050406030204" pitchFamily="18" charset="0"/>
                            </a:rPr>
                            <m:t>𝑝</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work</m:t>
                          </m:r>
                        </m:num>
                        <m:den>
                          <m:r>
                            <m:rPr>
                              <m:sty m:val="p"/>
                            </m:rPr>
                            <a:rPr lang="en-US" b="0" i="0" smtClean="0">
                              <a:latin typeface="Cambria Math" panose="02040503050406030204" pitchFamily="18" charset="0"/>
                            </a:rPr>
                            <m:t>overall</m:t>
                          </m:r>
                          <m:r>
                            <a:rPr lang="en-US" b="0" i="0" smtClean="0">
                              <a:latin typeface="Cambria Math" panose="02040503050406030204" pitchFamily="18" charset="0"/>
                            </a:rPr>
                            <m:t> </m:t>
                          </m:r>
                          <m:r>
                            <m:rPr>
                              <m:sty m:val="p"/>
                            </m:rPr>
                            <a:rPr lang="en-US" b="0" i="0" smtClean="0">
                              <a:latin typeface="Cambria Math" panose="02040503050406030204" pitchFamily="18" charset="0"/>
                            </a:rPr>
                            <m:t>time</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num>
                        <m:den>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a:latin typeface="Cambria Math" panose="02040503050406030204" pitchFamily="18" charset="0"/>
                                </a:rPr>
                                <m:t>f</m:t>
                              </m:r>
                            </m:sub>
                            <m:sup>
                              <m:r>
                                <m:rPr>
                                  <m:sty m:val="p"/>
                                </m:rPr>
                                <a:rPr lang="en-US">
                                  <a:latin typeface="Cambria Math" panose="02040503050406030204" pitchFamily="18" charset="0"/>
                                </a:rPr>
                                <m:t>s</m:t>
                              </m:r>
                            </m:sup>
                          </m:sSubSup>
                        </m:den>
                      </m:f>
                      <m:r>
                        <a:rPr lang="en-US" i="1">
                          <a:latin typeface="Cambria Math" panose="02040503050406030204" pitchFamily="18" charset="0"/>
                        </a:rPr>
                        <m:t>=</m:t>
                      </m:r>
                      <m:r>
                        <a:rPr lang="en-US" b="0" i="1" smtClean="0">
                          <a:latin typeface="Cambria Math" panose="02040503050406030204" pitchFamily="18" charset="0"/>
                        </a:rPr>
                        <m:t>𝑝</m:t>
                      </m:r>
                    </m:oMath>
                  </m:oMathPara>
                </a14:m>
                <a:endParaRPr lang="en-US" dirty="0"/>
              </a:p>
              <a:p>
                <a:r>
                  <a:rPr lang="en-US" dirty="0"/>
                  <a:t>The parallel performance is </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p</m:t>
                          </m:r>
                          <m:r>
                            <a:rPr lang="en-US" b="0" i="1" smtClean="0">
                              <a:latin typeface="Cambria Math" panose="02040503050406030204" pitchFamily="18" charset="0"/>
                            </a:rPr>
                            <m:t>𝑝</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𝑝</m:t>
                          </m:r>
                        </m:num>
                        <m:den>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a:latin typeface="Cambria Math" panose="02040503050406030204" pitchFamily="18" charset="0"/>
                                </a:rPr>
                                <m:t>f</m:t>
                              </m:r>
                            </m:sub>
                            <m:sup>
                              <m:r>
                                <m:rPr>
                                  <m:sty m:val="p"/>
                                </m:rPr>
                                <a:rPr lang="en-US">
                                  <a:latin typeface="Cambria Math" panose="02040503050406030204" pitchFamily="18" charset="0"/>
                                </a:rPr>
                                <m:t>p</m:t>
                              </m:r>
                            </m:sup>
                          </m:sSubSup>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num>
                        <m:den>
                          <m:r>
                            <a:rPr lang="en-US" i="1">
                              <a:latin typeface="Cambria Math" panose="02040503050406030204" pitchFamily="18" charset="0"/>
                            </a:rPr>
                            <m:t>𝑠</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num>
                            <m:den>
                              <m:r>
                                <a:rPr lang="en-US" i="1">
                                  <a:latin typeface="Cambria Math" panose="02040503050406030204" pitchFamily="18" charset="0"/>
                                </a:rPr>
                                <m:t>𝑁</m:t>
                              </m:r>
                            </m:den>
                          </m:f>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𝑠</m:t>
                          </m:r>
                        </m:num>
                        <m:den>
                          <m:r>
                            <a:rPr lang="en-US" i="1">
                              <a:latin typeface="Cambria Math" panose="02040503050406030204" pitchFamily="18" charset="0"/>
                            </a:rPr>
                            <m:t>𝑠</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𝑠</m:t>
                              </m:r>
                            </m:num>
                            <m:den>
                              <m:r>
                                <a:rPr lang="en-US" i="1">
                                  <a:latin typeface="Cambria Math" panose="02040503050406030204" pitchFamily="18" charset="0"/>
                                </a:rPr>
                                <m:t>𝑁</m:t>
                              </m:r>
                            </m:den>
                          </m:f>
                        </m:den>
                      </m:f>
                    </m:oMath>
                  </m:oMathPara>
                </a14:m>
                <a:endParaRPr lang="en-US" dirty="0"/>
              </a:p>
              <a:p>
                <a:r>
                  <a:rPr lang="en-US" dirty="0"/>
                  <a:t>The speedup </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𝑆</m:t>
                          </m:r>
                        </m:e>
                        <m:sub>
                          <m:r>
                            <m:rPr>
                              <m:sty m:val="p"/>
                            </m:rPr>
                            <a:rPr lang="en-US">
                              <a:latin typeface="Cambria Math" panose="02040503050406030204" pitchFamily="18" charset="0"/>
                            </a:rPr>
                            <m:t>f</m:t>
                          </m:r>
                        </m:sub>
                        <m:sup>
                          <m:r>
                            <a:rPr lang="en-US" b="0" i="1" smtClean="0">
                              <a:latin typeface="Cambria Math" panose="02040503050406030204" pitchFamily="18" charset="0"/>
                            </a:rPr>
                            <m:t>𝑝</m:t>
                          </m:r>
                        </m:sup>
                      </m:sSubSup>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p</m:t>
                              </m:r>
                              <m:r>
                                <a:rPr lang="en-US" b="0" i="1" smtClean="0">
                                  <a:latin typeface="Cambria Math" panose="02040503050406030204" pitchFamily="18" charset="0"/>
                                </a:rPr>
                                <m:t>𝑝</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f</m:t>
                              </m:r>
                            </m:sub>
                            <m:sup>
                              <m:r>
                                <m:rPr>
                                  <m:sty m:val="p"/>
                                </m:rPr>
                                <a:rPr lang="en-US">
                                  <a:latin typeface="Cambria Math" panose="02040503050406030204" pitchFamily="18" charset="0"/>
                                </a:rPr>
                                <m:t>s</m:t>
                              </m:r>
                              <m:r>
                                <a:rPr lang="en-US" b="0" i="1" smtClean="0">
                                  <a:latin typeface="Cambria Math" panose="02040503050406030204" pitchFamily="18" charset="0"/>
                                </a:rPr>
                                <m:t>𝑝</m:t>
                              </m:r>
                            </m:sup>
                          </m:sSub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𝑠</m:t>
                          </m:r>
                        </m:num>
                        <m:den>
                          <m:r>
                            <a:rPr lang="en-US" i="1">
                              <a:latin typeface="Cambria Math" panose="02040503050406030204" pitchFamily="18" charset="0"/>
                            </a:rPr>
                            <m:t>𝑠</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𝑠</m:t>
                              </m:r>
                            </m:num>
                            <m:den>
                              <m:r>
                                <a:rPr lang="en-US" i="1">
                                  <a:latin typeface="Cambria Math" panose="02040503050406030204" pitchFamily="18" charset="0"/>
                                </a:rPr>
                                <m:t>𝑁</m:t>
                              </m:r>
                            </m:den>
                          </m:f>
                        </m:den>
                      </m:f>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𝑠</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𝑠</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𝑠</m:t>
                              </m:r>
                            </m:num>
                            <m:den>
                              <m:r>
                                <a:rPr lang="en-US" i="1">
                                  <a:latin typeface="Cambria Math" panose="02040503050406030204" pitchFamily="18" charset="0"/>
                                </a:rPr>
                                <m:t>𝑁</m:t>
                              </m:r>
                            </m:den>
                          </m:f>
                        </m:den>
                      </m:f>
                    </m:oMath>
                  </m:oMathPara>
                </a14:m>
                <a:endParaRPr lang="en-US" dirty="0"/>
              </a:p>
              <a:p>
                <a:r>
                  <a:rPr lang="en-US" dirty="0">
                    <a:solidFill>
                      <a:srgbClr val="FF0000"/>
                    </a:solidFill>
                  </a:rPr>
                  <a:t>Again we got the Amdahl’s Law.</a:t>
                </a:r>
              </a:p>
            </p:txBody>
          </p:sp>
        </mc:Choice>
        <mc:Fallback xmlns="">
          <p:sp>
            <p:nvSpPr>
              <p:cNvPr id="3" name="Content Placeholder 2">
                <a:extLst>
                  <a:ext uri="{FF2B5EF4-FFF2-40B4-BE49-F238E27FC236}">
                    <a16:creationId xmlns:a16="http://schemas.microsoft.com/office/drawing/2014/main" id="{9580824E-1A05-5341-82AF-1AE616A0B745}"/>
                  </a:ext>
                </a:extLst>
              </p:cNvPr>
              <p:cNvSpPr>
                <a:spLocks noGrp="1" noRot="1" noChangeAspect="1" noMove="1" noResize="1" noEditPoints="1" noAdjustHandles="1" noChangeArrowheads="1" noChangeShapeType="1" noTextEdit="1"/>
              </p:cNvSpPr>
              <p:nvPr>
                <p:ph idx="1"/>
              </p:nvPr>
            </p:nvSpPr>
            <p:spPr>
              <a:xfrm>
                <a:off x="838200" y="1373188"/>
                <a:ext cx="11036300" cy="5484812"/>
              </a:xfrm>
              <a:blipFill>
                <a:blip r:embed="rId3"/>
                <a:stretch>
                  <a:fillRect l="-920" t="-2083" b="-2778"/>
                </a:stretch>
              </a:blipFill>
            </p:spPr>
            <p:txBody>
              <a:bodyPr/>
              <a:lstStyle/>
              <a:p>
                <a:r>
                  <a:rPr lang="en-US">
                    <a:noFill/>
                  </a:rPr>
                  <a:t> </a:t>
                </a:r>
              </a:p>
            </p:txBody>
          </p:sp>
        </mc:Fallback>
      </mc:AlternateContent>
    </p:spTree>
    <p:extLst>
      <p:ext uri="{BB962C8B-B14F-4D97-AF65-F5344CB8AC3E}">
        <p14:creationId xmlns:p14="http://schemas.microsoft.com/office/powerpoint/2010/main" val="165370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4DD95-FA41-0F41-8F1D-CE3CCEEFC732}"/>
              </a:ext>
            </a:extLst>
          </p:cNvPr>
          <p:cNvSpPr>
            <a:spLocks noGrp="1"/>
          </p:cNvSpPr>
          <p:nvPr>
            <p:ph type="title"/>
          </p:nvPr>
        </p:nvSpPr>
        <p:spPr>
          <a:xfrm>
            <a:off x="838200" y="0"/>
            <a:ext cx="10515600" cy="1325563"/>
          </a:xfrm>
        </p:spPr>
        <p:txBody>
          <a:bodyPr/>
          <a:lstStyle/>
          <a:p>
            <a:r>
              <a:rPr lang="en-US" dirty="0"/>
              <a:t>Amdahl’s law</a:t>
            </a:r>
          </a:p>
        </p:txBody>
      </p:sp>
      <p:pic>
        <p:nvPicPr>
          <p:cNvPr id="5" name="Content Placeholder 4">
            <a:extLst>
              <a:ext uri="{FF2B5EF4-FFF2-40B4-BE49-F238E27FC236}">
                <a16:creationId xmlns:a16="http://schemas.microsoft.com/office/drawing/2014/main" id="{D1A8977F-BA45-DE4F-B873-ADF1E9FC43FA}"/>
              </a:ext>
            </a:extLst>
          </p:cNvPr>
          <p:cNvPicPr>
            <a:picLocks noGrp="1" noChangeAspect="1"/>
          </p:cNvPicPr>
          <p:nvPr>
            <p:ph idx="1"/>
          </p:nvPr>
        </p:nvPicPr>
        <p:blipFill rotWithShape="1">
          <a:blip r:embed="rId2"/>
          <a:srcRect t="6635"/>
          <a:stretch/>
        </p:blipFill>
        <p:spPr>
          <a:xfrm>
            <a:off x="350808" y="1325563"/>
            <a:ext cx="7533306" cy="5527039"/>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ED46D0-F54D-B045-A1B0-696E758BC940}"/>
                  </a:ext>
                </a:extLst>
              </p:cNvPr>
              <p:cNvSpPr txBox="1"/>
              <p:nvPr/>
            </p:nvSpPr>
            <p:spPr>
              <a:xfrm>
                <a:off x="7884114" y="1445242"/>
                <a:ext cx="3292824" cy="1285416"/>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𝑆</m:t>
                          </m:r>
                        </m:e>
                        <m:sub>
                          <m:r>
                            <m:rPr>
                              <m:sty m:val="p"/>
                            </m:rPr>
                            <a:rPr lang="en-US" sz="2800">
                              <a:latin typeface="Cambria Math" panose="02040503050406030204" pitchFamily="18" charset="0"/>
                            </a:rPr>
                            <m:t>f</m:t>
                          </m:r>
                        </m:sub>
                      </m:sSub>
                      <m:r>
                        <a:rPr lang="en-US" sz="2800" i="1">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i="1">
                                  <a:latin typeface="Cambria Math" panose="02040503050406030204" pitchFamily="18" charset="0"/>
                                </a:rPr>
                              </m:ctrlPr>
                            </m:sSubSupPr>
                            <m:e>
                              <m:r>
                                <a:rPr lang="en-US" sz="2800" b="0" i="1" smtClean="0">
                                  <a:latin typeface="Cambria Math" panose="02040503050406030204" pitchFamily="18" charset="0"/>
                                </a:rPr>
                                <m:t>𝑇</m:t>
                              </m:r>
                            </m:e>
                            <m:sub>
                              <m:r>
                                <m:rPr>
                                  <m:sty m:val="p"/>
                                </m:rPr>
                                <a:rPr lang="en-US" sz="2800">
                                  <a:latin typeface="Cambria Math" panose="02040503050406030204" pitchFamily="18" charset="0"/>
                                </a:rPr>
                                <m:t>f</m:t>
                              </m:r>
                            </m:sub>
                            <m:sup>
                              <m:r>
                                <m:rPr>
                                  <m:sty m:val="p"/>
                                </m:rPr>
                                <a:rPr lang="en-US" sz="2800" b="0" i="0" smtClean="0">
                                  <a:latin typeface="Cambria Math" panose="02040503050406030204" pitchFamily="18" charset="0"/>
                                </a:rPr>
                                <m:t>s</m:t>
                              </m:r>
                            </m:sup>
                          </m:sSubSup>
                        </m:num>
                        <m:den>
                          <m:sSubSup>
                            <m:sSubSupPr>
                              <m:ctrlPr>
                                <a:rPr lang="en-US" sz="2800" i="1">
                                  <a:latin typeface="Cambria Math" panose="02040503050406030204" pitchFamily="18" charset="0"/>
                                </a:rPr>
                              </m:ctrlPr>
                            </m:sSubSupPr>
                            <m:e>
                              <m:r>
                                <a:rPr lang="en-US" sz="2800" b="0" i="1" smtClean="0">
                                  <a:latin typeface="Cambria Math" panose="02040503050406030204" pitchFamily="18" charset="0"/>
                                </a:rPr>
                                <m:t>𝑇</m:t>
                              </m:r>
                            </m:e>
                            <m:sub>
                              <m:r>
                                <m:rPr>
                                  <m:sty m:val="p"/>
                                </m:rPr>
                                <a:rPr lang="en-US" sz="2800">
                                  <a:latin typeface="Cambria Math" panose="02040503050406030204" pitchFamily="18" charset="0"/>
                                </a:rPr>
                                <m:t>f</m:t>
                              </m:r>
                            </m:sub>
                            <m:sup>
                              <m:r>
                                <m:rPr>
                                  <m:sty m:val="p"/>
                                </m:rPr>
                                <a:rPr lang="en-US" sz="2800">
                                  <a:latin typeface="Cambria Math" panose="02040503050406030204" pitchFamily="18" charset="0"/>
                                </a:rPr>
                                <m:t>p</m:t>
                              </m:r>
                            </m:sup>
                          </m:sSubSup>
                        </m:den>
                      </m:f>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𝑠</m:t>
                          </m:r>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r>
                                <a:rPr lang="en-US" sz="2800" i="1">
                                  <a:latin typeface="Cambria Math" panose="02040503050406030204" pitchFamily="18" charset="0"/>
                                </a:rPr>
                                <m:t>𝑠</m:t>
                              </m:r>
                            </m:num>
                            <m:den>
                              <m:r>
                                <a:rPr lang="en-US" sz="2800" i="1">
                                  <a:latin typeface="Cambria Math" panose="02040503050406030204" pitchFamily="18" charset="0"/>
                                </a:rPr>
                                <m:t>𝑁</m:t>
                              </m:r>
                            </m:den>
                          </m:f>
                        </m:den>
                      </m:f>
                    </m:oMath>
                  </m:oMathPara>
                </a14:m>
                <a:endParaRPr lang="en-US" sz="2800" dirty="0"/>
              </a:p>
            </p:txBody>
          </p:sp>
        </mc:Choice>
        <mc:Fallback xmlns="">
          <p:sp>
            <p:nvSpPr>
              <p:cNvPr id="6" name="TextBox 5">
                <a:extLst>
                  <a:ext uri="{FF2B5EF4-FFF2-40B4-BE49-F238E27FC236}">
                    <a16:creationId xmlns:a16="http://schemas.microsoft.com/office/drawing/2014/main" id="{48ED46D0-F54D-B045-A1B0-696E758BC940}"/>
                  </a:ext>
                </a:extLst>
              </p:cNvPr>
              <p:cNvSpPr txBox="1">
                <a:spLocks noRot="1" noChangeAspect="1" noMove="1" noResize="1" noEditPoints="1" noAdjustHandles="1" noChangeArrowheads="1" noChangeShapeType="1" noTextEdit="1"/>
              </p:cNvSpPr>
              <p:nvPr/>
            </p:nvSpPr>
            <p:spPr>
              <a:xfrm>
                <a:off x="7884114" y="1445242"/>
                <a:ext cx="3292824" cy="1285416"/>
              </a:xfrm>
              <a:prstGeom prst="rect">
                <a:avLst/>
              </a:prstGeom>
              <a:blipFill>
                <a:blip r:embed="rId3"/>
                <a:stretch>
                  <a:fillRect b="-2913"/>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A8663F8-8D90-8A4A-A1DA-769A6F6B8553}"/>
                  </a:ext>
                </a:extLst>
              </p:cNvPr>
              <p:cNvSpPr txBox="1"/>
              <p:nvPr/>
            </p:nvSpPr>
            <p:spPr>
              <a:xfrm>
                <a:off x="7247248" y="3499860"/>
                <a:ext cx="4944752" cy="1200329"/>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sz="2400" dirty="0"/>
                  <a:t>The speedup saturates on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m:rPr>
                            <m:sty m:val="p"/>
                          </m:rPr>
                          <a:rPr lang="en-US" sz="2400" b="0" i="0" smtClean="0">
                            <a:latin typeface="Cambria Math" panose="02040503050406030204" pitchFamily="18" charset="0"/>
                          </a:rPr>
                          <m:t>f</m:t>
                        </m:r>
                      </m:sub>
                    </m:sSub>
                    <m:r>
                      <a:rPr lang="en-US" sz="2400" b="0" i="1" smtClean="0">
                        <a:latin typeface="Cambria Math" panose="02040503050406030204" pitchFamily="18" charset="0"/>
                      </a:rPr>
                      <m:t>=1/</m:t>
                    </m:r>
                    <m:r>
                      <a:rPr lang="en-US" sz="2400" b="0" i="1" smtClean="0">
                        <a:latin typeface="Cambria Math" panose="02040503050406030204" pitchFamily="18" charset="0"/>
                      </a:rPr>
                      <m:t>𝑠</m:t>
                    </m:r>
                  </m:oMath>
                </a14:m>
                <a:endParaRPr lang="en-US" sz="2400" dirty="0"/>
              </a:p>
              <a:p>
                <a:pPr marL="285750" indent="-285750">
                  <a:buFont typeface="Arial" panose="020B0604020202020204" pitchFamily="34" charset="0"/>
                  <a:buChar char="•"/>
                </a:pPr>
                <a:r>
                  <a:rPr lang="en-US" sz="2400" dirty="0"/>
                  <a:t>The slope in the linear phase is smaller for larger </a:t>
                </a:r>
                <a14:m>
                  <m:oMath xmlns:m="http://schemas.openxmlformats.org/officeDocument/2006/math">
                    <m:r>
                      <a:rPr lang="en-US" sz="2400" b="0" i="1" smtClean="0">
                        <a:latin typeface="Cambria Math" panose="02040503050406030204" pitchFamily="18" charset="0"/>
                      </a:rPr>
                      <m:t>𝑠</m:t>
                    </m:r>
                  </m:oMath>
                </a14:m>
                <a:r>
                  <a:rPr lang="en-US" sz="2400" dirty="0"/>
                  <a:t> (smaller </a:t>
                </a:r>
                <a14:m>
                  <m:oMath xmlns:m="http://schemas.openxmlformats.org/officeDocument/2006/math">
                    <m:r>
                      <a:rPr lang="en-US" sz="2400" b="0" i="1" smtClean="0">
                        <a:latin typeface="Cambria Math" panose="02040503050406030204" pitchFamily="18" charset="0"/>
                      </a:rPr>
                      <m:t>𝑝</m:t>
                    </m:r>
                  </m:oMath>
                </a14:m>
                <a:r>
                  <a:rPr lang="en-US" sz="2400" dirty="0"/>
                  <a:t>)</a:t>
                </a:r>
              </a:p>
            </p:txBody>
          </p:sp>
        </mc:Choice>
        <mc:Fallback xmlns="">
          <p:sp>
            <p:nvSpPr>
              <p:cNvPr id="7" name="TextBox 6">
                <a:extLst>
                  <a:ext uri="{FF2B5EF4-FFF2-40B4-BE49-F238E27FC236}">
                    <a16:creationId xmlns:a16="http://schemas.microsoft.com/office/drawing/2014/main" id="{DA8663F8-8D90-8A4A-A1DA-769A6F6B8553}"/>
                  </a:ext>
                </a:extLst>
              </p:cNvPr>
              <p:cNvSpPr txBox="1">
                <a:spLocks noRot="1" noChangeAspect="1" noMove="1" noResize="1" noEditPoints="1" noAdjustHandles="1" noChangeArrowheads="1" noChangeShapeType="1" noTextEdit="1"/>
              </p:cNvSpPr>
              <p:nvPr/>
            </p:nvSpPr>
            <p:spPr>
              <a:xfrm>
                <a:off x="7247248" y="3499860"/>
                <a:ext cx="4944752" cy="1200329"/>
              </a:xfrm>
              <a:prstGeom prst="rect">
                <a:avLst/>
              </a:prstGeom>
              <a:blipFill>
                <a:blip r:embed="rId4"/>
                <a:stretch>
                  <a:fillRect l="-1535" t="-4211" b="-8421"/>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4124076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751CA-34E9-7944-815D-4DC9B6415F8A}"/>
              </a:ext>
            </a:extLst>
          </p:cNvPr>
          <p:cNvSpPr>
            <a:spLocks noGrp="1"/>
          </p:cNvSpPr>
          <p:nvPr>
            <p:ph type="title"/>
          </p:nvPr>
        </p:nvSpPr>
        <p:spPr>
          <a:xfrm>
            <a:off x="838200" y="0"/>
            <a:ext cx="10515600" cy="1325563"/>
          </a:xfrm>
        </p:spPr>
        <p:txBody>
          <a:bodyPr/>
          <a:lstStyle/>
          <a:p>
            <a:r>
              <a:rPr lang="en-US" dirty="0"/>
              <a:t>Scalability of weak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176020-E587-634F-A327-8C8C599B1395}"/>
                  </a:ext>
                </a:extLst>
              </p:cNvPr>
              <p:cNvSpPr>
                <a:spLocks noGrp="1"/>
              </p:cNvSpPr>
              <p:nvPr>
                <p:ph idx="1"/>
              </p:nvPr>
            </p:nvSpPr>
            <p:spPr>
              <a:xfrm>
                <a:off x="838200" y="1325563"/>
                <a:ext cx="10515600" cy="4618672"/>
              </a:xfrm>
            </p:spPr>
            <p:txBody>
              <a:bodyPr>
                <a:normAutofit/>
              </a:bodyPr>
              <a:lstStyle/>
              <a:p>
                <a:r>
                  <a:rPr lang="en-US" dirty="0"/>
                  <a:t>What happens when the workload grows with CPU count (weak scaling)?</a:t>
                </a:r>
              </a:p>
              <a:p>
                <a:r>
                  <a:rPr lang="en-US" dirty="0"/>
                  <a:t>Serial variant performance </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b="0" i="0" smtClean="0">
                              <a:latin typeface="Cambria Math" panose="02040503050406030204" pitchFamily="18" charset="0"/>
                            </a:rPr>
                            <m:t>v</m:t>
                          </m:r>
                        </m:sub>
                        <m:sup>
                          <m:r>
                            <m:rPr>
                              <m:sty m:val="p"/>
                            </m:rPr>
                            <a:rPr lang="en-US">
                              <a:latin typeface="Cambria Math" panose="02040503050406030204" pitchFamily="18" charset="0"/>
                            </a:rPr>
                            <m:t>s</m:t>
                          </m:r>
                        </m:sup>
                      </m:sSubSup>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work</m:t>
                          </m:r>
                        </m:num>
                        <m:den>
                          <m:r>
                            <m:rPr>
                              <m:sty m:val="p"/>
                            </m:rPr>
                            <a:rPr lang="en-US">
                              <a:latin typeface="Cambria Math" panose="02040503050406030204" pitchFamily="18" charset="0"/>
                            </a:rPr>
                            <m:t>overall</m:t>
                          </m:r>
                          <m:r>
                            <a:rPr lang="en-US">
                              <a:latin typeface="Cambria Math" panose="02040503050406030204" pitchFamily="18" charset="0"/>
                            </a:rPr>
                            <m:t> </m:t>
                          </m:r>
                          <m:r>
                            <m:rPr>
                              <m:sty m:val="p"/>
                            </m:rPr>
                            <a:rPr lang="en-US">
                              <a:latin typeface="Cambria Math" panose="02040503050406030204" pitchFamily="18" charset="0"/>
                            </a:rPr>
                            <m:t>time</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𝛼</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b="0" i="0" smtClean="0">
                                  <a:latin typeface="Cambria Math" panose="02040503050406030204" pitchFamily="18" charset="0"/>
                                </a:rPr>
                                <m:t>v</m:t>
                              </m:r>
                            </m:sub>
                            <m:sup>
                              <m:r>
                                <m:rPr>
                                  <m:sty m:val="p"/>
                                </m:rPr>
                                <a:rPr lang="en-US">
                                  <a:latin typeface="Cambria Math" panose="02040503050406030204" pitchFamily="18" charset="0"/>
                                </a:rPr>
                                <m:t>s</m:t>
                              </m:r>
                            </m:sup>
                          </m:sSubSup>
                        </m:den>
                      </m:f>
                      <m:r>
                        <a:rPr lang="en-US" i="1">
                          <a:latin typeface="Cambria Math" panose="02040503050406030204" pitchFamily="18" charset="0"/>
                        </a:rPr>
                        <m:t>=1</m:t>
                      </m:r>
                    </m:oMath>
                  </m:oMathPara>
                </a14:m>
                <a:endParaRPr lang="en-US" dirty="0"/>
              </a:p>
              <a:p>
                <a:r>
                  <a:rPr lang="en-US" dirty="0"/>
                  <a:t>The parallel performance again equals to the speedup:</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b="0" i="0" smtClean="0">
                              <a:latin typeface="Cambria Math" panose="02040503050406030204" pitchFamily="18" charset="0"/>
                            </a:rPr>
                            <m:t>v</m:t>
                          </m:r>
                        </m:sub>
                        <m:sup>
                          <m:r>
                            <m:rPr>
                              <m:sty m:val="p"/>
                            </m:rPr>
                            <a:rPr lang="en-US">
                              <a:latin typeface="Cambria Math" panose="02040503050406030204" pitchFamily="18" charset="0"/>
                            </a:rPr>
                            <m:t>p</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𝑝</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𝛼</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𝑇</m:t>
                              </m:r>
                            </m:e>
                            <m:sub>
                              <m:r>
                                <m:rPr>
                                  <m:sty m:val="p"/>
                                </m:rPr>
                                <a:rPr lang="en-US" b="0" i="0" smtClean="0">
                                  <a:latin typeface="Cambria Math" panose="02040503050406030204" pitchFamily="18" charset="0"/>
                                </a:rPr>
                                <m:t>v</m:t>
                              </m:r>
                            </m:sub>
                            <m:sup>
                              <m:r>
                                <m:rPr>
                                  <m:sty m:val="p"/>
                                </m:rPr>
                                <a:rPr lang="en-US">
                                  <a:latin typeface="Cambria Math" panose="02040503050406030204" pitchFamily="18" charset="0"/>
                                </a:rPr>
                                <m:t>p</m:t>
                              </m:r>
                            </m:sup>
                          </m:sSubSup>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𝑠</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𝛼</m:t>
                              </m:r>
                            </m:sup>
                          </m:sSup>
                        </m:num>
                        <m:den>
                          <m:r>
                            <a:rPr lang="en-US" i="1">
                              <a:latin typeface="Cambria Math" panose="02040503050406030204" pitchFamily="18" charset="0"/>
                            </a:rPr>
                            <m:t>𝑠</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𝑠</m:t>
                              </m:r>
                            </m:e>
                          </m:d>
                          <m:sSup>
                            <m:sSupPr>
                              <m:ctrlPr>
                                <a:rPr lang="en-US" i="1">
                                  <a:latin typeface="Cambria Math" panose="02040503050406030204" pitchFamily="18" charset="0"/>
                                </a:rPr>
                              </m:ctrlPr>
                            </m:sSupPr>
                            <m:e>
                              <m:r>
                                <a:rPr lang="en-US" i="1">
                                  <a:latin typeface="Cambria Math" panose="02040503050406030204" pitchFamily="18" charset="0"/>
                                </a:rPr>
                                <m:t>𝑁</m:t>
                              </m:r>
                            </m:e>
                            <m:sup>
                              <m:r>
                                <a:rPr lang="en-US" i="1">
                                  <a:latin typeface="Cambria Math" panose="02040503050406030204" pitchFamily="18" charset="0"/>
                                </a:rPr>
                                <m:t>𝛼</m:t>
                              </m:r>
                              <m:r>
                                <a:rPr lang="en-US" b="0" i="1" smtClean="0">
                                  <a:latin typeface="Cambria Math" panose="02040503050406030204" pitchFamily="18" charset="0"/>
                                </a:rPr>
                                <m:t>−1</m:t>
                              </m:r>
                            </m:sup>
                          </m:sSup>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m:rPr>
                              <m:sty m:val="p"/>
                            </m:rPr>
                            <a:rPr lang="en-US" b="0" i="0" smtClean="0">
                              <a:latin typeface="Cambria Math" panose="02040503050406030204" pitchFamily="18" charset="0"/>
                            </a:rPr>
                            <m:t>v</m:t>
                          </m:r>
                        </m:sub>
                      </m:sSub>
                    </m:oMath>
                  </m:oMathPara>
                </a14:m>
                <a:endParaRPr lang="en-US" dirty="0"/>
              </a:p>
              <a:p>
                <a:r>
                  <a:rPr lang="en-US" dirty="0"/>
                  <a:t>In the case of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m:t>
                    </m:r>
                  </m:oMath>
                </a14:m>
                <a:r>
                  <a:rPr lang="en-US" dirty="0"/>
                  <a:t> we recover the Amdahl’s Law </a:t>
                </a:r>
              </a:p>
            </p:txBody>
          </p:sp>
        </mc:Choice>
        <mc:Fallback xmlns="">
          <p:sp>
            <p:nvSpPr>
              <p:cNvPr id="3" name="Content Placeholder 2">
                <a:extLst>
                  <a:ext uri="{FF2B5EF4-FFF2-40B4-BE49-F238E27FC236}">
                    <a16:creationId xmlns:a16="http://schemas.microsoft.com/office/drawing/2014/main" id="{C4176020-E587-634F-A327-8C8C599B1395}"/>
                  </a:ext>
                </a:extLst>
              </p:cNvPr>
              <p:cNvSpPr>
                <a:spLocks noGrp="1" noRot="1" noChangeAspect="1" noMove="1" noResize="1" noEditPoints="1" noAdjustHandles="1" noChangeArrowheads="1" noChangeShapeType="1" noTextEdit="1"/>
              </p:cNvSpPr>
              <p:nvPr>
                <p:ph idx="1"/>
              </p:nvPr>
            </p:nvSpPr>
            <p:spPr>
              <a:xfrm>
                <a:off x="838200" y="1325563"/>
                <a:ext cx="10515600" cy="4618672"/>
              </a:xfrm>
              <a:blipFill>
                <a:blip r:embed="rId2"/>
                <a:stretch>
                  <a:fillRect l="-965" t="-1918"/>
                </a:stretch>
              </a:blipFill>
            </p:spPr>
            <p:txBody>
              <a:bodyPr/>
              <a:lstStyle/>
              <a:p>
                <a:r>
                  <a:rPr lang="en-US">
                    <a:noFill/>
                  </a:rPr>
                  <a:t> </a:t>
                </a:r>
              </a:p>
            </p:txBody>
          </p:sp>
        </mc:Fallback>
      </mc:AlternateContent>
    </p:spTree>
    <p:extLst>
      <p:ext uri="{BB962C8B-B14F-4D97-AF65-F5344CB8AC3E}">
        <p14:creationId xmlns:p14="http://schemas.microsoft.com/office/powerpoint/2010/main" val="1512916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751CA-34E9-7944-815D-4DC9B6415F8A}"/>
              </a:ext>
            </a:extLst>
          </p:cNvPr>
          <p:cNvSpPr>
            <a:spLocks noGrp="1"/>
          </p:cNvSpPr>
          <p:nvPr>
            <p:ph type="title"/>
          </p:nvPr>
        </p:nvSpPr>
        <p:spPr>
          <a:xfrm>
            <a:off x="838200" y="0"/>
            <a:ext cx="10515600" cy="1325563"/>
          </a:xfrm>
        </p:spPr>
        <p:txBody>
          <a:bodyPr/>
          <a:lstStyle/>
          <a:p>
            <a:r>
              <a:rPr lang="en-US" dirty="0"/>
              <a:t>Scalability of weak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176020-E587-634F-A327-8C8C599B1395}"/>
                  </a:ext>
                </a:extLst>
              </p:cNvPr>
              <p:cNvSpPr>
                <a:spLocks noGrp="1"/>
              </p:cNvSpPr>
              <p:nvPr>
                <p:ph idx="1"/>
              </p:nvPr>
            </p:nvSpPr>
            <p:spPr>
              <a:xfrm>
                <a:off x="838200" y="1290412"/>
                <a:ext cx="10515600" cy="6030912"/>
              </a:xfrm>
            </p:spPr>
            <p:txBody>
              <a:bodyPr>
                <a:normAutofit/>
              </a:bodyPr>
              <a:lstStyle/>
              <a:p>
                <a:r>
                  <a:rPr lang="en-US" dirty="0"/>
                  <a:t>For </a:t>
                </a:r>
                <a14:m>
                  <m:oMath xmlns:m="http://schemas.openxmlformats.org/officeDocument/2006/math">
                    <m:r>
                      <a:rPr lang="en-US" b="0" i="1" smtClean="0">
                        <a:latin typeface="Cambria Math" panose="02040503050406030204" pitchFamily="18" charset="0"/>
                      </a:rPr>
                      <m:t>0&lt;</m:t>
                    </m:r>
                    <m:r>
                      <a:rPr lang="en-US" b="0" i="1" smtClean="0">
                        <a:latin typeface="Cambria Math" panose="02040503050406030204" pitchFamily="18" charset="0"/>
                      </a:rPr>
                      <m:t>𝛼</m:t>
                    </m:r>
                    <m:r>
                      <a:rPr lang="en-US" b="0" i="1" smtClean="0">
                        <a:latin typeface="Cambria Math" panose="02040503050406030204" pitchFamily="18" charset="0"/>
                      </a:rPr>
                      <m:t>&lt;1</m:t>
                    </m:r>
                  </m:oMath>
                </a14:m>
                <a:r>
                  <a:rPr lang="en-US" dirty="0"/>
                  <a:t> we get for large CPU counts</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m:rPr>
                              <m:sty m:val="p"/>
                            </m:rPr>
                            <a:rPr lang="en-US" b="0" i="0" smtClean="0">
                              <a:latin typeface="Cambria Math" panose="02040503050406030204" pitchFamily="18" charset="0"/>
                            </a:rPr>
                            <m:t>v</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v</m:t>
                              </m:r>
                            </m:sub>
                            <m:sup>
                              <m:r>
                                <m:rPr>
                                  <m:sty m:val="p"/>
                                </m:rPr>
                                <a:rPr lang="en-US">
                                  <a:latin typeface="Cambria Math" panose="02040503050406030204" pitchFamily="18" charset="0"/>
                                </a:rPr>
                                <m:t>p</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𝑃</m:t>
                              </m:r>
                            </m:e>
                            <m:sub>
                              <m:r>
                                <m:rPr>
                                  <m:sty m:val="p"/>
                                </m:rPr>
                                <a:rPr lang="en-US">
                                  <a:latin typeface="Cambria Math" panose="02040503050406030204" pitchFamily="18" charset="0"/>
                                </a:rPr>
                                <m:t>v</m:t>
                              </m:r>
                            </m:sub>
                            <m:sup>
                              <m:r>
                                <m:rPr>
                                  <m:sty m:val="p"/>
                                </m:rPr>
                                <a:rPr lang="en-US">
                                  <a:latin typeface="Cambria Math" panose="02040503050406030204" pitchFamily="18" charset="0"/>
                                </a:rPr>
                                <m:t>s</m:t>
                              </m:r>
                            </m:sup>
                          </m:sSubSup>
                        </m:den>
                      </m:f>
                      <m:r>
                        <a:rPr lang="en-US" b="0" i="1" smtClean="0">
                          <a:latin typeface="Cambria Math" panose="02040503050406030204" pitchFamily="18" charset="0"/>
                        </a:rPr>
                        <m:t> </m:t>
                      </m:r>
                      <m:groupChr>
                        <m:groupChrPr>
                          <m:chr m:val="→"/>
                          <m:pos m:val="top"/>
                          <m:ctrlPr>
                            <a:rPr lang="en-US" b="0" i="1" smtClean="0">
                              <a:latin typeface="Cambria Math" panose="02040503050406030204" pitchFamily="18" charset="0"/>
                            </a:rPr>
                          </m:ctrlPr>
                        </m:groupChrPr>
                        <m:e>
                          <m:r>
                            <m:rPr>
                              <m:brk m:alnAt="1"/>
                            </m:rPr>
                            <a:rPr lang="en-US" b="0" i="1" smtClean="0">
                              <a:latin typeface="Cambria Math" panose="02040503050406030204" pitchFamily="18" charset="0"/>
                            </a:rPr>
                            <m:t>𝑁</m:t>
                          </m:r>
                          <m:r>
                            <a:rPr lang="en-US" b="0" i="1" smtClean="0">
                              <a:latin typeface="Cambria Math" panose="02040503050406030204" pitchFamily="18" charset="0"/>
                            </a:rPr>
                            <m:t>≫1</m:t>
                          </m:r>
                        </m:e>
                      </m:groupCh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𝑠</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𝑠</m:t>
                              </m:r>
                            </m:e>
                          </m:d>
                          <m:sSup>
                            <m:sSupPr>
                              <m:ctrlPr>
                                <a:rPr lang="en-US" i="1">
                                  <a:latin typeface="Cambria Math" panose="02040503050406030204" pitchFamily="18" charset="0"/>
                                </a:rPr>
                              </m:ctrlPr>
                            </m:sSupPr>
                            <m:e>
                              <m:r>
                                <a:rPr lang="en-US" i="1">
                                  <a:latin typeface="Cambria Math" panose="02040503050406030204" pitchFamily="18" charset="0"/>
                                </a:rPr>
                                <m:t>𝑁</m:t>
                              </m:r>
                            </m:e>
                            <m:sup>
                              <m:r>
                                <a:rPr lang="en-US" i="1">
                                  <a:latin typeface="Cambria Math" panose="02040503050406030204" pitchFamily="18" charset="0"/>
                                </a:rPr>
                                <m:t>𝛼</m:t>
                              </m:r>
                            </m:sup>
                          </m:sSup>
                        </m:num>
                        <m:den>
                          <m:r>
                            <a:rPr lang="en-US" b="0" i="1" smtClean="0">
                              <a:latin typeface="Cambria Math" panose="02040503050406030204" pitchFamily="18" charset="0"/>
                            </a:rPr>
                            <m:t>𝑠</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𝑠</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𝛼</m:t>
                          </m:r>
                        </m:sup>
                      </m:sSup>
                    </m:oMath>
                  </m:oMathPara>
                </a14:m>
                <a:endParaRPr lang="en-US" dirty="0"/>
              </a:p>
              <a:p>
                <a:pPr marL="0" indent="0">
                  <a:buNone/>
                </a:pPr>
                <a:r>
                  <a:rPr lang="en-US" dirty="0"/>
                  <a:t>   which is linear in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𝑁</m:t>
                        </m:r>
                      </m:e>
                      <m:sup>
                        <m:r>
                          <a:rPr lang="el-GR" i="1" dirty="0">
                            <a:latin typeface="Cambria Math" panose="02040503050406030204" pitchFamily="18" charset="0"/>
                          </a:rPr>
                          <m:t>𝛼</m:t>
                        </m:r>
                      </m:sup>
                    </m:sSup>
                    <m:r>
                      <a:rPr lang="el-GR" i="1" dirty="0">
                        <a:latin typeface="Cambria Math" panose="02040503050406030204" pitchFamily="18" charset="0"/>
                      </a:rPr>
                      <m:t> </m:t>
                    </m:r>
                  </m:oMath>
                </a14:m>
                <a:r>
                  <a:rPr lang="el-GR" dirty="0"/>
                  <a:t>. </a:t>
                </a:r>
                <a:endParaRPr lang="en-US" dirty="0"/>
              </a:p>
              <a:p>
                <a:r>
                  <a:rPr lang="en-US" dirty="0"/>
                  <a:t>Weak scaling allows us to cross the Amdahl barrier of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𝑠</m:t>
                    </m:r>
                  </m:oMath>
                </a14:m>
                <a:r>
                  <a:rPr lang="en-US" dirty="0"/>
                  <a:t> and get unlimited performance, even for small </a:t>
                </a:r>
                <a14:m>
                  <m:oMath xmlns:m="http://schemas.openxmlformats.org/officeDocument/2006/math">
                    <m:r>
                      <a:rPr lang="el-GR" i="1" dirty="0" smtClean="0">
                        <a:latin typeface="Cambria Math" panose="02040503050406030204" pitchFamily="18" charset="0"/>
                      </a:rPr>
                      <m:t>𝛼</m:t>
                    </m:r>
                  </m:oMath>
                </a14:m>
                <a:r>
                  <a:rPr lang="en-US" dirty="0"/>
                  <a:t>.</a:t>
                </a:r>
              </a:p>
              <a:p>
                <a:r>
                  <a:rPr lang="en-US" dirty="0"/>
                  <a:t>In the ideal case </a:t>
                </a:r>
                <a14:m>
                  <m:oMath xmlns:m="http://schemas.openxmlformats.org/officeDocument/2006/math">
                    <m:r>
                      <a:rPr lang="el-GR" i="1" dirty="0" smtClean="0">
                        <a:latin typeface="Cambria Math" panose="02040503050406030204" pitchFamily="18" charset="0"/>
                      </a:rPr>
                      <m:t>𝛼</m:t>
                    </m:r>
                    <m:r>
                      <a:rPr lang="el-GR" i="1" dirty="0" smtClean="0">
                        <a:latin typeface="Cambria Math" panose="02040503050406030204" pitchFamily="18" charset="0"/>
                      </a:rPr>
                      <m:t> = 1</m:t>
                    </m:r>
                  </m:oMath>
                </a14:m>
                <a:r>
                  <a:rPr lang="el-GR" dirty="0"/>
                  <a:t>, </a:t>
                </a:r>
                <a:r>
                  <a:rPr lang="en-US" dirty="0"/>
                  <a:t>the scaling simplifies to </a:t>
                </a:r>
                <a:endParaRPr lang="el-GR"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m:rPr>
                              <m:sty m:val="p"/>
                            </m:rPr>
                            <a:rPr lang="en-US">
                              <a:latin typeface="Cambria Math" panose="02040503050406030204" pitchFamily="18" charset="0"/>
                            </a:rPr>
                            <m:t>v</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𝛼</m:t>
                          </m:r>
                          <m:r>
                            <a:rPr lang="en-US" b="0" i="1" smtClean="0">
                              <a:latin typeface="Cambria Math" panose="02040503050406030204" pitchFamily="18" charset="0"/>
                            </a:rPr>
                            <m:t>=1</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𝑠</m:t>
                              </m:r>
                            </m:e>
                          </m:d>
                          <m:sSup>
                            <m:sSupPr>
                              <m:ctrlPr>
                                <a:rPr lang="en-US" i="1">
                                  <a:latin typeface="Cambria Math" panose="02040503050406030204" pitchFamily="18" charset="0"/>
                                </a:rPr>
                              </m:ctrlPr>
                            </m:sSupPr>
                            <m:e>
                              <m:r>
                                <a:rPr lang="en-US" i="1">
                                  <a:latin typeface="Cambria Math" panose="02040503050406030204" pitchFamily="18" charset="0"/>
                                </a:rPr>
                                <m:t>𝑁</m:t>
                              </m:r>
                            </m:e>
                            <m:sup>
                              <m:r>
                                <a:rPr lang="en-US" i="1">
                                  <a:latin typeface="Cambria Math" panose="02040503050406030204" pitchFamily="18" charset="0"/>
                                </a:rPr>
                                <m:t>𝛼</m:t>
                              </m:r>
                            </m:sup>
                          </m:sSup>
                        </m:num>
                        <m:den>
                          <m:r>
                            <a:rPr lang="en-US" i="1">
                              <a:latin typeface="Cambria Math" panose="02040503050406030204" pitchFamily="18" charset="0"/>
                            </a:rPr>
                            <m:t>𝑠</m:t>
                          </m:r>
                        </m:den>
                      </m:f>
                      <m:r>
                        <a:rPr lang="en-US" i="1">
                          <a:latin typeface="Cambria Math" panose="02040503050406030204" pitchFamily="18" charset="0"/>
                        </a:rPr>
                        <m:t>=1+</m:t>
                      </m:r>
                      <m:f>
                        <m:fPr>
                          <m:ctrlPr>
                            <a:rPr lang="en-US" i="1">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𝑠</m:t>
                          </m:r>
                        </m:num>
                        <m:den>
                          <m:r>
                            <a:rPr lang="en-US" i="1">
                              <a:latin typeface="Cambria Math" panose="02040503050406030204" pitchFamily="18" charset="0"/>
                            </a:rPr>
                            <m:t>𝑠</m:t>
                          </m:r>
                        </m:den>
                      </m:f>
                      <m:r>
                        <a:rPr lang="en-US" b="0" i="1" smtClean="0">
                          <a:latin typeface="Cambria Math" panose="02040503050406030204" pitchFamily="18" charset="0"/>
                        </a:rPr>
                        <m:t>𝑁</m:t>
                      </m:r>
                    </m:oMath>
                  </m:oMathPara>
                </a14:m>
                <a:endParaRPr lang="en-US" dirty="0"/>
              </a:p>
              <a:p>
                <a:pPr marL="0" indent="0">
                  <a:buNone/>
                </a:pPr>
                <a:r>
                  <a:rPr lang="en-US" dirty="0"/>
                  <a:t>   thus the speedup is linear with </a:t>
                </a:r>
                <a14:m>
                  <m:oMath xmlns:m="http://schemas.openxmlformats.org/officeDocument/2006/math">
                    <m:r>
                      <a:rPr lang="en-US" b="0" i="1" smtClean="0">
                        <a:latin typeface="Cambria Math" panose="02040503050406030204" pitchFamily="18" charset="0"/>
                      </a:rPr>
                      <m:t>𝑁</m:t>
                    </m:r>
                  </m:oMath>
                </a14:m>
                <a:r>
                  <a:rPr lang="en-US" dirty="0"/>
                  <a:t> even for small </a:t>
                </a:r>
                <a14:m>
                  <m:oMath xmlns:m="http://schemas.openxmlformats.org/officeDocument/2006/math">
                    <m:r>
                      <a:rPr lang="en-US" b="0" i="1" smtClean="0">
                        <a:latin typeface="Cambria Math" panose="02040503050406030204" pitchFamily="18" charset="0"/>
                      </a:rPr>
                      <m:t>𝑁</m:t>
                    </m:r>
                  </m:oMath>
                </a14:m>
                <a:r>
                  <a:rPr lang="en-US" dirty="0"/>
                  <a:t>.</a:t>
                </a:r>
              </a:p>
              <a:p>
                <a:r>
                  <a:rPr lang="en-US" dirty="0"/>
                  <a:t>This is known as </a:t>
                </a:r>
                <a:r>
                  <a:rPr lang="en-US" i="1" dirty="0">
                    <a:solidFill>
                      <a:srgbClr val="FF0000"/>
                    </a:solidFill>
                  </a:rPr>
                  <a:t>Gustafson’s Law </a:t>
                </a:r>
                <a:endParaRPr lang="en-US" dirty="0">
                  <a:solidFill>
                    <a:srgbClr val="FF0000"/>
                  </a:solidFill>
                </a:endParaRPr>
              </a:p>
              <a:p>
                <a:r>
                  <a:rPr lang="en-US" dirty="0">
                    <a:solidFill>
                      <a:srgbClr val="FF0000"/>
                    </a:solidFill>
                  </a:rPr>
                  <a:t>Note that in both cases the slope of the speedup is small for large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solidFill>
                      <a:srgbClr val="FF0000"/>
                    </a:solidFill>
                  </a:rPr>
                  <a:t>.</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4176020-E587-634F-A327-8C8C599B1395}"/>
                  </a:ext>
                </a:extLst>
              </p:cNvPr>
              <p:cNvSpPr>
                <a:spLocks noGrp="1" noRot="1" noChangeAspect="1" noMove="1" noResize="1" noEditPoints="1" noAdjustHandles="1" noChangeArrowheads="1" noChangeShapeType="1" noTextEdit="1"/>
              </p:cNvSpPr>
              <p:nvPr>
                <p:ph idx="1"/>
              </p:nvPr>
            </p:nvSpPr>
            <p:spPr>
              <a:xfrm>
                <a:off x="838200" y="1290412"/>
                <a:ext cx="10515600" cy="6030912"/>
              </a:xfrm>
              <a:blipFill>
                <a:blip r:embed="rId2"/>
                <a:stretch>
                  <a:fillRect l="-965" t="-1684"/>
                </a:stretch>
              </a:blipFill>
            </p:spPr>
            <p:txBody>
              <a:bodyPr/>
              <a:lstStyle/>
              <a:p>
                <a:r>
                  <a:rPr lang="en-US">
                    <a:noFill/>
                  </a:rPr>
                  <a:t> </a:t>
                </a:r>
              </a:p>
            </p:txBody>
          </p:sp>
        </mc:Fallback>
      </mc:AlternateContent>
    </p:spTree>
    <p:extLst>
      <p:ext uri="{BB962C8B-B14F-4D97-AF65-F5344CB8AC3E}">
        <p14:creationId xmlns:p14="http://schemas.microsoft.com/office/powerpoint/2010/main" val="1148096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EEB5F-BCEF-E54F-861F-07E9BE9A8EF3}"/>
              </a:ext>
            </a:extLst>
          </p:cNvPr>
          <p:cNvSpPr>
            <a:spLocks noGrp="1"/>
          </p:cNvSpPr>
          <p:nvPr>
            <p:ph type="title"/>
          </p:nvPr>
        </p:nvSpPr>
        <p:spPr>
          <a:xfrm>
            <a:off x="838200" y="0"/>
            <a:ext cx="10515600" cy="1325563"/>
          </a:xfrm>
        </p:spPr>
        <p:txBody>
          <a:bodyPr/>
          <a:lstStyle/>
          <a:p>
            <a:r>
              <a:rPr lang="en-US" dirty="0"/>
              <a:t>Weak vs. strong scalability</a:t>
            </a:r>
          </a:p>
        </p:txBody>
      </p:sp>
      <p:sp>
        <p:nvSpPr>
          <p:cNvPr id="3" name="Content Placeholder 2">
            <a:extLst>
              <a:ext uri="{FF2B5EF4-FFF2-40B4-BE49-F238E27FC236}">
                <a16:creationId xmlns:a16="http://schemas.microsoft.com/office/drawing/2014/main" id="{E6AD7DE5-7542-C54E-AB36-9BB0115D0F33}"/>
              </a:ext>
            </a:extLst>
          </p:cNvPr>
          <p:cNvSpPr>
            <a:spLocks noGrp="1"/>
          </p:cNvSpPr>
          <p:nvPr>
            <p:ph idx="1"/>
          </p:nvPr>
        </p:nvSpPr>
        <p:spPr>
          <a:xfrm>
            <a:off x="838200" y="1657985"/>
            <a:ext cx="10515600" cy="4351338"/>
          </a:xfrm>
        </p:spPr>
        <p:txBody>
          <a:bodyPr/>
          <a:lstStyle/>
          <a:p>
            <a:r>
              <a:rPr lang="en-US" dirty="0"/>
              <a:t>When working with new codes it is recommended to do scalability tests to examine how well the code performs on the system we work on. </a:t>
            </a:r>
          </a:p>
          <a:p>
            <a:r>
              <a:rPr lang="en-US" dirty="0"/>
              <a:t>Two kind of scalability tests are usually presented for codes:</a:t>
            </a:r>
          </a:p>
          <a:p>
            <a:pPr lvl="1"/>
            <a:r>
              <a:rPr lang="en-US" sz="2800" dirty="0"/>
              <a:t>Strong scaling tests – The problem size (e.g. grid size) is kept constant while the number of processors increases (</a:t>
            </a:r>
            <a:r>
              <a:rPr lang="en-US" sz="2800" i="1" dirty="0">
                <a:solidFill>
                  <a:srgbClr val="FF0000"/>
                </a:solidFill>
              </a:rPr>
              <a:t>Amdahl’s law</a:t>
            </a:r>
            <a:r>
              <a:rPr lang="en-US" sz="2800" dirty="0"/>
              <a:t>)</a:t>
            </a:r>
          </a:p>
          <a:p>
            <a:pPr lvl="1"/>
            <a:r>
              <a:rPr lang="en-US" sz="2800" dirty="0"/>
              <a:t>Weak scaling tests – Both the problem size (grid size) and the number of processors grow proportional to each other (</a:t>
            </a:r>
            <a:r>
              <a:rPr lang="en-US" sz="2800" i="1" dirty="0">
                <a:solidFill>
                  <a:srgbClr val="FF0000"/>
                </a:solidFill>
              </a:rPr>
              <a:t>Gustafson’s Law</a:t>
            </a:r>
            <a:r>
              <a:rPr lang="en-US" sz="2800" i="1" dirty="0"/>
              <a:t>)</a:t>
            </a:r>
            <a:endParaRPr lang="en-US" sz="2800" dirty="0"/>
          </a:p>
        </p:txBody>
      </p:sp>
    </p:spTree>
    <p:extLst>
      <p:ext uri="{BB962C8B-B14F-4D97-AF65-F5344CB8AC3E}">
        <p14:creationId xmlns:p14="http://schemas.microsoft.com/office/powerpoint/2010/main" val="748556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9123" y="0"/>
            <a:ext cx="8229600" cy="1143000"/>
          </a:xfrm>
        </p:spPr>
        <p:txBody>
          <a:bodyPr/>
          <a:lstStyle/>
          <a:p>
            <a:r>
              <a:rPr lang="en-US" dirty="0"/>
              <a:t>Studying Scalability </a:t>
            </a:r>
          </a:p>
        </p:txBody>
      </p:sp>
      <p:graphicFrame>
        <p:nvGraphicFramePr>
          <p:cNvPr id="4" name="Table 3"/>
          <p:cNvGraphicFramePr>
            <a:graphicFrameLocks noGrp="1"/>
          </p:cNvGraphicFramePr>
          <p:nvPr>
            <p:extLst/>
          </p:nvPr>
        </p:nvGraphicFramePr>
        <p:xfrm>
          <a:off x="1878234" y="1523200"/>
          <a:ext cx="6096000" cy="25857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185420">
                <a:tc rowSpan="2">
                  <a:txBody>
                    <a:bodyPr/>
                    <a:lstStyle/>
                    <a:p>
                      <a:r>
                        <a:rPr lang="en-US" dirty="0"/>
                        <a:t>Input</a:t>
                      </a:r>
                      <a:r>
                        <a:rPr lang="en-US" baseline="0" dirty="0"/>
                        <a:t> size (n)</a:t>
                      </a:r>
                      <a:endParaRPr lang="en-US" dirty="0"/>
                    </a:p>
                  </a:txBody>
                  <a:tcPr/>
                </a:tc>
                <a:tc gridSpan="5">
                  <a:txBody>
                    <a:bodyPr/>
                    <a:lstStyle/>
                    <a:p>
                      <a:pPr algn="ctr"/>
                      <a:r>
                        <a:rPr lang="en-US" dirty="0"/>
                        <a:t>Number</a:t>
                      </a:r>
                      <a:r>
                        <a:rPr lang="en-US" baseline="0" dirty="0"/>
                        <a:t> of threads (p)</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85420">
                <a:tc vMerge="1">
                  <a:txBody>
                    <a:bodyPr/>
                    <a:lstStyle/>
                    <a:p>
                      <a:endParaRPr lang="en-US" dirty="0"/>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4</a:t>
                      </a:r>
                    </a:p>
                  </a:txBody>
                  <a:tcPr/>
                </a:tc>
                <a:tc>
                  <a:txBody>
                    <a:bodyPr/>
                    <a:lstStyle/>
                    <a:p>
                      <a:pPr algn="ctr"/>
                      <a:r>
                        <a:rPr lang="en-US" b="1" dirty="0"/>
                        <a:t>8</a:t>
                      </a:r>
                    </a:p>
                  </a:txBody>
                  <a:tcPr/>
                </a:tc>
                <a:tc>
                  <a:txBody>
                    <a:bodyPr/>
                    <a:lstStyle/>
                    <a:p>
                      <a:pPr algn="ctr"/>
                      <a:r>
                        <a:rPr lang="en-US" b="1" dirty="0"/>
                        <a:t>16</a:t>
                      </a:r>
                    </a:p>
                  </a:txBody>
                  <a:tcPr/>
                </a:tc>
                <a:extLst>
                  <a:ext uri="{0D108BD9-81ED-4DB2-BD59-A6C34878D82A}">
                    <a16:rowId xmlns:a16="http://schemas.microsoft.com/office/drawing/2014/main" val="10001"/>
                  </a:ext>
                </a:extLst>
              </a:tr>
              <a:tr h="370840">
                <a:tc>
                  <a:txBody>
                    <a:bodyPr/>
                    <a:lstStyle/>
                    <a:p>
                      <a:pPr algn="r"/>
                      <a:r>
                        <a:rPr lang="en-US" b="1" dirty="0"/>
                        <a:t>1,000</a:t>
                      </a:r>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extLst>
                  <a:ext uri="{0D108BD9-81ED-4DB2-BD59-A6C34878D82A}">
                    <a16:rowId xmlns:a16="http://schemas.microsoft.com/office/drawing/2014/main" val="10002"/>
                  </a:ext>
                </a:extLst>
              </a:tr>
              <a:tr h="370840">
                <a:tc>
                  <a:txBody>
                    <a:bodyPr/>
                    <a:lstStyle/>
                    <a:p>
                      <a:pPr algn="r"/>
                      <a:r>
                        <a:rPr lang="en-US" b="1" dirty="0"/>
                        <a:t>2,000</a:t>
                      </a:r>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extLst>
                  <a:ext uri="{0D108BD9-81ED-4DB2-BD59-A6C34878D82A}">
                    <a16:rowId xmlns:a16="http://schemas.microsoft.com/office/drawing/2014/main" val="10003"/>
                  </a:ext>
                </a:extLst>
              </a:tr>
              <a:tr h="370840">
                <a:tc>
                  <a:txBody>
                    <a:bodyPr/>
                    <a:lstStyle/>
                    <a:p>
                      <a:pPr algn="r"/>
                      <a:r>
                        <a:rPr lang="en-US" b="1" dirty="0"/>
                        <a:t>4,000</a:t>
                      </a:r>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extLst>
                  <a:ext uri="{0D108BD9-81ED-4DB2-BD59-A6C34878D82A}">
                    <a16:rowId xmlns:a16="http://schemas.microsoft.com/office/drawing/2014/main" val="10004"/>
                  </a:ext>
                </a:extLst>
              </a:tr>
              <a:tr h="370840">
                <a:tc>
                  <a:txBody>
                    <a:bodyPr/>
                    <a:lstStyle/>
                    <a:p>
                      <a:pPr algn="r"/>
                      <a:r>
                        <a:rPr lang="en-US" b="1" dirty="0"/>
                        <a:t>8,000</a:t>
                      </a:r>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extLst>
                  <a:ext uri="{0D108BD9-81ED-4DB2-BD59-A6C34878D82A}">
                    <a16:rowId xmlns:a16="http://schemas.microsoft.com/office/drawing/2014/main" val="10005"/>
                  </a:ext>
                </a:extLst>
              </a:tr>
              <a:tr h="370840">
                <a:tc>
                  <a:txBody>
                    <a:bodyPr/>
                    <a:lstStyle/>
                    <a:p>
                      <a:pPr algn="r"/>
                      <a:r>
                        <a:rPr lang="en-US" b="1" dirty="0"/>
                        <a:t>16,000</a:t>
                      </a:r>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tc>
                  <a:txBody>
                    <a:bodyPr/>
                    <a:lstStyle/>
                    <a:p>
                      <a:pPr algn="r"/>
                      <a:endParaRPr lang="en-US" dirty="0"/>
                    </a:p>
                  </a:txBody>
                  <a:tcPr/>
                </a:tc>
                <a:extLst>
                  <a:ext uri="{0D108BD9-81ED-4DB2-BD59-A6C34878D82A}">
                    <a16:rowId xmlns:a16="http://schemas.microsoft.com/office/drawing/2014/main" val="10006"/>
                  </a:ext>
                </a:extLst>
              </a:tr>
            </a:tbl>
          </a:graphicData>
        </a:graphic>
      </p:graphicFrame>
      <p:sp>
        <p:nvSpPr>
          <p:cNvPr id="6" name="TextBox 5"/>
          <p:cNvSpPr txBox="1"/>
          <p:nvPr/>
        </p:nvSpPr>
        <p:spPr>
          <a:xfrm>
            <a:off x="1822938" y="1125415"/>
            <a:ext cx="7231788" cy="369332"/>
          </a:xfrm>
          <a:prstGeom prst="rect">
            <a:avLst/>
          </a:prstGeom>
          <a:noFill/>
        </p:spPr>
        <p:txBody>
          <a:bodyPr wrap="none" rtlCol="0">
            <a:spAutoFit/>
          </a:bodyPr>
          <a:lstStyle/>
          <a:p>
            <a:r>
              <a:rPr lang="en-US" dirty="0"/>
              <a:t>Table records the parallel runtime (in seconds) for varying values of n and p.</a:t>
            </a:r>
          </a:p>
        </p:txBody>
      </p:sp>
      <p:sp>
        <p:nvSpPr>
          <p:cNvPr id="13" name="TextBox 12"/>
          <p:cNvSpPr txBox="1"/>
          <p:nvPr/>
        </p:nvSpPr>
        <p:spPr>
          <a:xfrm>
            <a:off x="1652380" y="5416062"/>
            <a:ext cx="7402347" cy="369332"/>
          </a:xfrm>
          <a:prstGeom prst="rect">
            <a:avLst/>
          </a:prstGeom>
          <a:noFill/>
        </p:spPr>
        <p:txBody>
          <a:bodyPr wrap="none" rtlCol="0">
            <a:spAutoFit/>
          </a:bodyPr>
          <a:lstStyle/>
          <a:p>
            <a:r>
              <a:rPr lang="en-US" dirty="0"/>
              <a:t>It is conventional to test scalability in powers of two (or by doubling n and p).</a:t>
            </a:r>
          </a:p>
        </p:txBody>
      </p:sp>
    </p:spTree>
    <p:extLst>
      <p:ext uri="{BB962C8B-B14F-4D97-AF65-F5344CB8AC3E}">
        <p14:creationId xmlns:p14="http://schemas.microsoft.com/office/powerpoint/2010/main" val="1988454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9123" y="0"/>
            <a:ext cx="8229600" cy="1143000"/>
          </a:xfrm>
        </p:spPr>
        <p:txBody>
          <a:bodyPr/>
          <a:lstStyle/>
          <a:p>
            <a:r>
              <a:rPr lang="en-US" dirty="0"/>
              <a:t>Studying Scalability </a:t>
            </a:r>
          </a:p>
        </p:txBody>
      </p:sp>
      <p:graphicFrame>
        <p:nvGraphicFramePr>
          <p:cNvPr id="4" name="Table 3"/>
          <p:cNvGraphicFramePr>
            <a:graphicFrameLocks noGrp="1"/>
          </p:cNvGraphicFramePr>
          <p:nvPr>
            <p:extLst/>
          </p:nvPr>
        </p:nvGraphicFramePr>
        <p:xfrm>
          <a:off x="1878234" y="1523200"/>
          <a:ext cx="6096000" cy="25857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185420">
                <a:tc rowSpan="2">
                  <a:txBody>
                    <a:bodyPr/>
                    <a:lstStyle/>
                    <a:p>
                      <a:r>
                        <a:rPr lang="en-US" dirty="0"/>
                        <a:t>Input</a:t>
                      </a:r>
                      <a:r>
                        <a:rPr lang="en-US" baseline="0" dirty="0"/>
                        <a:t> size (n)</a:t>
                      </a:r>
                      <a:endParaRPr lang="en-US" dirty="0"/>
                    </a:p>
                  </a:txBody>
                  <a:tcPr/>
                </a:tc>
                <a:tc gridSpan="5">
                  <a:txBody>
                    <a:bodyPr/>
                    <a:lstStyle/>
                    <a:p>
                      <a:pPr algn="ctr"/>
                      <a:r>
                        <a:rPr lang="en-US" dirty="0"/>
                        <a:t>Number</a:t>
                      </a:r>
                      <a:r>
                        <a:rPr lang="en-US" baseline="0" dirty="0"/>
                        <a:t> of threads (p)</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85420">
                <a:tc vMerge="1">
                  <a:txBody>
                    <a:bodyPr/>
                    <a:lstStyle/>
                    <a:p>
                      <a:endParaRPr lang="en-US" dirty="0"/>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4</a:t>
                      </a:r>
                    </a:p>
                  </a:txBody>
                  <a:tcPr/>
                </a:tc>
                <a:tc>
                  <a:txBody>
                    <a:bodyPr/>
                    <a:lstStyle/>
                    <a:p>
                      <a:pPr algn="ctr"/>
                      <a:r>
                        <a:rPr lang="en-US" b="1" dirty="0"/>
                        <a:t>8</a:t>
                      </a:r>
                    </a:p>
                  </a:txBody>
                  <a:tcPr/>
                </a:tc>
                <a:tc>
                  <a:txBody>
                    <a:bodyPr/>
                    <a:lstStyle/>
                    <a:p>
                      <a:pPr algn="ctr"/>
                      <a:r>
                        <a:rPr lang="en-US" b="1" dirty="0"/>
                        <a:t>16</a:t>
                      </a:r>
                    </a:p>
                  </a:txBody>
                  <a:tcPr/>
                </a:tc>
                <a:extLst>
                  <a:ext uri="{0D108BD9-81ED-4DB2-BD59-A6C34878D82A}">
                    <a16:rowId xmlns:a16="http://schemas.microsoft.com/office/drawing/2014/main" val="10001"/>
                  </a:ext>
                </a:extLst>
              </a:tr>
              <a:tr h="370840">
                <a:tc>
                  <a:txBody>
                    <a:bodyPr/>
                    <a:lstStyle/>
                    <a:p>
                      <a:pPr algn="r"/>
                      <a:r>
                        <a:rPr lang="en-US" b="1" dirty="0"/>
                        <a:t>1,000</a:t>
                      </a:r>
                    </a:p>
                  </a:txBody>
                  <a:tcPr/>
                </a:tc>
                <a:tc>
                  <a:txBody>
                    <a:bodyPr/>
                    <a:lstStyle/>
                    <a:p>
                      <a:pPr algn="r"/>
                      <a:r>
                        <a:rPr lang="en-US" dirty="0"/>
                        <a:t>800</a:t>
                      </a:r>
                    </a:p>
                  </a:txBody>
                  <a:tcPr/>
                </a:tc>
                <a:tc>
                  <a:txBody>
                    <a:bodyPr/>
                    <a:lstStyle/>
                    <a:p>
                      <a:pPr algn="r"/>
                      <a:r>
                        <a:rPr lang="en-US" dirty="0"/>
                        <a:t>410</a:t>
                      </a:r>
                    </a:p>
                  </a:txBody>
                  <a:tcPr/>
                </a:tc>
                <a:tc>
                  <a:txBody>
                    <a:bodyPr/>
                    <a:lstStyle/>
                    <a:p>
                      <a:pPr algn="r"/>
                      <a:r>
                        <a:rPr lang="en-US" dirty="0"/>
                        <a:t>201</a:t>
                      </a:r>
                    </a:p>
                  </a:txBody>
                  <a:tcPr/>
                </a:tc>
                <a:tc>
                  <a:txBody>
                    <a:bodyPr/>
                    <a:lstStyle/>
                    <a:p>
                      <a:pPr algn="r"/>
                      <a:r>
                        <a:rPr lang="en-US" dirty="0"/>
                        <a:t>150</a:t>
                      </a:r>
                    </a:p>
                  </a:txBody>
                  <a:tcPr/>
                </a:tc>
                <a:tc>
                  <a:txBody>
                    <a:bodyPr/>
                    <a:lstStyle/>
                    <a:p>
                      <a:pPr algn="r"/>
                      <a:r>
                        <a:rPr lang="en-US" dirty="0"/>
                        <a:t>100</a:t>
                      </a:r>
                    </a:p>
                  </a:txBody>
                  <a:tcPr/>
                </a:tc>
                <a:extLst>
                  <a:ext uri="{0D108BD9-81ED-4DB2-BD59-A6C34878D82A}">
                    <a16:rowId xmlns:a16="http://schemas.microsoft.com/office/drawing/2014/main" val="10002"/>
                  </a:ext>
                </a:extLst>
              </a:tr>
              <a:tr h="370840">
                <a:tc>
                  <a:txBody>
                    <a:bodyPr/>
                    <a:lstStyle/>
                    <a:p>
                      <a:pPr algn="r"/>
                      <a:r>
                        <a:rPr lang="en-US" b="1" dirty="0"/>
                        <a:t>2,000</a:t>
                      </a:r>
                    </a:p>
                  </a:txBody>
                  <a:tcPr/>
                </a:tc>
                <a:tc>
                  <a:txBody>
                    <a:bodyPr/>
                    <a:lstStyle/>
                    <a:p>
                      <a:pPr algn="r"/>
                      <a:r>
                        <a:rPr lang="en-US" dirty="0"/>
                        <a:t>1,601</a:t>
                      </a:r>
                    </a:p>
                  </a:txBody>
                  <a:tcPr/>
                </a:tc>
                <a:tc>
                  <a:txBody>
                    <a:bodyPr/>
                    <a:lstStyle/>
                    <a:p>
                      <a:pPr algn="r"/>
                      <a:r>
                        <a:rPr lang="en-US" dirty="0"/>
                        <a:t>802</a:t>
                      </a:r>
                    </a:p>
                  </a:txBody>
                  <a:tcPr/>
                </a:tc>
                <a:tc>
                  <a:txBody>
                    <a:bodyPr/>
                    <a:lstStyle/>
                    <a:p>
                      <a:pPr algn="r"/>
                      <a:r>
                        <a:rPr lang="en-US" dirty="0"/>
                        <a:t>409</a:t>
                      </a:r>
                    </a:p>
                  </a:txBody>
                  <a:tcPr/>
                </a:tc>
                <a:tc>
                  <a:txBody>
                    <a:bodyPr/>
                    <a:lstStyle/>
                    <a:p>
                      <a:pPr algn="r"/>
                      <a:r>
                        <a:rPr lang="en-US" dirty="0"/>
                        <a:t>210</a:t>
                      </a:r>
                    </a:p>
                  </a:txBody>
                  <a:tcPr/>
                </a:tc>
                <a:tc>
                  <a:txBody>
                    <a:bodyPr/>
                    <a:lstStyle/>
                    <a:p>
                      <a:pPr algn="r"/>
                      <a:r>
                        <a:rPr lang="en-US" dirty="0"/>
                        <a:t>120</a:t>
                      </a:r>
                    </a:p>
                  </a:txBody>
                  <a:tcPr/>
                </a:tc>
                <a:extLst>
                  <a:ext uri="{0D108BD9-81ED-4DB2-BD59-A6C34878D82A}">
                    <a16:rowId xmlns:a16="http://schemas.microsoft.com/office/drawing/2014/main" val="10003"/>
                  </a:ext>
                </a:extLst>
              </a:tr>
              <a:tr h="370840">
                <a:tc>
                  <a:txBody>
                    <a:bodyPr/>
                    <a:lstStyle/>
                    <a:p>
                      <a:pPr algn="r"/>
                      <a:r>
                        <a:rPr lang="en-US" b="1" dirty="0"/>
                        <a:t>4,000</a:t>
                      </a:r>
                    </a:p>
                  </a:txBody>
                  <a:tcPr/>
                </a:tc>
                <a:tc>
                  <a:txBody>
                    <a:bodyPr/>
                    <a:lstStyle/>
                    <a:p>
                      <a:pPr algn="r"/>
                      <a:r>
                        <a:rPr lang="en-US" dirty="0"/>
                        <a:t>3,100</a:t>
                      </a:r>
                    </a:p>
                  </a:txBody>
                  <a:tcPr/>
                </a:tc>
                <a:tc>
                  <a:txBody>
                    <a:bodyPr/>
                    <a:lstStyle/>
                    <a:p>
                      <a:pPr algn="r"/>
                      <a:r>
                        <a:rPr lang="en-US" dirty="0"/>
                        <a:t>1,504</a:t>
                      </a:r>
                    </a:p>
                  </a:txBody>
                  <a:tcPr/>
                </a:tc>
                <a:tc>
                  <a:txBody>
                    <a:bodyPr/>
                    <a:lstStyle/>
                    <a:p>
                      <a:pPr algn="r"/>
                      <a:r>
                        <a:rPr lang="en-US" dirty="0"/>
                        <a:t>789</a:t>
                      </a:r>
                    </a:p>
                  </a:txBody>
                  <a:tcPr/>
                </a:tc>
                <a:tc>
                  <a:txBody>
                    <a:bodyPr/>
                    <a:lstStyle/>
                    <a:p>
                      <a:pPr algn="r"/>
                      <a:r>
                        <a:rPr lang="en-US" dirty="0"/>
                        <a:t>399</a:t>
                      </a:r>
                    </a:p>
                  </a:txBody>
                  <a:tcPr/>
                </a:tc>
                <a:tc>
                  <a:txBody>
                    <a:bodyPr/>
                    <a:lstStyle/>
                    <a:p>
                      <a:pPr algn="r"/>
                      <a:r>
                        <a:rPr lang="en-US" dirty="0"/>
                        <a:t>208</a:t>
                      </a:r>
                    </a:p>
                  </a:txBody>
                  <a:tcPr/>
                </a:tc>
                <a:extLst>
                  <a:ext uri="{0D108BD9-81ED-4DB2-BD59-A6C34878D82A}">
                    <a16:rowId xmlns:a16="http://schemas.microsoft.com/office/drawing/2014/main" val="10004"/>
                  </a:ext>
                </a:extLst>
              </a:tr>
              <a:tr h="370840">
                <a:tc>
                  <a:txBody>
                    <a:bodyPr/>
                    <a:lstStyle/>
                    <a:p>
                      <a:pPr algn="r"/>
                      <a:r>
                        <a:rPr lang="en-US" b="1" dirty="0"/>
                        <a:t>8,000</a:t>
                      </a:r>
                    </a:p>
                  </a:txBody>
                  <a:tcPr/>
                </a:tc>
                <a:tc>
                  <a:txBody>
                    <a:bodyPr/>
                    <a:lstStyle/>
                    <a:p>
                      <a:pPr algn="r"/>
                      <a:r>
                        <a:rPr lang="en-US" dirty="0"/>
                        <a:t>6,010</a:t>
                      </a:r>
                    </a:p>
                  </a:txBody>
                  <a:tcPr/>
                </a:tc>
                <a:tc>
                  <a:txBody>
                    <a:bodyPr/>
                    <a:lstStyle/>
                    <a:p>
                      <a:pPr algn="r"/>
                      <a:r>
                        <a:rPr lang="en-US" dirty="0"/>
                        <a:t>3,005</a:t>
                      </a:r>
                    </a:p>
                  </a:txBody>
                  <a:tcPr/>
                </a:tc>
                <a:tc>
                  <a:txBody>
                    <a:bodyPr/>
                    <a:lstStyle/>
                    <a:p>
                      <a:pPr algn="r"/>
                      <a:r>
                        <a:rPr lang="en-US" dirty="0"/>
                        <a:t>1,500</a:t>
                      </a:r>
                    </a:p>
                  </a:txBody>
                  <a:tcPr/>
                </a:tc>
                <a:tc>
                  <a:txBody>
                    <a:bodyPr/>
                    <a:lstStyle/>
                    <a:p>
                      <a:pPr algn="r"/>
                      <a:r>
                        <a:rPr lang="en-US" dirty="0"/>
                        <a:t>758</a:t>
                      </a:r>
                    </a:p>
                  </a:txBody>
                  <a:tcPr/>
                </a:tc>
                <a:tc>
                  <a:txBody>
                    <a:bodyPr/>
                    <a:lstStyle/>
                    <a:p>
                      <a:pPr algn="r"/>
                      <a:r>
                        <a:rPr lang="en-US" dirty="0"/>
                        <a:t>376</a:t>
                      </a:r>
                    </a:p>
                  </a:txBody>
                  <a:tcPr/>
                </a:tc>
                <a:extLst>
                  <a:ext uri="{0D108BD9-81ED-4DB2-BD59-A6C34878D82A}">
                    <a16:rowId xmlns:a16="http://schemas.microsoft.com/office/drawing/2014/main" val="10005"/>
                  </a:ext>
                </a:extLst>
              </a:tr>
              <a:tr h="370840">
                <a:tc>
                  <a:txBody>
                    <a:bodyPr/>
                    <a:lstStyle/>
                    <a:p>
                      <a:pPr algn="r"/>
                      <a:r>
                        <a:rPr lang="en-US" b="1" dirty="0"/>
                        <a:t>16,000</a:t>
                      </a:r>
                    </a:p>
                  </a:txBody>
                  <a:tcPr/>
                </a:tc>
                <a:tc>
                  <a:txBody>
                    <a:bodyPr/>
                    <a:lstStyle/>
                    <a:p>
                      <a:pPr algn="r"/>
                      <a:r>
                        <a:rPr lang="en-US" dirty="0"/>
                        <a:t>12,000</a:t>
                      </a:r>
                    </a:p>
                  </a:txBody>
                  <a:tcPr/>
                </a:tc>
                <a:tc>
                  <a:txBody>
                    <a:bodyPr/>
                    <a:lstStyle/>
                    <a:p>
                      <a:pPr algn="r"/>
                      <a:r>
                        <a:rPr lang="en-US" dirty="0"/>
                        <a:t>6,000</a:t>
                      </a:r>
                    </a:p>
                  </a:txBody>
                  <a:tcPr/>
                </a:tc>
                <a:tc>
                  <a:txBody>
                    <a:bodyPr/>
                    <a:lstStyle/>
                    <a:p>
                      <a:pPr algn="r"/>
                      <a:r>
                        <a:rPr lang="en-US" dirty="0"/>
                        <a:t>3,001</a:t>
                      </a:r>
                    </a:p>
                  </a:txBody>
                  <a:tcPr/>
                </a:tc>
                <a:tc>
                  <a:txBody>
                    <a:bodyPr/>
                    <a:lstStyle/>
                    <a:p>
                      <a:pPr algn="r"/>
                      <a:r>
                        <a:rPr lang="en-US" dirty="0"/>
                        <a:t>1,509</a:t>
                      </a:r>
                    </a:p>
                  </a:txBody>
                  <a:tcPr/>
                </a:tc>
                <a:tc>
                  <a:txBody>
                    <a:bodyPr/>
                    <a:lstStyle/>
                    <a:p>
                      <a:pPr algn="r"/>
                      <a:r>
                        <a:rPr lang="en-US" dirty="0"/>
                        <a:t>758</a:t>
                      </a: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1652380" y="5416062"/>
            <a:ext cx="7402347" cy="369332"/>
          </a:xfrm>
          <a:prstGeom prst="rect">
            <a:avLst/>
          </a:prstGeom>
          <a:noFill/>
        </p:spPr>
        <p:txBody>
          <a:bodyPr wrap="none" rtlCol="0">
            <a:spAutoFit/>
          </a:bodyPr>
          <a:lstStyle/>
          <a:p>
            <a:r>
              <a:rPr lang="en-US" dirty="0"/>
              <a:t>It is conventional to test scalability in powers of two (or by doubling n and p).</a:t>
            </a:r>
          </a:p>
        </p:txBody>
      </p:sp>
      <p:sp>
        <p:nvSpPr>
          <p:cNvPr id="6" name="TextBox 5"/>
          <p:cNvSpPr txBox="1"/>
          <p:nvPr/>
        </p:nvSpPr>
        <p:spPr>
          <a:xfrm>
            <a:off x="1822938" y="1125415"/>
            <a:ext cx="7231788" cy="369332"/>
          </a:xfrm>
          <a:prstGeom prst="rect">
            <a:avLst/>
          </a:prstGeom>
          <a:noFill/>
        </p:spPr>
        <p:txBody>
          <a:bodyPr wrap="none" rtlCol="0">
            <a:spAutoFit/>
          </a:bodyPr>
          <a:lstStyle/>
          <a:p>
            <a:r>
              <a:rPr lang="en-US" dirty="0"/>
              <a:t>Table records the parallel runtime (in seconds) for varying values of n and p.</a:t>
            </a:r>
          </a:p>
        </p:txBody>
      </p:sp>
      <p:cxnSp>
        <p:nvCxnSpPr>
          <p:cNvPr id="8" name="Straight Arrow Connector 7"/>
          <p:cNvCxnSpPr/>
          <p:nvPr/>
        </p:nvCxnSpPr>
        <p:spPr>
          <a:xfrm>
            <a:off x="3176954" y="3657600"/>
            <a:ext cx="5715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505092" y="3358663"/>
            <a:ext cx="1535228" cy="646331"/>
          </a:xfrm>
          <a:prstGeom prst="rect">
            <a:avLst/>
          </a:prstGeom>
          <a:noFill/>
        </p:spPr>
        <p:txBody>
          <a:bodyPr wrap="none" rtlCol="0">
            <a:spAutoFit/>
          </a:bodyPr>
          <a:lstStyle/>
          <a:p>
            <a:r>
              <a:rPr lang="en-US" dirty="0"/>
              <a:t>Strong scaling </a:t>
            </a:r>
            <a:br>
              <a:rPr lang="en-US" dirty="0"/>
            </a:br>
            <a:r>
              <a:rPr lang="en-US" dirty="0"/>
              <a:t>behavior</a:t>
            </a:r>
          </a:p>
        </p:txBody>
      </p:sp>
      <p:cxnSp>
        <p:nvCxnSpPr>
          <p:cNvPr id="11" name="Straight Arrow Connector 10"/>
          <p:cNvCxnSpPr/>
          <p:nvPr/>
        </p:nvCxnSpPr>
        <p:spPr>
          <a:xfrm>
            <a:off x="3176954" y="2338754"/>
            <a:ext cx="5503984" cy="2057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70985" y="4325815"/>
            <a:ext cx="1450462" cy="646331"/>
          </a:xfrm>
          <a:prstGeom prst="rect">
            <a:avLst/>
          </a:prstGeom>
          <a:noFill/>
        </p:spPr>
        <p:txBody>
          <a:bodyPr wrap="none" rtlCol="0">
            <a:spAutoFit/>
          </a:bodyPr>
          <a:lstStyle/>
          <a:p>
            <a:r>
              <a:rPr lang="en-US" dirty="0"/>
              <a:t>Weak scaling </a:t>
            </a:r>
            <a:br>
              <a:rPr lang="en-US" dirty="0"/>
            </a:br>
            <a:r>
              <a:rPr lang="en-US" dirty="0"/>
              <a:t>behavior</a:t>
            </a:r>
          </a:p>
        </p:txBody>
      </p:sp>
    </p:spTree>
    <p:extLst>
      <p:ext uri="{BB962C8B-B14F-4D97-AF65-F5344CB8AC3E}">
        <p14:creationId xmlns:p14="http://schemas.microsoft.com/office/powerpoint/2010/main" val="178611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Studying Scalability </a:t>
            </a:r>
          </a:p>
        </p:txBody>
      </p:sp>
      <p:graphicFrame>
        <p:nvGraphicFramePr>
          <p:cNvPr id="4" name="Chart 3"/>
          <p:cNvGraphicFramePr>
            <a:graphicFrameLocks/>
          </p:cNvGraphicFramePr>
          <p:nvPr>
            <p:extLst/>
          </p:nvPr>
        </p:nvGraphicFramePr>
        <p:xfrm>
          <a:off x="1770186" y="1505563"/>
          <a:ext cx="4026876" cy="371706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3880339" y="5257801"/>
            <a:ext cx="306494" cy="369332"/>
          </a:xfrm>
          <a:prstGeom prst="rect">
            <a:avLst/>
          </a:prstGeom>
          <a:noFill/>
        </p:spPr>
        <p:txBody>
          <a:bodyPr wrap="none" rtlCol="0">
            <a:spAutoFit/>
          </a:bodyPr>
          <a:lstStyle/>
          <a:p>
            <a:r>
              <a:rPr lang="en-US" dirty="0"/>
              <a:t>p</a:t>
            </a:r>
          </a:p>
        </p:txBody>
      </p:sp>
      <p:sp>
        <p:nvSpPr>
          <p:cNvPr id="6" name="TextBox 5"/>
          <p:cNvSpPr txBox="1"/>
          <p:nvPr/>
        </p:nvSpPr>
        <p:spPr>
          <a:xfrm rot="16200000">
            <a:off x="1144692" y="3546231"/>
            <a:ext cx="1146468" cy="369332"/>
          </a:xfrm>
          <a:prstGeom prst="rect">
            <a:avLst/>
          </a:prstGeom>
          <a:noFill/>
        </p:spPr>
        <p:txBody>
          <a:bodyPr wrap="none" rtlCol="0">
            <a:spAutoFit/>
          </a:bodyPr>
          <a:lstStyle/>
          <a:p>
            <a:r>
              <a:rPr lang="en-US"/>
              <a:t>Time (sec)</a:t>
            </a:r>
          </a:p>
        </p:txBody>
      </p:sp>
      <p:graphicFrame>
        <p:nvGraphicFramePr>
          <p:cNvPr id="7" name="Chart 6"/>
          <p:cNvGraphicFramePr>
            <a:graphicFrameLocks/>
          </p:cNvGraphicFramePr>
          <p:nvPr>
            <p:extLst/>
          </p:nvPr>
        </p:nvGraphicFramePr>
        <p:xfrm>
          <a:off x="6271848" y="1507638"/>
          <a:ext cx="4396152" cy="39084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rot="16200000">
            <a:off x="5591697" y="3179430"/>
            <a:ext cx="1008609" cy="369332"/>
          </a:xfrm>
          <a:prstGeom prst="rect">
            <a:avLst/>
          </a:prstGeom>
          <a:noFill/>
        </p:spPr>
        <p:txBody>
          <a:bodyPr wrap="none" rtlCol="0">
            <a:spAutoFit/>
          </a:bodyPr>
          <a:lstStyle/>
          <a:p>
            <a:r>
              <a:rPr lang="en-US" dirty="0"/>
              <a:t>Speedup</a:t>
            </a:r>
          </a:p>
        </p:txBody>
      </p:sp>
      <p:sp>
        <p:nvSpPr>
          <p:cNvPr id="10" name="TextBox 9"/>
          <p:cNvSpPr txBox="1"/>
          <p:nvPr/>
        </p:nvSpPr>
        <p:spPr>
          <a:xfrm>
            <a:off x="8024447" y="5442467"/>
            <a:ext cx="306494" cy="369332"/>
          </a:xfrm>
          <a:prstGeom prst="rect">
            <a:avLst/>
          </a:prstGeom>
          <a:noFill/>
        </p:spPr>
        <p:txBody>
          <a:bodyPr wrap="none" rtlCol="0">
            <a:spAutoFit/>
          </a:bodyPr>
          <a:lstStyle/>
          <a:p>
            <a:r>
              <a:rPr lang="en-US" dirty="0"/>
              <a:t>p</a:t>
            </a:r>
          </a:p>
        </p:txBody>
      </p:sp>
      <p:sp>
        <p:nvSpPr>
          <p:cNvPr id="3" name="Footer Placeholder 2"/>
          <p:cNvSpPr>
            <a:spLocks noGrp="1"/>
          </p:cNvSpPr>
          <p:nvPr>
            <p:ph type="ftr" sz="quarter" idx="11"/>
          </p:nvPr>
        </p:nvSpPr>
        <p:spPr/>
        <p:txBody>
          <a:bodyPr/>
          <a:lstStyle/>
          <a:p>
            <a:r>
              <a:rPr lang="en-US" dirty="0"/>
              <a:t>Copyright © 2010, Elsevier Inc. All rights Reserved</a:t>
            </a:r>
          </a:p>
        </p:txBody>
      </p:sp>
      <p:cxnSp>
        <p:nvCxnSpPr>
          <p:cNvPr id="12" name="Straight Connector 11"/>
          <p:cNvCxnSpPr/>
          <p:nvPr/>
        </p:nvCxnSpPr>
        <p:spPr>
          <a:xfrm>
            <a:off x="5867396" y="1417639"/>
            <a:ext cx="52754" cy="4209495"/>
          </a:xfrm>
          <a:prstGeom prst="line">
            <a:avLst/>
          </a:prstGeom>
          <a:ln w="50800">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6824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B3E8CC-62C4-8741-81F6-2D8DA80E89C9}"/>
              </a:ext>
            </a:extLst>
          </p:cNvPr>
          <p:cNvPicPr>
            <a:picLocks noChangeAspect="1"/>
          </p:cNvPicPr>
          <p:nvPr/>
        </p:nvPicPr>
        <p:blipFill>
          <a:blip r:embed="rId2"/>
          <a:stretch>
            <a:fillRect/>
          </a:stretch>
        </p:blipFill>
        <p:spPr>
          <a:xfrm>
            <a:off x="3429000" y="0"/>
            <a:ext cx="5137150" cy="1667997"/>
          </a:xfrm>
          <a:prstGeom prst="rect">
            <a:avLst/>
          </a:prstGeom>
        </p:spPr>
      </p:pic>
      <p:pic>
        <p:nvPicPr>
          <p:cNvPr id="9" name="Graphic 8">
            <a:extLst>
              <a:ext uri="{FF2B5EF4-FFF2-40B4-BE49-F238E27FC236}">
                <a16:creationId xmlns:a16="http://schemas.microsoft.com/office/drawing/2014/main" id="{9F8F6993-41C6-3742-A00C-B89FD682F1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4600" y="2082800"/>
            <a:ext cx="9906000" cy="4114800"/>
          </a:xfrm>
          <a:prstGeom prst="rect">
            <a:avLst/>
          </a:prstGeom>
        </p:spPr>
      </p:pic>
    </p:spTree>
    <p:extLst>
      <p:ext uri="{BB962C8B-B14F-4D97-AF65-F5344CB8AC3E}">
        <p14:creationId xmlns:p14="http://schemas.microsoft.com/office/powerpoint/2010/main" val="3275850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artoons,cooperation,households,keys,people,persons,Screen Beans®,synergy,team efforts,teamwork">
            <a:extLst>
              <a:ext uri="{FF2B5EF4-FFF2-40B4-BE49-F238E27FC236}">
                <a16:creationId xmlns:a16="http://schemas.microsoft.com/office/drawing/2014/main" id="{5C7CEDE8-B947-594C-AED0-8FB1E4893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75" y="4410075"/>
            <a:ext cx="2447925" cy="2447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a:extLst>
              <a:ext uri="{FF2B5EF4-FFF2-40B4-BE49-F238E27FC236}">
                <a16:creationId xmlns:a16="http://schemas.microsoft.com/office/drawing/2014/main" id="{4695A01B-7729-AD40-BD80-42463005DA7E}"/>
              </a:ext>
            </a:extLst>
          </p:cNvPr>
          <p:cNvSpPr>
            <a:spLocks noGrp="1"/>
          </p:cNvSpPr>
          <p:nvPr>
            <p:ph type="title"/>
          </p:nvPr>
        </p:nvSpPr>
        <p:spPr>
          <a:xfrm>
            <a:off x="838200" y="0"/>
            <a:ext cx="10515600" cy="1325563"/>
          </a:xfrm>
        </p:spPr>
        <p:txBody>
          <a:bodyPr/>
          <a:lstStyle/>
          <a:p>
            <a:r>
              <a:rPr lang="en-US" dirty="0"/>
              <a:t>OpenMP</a:t>
            </a:r>
          </a:p>
        </p:txBody>
      </p:sp>
      <p:sp>
        <p:nvSpPr>
          <p:cNvPr id="3" name="Content Placeholder 2">
            <a:extLst>
              <a:ext uri="{FF2B5EF4-FFF2-40B4-BE49-F238E27FC236}">
                <a16:creationId xmlns:a16="http://schemas.microsoft.com/office/drawing/2014/main" id="{284C6057-0B96-C742-9598-DBD7F52509E0}"/>
              </a:ext>
            </a:extLst>
          </p:cNvPr>
          <p:cNvSpPr>
            <a:spLocks noGrp="1"/>
          </p:cNvSpPr>
          <p:nvPr>
            <p:ph idx="1"/>
          </p:nvPr>
        </p:nvSpPr>
        <p:spPr>
          <a:xfrm>
            <a:off x="838200" y="1373188"/>
            <a:ext cx="10515600" cy="5484812"/>
          </a:xfrm>
        </p:spPr>
        <p:txBody>
          <a:bodyPr/>
          <a:lstStyle/>
          <a:p>
            <a:r>
              <a:rPr lang="en-US" dirty="0"/>
              <a:t>A </a:t>
            </a:r>
            <a:r>
              <a:rPr lang="en-US" dirty="0">
                <a:solidFill>
                  <a:srgbClr val="FF0000"/>
                </a:solidFill>
              </a:rPr>
              <a:t>shared memory </a:t>
            </a:r>
            <a:r>
              <a:rPr lang="en-US" dirty="0"/>
              <a:t>patronization protocol. </a:t>
            </a:r>
          </a:p>
          <a:p>
            <a:r>
              <a:rPr lang="en-US" dirty="0"/>
              <a:t>It can run on multiple languages including c, </a:t>
            </a:r>
            <a:r>
              <a:rPr lang="en-US" dirty="0" err="1"/>
              <a:t>c++</a:t>
            </a:r>
            <a:r>
              <a:rPr lang="en-US" dirty="0"/>
              <a:t>, Fortran (77, 90, 95)</a:t>
            </a:r>
          </a:p>
          <a:p>
            <a:r>
              <a:rPr lang="en-US" dirty="0"/>
              <a:t>Provide capability to incrementally parallelize a serial program by forking and terminating threads.</a:t>
            </a:r>
          </a:p>
          <a:p>
            <a:r>
              <a:rPr lang="en-US" dirty="0"/>
              <a:t>T</a:t>
            </a:r>
            <a:r>
              <a:rPr lang="en-US" dirty="0">
                <a:effectLst/>
              </a:rPr>
              <a:t>he original thread is called </a:t>
            </a:r>
            <a:r>
              <a:rPr lang="en-US" dirty="0">
                <a:solidFill>
                  <a:srgbClr val="FF0000"/>
                </a:solidFill>
                <a:effectLst/>
              </a:rPr>
              <a:t>master</a:t>
            </a:r>
            <a:r>
              <a:rPr lang="en-US" dirty="0">
                <a:effectLst/>
              </a:rPr>
              <a:t>, while the additional threads are called </a:t>
            </a:r>
            <a:r>
              <a:rPr lang="en-US" dirty="0">
                <a:solidFill>
                  <a:srgbClr val="FF0000"/>
                </a:solidFill>
                <a:effectLst/>
              </a:rPr>
              <a:t>workers</a:t>
            </a:r>
            <a:r>
              <a:rPr lang="en-US" dirty="0">
                <a:effectLst/>
              </a:rPr>
              <a:t>. </a:t>
            </a:r>
          </a:p>
          <a:p>
            <a:r>
              <a:rPr lang="en-US" dirty="0">
                <a:latin typeface="Arial" charset="0"/>
              </a:rPr>
              <a:t>The original thread and the new threads are called a </a:t>
            </a:r>
            <a:r>
              <a:rPr lang="en-US" dirty="0">
                <a:solidFill>
                  <a:srgbClr val="FF0000"/>
                </a:solidFill>
                <a:latin typeface="Arial" charset="0"/>
              </a:rPr>
              <a:t>team</a:t>
            </a:r>
            <a:endParaRPr lang="en-US" dirty="0">
              <a:solidFill>
                <a:srgbClr val="FF0000"/>
              </a:solidFill>
              <a:effectLst/>
            </a:endParaRPr>
          </a:p>
          <a:p>
            <a:endParaRPr lang="en-US" dirty="0">
              <a:solidFill>
                <a:srgbClr val="FF0000"/>
              </a:solidFill>
              <a:effectLst/>
            </a:endParaRPr>
          </a:p>
        </p:txBody>
      </p:sp>
    </p:spTree>
    <p:extLst>
      <p:ext uri="{BB962C8B-B14F-4D97-AF65-F5344CB8AC3E}">
        <p14:creationId xmlns:p14="http://schemas.microsoft.com/office/powerpoint/2010/main" val="1426234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27FD5-62E3-CD42-823A-2A2D1F1D636A}"/>
              </a:ext>
            </a:extLst>
          </p:cNvPr>
          <p:cNvSpPr>
            <a:spLocks noGrp="1"/>
          </p:cNvSpPr>
          <p:nvPr>
            <p:ph type="title"/>
          </p:nvPr>
        </p:nvSpPr>
        <p:spPr/>
        <p:txBody>
          <a:bodyPr/>
          <a:lstStyle/>
          <a:p>
            <a:r>
              <a:rPr lang="en-US" dirty="0" err="1">
                <a:latin typeface="Arial" charset="0"/>
              </a:rPr>
              <a:t>OpenMp</a:t>
            </a:r>
            <a:r>
              <a:rPr lang="en-US" dirty="0">
                <a:latin typeface="Arial" charset="0"/>
              </a:rPr>
              <a:t> programing: Pragmas</a:t>
            </a:r>
            <a:endParaRPr lang="en-US" dirty="0"/>
          </a:p>
        </p:txBody>
      </p:sp>
      <p:sp>
        <p:nvSpPr>
          <p:cNvPr id="3" name="Content Placeholder 2">
            <a:extLst>
              <a:ext uri="{FF2B5EF4-FFF2-40B4-BE49-F238E27FC236}">
                <a16:creationId xmlns:a16="http://schemas.microsoft.com/office/drawing/2014/main" id="{DD7F5D5C-902A-5441-BCF6-05C7BBA9D72B}"/>
              </a:ext>
            </a:extLst>
          </p:cNvPr>
          <p:cNvSpPr>
            <a:spLocks noGrp="1"/>
          </p:cNvSpPr>
          <p:nvPr>
            <p:ph idx="1"/>
          </p:nvPr>
        </p:nvSpPr>
        <p:spPr/>
        <p:txBody>
          <a:bodyPr>
            <a:normAutofit/>
          </a:bodyPr>
          <a:lstStyle/>
          <a:p>
            <a:r>
              <a:rPr lang="en-US" sz="3200" dirty="0"/>
              <a:t>All OpenMP instructions start with the keyword</a:t>
            </a:r>
          </a:p>
          <a:p>
            <a:pPr marL="0" indent="0">
              <a:buNone/>
            </a:pPr>
            <a:r>
              <a:rPr lang="en-US" sz="3200" dirty="0">
                <a:solidFill>
                  <a:srgbClr val="FF0000"/>
                </a:solidFill>
              </a:rPr>
              <a:t># pragma </a:t>
            </a:r>
          </a:p>
          <a:p>
            <a:r>
              <a:rPr lang="en-US" sz="3200" dirty="0">
                <a:latin typeface="Arial" charset="0"/>
              </a:rPr>
              <a:t>Special preprocessor instructions.</a:t>
            </a:r>
          </a:p>
          <a:p>
            <a:r>
              <a:rPr lang="en-US" sz="3200" dirty="0">
                <a:latin typeface="Arial" charset="0"/>
              </a:rPr>
              <a:t>Typically added to a system to allow behaviors that aren't part of the basic C specification.</a:t>
            </a:r>
          </a:p>
          <a:p>
            <a:r>
              <a:rPr lang="en-US" sz="3200" dirty="0">
                <a:latin typeface="Arial" charset="0"/>
              </a:rPr>
              <a:t>Compilers that don</a:t>
            </a:r>
            <a:r>
              <a:rPr lang="ja-JP" altLang="en-US" sz="3200">
                <a:latin typeface="Arial" charset="0"/>
              </a:rPr>
              <a:t>’</a:t>
            </a:r>
            <a:r>
              <a:rPr lang="en-US" sz="3200" dirty="0">
                <a:latin typeface="Arial" charset="0"/>
              </a:rPr>
              <a:t>t support the pragmas ignore them.</a:t>
            </a:r>
          </a:p>
          <a:p>
            <a:pPr marL="0" indent="0">
              <a:buNone/>
            </a:pPr>
            <a:endParaRPr lang="en-US" sz="3200" dirty="0">
              <a:latin typeface="Arial" charset="0"/>
            </a:endParaRPr>
          </a:p>
          <a:p>
            <a:endParaRPr lang="en-US" sz="3200" dirty="0"/>
          </a:p>
        </p:txBody>
      </p:sp>
    </p:spTree>
    <p:extLst>
      <p:ext uri="{BB962C8B-B14F-4D97-AF65-F5344CB8AC3E}">
        <p14:creationId xmlns:p14="http://schemas.microsoft.com/office/powerpoint/2010/main" val="2916759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27FD5-62E3-CD42-823A-2A2D1F1D636A}"/>
              </a:ext>
            </a:extLst>
          </p:cNvPr>
          <p:cNvSpPr>
            <a:spLocks noGrp="1"/>
          </p:cNvSpPr>
          <p:nvPr>
            <p:ph type="title"/>
          </p:nvPr>
        </p:nvSpPr>
        <p:spPr/>
        <p:txBody>
          <a:bodyPr/>
          <a:lstStyle/>
          <a:p>
            <a:r>
              <a:rPr lang="en-US" dirty="0" err="1">
                <a:latin typeface="Arial" charset="0"/>
              </a:rPr>
              <a:t>OpenMp</a:t>
            </a:r>
            <a:r>
              <a:rPr lang="en-US" dirty="0">
                <a:latin typeface="Arial" charset="0"/>
              </a:rPr>
              <a:t> programing: Pragmas</a:t>
            </a:r>
            <a:endParaRPr lang="en-US" dirty="0"/>
          </a:p>
        </p:txBody>
      </p:sp>
      <p:sp>
        <p:nvSpPr>
          <p:cNvPr id="3" name="Content Placeholder 2">
            <a:extLst>
              <a:ext uri="{FF2B5EF4-FFF2-40B4-BE49-F238E27FC236}">
                <a16:creationId xmlns:a16="http://schemas.microsoft.com/office/drawing/2014/main" id="{DD7F5D5C-902A-5441-BCF6-05C7BBA9D72B}"/>
              </a:ext>
            </a:extLst>
          </p:cNvPr>
          <p:cNvSpPr>
            <a:spLocks noGrp="1"/>
          </p:cNvSpPr>
          <p:nvPr>
            <p:ph idx="1"/>
          </p:nvPr>
        </p:nvSpPr>
        <p:spPr/>
        <p:txBody>
          <a:bodyPr>
            <a:normAutofit/>
          </a:bodyPr>
          <a:lstStyle/>
          <a:p>
            <a:pPr marL="0" indent="0">
              <a:buNone/>
            </a:pPr>
            <a:r>
              <a:rPr lang="en-US" dirty="0">
                <a:solidFill>
                  <a:srgbClr val="FF0000"/>
                </a:solidFill>
              </a:rPr>
              <a:t># pragma </a:t>
            </a:r>
            <a:r>
              <a:rPr lang="en-US" dirty="0" err="1">
                <a:solidFill>
                  <a:srgbClr val="FF0000"/>
                </a:solidFill>
              </a:rPr>
              <a:t>omp</a:t>
            </a:r>
            <a:r>
              <a:rPr lang="en-US" dirty="0">
                <a:solidFill>
                  <a:srgbClr val="FF0000"/>
                </a:solidFill>
              </a:rPr>
              <a:t> parallel</a:t>
            </a:r>
          </a:p>
          <a:p>
            <a:pPr marL="0" indent="0">
              <a:buNone/>
            </a:pPr>
            <a:endParaRPr lang="en-US" dirty="0">
              <a:solidFill>
                <a:srgbClr val="FF0000"/>
              </a:solidFill>
            </a:endParaRPr>
          </a:p>
          <a:p>
            <a:r>
              <a:rPr lang="en-US" dirty="0"/>
              <a:t>Initiates parallel threading.</a:t>
            </a:r>
          </a:p>
          <a:p>
            <a:r>
              <a:rPr lang="en-US" dirty="0"/>
              <a:t>The number of threads that run the following structured block of code is determined by the run-time system.</a:t>
            </a:r>
          </a:p>
          <a:p>
            <a:endParaRPr lang="en-US" sz="3200" dirty="0"/>
          </a:p>
        </p:txBody>
      </p:sp>
    </p:spTree>
    <p:extLst>
      <p:ext uri="{BB962C8B-B14F-4D97-AF65-F5344CB8AC3E}">
        <p14:creationId xmlns:p14="http://schemas.microsoft.com/office/powerpoint/2010/main" val="1514879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7D3B-2909-154D-BB81-BD3FA7A90E9B}"/>
              </a:ext>
            </a:extLst>
          </p:cNvPr>
          <p:cNvSpPr>
            <a:spLocks noGrp="1"/>
          </p:cNvSpPr>
          <p:nvPr>
            <p:ph type="title"/>
          </p:nvPr>
        </p:nvSpPr>
        <p:spPr/>
        <p:txBody>
          <a:bodyPr/>
          <a:lstStyle/>
          <a:p>
            <a:r>
              <a:rPr lang="en-US" dirty="0" err="1">
                <a:latin typeface="Arial" charset="0"/>
              </a:rPr>
              <a:t>OpenMp</a:t>
            </a:r>
            <a:r>
              <a:rPr lang="en-US" dirty="0">
                <a:latin typeface="Arial" charset="0"/>
              </a:rPr>
              <a:t> programing: clause</a:t>
            </a:r>
            <a:endParaRPr lang="en-US" dirty="0"/>
          </a:p>
        </p:txBody>
      </p:sp>
      <p:sp>
        <p:nvSpPr>
          <p:cNvPr id="3" name="Content Placeholder 2">
            <a:extLst>
              <a:ext uri="{FF2B5EF4-FFF2-40B4-BE49-F238E27FC236}">
                <a16:creationId xmlns:a16="http://schemas.microsoft.com/office/drawing/2014/main" id="{AE0F050C-9813-8049-9E47-B01EBFC6EB69}"/>
              </a:ext>
            </a:extLst>
          </p:cNvPr>
          <p:cNvSpPr>
            <a:spLocks noGrp="1"/>
          </p:cNvSpPr>
          <p:nvPr>
            <p:ph idx="1"/>
          </p:nvPr>
        </p:nvSpPr>
        <p:spPr/>
        <p:txBody>
          <a:bodyPr>
            <a:normAutofit/>
          </a:bodyPr>
          <a:lstStyle/>
          <a:p>
            <a:pPr marL="0" indent="0">
              <a:buNone/>
            </a:pPr>
            <a:r>
              <a:rPr lang="en-US" dirty="0">
                <a:solidFill>
                  <a:srgbClr val="FF0000"/>
                </a:solidFill>
              </a:rPr>
              <a:t># pragma </a:t>
            </a:r>
            <a:r>
              <a:rPr lang="en-US" dirty="0" err="1">
                <a:solidFill>
                  <a:srgbClr val="FF0000"/>
                </a:solidFill>
              </a:rPr>
              <a:t>omp</a:t>
            </a:r>
            <a:r>
              <a:rPr lang="en-US" dirty="0">
                <a:solidFill>
                  <a:srgbClr val="FF0000"/>
                </a:solidFill>
              </a:rPr>
              <a:t> parallel </a:t>
            </a:r>
            <a:r>
              <a:rPr lang="en-US" dirty="0" err="1">
                <a:solidFill>
                  <a:srgbClr val="FF0000"/>
                </a:solidFill>
              </a:rPr>
              <a:t>num_threads</a:t>
            </a:r>
            <a:r>
              <a:rPr lang="en-US" dirty="0">
                <a:solidFill>
                  <a:srgbClr val="FF0000"/>
                </a:solidFill>
              </a:rPr>
              <a:t> ( </a:t>
            </a:r>
            <a:r>
              <a:rPr lang="en-US" dirty="0" err="1">
                <a:solidFill>
                  <a:srgbClr val="FF0000"/>
                </a:solidFill>
              </a:rPr>
              <a:t>thread_count</a:t>
            </a:r>
            <a:r>
              <a:rPr lang="en-US" dirty="0">
                <a:solidFill>
                  <a:srgbClr val="FF0000"/>
                </a:solidFill>
              </a:rPr>
              <a:t> )</a:t>
            </a:r>
          </a:p>
          <a:p>
            <a:pPr marL="0" indent="0">
              <a:buNone/>
            </a:pPr>
            <a:endParaRPr lang="en-US" dirty="0">
              <a:latin typeface="Arial" charset="0"/>
            </a:endParaRPr>
          </a:p>
          <a:p>
            <a:r>
              <a:rPr lang="en-US" dirty="0"/>
              <a:t>Text that modifies a directive. </a:t>
            </a:r>
          </a:p>
          <a:p>
            <a:r>
              <a:rPr lang="en-US" dirty="0"/>
              <a:t>The </a:t>
            </a:r>
            <a:r>
              <a:rPr lang="en-US" dirty="0" err="1">
                <a:solidFill>
                  <a:srgbClr val="FF0000"/>
                </a:solidFill>
              </a:rPr>
              <a:t>num_threads</a:t>
            </a:r>
            <a:r>
              <a:rPr lang="en-US" dirty="0">
                <a:solidFill>
                  <a:srgbClr val="FF0000"/>
                </a:solidFill>
              </a:rPr>
              <a:t> </a:t>
            </a:r>
            <a:r>
              <a:rPr lang="en-US" dirty="0"/>
              <a:t>clause can be added to a parallel directive. </a:t>
            </a:r>
          </a:p>
          <a:p>
            <a:r>
              <a:rPr lang="en-US" dirty="0"/>
              <a:t>It allows the programmer to specify the number of threads that should execute the following block.</a:t>
            </a:r>
          </a:p>
          <a:p>
            <a:endParaRPr lang="en-US" dirty="0"/>
          </a:p>
          <a:p>
            <a:pPr marL="0" indent="0">
              <a:buNone/>
            </a:pPr>
            <a:endParaRPr lang="en-US" dirty="0">
              <a:latin typeface="Arial" charset="0"/>
            </a:endParaRPr>
          </a:p>
          <a:p>
            <a:pPr marL="0" indent="0">
              <a:buNone/>
            </a:pPr>
            <a:endParaRPr lang="en-US" dirty="0"/>
          </a:p>
        </p:txBody>
      </p:sp>
    </p:spTree>
    <p:extLst>
      <p:ext uri="{BB962C8B-B14F-4D97-AF65-F5344CB8AC3E}">
        <p14:creationId xmlns:p14="http://schemas.microsoft.com/office/powerpoint/2010/main" val="3974313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7D3B-2909-154D-BB81-BD3FA7A90E9B}"/>
              </a:ext>
            </a:extLst>
          </p:cNvPr>
          <p:cNvSpPr>
            <a:spLocks noGrp="1"/>
          </p:cNvSpPr>
          <p:nvPr>
            <p:ph type="title"/>
          </p:nvPr>
        </p:nvSpPr>
        <p:spPr/>
        <p:txBody>
          <a:bodyPr/>
          <a:lstStyle/>
          <a:p>
            <a:r>
              <a:rPr lang="en-US" dirty="0" err="1">
                <a:latin typeface="Arial" charset="0"/>
              </a:rPr>
              <a:t>OpenMp</a:t>
            </a:r>
            <a:r>
              <a:rPr lang="en-US" dirty="0">
                <a:latin typeface="Arial" charset="0"/>
              </a:rPr>
              <a:t> programing: clause</a:t>
            </a:r>
            <a:endParaRPr lang="en-US" dirty="0"/>
          </a:p>
        </p:txBody>
      </p:sp>
      <p:sp>
        <p:nvSpPr>
          <p:cNvPr id="3" name="Content Placeholder 2">
            <a:extLst>
              <a:ext uri="{FF2B5EF4-FFF2-40B4-BE49-F238E27FC236}">
                <a16:creationId xmlns:a16="http://schemas.microsoft.com/office/drawing/2014/main" id="{AE0F050C-9813-8049-9E47-B01EBFC6EB69}"/>
              </a:ext>
            </a:extLst>
          </p:cNvPr>
          <p:cNvSpPr>
            <a:spLocks noGrp="1"/>
          </p:cNvSpPr>
          <p:nvPr>
            <p:ph idx="1"/>
          </p:nvPr>
        </p:nvSpPr>
        <p:spPr/>
        <p:txBody>
          <a:bodyPr>
            <a:normAutofit/>
          </a:bodyPr>
          <a:lstStyle/>
          <a:p>
            <a:pPr marL="0" indent="0">
              <a:buNone/>
            </a:pPr>
            <a:r>
              <a:rPr lang="en-US" dirty="0">
                <a:solidFill>
                  <a:srgbClr val="FF0000"/>
                </a:solidFill>
              </a:rPr>
              <a:t># pragma </a:t>
            </a:r>
            <a:r>
              <a:rPr lang="en-US" dirty="0" err="1">
                <a:solidFill>
                  <a:srgbClr val="FF0000"/>
                </a:solidFill>
              </a:rPr>
              <a:t>omp</a:t>
            </a:r>
            <a:r>
              <a:rPr lang="en-US" dirty="0">
                <a:solidFill>
                  <a:srgbClr val="FF0000"/>
                </a:solidFill>
              </a:rPr>
              <a:t> parallel </a:t>
            </a:r>
            <a:r>
              <a:rPr lang="en-US" dirty="0" err="1">
                <a:solidFill>
                  <a:srgbClr val="FF0000"/>
                </a:solidFill>
              </a:rPr>
              <a:t>num_threads</a:t>
            </a:r>
            <a:r>
              <a:rPr lang="en-US" dirty="0">
                <a:solidFill>
                  <a:srgbClr val="FF0000"/>
                </a:solidFill>
              </a:rPr>
              <a:t> ( </a:t>
            </a:r>
            <a:r>
              <a:rPr lang="en-US" dirty="0" err="1">
                <a:solidFill>
                  <a:srgbClr val="FF0000"/>
                </a:solidFill>
              </a:rPr>
              <a:t>thread_count</a:t>
            </a:r>
            <a:r>
              <a:rPr lang="en-US" dirty="0">
                <a:solidFill>
                  <a:srgbClr val="FF0000"/>
                </a:solidFill>
              </a:rPr>
              <a:t> )</a:t>
            </a:r>
          </a:p>
          <a:p>
            <a:pPr marL="0" indent="0">
              <a:buNone/>
            </a:pPr>
            <a:endParaRPr lang="en-US" dirty="0">
              <a:latin typeface="Arial" charset="0"/>
            </a:endParaRPr>
          </a:p>
          <a:p>
            <a:r>
              <a:rPr lang="en-US" dirty="0"/>
              <a:t>Text that modifies a directive. </a:t>
            </a:r>
          </a:p>
          <a:p>
            <a:r>
              <a:rPr lang="en-US" dirty="0"/>
              <a:t>The </a:t>
            </a:r>
            <a:r>
              <a:rPr lang="en-US" dirty="0" err="1">
                <a:solidFill>
                  <a:srgbClr val="FF0000"/>
                </a:solidFill>
              </a:rPr>
              <a:t>num_threads</a:t>
            </a:r>
            <a:r>
              <a:rPr lang="en-US" dirty="0">
                <a:solidFill>
                  <a:srgbClr val="FF0000"/>
                </a:solidFill>
              </a:rPr>
              <a:t> </a:t>
            </a:r>
            <a:r>
              <a:rPr lang="en-US" dirty="0"/>
              <a:t>clause can be added to a parallel directive. </a:t>
            </a:r>
          </a:p>
          <a:p>
            <a:r>
              <a:rPr lang="en-US" dirty="0"/>
              <a:t>It allows the programmer to specify the number of threads that should execute the following block.</a:t>
            </a:r>
          </a:p>
          <a:p>
            <a:endParaRPr lang="en-US" dirty="0"/>
          </a:p>
          <a:p>
            <a:pPr marL="0" indent="0">
              <a:buNone/>
            </a:pPr>
            <a:endParaRPr lang="en-US" dirty="0">
              <a:latin typeface="Arial" charset="0"/>
            </a:endParaRPr>
          </a:p>
          <a:p>
            <a:pPr marL="0" indent="0">
              <a:buNone/>
            </a:pPr>
            <a:endParaRPr lang="en-US" dirty="0"/>
          </a:p>
        </p:txBody>
      </p:sp>
      <p:sp>
        <p:nvSpPr>
          <p:cNvPr id="4" name="Left Brace 3">
            <a:extLst>
              <a:ext uri="{FF2B5EF4-FFF2-40B4-BE49-F238E27FC236}">
                <a16:creationId xmlns:a16="http://schemas.microsoft.com/office/drawing/2014/main" id="{72BB5FC8-1716-3541-8C88-40CBAC521795}"/>
              </a:ext>
            </a:extLst>
          </p:cNvPr>
          <p:cNvSpPr/>
          <p:nvPr/>
        </p:nvSpPr>
        <p:spPr>
          <a:xfrm rot="16200000">
            <a:off x="3502479" y="1793421"/>
            <a:ext cx="228602" cy="1126673"/>
          </a:xfrm>
          <a:prstGeom prst="leftBrace">
            <a:avLst>
              <a:gd name="adj1" fmla="val 57564"/>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D86251E6-A222-C749-AABF-AA7018AA027C}"/>
              </a:ext>
            </a:extLst>
          </p:cNvPr>
          <p:cNvSpPr/>
          <p:nvPr/>
        </p:nvSpPr>
        <p:spPr>
          <a:xfrm rot="16200000">
            <a:off x="5089075" y="1333501"/>
            <a:ext cx="228600" cy="2046514"/>
          </a:xfrm>
          <a:prstGeom prst="leftBrace">
            <a:avLst>
              <a:gd name="adj1" fmla="val 57564"/>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a:extLst>
              <a:ext uri="{FF2B5EF4-FFF2-40B4-BE49-F238E27FC236}">
                <a16:creationId xmlns:a16="http://schemas.microsoft.com/office/drawing/2014/main" id="{C02C5795-DBD7-0749-98ED-0C0641B6A3B5}"/>
              </a:ext>
            </a:extLst>
          </p:cNvPr>
          <p:cNvSpPr/>
          <p:nvPr/>
        </p:nvSpPr>
        <p:spPr>
          <a:xfrm>
            <a:off x="3058187" y="2375162"/>
            <a:ext cx="1267655" cy="461665"/>
          </a:xfrm>
          <a:prstGeom prst="rect">
            <a:avLst/>
          </a:prstGeom>
        </p:spPr>
        <p:txBody>
          <a:bodyPr wrap="none">
            <a:spAutoFit/>
          </a:bodyPr>
          <a:lstStyle/>
          <a:p>
            <a:r>
              <a:rPr lang="en-US" sz="2400" dirty="0">
                <a:solidFill>
                  <a:srgbClr val="0070C0"/>
                </a:solidFill>
              </a:rPr>
              <a:t>directive</a:t>
            </a:r>
          </a:p>
        </p:txBody>
      </p:sp>
      <p:sp>
        <p:nvSpPr>
          <p:cNvPr id="7" name="Rectangle 6">
            <a:extLst>
              <a:ext uri="{FF2B5EF4-FFF2-40B4-BE49-F238E27FC236}">
                <a16:creationId xmlns:a16="http://schemas.microsoft.com/office/drawing/2014/main" id="{A1C7FC59-C633-C048-BBDE-820680E52822}"/>
              </a:ext>
            </a:extLst>
          </p:cNvPr>
          <p:cNvSpPr/>
          <p:nvPr/>
        </p:nvSpPr>
        <p:spPr>
          <a:xfrm>
            <a:off x="4750570" y="2375162"/>
            <a:ext cx="968535" cy="461665"/>
          </a:xfrm>
          <a:prstGeom prst="rect">
            <a:avLst/>
          </a:prstGeom>
        </p:spPr>
        <p:txBody>
          <a:bodyPr wrap="none">
            <a:spAutoFit/>
          </a:bodyPr>
          <a:lstStyle/>
          <a:p>
            <a:r>
              <a:rPr lang="en-US" sz="2400" dirty="0">
                <a:solidFill>
                  <a:srgbClr val="00B050"/>
                </a:solidFill>
              </a:rPr>
              <a:t>clause</a:t>
            </a:r>
          </a:p>
        </p:txBody>
      </p:sp>
    </p:spTree>
    <p:extLst>
      <p:ext uri="{BB962C8B-B14F-4D97-AF65-F5344CB8AC3E}">
        <p14:creationId xmlns:p14="http://schemas.microsoft.com/office/powerpoint/2010/main" val="1666702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
        <p:nvSpPr>
          <p:cNvPr id="4" name="Rectangle 3"/>
          <p:cNvSpPr/>
          <p:nvPr/>
        </p:nvSpPr>
        <p:spPr>
          <a:xfrm>
            <a:off x="2855914" y="1916113"/>
            <a:ext cx="2893741" cy="523220"/>
          </a:xfrm>
          <a:prstGeom prst="rect">
            <a:avLst/>
          </a:prstGeom>
        </p:spPr>
        <p:txBody>
          <a:bodyPr wrap="none">
            <a:spAutoFit/>
          </a:bodyPr>
          <a:lstStyle/>
          <a:p>
            <a:pPr>
              <a:spcBef>
                <a:spcPct val="20000"/>
              </a:spcBef>
              <a:buClr>
                <a:schemeClr val="tx1"/>
              </a:buClr>
              <a:buSzPct val="60000"/>
              <a:buFont typeface="Wingdings" pitchFamily="2" charset="2"/>
              <a:buNone/>
              <a:defRPr/>
            </a:pPr>
            <a:r>
              <a:rPr lang="en-US" sz="2800" dirty="0">
                <a:solidFill>
                  <a:srgbClr val="FF0000"/>
                </a:solidFill>
              </a:rPr>
              <a:t># include &lt;omp.h&gt;</a:t>
            </a:r>
          </a:p>
        </p:txBody>
      </p:sp>
      <p:sp>
        <p:nvSpPr>
          <p:cNvPr id="5" name="Rectangle 4"/>
          <p:cNvSpPr/>
          <p:nvPr/>
        </p:nvSpPr>
        <p:spPr>
          <a:xfrm>
            <a:off x="4800600" y="3284539"/>
            <a:ext cx="3349487" cy="1557337"/>
          </a:xfrm>
          <a:prstGeom prst="rect">
            <a:avLst/>
          </a:prstGeom>
          <a:ln>
            <a:solidFill>
              <a:schemeClr val="tx1"/>
            </a:solidFill>
          </a:ln>
        </p:spPr>
        <p:txBody>
          <a:bodyPr wrap="square">
            <a:spAutoFit/>
          </a:bodyPr>
          <a:lstStyle/>
          <a:p>
            <a:pPr>
              <a:spcBef>
                <a:spcPct val="20000"/>
              </a:spcBef>
              <a:buClr>
                <a:schemeClr val="tx1"/>
              </a:buClr>
              <a:buSzPct val="60000"/>
              <a:buFont typeface="Wingdings" pitchFamily="2" charset="2"/>
              <a:buNone/>
              <a:defRPr/>
            </a:pPr>
            <a:r>
              <a:rPr lang="en-US" sz="2800" dirty="0"/>
              <a:t>#ifdef _OPENMP</a:t>
            </a:r>
          </a:p>
          <a:p>
            <a:pPr>
              <a:spcBef>
                <a:spcPct val="20000"/>
              </a:spcBef>
              <a:buClr>
                <a:schemeClr val="tx1"/>
              </a:buClr>
              <a:buSzPct val="60000"/>
              <a:buFont typeface="Wingdings" pitchFamily="2" charset="2"/>
              <a:buNone/>
              <a:defRPr/>
            </a:pPr>
            <a:r>
              <a:rPr lang="en-US" sz="2800" dirty="0"/>
              <a:t># include &lt;omp.h&gt;</a:t>
            </a:r>
          </a:p>
          <a:p>
            <a:pPr>
              <a:spcBef>
                <a:spcPct val="20000"/>
              </a:spcBef>
              <a:buClr>
                <a:schemeClr val="tx1"/>
              </a:buClr>
              <a:buSzPct val="60000"/>
              <a:buFont typeface="Wingdings" pitchFamily="2" charset="2"/>
              <a:buNone/>
              <a:defRPr/>
            </a:pPr>
            <a:r>
              <a:rPr lang="en-US" sz="2800" dirty="0"/>
              <a:t>#endif</a:t>
            </a:r>
          </a:p>
        </p:txBody>
      </p:sp>
      <p:cxnSp>
        <p:nvCxnSpPr>
          <p:cNvPr id="31749" name="Straight Arrow Connector 6"/>
          <p:cNvCxnSpPr>
            <a:cxnSpLocks noChangeShapeType="1"/>
          </p:cNvCxnSpPr>
          <p:nvPr/>
        </p:nvCxnSpPr>
        <p:spPr bwMode="auto">
          <a:xfrm>
            <a:off x="4656138" y="2492375"/>
            <a:ext cx="1008062" cy="649288"/>
          </a:xfrm>
          <a:prstGeom prst="straightConnector1">
            <a:avLst/>
          </a:prstGeom>
          <a:noFill/>
          <a:ln w="28575">
            <a:solidFill>
              <a:srgbClr val="0066FF"/>
            </a:solidFill>
            <a:round/>
            <a:headEnd/>
            <a:tailEnd type="arrow" w="med" len="med"/>
          </a:ln>
          <a:extLst>
            <a:ext uri="{909E8E84-426E-40dd-AFC4-6F175D3DCCD1}">
              <a14:hiddenFill xmlns="" xmlns:a14="http://schemas.microsoft.com/office/drawing/2010/main">
                <a:noFill/>
              </a14:hiddenFill>
            </a:ext>
          </a:extLst>
        </p:spPr>
      </p:cxnSp>
      <p:sp>
        <p:nvSpPr>
          <p:cNvPr id="2" name="Slide Number Placeholder 1"/>
          <p:cNvSpPr>
            <a:spLocks noGrp="1"/>
          </p:cNvSpPr>
          <p:nvPr>
            <p:ph type="sldNum" sz="quarter" idx="12"/>
          </p:nvPr>
        </p:nvSpPr>
        <p:spPr/>
        <p:txBody>
          <a:bodyPr/>
          <a:lstStyle/>
          <a:p>
            <a:fld id="{E36BE44D-6AB7-7747-A5B3-8E5957F8FC9E}" type="slidenum">
              <a:rPr lang="en-US" smtClean="0"/>
              <a:t>42</a:t>
            </a:fld>
            <a:endParaRPr lang="en-US"/>
          </a:p>
        </p:txBody>
      </p:sp>
      <p:sp>
        <p:nvSpPr>
          <p:cNvPr id="10" name="Title 1">
            <a:extLst>
              <a:ext uri="{FF2B5EF4-FFF2-40B4-BE49-F238E27FC236}">
                <a16:creationId xmlns:a16="http://schemas.microsoft.com/office/drawing/2014/main" id="{1F2F3BA2-F2E2-E341-A011-865AEE302B23}"/>
              </a:ext>
            </a:extLst>
          </p:cNvPr>
          <p:cNvSpPr>
            <a:spLocks noGrp="1"/>
          </p:cNvSpPr>
          <p:nvPr>
            <p:ph type="title"/>
          </p:nvPr>
        </p:nvSpPr>
        <p:spPr/>
        <p:txBody>
          <a:bodyPr/>
          <a:lstStyle/>
          <a:p>
            <a:r>
              <a:rPr lang="en-US" dirty="0" err="1">
                <a:latin typeface="Arial" charset="0"/>
              </a:rPr>
              <a:t>OpenMp</a:t>
            </a:r>
            <a:r>
              <a:rPr lang="en-US" dirty="0">
                <a:latin typeface="Arial" charset="0"/>
              </a:rPr>
              <a:t> programing: loading the </a:t>
            </a:r>
            <a:r>
              <a:rPr lang="en-US" dirty="0" err="1">
                <a:latin typeface="Arial" charset="0"/>
              </a:rPr>
              <a:t>omp</a:t>
            </a:r>
            <a:r>
              <a:rPr lang="en-US" dirty="0">
                <a:latin typeface="Arial" charset="0"/>
              </a:rPr>
              <a:t> lib</a:t>
            </a:r>
            <a:endParaRPr lang="en-US" dirty="0"/>
          </a:p>
        </p:txBody>
      </p:sp>
    </p:spTree>
    <p:extLst>
      <p:ext uri="{BB962C8B-B14F-4D97-AF65-F5344CB8AC3E}">
        <p14:creationId xmlns:p14="http://schemas.microsoft.com/office/powerpoint/2010/main" val="8811850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
        <p:nvSpPr>
          <p:cNvPr id="8" name="Rectangle 7"/>
          <p:cNvSpPr/>
          <p:nvPr/>
        </p:nvSpPr>
        <p:spPr>
          <a:xfrm>
            <a:off x="838200" y="1777298"/>
            <a:ext cx="8064500" cy="3625850"/>
          </a:xfrm>
          <a:prstGeom prst="rect">
            <a:avLst/>
          </a:prstGeom>
        </p:spPr>
        <p:txBody>
          <a:bodyPr>
            <a:spAutoFit/>
          </a:bodyPr>
          <a:lstStyle/>
          <a:p>
            <a:pPr>
              <a:spcBef>
                <a:spcPct val="20000"/>
              </a:spcBef>
              <a:buClr>
                <a:schemeClr val="tx1"/>
              </a:buClr>
              <a:buSzPct val="60000"/>
              <a:buFont typeface="Wingdings" pitchFamily="2" charset="2"/>
              <a:buNone/>
              <a:defRPr/>
            </a:pPr>
            <a:r>
              <a:rPr lang="en-US" sz="2800" dirty="0"/>
              <a:t># ifdef _OPENMP</a:t>
            </a:r>
          </a:p>
          <a:p>
            <a:pPr>
              <a:spcBef>
                <a:spcPct val="20000"/>
              </a:spcBef>
              <a:buClr>
                <a:schemeClr val="tx1"/>
              </a:buClr>
              <a:buSzPct val="60000"/>
              <a:buFont typeface="Wingdings" pitchFamily="2" charset="2"/>
              <a:buNone/>
              <a:defRPr/>
            </a:pPr>
            <a:r>
              <a:rPr lang="en-US" sz="2800" dirty="0"/>
              <a:t>   </a:t>
            </a:r>
            <a:r>
              <a:rPr lang="en-US" sz="2800" dirty="0" err="1"/>
              <a:t>int</a:t>
            </a:r>
            <a:r>
              <a:rPr lang="en-US" sz="2800" dirty="0"/>
              <a:t> </a:t>
            </a:r>
            <a:r>
              <a:rPr lang="en-US" sz="2800" dirty="0" err="1"/>
              <a:t>my_rank</a:t>
            </a:r>
            <a:r>
              <a:rPr lang="en-US" sz="2800" dirty="0"/>
              <a:t> = </a:t>
            </a:r>
            <a:r>
              <a:rPr lang="en-US" sz="2800" dirty="0" err="1"/>
              <a:t>omp_get_thread_num</a:t>
            </a:r>
            <a:r>
              <a:rPr lang="en-US" sz="2800" dirty="0"/>
              <a:t> ( );</a:t>
            </a:r>
          </a:p>
          <a:p>
            <a:pPr>
              <a:spcBef>
                <a:spcPct val="20000"/>
              </a:spcBef>
              <a:buClr>
                <a:schemeClr val="tx1"/>
              </a:buClr>
              <a:buSzPct val="60000"/>
              <a:buFont typeface="Wingdings" pitchFamily="2" charset="2"/>
              <a:buNone/>
              <a:defRPr/>
            </a:pPr>
            <a:r>
              <a:rPr lang="en-US" sz="2800" dirty="0"/>
              <a:t>   </a:t>
            </a:r>
            <a:r>
              <a:rPr lang="en-US" sz="2800" dirty="0" err="1"/>
              <a:t>int</a:t>
            </a:r>
            <a:r>
              <a:rPr lang="en-US" sz="2800" dirty="0"/>
              <a:t> thread_count = </a:t>
            </a:r>
            <a:r>
              <a:rPr lang="en-US" sz="2800" dirty="0" err="1"/>
              <a:t>omp_get_num_threads</a:t>
            </a:r>
            <a:r>
              <a:rPr lang="en-US" sz="2800" dirty="0"/>
              <a:t> ( );</a:t>
            </a:r>
          </a:p>
          <a:p>
            <a:pPr>
              <a:spcBef>
                <a:spcPct val="20000"/>
              </a:spcBef>
              <a:buClr>
                <a:schemeClr val="tx1"/>
              </a:buClr>
              <a:buSzPct val="60000"/>
              <a:buFont typeface="Wingdings" pitchFamily="2" charset="2"/>
              <a:buNone/>
              <a:defRPr/>
            </a:pPr>
            <a:r>
              <a:rPr lang="en-US" sz="2800" dirty="0"/>
              <a:t># e l s e</a:t>
            </a:r>
          </a:p>
          <a:p>
            <a:pPr>
              <a:spcBef>
                <a:spcPct val="20000"/>
              </a:spcBef>
              <a:buClr>
                <a:schemeClr val="tx1"/>
              </a:buClr>
              <a:buSzPct val="60000"/>
              <a:buFont typeface="Wingdings" pitchFamily="2" charset="2"/>
              <a:buNone/>
              <a:defRPr/>
            </a:pPr>
            <a:r>
              <a:rPr lang="en-US" sz="2800" dirty="0"/>
              <a:t>   </a:t>
            </a:r>
            <a:r>
              <a:rPr lang="en-US" sz="2800" dirty="0" err="1"/>
              <a:t>int</a:t>
            </a:r>
            <a:r>
              <a:rPr lang="en-US" sz="2800" dirty="0"/>
              <a:t> </a:t>
            </a:r>
            <a:r>
              <a:rPr lang="en-US" sz="2800" dirty="0" err="1"/>
              <a:t>my_rank</a:t>
            </a:r>
            <a:r>
              <a:rPr lang="en-US" sz="2800" dirty="0"/>
              <a:t> = 0;</a:t>
            </a:r>
          </a:p>
          <a:p>
            <a:pPr>
              <a:spcBef>
                <a:spcPct val="20000"/>
              </a:spcBef>
              <a:buClr>
                <a:schemeClr val="tx1"/>
              </a:buClr>
              <a:buSzPct val="60000"/>
              <a:buFont typeface="Wingdings" pitchFamily="2" charset="2"/>
              <a:buNone/>
              <a:defRPr/>
            </a:pPr>
            <a:r>
              <a:rPr lang="en-US" sz="2800" dirty="0"/>
              <a:t>   </a:t>
            </a:r>
            <a:r>
              <a:rPr lang="en-US" sz="2800" dirty="0" err="1"/>
              <a:t>int</a:t>
            </a:r>
            <a:r>
              <a:rPr lang="en-US" sz="2800" dirty="0"/>
              <a:t> thread_count = 1;</a:t>
            </a:r>
          </a:p>
          <a:p>
            <a:pPr>
              <a:spcBef>
                <a:spcPct val="20000"/>
              </a:spcBef>
              <a:buClr>
                <a:schemeClr val="tx1"/>
              </a:buClr>
              <a:buSzPct val="60000"/>
              <a:buFont typeface="Wingdings" pitchFamily="2" charset="2"/>
              <a:buNone/>
              <a:defRPr/>
            </a:pPr>
            <a:r>
              <a:rPr lang="en-US" sz="2800" dirty="0"/>
              <a:t># endif</a:t>
            </a:r>
          </a:p>
        </p:txBody>
      </p:sp>
      <p:sp>
        <p:nvSpPr>
          <p:cNvPr id="2" name="Slide Number Placeholder 1"/>
          <p:cNvSpPr>
            <a:spLocks noGrp="1"/>
          </p:cNvSpPr>
          <p:nvPr>
            <p:ph type="sldNum" sz="quarter" idx="12"/>
          </p:nvPr>
        </p:nvSpPr>
        <p:spPr/>
        <p:txBody>
          <a:bodyPr/>
          <a:lstStyle/>
          <a:p>
            <a:fld id="{E36BE44D-6AB7-7747-A5B3-8E5957F8FC9E}" type="slidenum">
              <a:rPr lang="en-US" smtClean="0"/>
              <a:t>43</a:t>
            </a:fld>
            <a:endParaRPr lang="en-US"/>
          </a:p>
        </p:txBody>
      </p:sp>
      <p:sp>
        <p:nvSpPr>
          <p:cNvPr id="9" name="Title 1">
            <a:extLst>
              <a:ext uri="{FF2B5EF4-FFF2-40B4-BE49-F238E27FC236}">
                <a16:creationId xmlns:a16="http://schemas.microsoft.com/office/drawing/2014/main" id="{0A513B35-011F-1645-9E3E-A1ECC224976B}"/>
              </a:ext>
            </a:extLst>
          </p:cNvPr>
          <p:cNvSpPr>
            <a:spLocks noGrp="1"/>
          </p:cNvSpPr>
          <p:nvPr>
            <p:ph type="title"/>
          </p:nvPr>
        </p:nvSpPr>
        <p:spPr>
          <a:xfrm>
            <a:off x="381000" y="365125"/>
            <a:ext cx="11366500" cy="1325563"/>
          </a:xfrm>
        </p:spPr>
        <p:txBody>
          <a:bodyPr/>
          <a:lstStyle/>
          <a:p>
            <a:r>
              <a:rPr lang="en-US" dirty="0" err="1">
                <a:latin typeface="Arial" charset="0"/>
              </a:rPr>
              <a:t>OpenMp</a:t>
            </a:r>
            <a:r>
              <a:rPr lang="en-US" dirty="0">
                <a:latin typeface="Arial" charset="0"/>
              </a:rPr>
              <a:t> programing: getting the thread </a:t>
            </a:r>
            <a:r>
              <a:rPr lang="en-US" dirty="0" err="1">
                <a:latin typeface="Arial" charset="0"/>
              </a:rPr>
              <a:t>num</a:t>
            </a:r>
            <a:r>
              <a:rPr lang="en-US" dirty="0">
                <a:latin typeface="Arial" charset="0"/>
              </a:rPr>
              <a:t> </a:t>
            </a:r>
            <a:endParaRPr lang="en-US" dirty="0"/>
          </a:p>
        </p:txBody>
      </p:sp>
    </p:spTree>
    <p:extLst>
      <p:ext uri="{BB962C8B-B14F-4D97-AF65-F5344CB8AC3E}">
        <p14:creationId xmlns:p14="http://schemas.microsoft.com/office/powerpoint/2010/main" val="9216496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0082" y="1375995"/>
            <a:ext cx="6036562" cy="2677656"/>
          </a:xfrm>
          <a:prstGeom prst="rect">
            <a:avLst/>
          </a:prstGeom>
          <a:noFill/>
        </p:spPr>
        <p:txBody>
          <a:bodyPr wrap="square" rtlCol="0">
            <a:spAutoFit/>
          </a:bodyPr>
          <a:lstStyle/>
          <a:p>
            <a:r>
              <a:rPr lang="en-US" sz="2400" b="1" dirty="0"/>
              <a:t>#include &lt;</a:t>
            </a:r>
            <a:r>
              <a:rPr lang="en-US" sz="2400" b="1" dirty="0" err="1"/>
              <a:t>stdio.h</a:t>
            </a:r>
            <a:r>
              <a:rPr lang="en-US" sz="2400" b="1" dirty="0"/>
              <a:t>&gt;</a:t>
            </a:r>
          </a:p>
          <a:p>
            <a:endParaRPr lang="en-US" sz="2400" b="1" dirty="0"/>
          </a:p>
          <a:p>
            <a:r>
              <a:rPr lang="en-US" sz="2400" b="1" dirty="0" err="1"/>
              <a:t>int</a:t>
            </a:r>
            <a:r>
              <a:rPr lang="en-US" sz="2400" b="1" dirty="0"/>
              <a:t> main()</a:t>
            </a:r>
          </a:p>
          <a:p>
            <a:r>
              <a:rPr lang="en-US" sz="2400" b="1" dirty="0"/>
              <a:t>{</a:t>
            </a:r>
          </a:p>
          <a:p>
            <a:r>
              <a:rPr lang="en-US" sz="2400" b="1" dirty="0"/>
              <a:t>   </a:t>
            </a:r>
            <a:r>
              <a:rPr lang="en-US" sz="2400" b="1" dirty="0" err="1"/>
              <a:t>printf</a:t>
            </a:r>
            <a:r>
              <a:rPr lang="en-US" sz="2400" b="1" dirty="0"/>
              <a:t>("Hello world\n");</a:t>
            </a:r>
          </a:p>
          <a:p>
            <a:r>
              <a:rPr lang="mr-IN" sz="2400" b="1" dirty="0"/>
              <a:t>   return 0;</a:t>
            </a:r>
          </a:p>
          <a:p>
            <a:r>
              <a:rPr lang="mr-IN" sz="2400" b="1" dirty="0"/>
              <a:t>}</a:t>
            </a:r>
          </a:p>
        </p:txBody>
      </p:sp>
      <p:sp>
        <p:nvSpPr>
          <p:cNvPr id="3" name="Footer Placeholder 2"/>
          <p:cNvSpPr>
            <a:spLocks noGrp="1"/>
          </p:cNvSpPr>
          <p:nvPr>
            <p:ph type="ftr" sz="quarter" idx="11"/>
          </p:nvPr>
        </p:nvSpPr>
        <p:spPr/>
        <p:txBody>
          <a:bodyPr/>
          <a:lstStyle/>
          <a:p>
            <a:r>
              <a:rPr lang="en-US"/>
              <a:t>Copyright © 2010, Elsevier Inc. All rights Reserved</a:t>
            </a:r>
          </a:p>
        </p:txBody>
      </p:sp>
      <p:sp>
        <p:nvSpPr>
          <p:cNvPr id="4" name="Slide Number Placeholder 3"/>
          <p:cNvSpPr>
            <a:spLocks noGrp="1"/>
          </p:cNvSpPr>
          <p:nvPr>
            <p:ph type="sldNum" sz="quarter" idx="12"/>
          </p:nvPr>
        </p:nvSpPr>
        <p:spPr/>
        <p:txBody>
          <a:bodyPr/>
          <a:lstStyle/>
          <a:p>
            <a:fld id="{E36BE44D-6AB7-7747-A5B3-8E5957F8FC9E}" type="slidenum">
              <a:rPr lang="en-US" smtClean="0"/>
              <a:t>44</a:t>
            </a:fld>
            <a:endParaRPr lang="en-US"/>
          </a:p>
        </p:txBody>
      </p:sp>
      <p:sp>
        <p:nvSpPr>
          <p:cNvPr id="5" name="Title 1"/>
          <p:cNvSpPr txBox="1">
            <a:spLocks/>
          </p:cNvSpPr>
          <p:nvPr/>
        </p:nvSpPr>
        <p:spPr>
          <a:xfrm>
            <a:off x="889000" y="86976"/>
            <a:ext cx="10312400" cy="1323975"/>
          </a:xfrm>
          <a:prstGeom prst="rect">
            <a:avLst/>
          </a:prstGeom>
        </p:spPr>
        <p:txBody>
          <a:bodyP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latin typeface="Arial" charset="0"/>
              </a:rPr>
              <a:t>Example: Serial vs. parallel “hello world”</a:t>
            </a:r>
          </a:p>
        </p:txBody>
      </p:sp>
      <p:sp>
        <p:nvSpPr>
          <p:cNvPr id="7" name="TextBox 6"/>
          <p:cNvSpPr txBox="1"/>
          <p:nvPr/>
        </p:nvSpPr>
        <p:spPr>
          <a:xfrm>
            <a:off x="2475383" y="4487483"/>
            <a:ext cx="3363371" cy="523220"/>
          </a:xfrm>
          <a:prstGeom prst="rect">
            <a:avLst/>
          </a:prstGeom>
          <a:noFill/>
        </p:spPr>
        <p:txBody>
          <a:bodyPr wrap="none" rtlCol="0">
            <a:spAutoFit/>
          </a:bodyPr>
          <a:lstStyle/>
          <a:p>
            <a:r>
              <a:rPr lang="en-US" sz="2800" dirty="0"/>
              <a:t>Compile it: </a:t>
            </a:r>
            <a:r>
              <a:rPr lang="en-US" sz="2800" dirty="0" err="1"/>
              <a:t>gcc</a:t>
            </a:r>
            <a:r>
              <a:rPr lang="en-US" sz="2800" dirty="0"/>
              <a:t> </a:t>
            </a:r>
            <a:r>
              <a:rPr lang="en-US" sz="2800" dirty="0" err="1"/>
              <a:t>hello.c</a:t>
            </a:r>
            <a:endParaRPr lang="en-US" sz="2800" dirty="0"/>
          </a:p>
        </p:txBody>
      </p:sp>
    </p:spTree>
    <p:extLst>
      <p:ext uri="{BB962C8B-B14F-4D97-AF65-F5344CB8AC3E}">
        <p14:creationId xmlns:p14="http://schemas.microsoft.com/office/powerpoint/2010/main" val="1124428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0082" y="1375995"/>
            <a:ext cx="6036562" cy="2677656"/>
          </a:xfrm>
          <a:prstGeom prst="rect">
            <a:avLst/>
          </a:prstGeom>
          <a:noFill/>
        </p:spPr>
        <p:txBody>
          <a:bodyPr wrap="square" rtlCol="0">
            <a:spAutoFit/>
          </a:bodyPr>
          <a:lstStyle/>
          <a:p>
            <a:r>
              <a:rPr lang="en-US" sz="2400" b="1" dirty="0"/>
              <a:t>#include &lt;</a:t>
            </a:r>
            <a:r>
              <a:rPr lang="en-US" sz="2400" b="1" dirty="0" err="1"/>
              <a:t>stdio.h</a:t>
            </a:r>
            <a:r>
              <a:rPr lang="en-US" sz="2400" b="1" dirty="0"/>
              <a:t>&gt;</a:t>
            </a:r>
          </a:p>
          <a:p>
            <a:endParaRPr lang="en-US" sz="2400" b="1" dirty="0"/>
          </a:p>
          <a:p>
            <a:r>
              <a:rPr lang="en-US" sz="2400" b="1" dirty="0" err="1"/>
              <a:t>int</a:t>
            </a:r>
            <a:r>
              <a:rPr lang="en-US" sz="2400" b="1" dirty="0"/>
              <a:t> main()</a:t>
            </a:r>
          </a:p>
          <a:p>
            <a:r>
              <a:rPr lang="en-US" sz="2400" b="1" dirty="0"/>
              <a:t>{</a:t>
            </a:r>
          </a:p>
          <a:p>
            <a:r>
              <a:rPr lang="en-US" sz="2400" b="1" dirty="0"/>
              <a:t>   </a:t>
            </a:r>
            <a:r>
              <a:rPr lang="en-US" sz="2400" b="1" dirty="0" err="1"/>
              <a:t>printf</a:t>
            </a:r>
            <a:r>
              <a:rPr lang="en-US" sz="2400" b="1" dirty="0"/>
              <a:t>("Hello world\n");</a:t>
            </a:r>
          </a:p>
          <a:p>
            <a:r>
              <a:rPr lang="mr-IN" sz="2400" b="1" dirty="0"/>
              <a:t>   return 0;</a:t>
            </a:r>
          </a:p>
          <a:p>
            <a:r>
              <a:rPr lang="mr-IN" sz="2400" b="1" dirty="0"/>
              <a:t>}</a:t>
            </a:r>
          </a:p>
        </p:txBody>
      </p:sp>
      <p:sp>
        <p:nvSpPr>
          <p:cNvPr id="3" name="Footer Placeholder 2"/>
          <p:cNvSpPr>
            <a:spLocks noGrp="1"/>
          </p:cNvSpPr>
          <p:nvPr>
            <p:ph type="ftr" sz="quarter" idx="11"/>
          </p:nvPr>
        </p:nvSpPr>
        <p:spPr/>
        <p:txBody>
          <a:bodyPr/>
          <a:lstStyle/>
          <a:p>
            <a:r>
              <a:rPr lang="en-US"/>
              <a:t>Copyright © 2010, Elsevier Inc. All rights Reserved</a:t>
            </a:r>
          </a:p>
        </p:txBody>
      </p:sp>
      <p:sp>
        <p:nvSpPr>
          <p:cNvPr id="4" name="Slide Number Placeholder 3"/>
          <p:cNvSpPr>
            <a:spLocks noGrp="1"/>
          </p:cNvSpPr>
          <p:nvPr>
            <p:ph type="sldNum" sz="quarter" idx="12"/>
          </p:nvPr>
        </p:nvSpPr>
        <p:spPr/>
        <p:txBody>
          <a:bodyPr/>
          <a:lstStyle/>
          <a:p>
            <a:fld id="{E36BE44D-6AB7-7747-A5B3-8E5957F8FC9E}" type="slidenum">
              <a:rPr lang="en-US" smtClean="0"/>
              <a:t>45</a:t>
            </a:fld>
            <a:endParaRPr lang="en-US"/>
          </a:p>
        </p:txBody>
      </p:sp>
      <p:sp>
        <p:nvSpPr>
          <p:cNvPr id="5" name="Title 1"/>
          <p:cNvSpPr txBox="1">
            <a:spLocks/>
          </p:cNvSpPr>
          <p:nvPr/>
        </p:nvSpPr>
        <p:spPr>
          <a:xfrm>
            <a:off x="889000" y="86976"/>
            <a:ext cx="10312400" cy="1323975"/>
          </a:xfrm>
          <a:prstGeom prst="rect">
            <a:avLst/>
          </a:prstGeom>
        </p:spPr>
        <p:txBody>
          <a:bodyP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latin typeface="Arial" charset="0"/>
              </a:rPr>
              <a:t>Example: Serial vs. parallel “hello world”</a:t>
            </a:r>
          </a:p>
        </p:txBody>
      </p:sp>
      <p:sp>
        <p:nvSpPr>
          <p:cNvPr id="7" name="TextBox 6"/>
          <p:cNvSpPr txBox="1"/>
          <p:nvPr/>
        </p:nvSpPr>
        <p:spPr>
          <a:xfrm>
            <a:off x="2475383" y="4487483"/>
            <a:ext cx="3363371" cy="523220"/>
          </a:xfrm>
          <a:prstGeom prst="rect">
            <a:avLst/>
          </a:prstGeom>
          <a:noFill/>
        </p:spPr>
        <p:txBody>
          <a:bodyPr wrap="none" rtlCol="0">
            <a:spAutoFit/>
          </a:bodyPr>
          <a:lstStyle/>
          <a:p>
            <a:r>
              <a:rPr lang="en-US" sz="2800" dirty="0"/>
              <a:t>Compile it: </a:t>
            </a:r>
            <a:r>
              <a:rPr lang="en-US" sz="2800" dirty="0" err="1"/>
              <a:t>gcc</a:t>
            </a:r>
            <a:r>
              <a:rPr lang="en-US" sz="2800" dirty="0"/>
              <a:t> </a:t>
            </a:r>
            <a:r>
              <a:rPr lang="en-US" sz="2800" dirty="0" err="1"/>
              <a:t>hello.c</a:t>
            </a:r>
            <a:endParaRPr lang="en-US" sz="2800"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BD3DD4D-E50B-0E4B-936F-0FAC498287AD}"/>
                  </a:ext>
                </a:extLst>
              </p:cNvPr>
              <p:cNvSpPr/>
              <p:nvPr/>
            </p:nvSpPr>
            <p:spPr>
              <a:xfrm>
                <a:off x="2420082" y="5108501"/>
                <a:ext cx="8064500" cy="954107"/>
              </a:xfrm>
              <a:prstGeom prst="rect">
                <a:avLst/>
              </a:prstGeom>
            </p:spPr>
            <p:txBody>
              <a:bodyPr>
                <a:spAutoFit/>
              </a:bodyPr>
              <a:lstStyle/>
              <a:p>
                <a:pPr>
                  <a:spcBef>
                    <a:spcPct val="20000"/>
                  </a:spcBef>
                  <a:buClr>
                    <a:schemeClr val="tx1"/>
                  </a:buClr>
                  <a:buSzPct val="60000"/>
                  <a:buFont typeface="Wingdings" pitchFamily="2" charset="2"/>
                  <a:buNone/>
                  <a:defRPr/>
                </a:pPr>
                <a:r>
                  <a:rPr lang="en-US" sz="2800" u="sng" dirty="0">
                    <a:solidFill>
                      <a:srgbClr val="FF0000"/>
                    </a:solidFill>
                  </a:rPr>
                  <a:t>Exersise</a:t>
                </a:r>
                <a:r>
                  <a:rPr lang="en-US" sz="2800" dirty="0">
                    <a:solidFill>
                      <a:srgbClr val="FF0000"/>
                    </a:solidFill>
                  </a:rPr>
                  <a:t>: invoke </a:t>
                </a:r>
                <a:r>
                  <a:rPr lang="en-US" sz="2800" dirty="0" err="1">
                    <a:solidFill>
                      <a:srgbClr val="FF0000"/>
                    </a:solidFill>
                  </a:rPr>
                  <a:t>omp</a:t>
                </a:r>
                <a:r>
                  <a:rPr lang="en-US" sz="2800" dirty="0">
                    <a:solidFill>
                      <a:srgbClr val="FF0000"/>
                    </a:solidFill>
                  </a:rPr>
                  <a:t> to parallelize </a:t>
                </a:r>
                <a:r>
                  <a:rPr lang="en-US" sz="2800" dirty="0" err="1">
                    <a:solidFill>
                      <a:srgbClr val="FF0000"/>
                    </a:solidFill>
                  </a:rPr>
                  <a:t>hello.c</a:t>
                </a:r>
                <a:r>
                  <a:rPr lang="en-US" sz="2800" dirty="0">
                    <a:solidFill>
                      <a:srgbClr val="FF0000"/>
                    </a:solidFill>
                  </a:rPr>
                  <a:t> each thread </a:t>
                </a:r>
                <a14:m>
                  <m:oMath xmlns:m="http://schemas.openxmlformats.org/officeDocument/2006/math">
                    <m:r>
                      <a:rPr lang="en-US" sz="2800" b="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 </m:t>
                    </m:r>
                  </m:oMath>
                </a14:m>
                <a:r>
                  <a:rPr lang="en-US" sz="2800" dirty="0">
                    <a:solidFill>
                      <a:srgbClr val="FF0000"/>
                    </a:solidFill>
                  </a:rPr>
                  <a:t>should output “hello world from thread #n”</a:t>
                </a:r>
              </a:p>
            </p:txBody>
          </p:sp>
        </mc:Choice>
        <mc:Fallback xmlns="">
          <p:sp>
            <p:nvSpPr>
              <p:cNvPr id="8" name="Rectangle 7">
                <a:extLst>
                  <a:ext uri="{FF2B5EF4-FFF2-40B4-BE49-F238E27FC236}">
                    <a16:creationId xmlns:a16="http://schemas.microsoft.com/office/drawing/2014/main" id="{CBD3DD4D-E50B-0E4B-936F-0FAC498287AD}"/>
                  </a:ext>
                </a:extLst>
              </p:cNvPr>
              <p:cNvSpPr>
                <a:spLocks noRot="1" noChangeAspect="1" noMove="1" noResize="1" noEditPoints="1" noAdjustHandles="1" noChangeArrowheads="1" noChangeShapeType="1" noTextEdit="1"/>
              </p:cNvSpPr>
              <p:nvPr/>
            </p:nvSpPr>
            <p:spPr>
              <a:xfrm>
                <a:off x="2420082" y="5108501"/>
                <a:ext cx="8064500" cy="954107"/>
              </a:xfrm>
              <a:prstGeom prst="rect">
                <a:avLst/>
              </a:prstGeom>
              <a:blipFill>
                <a:blip r:embed="rId2"/>
                <a:stretch>
                  <a:fillRect l="-1572" t="-6579" r="-786" b="-1710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BA7F8DF0-9A7D-9A47-B965-EB616697407F}"/>
              </a:ext>
            </a:extLst>
          </p:cNvPr>
          <p:cNvSpPr/>
          <p:nvPr/>
        </p:nvSpPr>
        <p:spPr>
          <a:xfrm>
            <a:off x="2475383" y="5987018"/>
            <a:ext cx="5450595" cy="369332"/>
          </a:xfrm>
          <a:prstGeom prst="rect">
            <a:avLst/>
          </a:prstGeom>
        </p:spPr>
        <p:txBody>
          <a:bodyPr wrap="none">
            <a:spAutoFit/>
          </a:bodyPr>
          <a:lstStyle/>
          <a:p>
            <a:r>
              <a:rPr lang="en-US" dirty="0">
                <a:hlinkClick r:id="rId3"/>
              </a:rPr>
              <a:t>https://</a:t>
            </a:r>
            <a:r>
              <a:rPr lang="en-US" dirty="0" err="1">
                <a:hlinkClick r:id="rId3"/>
              </a:rPr>
              <a:t>www.onlinegdb.com</a:t>
            </a:r>
            <a:r>
              <a:rPr lang="en-US" dirty="0">
                <a:hlinkClick r:id="rId3"/>
              </a:rPr>
              <a:t>/?</a:t>
            </a:r>
            <a:r>
              <a:rPr lang="en-US" dirty="0" err="1">
                <a:hlinkClick r:id="rId3"/>
              </a:rPr>
              <a:t>utm_source</a:t>
            </a:r>
            <a:r>
              <a:rPr lang="en-US" dirty="0">
                <a:hlinkClick r:id="rId3"/>
              </a:rPr>
              <a:t>=</a:t>
            </a:r>
            <a:r>
              <a:rPr lang="en-US" dirty="0" err="1">
                <a:hlinkClick r:id="rId3"/>
              </a:rPr>
              <a:t>chatgpt.com</a:t>
            </a:r>
            <a:endParaRPr lang="en-US" dirty="0"/>
          </a:p>
        </p:txBody>
      </p:sp>
    </p:spTree>
    <p:extLst>
      <p:ext uri="{BB962C8B-B14F-4D97-AF65-F5344CB8AC3E}">
        <p14:creationId xmlns:p14="http://schemas.microsoft.com/office/powerpoint/2010/main" val="944435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223" y="249465"/>
            <a:ext cx="8750734" cy="64452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extBox 2"/>
          <p:cNvSpPr txBox="1"/>
          <p:nvPr/>
        </p:nvSpPr>
        <p:spPr>
          <a:xfrm>
            <a:off x="7831619" y="387704"/>
            <a:ext cx="3046377" cy="523220"/>
          </a:xfrm>
          <a:prstGeom prst="rect">
            <a:avLst/>
          </a:prstGeom>
          <a:noFill/>
        </p:spPr>
        <p:txBody>
          <a:bodyPr wrap="none" rtlCol="0">
            <a:spAutoFit/>
          </a:bodyPr>
          <a:lstStyle/>
          <a:p>
            <a:r>
              <a:rPr lang="en-US" sz="2800" b="1" dirty="0">
                <a:solidFill>
                  <a:srgbClr val="000000"/>
                </a:solidFill>
              </a:rPr>
              <a:t>After invoking </a:t>
            </a:r>
            <a:r>
              <a:rPr lang="en-US" sz="2800" b="1" dirty="0" err="1">
                <a:solidFill>
                  <a:srgbClr val="000000"/>
                </a:solidFill>
              </a:rPr>
              <a:t>omp</a:t>
            </a:r>
            <a:endParaRPr lang="en-US" sz="2800" b="1" dirty="0">
              <a:solidFill>
                <a:srgbClr val="000000"/>
              </a:solidFill>
            </a:endParaRPr>
          </a:p>
        </p:txBody>
      </p:sp>
      <p:cxnSp>
        <p:nvCxnSpPr>
          <p:cNvPr id="6" name="Straight Arrow Connector 5"/>
          <p:cNvCxnSpPr/>
          <p:nvPr/>
        </p:nvCxnSpPr>
        <p:spPr>
          <a:xfrm>
            <a:off x="1275158" y="624067"/>
            <a:ext cx="372109" cy="428318"/>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1271184" y="2606528"/>
            <a:ext cx="451340" cy="527964"/>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cxnSpLocks/>
          </p:cNvCxnSpPr>
          <p:nvPr/>
        </p:nvCxnSpPr>
        <p:spPr>
          <a:xfrm flipH="1" flipV="1">
            <a:off x="3259629" y="3579771"/>
            <a:ext cx="866057" cy="40440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10816" y="6309733"/>
            <a:ext cx="4954476" cy="523220"/>
          </a:xfrm>
          <a:prstGeom prst="rect">
            <a:avLst/>
          </a:prstGeom>
          <a:noFill/>
        </p:spPr>
        <p:txBody>
          <a:bodyPr wrap="none" rtlCol="0">
            <a:spAutoFit/>
          </a:bodyPr>
          <a:lstStyle/>
          <a:p>
            <a:r>
              <a:rPr lang="en-US" sz="2800" dirty="0"/>
              <a:t>Compile it: </a:t>
            </a:r>
            <a:r>
              <a:rPr lang="en-US" sz="2800" dirty="0" err="1"/>
              <a:t>gcc</a:t>
            </a:r>
            <a:r>
              <a:rPr lang="en-US" sz="2800" dirty="0"/>
              <a:t> </a:t>
            </a:r>
            <a:r>
              <a:rPr lang="mr-IN" sz="2800" dirty="0"/>
              <a:t>–</a:t>
            </a:r>
            <a:r>
              <a:rPr lang="en-US" sz="2800" dirty="0" err="1"/>
              <a:t>fopenmp</a:t>
            </a:r>
            <a:r>
              <a:rPr lang="en-US" sz="2800" dirty="0"/>
              <a:t> </a:t>
            </a:r>
            <a:r>
              <a:rPr lang="en-US" sz="2800" dirty="0" err="1"/>
              <a:t>hello.c</a:t>
            </a:r>
            <a:endParaRPr lang="en-US" sz="2800" dirty="0"/>
          </a:p>
        </p:txBody>
      </p:sp>
      <p:sp>
        <p:nvSpPr>
          <p:cNvPr id="7" name="Rectangle 6">
            <a:extLst>
              <a:ext uri="{FF2B5EF4-FFF2-40B4-BE49-F238E27FC236}">
                <a16:creationId xmlns:a16="http://schemas.microsoft.com/office/drawing/2014/main" id="{1D70E871-0B75-D940-A582-761C68668CCE}"/>
              </a:ext>
            </a:extLst>
          </p:cNvPr>
          <p:cNvSpPr/>
          <p:nvPr/>
        </p:nvSpPr>
        <p:spPr>
          <a:xfrm>
            <a:off x="1722783" y="5844209"/>
            <a:ext cx="8322917" cy="338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94958DD-AF3A-1848-9839-3AE3308EC2D9}"/>
              </a:ext>
            </a:extLst>
          </p:cNvPr>
          <p:cNvSpPr txBox="1"/>
          <p:nvPr/>
        </p:nvSpPr>
        <p:spPr>
          <a:xfrm>
            <a:off x="2071125" y="5580478"/>
            <a:ext cx="5621475" cy="400110"/>
          </a:xfrm>
          <a:prstGeom prst="rect">
            <a:avLst/>
          </a:prstGeom>
          <a:noFill/>
        </p:spPr>
        <p:txBody>
          <a:bodyPr wrap="none" rtlCol="0">
            <a:spAutoFit/>
          </a:bodyPr>
          <a:lstStyle/>
          <a:p>
            <a:r>
              <a:rPr lang="en-US" sz="2000" dirty="0" err="1"/>
              <a:t>printf</a:t>
            </a:r>
            <a:r>
              <a:rPr lang="en-US" sz="2000" dirty="0"/>
              <a:t>(“Hello world… from thread = %d\n”, </a:t>
            </a:r>
            <a:r>
              <a:rPr lang="en-US" sz="2000" dirty="0" err="1"/>
              <a:t>my_rank</a:t>
            </a:r>
            <a:r>
              <a:rPr lang="en-US" sz="2000" dirty="0"/>
              <a:t>)</a:t>
            </a:r>
          </a:p>
        </p:txBody>
      </p:sp>
      <p:sp>
        <p:nvSpPr>
          <p:cNvPr id="4" name="TextBox 3">
            <a:extLst>
              <a:ext uri="{FF2B5EF4-FFF2-40B4-BE49-F238E27FC236}">
                <a16:creationId xmlns:a16="http://schemas.microsoft.com/office/drawing/2014/main" id="{634F5065-DD20-B440-B6EF-6A78FA2285B9}"/>
              </a:ext>
            </a:extLst>
          </p:cNvPr>
          <p:cNvSpPr txBox="1"/>
          <p:nvPr/>
        </p:nvSpPr>
        <p:spPr>
          <a:xfrm>
            <a:off x="8344" y="2983"/>
            <a:ext cx="1362489" cy="646331"/>
          </a:xfrm>
          <a:prstGeom prst="rect">
            <a:avLst/>
          </a:prstGeom>
          <a:noFill/>
        </p:spPr>
        <p:txBody>
          <a:bodyPr wrap="none" rtlCol="0">
            <a:spAutoFit/>
          </a:bodyPr>
          <a:lstStyle/>
          <a:p>
            <a:pPr algn="ctr"/>
            <a:r>
              <a:rPr lang="en-US" dirty="0">
                <a:solidFill>
                  <a:srgbClr val="0070C0"/>
                </a:solidFill>
              </a:rPr>
              <a:t>Loading</a:t>
            </a:r>
          </a:p>
          <a:p>
            <a:pPr algn="ctr"/>
            <a:r>
              <a:rPr lang="en-US" dirty="0" err="1">
                <a:solidFill>
                  <a:srgbClr val="0070C0"/>
                </a:solidFill>
              </a:rPr>
              <a:t>omp</a:t>
            </a:r>
            <a:r>
              <a:rPr lang="en-US" dirty="0">
                <a:solidFill>
                  <a:srgbClr val="0070C0"/>
                </a:solidFill>
              </a:rPr>
              <a:t> Library </a:t>
            </a:r>
          </a:p>
        </p:txBody>
      </p:sp>
      <p:sp>
        <p:nvSpPr>
          <p:cNvPr id="12" name="TextBox 11">
            <a:extLst>
              <a:ext uri="{FF2B5EF4-FFF2-40B4-BE49-F238E27FC236}">
                <a16:creationId xmlns:a16="http://schemas.microsoft.com/office/drawing/2014/main" id="{0736CBE5-AE62-0D4F-9ED4-2E6382EE6C3C}"/>
              </a:ext>
            </a:extLst>
          </p:cNvPr>
          <p:cNvSpPr txBox="1"/>
          <p:nvPr/>
        </p:nvSpPr>
        <p:spPr>
          <a:xfrm>
            <a:off x="350554" y="2135188"/>
            <a:ext cx="1020279" cy="646331"/>
          </a:xfrm>
          <a:prstGeom prst="rect">
            <a:avLst/>
          </a:prstGeom>
          <a:noFill/>
        </p:spPr>
        <p:txBody>
          <a:bodyPr wrap="none" rtlCol="0">
            <a:spAutoFit/>
          </a:bodyPr>
          <a:lstStyle/>
          <a:p>
            <a:pPr algn="ctr"/>
            <a:r>
              <a:rPr lang="en-US" dirty="0">
                <a:solidFill>
                  <a:srgbClr val="0070C0"/>
                </a:solidFill>
              </a:rPr>
              <a:t>invoking </a:t>
            </a:r>
          </a:p>
          <a:p>
            <a:pPr algn="ctr"/>
            <a:r>
              <a:rPr lang="en-US" dirty="0" err="1">
                <a:solidFill>
                  <a:srgbClr val="0070C0"/>
                </a:solidFill>
              </a:rPr>
              <a:t>omp</a:t>
            </a:r>
            <a:endParaRPr lang="en-US" dirty="0">
              <a:solidFill>
                <a:srgbClr val="0070C0"/>
              </a:solidFill>
            </a:endParaRPr>
          </a:p>
        </p:txBody>
      </p:sp>
      <p:sp>
        <p:nvSpPr>
          <p:cNvPr id="16" name="TextBox 15">
            <a:extLst>
              <a:ext uri="{FF2B5EF4-FFF2-40B4-BE49-F238E27FC236}">
                <a16:creationId xmlns:a16="http://schemas.microsoft.com/office/drawing/2014/main" id="{2C7901E9-0B28-1841-A737-A27E0D6B9BC5}"/>
              </a:ext>
            </a:extLst>
          </p:cNvPr>
          <p:cNvSpPr txBox="1"/>
          <p:nvPr/>
        </p:nvSpPr>
        <p:spPr>
          <a:xfrm>
            <a:off x="4125686" y="3661005"/>
            <a:ext cx="1449115" cy="646331"/>
          </a:xfrm>
          <a:prstGeom prst="rect">
            <a:avLst/>
          </a:prstGeom>
          <a:noFill/>
        </p:spPr>
        <p:txBody>
          <a:bodyPr wrap="none" rtlCol="0">
            <a:spAutoFit/>
          </a:bodyPr>
          <a:lstStyle/>
          <a:p>
            <a:pPr algn="ctr"/>
            <a:r>
              <a:rPr lang="en-US" dirty="0">
                <a:solidFill>
                  <a:srgbClr val="0070C0"/>
                </a:solidFill>
              </a:rPr>
              <a:t>only this line </a:t>
            </a:r>
          </a:p>
          <a:p>
            <a:pPr algn="ctr"/>
            <a:r>
              <a:rPr lang="en-US" dirty="0">
                <a:solidFill>
                  <a:srgbClr val="0070C0"/>
                </a:solidFill>
              </a:rPr>
              <a:t>is parallelized</a:t>
            </a:r>
          </a:p>
        </p:txBody>
      </p:sp>
    </p:spTree>
    <p:extLst>
      <p:ext uri="{BB962C8B-B14F-4D97-AF65-F5344CB8AC3E}">
        <p14:creationId xmlns:p14="http://schemas.microsoft.com/office/powerpoint/2010/main" val="147641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799137-307F-EC4D-B133-FA70246E465B}"/>
              </a:ext>
            </a:extLst>
          </p:cNvPr>
          <p:cNvPicPr>
            <a:picLocks noChangeAspect="1"/>
          </p:cNvPicPr>
          <p:nvPr/>
        </p:nvPicPr>
        <p:blipFill>
          <a:blip r:embed="rId2"/>
          <a:stretch>
            <a:fillRect/>
          </a:stretch>
        </p:blipFill>
        <p:spPr>
          <a:xfrm>
            <a:off x="905230" y="2209271"/>
            <a:ext cx="10328532" cy="3765251"/>
          </a:xfrm>
          <a:prstGeom prst="rect">
            <a:avLst/>
          </a:prstGeom>
        </p:spPr>
      </p:pic>
      <p:sp>
        <p:nvSpPr>
          <p:cNvPr id="3" name="TextBox 2">
            <a:extLst>
              <a:ext uri="{FF2B5EF4-FFF2-40B4-BE49-F238E27FC236}">
                <a16:creationId xmlns:a16="http://schemas.microsoft.com/office/drawing/2014/main" id="{F751FD91-9756-544B-86CF-EBB022B24F76}"/>
              </a:ext>
            </a:extLst>
          </p:cNvPr>
          <p:cNvSpPr txBox="1"/>
          <p:nvPr/>
        </p:nvSpPr>
        <p:spPr>
          <a:xfrm>
            <a:off x="1691081" y="1346200"/>
            <a:ext cx="1492716" cy="584775"/>
          </a:xfrm>
          <a:prstGeom prst="rect">
            <a:avLst/>
          </a:prstGeom>
          <a:noFill/>
        </p:spPr>
        <p:txBody>
          <a:bodyPr wrap="none" rtlCol="0">
            <a:spAutoFit/>
          </a:bodyPr>
          <a:lstStyle/>
          <a:p>
            <a:r>
              <a:rPr lang="en-US" sz="3200" dirty="0"/>
              <a:t>Output:</a:t>
            </a:r>
          </a:p>
        </p:txBody>
      </p:sp>
      <p:sp>
        <p:nvSpPr>
          <p:cNvPr id="4" name="TextBox 3">
            <a:extLst>
              <a:ext uri="{FF2B5EF4-FFF2-40B4-BE49-F238E27FC236}">
                <a16:creationId xmlns:a16="http://schemas.microsoft.com/office/drawing/2014/main" id="{113A4F9E-2A65-4640-86A5-6ECCC171AD23}"/>
              </a:ext>
            </a:extLst>
          </p:cNvPr>
          <p:cNvSpPr txBox="1"/>
          <p:nvPr/>
        </p:nvSpPr>
        <p:spPr>
          <a:xfrm>
            <a:off x="6347792" y="4505325"/>
            <a:ext cx="2279373" cy="830997"/>
          </a:xfrm>
          <a:prstGeom prst="rect">
            <a:avLst/>
          </a:prstGeom>
          <a:noFill/>
          <a:ln>
            <a:solidFill>
              <a:schemeClr val="bg1"/>
            </a:solidFill>
          </a:ln>
        </p:spPr>
        <p:txBody>
          <a:bodyPr wrap="square" rtlCol="0">
            <a:spAutoFit/>
          </a:bodyPr>
          <a:lstStyle/>
          <a:p>
            <a:r>
              <a:rPr lang="en-US" sz="2400" dirty="0">
                <a:solidFill>
                  <a:schemeClr val="bg1"/>
                </a:solidFill>
              </a:rPr>
              <a:t>Threads appear in random order</a:t>
            </a:r>
          </a:p>
        </p:txBody>
      </p:sp>
    </p:spTree>
    <p:extLst>
      <p:ext uri="{BB962C8B-B14F-4D97-AF65-F5344CB8AC3E}">
        <p14:creationId xmlns:p14="http://schemas.microsoft.com/office/powerpoint/2010/main" val="34356245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Code Template (</a:t>
            </a:r>
            <a:r>
              <a:rPr lang="en-US" dirty="0" err="1"/>
              <a:t>OpenMP</a:t>
            </a:r>
            <a:r>
              <a:rPr lang="en-US" dirty="0"/>
              <a:t>)</a:t>
            </a:r>
          </a:p>
        </p:txBody>
      </p:sp>
      <p:sp>
        <p:nvSpPr>
          <p:cNvPr id="3" name="Content Placeholder 2"/>
          <p:cNvSpPr>
            <a:spLocks noGrp="1"/>
          </p:cNvSpPr>
          <p:nvPr>
            <p:ph idx="1"/>
          </p:nvPr>
        </p:nvSpPr>
        <p:spPr>
          <a:xfrm>
            <a:off x="838200" y="1825624"/>
            <a:ext cx="10163476" cy="5287445"/>
          </a:xfrm>
        </p:spPr>
        <p:txBody>
          <a:bodyPr>
            <a:normAutofit fontScale="85000" lnSpcReduction="20000"/>
          </a:bodyPr>
          <a:lstStyle/>
          <a:p>
            <a:pPr marL="0" indent="0">
              <a:spcBef>
                <a:spcPts val="0"/>
              </a:spcBef>
              <a:buNone/>
            </a:pPr>
            <a:r>
              <a:rPr lang="en-US" dirty="0">
                <a:solidFill>
                  <a:srgbClr val="FF0000"/>
                </a:solidFill>
              </a:rPr>
              <a:t>#include &lt;</a:t>
            </a:r>
            <a:r>
              <a:rPr lang="en-US" dirty="0" err="1">
                <a:solidFill>
                  <a:srgbClr val="FF0000"/>
                </a:solidFill>
              </a:rPr>
              <a:t>omp.h</a:t>
            </a:r>
            <a:r>
              <a:rPr lang="en-US" dirty="0">
                <a:solidFill>
                  <a:srgbClr val="FF0000"/>
                </a:solidFill>
              </a:rPr>
              <a:t>&gt;</a:t>
            </a:r>
          </a:p>
          <a:p>
            <a:pPr marL="0" indent="0">
              <a:lnSpc>
                <a:spcPct val="100000"/>
              </a:lnSpc>
              <a:spcBef>
                <a:spcPts val="0"/>
              </a:spcBef>
              <a:buNone/>
              <a:defRPr/>
            </a:pPr>
            <a:endParaRPr lang="en-US" dirty="0"/>
          </a:p>
          <a:p>
            <a:pPr marL="0" indent="0">
              <a:lnSpc>
                <a:spcPct val="100000"/>
              </a:lnSpc>
              <a:spcBef>
                <a:spcPts val="0"/>
              </a:spcBef>
              <a:buNone/>
              <a:defRPr/>
            </a:pPr>
            <a:r>
              <a:rPr lang="en-US" dirty="0">
                <a:solidFill>
                  <a:srgbClr val="FF0000"/>
                </a:solidFill>
              </a:rPr>
              <a:t>main(</a:t>
            </a:r>
            <a:r>
              <a:rPr lang="mr-IN" dirty="0">
                <a:solidFill>
                  <a:srgbClr val="FF0000"/>
                </a:solidFill>
              </a:rPr>
              <a:t>…</a:t>
            </a:r>
            <a:r>
              <a:rPr lang="en-US" dirty="0">
                <a:solidFill>
                  <a:srgbClr val="FF0000"/>
                </a:solidFill>
              </a:rPr>
              <a:t>) </a:t>
            </a:r>
            <a:r>
              <a:rPr lang="en-US" dirty="0"/>
              <a:t>{</a:t>
            </a:r>
          </a:p>
          <a:p>
            <a:pPr marL="0" indent="0">
              <a:lnSpc>
                <a:spcPct val="120000"/>
              </a:lnSpc>
              <a:buNone/>
            </a:pPr>
            <a:r>
              <a:rPr lang="en-US" dirty="0"/>
              <a:t>    </a:t>
            </a:r>
            <a:r>
              <a:rPr lang="en-US" dirty="0" err="1">
                <a:solidFill>
                  <a:srgbClr val="FF0000"/>
                </a:solidFill>
              </a:rPr>
              <a:t>int</a:t>
            </a:r>
            <a:r>
              <a:rPr lang="en-US" dirty="0">
                <a:solidFill>
                  <a:srgbClr val="FF0000"/>
                </a:solidFill>
              </a:rPr>
              <a:t> var1, var2, var3;</a:t>
            </a:r>
            <a:br>
              <a:rPr lang="en-US" dirty="0">
                <a:solidFill>
                  <a:srgbClr val="FF0000"/>
                </a:solidFill>
              </a:rPr>
            </a:br>
            <a:r>
              <a:rPr lang="en-US" dirty="0"/>
              <a:t>    Serial code . . </a:t>
            </a:r>
          </a:p>
          <a:p>
            <a:pPr marL="0" indent="0">
              <a:lnSpc>
                <a:spcPct val="120000"/>
              </a:lnSpc>
              <a:spcBef>
                <a:spcPts val="0"/>
              </a:spcBef>
              <a:buNone/>
            </a:pPr>
            <a:r>
              <a:rPr lang="en-US" dirty="0"/>
              <a:t>    Beginning of parallel section. Fork a team of threads. </a:t>
            </a:r>
          </a:p>
          <a:p>
            <a:pPr marL="0" indent="0">
              <a:lnSpc>
                <a:spcPct val="120000"/>
              </a:lnSpc>
              <a:spcBef>
                <a:spcPts val="0"/>
              </a:spcBef>
              <a:buNone/>
            </a:pPr>
            <a:r>
              <a:rPr lang="en-US" dirty="0"/>
              <a:t>    Specify variable scoping      </a:t>
            </a:r>
          </a:p>
          <a:p>
            <a:pPr marL="0" indent="0">
              <a:lnSpc>
                <a:spcPct val="120000"/>
              </a:lnSpc>
              <a:spcBef>
                <a:spcPts val="0"/>
              </a:spcBef>
              <a:buNone/>
            </a:pPr>
            <a:r>
              <a:rPr lang="en-US" dirty="0">
                <a:solidFill>
                  <a:srgbClr val="FF0000"/>
                </a:solidFill>
              </a:rPr>
              <a:t>    #pragma </a:t>
            </a:r>
            <a:r>
              <a:rPr lang="en-US" dirty="0" err="1">
                <a:solidFill>
                  <a:srgbClr val="FF0000"/>
                </a:solidFill>
              </a:rPr>
              <a:t>omp</a:t>
            </a:r>
            <a:r>
              <a:rPr lang="en-US" dirty="0">
                <a:solidFill>
                  <a:srgbClr val="FF0000"/>
                </a:solidFill>
              </a:rPr>
              <a:t> parallel private(var1, var2) shared(var3) </a:t>
            </a:r>
          </a:p>
          <a:p>
            <a:pPr marL="0" indent="0">
              <a:lnSpc>
                <a:spcPct val="120000"/>
              </a:lnSpc>
              <a:spcBef>
                <a:spcPts val="0"/>
              </a:spcBef>
              <a:buNone/>
              <a:defRPr/>
            </a:pPr>
            <a:r>
              <a:rPr lang="en-US" dirty="0"/>
              <a:t>    { </a:t>
            </a:r>
          </a:p>
          <a:p>
            <a:pPr marL="0" indent="0">
              <a:lnSpc>
                <a:spcPct val="120000"/>
              </a:lnSpc>
              <a:spcBef>
                <a:spcPts val="0"/>
              </a:spcBef>
              <a:buNone/>
              <a:defRPr/>
            </a:pPr>
            <a:r>
              <a:rPr lang="en-US" dirty="0"/>
              <a:t>       </a:t>
            </a:r>
            <a:r>
              <a:rPr lang="en-US" dirty="0">
                <a:solidFill>
                  <a:srgbClr val="0070C0"/>
                </a:solidFill>
              </a:rPr>
              <a:t>Parallel section executed by all threads . . . </a:t>
            </a:r>
          </a:p>
          <a:p>
            <a:pPr marL="0" indent="0">
              <a:lnSpc>
                <a:spcPct val="120000"/>
              </a:lnSpc>
              <a:spcBef>
                <a:spcPts val="0"/>
              </a:spcBef>
              <a:buNone/>
              <a:defRPr/>
            </a:pPr>
            <a:r>
              <a:rPr lang="en-US" dirty="0">
                <a:solidFill>
                  <a:srgbClr val="0070C0"/>
                </a:solidFill>
              </a:rPr>
              <a:t>       All threads join master thread and disband </a:t>
            </a:r>
          </a:p>
          <a:p>
            <a:pPr marL="0" indent="0">
              <a:lnSpc>
                <a:spcPct val="120000"/>
              </a:lnSpc>
              <a:spcBef>
                <a:spcPts val="0"/>
              </a:spcBef>
              <a:buNone/>
              <a:defRPr/>
            </a:pPr>
            <a:r>
              <a:rPr lang="en-US" dirty="0"/>
              <a:t>    } </a:t>
            </a:r>
          </a:p>
          <a:p>
            <a:pPr marL="0" indent="0">
              <a:lnSpc>
                <a:spcPct val="120000"/>
              </a:lnSpc>
              <a:spcBef>
                <a:spcPts val="0"/>
              </a:spcBef>
              <a:buNone/>
              <a:defRPr/>
            </a:pPr>
            <a:r>
              <a:rPr lang="en-US" dirty="0"/>
              <a:t>    Resume serial code . . . </a:t>
            </a:r>
          </a:p>
          <a:p>
            <a:pPr marL="0" indent="0">
              <a:lnSpc>
                <a:spcPct val="120000"/>
              </a:lnSpc>
              <a:spcBef>
                <a:spcPts val="0"/>
              </a:spcBef>
              <a:buNone/>
              <a:defRPr/>
            </a:pPr>
            <a:r>
              <a:rPr lang="en-US" dirty="0"/>
              <a:t>} </a:t>
            </a:r>
          </a:p>
          <a:p>
            <a:pPr marL="0" indent="0">
              <a:lnSpc>
                <a:spcPct val="100000"/>
              </a:lnSpc>
              <a:spcBef>
                <a:spcPts val="0"/>
              </a:spcBef>
              <a:buNone/>
              <a:defRPr/>
            </a:pPr>
            <a:endParaRPr lang="en-US" dirty="0"/>
          </a:p>
        </p:txBody>
      </p:sp>
      <p:pic>
        <p:nvPicPr>
          <p:cNvPr id="9" name="Picture 2">
            <a:extLst>
              <a:ext uri="{FF2B5EF4-FFF2-40B4-BE49-F238E27FC236}">
                <a16:creationId xmlns:a16="http://schemas.microsoft.com/office/drawing/2014/main" id="{5933E1D8-8915-364E-9DBB-3AF5776036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1438" y="4617398"/>
            <a:ext cx="5243521" cy="17389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5983350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B71F3-6ABA-B04C-AB2E-038242498D0C}"/>
              </a:ext>
            </a:extLst>
          </p:cNvPr>
          <p:cNvSpPr>
            <a:spLocks noGrp="1"/>
          </p:cNvSpPr>
          <p:nvPr>
            <p:ph type="title"/>
          </p:nvPr>
        </p:nvSpPr>
        <p:spPr/>
        <p:txBody>
          <a:bodyPr/>
          <a:lstStyle/>
          <a:p>
            <a:r>
              <a:rPr lang="en-US" dirty="0"/>
              <a:t>Parallel Region Construct </a:t>
            </a:r>
          </a:p>
        </p:txBody>
      </p:sp>
      <p:sp>
        <p:nvSpPr>
          <p:cNvPr id="3" name="Content Placeholder 2">
            <a:extLst>
              <a:ext uri="{FF2B5EF4-FFF2-40B4-BE49-F238E27FC236}">
                <a16:creationId xmlns:a16="http://schemas.microsoft.com/office/drawing/2014/main" id="{62162457-7E17-D742-B4FD-50A1D75E5300}"/>
              </a:ext>
            </a:extLst>
          </p:cNvPr>
          <p:cNvSpPr>
            <a:spLocks noGrp="1"/>
          </p:cNvSpPr>
          <p:nvPr>
            <p:ph idx="1"/>
          </p:nvPr>
        </p:nvSpPr>
        <p:spPr/>
        <p:txBody>
          <a:bodyPr/>
          <a:lstStyle/>
          <a:p>
            <a:r>
              <a:rPr lang="en-US" dirty="0"/>
              <a:t>A parallel region is a block of code that will be executed by multiple threads. This is the fundamental OpenMP parallel construct. </a:t>
            </a:r>
          </a:p>
          <a:p>
            <a:r>
              <a:rPr lang="en-US" dirty="0"/>
              <a:t>When a thread reaches a PARALLEL directive, it creates a team of threads and becomes the master of the team. The master is a member of that team and has thread number 0 within that team. </a:t>
            </a:r>
          </a:p>
          <a:p>
            <a:r>
              <a:rPr lang="en-US" dirty="0"/>
              <a:t>Starting from the beginning of this parallel region, the code is duplicated and all threads will execute that code. </a:t>
            </a:r>
          </a:p>
          <a:p>
            <a:r>
              <a:rPr lang="en-US" dirty="0"/>
              <a:t>There is an implied barrier at the end of a parallel section. Only the master thread continues execution past this point. </a:t>
            </a:r>
          </a:p>
          <a:p>
            <a:endParaRPr lang="en-US" dirty="0"/>
          </a:p>
        </p:txBody>
      </p:sp>
    </p:spTree>
    <p:extLst>
      <p:ext uri="{BB962C8B-B14F-4D97-AF65-F5344CB8AC3E}">
        <p14:creationId xmlns:p14="http://schemas.microsoft.com/office/powerpoint/2010/main" val="37004917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4"/>
          <p:cNvSpPr>
            <a:spLocks noGrp="1"/>
          </p:cNvSpPr>
          <p:nvPr>
            <p:ph type="title"/>
          </p:nvPr>
        </p:nvSpPr>
        <p:spPr/>
        <p:txBody>
          <a:bodyPr/>
          <a:lstStyle/>
          <a:p>
            <a:r>
              <a:rPr lang="en-US" dirty="0">
                <a:latin typeface="Arial" charset="0"/>
              </a:rPr>
              <a:t>Scope</a:t>
            </a:r>
          </a:p>
        </p:txBody>
      </p:sp>
      <p:sp>
        <p:nvSpPr>
          <p:cNvPr id="45058" name="Content Placeholder 5"/>
          <p:cNvSpPr>
            <a:spLocks noGrp="1"/>
          </p:cNvSpPr>
          <p:nvPr>
            <p:ph idx="1"/>
          </p:nvPr>
        </p:nvSpPr>
        <p:spPr/>
        <p:txBody>
          <a:bodyPr/>
          <a:lstStyle/>
          <a:p>
            <a:r>
              <a:rPr lang="en-US">
                <a:latin typeface="Arial" charset="0"/>
              </a:rPr>
              <a:t>In serial programming, the scope of a variable consists of those parts of a program in which the variable can be used.</a:t>
            </a:r>
          </a:p>
          <a:p>
            <a:endParaRPr lang="en-US">
              <a:latin typeface="Arial" charset="0"/>
            </a:endParaRPr>
          </a:p>
          <a:p>
            <a:r>
              <a:rPr lang="en-US">
                <a:latin typeface="Arial" charset="0"/>
              </a:rPr>
              <a:t>In OpenMP, the scope of a variable refers to the set of threads that can access the variable in a parallel block.</a:t>
            </a:r>
          </a:p>
        </p:txBody>
      </p:sp>
    </p:spTree>
    <p:extLst>
      <p:ext uri="{BB962C8B-B14F-4D97-AF65-F5344CB8AC3E}">
        <p14:creationId xmlns:p14="http://schemas.microsoft.com/office/powerpoint/2010/main" val="34645008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0B95C9-5B56-254A-9353-D707D8D3DB72}"/>
              </a:ext>
            </a:extLst>
          </p:cNvPr>
          <p:cNvPicPr>
            <a:picLocks noChangeAspect="1"/>
          </p:cNvPicPr>
          <p:nvPr/>
        </p:nvPicPr>
        <p:blipFill>
          <a:blip r:embed="rId2"/>
          <a:stretch>
            <a:fillRect/>
          </a:stretch>
        </p:blipFill>
        <p:spPr>
          <a:xfrm>
            <a:off x="7623208" y="3281666"/>
            <a:ext cx="4109988" cy="3591497"/>
          </a:xfrm>
          <a:prstGeom prst="rect">
            <a:avLst/>
          </a:prstGeom>
        </p:spPr>
      </p:pic>
      <p:sp>
        <p:nvSpPr>
          <p:cNvPr id="46082" name="Title 1"/>
          <p:cNvSpPr>
            <a:spLocks noGrp="1"/>
          </p:cNvSpPr>
          <p:nvPr>
            <p:ph type="title"/>
          </p:nvPr>
        </p:nvSpPr>
        <p:spPr/>
        <p:txBody>
          <a:bodyPr/>
          <a:lstStyle/>
          <a:p>
            <a:r>
              <a:rPr lang="en-US">
                <a:latin typeface="Arial" charset="0"/>
              </a:rPr>
              <a:t>Scope in OpenMP</a:t>
            </a:r>
          </a:p>
        </p:txBody>
      </p:sp>
      <p:sp>
        <p:nvSpPr>
          <p:cNvPr id="46083" name="Content Placeholder 2"/>
          <p:cNvSpPr>
            <a:spLocks noGrp="1"/>
          </p:cNvSpPr>
          <p:nvPr>
            <p:ph idx="1"/>
          </p:nvPr>
        </p:nvSpPr>
        <p:spPr>
          <a:xfrm>
            <a:off x="838200" y="1690688"/>
            <a:ext cx="10515600" cy="4351338"/>
          </a:xfrm>
        </p:spPr>
        <p:txBody>
          <a:bodyPr>
            <a:normAutofit/>
          </a:bodyPr>
          <a:lstStyle/>
          <a:p>
            <a:r>
              <a:rPr lang="en-US" dirty="0">
                <a:latin typeface="Arial" charset="0"/>
              </a:rPr>
              <a:t>A variable that can be accessed by all the threads in the team has </a:t>
            </a:r>
            <a:r>
              <a:rPr lang="en-US" dirty="0">
                <a:solidFill>
                  <a:srgbClr val="C00000"/>
                </a:solidFill>
                <a:latin typeface="Arial" charset="0"/>
              </a:rPr>
              <a:t>shared</a:t>
            </a:r>
            <a:r>
              <a:rPr lang="en-US" dirty="0">
                <a:latin typeface="Arial" charset="0"/>
              </a:rPr>
              <a:t> scope.</a:t>
            </a:r>
          </a:p>
          <a:p>
            <a:endParaRPr lang="en-US" dirty="0">
              <a:latin typeface="Arial" charset="0"/>
            </a:endParaRPr>
          </a:p>
          <a:p>
            <a:r>
              <a:rPr lang="en-US" dirty="0">
                <a:latin typeface="Arial" charset="0"/>
              </a:rPr>
              <a:t>A variable that can only be accessed by a single thread has </a:t>
            </a:r>
            <a:r>
              <a:rPr lang="en-US" dirty="0">
                <a:solidFill>
                  <a:srgbClr val="C00000"/>
                </a:solidFill>
                <a:latin typeface="Arial" charset="0"/>
              </a:rPr>
              <a:t>private</a:t>
            </a:r>
            <a:r>
              <a:rPr lang="en-US" dirty="0">
                <a:latin typeface="Arial" charset="0"/>
              </a:rPr>
              <a:t> scope.</a:t>
            </a:r>
          </a:p>
          <a:p>
            <a:endParaRPr lang="en-US" dirty="0">
              <a:latin typeface="Arial" charset="0"/>
            </a:endParaRPr>
          </a:p>
          <a:p>
            <a:r>
              <a:rPr lang="en-US" dirty="0">
                <a:latin typeface="Arial" charset="0"/>
              </a:rPr>
              <a:t>The default scope for variables </a:t>
            </a:r>
            <a:br>
              <a:rPr lang="en-US" dirty="0">
                <a:latin typeface="Arial" charset="0"/>
              </a:rPr>
            </a:br>
            <a:r>
              <a:rPr lang="en-US" dirty="0">
                <a:latin typeface="Arial" charset="0"/>
              </a:rPr>
              <a:t>declared before a parallel block </a:t>
            </a:r>
            <a:br>
              <a:rPr lang="en-US" dirty="0">
                <a:latin typeface="Arial" charset="0"/>
              </a:rPr>
            </a:br>
            <a:r>
              <a:rPr lang="en-US" dirty="0">
                <a:latin typeface="Arial" charset="0"/>
              </a:rPr>
              <a:t>is </a:t>
            </a:r>
            <a:r>
              <a:rPr lang="en-US" dirty="0">
                <a:solidFill>
                  <a:srgbClr val="0066FF"/>
                </a:solidFill>
                <a:latin typeface="Arial" charset="0"/>
              </a:rPr>
              <a:t>shared</a:t>
            </a:r>
            <a:r>
              <a:rPr lang="en-US" dirty="0">
                <a:latin typeface="Arial" charset="0"/>
              </a:rPr>
              <a:t>.</a:t>
            </a:r>
          </a:p>
        </p:txBody>
      </p:sp>
    </p:spTree>
    <p:extLst>
      <p:ext uri="{BB962C8B-B14F-4D97-AF65-F5344CB8AC3E}">
        <p14:creationId xmlns:p14="http://schemas.microsoft.com/office/powerpoint/2010/main" val="11995886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A7AED-A7AD-A94A-BA3C-F87D9AFB0502}"/>
              </a:ext>
            </a:extLst>
          </p:cNvPr>
          <p:cNvSpPr>
            <a:spLocks noGrp="1"/>
          </p:cNvSpPr>
          <p:nvPr>
            <p:ph type="title"/>
          </p:nvPr>
        </p:nvSpPr>
        <p:spPr>
          <a:xfrm>
            <a:off x="838200" y="0"/>
            <a:ext cx="10515600" cy="1325563"/>
          </a:xfrm>
        </p:spPr>
        <p:txBody>
          <a:bodyPr/>
          <a:lstStyle/>
          <a:p>
            <a:r>
              <a:rPr lang="en-US" dirty="0"/>
              <a:t>Format of </a:t>
            </a:r>
            <a:r>
              <a:rPr lang="en-US" i="1" dirty="0"/>
              <a:t>parallel</a:t>
            </a:r>
            <a:r>
              <a:rPr lang="en-US" dirty="0"/>
              <a:t> construct </a:t>
            </a:r>
          </a:p>
        </p:txBody>
      </p:sp>
      <p:sp>
        <p:nvSpPr>
          <p:cNvPr id="3" name="Content Placeholder 2">
            <a:extLst>
              <a:ext uri="{FF2B5EF4-FFF2-40B4-BE49-F238E27FC236}">
                <a16:creationId xmlns:a16="http://schemas.microsoft.com/office/drawing/2014/main" id="{7B1A82C9-7BFB-AC4D-8D69-4F67DAE1537C}"/>
              </a:ext>
            </a:extLst>
          </p:cNvPr>
          <p:cNvSpPr>
            <a:spLocks noGrp="1"/>
          </p:cNvSpPr>
          <p:nvPr>
            <p:ph idx="1"/>
          </p:nvPr>
        </p:nvSpPr>
        <p:spPr>
          <a:xfrm>
            <a:off x="838200" y="1825624"/>
            <a:ext cx="10515600" cy="5032375"/>
          </a:xfrm>
        </p:spPr>
        <p:txBody>
          <a:bodyPr>
            <a:normAutofit/>
          </a:bodyPr>
          <a:lstStyle/>
          <a:p>
            <a:pPr marL="0" indent="0">
              <a:buNone/>
            </a:pPr>
            <a:r>
              <a:rPr lang="en-US" dirty="0">
                <a:solidFill>
                  <a:srgbClr val="FF0000"/>
                </a:solidFill>
              </a:rPr>
              <a:t># pragma </a:t>
            </a:r>
            <a:r>
              <a:rPr lang="en-US" dirty="0" err="1">
                <a:solidFill>
                  <a:srgbClr val="FF0000"/>
                </a:solidFill>
              </a:rPr>
              <a:t>omp</a:t>
            </a:r>
            <a:r>
              <a:rPr lang="en-US" dirty="0">
                <a:solidFill>
                  <a:srgbClr val="FF0000"/>
                </a:solidFill>
              </a:rPr>
              <a:t> parallel [ clauses ] </a:t>
            </a:r>
          </a:p>
          <a:p>
            <a:pPr marL="0" indent="0">
              <a:buNone/>
            </a:pPr>
            <a:endParaRPr lang="en-US" dirty="0">
              <a:solidFill>
                <a:srgbClr val="FF0000"/>
              </a:solidFill>
            </a:endParaRPr>
          </a:p>
          <a:p>
            <a:r>
              <a:rPr lang="en-US" dirty="0"/>
              <a:t>Optional clauses : </a:t>
            </a:r>
          </a:p>
          <a:p>
            <a:pPr marL="457200" lvl="1" indent="0">
              <a:buNone/>
            </a:pPr>
            <a:r>
              <a:rPr lang="en-US" dirty="0"/>
              <a:t>private(</a:t>
            </a:r>
            <a:r>
              <a:rPr lang="en-US" i="1" dirty="0"/>
              <a:t>list)</a:t>
            </a:r>
          </a:p>
          <a:p>
            <a:pPr marL="457200" lvl="1" indent="0">
              <a:buNone/>
            </a:pPr>
            <a:r>
              <a:rPr lang="en-US" dirty="0"/>
              <a:t>shared(</a:t>
            </a:r>
            <a:r>
              <a:rPr lang="en-US" i="1" dirty="0"/>
              <a:t>list</a:t>
            </a:r>
            <a:r>
              <a:rPr lang="en-US" dirty="0"/>
              <a:t>)</a:t>
            </a:r>
            <a:br>
              <a:rPr lang="en-US" dirty="0"/>
            </a:br>
            <a:r>
              <a:rPr lang="en-US" dirty="0"/>
              <a:t>default(shared | none) </a:t>
            </a:r>
          </a:p>
          <a:p>
            <a:pPr marL="457200" lvl="1" indent="0">
              <a:buNone/>
            </a:pPr>
            <a:r>
              <a:rPr lang="en-US" dirty="0" err="1"/>
              <a:t>firstprivate</a:t>
            </a:r>
            <a:r>
              <a:rPr lang="en-US" i="1" dirty="0"/>
              <a:t>(list) </a:t>
            </a:r>
          </a:p>
          <a:p>
            <a:pPr marL="457200" lvl="1" indent="0">
              <a:buNone/>
            </a:pPr>
            <a:r>
              <a:rPr lang="en-US" dirty="0"/>
              <a:t>reduction</a:t>
            </a:r>
            <a:r>
              <a:rPr lang="en-US" i="1" dirty="0"/>
              <a:t>(operator : variable-list) </a:t>
            </a:r>
          </a:p>
          <a:p>
            <a:pPr marL="457200" lvl="1" indent="0">
              <a:buNone/>
            </a:pPr>
            <a:r>
              <a:rPr lang="en-US" dirty="0" err="1"/>
              <a:t>copyin</a:t>
            </a:r>
            <a:r>
              <a:rPr lang="en-US" i="1" dirty="0"/>
              <a:t>(list) </a:t>
            </a:r>
          </a:p>
          <a:p>
            <a:pPr marL="457200" lvl="1" indent="0">
              <a:buNone/>
            </a:pPr>
            <a:r>
              <a:rPr lang="en-US" dirty="0"/>
              <a:t>if</a:t>
            </a:r>
            <a:r>
              <a:rPr lang="en-US" i="1" dirty="0"/>
              <a:t>(</a:t>
            </a:r>
            <a:r>
              <a:rPr lang="en-US" i="1" dirty="0" err="1"/>
              <a:t>scalar_expression</a:t>
            </a:r>
            <a:r>
              <a:rPr lang="en-US" i="1" dirty="0"/>
              <a:t>) </a:t>
            </a:r>
          </a:p>
          <a:p>
            <a:pPr marL="457200" lvl="1" indent="0">
              <a:buNone/>
            </a:pPr>
            <a:r>
              <a:rPr lang="en-US" dirty="0" err="1"/>
              <a:t>num_threads</a:t>
            </a:r>
            <a:r>
              <a:rPr lang="en-US" dirty="0"/>
              <a:t>(</a:t>
            </a:r>
            <a:r>
              <a:rPr lang="en-US" i="1" dirty="0" err="1"/>
              <a:t>scalar_integer_expression</a:t>
            </a:r>
            <a:r>
              <a:rPr lang="en-US" dirty="0"/>
              <a:t>) </a:t>
            </a:r>
          </a:p>
          <a:p>
            <a:pPr marL="0" indent="0">
              <a:buNone/>
            </a:pPr>
            <a:endParaRPr lang="en-US" dirty="0">
              <a:solidFill>
                <a:srgbClr val="FF0000"/>
              </a:solidFill>
            </a:endParaRPr>
          </a:p>
          <a:p>
            <a:pPr marL="0" indent="0">
              <a:buNone/>
            </a:pPr>
            <a:endParaRPr lang="en-US" dirty="0"/>
          </a:p>
        </p:txBody>
      </p:sp>
    </p:spTree>
    <p:extLst>
      <p:ext uri="{BB962C8B-B14F-4D97-AF65-F5344CB8AC3E}">
        <p14:creationId xmlns:p14="http://schemas.microsoft.com/office/powerpoint/2010/main" val="36220866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54A5C-4F83-5F4B-A46C-FEF7C1F96CB6}"/>
              </a:ext>
            </a:extLst>
          </p:cNvPr>
          <p:cNvSpPr>
            <a:spLocks noGrp="1"/>
          </p:cNvSpPr>
          <p:nvPr>
            <p:ph idx="1"/>
          </p:nvPr>
        </p:nvSpPr>
        <p:spPr>
          <a:xfrm>
            <a:off x="838200" y="1332012"/>
            <a:ext cx="10515600" cy="5525987"/>
          </a:xfrm>
        </p:spPr>
        <p:txBody>
          <a:bodyPr/>
          <a:lstStyle/>
          <a:p>
            <a:r>
              <a:rPr lang="en-US" dirty="0">
                <a:solidFill>
                  <a:srgbClr val="0070C0"/>
                </a:solidFill>
              </a:rPr>
              <a:t>Private: </a:t>
            </a:r>
            <a:r>
              <a:rPr lang="en-US" dirty="0"/>
              <a:t>Each thread has its own instance of a variable. The variable is not initialized.</a:t>
            </a:r>
          </a:p>
          <a:p>
            <a:r>
              <a:rPr lang="en-US" dirty="0" err="1">
                <a:solidFill>
                  <a:srgbClr val="0070C0"/>
                </a:solidFill>
              </a:rPr>
              <a:t>Firstprivate</a:t>
            </a:r>
            <a:r>
              <a:rPr lang="en-US" dirty="0">
                <a:solidFill>
                  <a:srgbClr val="0070C0"/>
                </a:solidFill>
              </a:rPr>
              <a:t>:</a:t>
            </a:r>
            <a:r>
              <a:rPr lang="en-US" dirty="0"/>
              <a:t> Each thread has its own instance of a variable. The variable is initialized with the value of the master variable, because it exists before the parallel construct.</a:t>
            </a:r>
          </a:p>
          <a:p>
            <a:r>
              <a:rPr lang="en-US" dirty="0">
                <a:solidFill>
                  <a:srgbClr val="0070C0"/>
                </a:solidFill>
              </a:rPr>
              <a:t>Shared:</a:t>
            </a:r>
            <a:r>
              <a:rPr lang="en-US" dirty="0"/>
              <a:t> The variable is shared by all threads</a:t>
            </a:r>
          </a:p>
          <a:p>
            <a:r>
              <a:rPr lang="en-US" dirty="0">
                <a:solidFill>
                  <a:srgbClr val="0070C0"/>
                </a:solidFill>
              </a:rPr>
              <a:t>Default:</a:t>
            </a:r>
            <a:r>
              <a:rPr lang="en-US" dirty="0"/>
              <a:t> Specifies the behavior of </a:t>
            </a:r>
            <a:r>
              <a:rPr lang="en-US" dirty="0" err="1"/>
              <a:t>unscoped</a:t>
            </a:r>
            <a:r>
              <a:rPr lang="en-US" dirty="0"/>
              <a:t> variables in the parallel region.</a:t>
            </a:r>
          </a:p>
          <a:p>
            <a:r>
              <a:rPr lang="en-US" dirty="0">
                <a:solidFill>
                  <a:srgbClr val="0070C0"/>
                </a:solidFill>
              </a:rPr>
              <a:t>Reduction (operator : variable-list) : </a:t>
            </a:r>
            <a:r>
              <a:rPr lang="en-US" dirty="0"/>
              <a:t>A private copy for each list variable is created for each thread. At the end of the reduction, the reduction variable is applied to all private copies of the variable, and the final result is written to the global shared variable.</a:t>
            </a:r>
          </a:p>
          <a:p>
            <a:endParaRPr lang="en-US" dirty="0"/>
          </a:p>
        </p:txBody>
      </p:sp>
      <p:sp>
        <p:nvSpPr>
          <p:cNvPr id="4" name="Title 1">
            <a:extLst>
              <a:ext uri="{FF2B5EF4-FFF2-40B4-BE49-F238E27FC236}">
                <a16:creationId xmlns:a16="http://schemas.microsoft.com/office/drawing/2014/main" id="{690E820D-4618-5342-A7B0-E12483637C01}"/>
              </a:ext>
            </a:extLst>
          </p:cNvPr>
          <p:cNvSpPr>
            <a:spLocks noGrp="1"/>
          </p:cNvSpPr>
          <p:nvPr>
            <p:ph type="title"/>
          </p:nvPr>
        </p:nvSpPr>
        <p:spPr>
          <a:xfrm>
            <a:off x="838200" y="0"/>
            <a:ext cx="10515600" cy="1325563"/>
          </a:xfrm>
        </p:spPr>
        <p:txBody>
          <a:bodyPr/>
          <a:lstStyle/>
          <a:p>
            <a:r>
              <a:rPr lang="en-US" dirty="0"/>
              <a:t>Format of </a:t>
            </a:r>
            <a:r>
              <a:rPr lang="en-US" i="1" dirty="0"/>
              <a:t>parallel</a:t>
            </a:r>
            <a:r>
              <a:rPr lang="en-US" dirty="0"/>
              <a:t> construct </a:t>
            </a:r>
          </a:p>
        </p:txBody>
      </p:sp>
    </p:spTree>
    <p:extLst>
      <p:ext uri="{BB962C8B-B14F-4D97-AF65-F5344CB8AC3E}">
        <p14:creationId xmlns:p14="http://schemas.microsoft.com/office/powerpoint/2010/main" val="1010236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54A5C-4F83-5F4B-A46C-FEF7C1F96CB6}"/>
              </a:ext>
            </a:extLst>
          </p:cNvPr>
          <p:cNvSpPr>
            <a:spLocks noGrp="1"/>
          </p:cNvSpPr>
          <p:nvPr>
            <p:ph idx="1"/>
          </p:nvPr>
        </p:nvSpPr>
        <p:spPr>
          <a:xfrm>
            <a:off x="838200" y="1332012"/>
            <a:ext cx="10515600" cy="5525987"/>
          </a:xfrm>
        </p:spPr>
        <p:txBody>
          <a:bodyPr/>
          <a:lstStyle/>
          <a:p>
            <a:r>
              <a:rPr lang="en-US" dirty="0" err="1">
                <a:solidFill>
                  <a:srgbClr val="0070C0"/>
                </a:solidFill>
              </a:rPr>
              <a:t>Copyin</a:t>
            </a:r>
            <a:r>
              <a:rPr lang="en-US" dirty="0">
                <a:solidFill>
                  <a:srgbClr val="0070C0"/>
                </a:solidFill>
              </a:rPr>
              <a:t>: </a:t>
            </a:r>
            <a:r>
              <a:rPr lang="en-US" dirty="0"/>
              <a:t>copy the value of of the private variable in the main thread to all working threads in the team.  </a:t>
            </a:r>
          </a:p>
          <a:p>
            <a:r>
              <a:rPr lang="en-US" dirty="0">
                <a:solidFill>
                  <a:srgbClr val="0070C0"/>
                </a:solidFill>
              </a:rPr>
              <a:t>if</a:t>
            </a:r>
            <a:r>
              <a:rPr lang="en-US" i="1" dirty="0">
                <a:solidFill>
                  <a:srgbClr val="0070C0"/>
                </a:solidFill>
              </a:rPr>
              <a:t>(</a:t>
            </a:r>
            <a:r>
              <a:rPr lang="en-US" i="1" dirty="0" err="1">
                <a:solidFill>
                  <a:srgbClr val="0070C0"/>
                </a:solidFill>
              </a:rPr>
              <a:t>scalar_expression</a:t>
            </a:r>
            <a:r>
              <a:rPr lang="en-US" i="1" dirty="0">
                <a:solidFill>
                  <a:srgbClr val="0070C0"/>
                </a:solidFill>
              </a:rPr>
              <a:t>): </a:t>
            </a:r>
            <a:r>
              <a:rPr lang="en-US" dirty="0"/>
              <a:t>If present, it must evaluate to non-zero (C/C++) in order for a team of threads to be created. Otherwise, the region is executed serially by the master thread. </a:t>
            </a:r>
            <a:endParaRPr lang="en-US" i="1" dirty="0"/>
          </a:p>
          <a:p>
            <a:r>
              <a:rPr lang="en-US" dirty="0" err="1">
                <a:solidFill>
                  <a:srgbClr val="0070C0"/>
                </a:solidFill>
              </a:rPr>
              <a:t>num_threads</a:t>
            </a:r>
            <a:r>
              <a:rPr lang="en-US" dirty="0">
                <a:solidFill>
                  <a:srgbClr val="0070C0"/>
                </a:solidFill>
              </a:rPr>
              <a:t>(</a:t>
            </a:r>
            <a:r>
              <a:rPr lang="en-US" i="1" dirty="0" err="1">
                <a:solidFill>
                  <a:srgbClr val="0070C0"/>
                </a:solidFill>
              </a:rPr>
              <a:t>scalar_integer_expression</a:t>
            </a:r>
            <a:r>
              <a:rPr lang="en-US" dirty="0">
                <a:solidFill>
                  <a:srgbClr val="0070C0"/>
                </a:solidFill>
              </a:rPr>
              <a:t>): </a:t>
            </a:r>
            <a:r>
              <a:rPr lang="en-US" dirty="0"/>
              <a:t>sets the number of threads in the team. </a:t>
            </a:r>
          </a:p>
          <a:p>
            <a:endParaRPr lang="en-US" dirty="0"/>
          </a:p>
        </p:txBody>
      </p:sp>
      <p:sp>
        <p:nvSpPr>
          <p:cNvPr id="4" name="Title 1">
            <a:extLst>
              <a:ext uri="{FF2B5EF4-FFF2-40B4-BE49-F238E27FC236}">
                <a16:creationId xmlns:a16="http://schemas.microsoft.com/office/drawing/2014/main" id="{690E820D-4618-5342-A7B0-E12483637C01}"/>
              </a:ext>
            </a:extLst>
          </p:cNvPr>
          <p:cNvSpPr>
            <a:spLocks noGrp="1"/>
          </p:cNvSpPr>
          <p:nvPr>
            <p:ph type="title"/>
          </p:nvPr>
        </p:nvSpPr>
        <p:spPr>
          <a:xfrm>
            <a:off x="838200" y="0"/>
            <a:ext cx="10515600" cy="1325563"/>
          </a:xfrm>
        </p:spPr>
        <p:txBody>
          <a:bodyPr/>
          <a:lstStyle/>
          <a:p>
            <a:r>
              <a:rPr lang="en-US" dirty="0"/>
              <a:t>Format of </a:t>
            </a:r>
            <a:r>
              <a:rPr lang="en-US" i="1" dirty="0"/>
              <a:t>parallel</a:t>
            </a:r>
            <a:r>
              <a:rPr lang="en-US" dirty="0"/>
              <a:t> construct </a:t>
            </a:r>
          </a:p>
        </p:txBody>
      </p:sp>
    </p:spTree>
    <p:extLst>
      <p:ext uri="{BB962C8B-B14F-4D97-AF65-F5344CB8AC3E}">
        <p14:creationId xmlns:p14="http://schemas.microsoft.com/office/powerpoint/2010/main" val="3479429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41BEB-2ED7-DD4E-8D01-F635496DC4D1}"/>
              </a:ext>
            </a:extLst>
          </p:cNvPr>
          <p:cNvSpPr>
            <a:spLocks noGrp="1"/>
          </p:cNvSpPr>
          <p:nvPr>
            <p:ph type="title"/>
          </p:nvPr>
        </p:nvSpPr>
        <p:spPr>
          <a:xfrm>
            <a:off x="838200" y="0"/>
            <a:ext cx="10515600" cy="1325563"/>
          </a:xfrm>
        </p:spPr>
        <p:txBody>
          <a:bodyPr/>
          <a:lstStyle/>
          <a:p>
            <a:r>
              <a:rPr lang="en-US" dirty="0"/>
              <a:t>loops: Format of </a:t>
            </a:r>
            <a:r>
              <a:rPr lang="en-US" i="1" dirty="0"/>
              <a:t>for</a:t>
            </a:r>
            <a:r>
              <a:rPr lang="en-US" dirty="0"/>
              <a:t> construct </a:t>
            </a:r>
          </a:p>
        </p:txBody>
      </p:sp>
      <p:sp>
        <p:nvSpPr>
          <p:cNvPr id="3" name="Content Placeholder 2">
            <a:extLst>
              <a:ext uri="{FF2B5EF4-FFF2-40B4-BE49-F238E27FC236}">
                <a16:creationId xmlns:a16="http://schemas.microsoft.com/office/drawing/2014/main" id="{9D56B4F6-6C97-5243-881F-6424AF25A5F6}"/>
              </a:ext>
            </a:extLst>
          </p:cNvPr>
          <p:cNvSpPr>
            <a:spLocks noGrp="1"/>
          </p:cNvSpPr>
          <p:nvPr>
            <p:ph idx="1"/>
          </p:nvPr>
        </p:nvSpPr>
        <p:spPr>
          <a:xfrm>
            <a:off x="838200" y="1325563"/>
            <a:ext cx="10515600" cy="4351338"/>
          </a:xfrm>
        </p:spPr>
        <p:txBody>
          <a:bodyPr>
            <a:normAutofit lnSpcReduction="10000"/>
          </a:bodyPr>
          <a:lstStyle/>
          <a:p>
            <a:pPr marL="0" indent="0">
              <a:buNone/>
            </a:pPr>
            <a:r>
              <a:rPr lang="en-US" dirty="0">
                <a:solidFill>
                  <a:srgbClr val="FF0000"/>
                </a:solidFill>
              </a:rPr>
              <a:t>#pragma </a:t>
            </a:r>
            <a:r>
              <a:rPr lang="en-US" dirty="0" err="1">
                <a:solidFill>
                  <a:srgbClr val="FF0000"/>
                </a:solidFill>
              </a:rPr>
              <a:t>omp</a:t>
            </a:r>
            <a:r>
              <a:rPr lang="en-US" dirty="0">
                <a:solidFill>
                  <a:srgbClr val="FF0000"/>
                </a:solidFill>
              </a:rPr>
              <a:t> for </a:t>
            </a:r>
            <a:r>
              <a:rPr lang="en-US" i="1" dirty="0">
                <a:solidFill>
                  <a:srgbClr val="FF0000"/>
                </a:solidFill>
              </a:rPr>
              <a:t>[clause ...] </a:t>
            </a:r>
          </a:p>
          <a:p>
            <a:pPr marL="0" indent="0">
              <a:buNone/>
            </a:pPr>
            <a:r>
              <a:rPr lang="en-US" i="1" dirty="0">
                <a:solidFill>
                  <a:srgbClr val="FF0000"/>
                </a:solidFill>
              </a:rPr>
              <a:t> </a:t>
            </a:r>
            <a:r>
              <a:rPr lang="en-US" dirty="0">
                <a:solidFill>
                  <a:srgbClr val="FF0000"/>
                </a:solidFill>
              </a:rPr>
              <a:t>{ for-loop } </a:t>
            </a:r>
          </a:p>
          <a:p>
            <a:r>
              <a:rPr lang="en-US" dirty="0"/>
              <a:t>Optional clauses : </a:t>
            </a:r>
          </a:p>
          <a:p>
            <a:pPr marL="0" indent="0">
              <a:spcBef>
                <a:spcPts val="600"/>
              </a:spcBef>
              <a:buNone/>
            </a:pPr>
            <a:r>
              <a:rPr lang="en-US" dirty="0"/>
              <a:t>    schedule </a:t>
            </a:r>
            <a:r>
              <a:rPr lang="en-US" i="1" dirty="0"/>
              <a:t>(type [,chunk])</a:t>
            </a:r>
            <a:br>
              <a:rPr lang="en-US" dirty="0"/>
            </a:br>
            <a:r>
              <a:rPr lang="en-US" dirty="0"/>
              <a:t>    private(</a:t>
            </a:r>
            <a:r>
              <a:rPr lang="en-US" i="1" dirty="0"/>
              <a:t>list</a:t>
            </a:r>
            <a:r>
              <a:rPr lang="en-US" dirty="0"/>
              <a:t>)</a:t>
            </a:r>
            <a:br>
              <a:rPr lang="en-US" dirty="0"/>
            </a:br>
            <a:r>
              <a:rPr lang="en-US" dirty="0"/>
              <a:t>    </a:t>
            </a:r>
            <a:r>
              <a:rPr lang="en-US" dirty="0" err="1"/>
              <a:t>firstprivate</a:t>
            </a:r>
            <a:r>
              <a:rPr lang="en-US" i="1" dirty="0"/>
              <a:t>(list) </a:t>
            </a:r>
          </a:p>
          <a:p>
            <a:pPr marL="0" indent="0">
              <a:spcBef>
                <a:spcPts val="600"/>
              </a:spcBef>
              <a:buNone/>
            </a:pPr>
            <a:r>
              <a:rPr lang="en-US" dirty="0"/>
              <a:t>    </a:t>
            </a:r>
            <a:r>
              <a:rPr lang="en-US" dirty="0" err="1"/>
              <a:t>lastprivate</a:t>
            </a:r>
            <a:r>
              <a:rPr lang="en-US" dirty="0"/>
              <a:t>(</a:t>
            </a:r>
            <a:r>
              <a:rPr lang="en-US" i="1" dirty="0"/>
              <a:t>list</a:t>
            </a:r>
            <a:r>
              <a:rPr lang="en-US" dirty="0"/>
              <a:t>)</a:t>
            </a:r>
            <a:br>
              <a:rPr lang="en-US" dirty="0"/>
            </a:br>
            <a:r>
              <a:rPr lang="en-US" dirty="0"/>
              <a:t>    shared(</a:t>
            </a:r>
            <a:r>
              <a:rPr lang="en-US" i="1" dirty="0"/>
              <a:t>list</a:t>
            </a:r>
            <a:r>
              <a:rPr lang="en-US" dirty="0"/>
              <a:t>)</a:t>
            </a:r>
            <a:br>
              <a:rPr lang="en-US" dirty="0"/>
            </a:br>
            <a:r>
              <a:rPr lang="en-US" dirty="0"/>
              <a:t>    reduction</a:t>
            </a:r>
            <a:r>
              <a:rPr lang="en-US" i="1" dirty="0"/>
              <a:t>(operator : variable-list) 					</a:t>
            </a:r>
          </a:p>
          <a:p>
            <a:pPr marL="0" indent="0">
              <a:spcBef>
                <a:spcPts val="600"/>
              </a:spcBef>
              <a:buNone/>
            </a:pPr>
            <a:r>
              <a:rPr lang="en-US" dirty="0"/>
              <a:t>    </a:t>
            </a:r>
            <a:r>
              <a:rPr lang="en-US" dirty="0" err="1"/>
              <a:t>nowait</a:t>
            </a:r>
            <a:r>
              <a:rPr lang="en-US" dirty="0"/>
              <a:t> </a:t>
            </a:r>
          </a:p>
          <a:p>
            <a:endParaRPr lang="en-US" dirty="0"/>
          </a:p>
        </p:txBody>
      </p:sp>
    </p:spTree>
    <p:extLst>
      <p:ext uri="{BB962C8B-B14F-4D97-AF65-F5344CB8AC3E}">
        <p14:creationId xmlns:p14="http://schemas.microsoft.com/office/powerpoint/2010/main" val="26609795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41BEB-2ED7-DD4E-8D01-F635496DC4D1}"/>
              </a:ext>
            </a:extLst>
          </p:cNvPr>
          <p:cNvSpPr>
            <a:spLocks noGrp="1"/>
          </p:cNvSpPr>
          <p:nvPr>
            <p:ph type="title"/>
          </p:nvPr>
        </p:nvSpPr>
        <p:spPr>
          <a:xfrm>
            <a:off x="838200" y="0"/>
            <a:ext cx="10515600" cy="1325563"/>
          </a:xfrm>
        </p:spPr>
        <p:txBody>
          <a:bodyPr/>
          <a:lstStyle/>
          <a:p>
            <a:r>
              <a:rPr lang="en-US" dirty="0"/>
              <a:t>loops: Format of </a:t>
            </a:r>
            <a:r>
              <a:rPr lang="en-US" i="1" dirty="0"/>
              <a:t>for</a:t>
            </a:r>
            <a:r>
              <a:rPr lang="en-US" dirty="0"/>
              <a:t> construct </a:t>
            </a:r>
          </a:p>
        </p:txBody>
      </p:sp>
      <p:sp>
        <p:nvSpPr>
          <p:cNvPr id="3" name="Content Placeholder 2">
            <a:extLst>
              <a:ext uri="{FF2B5EF4-FFF2-40B4-BE49-F238E27FC236}">
                <a16:creationId xmlns:a16="http://schemas.microsoft.com/office/drawing/2014/main" id="{9D56B4F6-6C97-5243-881F-6424AF25A5F6}"/>
              </a:ext>
            </a:extLst>
          </p:cNvPr>
          <p:cNvSpPr>
            <a:spLocks noGrp="1"/>
          </p:cNvSpPr>
          <p:nvPr>
            <p:ph idx="1"/>
          </p:nvPr>
        </p:nvSpPr>
        <p:spPr>
          <a:xfrm>
            <a:off x="838200" y="1325562"/>
            <a:ext cx="10515600" cy="6105141"/>
          </a:xfrm>
        </p:spPr>
        <p:txBody>
          <a:bodyPr>
            <a:normAutofit lnSpcReduction="10000"/>
          </a:bodyPr>
          <a:lstStyle/>
          <a:p>
            <a:r>
              <a:rPr lang="en-US" dirty="0"/>
              <a:t>The </a:t>
            </a:r>
            <a:r>
              <a:rPr lang="en-US" i="1" dirty="0"/>
              <a:t>for</a:t>
            </a:r>
            <a:r>
              <a:rPr lang="en-US" dirty="0"/>
              <a:t> statement specifies that the iterations of the loop immediately following it must be executed in parallel by the team. This assumes a parallel region has already been initiated, otherwise it executes in serial on a single processor. </a:t>
            </a:r>
          </a:p>
          <a:p>
            <a:r>
              <a:rPr lang="en-US" dirty="0"/>
              <a:t>The clauses: </a:t>
            </a:r>
          </a:p>
          <a:p>
            <a:r>
              <a:rPr lang="en-US" dirty="0">
                <a:solidFill>
                  <a:srgbClr val="0070C0"/>
                </a:solidFill>
              </a:rPr>
              <a:t>schedule </a:t>
            </a:r>
            <a:r>
              <a:rPr lang="en-US" i="1" dirty="0">
                <a:solidFill>
                  <a:srgbClr val="0070C0"/>
                </a:solidFill>
              </a:rPr>
              <a:t>(</a:t>
            </a:r>
            <a:r>
              <a:rPr lang="en-US" i="1" dirty="0">
                <a:solidFill>
                  <a:srgbClr val="FF0000"/>
                </a:solidFill>
              </a:rPr>
              <a:t>type</a:t>
            </a:r>
            <a:r>
              <a:rPr lang="en-US" i="1" dirty="0">
                <a:solidFill>
                  <a:srgbClr val="0070C0"/>
                </a:solidFill>
              </a:rPr>
              <a:t> [,chunk]): </a:t>
            </a:r>
            <a:r>
              <a:rPr lang="en-US" dirty="0"/>
              <a:t>Describes how iterations of the loop are divided among the threads in the team, where chunk is the number of iterations.</a:t>
            </a:r>
          </a:p>
          <a:p>
            <a:pPr lvl="1"/>
            <a:r>
              <a:rPr lang="en-US" i="1" dirty="0">
                <a:solidFill>
                  <a:srgbClr val="FF0000"/>
                </a:solidFill>
              </a:rPr>
              <a:t>static </a:t>
            </a:r>
            <a:r>
              <a:rPr lang="en-US" i="1" dirty="0"/>
              <a:t>Each loop chunk is statically assigned to a thread. </a:t>
            </a:r>
            <a:r>
              <a:rPr lang="en-US" dirty="0"/>
              <a:t>When </a:t>
            </a:r>
            <a:r>
              <a:rPr lang="en-US" i="1" dirty="0"/>
              <a:t>chunk</a:t>
            </a:r>
            <a:r>
              <a:rPr lang="en-US" dirty="0"/>
              <a:t> is not specified, the iterations are evenly divided among the threads.</a:t>
            </a:r>
            <a:endParaRPr lang="en-US" i="1" dirty="0"/>
          </a:p>
          <a:p>
            <a:pPr lvl="1"/>
            <a:r>
              <a:rPr lang="en-US" i="1" dirty="0">
                <a:solidFill>
                  <a:srgbClr val="FF0000"/>
                </a:solidFill>
              </a:rPr>
              <a:t>dynamic: </a:t>
            </a:r>
            <a:r>
              <a:rPr lang="en-US" dirty="0"/>
              <a:t>Loop iterations are dynamically scheduled among the threads. When a thread finishes a chunk it is dynamically assigned another. The default chunk size is 1. </a:t>
            </a:r>
          </a:p>
          <a:p>
            <a:pPr lvl="1"/>
            <a:r>
              <a:rPr lang="en-US" i="1" dirty="0">
                <a:solidFill>
                  <a:srgbClr val="FF0000"/>
                </a:solidFill>
              </a:rPr>
              <a:t>guided: </a:t>
            </a:r>
            <a:r>
              <a:rPr lang="en-US" dirty="0"/>
              <a:t>Each thread chunk size is exponentially reduced after each iteration. </a:t>
            </a:r>
            <a:endParaRPr lang="en-US" i="1" dirty="0">
              <a:solidFill>
                <a:srgbClr val="FF0000"/>
              </a:solidFill>
            </a:endParaRPr>
          </a:p>
          <a:p>
            <a:pPr lvl="1"/>
            <a:r>
              <a:rPr lang="en-US" i="1" dirty="0">
                <a:solidFill>
                  <a:srgbClr val="FF0000"/>
                </a:solidFill>
              </a:rPr>
              <a:t>auto: </a:t>
            </a:r>
            <a:r>
              <a:rPr lang="en-US" dirty="0"/>
              <a:t>decision delegated to compiler or runtime system </a:t>
            </a:r>
            <a:br>
              <a:rPr lang="en-US" i="1" dirty="0"/>
            </a:br>
            <a:endParaRPr lang="en-US" dirty="0"/>
          </a:p>
          <a:p>
            <a:endParaRPr lang="en-US" dirty="0"/>
          </a:p>
        </p:txBody>
      </p:sp>
    </p:spTree>
    <p:extLst>
      <p:ext uri="{BB962C8B-B14F-4D97-AF65-F5344CB8AC3E}">
        <p14:creationId xmlns:p14="http://schemas.microsoft.com/office/powerpoint/2010/main" val="26355946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41BEB-2ED7-DD4E-8D01-F635496DC4D1}"/>
              </a:ext>
            </a:extLst>
          </p:cNvPr>
          <p:cNvSpPr>
            <a:spLocks noGrp="1"/>
          </p:cNvSpPr>
          <p:nvPr>
            <p:ph type="title"/>
          </p:nvPr>
        </p:nvSpPr>
        <p:spPr>
          <a:xfrm>
            <a:off x="838200" y="0"/>
            <a:ext cx="10515600" cy="1325563"/>
          </a:xfrm>
        </p:spPr>
        <p:txBody>
          <a:bodyPr/>
          <a:lstStyle/>
          <a:p>
            <a:r>
              <a:rPr lang="en-US" dirty="0"/>
              <a:t>loops: Format of </a:t>
            </a:r>
            <a:r>
              <a:rPr lang="en-US" i="1" dirty="0"/>
              <a:t>for</a:t>
            </a:r>
            <a:r>
              <a:rPr lang="en-US" dirty="0"/>
              <a:t> construct </a:t>
            </a:r>
          </a:p>
        </p:txBody>
      </p:sp>
      <p:sp>
        <p:nvSpPr>
          <p:cNvPr id="3" name="Content Placeholder 2">
            <a:extLst>
              <a:ext uri="{FF2B5EF4-FFF2-40B4-BE49-F238E27FC236}">
                <a16:creationId xmlns:a16="http://schemas.microsoft.com/office/drawing/2014/main" id="{9D56B4F6-6C97-5243-881F-6424AF25A5F6}"/>
              </a:ext>
            </a:extLst>
          </p:cNvPr>
          <p:cNvSpPr>
            <a:spLocks noGrp="1"/>
          </p:cNvSpPr>
          <p:nvPr>
            <p:ph idx="1"/>
          </p:nvPr>
        </p:nvSpPr>
        <p:spPr>
          <a:xfrm>
            <a:off x="838200" y="1325562"/>
            <a:ext cx="10515600" cy="5532437"/>
          </a:xfrm>
        </p:spPr>
        <p:txBody>
          <a:bodyPr>
            <a:normAutofit/>
          </a:bodyPr>
          <a:lstStyle/>
          <a:p>
            <a:r>
              <a:rPr lang="en-US" dirty="0">
                <a:solidFill>
                  <a:srgbClr val="0070C0"/>
                </a:solidFill>
              </a:rPr>
              <a:t>private / share / </a:t>
            </a:r>
            <a:r>
              <a:rPr lang="en-US" dirty="0" err="1">
                <a:solidFill>
                  <a:srgbClr val="0070C0"/>
                </a:solidFill>
              </a:rPr>
              <a:t>firstprivate</a:t>
            </a:r>
            <a:r>
              <a:rPr lang="en-US" dirty="0">
                <a:solidFill>
                  <a:srgbClr val="0070C0"/>
                </a:solidFill>
              </a:rPr>
              <a:t> / reduction: </a:t>
            </a:r>
            <a:r>
              <a:rPr lang="en-US" dirty="0"/>
              <a:t>same as before</a:t>
            </a:r>
          </a:p>
          <a:p>
            <a:r>
              <a:rPr lang="en-US" dirty="0" err="1">
                <a:solidFill>
                  <a:srgbClr val="0070C0"/>
                </a:solidFill>
              </a:rPr>
              <a:t>lastprivate</a:t>
            </a:r>
            <a:r>
              <a:rPr lang="en-US" dirty="0"/>
              <a:t>: A copy of the private variable from the last iteration is kept in the original variable at the end of the parallel section. </a:t>
            </a:r>
          </a:p>
          <a:p>
            <a:r>
              <a:rPr lang="en-US" dirty="0" err="1">
                <a:solidFill>
                  <a:srgbClr val="0070C0"/>
                </a:solidFill>
              </a:rPr>
              <a:t>nowait</a:t>
            </a:r>
            <a:r>
              <a:rPr lang="en-US" dirty="0">
                <a:solidFill>
                  <a:srgbClr val="0070C0"/>
                </a:solidFill>
              </a:rPr>
              <a:t>: </a:t>
            </a:r>
            <a:r>
              <a:rPr lang="en-US" dirty="0"/>
              <a:t>If specified, then the threads do not synchronize at the end of the parallel loop. Threads proceed directly to the next statements after the loop. </a:t>
            </a:r>
          </a:p>
          <a:p>
            <a:endParaRPr lang="en-US" dirty="0"/>
          </a:p>
        </p:txBody>
      </p:sp>
    </p:spTree>
    <p:extLst>
      <p:ext uri="{BB962C8B-B14F-4D97-AF65-F5344CB8AC3E}">
        <p14:creationId xmlns:p14="http://schemas.microsoft.com/office/powerpoint/2010/main" val="11989512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577516" y="1158833"/>
            <a:ext cx="11049802" cy="4760055"/>
          </a:xfrm>
        </p:spPr>
        <p:txBody>
          <a:bodyPr>
            <a:normAutofit/>
          </a:bodyPr>
          <a:lstStyle/>
          <a:p>
            <a:pPr marL="0" indent="0">
              <a:buNone/>
            </a:pPr>
            <a:r>
              <a:rPr lang="en-US" dirty="0">
                <a:solidFill>
                  <a:srgbClr val="FF0000"/>
                </a:solidFill>
              </a:rPr>
              <a:t>#pragma </a:t>
            </a:r>
            <a:r>
              <a:rPr lang="en-US" dirty="0" err="1">
                <a:solidFill>
                  <a:srgbClr val="FF0000"/>
                </a:solidFill>
              </a:rPr>
              <a:t>omp</a:t>
            </a:r>
            <a:r>
              <a:rPr lang="en-US" dirty="0">
                <a:solidFill>
                  <a:srgbClr val="FF0000"/>
                </a:solidFill>
              </a:rPr>
              <a:t> parallel for schedule(static/dynamic/guided) private(a)</a:t>
            </a:r>
          </a:p>
          <a:p>
            <a:pPr marL="0" indent="0">
              <a:buNone/>
            </a:pPr>
            <a:r>
              <a:rPr lang="en-US" dirty="0">
                <a:solidFill>
                  <a:srgbClr val="00B050"/>
                </a:solidFill>
              </a:rPr>
              <a:t>//creates N threads to run the next enclosed block </a:t>
            </a:r>
          </a:p>
          <a:p>
            <a:pPr marL="0" indent="0">
              <a:buNone/>
            </a:pPr>
            <a:r>
              <a:rPr lang="en-US" dirty="0"/>
              <a:t>for(</a:t>
            </a:r>
            <a:r>
              <a:rPr lang="en-US" dirty="0" err="1"/>
              <a:t>i</a:t>
            </a:r>
            <a:r>
              <a:rPr lang="en-US" dirty="0"/>
              <a:t> = 0; </a:t>
            </a:r>
            <a:r>
              <a:rPr lang="en-US" dirty="0" err="1"/>
              <a:t>i</a:t>
            </a:r>
            <a:r>
              <a:rPr lang="en-US" dirty="0"/>
              <a:t> &lt; loops; </a:t>
            </a:r>
            <a:r>
              <a:rPr lang="en-US" dirty="0" err="1"/>
              <a:t>i</a:t>
            </a:r>
            <a:r>
              <a:rPr lang="en-US" dirty="0"/>
              <a:t>++)</a:t>
            </a:r>
          </a:p>
          <a:p>
            <a:pPr marL="0" indent="0">
              <a:buNone/>
            </a:pPr>
            <a:r>
              <a:rPr lang="en-US" dirty="0"/>
              <a:t>	{	</a:t>
            </a:r>
          </a:p>
          <a:p>
            <a:pPr marL="0" indent="0">
              <a:buNone/>
            </a:pPr>
            <a:r>
              <a:rPr lang="en-US" dirty="0"/>
              <a:t>		a = 6+7*8;</a:t>
            </a:r>
          </a:p>
          <a:p>
            <a:pPr marL="0" indent="0">
              <a:buNone/>
            </a:pPr>
            <a:r>
              <a:rPr lang="en-US" dirty="0"/>
              <a:t>	}</a:t>
            </a:r>
          </a:p>
          <a:p>
            <a:pPr marL="0" indent="0">
              <a:buNone/>
            </a:pPr>
            <a:endParaRPr lang="en-US" dirty="0">
              <a:latin typeface="Courier New" panose="02070309020205020404" pitchFamily="49" charset="0"/>
            </a:endParaRPr>
          </a:p>
        </p:txBody>
      </p:sp>
      <p:sp>
        <p:nvSpPr>
          <p:cNvPr id="4" name="Footer Placeholder 3"/>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
        <p:nvSpPr>
          <p:cNvPr id="79873" name="Title 1"/>
          <p:cNvSpPr>
            <a:spLocks noGrp="1"/>
          </p:cNvSpPr>
          <p:nvPr>
            <p:ph type="title"/>
          </p:nvPr>
        </p:nvSpPr>
        <p:spPr>
          <a:xfrm>
            <a:off x="1524000" y="-101610"/>
            <a:ext cx="9144000" cy="1414462"/>
          </a:xfrm>
        </p:spPr>
        <p:txBody>
          <a:bodyPr>
            <a:normAutofit/>
          </a:bodyPr>
          <a:lstStyle/>
          <a:p>
            <a:pPr algn="ctr"/>
            <a:r>
              <a:rPr lang="en-US" dirty="0" err="1">
                <a:latin typeface="Arial" charset="0"/>
              </a:rPr>
              <a:t>Loop.c</a:t>
            </a:r>
            <a:r>
              <a:rPr lang="en-US" dirty="0">
                <a:latin typeface="Arial" charset="0"/>
              </a:rPr>
              <a:t> example</a:t>
            </a:r>
            <a:endParaRPr lang="en-US" dirty="0">
              <a:solidFill>
                <a:srgbClr val="FF0000"/>
              </a:solidFill>
              <a:latin typeface="Arial" charset="0"/>
            </a:endParaRPr>
          </a:p>
        </p:txBody>
      </p:sp>
      <p:sp>
        <p:nvSpPr>
          <p:cNvPr id="2" name="Slide Number Placeholder 1"/>
          <p:cNvSpPr>
            <a:spLocks noGrp="1"/>
          </p:cNvSpPr>
          <p:nvPr>
            <p:ph type="sldNum" sz="quarter" idx="12"/>
          </p:nvPr>
        </p:nvSpPr>
        <p:spPr/>
        <p:txBody>
          <a:bodyPr/>
          <a:lstStyle/>
          <a:p>
            <a:fld id="{E36BE44D-6AB7-7747-A5B3-8E5957F8FC9E}" type="slidenum">
              <a:rPr lang="en-US" smtClean="0"/>
              <a:t>58</a:t>
            </a:fld>
            <a:endParaRPr lang="en-US"/>
          </a:p>
        </p:txBody>
      </p:sp>
    </p:spTree>
    <p:extLst>
      <p:ext uri="{BB962C8B-B14F-4D97-AF65-F5344CB8AC3E}">
        <p14:creationId xmlns:p14="http://schemas.microsoft.com/office/powerpoint/2010/main" val="4729519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a:xfrm>
            <a:off x="1653571" y="258437"/>
            <a:ext cx="8535458" cy="708025"/>
          </a:xfrm>
        </p:spPr>
        <p:txBody>
          <a:bodyPr>
            <a:normAutofit fontScale="90000"/>
          </a:bodyPr>
          <a:lstStyle/>
          <a:p>
            <a:r>
              <a:rPr lang="en-US" dirty="0">
                <a:latin typeface="Arial" charset="0"/>
              </a:rPr>
              <a:t>schedule types can prevent load imbalance</a:t>
            </a:r>
          </a:p>
        </p:txBody>
      </p:sp>
      <p:sp>
        <p:nvSpPr>
          <p:cNvPr id="22" name="Rectangle 21"/>
          <p:cNvSpPr/>
          <p:nvPr/>
        </p:nvSpPr>
        <p:spPr>
          <a:xfrm rot="16200000">
            <a:off x="1374669" y="4472348"/>
            <a:ext cx="1505540" cy="523220"/>
          </a:xfrm>
          <a:prstGeom prst="rect">
            <a:avLst/>
          </a:prstGeom>
        </p:spPr>
        <p:txBody>
          <a:bodyPr wrap="none">
            <a:spAutoFit/>
          </a:bodyPr>
          <a:lstStyle/>
          <a:p>
            <a:r>
              <a:rPr lang="en-US" sz="2800" dirty="0">
                <a:latin typeface="Arial" charset="0"/>
              </a:rPr>
              <a:t>Threads</a:t>
            </a:r>
          </a:p>
        </p:txBody>
      </p:sp>
      <p:sp>
        <p:nvSpPr>
          <p:cNvPr id="23" name="Rectangle 22"/>
          <p:cNvSpPr/>
          <p:nvPr/>
        </p:nvSpPr>
        <p:spPr>
          <a:xfrm>
            <a:off x="3549151" y="5678125"/>
            <a:ext cx="969261" cy="523220"/>
          </a:xfrm>
          <a:prstGeom prst="rect">
            <a:avLst/>
          </a:prstGeom>
        </p:spPr>
        <p:txBody>
          <a:bodyPr wrap="none">
            <a:spAutoFit/>
          </a:bodyPr>
          <a:lstStyle/>
          <a:p>
            <a:r>
              <a:rPr lang="en-US" sz="2800" dirty="0">
                <a:latin typeface="Arial" charset="0"/>
              </a:rPr>
              <a:t>Time</a:t>
            </a:r>
          </a:p>
        </p:txBody>
      </p:sp>
      <p:sp>
        <p:nvSpPr>
          <p:cNvPr id="24" name="Rectangle 23"/>
          <p:cNvSpPr/>
          <p:nvPr/>
        </p:nvSpPr>
        <p:spPr>
          <a:xfrm>
            <a:off x="2336464" y="1699227"/>
            <a:ext cx="3315556" cy="646331"/>
          </a:xfrm>
          <a:prstGeom prst="rect">
            <a:avLst/>
          </a:prstGeom>
        </p:spPr>
        <p:txBody>
          <a:bodyPr wrap="none">
            <a:spAutoFit/>
          </a:bodyPr>
          <a:lstStyle/>
          <a:p>
            <a:r>
              <a:rPr lang="en-US" sz="3600" dirty="0">
                <a:latin typeface="Arial" charset="0"/>
              </a:rPr>
              <a:t>Static schedule</a:t>
            </a:r>
          </a:p>
        </p:txBody>
      </p:sp>
      <p:sp>
        <p:nvSpPr>
          <p:cNvPr id="25" name="Rectangle 24"/>
          <p:cNvSpPr/>
          <p:nvPr/>
        </p:nvSpPr>
        <p:spPr>
          <a:xfrm>
            <a:off x="7104167" y="1678738"/>
            <a:ext cx="3956657" cy="646331"/>
          </a:xfrm>
          <a:prstGeom prst="rect">
            <a:avLst/>
          </a:prstGeom>
        </p:spPr>
        <p:txBody>
          <a:bodyPr wrap="none">
            <a:spAutoFit/>
          </a:bodyPr>
          <a:lstStyle/>
          <a:p>
            <a:r>
              <a:rPr lang="en-US" sz="3600" dirty="0">
                <a:latin typeface="Arial" charset="0"/>
              </a:rPr>
              <a:t>Dynamic schedule</a:t>
            </a:r>
          </a:p>
        </p:txBody>
      </p:sp>
      <p:sp>
        <p:nvSpPr>
          <p:cNvPr id="26" name="Rectangle 25"/>
          <p:cNvSpPr/>
          <p:nvPr/>
        </p:nvSpPr>
        <p:spPr>
          <a:xfrm>
            <a:off x="5968516" y="1676679"/>
            <a:ext cx="774571" cy="646331"/>
          </a:xfrm>
          <a:prstGeom prst="rect">
            <a:avLst/>
          </a:prstGeom>
        </p:spPr>
        <p:txBody>
          <a:bodyPr wrap="none">
            <a:spAutoFit/>
          </a:bodyPr>
          <a:lstStyle/>
          <a:p>
            <a:r>
              <a:rPr lang="en-US" sz="3600" dirty="0">
                <a:latin typeface="Arial" charset="0"/>
              </a:rPr>
              <a:t>vs.</a:t>
            </a:r>
          </a:p>
        </p:txBody>
      </p:sp>
      <p:grpSp>
        <p:nvGrpSpPr>
          <p:cNvPr id="21" name="Group 20"/>
          <p:cNvGrpSpPr/>
          <p:nvPr/>
        </p:nvGrpSpPr>
        <p:grpSpPr>
          <a:xfrm>
            <a:off x="2400853" y="3037563"/>
            <a:ext cx="4213994" cy="2648215"/>
            <a:chOff x="1139939" y="1269363"/>
            <a:chExt cx="5988889" cy="2822713"/>
          </a:xfrm>
        </p:grpSpPr>
        <p:cxnSp>
          <p:nvCxnSpPr>
            <p:cNvPr id="17" name="Straight Connector 16"/>
            <p:cNvCxnSpPr/>
            <p:nvPr/>
          </p:nvCxnSpPr>
          <p:spPr>
            <a:xfrm>
              <a:off x="1161040" y="1269363"/>
              <a:ext cx="0" cy="2822713"/>
            </a:xfrm>
            <a:prstGeom prst="line">
              <a:avLst/>
            </a:prstGeom>
            <a:ln w="66675">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flipH="1" flipV="1">
              <a:off x="1139939" y="4083921"/>
              <a:ext cx="4990155" cy="8155"/>
            </a:xfrm>
            <a:prstGeom prst="line">
              <a:avLst/>
            </a:prstGeom>
            <a:ln w="66675">
              <a:solidFill>
                <a:schemeClr val="tx1"/>
              </a:solidFill>
              <a:headEnd type="arrow"/>
            </a:ln>
          </p:spPr>
          <p:style>
            <a:lnRef idx="1">
              <a:schemeClr val="accent1"/>
            </a:lnRef>
            <a:fillRef idx="0">
              <a:schemeClr val="accent1"/>
            </a:fillRef>
            <a:effectRef idx="0">
              <a:schemeClr val="accent1"/>
            </a:effectRef>
            <a:fontRef idx="minor">
              <a:schemeClr val="tx1"/>
            </a:fontRef>
          </p:style>
        </p:cxnSp>
        <p:sp>
          <p:nvSpPr>
            <p:cNvPr id="27" name="Rectangle: Rounded Corners 26"/>
            <p:cNvSpPr/>
            <p:nvPr/>
          </p:nvSpPr>
          <p:spPr>
            <a:xfrm>
              <a:off x="1318698" y="3523928"/>
              <a:ext cx="2898776"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0</a:t>
              </a:r>
            </a:p>
          </p:txBody>
        </p:sp>
        <p:sp>
          <p:nvSpPr>
            <p:cNvPr id="28" name="Rectangle: Rounded Corners 27"/>
            <p:cNvSpPr/>
            <p:nvPr/>
          </p:nvSpPr>
          <p:spPr>
            <a:xfrm>
              <a:off x="1318698" y="3024084"/>
              <a:ext cx="2380616"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1</a:t>
              </a:r>
            </a:p>
          </p:txBody>
        </p:sp>
        <p:sp>
          <p:nvSpPr>
            <p:cNvPr id="29" name="Rectangle: Rounded Corners 28"/>
            <p:cNvSpPr/>
            <p:nvPr/>
          </p:nvSpPr>
          <p:spPr>
            <a:xfrm>
              <a:off x="1318698" y="2531648"/>
              <a:ext cx="2085751"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2</a:t>
              </a:r>
            </a:p>
          </p:txBody>
        </p:sp>
        <p:sp>
          <p:nvSpPr>
            <p:cNvPr id="30" name="Rectangle: Rounded Corners 29"/>
            <p:cNvSpPr/>
            <p:nvPr/>
          </p:nvSpPr>
          <p:spPr>
            <a:xfrm>
              <a:off x="1318698" y="2001730"/>
              <a:ext cx="1580516"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3</a:t>
              </a:r>
            </a:p>
          </p:txBody>
        </p:sp>
        <p:sp>
          <p:nvSpPr>
            <p:cNvPr id="36" name="Rectangle: Rounded Corners 35"/>
            <p:cNvSpPr/>
            <p:nvPr/>
          </p:nvSpPr>
          <p:spPr>
            <a:xfrm>
              <a:off x="4305305" y="3523928"/>
              <a:ext cx="2823523"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4</a:t>
              </a:r>
            </a:p>
          </p:txBody>
        </p:sp>
        <p:sp>
          <p:nvSpPr>
            <p:cNvPr id="37" name="Rectangle: Rounded Corners 36"/>
            <p:cNvSpPr/>
            <p:nvPr/>
          </p:nvSpPr>
          <p:spPr>
            <a:xfrm>
              <a:off x="3773487" y="3013146"/>
              <a:ext cx="2305364"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5</a:t>
              </a:r>
            </a:p>
          </p:txBody>
        </p:sp>
        <p:sp>
          <p:nvSpPr>
            <p:cNvPr id="38" name="Rectangle: Rounded Corners 37"/>
            <p:cNvSpPr/>
            <p:nvPr/>
          </p:nvSpPr>
          <p:spPr>
            <a:xfrm>
              <a:off x="3485117" y="2524626"/>
              <a:ext cx="2023422"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6</a:t>
              </a:r>
            </a:p>
          </p:txBody>
        </p:sp>
        <p:sp>
          <p:nvSpPr>
            <p:cNvPr id="39" name="Rectangle: Rounded Corners 38"/>
            <p:cNvSpPr/>
            <p:nvPr/>
          </p:nvSpPr>
          <p:spPr>
            <a:xfrm>
              <a:off x="2958820" y="2001730"/>
              <a:ext cx="1480987"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7</a:t>
              </a:r>
            </a:p>
          </p:txBody>
        </p:sp>
      </p:grpSp>
      <p:grpSp>
        <p:nvGrpSpPr>
          <p:cNvPr id="31" name="Group 30"/>
          <p:cNvGrpSpPr/>
          <p:nvPr/>
        </p:nvGrpSpPr>
        <p:grpSpPr>
          <a:xfrm>
            <a:off x="7156750" y="3037562"/>
            <a:ext cx="3511250" cy="2648214"/>
            <a:chOff x="8085235" y="3223848"/>
            <a:chExt cx="4990155" cy="2822713"/>
          </a:xfrm>
        </p:grpSpPr>
        <p:cxnSp>
          <p:nvCxnSpPr>
            <p:cNvPr id="40" name="Straight Connector 39"/>
            <p:cNvCxnSpPr/>
            <p:nvPr/>
          </p:nvCxnSpPr>
          <p:spPr>
            <a:xfrm>
              <a:off x="8106336" y="3223848"/>
              <a:ext cx="0" cy="2822713"/>
            </a:xfrm>
            <a:prstGeom prst="line">
              <a:avLst/>
            </a:prstGeom>
            <a:ln w="66675">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cxnSpLocks/>
            </p:cNvCxnSpPr>
            <p:nvPr/>
          </p:nvCxnSpPr>
          <p:spPr>
            <a:xfrm flipH="1" flipV="1">
              <a:off x="8085235" y="6038406"/>
              <a:ext cx="4990155" cy="8155"/>
            </a:xfrm>
            <a:prstGeom prst="line">
              <a:avLst/>
            </a:prstGeom>
            <a:ln w="66675">
              <a:solidFill>
                <a:schemeClr val="tx1"/>
              </a:solidFill>
              <a:headEnd type="arrow"/>
            </a:ln>
          </p:spPr>
          <p:style>
            <a:lnRef idx="1">
              <a:schemeClr val="accent1"/>
            </a:lnRef>
            <a:fillRef idx="0">
              <a:schemeClr val="accent1"/>
            </a:fillRef>
            <a:effectRef idx="0">
              <a:schemeClr val="accent1"/>
            </a:effectRef>
            <a:fontRef idx="minor">
              <a:schemeClr val="tx1"/>
            </a:fontRef>
          </p:style>
        </p:cxnSp>
        <p:sp>
          <p:nvSpPr>
            <p:cNvPr id="43" name="Rectangle: Rounded Corners 42"/>
            <p:cNvSpPr/>
            <p:nvPr/>
          </p:nvSpPr>
          <p:spPr>
            <a:xfrm>
              <a:off x="8263994" y="5478413"/>
              <a:ext cx="2898776"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0</a:t>
              </a:r>
            </a:p>
          </p:txBody>
        </p:sp>
        <p:sp>
          <p:nvSpPr>
            <p:cNvPr id="44" name="Rectangle: Rounded Corners 43"/>
            <p:cNvSpPr/>
            <p:nvPr/>
          </p:nvSpPr>
          <p:spPr>
            <a:xfrm>
              <a:off x="8263994" y="4978569"/>
              <a:ext cx="2380616"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1</a:t>
              </a:r>
            </a:p>
          </p:txBody>
        </p:sp>
        <p:sp>
          <p:nvSpPr>
            <p:cNvPr id="45" name="Rectangle: Rounded Corners 44"/>
            <p:cNvSpPr/>
            <p:nvPr/>
          </p:nvSpPr>
          <p:spPr>
            <a:xfrm>
              <a:off x="8263994" y="4486133"/>
              <a:ext cx="2085751"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2</a:t>
              </a:r>
            </a:p>
          </p:txBody>
        </p:sp>
        <p:sp>
          <p:nvSpPr>
            <p:cNvPr id="46" name="Rectangle: Rounded Corners 45"/>
            <p:cNvSpPr/>
            <p:nvPr/>
          </p:nvSpPr>
          <p:spPr>
            <a:xfrm>
              <a:off x="8263994" y="3956215"/>
              <a:ext cx="1580516"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3</a:t>
              </a:r>
            </a:p>
          </p:txBody>
        </p:sp>
        <p:sp>
          <p:nvSpPr>
            <p:cNvPr id="47" name="Rectangle: Rounded Corners 46"/>
            <p:cNvSpPr/>
            <p:nvPr/>
          </p:nvSpPr>
          <p:spPr>
            <a:xfrm>
              <a:off x="9885156" y="3961469"/>
              <a:ext cx="2823523"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4</a:t>
              </a:r>
            </a:p>
          </p:txBody>
        </p:sp>
        <p:sp>
          <p:nvSpPr>
            <p:cNvPr id="48" name="Rectangle: Rounded Corners 47"/>
            <p:cNvSpPr/>
            <p:nvPr/>
          </p:nvSpPr>
          <p:spPr>
            <a:xfrm>
              <a:off x="10403315" y="4481217"/>
              <a:ext cx="2305364"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5</a:t>
              </a:r>
            </a:p>
          </p:txBody>
        </p:sp>
        <p:sp>
          <p:nvSpPr>
            <p:cNvPr id="49" name="Rectangle: Rounded Corners 48"/>
            <p:cNvSpPr/>
            <p:nvPr/>
          </p:nvSpPr>
          <p:spPr>
            <a:xfrm>
              <a:off x="10685257" y="4989069"/>
              <a:ext cx="2023422" cy="432287"/>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6</a:t>
              </a:r>
            </a:p>
          </p:txBody>
        </p:sp>
        <p:sp>
          <p:nvSpPr>
            <p:cNvPr id="50" name="Rectangle: Rounded Corners 49"/>
            <p:cNvSpPr/>
            <p:nvPr/>
          </p:nvSpPr>
          <p:spPr>
            <a:xfrm>
              <a:off x="11227692" y="5480419"/>
              <a:ext cx="1480987" cy="43228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7</a:t>
              </a:r>
            </a:p>
          </p:txBody>
        </p:sp>
      </p:grpSp>
      <p:sp>
        <p:nvSpPr>
          <p:cNvPr id="53" name="Rectangle 52"/>
          <p:cNvSpPr/>
          <p:nvPr/>
        </p:nvSpPr>
        <p:spPr>
          <a:xfrm>
            <a:off x="8486242" y="5760033"/>
            <a:ext cx="969261" cy="523220"/>
          </a:xfrm>
          <a:prstGeom prst="rect">
            <a:avLst/>
          </a:prstGeom>
        </p:spPr>
        <p:txBody>
          <a:bodyPr wrap="none">
            <a:spAutoFit/>
          </a:bodyPr>
          <a:lstStyle/>
          <a:p>
            <a:r>
              <a:rPr lang="en-US" sz="2800" dirty="0">
                <a:latin typeface="Arial" charset="0"/>
              </a:rPr>
              <a:t>Time</a:t>
            </a:r>
          </a:p>
        </p:txBody>
      </p:sp>
      <p:sp>
        <p:nvSpPr>
          <p:cNvPr id="2" name="Footer Placeholder 1"/>
          <p:cNvSpPr>
            <a:spLocks noGrp="1"/>
          </p:cNvSpPr>
          <p:nvPr>
            <p:ph type="ftr" sz="quarter" idx="11"/>
          </p:nvPr>
        </p:nvSpPr>
        <p:spPr/>
        <p:txBody>
          <a:bodyPr/>
          <a:lstStyle/>
          <a:p>
            <a:r>
              <a:rPr lang="en-US"/>
              <a:t>Copyright © 2010, Elsevier Inc. All rights Reserved</a:t>
            </a:r>
          </a:p>
        </p:txBody>
      </p:sp>
      <p:sp>
        <p:nvSpPr>
          <p:cNvPr id="4" name="TextBox 3"/>
          <p:cNvSpPr txBox="1"/>
          <p:nvPr/>
        </p:nvSpPr>
        <p:spPr>
          <a:xfrm>
            <a:off x="4232366" y="2761862"/>
            <a:ext cx="1786066" cy="646331"/>
          </a:xfrm>
          <a:prstGeom prst="rect">
            <a:avLst/>
          </a:prstGeom>
          <a:noFill/>
        </p:spPr>
        <p:txBody>
          <a:bodyPr wrap="none" rtlCol="0">
            <a:spAutoFit/>
          </a:bodyPr>
          <a:lstStyle/>
          <a:p>
            <a:pPr algn="ctr"/>
            <a:r>
              <a:rPr lang="en-US" b="1" i="1"/>
              <a:t>Thread finishing </a:t>
            </a:r>
            <a:br>
              <a:rPr lang="en-US" b="1" i="1"/>
            </a:br>
            <a:r>
              <a:rPr lang="en-US" b="1" i="1"/>
              <a:t>first</a:t>
            </a:r>
          </a:p>
        </p:txBody>
      </p:sp>
      <p:cxnSp>
        <p:nvCxnSpPr>
          <p:cNvPr id="6" name="Straight Arrow Connector 5"/>
          <p:cNvCxnSpPr/>
          <p:nvPr/>
        </p:nvCxnSpPr>
        <p:spPr>
          <a:xfrm flipH="1">
            <a:off x="4722757" y="3408192"/>
            <a:ext cx="197586" cy="3164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84786" y="5828788"/>
            <a:ext cx="1719381" cy="646331"/>
          </a:xfrm>
          <a:prstGeom prst="rect">
            <a:avLst/>
          </a:prstGeom>
          <a:noFill/>
        </p:spPr>
        <p:txBody>
          <a:bodyPr wrap="none" rtlCol="0">
            <a:spAutoFit/>
          </a:bodyPr>
          <a:lstStyle/>
          <a:p>
            <a:pPr algn="ctr"/>
            <a:r>
              <a:rPr lang="en-US" b="1" i="1" dirty="0"/>
              <a:t>Thread finishing</a:t>
            </a:r>
            <a:br>
              <a:rPr lang="en-US" b="1" i="1" dirty="0"/>
            </a:br>
            <a:r>
              <a:rPr lang="en-US" b="1" i="1" dirty="0"/>
              <a:t>last</a:t>
            </a:r>
          </a:p>
        </p:txBody>
      </p:sp>
      <p:cxnSp>
        <p:nvCxnSpPr>
          <p:cNvPr id="9" name="Straight Arrow Connector 8"/>
          <p:cNvCxnSpPr>
            <a:stCxn id="7" idx="0"/>
          </p:cNvCxnSpPr>
          <p:nvPr/>
        </p:nvCxnSpPr>
        <p:spPr>
          <a:xfrm flipV="1">
            <a:off x="6244476" y="5565399"/>
            <a:ext cx="192292" cy="2633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01291" y="3734319"/>
            <a:ext cx="1015021" cy="369332"/>
          </a:xfrm>
          <a:prstGeom prst="rect">
            <a:avLst/>
          </a:prstGeom>
          <a:noFill/>
        </p:spPr>
        <p:txBody>
          <a:bodyPr wrap="none" rtlCol="0">
            <a:spAutoFit/>
          </a:bodyPr>
          <a:lstStyle/>
          <a:p>
            <a:r>
              <a:rPr lang="en-US" dirty="0"/>
              <a:t>Idle time</a:t>
            </a:r>
          </a:p>
        </p:txBody>
      </p:sp>
      <p:cxnSp>
        <p:nvCxnSpPr>
          <p:cNvPr id="15" name="Straight Connector 14"/>
          <p:cNvCxnSpPr>
            <a:stCxn id="39" idx="3"/>
            <a:endCxn id="11" idx="1"/>
          </p:cNvCxnSpPr>
          <p:nvPr/>
        </p:nvCxnSpPr>
        <p:spPr>
          <a:xfrm flipV="1">
            <a:off x="4722758" y="3918985"/>
            <a:ext cx="278533" cy="84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stCxn id="11" idx="3"/>
          </p:cNvCxnSpPr>
          <p:nvPr/>
        </p:nvCxnSpPr>
        <p:spPr>
          <a:xfrm>
            <a:off x="6016311" y="3918985"/>
            <a:ext cx="50113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6614847" y="3734319"/>
            <a:ext cx="0" cy="1418432"/>
          </a:xfrm>
          <a:prstGeom prst="line">
            <a:avLst/>
          </a:prstGeom>
          <a:ln>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285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blinds(horizontal)">
                                      <p:cBhvr>
                                        <p:cTn id="19" dur="500"/>
                                        <p:tgtEl>
                                          <p:spTgt spid="15"/>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par>
                                <p:cTn id="26" presetID="3" presetClass="entr" presetSubtype="10" fill="hold"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blinds(horizontal)">
                                      <p:cBhvr>
                                        <p:cTn id="28" dur="5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53" grpId="0"/>
      <p:bldP spid="4" grpId="0"/>
      <p:bldP spid="7" grpId="0"/>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p:cNvSpPr txBox="1"/>
          <p:nvPr/>
        </p:nvSpPr>
        <p:spPr>
          <a:xfrm>
            <a:off x="1600642" y="21902"/>
            <a:ext cx="2790322" cy="646331"/>
          </a:xfrm>
          <a:prstGeom prst="rect">
            <a:avLst/>
          </a:prstGeom>
          <a:noFill/>
        </p:spPr>
        <p:txBody>
          <a:bodyPr wrap="none" rtlCol="0">
            <a:spAutoFit/>
          </a:bodyPr>
          <a:lstStyle/>
          <a:p>
            <a:r>
              <a:rPr lang="en-US" sz="3600" dirty="0"/>
              <a:t>Static: default</a:t>
            </a:r>
          </a:p>
        </p:txBody>
      </p:sp>
      <p:sp>
        <p:nvSpPr>
          <p:cNvPr id="67" name="TextBox 66"/>
          <p:cNvSpPr txBox="1"/>
          <p:nvPr/>
        </p:nvSpPr>
        <p:spPr>
          <a:xfrm>
            <a:off x="1608774" y="516401"/>
            <a:ext cx="4415617" cy="646331"/>
          </a:xfrm>
          <a:prstGeom prst="rect">
            <a:avLst/>
          </a:prstGeom>
          <a:noFill/>
        </p:spPr>
        <p:txBody>
          <a:bodyPr wrap="none" rtlCol="0">
            <a:spAutoFit/>
          </a:bodyPr>
          <a:lstStyle/>
          <a:p>
            <a:r>
              <a:rPr lang="en-US" sz="3600" dirty="0"/>
              <a:t>Static, n: set </a:t>
            </a:r>
            <a:r>
              <a:rPr lang="en-US" sz="3600" dirty="0" err="1"/>
              <a:t>chunksize</a:t>
            </a:r>
            <a:endParaRPr lang="en-US" sz="3600" dirty="0"/>
          </a:p>
        </p:txBody>
      </p:sp>
      <p:grpSp>
        <p:nvGrpSpPr>
          <p:cNvPr id="134" name="Group 133"/>
          <p:cNvGrpSpPr/>
          <p:nvPr/>
        </p:nvGrpSpPr>
        <p:grpSpPr>
          <a:xfrm>
            <a:off x="1591344" y="1295011"/>
            <a:ext cx="9272213" cy="5562991"/>
            <a:chOff x="89791" y="1295009"/>
            <a:chExt cx="12362950" cy="5562991"/>
          </a:xfrm>
        </p:grpSpPr>
        <p:sp>
          <p:nvSpPr>
            <p:cNvPr id="4" name="Rectangle 3"/>
            <p:cNvSpPr/>
            <p:nvPr/>
          </p:nvSpPr>
          <p:spPr>
            <a:xfrm>
              <a:off x="351691" y="1807120"/>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05807" y="1295009"/>
              <a:ext cx="3148725" cy="523220"/>
            </a:xfrm>
            <a:prstGeom prst="rect">
              <a:avLst/>
            </a:prstGeom>
          </p:spPr>
          <p:txBody>
            <a:bodyPr wrap="none">
              <a:spAutoFit/>
            </a:bodyPr>
            <a:lstStyle/>
            <a:p>
              <a:r>
                <a:rPr lang="en-US" sz="2800" dirty="0">
                  <a:highlight>
                    <a:srgbClr val="FFFF00"/>
                  </a:highlight>
                  <a:latin typeface="Arial" charset="0"/>
                </a:rPr>
                <a:t>Static, default</a:t>
              </a:r>
            </a:p>
          </p:txBody>
        </p:sp>
        <p:sp>
          <p:nvSpPr>
            <p:cNvPr id="7" name="Rectangle 6"/>
            <p:cNvSpPr/>
            <p:nvPr/>
          </p:nvSpPr>
          <p:spPr>
            <a:xfrm>
              <a:off x="351691" y="3067536"/>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05807" y="2558384"/>
              <a:ext cx="1975895" cy="523220"/>
            </a:xfrm>
            <a:prstGeom prst="rect">
              <a:avLst/>
            </a:prstGeom>
          </p:spPr>
          <p:txBody>
            <a:bodyPr wrap="none">
              <a:spAutoFit/>
            </a:bodyPr>
            <a:lstStyle/>
            <a:p>
              <a:r>
                <a:rPr lang="en-US" sz="2800" dirty="0">
                  <a:highlight>
                    <a:srgbClr val="FFFF00"/>
                  </a:highlight>
                  <a:latin typeface="Arial" charset="0"/>
                </a:rPr>
                <a:t>Static, n</a:t>
              </a:r>
            </a:p>
          </p:txBody>
        </p:sp>
        <p:sp>
          <p:nvSpPr>
            <p:cNvPr id="13" name="Rectangle 12"/>
            <p:cNvSpPr/>
            <p:nvPr/>
          </p:nvSpPr>
          <p:spPr>
            <a:xfrm>
              <a:off x="333676" y="4294139"/>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787792" y="3852368"/>
              <a:ext cx="2108443" cy="523220"/>
            </a:xfrm>
            <a:prstGeom prst="rect">
              <a:avLst/>
            </a:prstGeom>
          </p:spPr>
          <p:txBody>
            <a:bodyPr wrap="none">
              <a:spAutoFit/>
            </a:bodyPr>
            <a:lstStyle/>
            <a:p>
              <a:r>
                <a:rPr lang="en-US" sz="2800" dirty="0">
                  <a:latin typeface="Arial" charset="0"/>
                </a:rPr>
                <a:t>Dynamic</a:t>
              </a:r>
            </a:p>
          </p:txBody>
        </p:sp>
        <p:sp>
          <p:nvSpPr>
            <p:cNvPr id="15" name="Rectangle 14"/>
            <p:cNvSpPr/>
            <p:nvPr/>
          </p:nvSpPr>
          <p:spPr>
            <a:xfrm>
              <a:off x="333676" y="5554555"/>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787792" y="5115743"/>
              <a:ext cx="1790047" cy="523220"/>
            </a:xfrm>
            <a:prstGeom prst="rect">
              <a:avLst/>
            </a:prstGeom>
          </p:spPr>
          <p:txBody>
            <a:bodyPr wrap="none">
              <a:spAutoFit/>
            </a:bodyPr>
            <a:lstStyle/>
            <a:p>
              <a:r>
                <a:rPr lang="en-US" sz="2800" dirty="0">
                  <a:latin typeface="Arial" charset="0"/>
                </a:rPr>
                <a:t>Guided</a:t>
              </a:r>
            </a:p>
          </p:txBody>
        </p:sp>
        <p:cxnSp>
          <p:nvCxnSpPr>
            <p:cNvPr id="18" name="Straight Arrow Connector 17"/>
            <p:cNvCxnSpPr/>
            <p:nvPr/>
          </p:nvCxnSpPr>
          <p:spPr>
            <a:xfrm>
              <a:off x="2603214" y="6457890"/>
              <a:ext cx="805375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263609" y="6457890"/>
              <a:ext cx="2725532" cy="400110"/>
            </a:xfrm>
            <a:prstGeom prst="rect">
              <a:avLst/>
            </a:prstGeom>
          </p:spPr>
          <p:txBody>
            <a:bodyPr wrap="none">
              <a:spAutoFit/>
            </a:bodyPr>
            <a:lstStyle/>
            <a:p>
              <a:r>
                <a:rPr lang="en-US" sz="2000" dirty="0">
                  <a:latin typeface="Arial" charset="0"/>
                </a:rPr>
                <a:t>iteration number</a:t>
              </a:r>
            </a:p>
          </p:txBody>
        </p:sp>
        <p:sp>
          <p:nvSpPr>
            <p:cNvPr id="20" name="TextBox 19"/>
            <p:cNvSpPr txBox="1"/>
            <p:nvPr/>
          </p:nvSpPr>
          <p:spPr>
            <a:xfrm>
              <a:off x="89791" y="1383689"/>
              <a:ext cx="488876" cy="523220"/>
            </a:xfrm>
            <a:prstGeom prst="rect">
              <a:avLst/>
            </a:prstGeom>
            <a:noFill/>
          </p:spPr>
          <p:txBody>
            <a:bodyPr wrap="none" rtlCol="0">
              <a:spAutoFit/>
            </a:bodyPr>
            <a:lstStyle/>
            <a:p>
              <a:r>
                <a:rPr lang="en-US" sz="2800" dirty="0"/>
                <a:t>0</a:t>
              </a:r>
            </a:p>
          </p:txBody>
        </p:sp>
        <p:sp>
          <p:nvSpPr>
            <p:cNvPr id="21" name="TextBox 20"/>
            <p:cNvSpPr txBox="1"/>
            <p:nvPr/>
          </p:nvSpPr>
          <p:spPr>
            <a:xfrm>
              <a:off x="89791" y="2628724"/>
              <a:ext cx="488876" cy="523220"/>
            </a:xfrm>
            <a:prstGeom prst="rect">
              <a:avLst/>
            </a:prstGeom>
            <a:noFill/>
          </p:spPr>
          <p:txBody>
            <a:bodyPr wrap="none" rtlCol="0">
              <a:spAutoFit/>
            </a:bodyPr>
            <a:lstStyle/>
            <a:p>
              <a:r>
                <a:rPr lang="en-US" sz="2800" dirty="0"/>
                <a:t>0</a:t>
              </a:r>
            </a:p>
          </p:txBody>
        </p:sp>
        <p:sp>
          <p:nvSpPr>
            <p:cNvPr id="22" name="TextBox 21"/>
            <p:cNvSpPr txBox="1"/>
            <p:nvPr/>
          </p:nvSpPr>
          <p:spPr>
            <a:xfrm>
              <a:off x="89791" y="3852368"/>
              <a:ext cx="488876" cy="523220"/>
            </a:xfrm>
            <a:prstGeom prst="rect">
              <a:avLst/>
            </a:prstGeom>
            <a:noFill/>
          </p:spPr>
          <p:txBody>
            <a:bodyPr wrap="none" rtlCol="0">
              <a:spAutoFit/>
            </a:bodyPr>
            <a:lstStyle/>
            <a:p>
              <a:r>
                <a:rPr lang="en-US" sz="2800" dirty="0"/>
                <a:t>0</a:t>
              </a:r>
            </a:p>
          </p:txBody>
        </p:sp>
        <p:sp>
          <p:nvSpPr>
            <p:cNvPr id="23" name="TextBox 22"/>
            <p:cNvSpPr txBox="1"/>
            <p:nvPr/>
          </p:nvSpPr>
          <p:spPr>
            <a:xfrm>
              <a:off x="89791" y="5115743"/>
              <a:ext cx="488876" cy="523220"/>
            </a:xfrm>
            <a:prstGeom prst="rect">
              <a:avLst/>
            </a:prstGeom>
            <a:noFill/>
          </p:spPr>
          <p:txBody>
            <a:bodyPr wrap="none" rtlCol="0">
              <a:spAutoFit/>
            </a:bodyPr>
            <a:lstStyle/>
            <a:p>
              <a:r>
                <a:rPr lang="en-US" sz="2800" dirty="0"/>
                <a:t>0</a:t>
              </a:r>
            </a:p>
          </p:txBody>
        </p:sp>
        <p:sp>
          <p:nvSpPr>
            <p:cNvPr id="24" name="TextBox 23"/>
            <p:cNvSpPr txBox="1"/>
            <p:nvPr/>
          </p:nvSpPr>
          <p:spPr>
            <a:xfrm>
              <a:off x="11481549" y="1348646"/>
              <a:ext cx="944496" cy="523220"/>
            </a:xfrm>
            <a:prstGeom prst="rect">
              <a:avLst/>
            </a:prstGeom>
            <a:noFill/>
          </p:spPr>
          <p:txBody>
            <a:bodyPr wrap="none" rtlCol="0">
              <a:spAutoFit/>
            </a:bodyPr>
            <a:lstStyle/>
            <a:p>
              <a:r>
                <a:rPr lang="en-US" sz="2800" dirty="0"/>
                <a:t>N-1</a:t>
              </a:r>
            </a:p>
          </p:txBody>
        </p:sp>
        <p:sp>
          <p:nvSpPr>
            <p:cNvPr id="25" name="TextBox 24"/>
            <p:cNvSpPr txBox="1"/>
            <p:nvPr/>
          </p:nvSpPr>
          <p:spPr>
            <a:xfrm>
              <a:off x="11481549" y="2628724"/>
              <a:ext cx="944496" cy="523220"/>
            </a:xfrm>
            <a:prstGeom prst="rect">
              <a:avLst/>
            </a:prstGeom>
            <a:noFill/>
          </p:spPr>
          <p:txBody>
            <a:bodyPr wrap="none" rtlCol="0">
              <a:spAutoFit/>
            </a:bodyPr>
            <a:lstStyle/>
            <a:p>
              <a:r>
                <a:rPr lang="en-US" sz="2800" dirty="0"/>
                <a:t>N-1</a:t>
              </a:r>
            </a:p>
          </p:txBody>
        </p:sp>
        <p:sp>
          <p:nvSpPr>
            <p:cNvPr id="26" name="TextBox 25"/>
            <p:cNvSpPr txBox="1"/>
            <p:nvPr/>
          </p:nvSpPr>
          <p:spPr>
            <a:xfrm>
              <a:off x="11507384" y="3830030"/>
              <a:ext cx="944496" cy="523220"/>
            </a:xfrm>
            <a:prstGeom prst="rect">
              <a:avLst/>
            </a:prstGeom>
            <a:noFill/>
          </p:spPr>
          <p:txBody>
            <a:bodyPr wrap="none" rtlCol="0">
              <a:spAutoFit/>
            </a:bodyPr>
            <a:lstStyle/>
            <a:p>
              <a:r>
                <a:rPr lang="en-US" sz="2800" dirty="0"/>
                <a:t>N-1</a:t>
              </a:r>
            </a:p>
          </p:txBody>
        </p:sp>
        <p:sp>
          <p:nvSpPr>
            <p:cNvPr id="27" name="TextBox 26"/>
            <p:cNvSpPr txBox="1"/>
            <p:nvPr/>
          </p:nvSpPr>
          <p:spPr>
            <a:xfrm>
              <a:off x="11508245" y="5105416"/>
              <a:ext cx="944496" cy="523220"/>
            </a:xfrm>
            <a:prstGeom prst="rect">
              <a:avLst/>
            </a:prstGeom>
            <a:noFill/>
          </p:spPr>
          <p:txBody>
            <a:bodyPr wrap="none" rtlCol="0">
              <a:spAutoFit/>
            </a:bodyPr>
            <a:lstStyle/>
            <a:p>
              <a:r>
                <a:rPr lang="en-US" sz="2800" dirty="0"/>
                <a:t>N-1</a:t>
              </a:r>
            </a:p>
          </p:txBody>
        </p:sp>
        <p:sp>
          <p:nvSpPr>
            <p:cNvPr id="35" name="Rectangle: Rounded Corners 34"/>
            <p:cNvSpPr/>
            <p:nvPr/>
          </p:nvSpPr>
          <p:spPr>
            <a:xfrm>
              <a:off x="480611" y="1844740"/>
              <a:ext cx="2663518"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37" name="Rectangle: Rounded Corners 36"/>
            <p:cNvSpPr/>
            <p:nvPr/>
          </p:nvSpPr>
          <p:spPr>
            <a:xfrm>
              <a:off x="3299710" y="1849129"/>
              <a:ext cx="2663518"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38" name="Rectangle: Rounded Corners 37"/>
            <p:cNvSpPr/>
            <p:nvPr/>
          </p:nvSpPr>
          <p:spPr>
            <a:xfrm>
              <a:off x="6142091" y="1843535"/>
              <a:ext cx="2663518"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39" name="Rectangle: Rounded Corners 38"/>
            <p:cNvSpPr/>
            <p:nvPr/>
          </p:nvSpPr>
          <p:spPr>
            <a:xfrm>
              <a:off x="9020428" y="1839299"/>
              <a:ext cx="2663518"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42" name="Rectangle: Rounded Corners 41"/>
            <p:cNvSpPr/>
            <p:nvPr/>
          </p:nvSpPr>
          <p:spPr>
            <a:xfrm>
              <a:off x="407961" y="3108261"/>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43" name="Rectangle: Rounded Corners 42"/>
            <p:cNvSpPr/>
            <p:nvPr/>
          </p:nvSpPr>
          <p:spPr>
            <a:xfrm>
              <a:off x="1478917" y="3108261"/>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44" name="Rectangle: Rounded Corners 43"/>
            <p:cNvSpPr/>
            <p:nvPr/>
          </p:nvSpPr>
          <p:spPr>
            <a:xfrm>
              <a:off x="2557883" y="3105157"/>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45" name="Rectangle: Rounded Corners 44"/>
            <p:cNvSpPr/>
            <p:nvPr/>
          </p:nvSpPr>
          <p:spPr>
            <a:xfrm>
              <a:off x="3636849" y="3110876"/>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59" name="Rectangle: Rounded Corners 58"/>
            <p:cNvSpPr/>
            <p:nvPr/>
          </p:nvSpPr>
          <p:spPr>
            <a:xfrm>
              <a:off x="4707805" y="3102506"/>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60" name="Rectangle: Rounded Corners 59"/>
            <p:cNvSpPr/>
            <p:nvPr/>
          </p:nvSpPr>
          <p:spPr>
            <a:xfrm>
              <a:off x="5778761" y="3102506"/>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61" name="Rectangle: Rounded Corners 60"/>
            <p:cNvSpPr/>
            <p:nvPr/>
          </p:nvSpPr>
          <p:spPr>
            <a:xfrm>
              <a:off x="6857727" y="3099402"/>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62" name="Rectangle: Rounded Corners 61"/>
            <p:cNvSpPr/>
            <p:nvPr/>
          </p:nvSpPr>
          <p:spPr>
            <a:xfrm>
              <a:off x="7936693" y="3105121"/>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63" name="Rectangle: Rounded Corners 62"/>
            <p:cNvSpPr/>
            <p:nvPr/>
          </p:nvSpPr>
          <p:spPr>
            <a:xfrm>
              <a:off x="9015659" y="3107779"/>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64" name="Rectangle: Rounded Corners 63"/>
            <p:cNvSpPr/>
            <p:nvPr/>
          </p:nvSpPr>
          <p:spPr>
            <a:xfrm>
              <a:off x="10086615" y="3107779"/>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65" name="Rectangle: Rounded Corners 64"/>
            <p:cNvSpPr/>
            <p:nvPr/>
          </p:nvSpPr>
          <p:spPr>
            <a:xfrm>
              <a:off x="11157571" y="3104675"/>
              <a:ext cx="582647"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92" name="Rectangle: Rounded Corners 91"/>
            <p:cNvSpPr/>
            <p:nvPr/>
          </p:nvSpPr>
          <p:spPr>
            <a:xfrm>
              <a:off x="407961" y="4327952"/>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93" name="Rectangle: Rounded Corners 92"/>
            <p:cNvSpPr/>
            <p:nvPr/>
          </p:nvSpPr>
          <p:spPr>
            <a:xfrm>
              <a:off x="1478917" y="4327952"/>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94" name="Rectangle: Rounded Corners 93"/>
            <p:cNvSpPr/>
            <p:nvPr/>
          </p:nvSpPr>
          <p:spPr>
            <a:xfrm>
              <a:off x="2557883" y="4324848"/>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95" name="Rectangle: Rounded Corners 94"/>
            <p:cNvSpPr/>
            <p:nvPr/>
          </p:nvSpPr>
          <p:spPr>
            <a:xfrm>
              <a:off x="3636849" y="4330567"/>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96" name="Rectangle: Rounded Corners 95"/>
            <p:cNvSpPr/>
            <p:nvPr/>
          </p:nvSpPr>
          <p:spPr>
            <a:xfrm>
              <a:off x="5804039" y="4326127"/>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97" name="Rectangle: Rounded Corners 96"/>
            <p:cNvSpPr/>
            <p:nvPr/>
          </p:nvSpPr>
          <p:spPr>
            <a:xfrm>
              <a:off x="4738595" y="4323655"/>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98" name="Rectangle: Rounded Corners 97"/>
            <p:cNvSpPr/>
            <p:nvPr/>
          </p:nvSpPr>
          <p:spPr>
            <a:xfrm>
              <a:off x="6865737" y="4323654"/>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99" name="Rectangle: Rounded Corners 98"/>
            <p:cNvSpPr/>
            <p:nvPr/>
          </p:nvSpPr>
          <p:spPr>
            <a:xfrm>
              <a:off x="9014674" y="4335049"/>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100" name="Rectangle: Rounded Corners 99"/>
            <p:cNvSpPr/>
            <p:nvPr/>
          </p:nvSpPr>
          <p:spPr>
            <a:xfrm>
              <a:off x="11157571" y="4329114"/>
              <a:ext cx="582647"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T0</a:t>
              </a:r>
            </a:p>
          </p:txBody>
        </p:sp>
        <p:sp>
          <p:nvSpPr>
            <p:cNvPr id="101" name="Rectangle: Rounded Corners 100"/>
            <p:cNvSpPr/>
            <p:nvPr/>
          </p:nvSpPr>
          <p:spPr>
            <a:xfrm>
              <a:off x="10086615" y="4327470"/>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3" name="Rectangle: Rounded Corners 102"/>
            <p:cNvSpPr/>
            <p:nvPr/>
          </p:nvSpPr>
          <p:spPr>
            <a:xfrm>
              <a:off x="7939799" y="4321639"/>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4" name="Rectangle: Rounded Corners 103"/>
            <p:cNvSpPr/>
            <p:nvPr/>
          </p:nvSpPr>
          <p:spPr>
            <a:xfrm>
              <a:off x="407961" y="5598285"/>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105" name="Rectangle: Rounded Corners 104"/>
            <p:cNvSpPr/>
            <p:nvPr/>
          </p:nvSpPr>
          <p:spPr>
            <a:xfrm>
              <a:off x="1478917" y="5598285"/>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6" name="Rectangle: Rounded Corners 105"/>
            <p:cNvSpPr/>
            <p:nvPr/>
          </p:nvSpPr>
          <p:spPr>
            <a:xfrm>
              <a:off x="2557883" y="5595181"/>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107" name="Rectangle: Rounded Corners 106"/>
            <p:cNvSpPr/>
            <p:nvPr/>
          </p:nvSpPr>
          <p:spPr>
            <a:xfrm>
              <a:off x="3636849" y="5600900"/>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118" name="Rectangle: Rounded Corners 117"/>
            <p:cNvSpPr/>
            <p:nvPr/>
          </p:nvSpPr>
          <p:spPr>
            <a:xfrm>
              <a:off x="4721984" y="5592566"/>
              <a:ext cx="728894"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Thr0</a:t>
              </a:r>
            </a:p>
          </p:txBody>
        </p:sp>
        <p:sp>
          <p:nvSpPr>
            <p:cNvPr id="119" name="Rectangle: Rounded Corners 118"/>
            <p:cNvSpPr/>
            <p:nvPr/>
          </p:nvSpPr>
          <p:spPr>
            <a:xfrm>
              <a:off x="5504551" y="5592566"/>
              <a:ext cx="728894"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Thr1</a:t>
              </a:r>
            </a:p>
          </p:txBody>
        </p:sp>
        <p:sp>
          <p:nvSpPr>
            <p:cNvPr id="120" name="Rectangle: Rounded Corners 119"/>
            <p:cNvSpPr/>
            <p:nvPr/>
          </p:nvSpPr>
          <p:spPr>
            <a:xfrm>
              <a:off x="6288089" y="5589462"/>
              <a:ext cx="728894"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Thr2</a:t>
              </a:r>
            </a:p>
          </p:txBody>
        </p:sp>
        <p:sp>
          <p:nvSpPr>
            <p:cNvPr id="121" name="Rectangle: Rounded Corners 120"/>
            <p:cNvSpPr/>
            <p:nvPr/>
          </p:nvSpPr>
          <p:spPr>
            <a:xfrm>
              <a:off x="7078662" y="5595181"/>
              <a:ext cx="728894"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Thr3</a:t>
              </a:r>
            </a:p>
          </p:txBody>
        </p:sp>
        <p:sp>
          <p:nvSpPr>
            <p:cNvPr id="122" name="Rectangle: Rounded Corners 121"/>
            <p:cNvSpPr/>
            <p:nvPr/>
          </p:nvSpPr>
          <p:spPr>
            <a:xfrm>
              <a:off x="7861021" y="5586847"/>
              <a:ext cx="585949"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0</a:t>
              </a:r>
            </a:p>
          </p:txBody>
        </p:sp>
        <p:sp>
          <p:nvSpPr>
            <p:cNvPr id="123" name="Rectangle: Rounded Corners 122"/>
            <p:cNvSpPr/>
            <p:nvPr/>
          </p:nvSpPr>
          <p:spPr>
            <a:xfrm>
              <a:off x="8502913" y="5586847"/>
              <a:ext cx="585949"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1</a:t>
              </a:r>
            </a:p>
          </p:txBody>
        </p:sp>
        <p:sp>
          <p:nvSpPr>
            <p:cNvPr id="124" name="Rectangle: Rounded Corners 123"/>
            <p:cNvSpPr/>
            <p:nvPr/>
          </p:nvSpPr>
          <p:spPr>
            <a:xfrm>
              <a:off x="9131706" y="5583743"/>
              <a:ext cx="585949"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2</a:t>
              </a:r>
            </a:p>
          </p:txBody>
        </p:sp>
        <p:sp>
          <p:nvSpPr>
            <p:cNvPr id="125" name="Rectangle: Rounded Corners 124"/>
            <p:cNvSpPr/>
            <p:nvPr/>
          </p:nvSpPr>
          <p:spPr>
            <a:xfrm>
              <a:off x="9774571" y="5589462"/>
              <a:ext cx="585949"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 3</a:t>
              </a:r>
            </a:p>
          </p:txBody>
        </p:sp>
        <p:sp>
          <p:nvSpPr>
            <p:cNvPr id="130" name="Rectangle: Rounded Corners 129"/>
            <p:cNvSpPr/>
            <p:nvPr/>
          </p:nvSpPr>
          <p:spPr>
            <a:xfrm>
              <a:off x="10411877" y="5589936"/>
              <a:ext cx="487369"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T0</a:t>
              </a:r>
            </a:p>
          </p:txBody>
        </p:sp>
        <p:sp>
          <p:nvSpPr>
            <p:cNvPr id="131" name="Rectangle: Rounded Corners 130"/>
            <p:cNvSpPr/>
            <p:nvPr/>
          </p:nvSpPr>
          <p:spPr>
            <a:xfrm>
              <a:off x="10927157" y="5589936"/>
              <a:ext cx="487369"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sp>
          <p:nvSpPr>
            <p:cNvPr id="132" name="Rectangle: Rounded Corners 131"/>
            <p:cNvSpPr/>
            <p:nvPr/>
          </p:nvSpPr>
          <p:spPr>
            <a:xfrm>
              <a:off x="11443407" y="5586832"/>
              <a:ext cx="296812"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66" name="Right Brace 65"/>
          <p:cNvSpPr/>
          <p:nvPr/>
        </p:nvSpPr>
        <p:spPr>
          <a:xfrm rot="16200000">
            <a:off x="9056023" y="652653"/>
            <a:ext cx="429121" cy="1906826"/>
          </a:xfrm>
          <a:prstGeom prst="rightBrace">
            <a:avLst>
              <a:gd name="adj1" fmla="val 103355"/>
              <a:gd name="adj2" fmla="val 49206"/>
            </a:avLst>
          </a:prstGeom>
          <a:ln w="635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8" name="Rectangle 67"/>
          <p:cNvSpPr/>
          <p:nvPr/>
        </p:nvSpPr>
        <p:spPr>
          <a:xfrm>
            <a:off x="8512869" y="715886"/>
            <a:ext cx="1781382" cy="523220"/>
          </a:xfrm>
          <a:prstGeom prst="rect">
            <a:avLst/>
          </a:prstGeom>
        </p:spPr>
        <p:txBody>
          <a:bodyPr wrap="none">
            <a:spAutoFit/>
          </a:bodyPr>
          <a:lstStyle/>
          <a:p>
            <a:r>
              <a:rPr lang="en-US" sz="2800" dirty="0" err="1">
                <a:latin typeface="Arial" charset="0"/>
              </a:rPr>
              <a:t>chunksize</a:t>
            </a:r>
            <a:endParaRPr lang="en-US" sz="2800" dirty="0">
              <a:latin typeface="Arial" charset="0"/>
            </a:endParaRPr>
          </a:p>
        </p:txBody>
      </p:sp>
      <p:sp>
        <p:nvSpPr>
          <p:cNvPr id="69" name="Footer Placeholder 3"/>
          <p:cNvSpPr>
            <a:spLocks noGrp="1"/>
          </p:cNvSpPr>
          <p:nvPr>
            <p:ph type="ftr" sz="quarter" idx="10"/>
          </p:nvPr>
        </p:nvSpPr>
        <p:spPr>
          <a:xfrm>
            <a:off x="2152650" y="6489998"/>
            <a:ext cx="2057400" cy="365125"/>
          </a:xfrm>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Tree>
    <p:extLst>
      <p:ext uri="{BB962C8B-B14F-4D97-AF65-F5344CB8AC3E}">
        <p14:creationId xmlns:p14="http://schemas.microsoft.com/office/powerpoint/2010/main" val="4095705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p:cNvSpPr txBox="1"/>
          <p:nvPr/>
        </p:nvSpPr>
        <p:spPr>
          <a:xfrm>
            <a:off x="1600642" y="21900"/>
            <a:ext cx="9067358" cy="1569660"/>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Dynamic</a:t>
            </a:r>
            <a:r>
              <a:rPr lang="en-US" sz="3200" dirty="0"/>
              <a:t>:</a:t>
            </a:r>
            <a:r>
              <a:rPr lang="en-US" sz="3200" dirty="0">
                <a:latin typeface="Arial" charset="0"/>
              </a:rPr>
              <a:t> thread executes a chunk </a:t>
            </a:r>
          </a:p>
          <a:p>
            <a:r>
              <a:rPr lang="en-US" sz="3200" dirty="0">
                <a:latin typeface="Arial" charset="0"/>
              </a:rPr>
              <a:t>                when done, it requests another one</a:t>
            </a:r>
          </a:p>
          <a:p>
            <a:r>
              <a:rPr lang="en-US" sz="3200" dirty="0">
                <a:latin typeface="Arial" charset="0"/>
              </a:rPr>
              <a:t>              </a:t>
            </a:r>
            <a:endParaRPr lang="en-US" sz="3200" dirty="0"/>
          </a:p>
        </p:txBody>
      </p:sp>
      <p:grpSp>
        <p:nvGrpSpPr>
          <p:cNvPr id="134" name="Group 133"/>
          <p:cNvGrpSpPr/>
          <p:nvPr/>
        </p:nvGrpSpPr>
        <p:grpSpPr>
          <a:xfrm>
            <a:off x="1591344" y="1348646"/>
            <a:ext cx="9272213" cy="5509354"/>
            <a:chOff x="89791" y="1348646"/>
            <a:chExt cx="12362950" cy="5509354"/>
          </a:xfrm>
        </p:grpSpPr>
        <p:sp>
          <p:nvSpPr>
            <p:cNvPr id="4" name="Rectangle 3"/>
            <p:cNvSpPr/>
            <p:nvPr/>
          </p:nvSpPr>
          <p:spPr>
            <a:xfrm>
              <a:off x="351691" y="1807120"/>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05807" y="1365349"/>
              <a:ext cx="1443597" cy="523220"/>
            </a:xfrm>
            <a:prstGeom prst="rect">
              <a:avLst/>
            </a:prstGeom>
          </p:spPr>
          <p:txBody>
            <a:bodyPr wrap="none">
              <a:spAutoFit/>
            </a:bodyPr>
            <a:lstStyle/>
            <a:p>
              <a:r>
                <a:rPr lang="en-US" sz="2800" dirty="0">
                  <a:latin typeface="Arial" charset="0"/>
                </a:rPr>
                <a:t>Static</a:t>
              </a:r>
            </a:p>
          </p:txBody>
        </p:sp>
        <p:sp>
          <p:nvSpPr>
            <p:cNvPr id="7" name="Rectangle 6"/>
            <p:cNvSpPr/>
            <p:nvPr/>
          </p:nvSpPr>
          <p:spPr>
            <a:xfrm>
              <a:off x="351691" y="3067536"/>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05807" y="2628724"/>
              <a:ext cx="1975895" cy="523220"/>
            </a:xfrm>
            <a:prstGeom prst="rect">
              <a:avLst/>
            </a:prstGeom>
          </p:spPr>
          <p:txBody>
            <a:bodyPr wrap="none">
              <a:spAutoFit/>
            </a:bodyPr>
            <a:lstStyle/>
            <a:p>
              <a:r>
                <a:rPr lang="en-US" sz="2800" dirty="0">
                  <a:latin typeface="Arial" charset="0"/>
                </a:rPr>
                <a:t>Static, n</a:t>
              </a:r>
            </a:p>
          </p:txBody>
        </p:sp>
        <p:sp>
          <p:nvSpPr>
            <p:cNvPr id="13" name="Rectangle 12"/>
            <p:cNvSpPr/>
            <p:nvPr/>
          </p:nvSpPr>
          <p:spPr>
            <a:xfrm>
              <a:off x="333676" y="4294139"/>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787792" y="3796096"/>
              <a:ext cx="2108443" cy="523220"/>
            </a:xfrm>
            <a:prstGeom prst="rect">
              <a:avLst/>
            </a:prstGeom>
          </p:spPr>
          <p:txBody>
            <a:bodyPr wrap="none">
              <a:spAutoFit/>
            </a:bodyPr>
            <a:lstStyle/>
            <a:p>
              <a:r>
                <a:rPr lang="en-US" sz="2800" dirty="0">
                  <a:highlight>
                    <a:srgbClr val="FFFF00"/>
                  </a:highlight>
                  <a:latin typeface="Arial" charset="0"/>
                </a:rPr>
                <a:t>Dynamic</a:t>
              </a:r>
            </a:p>
          </p:txBody>
        </p:sp>
        <p:sp>
          <p:nvSpPr>
            <p:cNvPr id="15" name="Rectangle 14"/>
            <p:cNvSpPr/>
            <p:nvPr/>
          </p:nvSpPr>
          <p:spPr>
            <a:xfrm>
              <a:off x="333676" y="5554555"/>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787792" y="5115743"/>
              <a:ext cx="1790047" cy="523220"/>
            </a:xfrm>
            <a:prstGeom prst="rect">
              <a:avLst/>
            </a:prstGeom>
          </p:spPr>
          <p:txBody>
            <a:bodyPr wrap="none">
              <a:spAutoFit/>
            </a:bodyPr>
            <a:lstStyle/>
            <a:p>
              <a:r>
                <a:rPr lang="en-US" sz="2800" dirty="0">
                  <a:latin typeface="Arial" charset="0"/>
                </a:rPr>
                <a:t>Guided</a:t>
              </a:r>
            </a:p>
          </p:txBody>
        </p:sp>
        <p:cxnSp>
          <p:nvCxnSpPr>
            <p:cNvPr id="18" name="Straight Arrow Connector 17"/>
            <p:cNvCxnSpPr/>
            <p:nvPr/>
          </p:nvCxnSpPr>
          <p:spPr>
            <a:xfrm>
              <a:off x="2603214" y="6457890"/>
              <a:ext cx="805375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263609" y="6457890"/>
              <a:ext cx="2725532" cy="400110"/>
            </a:xfrm>
            <a:prstGeom prst="rect">
              <a:avLst/>
            </a:prstGeom>
          </p:spPr>
          <p:txBody>
            <a:bodyPr wrap="none">
              <a:spAutoFit/>
            </a:bodyPr>
            <a:lstStyle/>
            <a:p>
              <a:r>
                <a:rPr lang="en-US" sz="2000" dirty="0">
                  <a:latin typeface="Arial" charset="0"/>
                </a:rPr>
                <a:t>iteration number</a:t>
              </a:r>
            </a:p>
          </p:txBody>
        </p:sp>
        <p:sp>
          <p:nvSpPr>
            <p:cNvPr id="20" name="TextBox 19"/>
            <p:cNvSpPr txBox="1"/>
            <p:nvPr/>
          </p:nvSpPr>
          <p:spPr>
            <a:xfrm>
              <a:off x="89791" y="1383689"/>
              <a:ext cx="488876" cy="523220"/>
            </a:xfrm>
            <a:prstGeom prst="rect">
              <a:avLst/>
            </a:prstGeom>
            <a:noFill/>
          </p:spPr>
          <p:txBody>
            <a:bodyPr wrap="none" rtlCol="0">
              <a:spAutoFit/>
            </a:bodyPr>
            <a:lstStyle/>
            <a:p>
              <a:r>
                <a:rPr lang="en-US" sz="2800" dirty="0"/>
                <a:t>0</a:t>
              </a:r>
            </a:p>
          </p:txBody>
        </p:sp>
        <p:sp>
          <p:nvSpPr>
            <p:cNvPr id="21" name="TextBox 20"/>
            <p:cNvSpPr txBox="1"/>
            <p:nvPr/>
          </p:nvSpPr>
          <p:spPr>
            <a:xfrm>
              <a:off x="89791" y="2628724"/>
              <a:ext cx="488876" cy="523220"/>
            </a:xfrm>
            <a:prstGeom prst="rect">
              <a:avLst/>
            </a:prstGeom>
            <a:noFill/>
          </p:spPr>
          <p:txBody>
            <a:bodyPr wrap="none" rtlCol="0">
              <a:spAutoFit/>
            </a:bodyPr>
            <a:lstStyle/>
            <a:p>
              <a:r>
                <a:rPr lang="en-US" sz="2800" dirty="0"/>
                <a:t>0</a:t>
              </a:r>
            </a:p>
          </p:txBody>
        </p:sp>
        <p:sp>
          <p:nvSpPr>
            <p:cNvPr id="22" name="TextBox 21"/>
            <p:cNvSpPr txBox="1"/>
            <p:nvPr/>
          </p:nvSpPr>
          <p:spPr>
            <a:xfrm>
              <a:off x="89791" y="3852368"/>
              <a:ext cx="488876" cy="523220"/>
            </a:xfrm>
            <a:prstGeom prst="rect">
              <a:avLst/>
            </a:prstGeom>
            <a:noFill/>
          </p:spPr>
          <p:txBody>
            <a:bodyPr wrap="none" rtlCol="0">
              <a:spAutoFit/>
            </a:bodyPr>
            <a:lstStyle/>
            <a:p>
              <a:r>
                <a:rPr lang="en-US" sz="2800" dirty="0"/>
                <a:t>0</a:t>
              </a:r>
            </a:p>
          </p:txBody>
        </p:sp>
        <p:sp>
          <p:nvSpPr>
            <p:cNvPr id="23" name="TextBox 22"/>
            <p:cNvSpPr txBox="1"/>
            <p:nvPr/>
          </p:nvSpPr>
          <p:spPr>
            <a:xfrm>
              <a:off x="89791" y="5115743"/>
              <a:ext cx="488876" cy="523220"/>
            </a:xfrm>
            <a:prstGeom prst="rect">
              <a:avLst/>
            </a:prstGeom>
            <a:noFill/>
          </p:spPr>
          <p:txBody>
            <a:bodyPr wrap="none" rtlCol="0">
              <a:spAutoFit/>
            </a:bodyPr>
            <a:lstStyle/>
            <a:p>
              <a:r>
                <a:rPr lang="en-US" sz="2800" dirty="0"/>
                <a:t>0</a:t>
              </a:r>
            </a:p>
          </p:txBody>
        </p:sp>
        <p:sp>
          <p:nvSpPr>
            <p:cNvPr id="24" name="TextBox 23"/>
            <p:cNvSpPr txBox="1"/>
            <p:nvPr/>
          </p:nvSpPr>
          <p:spPr>
            <a:xfrm>
              <a:off x="11481549" y="1348646"/>
              <a:ext cx="944496" cy="523220"/>
            </a:xfrm>
            <a:prstGeom prst="rect">
              <a:avLst/>
            </a:prstGeom>
            <a:noFill/>
          </p:spPr>
          <p:txBody>
            <a:bodyPr wrap="none" rtlCol="0">
              <a:spAutoFit/>
            </a:bodyPr>
            <a:lstStyle/>
            <a:p>
              <a:r>
                <a:rPr lang="en-US" sz="2800" dirty="0"/>
                <a:t>N-1</a:t>
              </a:r>
            </a:p>
          </p:txBody>
        </p:sp>
        <p:sp>
          <p:nvSpPr>
            <p:cNvPr id="25" name="TextBox 24"/>
            <p:cNvSpPr txBox="1"/>
            <p:nvPr/>
          </p:nvSpPr>
          <p:spPr>
            <a:xfrm>
              <a:off x="11481549" y="2628724"/>
              <a:ext cx="944496" cy="523220"/>
            </a:xfrm>
            <a:prstGeom prst="rect">
              <a:avLst/>
            </a:prstGeom>
            <a:noFill/>
          </p:spPr>
          <p:txBody>
            <a:bodyPr wrap="none" rtlCol="0">
              <a:spAutoFit/>
            </a:bodyPr>
            <a:lstStyle/>
            <a:p>
              <a:r>
                <a:rPr lang="en-US" sz="2800" dirty="0"/>
                <a:t>N-1</a:t>
              </a:r>
            </a:p>
          </p:txBody>
        </p:sp>
        <p:sp>
          <p:nvSpPr>
            <p:cNvPr id="26" name="TextBox 25"/>
            <p:cNvSpPr txBox="1"/>
            <p:nvPr/>
          </p:nvSpPr>
          <p:spPr>
            <a:xfrm>
              <a:off x="11507384" y="3830030"/>
              <a:ext cx="944496" cy="523220"/>
            </a:xfrm>
            <a:prstGeom prst="rect">
              <a:avLst/>
            </a:prstGeom>
            <a:noFill/>
          </p:spPr>
          <p:txBody>
            <a:bodyPr wrap="none" rtlCol="0">
              <a:spAutoFit/>
            </a:bodyPr>
            <a:lstStyle/>
            <a:p>
              <a:r>
                <a:rPr lang="en-US" sz="2800" dirty="0"/>
                <a:t>N-1</a:t>
              </a:r>
            </a:p>
          </p:txBody>
        </p:sp>
        <p:sp>
          <p:nvSpPr>
            <p:cNvPr id="27" name="TextBox 26"/>
            <p:cNvSpPr txBox="1"/>
            <p:nvPr/>
          </p:nvSpPr>
          <p:spPr>
            <a:xfrm>
              <a:off x="11508245" y="5105416"/>
              <a:ext cx="944496" cy="523220"/>
            </a:xfrm>
            <a:prstGeom prst="rect">
              <a:avLst/>
            </a:prstGeom>
            <a:noFill/>
          </p:spPr>
          <p:txBody>
            <a:bodyPr wrap="none" rtlCol="0">
              <a:spAutoFit/>
            </a:bodyPr>
            <a:lstStyle/>
            <a:p>
              <a:r>
                <a:rPr lang="en-US" sz="2800" dirty="0"/>
                <a:t>N-1</a:t>
              </a:r>
            </a:p>
          </p:txBody>
        </p:sp>
        <p:sp>
          <p:nvSpPr>
            <p:cNvPr id="35" name="Rectangle: Rounded Corners 34"/>
            <p:cNvSpPr/>
            <p:nvPr/>
          </p:nvSpPr>
          <p:spPr>
            <a:xfrm>
              <a:off x="480611" y="1844740"/>
              <a:ext cx="2663518"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37" name="Rectangle: Rounded Corners 36"/>
            <p:cNvSpPr/>
            <p:nvPr/>
          </p:nvSpPr>
          <p:spPr>
            <a:xfrm>
              <a:off x="3299710" y="1849129"/>
              <a:ext cx="2663518"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38" name="Rectangle: Rounded Corners 37"/>
            <p:cNvSpPr/>
            <p:nvPr/>
          </p:nvSpPr>
          <p:spPr>
            <a:xfrm>
              <a:off x="6142091" y="1843535"/>
              <a:ext cx="2663518"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39" name="Rectangle: Rounded Corners 38"/>
            <p:cNvSpPr/>
            <p:nvPr/>
          </p:nvSpPr>
          <p:spPr>
            <a:xfrm>
              <a:off x="9020428" y="1839299"/>
              <a:ext cx="2663518"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42" name="Rectangle: Rounded Corners 41"/>
            <p:cNvSpPr/>
            <p:nvPr/>
          </p:nvSpPr>
          <p:spPr>
            <a:xfrm>
              <a:off x="407961" y="3108261"/>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43" name="Rectangle: Rounded Corners 42"/>
            <p:cNvSpPr/>
            <p:nvPr/>
          </p:nvSpPr>
          <p:spPr>
            <a:xfrm>
              <a:off x="1478917" y="3108261"/>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44" name="Rectangle: Rounded Corners 43"/>
            <p:cNvSpPr/>
            <p:nvPr/>
          </p:nvSpPr>
          <p:spPr>
            <a:xfrm>
              <a:off x="2557883" y="3105157"/>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45" name="Rectangle: Rounded Corners 44"/>
            <p:cNvSpPr/>
            <p:nvPr/>
          </p:nvSpPr>
          <p:spPr>
            <a:xfrm>
              <a:off x="3636849" y="3110876"/>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59" name="Rectangle: Rounded Corners 58"/>
            <p:cNvSpPr/>
            <p:nvPr/>
          </p:nvSpPr>
          <p:spPr>
            <a:xfrm>
              <a:off x="4707805" y="3102506"/>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60" name="Rectangle: Rounded Corners 59"/>
            <p:cNvSpPr/>
            <p:nvPr/>
          </p:nvSpPr>
          <p:spPr>
            <a:xfrm>
              <a:off x="5778761" y="3102506"/>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61" name="Rectangle: Rounded Corners 60"/>
            <p:cNvSpPr/>
            <p:nvPr/>
          </p:nvSpPr>
          <p:spPr>
            <a:xfrm>
              <a:off x="6857727" y="3099402"/>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62" name="Rectangle: Rounded Corners 61"/>
            <p:cNvSpPr/>
            <p:nvPr/>
          </p:nvSpPr>
          <p:spPr>
            <a:xfrm>
              <a:off x="7936693" y="3105121"/>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63" name="Rectangle: Rounded Corners 62"/>
            <p:cNvSpPr/>
            <p:nvPr/>
          </p:nvSpPr>
          <p:spPr>
            <a:xfrm>
              <a:off x="9015659" y="3107779"/>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64" name="Rectangle: Rounded Corners 63"/>
            <p:cNvSpPr/>
            <p:nvPr/>
          </p:nvSpPr>
          <p:spPr>
            <a:xfrm>
              <a:off x="10086615" y="3107779"/>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65" name="Rectangle: Rounded Corners 64"/>
            <p:cNvSpPr/>
            <p:nvPr/>
          </p:nvSpPr>
          <p:spPr>
            <a:xfrm>
              <a:off x="11157571" y="3104675"/>
              <a:ext cx="582647"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92" name="Rectangle: Rounded Corners 91"/>
            <p:cNvSpPr/>
            <p:nvPr/>
          </p:nvSpPr>
          <p:spPr>
            <a:xfrm>
              <a:off x="407961" y="4327952"/>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93" name="Rectangle: Rounded Corners 92"/>
            <p:cNvSpPr/>
            <p:nvPr/>
          </p:nvSpPr>
          <p:spPr>
            <a:xfrm>
              <a:off x="1478917" y="4327952"/>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94" name="Rectangle: Rounded Corners 93"/>
            <p:cNvSpPr/>
            <p:nvPr/>
          </p:nvSpPr>
          <p:spPr>
            <a:xfrm>
              <a:off x="2557883" y="4324848"/>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95" name="Rectangle: Rounded Corners 94"/>
            <p:cNvSpPr/>
            <p:nvPr/>
          </p:nvSpPr>
          <p:spPr>
            <a:xfrm>
              <a:off x="3636849" y="4330567"/>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96" name="Rectangle: Rounded Corners 95"/>
            <p:cNvSpPr/>
            <p:nvPr/>
          </p:nvSpPr>
          <p:spPr>
            <a:xfrm>
              <a:off x="5804039" y="4326127"/>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97" name="Rectangle: Rounded Corners 96"/>
            <p:cNvSpPr/>
            <p:nvPr/>
          </p:nvSpPr>
          <p:spPr>
            <a:xfrm>
              <a:off x="4738595" y="4323655"/>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98" name="Rectangle: Rounded Corners 97"/>
            <p:cNvSpPr/>
            <p:nvPr/>
          </p:nvSpPr>
          <p:spPr>
            <a:xfrm>
              <a:off x="6865737" y="4323654"/>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99" name="Rectangle: Rounded Corners 98"/>
            <p:cNvSpPr/>
            <p:nvPr/>
          </p:nvSpPr>
          <p:spPr>
            <a:xfrm>
              <a:off x="9014674" y="4335049"/>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100" name="Rectangle: Rounded Corners 99"/>
            <p:cNvSpPr/>
            <p:nvPr/>
          </p:nvSpPr>
          <p:spPr>
            <a:xfrm>
              <a:off x="11157571" y="4329114"/>
              <a:ext cx="582647"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T0</a:t>
              </a:r>
            </a:p>
          </p:txBody>
        </p:sp>
        <p:sp>
          <p:nvSpPr>
            <p:cNvPr id="101" name="Rectangle: Rounded Corners 100"/>
            <p:cNvSpPr/>
            <p:nvPr/>
          </p:nvSpPr>
          <p:spPr>
            <a:xfrm>
              <a:off x="10086615" y="4327470"/>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3" name="Rectangle: Rounded Corners 102"/>
            <p:cNvSpPr/>
            <p:nvPr/>
          </p:nvSpPr>
          <p:spPr>
            <a:xfrm>
              <a:off x="7939799" y="4321639"/>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4" name="Rectangle: Rounded Corners 103"/>
            <p:cNvSpPr/>
            <p:nvPr/>
          </p:nvSpPr>
          <p:spPr>
            <a:xfrm>
              <a:off x="407961" y="5598285"/>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105" name="Rectangle: Rounded Corners 104"/>
            <p:cNvSpPr/>
            <p:nvPr/>
          </p:nvSpPr>
          <p:spPr>
            <a:xfrm>
              <a:off x="1478917" y="5598285"/>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6" name="Rectangle: Rounded Corners 105"/>
            <p:cNvSpPr/>
            <p:nvPr/>
          </p:nvSpPr>
          <p:spPr>
            <a:xfrm>
              <a:off x="2557883" y="5595181"/>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107" name="Rectangle: Rounded Corners 106"/>
            <p:cNvSpPr/>
            <p:nvPr/>
          </p:nvSpPr>
          <p:spPr>
            <a:xfrm>
              <a:off x="3636849" y="5600900"/>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118" name="Rectangle: Rounded Corners 117"/>
            <p:cNvSpPr/>
            <p:nvPr/>
          </p:nvSpPr>
          <p:spPr>
            <a:xfrm>
              <a:off x="4721984" y="5592566"/>
              <a:ext cx="728894"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Thr0</a:t>
              </a:r>
            </a:p>
          </p:txBody>
        </p:sp>
        <p:sp>
          <p:nvSpPr>
            <p:cNvPr id="119" name="Rectangle: Rounded Corners 118"/>
            <p:cNvSpPr/>
            <p:nvPr/>
          </p:nvSpPr>
          <p:spPr>
            <a:xfrm>
              <a:off x="5504551" y="5592566"/>
              <a:ext cx="728894"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Thr1</a:t>
              </a:r>
            </a:p>
          </p:txBody>
        </p:sp>
        <p:sp>
          <p:nvSpPr>
            <p:cNvPr id="120" name="Rectangle: Rounded Corners 119"/>
            <p:cNvSpPr/>
            <p:nvPr/>
          </p:nvSpPr>
          <p:spPr>
            <a:xfrm>
              <a:off x="6288089" y="5589462"/>
              <a:ext cx="728894"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Thr2</a:t>
              </a:r>
            </a:p>
          </p:txBody>
        </p:sp>
        <p:sp>
          <p:nvSpPr>
            <p:cNvPr id="121" name="Rectangle: Rounded Corners 120"/>
            <p:cNvSpPr/>
            <p:nvPr/>
          </p:nvSpPr>
          <p:spPr>
            <a:xfrm>
              <a:off x="7078662" y="5595181"/>
              <a:ext cx="728894"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Thr3</a:t>
              </a:r>
            </a:p>
          </p:txBody>
        </p:sp>
        <p:sp>
          <p:nvSpPr>
            <p:cNvPr id="122" name="Rectangle: Rounded Corners 121"/>
            <p:cNvSpPr/>
            <p:nvPr/>
          </p:nvSpPr>
          <p:spPr>
            <a:xfrm>
              <a:off x="7861021" y="5586847"/>
              <a:ext cx="585949"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0</a:t>
              </a:r>
            </a:p>
          </p:txBody>
        </p:sp>
        <p:sp>
          <p:nvSpPr>
            <p:cNvPr id="123" name="Rectangle: Rounded Corners 122"/>
            <p:cNvSpPr/>
            <p:nvPr/>
          </p:nvSpPr>
          <p:spPr>
            <a:xfrm>
              <a:off x="8502913" y="5586847"/>
              <a:ext cx="585949"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1</a:t>
              </a:r>
            </a:p>
          </p:txBody>
        </p:sp>
        <p:sp>
          <p:nvSpPr>
            <p:cNvPr id="124" name="Rectangle: Rounded Corners 123"/>
            <p:cNvSpPr/>
            <p:nvPr/>
          </p:nvSpPr>
          <p:spPr>
            <a:xfrm>
              <a:off x="9131706" y="5583743"/>
              <a:ext cx="585949"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2</a:t>
              </a:r>
            </a:p>
          </p:txBody>
        </p:sp>
        <p:sp>
          <p:nvSpPr>
            <p:cNvPr id="125" name="Rectangle: Rounded Corners 124"/>
            <p:cNvSpPr/>
            <p:nvPr/>
          </p:nvSpPr>
          <p:spPr>
            <a:xfrm>
              <a:off x="9774571" y="5589462"/>
              <a:ext cx="585949"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 3</a:t>
              </a:r>
            </a:p>
          </p:txBody>
        </p:sp>
        <p:sp>
          <p:nvSpPr>
            <p:cNvPr id="130" name="Rectangle: Rounded Corners 129"/>
            <p:cNvSpPr/>
            <p:nvPr/>
          </p:nvSpPr>
          <p:spPr>
            <a:xfrm>
              <a:off x="10411877" y="5589936"/>
              <a:ext cx="487369"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T0</a:t>
              </a:r>
            </a:p>
          </p:txBody>
        </p:sp>
        <p:sp>
          <p:nvSpPr>
            <p:cNvPr id="131" name="Rectangle: Rounded Corners 130"/>
            <p:cNvSpPr/>
            <p:nvPr/>
          </p:nvSpPr>
          <p:spPr>
            <a:xfrm>
              <a:off x="10927157" y="5589936"/>
              <a:ext cx="487369"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sp>
          <p:nvSpPr>
            <p:cNvPr id="132" name="Rectangle: Rounded Corners 131"/>
            <p:cNvSpPr/>
            <p:nvPr/>
          </p:nvSpPr>
          <p:spPr>
            <a:xfrm>
              <a:off x="11443407" y="5586832"/>
              <a:ext cx="296812"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66" name="Footer Placeholder 3"/>
          <p:cNvSpPr>
            <a:spLocks noGrp="1"/>
          </p:cNvSpPr>
          <p:nvPr>
            <p:ph type="ftr" sz="quarter" idx="10"/>
          </p:nvPr>
        </p:nvSpPr>
        <p:spPr>
          <a:xfrm>
            <a:off x="2152650" y="6489998"/>
            <a:ext cx="2057400" cy="365125"/>
          </a:xfrm>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Tree>
    <p:extLst>
      <p:ext uri="{BB962C8B-B14F-4D97-AF65-F5344CB8AC3E}">
        <p14:creationId xmlns:p14="http://schemas.microsoft.com/office/powerpoint/2010/main" val="11414954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p:cNvSpPr txBox="1"/>
          <p:nvPr/>
        </p:nvSpPr>
        <p:spPr>
          <a:xfrm>
            <a:off x="1583629" y="139220"/>
            <a:ext cx="11300059"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Guided</a:t>
            </a:r>
            <a:r>
              <a:rPr lang="en-US" sz="2400" dirty="0"/>
              <a:t>:</a:t>
            </a:r>
            <a:r>
              <a:rPr lang="en-US" sz="2400" dirty="0">
                <a:latin typeface="Arial" charset="0"/>
              </a:rPr>
              <a:t> thread executes a chunk. When done, it requests another one</a:t>
            </a:r>
          </a:p>
          <a:p>
            <a:r>
              <a:rPr lang="en-US" sz="2400" dirty="0">
                <a:latin typeface="Arial" charset="0"/>
              </a:rPr>
              <a:t>              new chunks decrease in size (until </a:t>
            </a:r>
            <a:r>
              <a:rPr lang="en-US" sz="2400" dirty="0" err="1">
                <a:latin typeface="Arial" charset="0"/>
              </a:rPr>
              <a:t>chunksize</a:t>
            </a:r>
            <a:r>
              <a:rPr lang="en-US" sz="2400" dirty="0">
                <a:latin typeface="Arial" charset="0"/>
              </a:rPr>
              <a:t> is met)</a:t>
            </a:r>
            <a:endParaRPr lang="en-US" sz="2400" dirty="0"/>
          </a:p>
        </p:txBody>
      </p:sp>
      <p:grpSp>
        <p:nvGrpSpPr>
          <p:cNvPr id="134" name="Group 133"/>
          <p:cNvGrpSpPr/>
          <p:nvPr/>
        </p:nvGrpSpPr>
        <p:grpSpPr>
          <a:xfrm>
            <a:off x="1591344" y="1348646"/>
            <a:ext cx="9272213" cy="5509354"/>
            <a:chOff x="89791" y="1348646"/>
            <a:chExt cx="12362950" cy="5509354"/>
          </a:xfrm>
        </p:grpSpPr>
        <p:sp>
          <p:nvSpPr>
            <p:cNvPr id="4" name="Rectangle 3"/>
            <p:cNvSpPr/>
            <p:nvPr/>
          </p:nvSpPr>
          <p:spPr>
            <a:xfrm>
              <a:off x="351691" y="1807120"/>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05807" y="1365349"/>
              <a:ext cx="1443597" cy="523220"/>
            </a:xfrm>
            <a:prstGeom prst="rect">
              <a:avLst/>
            </a:prstGeom>
          </p:spPr>
          <p:txBody>
            <a:bodyPr wrap="none">
              <a:spAutoFit/>
            </a:bodyPr>
            <a:lstStyle/>
            <a:p>
              <a:r>
                <a:rPr lang="en-US" sz="2800" dirty="0">
                  <a:latin typeface="Arial" charset="0"/>
                </a:rPr>
                <a:t>Static</a:t>
              </a:r>
            </a:p>
          </p:txBody>
        </p:sp>
        <p:sp>
          <p:nvSpPr>
            <p:cNvPr id="7" name="Rectangle 6"/>
            <p:cNvSpPr/>
            <p:nvPr/>
          </p:nvSpPr>
          <p:spPr>
            <a:xfrm>
              <a:off x="351691" y="3067536"/>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05807" y="2628724"/>
              <a:ext cx="1975895" cy="523220"/>
            </a:xfrm>
            <a:prstGeom prst="rect">
              <a:avLst/>
            </a:prstGeom>
          </p:spPr>
          <p:txBody>
            <a:bodyPr wrap="none">
              <a:spAutoFit/>
            </a:bodyPr>
            <a:lstStyle/>
            <a:p>
              <a:r>
                <a:rPr lang="en-US" sz="2800" dirty="0">
                  <a:latin typeface="Arial" charset="0"/>
                </a:rPr>
                <a:t>Static, n</a:t>
              </a:r>
            </a:p>
          </p:txBody>
        </p:sp>
        <p:sp>
          <p:nvSpPr>
            <p:cNvPr id="13" name="Rectangle 12"/>
            <p:cNvSpPr/>
            <p:nvPr/>
          </p:nvSpPr>
          <p:spPr>
            <a:xfrm>
              <a:off x="333676" y="4294139"/>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787792" y="3852368"/>
              <a:ext cx="2108443" cy="523220"/>
            </a:xfrm>
            <a:prstGeom prst="rect">
              <a:avLst/>
            </a:prstGeom>
          </p:spPr>
          <p:txBody>
            <a:bodyPr wrap="none">
              <a:spAutoFit/>
            </a:bodyPr>
            <a:lstStyle/>
            <a:p>
              <a:r>
                <a:rPr lang="en-US" sz="2800" dirty="0">
                  <a:latin typeface="Arial" charset="0"/>
                </a:rPr>
                <a:t>Dynamic</a:t>
              </a:r>
            </a:p>
          </p:txBody>
        </p:sp>
        <p:sp>
          <p:nvSpPr>
            <p:cNvPr id="15" name="Rectangle 14"/>
            <p:cNvSpPr/>
            <p:nvPr/>
          </p:nvSpPr>
          <p:spPr>
            <a:xfrm>
              <a:off x="333676" y="5554555"/>
              <a:ext cx="11462083" cy="787791"/>
            </a:xfrm>
            <a:prstGeom prst="rect">
              <a:avLst/>
            </a:prstGeom>
            <a:no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787792" y="5059471"/>
              <a:ext cx="1790047" cy="523220"/>
            </a:xfrm>
            <a:prstGeom prst="rect">
              <a:avLst/>
            </a:prstGeom>
          </p:spPr>
          <p:txBody>
            <a:bodyPr wrap="none">
              <a:spAutoFit/>
            </a:bodyPr>
            <a:lstStyle/>
            <a:p>
              <a:r>
                <a:rPr lang="en-US" sz="2800" dirty="0">
                  <a:highlight>
                    <a:srgbClr val="FFFF00"/>
                  </a:highlight>
                  <a:latin typeface="Arial" charset="0"/>
                </a:rPr>
                <a:t>Guided</a:t>
              </a:r>
            </a:p>
          </p:txBody>
        </p:sp>
        <p:cxnSp>
          <p:nvCxnSpPr>
            <p:cNvPr id="18" name="Straight Arrow Connector 17"/>
            <p:cNvCxnSpPr/>
            <p:nvPr/>
          </p:nvCxnSpPr>
          <p:spPr>
            <a:xfrm>
              <a:off x="2603214" y="6457890"/>
              <a:ext cx="805375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263609" y="6457890"/>
              <a:ext cx="2725532" cy="400110"/>
            </a:xfrm>
            <a:prstGeom prst="rect">
              <a:avLst/>
            </a:prstGeom>
          </p:spPr>
          <p:txBody>
            <a:bodyPr wrap="none">
              <a:spAutoFit/>
            </a:bodyPr>
            <a:lstStyle/>
            <a:p>
              <a:r>
                <a:rPr lang="en-US" sz="2000" dirty="0">
                  <a:latin typeface="Arial" charset="0"/>
                </a:rPr>
                <a:t>iteration number</a:t>
              </a:r>
            </a:p>
          </p:txBody>
        </p:sp>
        <p:sp>
          <p:nvSpPr>
            <p:cNvPr id="20" name="TextBox 19"/>
            <p:cNvSpPr txBox="1"/>
            <p:nvPr/>
          </p:nvSpPr>
          <p:spPr>
            <a:xfrm>
              <a:off x="89791" y="1383689"/>
              <a:ext cx="488876" cy="523220"/>
            </a:xfrm>
            <a:prstGeom prst="rect">
              <a:avLst/>
            </a:prstGeom>
            <a:noFill/>
          </p:spPr>
          <p:txBody>
            <a:bodyPr wrap="none" rtlCol="0">
              <a:spAutoFit/>
            </a:bodyPr>
            <a:lstStyle/>
            <a:p>
              <a:r>
                <a:rPr lang="en-US" sz="2800" dirty="0"/>
                <a:t>0</a:t>
              </a:r>
            </a:p>
          </p:txBody>
        </p:sp>
        <p:sp>
          <p:nvSpPr>
            <p:cNvPr id="21" name="TextBox 20"/>
            <p:cNvSpPr txBox="1"/>
            <p:nvPr/>
          </p:nvSpPr>
          <p:spPr>
            <a:xfrm>
              <a:off x="89791" y="2628724"/>
              <a:ext cx="488876" cy="523220"/>
            </a:xfrm>
            <a:prstGeom prst="rect">
              <a:avLst/>
            </a:prstGeom>
            <a:noFill/>
          </p:spPr>
          <p:txBody>
            <a:bodyPr wrap="none" rtlCol="0">
              <a:spAutoFit/>
            </a:bodyPr>
            <a:lstStyle/>
            <a:p>
              <a:r>
                <a:rPr lang="en-US" sz="2800" dirty="0"/>
                <a:t>0</a:t>
              </a:r>
            </a:p>
          </p:txBody>
        </p:sp>
        <p:sp>
          <p:nvSpPr>
            <p:cNvPr id="22" name="TextBox 21"/>
            <p:cNvSpPr txBox="1"/>
            <p:nvPr/>
          </p:nvSpPr>
          <p:spPr>
            <a:xfrm>
              <a:off x="89791" y="3852368"/>
              <a:ext cx="488876" cy="523220"/>
            </a:xfrm>
            <a:prstGeom prst="rect">
              <a:avLst/>
            </a:prstGeom>
            <a:noFill/>
          </p:spPr>
          <p:txBody>
            <a:bodyPr wrap="none" rtlCol="0">
              <a:spAutoFit/>
            </a:bodyPr>
            <a:lstStyle/>
            <a:p>
              <a:r>
                <a:rPr lang="en-US" sz="2800" dirty="0"/>
                <a:t>0</a:t>
              </a:r>
            </a:p>
          </p:txBody>
        </p:sp>
        <p:sp>
          <p:nvSpPr>
            <p:cNvPr id="23" name="TextBox 22"/>
            <p:cNvSpPr txBox="1"/>
            <p:nvPr/>
          </p:nvSpPr>
          <p:spPr>
            <a:xfrm>
              <a:off x="89791" y="5115743"/>
              <a:ext cx="488876" cy="523220"/>
            </a:xfrm>
            <a:prstGeom prst="rect">
              <a:avLst/>
            </a:prstGeom>
            <a:noFill/>
          </p:spPr>
          <p:txBody>
            <a:bodyPr wrap="none" rtlCol="0">
              <a:spAutoFit/>
            </a:bodyPr>
            <a:lstStyle/>
            <a:p>
              <a:r>
                <a:rPr lang="en-US" sz="2800" dirty="0"/>
                <a:t>0</a:t>
              </a:r>
            </a:p>
          </p:txBody>
        </p:sp>
        <p:sp>
          <p:nvSpPr>
            <p:cNvPr id="24" name="TextBox 23"/>
            <p:cNvSpPr txBox="1"/>
            <p:nvPr/>
          </p:nvSpPr>
          <p:spPr>
            <a:xfrm>
              <a:off x="11481549" y="1348646"/>
              <a:ext cx="944496" cy="523220"/>
            </a:xfrm>
            <a:prstGeom prst="rect">
              <a:avLst/>
            </a:prstGeom>
            <a:noFill/>
          </p:spPr>
          <p:txBody>
            <a:bodyPr wrap="none" rtlCol="0">
              <a:spAutoFit/>
            </a:bodyPr>
            <a:lstStyle/>
            <a:p>
              <a:r>
                <a:rPr lang="en-US" sz="2800" dirty="0"/>
                <a:t>N-1</a:t>
              </a:r>
            </a:p>
          </p:txBody>
        </p:sp>
        <p:sp>
          <p:nvSpPr>
            <p:cNvPr id="25" name="TextBox 24"/>
            <p:cNvSpPr txBox="1"/>
            <p:nvPr/>
          </p:nvSpPr>
          <p:spPr>
            <a:xfrm>
              <a:off x="11481549" y="2628724"/>
              <a:ext cx="944496" cy="523220"/>
            </a:xfrm>
            <a:prstGeom prst="rect">
              <a:avLst/>
            </a:prstGeom>
            <a:noFill/>
          </p:spPr>
          <p:txBody>
            <a:bodyPr wrap="none" rtlCol="0">
              <a:spAutoFit/>
            </a:bodyPr>
            <a:lstStyle/>
            <a:p>
              <a:r>
                <a:rPr lang="en-US" sz="2800" dirty="0"/>
                <a:t>N-1</a:t>
              </a:r>
            </a:p>
          </p:txBody>
        </p:sp>
        <p:sp>
          <p:nvSpPr>
            <p:cNvPr id="26" name="TextBox 25"/>
            <p:cNvSpPr txBox="1"/>
            <p:nvPr/>
          </p:nvSpPr>
          <p:spPr>
            <a:xfrm>
              <a:off x="11507384" y="3830030"/>
              <a:ext cx="944496" cy="523220"/>
            </a:xfrm>
            <a:prstGeom prst="rect">
              <a:avLst/>
            </a:prstGeom>
            <a:noFill/>
          </p:spPr>
          <p:txBody>
            <a:bodyPr wrap="none" rtlCol="0">
              <a:spAutoFit/>
            </a:bodyPr>
            <a:lstStyle/>
            <a:p>
              <a:r>
                <a:rPr lang="en-US" sz="2800" dirty="0"/>
                <a:t>N-1</a:t>
              </a:r>
            </a:p>
          </p:txBody>
        </p:sp>
        <p:sp>
          <p:nvSpPr>
            <p:cNvPr id="27" name="TextBox 26"/>
            <p:cNvSpPr txBox="1"/>
            <p:nvPr/>
          </p:nvSpPr>
          <p:spPr>
            <a:xfrm>
              <a:off x="11508245" y="5105416"/>
              <a:ext cx="944496" cy="523220"/>
            </a:xfrm>
            <a:prstGeom prst="rect">
              <a:avLst/>
            </a:prstGeom>
            <a:noFill/>
          </p:spPr>
          <p:txBody>
            <a:bodyPr wrap="none" rtlCol="0">
              <a:spAutoFit/>
            </a:bodyPr>
            <a:lstStyle/>
            <a:p>
              <a:r>
                <a:rPr lang="en-US" sz="2800" dirty="0"/>
                <a:t>N-1</a:t>
              </a:r>
            </a:p>
          </p:txBody>
        </p:sp>
        <p:sp>
          <p:nvSpPr>
            <p:cNvPr id="35" name="Rectangle: Rounded Corners 34"/>
            <p:cNvSpPr/>
            <p:nvPr/>
          </p:nvSpPr>
          <p:spPr>
            <a:xfrm>
              <a:off x="480611" y="1844740"/>
              <a:ext cx="2663518"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37" name="Rectangle: Rounded Corners 36"/>
            <p:cNvSpPr/>
            <p:nvPr/>
          </p:nvSpPr>
          <p:spPr>
            <a:xfrm>
              <a:off x="3299710" y="1849129"/>
              <a:ext cx="2663518"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38" name="Rectangle: Rounded Corners 37"/>
            <p:cNvSpPr/>
            <p:nvPr/>
          </p:nvSpPr>
          <p:spPr>
            <a:xfrm>
              <a:off x="6142091" y="1843535"/>
              <a:ext cx="2663518"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39" name="Rectangle: Rounded Corners 38"/>
            <p:cNvSpPr/>
            <p:nvPr/>
          </p:nvSpPr>
          <p:spPr>
            <a:xfrm>
              <a:off x="9020428" y="1839299"/>
              <a:ext cx="2663518"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42" name="Rectangle: Rounded Corners 41"/>
            <p:cNvSpPr/>
            <p:nvPr/>
          </p:nvSpPr>
          <p:spPr>
            <a:xfrm>
              <a:off x="407961" y="3108261"/>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43" name="Rectangle: Rounded Corners 42"/>
            <p:cNvSpPr/>
            <p:nvPr/>
          </p:nvSpPr>
          <p:spPr>
            <a:xfrm>
              <a:off x="1478917" y="3108261"/>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44" name="Rectangle: Rounded Corners 43"/>
            <p:cNvSpPr/>
            <p:nvPr/>
          </p:nvSpPr>
          <p:spPr>
            <a:xfrm>
              <a:off x="2557883" y="3105157"/>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45" name="Rectangle: Rounded Corners 44"/>
            <p:cNvSpPr/>
            <p:nvPr/>
          </p:nvSpPr>
          <p:spPr>
            <a:xfrm>
              <a:off x="3636849" y="3110876"/>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59" name="Rectangle: Rounded Corners 58"/>
            <p:cNvSpPr/>
            <p:nvPr/>
          </p:nvSpPr>
          <p:spPr>
            <a:xfrm>
              <a:off x="4707805" y="3102506"/>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60" name="Rectangle: Rounded Corners 59"/>
            <p:cNvSpPr/>
            <p:nvPr/>
          </p:nvSpPr>
          <p:spPr>
            <a:xfrm>
              <a:off x="5778761" y="3102506"/>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61" name="Rectangle: Rounded Corners 60"/>
            <p:cNvSpPr/>
            <p:nvPr/>
          </p:nvSpPr>
          <p:spPr>
            <a:xfrm>
              <a:off x="6857727" y="3099402"/>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62" name="Rectangle: Rounded Corners 61"/>
            <p:cNvSpPr/>
            <p:nvPr/>
          </p:nvSpPr>
          <p:spPr>
            <a:xfrm>
              <a:off x="7936693" y="3105121"/>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63" name="Rectangle: Rounded Corners 62"/>
            <p:cNvSpPr/>
            <p:nvPr/>
          </p:nvSpPr>
          <p:spPr>
            <a:xfrm>
              <a:off x="9015659" y="3107779"/>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64" name="Rectangle: Rounded Corners 63"/>
            <p:cNvSpPr/>
            <p:nvPr/>
          </p:nvSpPr>
          <p:spPr>
            <a:xfrm>
              <a:off x="10086615" y="3107779"/>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65" name="Rectangle: Rounded Corners 64"/>
            <p:cNvSpPr/>
            <p:nvPr/>
          </p:nvSpPr>
          <p:spPr>
            <a:xfrm>
              <a:off x="11157571" y="3104675"/>
              <a:ext cx="582647"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92" name="Rectangle: Rounded Corners 91"/>
            <p:cNvSpPr/>
            <p:nvPr/>
          </p:nvSpPr>
          <p:spPr>
            <a:xfrm>
              <a:off x="407961" y="4327952"/>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93" name="Rectangle: Rounded Corners 92"/>
            <p:cNvSpPr/>
            <p:nvPr/>
          </p:nvSpPr>
          <p:spPr>
            <a:xfrm>
              <a:off x="1478917" y="4327952"/>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94" name="Rectangle: Rounded Corners 93"/>
            <p:cNvSpPr/>
            <p:nvPr/>
          </p:nvSpPr>
          <p:spPr>
            <a:xfrm>
              <a:off x="2557883" y="4324848"/>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95" name="Rectangle: Rounded Corners 94"/>
            <p:cNvSpPr/>
            <p:nvPr/>
          </p:nvSpPr>
          <p:spPr>
            <a:xfrm>
              <a:off x="3636849" y="4330567"/>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96" name="Rectangle: Rounded Corners 95"/>
            <p:cNvSpPr/>
            <p:nvPr/>
          </p:nvSpPr>
          <p:spPr>
            <a:xfrm>
              <a:off x="5804039" y="4326127"/>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97" name="Rectangle: Rounded Corners 96"/>
            <p:cNvSpPr/>
            <p:nvPr/>
          </p:nvSpPr>
          <p:spPr>
            <a:xfrm>
              <a:off x="4738595" y="4323655"/>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98" name="Rectangle: Rounded Corners 97"/>
            <p:cNvSpPr/>
            <p:nvPr/>
          </p:nvSpPr>
          <p:spPr>
            <a:xfrm>
              <a:off x="6865737" y="4323654"/>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99" name="Rectangle: Rounded Corners 98"/>
            <p:cNvSpPr/>
            <p:nvPr/>
          </p:nvSpPr>
          <p:spPr>
            <a:xfrm>
              <a:off x="9014674" y="4335049"/>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100" name="Rectangle: Rounded Corners 99"/>
            <p:cNvSpPr/>
            <p:nvPr/>
          </p:nvSpPr>
          <p:spPr>
            <a:xfrm>
              <a:off x="11157571" y="4329114"/>
              <a:ext cx="582647"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T0</a:t>
              </a:r>
            </a:p>
          </p:txBody>
        </p:sp>
        <p:sp>
          <p:nvSpPr>
            <p:cNvPr id="101" name="Rectangle: Rounded Corners 100"/>
            <p:cNvSpPr/>
            <p:nvPr/>
          </p:nvSpPr>
          <p:spPr>
            <a:xfrm>
              <a:off x="10086615" y="4327470"/>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3" name="Rectangle: Rounded Corners 102"/>
            <p:cNvSpPr/>
            <p:nvPr/>
          </p:nvSpPr>
          <p:spPr>
            <a:xfrm>
              <a:off x="7939799" y="4321639"/>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4" name="Rectangle: Rounded Corners 103"/>
            <p:cNvSpPr/>
            <p:nvPr/>
          </p:nvSpPr>
          <p:spPr>
            <a:xfrm>
              <a:off x="407961" y="5598285"/>
              <a:ext cx="1016400"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0</a:t>
              </a:r>
            </a:p>
          </p:txBody>
        </p:sp>
        <p:sp>
          <p:nvSpPr>
            <p:cNvPr id="105" name="Rectangle: Rounded Corners 104"/>
            <p:cNvSpPr/>
            <p:nvPr/>
          </p:nvSpPr>
          <p:spPr>
            <a:xfrm>
              <a:off x="1478917" y="5598285"/>
              <a:ext cx="1016400"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1</a:t>
              </a:r>
            </a:p>
          </p:txBody>
        </p:sp>
        <p:sp>
          <p:nvSpPr>
            <p:cNvPr id="106" name="Rectangle: Rounded Corners 105"/>
            <p:cNvSpPr/>
            <p:nvPr/>
          </p:nvSpPr>
          <p:spPr>
            <a:xfrm>
              <a:off x="2557883" y="5595181"/>
              <a:ext cx="1016400"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2</a:t>
              </a:r>
            </a:p>
          </p:txBody>
        </p:sp>
        <p:sp>
          <p:nvSpPr>
            <p:cNvPr id="107" name="Rectangle: Rounded Corners 106"/>
            <p:cNvSpPr/>
            <p:nvPr/>
          </p:nvSpPr>
          <p:spPr>
            <a:xfrm>
              <a:off x="3636849" y="5600900"/>
              <a:ext cx="1016400"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3</a:t>
              </a:r>
            </a:p>
          </p:txBody>
        </p:sp>
        <p:sp>
          <p:nvSpPr>
            <p:cNvPr id="118" name="Rectangle: Rounded Corners 117"/>
            <p:cNvSpPr/>
            <p:nvPr/>
          </p:nvSpPr>
          <p:spPr>
            <a:xfrm>
              <a:off x="4721984" y="5592566"/>
              <a:ext cx="728894"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Thr0</a:t>
              </a:r>
            </a:p>
          </p:txBody>
        </p:sp>
        <p:sp>
          <p:nvSpPr>
            <p:cNvPr id="119" name="Rectangle: Rounded Corners 118"/>
            <p:cNvSpPr/>
            <p:nvPr/>
          </p:nvSpPr>
          <p:spPr>
            <a:xfrm>
              <a:off x="5504551" y="5592566"/>
              <a:ext cx="728894"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Thr1</a:t>
              </a:r>
            </a:p>
          </p:txBody>
        </p:sp>
        <p:sp>
          <p:nvSpPr>
            <p:cNvPr id="120" name="Rectangle: Rounded Corners 119"/>
            <p:cNvSpPr/>
            <p:nvPr/>
          </p:nvSpPr>
          <p:spPr>
            <a:xfrm>
              <a:off x="6288089" y="5589462"/>
              <a:ext cx="728894"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Thr2</a:t>
              </a:r>
            </a:p>
          </p:txBody>
        </p:sp>
        <p:sp>
          <p:nvSpPr>
            <p:cNvPr id="121" name="Rectangle: Rounded Corners 120"/>
            <p:cNvSpPr/>
            <p:nvPr/>
          </p:nvSpPr>
          <p:spPr>
            <a:xfrm>
              <a:off x="7078662" y="5595181"/>
              <a:ext cx="728894"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Thr3</a:t>
              </a:r>
            </a:p>
          </p:txBody>
        </p:sp>
        <p:sp>
          <p:nvSpPr>
            <p:cNvPr id="122" name="Rectangle: Rounded Corners 121"/>
            <p:cNvSpPr/>
            <p:nvPr/>
          </p:nvSpPr>
          <p:spPr>
            <a:xfrm>
              <a:off x="7861021" y="5586847"/>
              <a:ext cx="585949"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0</a:t>
              </a:r>
            </a:p>
          </p:txBody>
        </p:sp>
        <p:sp>
          <p:nvSpPr>
            <p:cNvPr id="123" name="Rectangle: Rounded Corners 122"/>
            <p:cNvSpPr/>
            <p:nvPr/>
          </p:nvSpPr>
          <p:spPr>
            <a:xfrm>
              <a:off x="8502913" y="5586847"/>
              <a:ext cx="585949"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1</a:t>
              </a:r>
            </a:p>
          </p:txBody>
        </p:sp>
        <p:sp>
          <p:nvSpPr>
            <p:cNvPr id="124" name="Rectangle: Rounded Corners 123"/>
            <p:cNvSpPr/>
            <p:nvPr/>
          </p:nvSpPr>
          <p:spPr>
            <a:xfrm>
              <a:off x="9131706" y="5583743"/>
              <a:ext cx="585949"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2</a:t>
              </a:r>
            </a:p>
          </p:txBody>
        </p:sp>
        <p:sp>
          <p:nvSpPr>
            <p:cNvPr id="125" name="Rectangle: Rounded Corners 124"/>
            <p:cNvSpPr/>
            <p:nvPr/>
          </p:nvSpPr>
          <p:spPr>
            <a:xfrm>
              <a:off x="9774571" y="5589462"/>
              <a:ext cx="585949" cy="71783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 3</a:t>
              </a:r>
            </a:p>
          </p:txBody>
        </p:sp>
        <p:sp>
          <p:nvSpPr>
            <p:cNvPr id="130" name="Rectangle: Rounded Corners 129"/>
            <p:cNvSpPr/>
            <p:nvPr/>
          </p:nvSpPr>
          <p:spPr>
            <a:xfrm>
              <a:off x="10411877" y="5589936"/>
              <a:ext cx="487369" cy="71783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T0</a:t>
              </a:r>
            </a:p>
          </p:txBody>
        </p:sp>
        <p:sp>
          <p:nvSpPr>
            <p:cNvPr id="131" name="Rectangle: Rounded Corners 130"/>
            <p:cNvSpPr/>
            <p:nvPr/>
          </p:nvSpPr>
          <p:spPr>
            <a:xfrm>
              <a:off x="10927157" y="5589936"/>
              <a:ext cx="487369" cy="71783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sp>
          <p:nvSpPr>
            <p:cNvPr id="132" name="Rectangle: Rounded Corners 131"/>
            <p:cNvSpPr/>
            <p:nvPr/>
          </p:nvSpPr>
          <p:spPr>
            <a:xfrm>
              <a:off x="11443407" y="5586832"/>
              <a:ext cx="296812" cy="717839"/>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66" name="Footer Placeholder 3"/>
          <p:cNvSpPr>
            <a:spLocks noGrp="1"/>
          </p:cNvSpPr>
          <p:nvPr>
            <p:ph type="ftr" sz="quarter" idx="10"/>
          </p:nvPr>
        </p:nvSpPr>
        <p:spPr>
          <a:xfrm>
            <a:off x="2152650" y="6489998"/>
            <a:ext cx="2057400" cy="365125"/>
          </a:xfrm>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spTree>
    <p:extLst>
      <p:ext uri="{BB962C8B-B14F-4D97-AF65-F5344CB8AC3E}">
        <p14:creationId xmlns:p14="http://schemas.microsoft.com/office/powerpoint/2010/main" val="711622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2465" name="Title 1"/>
              <p:cNvSpPr>
                <a:spLocks noGrp="1"/>
              </p:cNvSpPr>
              <p:nvPr>
                <p:ph type="title"/>
              </p:nvPr>
            </p:nvSpPr>
            <p:spPr>
              <a:xfrm>
                <a:off x="2135189" y="109539"/>
                <a:ext cx="8281987" cy="708025"/>
              </a:xfrm>
            </p:spPr>
            <p:txBody>
              <a:bodyPr>
                <a:normAutofit/>
              </a:bodyPr>
              <a:lstStyle/>
              <a:p>
                <a:r>
                  <a:rPr lang="en-US" dirty="0">
                    <a:latin typeface="NimbusRomNo9L-Medi" charset="0"/>
                  </a:rPr>
                  <a:t>Exercise: Estimating </a:t>
                </a:r>
                <a14:m>
                  <m:oMath xmlns:m="http://schemas.openxmlformats.org/officeDocument/2006/math">
                    <m:r>
                      <a:rPr lang="el-GR" i="1" dirty="0" smtClean="0">
                        <a:latin typeface="Cambria Math" panose="02040503050406030204" pitchFamily="18" charset="0"/>
                        <a:cs typeface="Arial" charset="0"/>
                      </a:rPr>
                      <m:t>𝜋</m:t>
                    </m:r>
                  </m:oMath>
                </a14:m>
                <a:r>
                  <a:rPr lang="en-US" dirty="0">
                    <a:latin typeface="Arial" charset="0"/>
                    <a:cs typeface="Arial" charset="0"/>
                  </a:rPr>
                  <a:t> </a:t>
                </a:r>
                <a:endParaRPr lang="en-US" dirty="0">
                  <a:latin typeface="Arial" charset="0"/>
                </a:endParaRPr>
              </a:p>
            </p:txBody>
          </p:sp>
        </mc:Choice>
        <mc:Fallback xmlns="">
          <p:sp>
            <p:nvSpPr>
              <p:cNvPr id="62465" name="Title 1"/>
              <p:cNvSpPr>
                <a:spLocks noGrp="1" noRot="1" noChangeAspect="1" noMove="1" noResize="1" noEditPoints="1" noAdjustHandles="1" noChangeArrowheads="1" noChangeShapeType="1" noTextEdit="1"/>
              </p:cNvSpPr>
              <p:nvPr>
                <p:ph type="title"/>
              </p:nvPr>
            </p:nvSpPr>
            <p:spPr>
              <a:xfrm>
                <a:off x="2135189" y="109539"/>
                <a:ext cx="8281987" cy="708025"/>
              </a:xfrm>
              <a:blipFill>
                <a:blip r:embed="rId2"/>
                <a:stretch>
                  <a:fillRect l="-3067" t="-23214" b="-41071"/>
                </a:stretch>
              </a:blipFill>
            </p:spPr>
            <p:txBody>
              <a:bodyPr/>
              <a:lstStyle/>
              <a:p>
                <a:r>
                  <a:rPr lang="en-US">
                    <a:noFill/>
                  </a:rPr>
                  <a:t> </a:t>
                </a:r>
              </a:p>
            </p:txBody>
          </p:sp>
        </mc:Fallback>
      </mc:AlternateContent>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624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1106401"/>
            <a:ext cx="6115050" cy="1304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246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5" y="2474825"/>
            <a:ext cx="5124450" cy="3067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5461673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2465" name="Title 1"/>
              <p:cNvSpPr>
                <a:spLocks noGrp="1"/>
              </p:cNvSpPr>
              <p:nvPr>
                <p:ph type="title"/>
              </p:nvPr>
            </p:nvSpPr>
            <p:spPr>
              <a:xfrm>
                <a:off x="2135189" y="109539"/>
                <a:ext cx="8281987" cy="708025"/>
              </a:xfrm>
            </p:spPr>
            <p:txBody>
              <a:bodyPr>
                <a:normAutofit/>
              </a:bodyPr>
              <a:lstStyle/>
              <a:p>
                <a:r>
                  <a:rPr lang="en-US" dirty="0">
                    <a:latin typeface="NimbusRomNo9L-Medi" charset="0"/>
                  </a:rPr>
                  <a:t>Exercise: Estimating </a:t>
                </a:r>
                <a14:m>
                  <m:oMath xmlns:m="http://schemas.openxmlformats.org/officeDocument/2006/math">
                    <m:r>
                      <a:rPr lang="el-GR" i="1" dirty="0">
                        <a:latin typeface="Cambria Math" panose="02040503050406030204" pitchFamily="18" charset="0"/>
                        <a:cs typeface="Arial" charset="0"/>
                      </a:rPr>
                      <m:t>𝜋</m:t>
                    </m:r>
                  </m:oMath>
                </a14:m>
                <a:r>
                  <a:rPr lang="en-US" dirty="0">
                    <a:latin typeface="Arial" charset="0"/>
                    <a:cs typeface="Arial" charset="0"/>
                  </a:rPr>
                  <a:t> </a:t>
                </a:r>
                <a:endParaRPr lang="en-US" dirty="0">
                  <a:latin typeface="Arial" charset="0"/>
                </a:endParaRPr>
              </a:p>
            </p:txBody>
          </p:sp>
        </mc:Choice>
        <mc:Fallback xmlns="">
          <p:sp>
            <p:nvSpPr>
              <p:cNvPr id="62465" name="Title 1"/>
              <p:cNvSpPr>
                <a:spLocks noGrp="1" noRot="1" noChangeAspect="1" noMove="1" noResize="1" noEditPoints="1" noAdjustHandles="1" noChangeArrowheads="1" noChangeShapeType="1" noTextEdit="1"/>
              </p:cNvSpPr>
              <p:nvPr>
                <p:ph type="title"/>
              </p:nvPr>
            </p:nvSpPr>
            <p:spPr>
              <a:xfrm>
                <a:off x="2135189" y="109539"/>
                <a:ext cx="8281987" cy="708025"/>
              </a:xfrm>
              <a:blipFill>
                <a:blip r:embed="rId2"/>
                <a:stretch>
                  <a:fillRect l="-3067" t="-23214" b="-41071"/>
                </a:stretch>
              </a:blipFill>
            </p:spPr>
            <p:txBody>
              <a:bodyPr/>
              <a:lstStyle/>
              <a:p>
                <a:r>
                  <a:rPr lang="en-US">
                    <a:noFill/>
                  </a:rPr>
                  <a:t> </a:t>
                </a:r>
              </a:p>
            </p:txBody>
          </p:sp>
        </mc:Fallback>
      </mc:AlternateContent>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624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1106401"/>
            <a:ext cx="6115050" cy="1304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246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5" y="2474825"/>
            <a:ext cx="5124450" cy="3067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ED3382-C123-244B-B243-627CD176C241}"/>
                  </a:ext>
                </a:extLst>
              </p:cNvPr>
              <p:cNvSpPr txBox="1"/>
              <p:nvPr/>
            </p:nvSpPr>
            <p:spPr>
              <a:xfrm>
                <a:off x="7017463" y="2248129"/>
                <a:ext cx="4962502" cy="2677656"/>
              </a:xfrm>
              <a:prstGeom prst="rect">
                <a:avLst/>
              </a:prstGeom>
              <a:noFill/>
            </p:spPr>
            <p:txBody>
              <a:bodyPr wrap="square" rtlCol="0">
                <a:spAutoFit/>
              </a:bodyPr>
              <a:lstStyle/>
              <a:p>
                <a:r>
                  <a:rPr lang="en-US" sz="2800" dirty="0">
                    <a:solidFill>
                      <a:srgbClr val="FF0000"/>
                    </a:solidFill>
                  </a:rPr>
                  <a:t>Parallelize the serial</a:t>
                </a:r>
              </a:p>
              <a:p>
                <a:r>
                  <a:rPr lang="en-US" sz="2800" dirty="0">
                    <a:solidFill>
                      <a:srgbClr val="FF0000"/>
                    </a:solidFill>
                  </a:rPr>
                  <a:t>calculation of </a:t>
                </a:r>
                <a14:m>
                  <m:oMath xmlns:m="http://schemas.openxmlformats.org/officeDocument/2006/math">
                    <m:r>
                      <a:rPr lang="en-US" sz="2800" b="0" i="1" smtClean="0">
                        <a:solidFill>
                          <a:srgbClr val="FF0000"/>
                        </a:solidFill>
                        <a:latin typeface="Cambria Math" panose="02040503050406030204" pitchFamily="18" charset="0"/>
                      </a:rPr>
                      <m:t>𝜋</m:t>
                    </m:r>
                  </m:oMath>
                </a14:m>
                <a:r>
                  <a:rPr lang="en-US" sz="2800" dirty="0">
                    <a:solidFill>
                      <a:srgbClr val="FF0000"/>
                    </a:solidFill>
                  </a:rPr>
                  <a:t> using 4 threads</a:t>
                </a:r>
              </a:p>
              <a:p>
                <a:r>
                  <a:rPr lang="en-US" sz="2800" dirty="0">
                    <a:solidFill>
                      <a:srgbClr val="FF0000"/>
                    </a:solidFill>
                  </a:rPr>
                  <a:t>and summation series that is truncated at n=20</a:t>
                </a:r>
              </a:p>
              <a:p>
                <a:r>
                  <a:rPr lang="en-US" sz="2800" dirty="0">
                    <a:solidFill>
                      <a:srgbClr val="FF0000"/>
                    </a:solidFill>
                  </a:rPr>
                  <a:t>hint: what is the reduction parameter?</a:t>
                </a:r>
              </a:p>
            </p:txBody>
          </p:sp>
        </mc:Choice>
        <mc:Fallback xmlns="">
          <p:sp>
            <p:nvSpPr>
              <p:cNvPr id="8" name="TextBox 7">
                <a:extLst>
                  <a:ext uri="{FF2B5EF4-FFF2-40B4-BE49-F238E27FC236}">
                    <a16:creationId xmlns:a16="http://schemas.microsoft.com/office/drawing/2014/main" id="{25ED3382-C123-244B-B243-627CD176C241}"/>
                  </a:ext>
                </a:extLst>
              </p:cNvPr>
              <p:cNvSpPr txBox="1">
                <a:spLocks noRot="1" noChangeAspect="1" noMove="1" noResize="1" noEditPoints="1" noAdjustHandles="1" noChangeArrowheads="1" noChangeShapeType="1" noTextEdit="1"/>
              </p:cNvSpPr>
              <p:nvPr/>
            </p:nvSpPr>
            <p:spPr>
              <a:xfrm>
                <a:off x="7017463" y="2248129"/>
                <a:ext cx="4962502" cy="2677656"/>
              </a:xfrm>
              <a:prstGeom prst="rect">
                <a:avLst/>
              </a:prstGeom>
              <a:blipFill>
                <a:blip r:embed="rId5"/>
                <a:stretch>
                  <a:fillRect l="-2558" t="-2358" b="-471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5120E66-B7DF-C74B-BE65-A4EB329AA4F9}"/>
              </a:ext>
            </a:extLst>
          </p:cNvPr>
          <p:cNvSpPr txBox="1"/>
          <p:nvPr/>
        </p:nvSpPr>
        <p:spPr>
          <a:xfrm>
            <a:off x="5241176" y="5679242"/>
            <a:ext cx="6863738" cy="984885"/>
          </a:xfrm>
          <a:prstGeom prst="rect">
            <a:avLst/>
          </a:prstGeom>
          <a:noFill/>
        </p:spPr>
        <p:txBody>
          <a:bodyPr wrap="none" rtlCol="0">
            <a:spAutoFit/>
          </a:bodyPr>
          <a:lstStyle/>
          <a:p>
            <a:pPr marL="0" algn="l" defTabSz="914400" eaLnBrk="1" latinLnBrk="0" hangingPunct="1"/>
            <a:r>
              <a:rPr lang="en-US" sz="2000" dirty="0">
                <a:solidFill>
                  <a:srgbClr val="FF0000"/>
                </a:solidFill>
              </a:rPr>
              <a:t>To program use the webpages in the following links:</a:t>
            </a:r>
          </a:p>
          <a:p>
            <a:pPr marL="0" algn="l" defTabSz="914400" eaLnBrk="1" latinLnBrk="0" hangingPunct="1"/>
            <a:endParaRPr lang="en-US" sz="2000" dirty="0">
              <a:solidFill>
                <a:srgbClr val="FF0000"/>
              </a:solidFill>
            </a:endParaRPr>
          </a:p>
          <a:p>
            <a:r>
              <a:rPr lang="en-US" dirty="0">
                <a:hlinkClick r:id="rId6"/>
              </a:rPr>
              <a:t>https://</a:t>
            </a:r>
            <a:r>
              <a:rPr lang="en-US" dirty="0" err="1">
                <a:hlinkClick r:id="rId6"/>
              </a:rPr>
              <a:t>www.codingame.com</a:t>
            </a:r>
            <a:r>
              <a:rPr lang="en-US" dirty="0">
                <a:hlinkClick r:id="rId6"/>
              </a:rPr>
              <a:t>/playgrounds/54443/</a:t>
            </a:r>
            <a:r>
              <a:rPr lang="en-US" dirty="0" err="1">
                <a:hlinkClick r:id="rId6"/>
              </a:rPr>
              <a:t>openmp</a:t>
            </a:r>
            <a:r>
              <a:rPr lang="en-US" dirty="0">
                <a:hlinkClick r:id="rId6"/>
              </a:rPr>
              <a:t>/playground</a:t>
            </a:r>
            <a:endParaRPr lang="en-US" dirty="0"/>
          </a:p>
        </p:txBody>
      </p:sp>
      <p:sp>
        <p:nvSpPr>
          <p:cNvPr id="9" name="Rectangle 8">
            <a:extLst>
              <a:ext uri="{FF2B5EF4-FFF2-40B4-BE49-F238E27FC236}">
                <a16:creationId xmlns:a16="http://schemas.microsoft.com/office/drawing/2014/main" id="{4D9D027B-949C-9E40-AAF8-561D65CB9D8B}"/>
              </a:ext>
            </a:extLst>
          </p:cNvPr>
          <p:cNvSpPr/>
          <p:nvPr/>
        </p:nvSpPr>
        <p:spPr>
          <a:xfrm>
            <a:off x="5241176" y="5986111"/>
            <a:ext cx="5450595" cy="369332"/>
          </a:xfrm>
          <a:prstGeom prst="rect">
            <a:avLst/>
          </a:prstGeom>
        </p:spPr>
        <p:txBody>
          <a:bodyPr wrap="none">
            <a:spAutoFit/>
          </a:bodyPr>
          <a:lstStyle/>
          <a:p>
            <a:r>
              <a:rPr lang="en-US" dirty="0">
                <a:hlinkClick r:id="rId7"/>
              </a:rPr>
              <a:t>https://www.onlinegdb.com/?utm_source=chatgpt.com</a:t>
            </a:r>
            <a:endParaRPr lang="en-US" dirty="0"/>
          </a:p>
        </p:txBody>
      </p:sp>
    </p:spTree>
    <p:extLst>
      <p:ext uri="{BB962C8B-B14F-4D97-AF65-F5344CB8AC3E}">
        <p14:creationId xmlns:p14="http://schemas.microsoft.com/office/powerpoint/2010/main" val="22462354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2135189" y="109539"/>
            <a:ext cx="8281987" cy="708025"/>
          </a:xfrm>
        </p:spPr>
        <p:txBody>
          <a:bodyPr>
            <a:normAutofit/>
          </a:bodyPr>
          <a:lstStyle/>
          <a:p>
            <a:r>
              <a:rPr lang="en-US" dirty="0">
                <a:latin typeface="NimbusRomNo9L-Medi" charset="0"/>
              </a:rPr>
              <a:t>OpenMP Solution #1</a:t>
            </a:r>
            <a:endParaRPr lang="en-US" dirty="0">
              <a:latin typeface="Arial" charset="0"/>
            </a:endParaRPr>
          </a:p>
        </p:txBody>
      </p:sp>
      <p:sp>
        <p:nvSpPr>
          <p:cNvPr id="7" name="Rectangle 6">
            <a:extLst>
              <a:ext uri="{FF2B5EF4-FFF2-40B4-BE49-F238E27FC236}">
                <a16:creationId xmlns:a16="http://schemas.microsoft.com/office/drawing/2014/main" id="{C7D2F52E-A043-524F-9616-882BCC0B3407}"/>
              </a:ext>
            </a:extLst>
          </p:cNvPr>
          <p:cNvSpPr/>
          <p:nvPr/>
        </p:nvSpPr>
        <p:spPr>
          <a:xfrm>
            <a:off x="1802781" y="817563"/>
            <a:ext cx="8865219" cy="5078313"/>
          </a:xfrm>
          <a:prstGeom prst="rect">
            <a:avLst/>
          </a:prstGeom>
        </p:spPr>
        <p:txBody>
          <a:bodyPr wrap="square">
            <a:spAutoFit/>
          </a:bodyPr>
          <a:lstStyle/>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stdio.h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stdlib.h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omp.h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err="1">
                <a:solidFill>
                  <a:srgbClr val="569CD6"/>
                </a:solidFill>
                <a:latin typeface="Menlo" panose="020B0609030804020204" pitchFamily="49" charset="0"/>
              </a:rPr>
              <a:t>int</a:t>
            </a:r>
            <a:r>
              <a:rPr lang="en-US" dirty="0">
                <a:solidFill>
                  <a:srgbClr val="D4D4D4"/>
                </a:solidFill>
                <a:latin typeface="Menlo" panose="020B0609030804020204" pitchFamily="49" charset="0"/>
              </a:rPr>
              <a:t> </a:t>
            </a:r>
            <a:r>
              <a:rPr lang="en-US" dirty="0">
                <a:solidFill>
                  <a:srgbClr val="DCDCAA"/>
                </a:solidFill>
                <a:latin typeface="Menlo" panose="020B0609030804020204" pitchFamily="49" charset="0"/>
              </a:rPr>
              <a:t>main</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double</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sum=</a:t>
            </a:r>
            <a:r>
              <a:rPr lang="en-US" dirty="0">
                <a:solidFill>
                  <a:srgbClr val="B5CEA8"/>
                </a:solidFill>
                <a:latin typeface="Menlo" panose="020B0609030804020204" pitchFamily="49" charset="0"/>
              </a:rPr>
              <a:t>0.0</a:t>
            </a:r>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double</a:t>
            </a:r>
            <a:r>
              <a:rPr lang="en-US" dirty="0">
                <a:solidFill>
                  <a:srgbClr val="D4D4D4"/>
                </a:solidFill>
                <a:latin typeface="Menlo" panose="020B0609030804020204" pitchFamily="49" charset="0"/>
              </a:rPr>
              <a:t> </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a:t>
            </a:r>
            <a:r>
              <a:rPr lang="en-US" dirty="0" err="1">
                <a:solidFill>
                  <a:srgbClr val="569CD6"/>
                </a:solidFill>
                <a:latin typeface="Menlo" panose="020B0609030804020204" pitchFamily="49" charset="0"/>
              </a:rPr>
              <a:t>int</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 n=</a:t>
            </a:r>
            <a:r>
              <a:rPr lang="en-US" dirty="0">
                <a:solidFill>
                  <a:srgbClr val="B5CEA8"/>
                </a:solidFill>
                <a:latin typeface="Menlo" panose="020B0609030804020204" pitchFamily="49" charset="0"/>
              </a:rPr>
              <a:t>20</a:t>
            </a:r>
            <a:r>
              <a:rPr lang="en-US" dirty="0">
                <a:solidFill>
                  <a:srgbClr val="D4D4D4"/>
                </a:solidFill>
                <a:latin typeface="Menlo" panose="020B0609030804020204" pitchFamily="49" charset="0"/>
              </a:rPr>
              <a:t>;</a:t>
            </a:r>
          </a:p>
          <a:p>
            <a:br>
              <a:rPr lang="en-US" dirty="0">
                <a:solidFill>
                  <a:srgbClr val="D4D4D4"/>
                </a:solidFill>
                <a:latin typeface="Menlo" panose="020B0609030804020204" pitchFamily="49" charset="0"/>
              </a:rPr>
            </a:br>
            <a:r>
              <a:rPr lang="en-US" dirty="0">
                <a:solidFill>
                  <a:srgbClr val="D4D4D4"/>
                </a:solidFill>
                <a:latin typeface="Menlo" panose="020B0609030804020204" pitchFamily="49" charset="0"/>
              </a:rPr>
              <a:t>	</a:t>
            </a:r>
            <a:r>
              <a:rPr lang="en-US" dirty="0">
                <a:solidFill>
                  <a:srgbClr val="C586C0"/>
                </a:solidFill>
                <a:latin typeface="Menlo" panose="020B0609030804020204" pitchFamily="49" charset="0"/>
              </a:rPr>
              <a:t>#pragma</a:t>
            </a:r>
            <a:r>
              <a:rPr lang="en-US" dirty="0">
                <a:solidFill>
                  <a:srgbClr val="569CD6"/>
                </a:solidFill>
                <a:latin typeface="Menlo" panose="020B0609030804020204" pitchFamily="49" charset="0"/>
              </a:rPr>
              <a:t> </a:t>
            </a:r>
            <a:r>
              <a:rPr lang="en-US" dirty="0" err="1">
                <a:solidFill>
                  <a:srgbClr val="9CDCFE"/>
                </a:solidFill>
                <a:latin typeface="Menlo" panose="020B0609030804020204" pitchFamily="49" charset="0"/>
              </a:rPr>
              <a:t>omp</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parallel</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for</a:t>
            </a:r>
            <a:r>
              <a:rPr lang="en-US" dirty="0">
                <a:solidFill>
                  <a:srgbClr val="569CD6"/>
                </a:solidFill>
                <a:latin typeface="Menlo" panose="020B0609030804020204" pitchFamily="49" charset="0"/>
              </a:rPr>
              <a:t> </a:t>
            </a:r>
            <a:r>
              <a:rPr lang="en-US" dirty="0" err="1">
                <a:solidFill>
                  <a:srgbClr val="9CDCFE"/>
                </a:solidFill>
                <a:latin typeface="Menlo" panose="020B0609030804020204" pitchFamily="49" charset="0"/>
              </a:rPr>
              <a:t>num_threads</a:t>
            </a:r>
            <a:r>
              <a:rPr lang="en-US" dirty="0">
                <a:solidFill>
                  <a:srgbClr val="569CD6"/>
                </a:solidFill>
                <a:latin typeface="Menlo" panose="020B0609030804020204" pitchFamily="49" charset="0"/>
              </a:rPr>
              <a:t>(4) </a:t>
            </a:r>
            <a:r>
              <a:rPr lang="en-US" dirty="0">
                <a:solidFill>
                  <a:srgbClr val="9CDCFE"/>
                </a:solidFill>
                <a:latin typeface="Menlo" panose="020B0609030804020204" pitchFamily="49" charset="0"/>
              </a:rPr>
              <a:t>reduction</a:t>
            </a:r>
            <a:r>
              <a:rPr lang="en-US" dirty="0">
                <a:solidFill>
                  <a:srgbClr val="569CD6"/>
                </a:solidFill>
                <a:latin typeface="Menlo" panose="020B0609030804020204" pitchFamily="49" charset="0"/>
              </a:rPr>
              <a:t>(+:</a:t>
            </a:r>
            <a:r>
              <a:rPr lang="en-US" dirty="0">
                <a:solidFill>
                  <a:srgbClr val="9CDCFE"/>
                </a:solidFill>
                <a:latin typeface="Menlo" panose="020B0609030804020204" pitchFamily="49" charset="0"/>
              </a:rPr>
              <a:t>sum</a:t>
            </a:r>
            <a:r>
              <a:rPr lang="en-US" dirty="0">
                <a:solidFill>
                  <a:srgbClr val="569CD6"/>
                </a:solidFill>
                <a:latin typeface="Menlo" panose="020B0609030804020204" pitchFamily="49" charset="0"/>
              </a:rPr>
              <a:t>)</a:t>
            </a:r>
            <a:endParaRPr lang="en-US" dirty="0">
              <a:solidFill>
                <a:schemeClr val="bg1">
                  <a:lumMod val="50000"/>
                </a:schemeClr>
              </a:solidFill>
              <a:latin typeface="Menlo" panose="020B0609030804020204" pitchFamily="49" charset="0"/>
            </a:endParaRPr>
          </a:p>
          <a:p>
            <a:r>
              <a:rPr lang="en-US" dirty="0">
                <a:solidFill>
                  <a:srgbClr val="C586C0"/>
                </a:solidFill>
                <a:latin typeface="Menlo" panose="020B0609030804020204" pitchFamily="49" charset="0"/>
              </a:rPr>
              <a:t>		for</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a:t>
            </a:r>
            <a:r>
              <a:rPr lang="en-US" dirty="0">
                <a:solidFill>
                  <a:srgbClr val="B5CEA8"/>
                </a:solidFill>
                <a:latin typeface="Menlo" panose="020B0609030804020204" pitchFamily="49" charset="0"/>
              </a:rPr>
              <a:t>0</a:t>
            </a:r>
            <a:r>
              <a:rPr lang="en-US" dirty="0">
                <a:solidFill>
                  <a:schemeClr val="bg1">
                    <a:lumMod val="50000"/>
                  </a:schemeClr>
                </a:solidFill>
                <a:latin typeface="Menlo" panose="020B0609030804020204" pitchFamily="49" charset="0"/>
              </a:rPr>
              <a:t>;k&lt;</a:t>
            </a:r>
            <a:r>
              <a:rPr lang="en-US" dirty="0" err="1">
                <a:solidFill>
                  <a:schemeClr val="bg1">
                    <a:lumMod val="50000"/>
                  </a:schemeClr>
                </a:solidFill>
                <a:latin typeface="Menlo" panose="020B0609030804020204" pitchFamily="49" charset="0"/>
              </a:rPr>
              <a:t>n;k</a:t>
            </a:r>
            <a:r>
              <a:rPr lang="en-US" dirty="0">
                <a:solidFill>
                  <a:schemeClr val="bg1">
                    <a:lumMod val="50000"/>
                  </a:schemeClr>
                </a:solidFill>
                <a:latin typeface="Menlo" panose="020B0609030804020204" pitchFamily="49" charset="0"/>
              </a:rPr>
              <a:t>++){</a:t>
            </a:r>
          </a:p>
          <a:p>
            <a:r>
              <a:rPr lang="en-US" dirty="0">
                <a:solidFill>
                  <a:schemeClr val="bg1">
                    <a:lumMod val="65000"/>
                  </a:schemeClr>
                </a:solidFill>
                <a:latin typeface="Menlo" panose="020B0609030804020204" pitchFamily="49" charset="0"/>
              </a:rPr>
              <a:t>			double factor = (k &amp; </a:t>
            </a:r>
            <a:r>
              <a:rPr lang="en-US" dirty="0">
                <a:solidFill>
                  <a:srgbClr val="92D050"/>
                </a:solidFill>
                <a:latin typeface="Menlo" panose="020B0609030804020204" pitchFamily="49" charset="0"/>
              </a:rPr>
              <a:t>1</a:t>
            </a:r>
            <a:r>
              <a:rPr lang="en-US" dirty="0">
                <a:solidFill>
                  <a:schemeClr val="bg1">
                    <a:lumMod val="65000"/>
                  </a:schemeClr>
                </a:solidFill>
                <a:latin typeface="Menlo" panose="020B0609030804020204" pitchFamily="49" charset="0"/>
              </a:rPr>
              <a:t>) ? -1.0 : </a:t>
            </a:r>
            <a:r>
              <a:rPr lang="en-US" dirty="0">
                <a:solidFill>
                  <a:srgbClr val="92D050"/>
                </a:solidFill>
                <a:latin typeface="Menlo" panose="020B0609030804020204" pitchFamily="49" charset="0"/>
              </a:rPr>
              <a:t>1.0</a:t>
            </a:r>
            <a:r>
              <a:rPr lang="en-US" dirty="0">
                <a:solidFill>
                  <a:schemeClr val="bg1">
                    <a:lumMod val="65000"/>
                  </a:schemeClr>
                </a:solidFill>
                <a:latin typeface="Menlo" panose="020B0609030804020204" pitchFamily="49" charset="0"/>
              </a:rPr>
              <a:t>;</a:t>
            </a:r>
          </a:p>
          <a:p>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sum+= </a:t>
            </a:r>
            <a:r>
              <a:rPr lang="en-US" dirty="0">
                <a:solidFill>
                  <a:schemeClr val="bg1">
                    <a:lumMod val="65000"/>
                  </a:schemeClr>
                </a:solidFill>
                <a:latin typeface="Menlo" panose="020B0609030804020204" pitchFamily="49" charset="0"/>
              </a:rPr>
              <a:t>factor </a:t>
            </a:r>
            <a:r>
              <a:rPr lang="en-US" dirty="0">
                <a:solidFill>
                  <a:schemeClr val="bg1">
                    <a:lumMod val="50000"/>
                  </a:schemeClr>
                </a:solidFill>
                <a:latin typeface="Menlo" panose="020B0609030804020204" pitchFamily="49" charset="0"/>
              </a:rPr>
              <a:t>/(</a:t>
            </a:r>
            <a:r>
              <a:rPr lang="en-US" dirty="0">
                <a:solidFill>
                  <a:srgbClr val="B5CEA8"/>
                </a:solidFill>
                <a:latin typeface="Menlo" panose="020B0609030804020204" pitchFamily="49" charset="0"/>
              </a:rPr>
              <a:t>2</a:t>
            </a:r>
            <a:r>
              <a:rPr lang="en-US" dirty="0">
                <a:solidFill>
                  <a:schemeClr val="bg1">
                    <a:lumMod val="50000"/>
                  </a:schemeClr>
                </a:solidFill>
                <a:latin typeface="Menlo" panose="020B0609030804020204" pitchFamily="49" charset="0"/>
              </a:rPr>
              <a:t>*k+</a:t>
            </a:r>
            <a:r>
              <a:rPr lang="en-US" dirty="0">
                <a:solidFill>
                  <a:srgbClr val="B5CEA8"/>
                </a:solidFill>
                <a:latin typeface="Menlo" panose="020B0609030804020204" pitchFamily="49" charset="0"/>
              </a:rPr>
              <a:t>1</a:t>
            </a:r>
            <a:r>
              <a:rPr lang="en-US" dirty="0">
                <a:solidFill>
                  <a:schemeClr val="bg1">
                    <a:lumMod val="50000"/>
                  </a:schemeClr>
                </a:solidFill>
                <a:latin typeface="Menlo" panose="020B0609030804020204" pitchFamily="49" charset="0"/>
              </a:rPr>
              <a:t>);</a:t>
            </a:r>
          </a:p>
          <a:p>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a:t>
            </a:r>
          </a:p>
          <a:p>
            <a:r>
              <a:rPr lang="en-US" dirty="0">
                <a:solidFill>
                  <a:srgbClr val="D4D4D4"/>
                </a:solidFill>
                <a:latin typeface="Menlo" panose="020B0609030804020204" pitchFamily="49" charset="0"/>
              </a:rPr>
              <a:t>	</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r>
              <a:rPr lang="en-US" dirty="0">
                <a:solidFill>
                  <a:srgbClr val="B5CEA8"/>
                </a:solidFill>
                <a:latin typeface="Menlo" panose="020B0609030804020204" pitchFamily="49" charset="0"/>
              </a:rPr>
              <a:t>4.0</a:t>
            </a:r>
            <a:r>
              <a:rPr lang="en-US" dirty="0">
                <a:solidFill>
                  <a:schemeClr val="bg1">
                    <a:lumMod val="50000"/>
                  </a:schemeClr>
                </a:solidFill>
                <a:latin typeface="Menlo" panose="020B0609030804020204" pitchFamily="49" charset="0"/>
              </a:rPr>
              <a:t>*sum;</a:t>
            </a:r>
          </a:p>
          <a:p>
            <a:r>
              <a:rPr lang="en-US" dirty="0">
                <a:solidFill>
                  <a:srgbClr val="DCDCAA"/>
                </a:solidFill>
                <a:latin typeface="Menlo" panose="020B0609030804020204" pitchFamily="49" charset="0"/>
              </a:rPr>
              <a:t>	</a:t>
            </a:r>
            <a:r>
              <a:rPr lang="en-US" dirty="0" err="1">
                <a:solidFill>
                  <a:srgbClr val="DCDCAA"/>
                </a:solidFill>
                <a:latin typeface="Menlo" panose="020B0609030804020204" pitchFamily="49" charset="0"/>
              </a:rPr>
              <a:t>printf</a:t>
            </a:r>
            <a:r>
              <a:rPr lang="en-US" dirty="0">
                <a:solidFill>
                  <a:srgbClr val="D4D4D4"/>
                </a:solidFill>
                <a:latin typeface="Menlo" panose="020B0609030804020204" pitchFamily="49" charset="0"/>
              </a:rPr>
              <a:t>(</a:t>
            </a:r>
            <a:r>
              <a:rPr lang="en-US" dirty="0">
                <a:solidFill>
                  <a:srgbClr val="CE9178"/>
                </a:solidFill>
                <a:latin typeface="Menlo" panose="020B0609030804020204" pitchFamily="49" charset="0"/>
              </a:rPr>
              <a:t>"%f"</a:t>
            </a:r>
            <a:r>
              <a:rPr lang="en-US" dirty="0">
                <a:solidFill>
                  <a:schemeClr val="bg1">
                    <a:lumMod val="50000"/>
                  </a:schemeClr>
                </a:solidFill>
                <a:latin typeface="Menlo" panose="020B0609030804020204" pitchFamily="49" charset="0"/>
              </a:rPr>
              <a:t>,</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p>
          <a:p>
            <a:br>
              <a:rPr lang="en-US" dirty="0">
                <a:solidFill>
                  <a:srgbClr val="D4D4D4"/>
                </a:solidFill>
                <a:latin typeface="Menlo" panose="020B0609030804020204" pitchFamily="49" charset="0"/>
              </a:rPr>
            </a:br>
            <a:r>
              <a:rPr lang="en-US" dirty="0">
                <a:solidFill>
                  <a:schemeClr val="bg1">
                    <a:lumMod val="50000"/>
                  </a:schemeClr>
                </a:solidFill>
                <a:latin typeface="Menlo" panose="020B0609030804020204" pitchFamily="49" charset="0"/>
              </a:rPr>
              <a:t>}</a:t>
            </a:r>
          </a:p>
        </p:txBody>
      </p:sp>
    </p:spTree>
    <p:extLst>
      <p:ext uri="{BB962C8B-B14F-4D97-AF65-F5344CB8AC3E}">
        <p14:creationId xmlns:p14="http://schemas.microsoft.com/office/powerpoint/2010/main" val="4314754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5" name="Title 1"/>
          <p:cNvSpPr>
            <a:spLocks noGrp="1"/>
          </p:cNvSpPr>
          <p:nvPr>
            <p:ph type="title"/>
          </p:nvPr>
        </p:nvSpPr>
        <p:spPr>
          <a:xfrm>
            <a:off x="2135189" y="109539"/>
            <a:ext cx="8281987" cy="708025"/>
          </a:xfrm>
        </p:spPr>
        <p:txBody>
          <a:bodyPr>
            <a:normAutofit/>
          </a:bodyPr>
          <a:lstStyle/>
          <a:p>
            <a:r>
              <a:rPr lang="en-US" dirty="0">
                <a:latin typeface="NimbusRomNo9L-Medi" charset="0"/>
              </a:rPr>
              <a:t>OpenMP Solution #1</a:t>
            </a:r>
            <a:endParaRPr lang="en-US" dirty="0">
              <a:latin typeface="Arial" charset="0"/>
            </a:endParaRPr>
          </a:p>
        </p:txBody>
      </p:sp>
      <p:sp>
        <p:nvSpPr>
          <p:cNvPr id="7" name="Rectangle 6">
            <a:extLst>
              <a:ext uri="{FF2B5EF4-FFF2-40B4-BE49-F238E27FC236}">
                <a16:creationId xmlns:a16="http://schemas.microsoft.com/office/drawing/2014/main" id="{C7D2F52E-A043-524F-9616-882BCC0B3407}"/>
              </a:ext>
            </a:extLst>
          </p:cNvPr>
          <p:cNvSpPr/>
          <p:nvPr/>
        </p:nvSpPr>
        <p:spPr>
          <a:xfrm>
            <a:off x="1802781" y="817563"/>
            <a:ext cx="8865219" cy="5909310"/>
          </a:xfrm>
          <a:prstGeom prst="rect">
            <a:avLst/>
          </a:prstGeom>
        </p:spPr>
        <p:txBody>
          <a:bodyPr wrap="square">
            <a:spAutoFit/>
          </a:bodyPr>
          <a:lstStyle/>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stdio.h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stdlib.h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omp.h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err="1">
                <a:solidFill>
                  <a:srgbClr val="569CD6"/>
                </a:solidFill>
                <a:latin typeface="Menlo" panose="020B0609030804020204" pitchFamily="49" charset="0"/>
              </a:rPr>
              <a:t>int</a:t>
            </a:r>
            <a:r>
              <a:rPr lang="en-US" dirty="0">
                <a:solidFill>
                  <a:srgbClr val="D4D4D4"/>
                </a:solidFill>
                <a:latin typeface="Menlo" panose="020B0609030804020204" pitchFamily="49" charset="0"/>
              </a:rPr>
              <a:t> </a:t>
            </a:r>
            <a:r>
              <a:rPr lang="en-US" dirty="0">
                <a:solidFill>
                  <a:srgbClr val="DCDCAA"/>
                </a:solidFill>
                <a:latin typeface="Menlo" panose="020B0609030804020204" pitchFamily="49" charset="0"/>
              </a:rPr>
              <a:t>main</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double</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factor=</a:t>
            </a:r>
            <a:r>
              <a:rPr lang="en-US" dirty="0">
                <a:solidFill>
                  <a:srgbClr val="B5CEA8"/>
                </a:solidFill>
                <a:latin typeface="Menlo" panose="020B0609030804020204" pitchFamily="49" charset="0"/>
              </a:rPr>
              <a:t>1.0</a:t>
            </a:r>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double</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sum=</a:t>
            </a:r>
            <a:r>
              <a:rPr lang="en-US" dirty="0">
                <a:solidFill>
                  <a:srgbClr val="B5CEA8"/>
                </a:solidFill>
                <a:latin typeface="Menlo" panose="020B0609030804020204" pitchFamily="49" charset="0"/>
              </a:rPr>
              <a:t>0.0</a:t>
            </a:r>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double</a:t>
            </a:r>
            <a:r>
              <a:rPr lang="en-US" dirty="0">
                <a:solidFill>
                  <a:srgbClr val="D4D4D4"/>
                </a:solidFill>
                <a:latin typeface="Menlo" panose="020B0609030804020204" pitchFamily="49" charset="0"/>
              </a:rPr>
              <a:t> </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	</a:t>
            </a:r>
            <a:r>
              <a:rPr lang="en-US" dirty="0" err="1">
                <a:solidFill>
                  <a:srgbClr val="569CD6"/>
                </a:solidFill>
                <a:latin typeface="Menlo" panose="020B0609030804020204" pitchFamily="49" charset="0"/>
              </a:rPr>
              <a:t>int</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 n=</a:t>
            </a:r>
            <a:r>
              <a:rPr lang="en-US" dirty="0">
                <a:solidFill>
                  <a:srgbClr val="B5CEA8"/>
                </a:solidFill>
                <a:latin typeface="Menlo" panose="020B0609030804020204" pitchFamily="49" charset="0"/>
              </a:rPr>
              <a:t>20</a:t>
            </a:r>
            <a:r>
              <a:rPr lang="en-US" dirty="0">
                <a:solidFill>
                  <a:srgbClr val="D4D4D4"/>
                </a:solidFill>
                <a:latin typeface="Menlo" panose="020B0609030804020204" pitchFamily="49" charset="0"/>
              </a:rPr>
              <a:t>;</a:t>
            </a:r>
          </a:p>
          <a:p>
            <a:br>
              <a:rPr lang="en-US" dirty="0">
                <a:solidFill>
                  <a:srgbClr val="D4D4D4"/>
                </a:solidFill>
                <a:latin typeface="Menlo" panose="020B0609030804020204" pitchFamily="49" charset="0"/>
              </a:rPr>
            </a:br>
            <a:r>
              <a:rPr lang="en-US" dirty="0">
                <a:solidFill>
                  <a:srgbClr val="D4D4D4"/>
                </a:solidFill>
                <a:latin typeface="Menlo" panose="020B0609030804020204" pitchFamily="49" charset="0"/>
              </a:rPr>
              <a:t>	</a:t>
            </a:r>
            <a:r>
              <a:rPr lang="en-US" dirty="0">
                <a:solidFill>
                  <a:srgbClr val="C586C0"/>
                </a:solidFill>
                <a:latin typeface="Menlo" panose="020B0609030804020204" pitchFamily="49" charset="0"/>
              </a:rPr>
              <a:t>#pragma</a:t>
            </a:r>
            <a:r>
              <a:rPr lang="en-US" dirty="0">
                <a:solidFill>
                  <a:srgbClr val="569CD6"/>
                </a:solidFill>
                <a:latin typeface="Menlo" panose="020B0609030804020204" pitchFamily="49" charset="0"/>
              </a:rPr>
              <a:t> </a:t>
            </a:r>
            <a:r>
              <a:rPr lang="en-US" dirty="0" err="1">
                <a:solidFill>
                  <a:srgbClr val="9CDCFE"/>
                </a:solidFill>
                <a:latin typeface="Menlo" panose="020B0609030804020204" pitchFamily="49" charset="0"/>
              </a:rPr>
              <a:t>omp</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parallel</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for</a:t>
            </a:r>
            <a:r>
              <a:rPr lang="en-US" dirty="0">
                <a:solidFill>
                  <a:srgbClr val="569CD6"/>
                </a:solidFill>
                <a:latin typeface="Menlo" panose="020B0609030804020204" pitchFamily="49" charset="0"/>
              </a:rPr>
              <a:t> </a:t>
            </a:r>
            <a:r>
              <a:rPr lang="en-US" dirty="0" err="1">
                <a:solidFill>
                  <a:srgbClr val="9CDCFE"/>
                </a:solidFill>
                <a:latin typeface="Menlo" panose="020B0609030804020204" pitchFamily="49" charset="0"/>
              </a:rPr>
              <a:t>num_thread</a:t>
            </a:r>
            <a:r>
              <a:rPr lang="en-US" dirty="0">
                <a:solidFill>
                  <a:srgbClr val="569CD6"/>
                </a:solidFill>
                <a:latin typeface="Menlo" panose="020B0609030804020204" pitchFamily="49" charset="0"/>
              </a:rPr>
              <a:t>(4) </a:t>
            </a:r>
            <a:r>
              <a:rPr lang="en-US" dirty="0">
                <a:solidFill>
                  <a:srgbClr val="9CDCFE"/>
                </a:solidFill>
                <a:latin typeface="Menlo" panose="020B0609030804020204" pitchFamily="49" charset="0"/>
              </a:rPr>
              <a:t>reduction</a:t>
            </a:r>
            <a:r>
              <a:rPr lang="en-US" dirty="0">
                <a:solidFill>
                  <a:srgbClr val="569CD6"/>
                </a:solidFill>
                <a:latin typeface="Menlo" panose="020B0609030804020204" pitchFamily="49" charset="0"/>
              </a:rPr>
              <a:t>(+:</a:t>
            </a:r>
            <a:r>
              <a:rPr lang="en-US" dirty="0">
                <a:solidFill>
                  <a:srgbClr val="9CDCFE"/>
                </a:solidFill>
                <a:latin typeface="Menlo" panose="020B0609030804020204" pitchFamily="49" charset="0"/>
              </a:rPr>
              <a:t>sum</a:t>
            </a:r>
            <a:r>
              <a:rPr lang="en-US" dirty="0">
                <a:solidFill>
                  <a:srgbClr val="569CD6"/>
                </a:solidFill>
                <a:latin typeface="Menlo" panose="020B0609030804020204" pitchFamily="49" charset="0"/>
              </a:rPr>
              <a:t>)</a:t>
            </a:r>
            <a:endParaRPr lang="en-US" dirty="0">
              <a:solidFill>
                <a:srgbClr val="D4D4D4"/>
              </a:solidFill>
              <a:latin typeface="Menlo" panose="020B0609030804020204" pitchFamily="49" charset="0"/>
            </a:endParaRPr>
          </a:p>
          <a:p>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a:t>
            </a:r>
          </a:p>
          <a:p>
            <a:r>
              <a:rPr lang="en-US" dirty="0">
                <a:solidFill>
                  <a:srgbClr val="C586C0"/>
                </a:solidFill>
                <a:latin typeface="Menlo" panose="020B0609030804020204" pitchFamily="49" charset="0"/>
              </a:rPr>
              <a:t>		for</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a:t>
            </a:r>
            <a:r>
              <a:rPr lang="en-US" dirty="0">
                <a:solidFill>
                  <a:srgbClr val="B5CEA8"/>
                </a:solidFill>
                <a:latin typeface="Menlo" panose="020B0609030804020204" pitchFamily="49" charset="0"/>
              </a:rPr>
              <a:t>0</a:t>
            </a:r>
            <a:r>
              <a:rPr lang="en-US" dirty="0">
                <a:solidFill>
                  <a:schemeClr val="bg1">
                    <a:lumMod val="50000"/>
                  </a:schemeClr>
                </a:solidFill>
                <a:latin typeface="Menlo" panose="020B0609030804020204" pitchFamily="49" charset="0"/>
              </a:rPr>
              <a:t>;k&lt;</a:t>
            </a:r>
            <a:r>
              <a:rPr lang="en-US" dirty="0" err="1">
                <a:solidFill>
                  <a:schemeClr val="bg1">
                    <a:lumMod val="50000"/>
                  </a:schemeClr>
                </a:solidFill>
                <a:latin typeface="Menlo" panose="020B0609030804020204" pitchFamily="49" charset="0"/>
              </a:rPr>
              <a:t>n;k</a:t>
            </a:r>
            <a:r>
              <a:rPr lang="en-US" dirty="0">
                <a:solidFill>
                  <a:schemeClr val="bg1">
                    <a:lumMod val="50000"/>
                  </a:schemeClr>
                </a:solidFill>
                <a:latin typeface="Menlo" panose="020B0609030804020204" pitchFamily="49" charset="0"/>
              </a:rPr>
              <a:t>++){</a:t>
            </a:r>
          </a:p>
          <a:p>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sum+= factor/(</a:t>
            </a:r>
            <a:r>
              <a:rPr lang="en-US" dirty="0">
                <a:solidFill>
                  <a:srgbClr val="B5CEA8"/>
                </a:solidFill>
                <a:latin typeface="Menlo" panose="020B0609030804020204" pitchFamily="49" charset="0"/>
              </a:rPr>
              <a:t>2</a:t>
            </a:r>
            <a:r>
              <a:rPr lang="en-US" dirty="0">
                <a:solidFill>
                  <a:schemeClr val="bg1">
                    <a:lumMod val="50000"/>
                  </a:schemeClr>
                </a:solidFill>
                <a:latin typeface="Menlo" panose="020B0609030804020204" pitchFamily="49" charset="0"/>
              </a:rPr>
              <a:t>*k+</a:t>
            </a:r>
            <a:r>
              <a:rPr lang="en-US" dirty="0">
                <a:solidFill>
                  <a:srgbClr val="B5CEA8"/>
                </a:solidFill>
                <a:latin typeface="Menlo" panose="020B0609030804020204" pitchFamily="49" charset="0"/>
              </a:rPr>
              <a:t>1</a:t>
            </a:r>
            <a:r>
              <a:rPr lang="en-US" dirty="0">
                <a:solidFill>
                  <a:schemeClr val="bg1">
                    <a:lumMod val="50000"/>
                  </a:schemeClr>
                </a:solidFill>
                <a:latin typeface="Menlo" panose="020B0609030804020204" pitchFamily="49" charset="0"/>
              </a:rPr>
              <a:t>);</a:t>
            </a:r>
          </a:p>
          <a:p>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factor=-factor;</a:t>
            </a:r>
          </a:p>
          <a:p>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	}</a:t>
            </a:r>
          </a:p>
          <a:p>
            <a:r>
              <a:rPr lang="en-US" dirty="0">
                <a:solidFill>
                  <a:schemeClr val="bg1">
                    <a:lumMod val="50000"/>
                  </a:schemeClr>
                </a:solidFill>
                <a:latin typeface="Menlo" panose="020B0609030804020204" pitchFamily="49" charset="0"/>
              </a:rPr>
              <a:t>	}</a:t>
            </a:r>
          </a:p>
          <a:p>
            <a:r>
              <a:rPr lang="en-US" dirty="0">
                <a:solidFill>
                  <a:srgbClr val="D4D4D4"/>
                </a:solidFill>
                <a:latin typeface="Menlo" panose="020B0609030804020204" pitchFamily="49" charset="0"/>
              </a:rPr>
              <a:t>	</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r>
              <a:rPr lang="en-US" dirty="0">
                <a:solidFill>
                  <a:srgbClr val="B5CEA8"/>
                </a:solidFill>
                <a:latin typeface="Menlo" panose="020B0609030804020204" pitchFamily="49" charset="0"/>
              </a:rPr>
              <a:t>4.0</a:t>
            </a:r>
            <a:r>
              <a:rPr lang="en-US" dirty="0">
                <a:solidFill>
                  <a:schemeClr val="bg1">
                    <a:lumMod val="50000"/>
                  </a:schemeClr>
                </a:solidFill>
                <a:latin typeface="Menlo" panose="020B0609030804020204" pitchFamily="49" charset="0"/>
              </a:rPr>
              <a:t>*sum;</a:t>
            </a:r>
          </a:p>
          <a:p>
            <a:r>
              <a:rPr lang="en-US" dirty="0">
                <a:solidFill>
                  <a:srgbClr val="DCDCAA"/>
                </a:solidFill>
                <a:latin typeface="Menlo" panose="020B0609030804020204" pitchFamily="49" charset="0"/>
              </a:rPr>
              <a:t>	</a:t>
            </a:r>
            <a:r>
              <a:rPr lang="en-US" dirty="0" err="1">
                <a:solidFill>
                  <a:srgbClr val="DCDCAA"/>
                </a:solidFill>
                <a:latin typeface="Menlo" panose="020B0609030804020204" pitchFamily="49" charset="0"/>
              </a:rPr>
              <a:t>printf</a:t>
            </a:r>
            <a:r>
              <a:rPr lang="en-US" dirty="0">
                <a:solidFill>
                  <a:srgbClr val="D4D4D4"/>
                </a:solidFill>
                <a:latin typeface="Menlo" panose="020B0609030804020204" pitchFamily="49" charset="0"/>
              </a:rPr>
              <a:t>(</a:t>
            </a:r>
            <a:r>
              <a:rPr lang="en-US" dirty="0">
                <a:solidFill>
                  <a:srgbClr val="CE9178"/>
                </a:solidFill>
                <a:latin typeface="Menlo" panose="020B0609030804020204" pitchFamily="49" charset="0"/>
              </a:rPr>
              <a:t>"%f"</a:t>
            </a:r>
            <a:r>
              <a:rPr lang="en-US" dirty="0">
                <a:solidFill>
                  <a:schemeClr val="bg1">
                    <a:lumMod val="50000"/>
                  </a:schemeClr>
                </a:solidFill>
                <a:latin typeface="Menlo" panose="020B0609030804020204" pitchFamily="49" charset="0"/>
              </a:rPr>
              <a:t>,</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p>
          <a:p>
            <a:br>
              <a:rPr lang="en-US" dirty="0">
                <a:solidFill>
                  <a:srgbClr val="D4D4D4"/>
                </a:solidFill>
                <a:latin typeface="Menlo" panose="020B0609030804020204" pitchFamily="49" charset="0"/>
              </a:rPr>
            </a:br>
            <a:r>
              <a:rPr lang="en-US" dirty="0">
                <a:solidFill>
                  <a:schemeClr val="bg1">
                    <a:lumMod val="50000"/>
                  </a:schemeClr>
                </a:solidFill>
                <a:latin typeface="Menlo" panose="020B0609030804020204" pitchFamily="49" charset="0"/>
              </a:rPr>
              <a:t>}</a:t>
            </a:r>
          </a:p>
        </p:txBody>
      </p:sp>
    </p:spTree>
    <p:extLst>
      <p:ext uri="{BB962C8B-B14F-4D97-AF65-F5344CB8AC3E}">
        <p14:creationId xmlns:p14="http://schemas.microsoft.com/office/powerpoint/2010/main" val="37368949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47560CF-F35D-BD49-89A2-8542C9094877}"/>
              </a:ext>
            </a:extLst>
          </p:cNvPr>
          <p:cNvSpPr/>
          <p:nvPr/>
        </p:nvSpPr>
        <p:spPr>
          <a:xfrm>
            <a:off x="424544" y="671692"/>
            <a:ext cx="11691256" cy="5355312"/>
          </a:xfrm>
          <a:prstGeom prst="rect">
            <a:avLst/>
          </a:prstGeom>
        </p:spPr>
        <p:txBody>
          <a:bodyPr wrap="square">
            <a:spAutoFit/>
          </a:bodyPr>
          <a:lstStyle/>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stdio.h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stdlib.h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#include</a:t>
            </a:r>
            <a:r>
              <a:rPr lang="en-US" dirty="0">
                <a:solidFill>
                  <a:srgbClr val="569CD6"/>
                </a:solidFill>
                <a:latin typeface="Menlo" panose="020B0609030804020204" pitchFamily="49" charset="0"/>
              </a:rPr>
              <a:t> </a:t>
            </a:r>
            <a:r>
              <a:rPr lang="en-US" dirty="0">
                <a:solidFill>
                  <a:srgbClr val="CE9178"/>
                </a:solidFill>
                <a:latin typeface="Menlo" panose="020B0609030804020204" pitchFamily="49" charset="0"/>
              </a:rPr>
              <a:t>&lt;</a:t>
            </a:r>
            <a:r>
              <a:rPr lang="en-US" dirty="0" err="1">
                <a:solidFill>
                  <a:srgbClr val="CE9178"/>
                </a:solidFill>
                <a:latin typeface="Menlo" panose="020B0609030804020204" pitchFamily="49" charset="0"/>
              </a:rPr>
              <a:t>omp.h</a:t>
            </a:r>
            <a:r>
              <a:rPr lang="en-US" dirty="0">
                <a:solidFill>
                  <a:srgbClr val="CE9178"/>
                </a:solidFill>
                <a:latin typeface="Menlo" panose="020B0609030804020204" pitchFamily="49" charset="0"/>
              </a:rPr>
              <a:t>&gt;</a:t>
            </a:r>
            <a:endParaRPr lang="en-US" dirty="0">
              <a:solidFill>
                <a:srgbClr val="D4D4D4"/>
              </a:solidFill>
              <a:latin typeface="Menlo" panose="020B0609030804020204" pitchFamily="49" charset="0"/>
            </a:endParaRPr>
          </a:p>
          <a:p>
            <a:r>
              <a:rPr lang="en-US" dirty="0" err="1">
                <a:solidFill>
                  <a:srgbClr val="569CD6"/>
                </a:solidFill>
                <a:latin typeface="Menlo" panose="020B0609030804020204" pitchFamily="49" charset="0"/>
              </a:rPr>
              <a:t>int</a:t>
            </a:r>
            <a:r>
              <a:rPr lang="en-US" dirty="0">
                <a:solidFill>
                  <a:srgbClr val="D4D4D4"/>
                </a:solidFill>
                <a:latin typeface="Menlo" panose="020B0609030804020204" pitchFamily="49" charset="0"/>
              </a:rPr>
              <a:t> </a:t>
            </a:r>
            <a:r>
              <a:rPr lang="en-US" dirty="0">
                <a:solidFill>
                  <a:srgbClr val="DCDCAA"/>
                </a:solidFill>
                <a:latin typeface="Menlo" panose="020B0609030804020204" pitchFamily="49" charset="0"/>
              </a:rPr>
              <a:t>main</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a:t>
            </a:r>
          </a:p>
          <a:p>
            <a:r>
              <a:rPr lang="en-US" dirty="0">
                <a:solidFill>
                  <a:srgbClr val="569CD6"/>
                </a:solidFill>
                <a:latin typeface="Menlo" panose="020B0609030804020204" pitchFamily="49" charset="0"/>
              </a:rPr>
              <a:t>double</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factor=</a:t>
            </a:r>
            <a:r>
              <a:rPr lang="en-US" dirty="0">
                <a:solidFill>
                  <a:srgbClr val="B5CEA8"/>
                </a:solidFill>
                <a:latin typeface="Menlo" panose="020B0609030804020204" pitchFamily="49" charset="0"/>
              </a:rPr>
              <a:t>1.0</a:t>
            </a:r>
            <a:r>
              <a:rPr lang="en-US" dirty="0">
                <a:solidFill>
                  <a:schemeClr val="bg1">
                    <a:lumMod val="50000"/>
                  </a:schemeClr>
                </a:solidFill>
                <a:latin typeface="Menlo" panose="020B0609030804020204" pitchFamily="49" charset="0"/>
              </a:rPr>
              <a:t>, sum=</a:t>
            </a:r>
            <a:r>
              <a:rPr lang="en-US" dirty="0">
                <a:solidFill>
                  <a:srgbClr val="B5CEA8"/>
                </a:solidFill>
                <a:latin typeface="Menlo" panose="020B0609030804020204" pitchFamily="49" charset="0"/>
              </a:rPr>
              <a:t>0.0</a:t>
            </a:r>
            <a:r>
              <a:rPr lang="en-US" dirty="0">
                <a:solidFill>
                  <a:schemeClr val="bg1">
                    <a:lumMod val="50000"/>
                  </a:schemeClr>
                </a:solidFill>
                <a:latin typeface="Menlo" panose="020B0609030804020204" pitchFamily="49" charset="0"/>
              </a:rPr>
              <a:t>, </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p>
          <a:p>
            <a:r>
              <a:rPr lang="en-US" dirty="0" err="1">
                <a:solidFill>
                  <a:srgbClr val="569CD6"/>
                </a:solidFill>
                <a:latin typeface="Menlo" panose="020B0609030804020204" pitchFamily="49" charset="0"/>
              </a:rPr>
              <a:t>int</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 n=</a:t>
            </a:r>
            <a:r>
              <a:rPr lang="en-US" dirty="0">
                <a:solidFill>
                  <a:srgbClr val="B5CEA8"/>
                </a:solidFill>
                <a:latin typeface="Menlo" panose="020B0609030804020204" pitchFamily="49" charset="0"/>
              </a:rPr>
              <a:t>20</a:t>
            </a:r>
            <a:r>
              <a:rPr lang="en-US" dirty="0">
                <a:solidFill>
                  <a:schemeClr val="bg1">
                    <a:lumMod val="50000"/>
                  </a:schemeClr>
                </a:solidFill>
                <a:latin typeface="Menlo" panose="020B0609030804020204" pitchFamily="49" charset="0"/>
              </a:rPr>
              <a:t>, </a:t>
            </a:r>
            <a:r>
              <a:rPr lang="en-US" dirty="0" err="1">
                <a:solidFill>
                  <a:schemeClr val="bg1">
                    <a:lumMod val="50000"/>
                  </a:schemeClr>
                </a:solidFill>
                <a:latin typeface="Menlo" panose="020B0609030804020204" pitchFamily="49" charset="0"/>
              </a:rPr>
              <a:t>thread_count</a:t>
            </a:r>
            <a:r>
              <a:rPr lang="en-US" dirty="0">
                <a:solidFill>
                  <a:schemeClr val="bg1">
                    <a:lumMod val="50000"/>
                  </a:schemeClr>
                </a:solidFill>
                <a:latin typeface="Menlo" panose="020B0609030804020204" pitchFamily="49" charset="0"/>
              </a:rPr>
              <a:t>=</a:t>
            </a:r>
            <a:r>
              <a:rPr lang="en-US" dirty="0">
                <a:solidFill>
                  <a:srgbClr val="B5CEA8"/>
                </a:solidFill>
                <a:latin typeface="Menlo" panose="020B0609030804020204" pitchFamily="49" charset="0"/>
              </a:rPr>
              <a:t>4</a:t>
            </a:r>
            <a:r>
              <a:rPr lang="en-US" dirty="0">
                <a:solidFill>
                  <a:schemeClr val="bg1">
                    <a:lumMod val="50000"/>
                  </a:schemeClr>
                </a:solidFill>
                <a:latin typeface="Menlo" panose="020B0609030804020204" pitchFamily="49" charset="0"/>
              </a:rPr>
              <a:t>;</a:t>
            </a:r>
          </a:p>
          <a:p>
            <a:br>
              <a:rPr lang="en-US" dirty="0">
                <a:solidFill>
                  <a:srgbClr val="D4D4D4"/>
                </a:solidFill>
                <a:latin typeface="Menlo" panose="020B0609030804020204" pitchFamily="49" charset="0"/>
              </a:rPr>
            </a:br>
            <a:r>
              <a:rPr lang="en-US" dirty="0">
                <a:solidFill>
                  <a:srgbClr val="C586C0"/>
                </a:solidFill>
                <a:latin typeface="Menlo" panose="020B0609030804020204" pitchFamily="49" charset="0"/>
              </a:rPr>
              <a:t>#pragma</a:t>
            </a:r>
            <a:r>
              <a:rPr lang="en-US" dirty="0">
                <a:solidFill>
                  <a:srgbClr val="569CD6"/>
                </a:solidFill>
                <a:latin typeface="Menlo" panose="020B0609030804020204" pitchFamily="49" charset="0"/>
              </a:rPr>
              <a:t> </a:t>
            </a:r>
            <a:r>
              <a:rPr lang="en-US" dirty="0" err="1">
                <a:solidFill>
                  <a:srgbClr val="9CDCFE"/>
                </a:solidFill>
                <a:latin typeface="Menlo" panose="020B0609030804020204" pitchFamily="49" charset="0"/>
              </a:rPr>
              <a:t>omp</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parallel</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for</a:t>
            </a:r>
            <a:r>
              <a:rPr lang="en-US" dirty="0">
                <a:solidFill>
                  <a:srgbClr val="569CD6"/>
                </a:solidFill>
                <a:latin typeface="Menlo" panose="020B0609030804020204" pitchFamily="49" charset="0"/>
              </a:rPr>
              <a:t> </a:t>
            </a:r>
            <a:r>
              <a:rPr lang="en-US" dirty="0" err="1">
                <a:solidFill>
                  <a:srgbClr val="9CDCFE"/>
                </a:solidFill>
                <a:latin typeface="Menlo" panose="020B0609030804020204" pitchFamily="49" charset="0"/>
              </a:rPr>
              <a:t>num_threads</a:t>
            </a:r>
            <a:r>
              <a:rPr lang="en-US" dirty="0">
                <a:solidFill>
                  <a:srgbClr val="569CD6"/>
                </a:solidFill>
                <a:latin typeface="Menlo" panose="020B0609030804020204" pitchFamily="49" charset="0"/>
              </a:rPr>
              <a:t>(</a:t>
            </a:r>
            <a:r>
              <a:rPr lang="en-US" dirty="0" err="1">
                <a:solidFill>
                  <a:srgbClr val="9CDCFE"/>
                </a:solidFill>
                <a:latin typeface="Menlo" panose="020B0609030804020204" pitchFamily="49" charset="0"/>
              </a:rPr>
              <a:t>thread_count</a:t>
            </a:r>
            <a:r>
              <a:rPr lang="en-US" dirty="0">
                <a:solidFill>
                  <a:srgbClr val="569CD6"/>
                </a:solidFill>
                <a:latin typeface="Menlo" panose="020B0609030804020204" pitchFamily="49" charset="0"/>
              </a:rPr>
              <a:t>) </a:t>
            </a:r>
            <a:r>
              <a:rPr lang="en-US" dirty="0">
                <a:solidFill>
                  <a:srgbClr val="9CDCFE"/>
                </a:solidFill>
                <a:latin typeface="Menlo" panose="020B0609030804020204" pitchFamily="49" charset="0"/>
              </a:rPr>
              <a:t>reduction</a:t>
            </a:r>
            <a:r>
              <a:rPr lang="en-US" dirty="0">
                <a:solidFill>
                  <a:srgbClr val="569CD6"/>
                </a:solidFill>
                <a:latin typeface="Menlo" panose="020B0609030804020204" pitchFamily="49" charset="0"/>
              </a:rPr>
              <a:t>(+:</a:t>
            </a:r>
            <a:r>
              <a:rPr lang="en-US" dirty="0">
                <a:solidFill>
                  <a:srgbClr val="9CDCFE"/>
                </a:solidFill>
                <a:latin typeface="Menlo" panose="020B0609030804020204" pitchFamily="49" charset="0"/>
              </a:rPr>
              <a:t>sum</a:t>
            </a:r>
            <a:r>
              <a:rPr lang="en-US" dirty="0">
                <a:solidFill>
                  <a:srgbClr val="569CD6"/>
                </a:solidFill>
                <a:latin typeface="Menlo" panose="020B0609030804020204" pitchFamily="49" charset="0"/>
              </a:rPr>
              <a:t>) private(factor)</a:t>
            </a:r>
            <a:endParaRPr lang="en-US" dirty="0">
              <a:solidFill>
                <a:srgbClr val="D4D4D4"/>
              </a:solidFill>
              <a:latin typeface="Menlo" panose="020B0609030804020204" pitchFamily="49" charset="0"/>
            </a:endParaRPr>
          </a:p>
          <a:p>
            <a:r>
              <a:rPr lang="en-US" dirty="0">
                <a:solidFill>
                  <a:srgbClr val="C586C0"/>
                </a:solidFill>
                <a:latin typeface="Menlo" panose="020B0609030804020204" pitchFamily="49" charset="0"/>
              </a:rPr>
              <a:t>	for</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a:t>
            </a:r>
            <a:r>
              <a:rPr lang="en-US" dirty="0">
                <a:solidFill>
                  <a:srgbClr val="B5CEA8"/>
                </a:solidFill>
                <a:latin typeface="Menlo" panose="020B0609030804020204" pitchFamily="49" charset="0"/>
              </a:rPr>
              <a:t>0</a:t>
            </a:r>
            <a:r>
              <a:rPr lang="en-US" dirty="0">
                <a:solidFill>
                  <a:schemeClr val="bg1">
                    <a:lumMod val="50000"/>
                  </a:schemeClr>
                </a:solidFill>
                <a:latin typeface="Menlo" panose="020B0609030804020204" pitchFamily="49" charset="0"/>
              </a:rPr>
              <a:t>;k&lt;</a:t>
            </a:r>
            <a:r>
              <a:rPr lang="en-US" dirty="0" err="1">
                <a:solidFill>
                  <a:schemeClr val="bg1">
                    <a:lumMod val="50000"/>
                  </a:schemeClr>
                </a:solidFill>
                <a:latin typeface="Menlo" panose="020B0609030804020204" pitchFamily="49" charset="0"/>
              </a:rPr>
              <a:t>n;k</a:t>
            </a:r>
            <a:r>
              <a:rPr lang="en-US" dirty="0">
                <a:solidFill>
                  <a:schemeClr val="bg1">
                    <a:lumMod val="50000"/>
                  </a:schemeClr>
                </a:solidFill>
                <a:latin typeface="Menlo" panose="020B0609030804020204" pitchFamily="49" charset="0"/>
              </a:rPr>
              <a:t>++){</a:t>
            </a:r>
          </a:p>
          <a:p>
            <a:r>
              <a:rPr lang="en-US" dirty="0">
                <a:solidFill>
                  <a:srgbClr val="C586C0"/>
                </a:solidFill>
                <a:latin typeface="Menlo" panose="020B0609030804020204" pitchFamily="49" charset="0"/>
              </a:rPr>
              <a:t>		if</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(k % </a:t>
            </a:r>
            <a:r>
              <a:rPr lang="en-US" dirty="0">
                <a:solidFill>
                  <a:srgbClr val="B5CEA8"/>
                </a:solidFill>
                <a:latin typeface="Menlo" panose="020B0609030804020204" pitchFamily="49" charset="0"/>
              </a:rPr>
              <a:t>2</a:t>
            </a:r>
            <a:r>
              <a:rPr lang="en-US" dirty="0">
                <a:solidFill>
                  <a:srgbClr val="D4D4D4"/>
                </a:solidFill>
                <a:latin typeface="Menlo" panose="020B0609030804020204" pitchFamily="49" charset="0"/>
              </a:rPr>
              <a:t> </a:t>
            </a:r>
            <a:r>
              <a:rPr lang="en-US" dirty="0">
                <a:solidFill>
                  <a:schemeClr val="bg1">
                    <a:lumMod val="50000"/>
                  </a:schemeClr>
                </a:solidFill>
                <a:latin typeface="Menlo" panose="020B0609030804020204" pitchFamily="49" charset="0"/>
              </a:rPr>
              <a:t>==</a:t>
            </a:r>
            <a:r>
              <a:rPr lang="en-US" dirty="0">
                <a:solidFill>
                  <a:srgbClr val="B5CEA8"/>
                </a:solidFill>
                <a:latin typeface="Menlo" panose="020B0609030804020204" pitchFamily="49" charset="0"/>
              </a:rPr>
              <a:t>0</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			factor = </a:t>
            </a:r>
            <a:r>
              <a:rPr lang="en-US" dirty="0">
                <a:solidFill>
                  <a:srgbClr val="B5CEA8"/>
                </a:solidFill>
                <a:latin typeface="Menlo" panose="020B0609030804020204" pitchFamily="49" charset="0"/>
              </a:rPr>
              <a:t>1.0</a:t>
            </a:r>
            <a:r>
              <a:rPr lang="en-US" dirty="0">
                <a:solidFill>
                  <a:schemeClr val="bg1">
                    <a:lumMod val="50000"/>
                  </a:schemeClr>
                </a:solidFill>
                <a:latin typeface="Menlo" panose="020B0609030804020204" pitchFamily="49" charset="0"/>
              </a:rPr>
              <a:t>;</a:t>
            </a:r>
          </a:p>
          <a:p>
            <a:r>
              <a:rPr lang="en-US" dirty="0">
                <a:solidFill>
                  <a:srgbClr val="C586C0"/>
                </a:solidFill>
                <a:latin typeface="Menlo" panose="020B0609030804020204" pitchFamily="49" charset="0"/>
              </a:rPr>
              <a:t>		else</a:t>
            </a:r>
            <a:endParaRPr lang="en-US" dirty="0">
              <a:solidFill>
                <a:srgbClr val="D4D4D4"/>
              </a:solidFill>
              <a:latin typeface="Menlo" panose="020B0609030804020204" pitchFamily="49" charset="0"/>
            </a:endParaRPr>
          </a:p>
          <a:p>
            <a:r>
              <a:rPr lang="en-US" dirty="0">
                <a:solidFill>
                  <a:schemeClr val="bg1">
                    <a:lumMod val="50000"/>
                  </a:schemeClr>
                </a:solidFill>
                <a:latin typeface="Menlo" panose="020B0609030804020204" pitchFamily="49" charset="0"/>
              </a:rPr>
              <a:t>			factor = -</a:t>
            </a:r>
            <a:r>
              <a:rPr lang="en-US" dirty="0">
                <a:solidFill>
                  <a:srgbClr val="B5CEA8"/>
                </a:solidFill>
                <a:latin typeface="Menlo" panose="020B0609030804020204" pitchFamily="49" charset="0"/>
              </a:rPr>
              <a:t>1.0</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		sum+= factor/(</a:t>
            </a:r>
            <a:r>
              <a:rPr lang="en-US" dirty="0">
                <a:solidFill>
                  <a:srgbClr val="B5CEA8"/>
                </a:solidFill>
                <a:latin typeface="Menlo" panose="020B0609030804020204" pitchFamily="49" charset="0"/>
              </a:rPr>
              <a:t>2</a:t>
            </a:r>
            <a:r>
              <a:rPr lang="en-US" dirty="0">
                <a:solidFill>
                  <a:schemeClr val="bg1">
                    <a:lumMod val="50000"/>
                  </a:schemeClr>
                </a:solidFill>
                <a:latin typeface="Menlo" panose="020B0609030804020204" pitchFamily="49" charset="0"/>
              </a:rPr>
              <a:t>*k+</a:t>
            </a:r>
            <a:r>
              <a:rPr lang="en-US" dirty="0">
                <a:solidFill>
                  <a:srgbClr val="B5CEA8"/>
                </a:solidFill>
                <a:latin typeface="Menlo" panose="020B0609030804020204" pitchFamily="49" charset="0"/>
              </a:rPr>
              <a:t>1</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	}</a:t>
            </a:r>
          </a:p>
          <a:p>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r>
              <a:rPr lang="en-US" dirty="0">
                <a:solidFill>
                  <a:srgbClr val="B5CEA8"/>
                </a:solidFill>
                <a:latin typeface="Menlo" panose="020B0609030804020204" pitchFamily="49" charset="0"/>
              </a:rPr>
              <a:t>4.0</a:t>
            </a:r>
            <a:r>
              <a:rPr lang="en-US" dirty="0">
                <a:solidFill>
                  <a:schemeClr val="bg1">
                    <a:lumMod val="50000"/>
                  </a:schemeClr>
                </a:solidFill>
                <a:latin typeface="Menlo" panose="020B0609030804020204" pitchFamily="49" charset="0"/>
              </a:rPr>
              <a:t>*sum;</a:t>
            </a:r>
          </a:p>
          <a:p>
            <a:r>
              <a:rPr lang="en-US" dirty="0" err="1">
                <a:solidFill>
                  <a:srgbClr val="DCDCAA"/>
                </a:solidFill>
                <a:latin typeface="Menlo" panose="020B0609030804020204" pitchFamily="49" charset="0"/>
              </a:rPr>
              <a:t>printf</a:t>
            </a:r>
            <a:r>
              <a:rPr lang="en-US" dirty="0">
                <a:solidFill>
                  <a:srgbClr val="D4D4D4"/>
                </a:solidFill>
                <a:latin typeface="Menlo" panose="020B0609030804020204" pitchFamily="49" charset="0"/>
              </a:rPr>
              <a:t>(</a:t>
            </a:r>
            <a:r>
              <a:rPr lang="en-US" dirty="0">
                <a:solidFill>
                  <a:srgbClr val="CE9178"/>
                </a:solidFill>
                <a:latin typeface="Menlo" panose="020B0609030804020204" pitchFamily="49" charset="0"/>
              </a:rPr>
              <a:t>"%f"</a:t>
            </a:r>
            <a:r>
              <a:rPr lang="en-US" dirty="0">
                <a:solidFill>
                  <a:schemeClr val="bg1">
                    <a:lumMod val="50000"/>
                  </a:schemeClr>
                </a:solidFill>
                <a:latin typeface="Menlo" panose="020B0609030804020204" pitchFamily="49" charset="0"/>
              </a:rPr>
              <a:t>,</a:t>
            </a:r>
            <a:r>
              <a:rPr lang="en-US" dirty="0" err="1">
                <a:solidFill>
                  <a:schemeClr val="bg1">
                    <a:lumMod val="50000"/>
                  </a:schemeClr>
                </a:solidFill>
                <a:latin typeface="Menlo" panose="020B0609030804020204" pitchFamily="49" charset="0"/>
              </a:rPr>
              <a:t>pi_approx</a:t>
            </a:r>
            <a:r>
              <a:rPr lang="en-US" dirty="0">
                <a:solidFill>
                  <a:schemeClr val="bg1">
                    <a:lumMod val="50000"/>
                  </a:schemeClr>
                </a:solidFill>
                <a:latin typeface="Menlo" panose="020B0609030804020204" pitchFamily="49" charset="0"/>
              </a:rPr>
              <a:t>);</a:t>
            </a:r>
          </a:p>
          <a:p>
            <a:r>
              <a:rPr lang="en-US" dirty="0">
                <a:solidFill>
                  <a:schemeClr val="bg1">
                    <a:lumMod val="50000"/>
                  </a:schemeClr>
                </a:solidFill>
                <a:latin typeface="Menlo" panose="020B0609030804020204" pitchFamily="49" charset="0"/>
              </a:rPr>
              <a:t>}</a:t>
            </a:r>
          </a:p>
        </p:txBody>
      </p:sp>
      <p:sp>
        <p:nvSpPr>
          <p:cNvPr id="64514" name="Title 1"/>
          <p:cNvSpPr>
            <a:spLocks noGrp="1"/>
          </p:cNvSpPr>
          <p:nvPr>
            <p:ph type="title"/>
          </p:nvPr>
        </p:nvSpPr>
        <p:spPr>
          <a:xfrm>
            <a:off x="1992351" y="-253910"/>
            <a:ext cx="8229600" cy="1143000"/>
          </a:xfrm>
        </p:spPr>
        <p:txBody>
          <a:bodyPr/>
          <a:lstStyle/>
          <a:p>
            <a:r>
              <a:rPr lang="en-US" dirty="0">
                <a:latin typeface="Arial" charset="0"/>
              </a:rPr>
              <a:t>OpenMP solution #2</a:t>
            </a:r>
          </a:p>
        </p:txBody>
      </p:sp>
      <p:sp>
        <p:nvSpPr>
          <p:cNvPr id="6" name="TextBox 5"/>
          <p:cNvSpPr txBox="1"/>
          <p:nvPr/>
        </p:nvSpPr>
        <p:spPr>
          <a:xfrm>
            <a:off x="10221951" y="3672513"/>
            <a:ext cx="2081339" cy="707886"/>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000" dirty="0">
                <a:solidFill>
                  <a:srgbClr val="C00000"/>
                </a:solidFill>
              </a:rPr>
              <a:t>Insures factor has </a:t>
            </a:r>
            <a:br>
              <a:rPr lang="en-US" sz="2000" dirty="0">
                <a:solidFill>
                  <a:srgbClr val="C00000"/>
                </a:solidFill>
              </a:rPr>
            </a:br>
            <a:r>
              <a:rPr lang="en-US" sz="2000" dirty="0">
                <a:solidFill>
                  <a:srgbClr val="C00000"/>
                </a:solidFill>
              </a:rPr>
              <a:t>private scope.</a:t>
            </a:r>
          </a:p>
        </p:txBody>
      </p:sp>
      <p:sp>
        <p:nvSpPr>
          <p:cNvPr id="64517" name="Freeform 7"/>
          <p:cNvSpPr>
            <a:spLocks noChangeArrowheads="1"/>
          </p:cNvSpPr>
          <p:nvPr/>
        </p:nvSpPr>
        <p:spPr bwMode="auto">
          <a:xfrm>
            <a:off x="10096312" y="3303181"/>
            <a:ext cx="1492250" cy="369332"/>
          </a:xfrm>
          <a:custGeom>
            <a:avLst/>
            <a:gdLst>
              <a:gd name="T0" fmla="*/ 50799 w 1492551"/>
              <a:gd name="T1" fmla="*/ 0 h 682172"/>
              <a:gd name="T2" fmla="*/ 210457 w 1492551"/>
              <a:gd name="T3" fmla="*/ 391886 h 682172"/>
              <a:gd name="T4" fmla="*/ 1313542 w 1492551"/>
              <a:gd name="T5" fmla="*/ 246743 h 682172"/>
              <a:gd name="T6" fmla="*/ 1284514 w 1492551"/>
              <a:gd name="T7" fmla="*/ 682172 h 682172"/>
              <a:gd name="T8" fmla="*/ 0 60000 65536"/>
              <a:gd name="T9" fmla="*/ 0 60000 65536"/>
              <a:gd name="T10" fmla="*/ 0 60000 65536"/>
              <a:gd name="T11" fmla="*/ 0 60000 65536"/>
              <a:gd name="T12" fmla="*/ 0 w 1492551"/>
              <a:gd name="T13" fmla="*/ 0 h 682172"/>
              <a:gd name="T14" fmla="*/ 1492551 w 1492551"/>
              <a:gd name="T15" fmla="*/ 682172 h 682172"/>
            </a:gdLst>
            <a:ahLst/>
            <a:cxnLst>
              <a:cxn ang="T8">
                <a:pos x="T0" y="T1"/>
              </a:cxn>
              <a:cxn ang="T9">
                <a:pos x="T2" y="T3"/>
              </a:cxn>
              <a:cxn ang="T10">
                <a:pos x="T4" y="T5"/>
              </a:cxn>
              <a:cxn ang="T11">
                <a:pos x="T6" y="T7"/>
              </a:cxn>
            </a:cxnLst>
            <a:rect l="T12" t="T13" r="T14" b="T15"/>
            <a:pathLst>
              <a:path w="1492551" h="682172">
                <a:moveTo>
                  <a:pt x="50799" y="0"/>
                </a:moveTo>
                <a:cubicBezTo>
                  <a:pt x="25399" y="175381"/>
                  <a:pt x="0" y="350762"/>
                  <a:pt x="210457" y="391886"/>
                </a:cubicBezTo>
                <a:cubicBezTo>
                  <a:pt x="420914" y="433010"/>
                  <a:pt x="1134533" y="198362"/>
                  <a:pt x="1313542" y="246743"/>
                </a:cubicBezTo>
                <a:cubicBezTo>
                  <a:pt x="1492551" y="295124"/>
                  <a:pt x="1388532" y="488648"/>
                  <a:pt x="1284514" y="682172"/>
                </a:cubicBezTo>
              </a:path>
            </a:pathLst>
          </a:custGeom>
          <a:noFill/>
          <a:ln w="9525">
            <a:solidFill>
              <a:srgbClr val="C00000"/>
            </a:solidFill>
            <a:round/>
            <a:headEnd type="arrow" w="med" len="med"/>
            <a:tailEnd/>
          </a:ln>
          <a:extLst>
            <a:ext uri="{909E8E84-426E-40dd-AFC4-6F175D3DCCD1}">
              <a14:hiddenFill xmlns:a14="http://schemas.microsoft.com/office/drawing/2010/main" xmlns="">
                <a:solidFill>
                  <a:srgbClr val="FFFFFF"/>
                </a:solidFill>
              </a14:hiddenFill>
            </a:ext>
          </a:extLst>
        </p:spPr>
        <p:txBody>
          <a:bodyPr>
            <a:spAutoFit/>
          </a:bodyPr>
          <a:lstStyle/>
          <a:p>
            <a:pPr>
              <a:spcBef>
                <a:spcPct val="20000"/>
              </a:spcBef>
              <a:buClr>
                <a:schemeClr val="tx1"/>
              </a:buClr>
              <a:buSzPct val="60000"/>
              <a:buFont typeface="Wingdings" charset="0"/>
              <a:buNone/>
            </a:pPr>
            <a:endParaRPr lang="en-GB"/>
          </a:p>
        </p:txBody>
      </p:sp>
    </p:spTree>
    <p:extLst>
      <p:ext uri="{BB962C8B-B14F-4D97-AF65-F5344CB8AC3E}">
        <p14:creationId xmlns:p14="http://schemas.microsoft.com/office/powerpoint/2010/main" val="23815571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4"/>
          <p:cNvSpPr>
            <a:spLocks noGrp="1"/>
          </p:cNvSpPr>
          <p:nvPr>
            <p:ph type="title"/>
          </p:nvPr>
        </p:nvSpPr>
        <p:spPr>
          <a:xfrm>
            <a:off x="2135189" y="109539"/>
            <a:ext cx="8281987" cy="708025"/>
          </a:xfrm>
        </p:spPr>
        <p:txBody>
          <a:bodyPr>
            <a:normAutofit/>
          </a:bodyPr>
          <a:lstStyle/>
          <a:p>
            <a:r>
              <a:rPr lang="en-US">
                <a:latin typeface="Arial" charset="0"/>
              </a:rPr>
              <a:t>Matrix-vector multiplication</a:t>
            </a:r>
          </a:p>
        </p:txBody>
      </p:sp>
      <p:sp>
        <p:nvSpPr>
          <p:cNvPr id="4" name="Footer Placeholder 3"/>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1064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628776"/>
            <a:ext cx="8513763" cy="2371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650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314" y="1196976"/>
            <a:ext cx="3800475" cy="390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650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4365625"/>
            <a:ext cx="3981450" cy="1695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4293922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 x V = X: Parallelization Strategies</a:t>
            </a:r>
          </a:p>
        </p:txBody>
      </p:sp>
      <p:sp>
        <p:nvSpPr>
          <p:cNvPr id="5" name="Rectangle 4"/>
          <p:cNvSpPr/>
          <p:nvPr/>
        </p:nvSpPr>
        <p:spPr>
          <a:xfrm>
            <a:off x="2184798" y="2456780"/>
            <a:ext cx="3331029" cy="2656396"/>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rot="5400000">
            <a:off x="4858913" y="3792118"/>
            <a:ext cx="3331029" cy="636036"/>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7745186" y="2444620"/>
            <a:ext cx="664029" cy="2736725"/>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7066381" y="3359020"/>
            <a:ext cx="439544" cy="707886"/>
          </a:xfrm>
          <a:prstGeom prst="rect">
            <a:avLst/>
          </a:prstGeom>
          <a:noFill/>
        </p:spPr>
        <p:txBody>
          <a:bodyPr wrap="none" rtlCol="0">
            <a:spAutoFit/>
          </a:bodyPr>
          <a:lstStyle/>
          <a:p>
            <a:r>
              <a:rPr lang="en-US" sz="4000"/>
              <a:t>=</a:t>
            </a:r>
          </a:p>
        </p:txBody>
      </p:sp>
      <p:sp>
        <p:nvSpPr>
          <p:cNvPr id="10" name="TextBox 9"/>
          <p:cNvSpPr txBox="1"/>
          <p:nvPr/>
        </p:nvSpPr>
        <p:spPr>
          <a:xfrm>
            <a:off x="5636123" y="3352347"/>
            <a:ext cx="407484" cy="707886"/>
          </a:xfrm>
          <a:prstGeom prst="rect">
            <a:avLst/>
          </a:prstGeom>
          <a:noFill/>
        </p:spPr>
        <p:txBody>
          <a:bodyPr wrap="none" rtlCol="0">
            <a:spAutoFit/>
          </a:bodyPr>
          <a:lstStyle/>
          <a:p>
            <a:r>
              <a:rPr lang="en-US" sz="4000" dirty="0"/>
              <a:t>x</a:t>
            </a:r>
          </a:p>
        </p:txBody>
      </p:sp>
      <p:sp>
        <p:nvSpPr>
          <p:cNvPr id="11" name="TextBox 10"/>
          <p:cNvSpPr txBox="1"/>
          <p:nvPr/>
        </p:nvSpPr>
        <p:spPr>
          <a:xfrm>
            <a:off x="1617306" y="1399592"/>
            <a:ext cx="2749086" cy="461665"/>
          </a:xfrm>
          <a:prstGeom prst="rect">
            <a:avLst/>
          </a:prstGeom>
          <a:noFill/>
        </p:spPr>
        <p:txBody>
          <a:bodyPr wrap="none" rtlCol="0">
            <a:spAutoFit/>
          </a:bodyPr>
          <a:lstStyle/>
          <a:p>
            <a:r>
              <a:rPr lang="en-US" sz="2400" b="1" u="sng" dirty="0"/>
              <a:t>Row Decomposition</a:t>
            </a:r>
          </a:p>
        </p:txBody>
      </p:sp>
      <p:sp>
        <p:nvSpPr>
          <p:cNvPr id="15" name="Rectangle 14"/>
          <p:cNvSpPr/>
          <p:nvPr/>
        </p:nvSpPr>
        <p:spPr>
          <a:xfrm>
            <a:off x="2169249" y="2478553"/>
            <a:ext cx="3331029" cy="675194"/>
          </a:xfrm>
          <a:prstGeom prst="rect">
            <a:avLst/>
          </a:prstGeom>
          <a:solidFill>
            <a:schemeClr val="accent3">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Thread 0</a:t>
            </a:r>
          </a:p>
        </p:txBody>
      </p:sp>
      <p:sp>
        <p:nvSpPr>
          <p:cNvPr id="18" name="Rectangle 17"/>
          <p:cNvSpPr/>
          <p:nvPr/>
        </p:nvSpPr>
        <p:spPr>
          <a:xfrm>
            <a:off x="2172440" y="3153747"/>
            <a:ext cx="3331029" cy="675194"/>
          </a:xfrm>
          <a:prstGeom prst="rect">
            <a:avLst/>
          </a:prstGeom>
          <a:solidFill>
            <a:schemeClr val="accent6">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1</a:t>
            </a:r>
          </a:p>
        </p:txBody>
      </p:sp>
      <p:sp>
        <p:nvSpPr>
          <p:cNvPr id="19" name="Rectangle 18"/>
          <p:cNvSpPr/>
          <p:nvPr/>
        </p:nvSpPr>
        <p:spPr>
          <a:xfrm>
            <a:off x="2193127" y="3811515"/>
            <a:ext cx="3331029" cy="675194"/>
          </a:xfrm>
          <a:prstGeom prst="rect">
            <a:avLst/>
          </a:prstGeom>
          <a:solidFill>
            <a:schemeClr val="accent1">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2</a:t>
            </a:r>
          </a:p>
        </p:txBody>
      </p:sp>
      <p:sp>
        <p:nvSpPr>
          <p:cNvPr id="20" name="Rectangle 19"/>
          <p:cNvSpPr/>
          <p:nvPr/>
        </p:nvSpPr>
        <p:spPr>
          <a:xfrm>
            <a:off x="2178129" y="4506151"/>
            <a:ext cx="3331029" cy="675194"/>
          </a:xfrm>
          <a:prstGeom prst="rect">
            <a:avLst/>
          </a:prstGeom>
          <a:solidFill>
            <a:srgbClr val="E6E06D"/>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3</a:t>
            </a:r>
          </a:p>
        </p:txBody>
      </p:sp>
      <p:sp>
        <p:nvSpPr>
          <p:cNvPr id="21" name="Rectangle 20"/>
          <p:cNvSpPr/>
          <p:nvPr/>
        </p:nvSpPr>
        <p:spPr>
          <a:xfrm>
            <a:off x="7745186" y="2444619"/>
            <a:ext cx="664029" cy="675194"/>
          </a:xfrm>
          <a:prstGeom prst="rect">
            <a:avLst/>
          </a:prstGeom>
          <a:solidFill>
            <a:schemeClr val="accent3">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0</a:t>
            </a:r>
          </a:p>
        </p:txBody>
      </p:sp>
      <p:sp>
        <p:nvSpPr>
          <p:cNvPr id="22" name="Rectangle 21"/>
          <p:cNvSpPr/>
          <p:nvPr/>
        </p:nvSpPr>
        <p:spPr>
          <a:xfrm>
            <a:off x="7745186" y="3109784"/>
            <a:ext cx="664029" cy="675194"/>
          </a:xfrm>
          <a:prstGeom prst="rect">
            <a:avLst/>
          </a:prstGeom>
          <a:solidFill>
            <a:schemeClr val="accent6">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1</a:t>
            </a:r>
          </a:p>
        </p:txBody>
      </p:sp>
      <p:sp>
        <p:nvSpPr>
          <p:cNvPr id="24" name="Rectangle 23"/>
          <p:cNvSpPr/>
          <p:nvPr/>
        </p:nvSpPr>
        <p:spPr>
          <a:xfrm>
            <a:off x="7745186" y="3830957"/>
            <a:ext cx="664029" cy="675194"/>
          </a:xfrm>
          <a:prstGeom prst="rect">
            <a:avLst/>
          </a:prstGeom>
          <a:solidFill>
            <a:schemeClr val="accent1">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2</a:t>
            </a:r>
          </a:p>
        </p:txBody>
      </p:sp>
      <p:sp>
        <p:nvSpPr>
          <p:cNvPr id="25" name="Rectangle 24"/>
          <p:cNvSpPr/>
          <p:nvPr/>
        </p:nvSpPr>
        <p:spPr>
          <a:xfrm>
            <a:off x="7745186" y="4529140"/>
            <a:ext cx="664029" cy="675194"/>
          </a:xfrm>
          <a:prstGeom prst="rect">
            <a:avLst/>
          </a:prstGeom>
          <a:solidFill>
            <a:srgbClr val="E6E06D"/>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3</a:t>
            </a:r>
          </a:p>
        </p:txBody>
      </p:sp>
      <p:sp>
        <p:nvSpPr>
          <p:cNvPr id="30" name="TextBox 29"/>
          <p:cNvSpPr txBox="1"/>
          <p:nvPr/>
        </p:nvSpPr>
        <p:spPr>
          <a:xfrm>
            <a:off x="1617307" y="2060578"/>
            <a:ext cx="748923" cy="369332"/>
          </a:xfrm>
          <a:prstGeom prst="rect">
            <a:avLst/>
          </a:prstGeom>
          <a:noFill/>
        </p:spPr>
        <p:txBody>
          <a:bodyPr wrap="none" rtlCol="0">
            <a:spAutoFit/>
          </a:bodyPr>
          <a:lstStyle/>
          <a:p>
            <a:r>
              <a:rPr lang="en-US"/>
              <a:t>m x n </a:t>
            </a:r>
          </a:p>
        </p:txBody>
      </p:sp>
      <p:sp>
        <p:nvSpPr>
          <p:cNvPr id="31" name="TextBox 30"/>
          <p:cNvSpPr txBox="1"/>
          <p:nvPr/>
        </p:nvSpPr>
        <p:spPr>
          <a:xfrm>
            <a:off x="5646750" y="2019623"/>
            <a:ext cx="681597" cy="369332"/>
          </a:xfrm>
          <a:prstGeom prst="rect">
            <a:avLst/>
          </a:prstGeom>
          <a:noFill/>
        </p:spPr>
        <p:txBody>
          <a:bodyPr wrap="none" rtlCol="0">
            <a:spAutoFit/>
          </a:bodyPr>
          <a:lstStyle/>
          <a:p>
            <a:r>
              <a:rPr lang="en-US" dirty="0"/>
              <a:t>n x 1 </a:t>
            </a:r>
          </a:p>
        </p:txBody>
      </p:sp>
      <p:sp>
        <p:nvSpPr>
          <p:cNvPr id="32" name="TextBox 31"/>
          <p:cNvSpPr txBox="1"/>
          <p:nvPr/>
        </p:nvSpPr>
        <p:spPr>
          <a:xfrm>
            <a:off x="7095669" y="2026296"/>
            <a:ext cx="744114" cy="369332"/>
          </a:xfrm>
          <a:prstGeom prst="rect">
            <a:avLst/>
          </a:prstGeom>
          <a:noFill/>
        </p:spPr>
        <p:txBody>
          <a:bodyPr wrap="none" rtlCol="0">
            <a:spAutoFit/>
          </a:bodyPr>
          <a:lstStyle/>
          <a:p>
            <a:r>
              <a:rPr lang="en-US" dirty="0"/>
              <a:t>m x 1 </a:t>
            </a:r>
          </a:p>
        </p:txBody>
      </p:sp>
      <p:sp>
        <p:nvSpPr>
          <p:cNvPr id="33" name="TextBox 32"/>
          <p:cNvSpPr txBox="1"/>
          <p:nvPr/>
        </p:nvSpPr>
        <p:spPr>
          <a:xfrm>
            <a:off x="1981200" y="5617029"/>
            <a:ext cx="5927264" cy="923330"/>
          </a:xfrm>
          <a:prstGeom prst="rect">
            <a:avLst/>
          </a:prstGeom>
          <a:noFill/>
        </p:spPr>
        <p:txBody>
          <a:bodyPr wrap="none" rtlCol="0">
            <a:spAutoFit/>
          </a:bodyPr>
          <a:lstStyle/>
          <a:p>
            <a:pPr marL="285750" indent="-285750">
              <a:buFont typeface="Wingdings" charset="2"/>
              <a:buChar char="Ø"/>
            </a:pPr>
            <a:r>
              <a:rPr lang="en-US" dirty="0"/>
              <a:t>Each thread gets m/p rows</a:t>
            </a:r>
          </a:p>
          <a:p>
            <a:pPr marL="285750" indent="-285750">
              <a:buFont typeface="Wingdings" charset="2"/>
              <a:buChar char="Ø"/>
            </a:pPr>
            <a:r>
              <a:rPr lang="en-US" dirty="0"/>
              <a:t>Time taken is proportional to: (</a:t>
            </a:r>
            <a:r>
              <a:rPr lang="en-US" dirty="0" err="1"/>
              <a:t>mn</a:t>
            </a:r>
            <a:r>
              <a:rPr lang="en-US" dirty="0"/>
              <a:t>)/p : per thread</a:t>
            </a:r>
          </a:p>
          <a:p>
            <a:pPr marL="285750" indent="-285750">
              <a:buFont typeface="Wingdings" charset="2"/>
              <a:buChar char="Ø"/>
            </a:pPr>
            <a:r>
              <a:rPr lang="en-US" dirty="0"/>
              <a:t>No need for any synchronization (static scheduling will do)</a:t>
            </a:r>
          </a:p>
        </p:txBody>
      </p:sp>
      <p:sp>
        <p:nvSpPr>
          <p:cNvPr id="3" name="TextBox 2">
            <a:extLst>
              <a:ext uri="{FF2B5EF4-FFF2-40B4-BE49-F238E27FC236}">
                <a16:creationId xmlns:a16="http://schemas.microsoft.com/office/drawing/2014/main" id="{4BFEED88-307D-6B44-AF0E-35BAB0B078FB}"/>
              </a:ext>
            </a:extLst>
          </p:cNvPr>
          <p:cNvSpPr txBox="1"/>
          <p:nvPr/>
        </p:nvSpPr>
        <p:spPr>
          <a:xfrm>
            <a:off x="9001591" y="3523443"/>
            <a:ext cx="2907591" cy="461665"/>
          </a:xfrm>
          <a:prstGeom prst="rect">
            <a:avLst/>
          </a:prstGeom>
          <a:noFill/>
        </p:spPr>
        <p:txBody>
          <a:bodyPr wrap="none" rtlCol="0">
            <a:spAutoFit/>
          </a:bodyPr>
          <a:lstStyle/>
          <a:p>
            <a:r>
              <a:rPr lang="en-US" sz="2400" dirty="0">
                <a:solidFill>
                  <a:srgbClr val="FF0000"/>
                </a:solidFill>
              </a:rPr>
              <a:t>Parallelizes inner loop</a:t>
            </a:r>
          </a:p>
        </p:txBody>
      </p:sp>
    </p:spTree>
    <p:extLst>
      <p:ext uri="{BB962C8B-B14F-4D97-AF65-F5344CB8AC3E}">
        <p14:creationId xmlns:p14="http://schemas.microsoft.com/office/powerpoint/2010/main" val="241700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linds(horizontal)">
                                      <p:cBhvr>
                                        <p:cTn id="20" dur="500"/>
                                        <p:tgtEl>
                                          <p:spTgt spid="2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linds(horizontal)">
                                      <p:cBhvr>
                                        <p:cTn id="23" dur="500"/>
                                        <p:tgtEl>
                                          <p:spTgt spid="2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blinds(horizontal)">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animBg="1"/>
      <p:bldP spid="20" grpId="0" animBg="1"/>
      <p:bldP spid="21" grpId="0" animBg="1"/>
      <p:bldP spid="22" grpId="0" animBg="1"/>
      <p:bldP spid="24" grpId="0" animBg="1"/>
      <p:bldP spid="25" grpId="0" animBg="1"/>
      <p:bldP spid="3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 x V = X: Parallelization Strategies</a:t>
            </a:r>
          </a:p>
        </p:txBody>
      </p:sp>
      <p:sp>
        <p:nvSpPr>
          <p:cNvPr id="5" name="Rectangle 4"/>
          <p:cNvSpPr/>
          <p:nvPr/>
        </p:nvSpPr>
        <p:spPr>
          <a:xfrm>
            <a:off x="2191386" y="2497672"/>
            <a:ext cx="3331029" cy="2656396"/>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rot="5400000">
            <a:off x="4858913" y="3792118"/>
            <a:ext cx="3331029" cy="636036"/>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7745186" y="2444620"/>
            <a:ext cx="664029" cy="2736725"/>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7066381" y="3359020"/>
            <a:ext cx="439544" cy="707886"/>
          </a:xfrm>
          <a:prstGeom prst="rect">
            <a:avLst/>
          </a:prstGeom>
          <a:noFill/>
        </p:spPr>
        <p:txBody>
          <a:bodyPr wrap="none" rtlCol="0">
            <a:spAutoFit/>
          </a:bodyPr>
          <a:lstStyle/>
          <a:p>
            <a:r>
              <a:rPr lang="en-US" sz="4000"/>
              <a:t>=</a:t>
            </a:r>
          </a:p>
        </p:txBody>
      </p:sp>
      <p:sp>
        <p:nvSpPr>
          <p:cNvPr id="10" name="TextBox 9"/>
          <p:cNvSpPr txBox="1"/>
          <p:nvPr/>
        </p:nvSpPr>
        <p:spPr>
          <a:xfrm>
            <a:off x="5636123" y="3352347"/>
            <a:ext cx="407484" cy="707886"/>
          </a:xfrm>
          <a:prstGeom prst="rect">
            <a:avLst/>
          </a:prstGeom>
          <a:noFill/>
        </p:spPr>
        <p:txBody>
          <a:bodyPr wrap="none" rtlCol="0">
            <a:spAutoFit/>
          </a:bodyPr>
          <a:lstStyle/>
          <a:p>
            <a:r>
              <a:rPr lang="en-US" sz="4000" dirty="0"/>
              <a:t>x</a:t>
            </a:r>
          </a:p>
        </p:txBody>
      </p:sp>
      <p:sp>
        <p:nvSpPr>
          <p:cNvPr id="11" name="TextBox 10"/>
          <p:cNvSpPr txBox="1"/>
          <p:nvPr/>
        </p:nvSpPr>
        <p:spPr>
          <a:xfrm>
            <a:off x="1617306" y="1399592"/>
            <a:ext cx="3171446" cy="461665"/>
          </a:xfrm>
          <a:prstGeom prst="rect">
            <a:avLst/>
          </a:prstGeom>
          <a:noFill/>
        </p:spPr>
        <p:txBody>
          <a:bodyPr wrap="none" rtlCol="0">
            <a:spAutoFit/>
          </a:bodyPr>
          <a:lstStyle/>
          <a:p>
            <a:r>
              <a:rPr lang="en-US" sz="2400" b="1" u="sng" dirty="0"/>
              <a:t>Column Decomposition</a:t>
            </a:r>
          </a:p>
        </p:txBody>
      </p:sp>
      <p:sp>
        <p:nvSpPr>
          <p:cNvPr id="15" name="Rectangle 14"/>
          <p:cNvSpPr/>
          <p:nvPr/>
        </p:nvSpPr>
        <p:spPr>
          <a:xfrm>
            <a:off x="2169249" y="2475149"/>
            <a:ext cx="823432" cy="2694633"/>
          </a:xfrm>
          <a:prstGeom prst="rect">
            <a:avLst/>
          </a:prstGeom>
          <a:solidFill>
            <a:schemeClr val="accent3">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0</a:t>
            </a:r>
          </a:p>
        </p:txBody>
      </p:sp>
      <p:sp>
        <p:nvSpPr>
          <p:cNvPr id="18" name="Rectangle 17"/>
          <p:cNvSpPr/>
          <p:nvPr/>
        </p:nvSpPr>
        <p:spPr>
          <a:xfrm>
            <a:off x="2992683" y="2475149"/>
            <a:ext cx="849763" cy="2694633"/>
          </a:xfrm>
          <a:prstGeom prst="rect">
            <a:avLst/>
          </a:prstGeom>
          <a:solidFill>
            <a:schemeClr val="accent6">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1</a:t>
            </a:r>
          </a:p>
        </p:txBody>
      </p:sp>
      <p:sp>
        <p:nvSpPr>
          <p:cNvPr id="19" name="Rectangle 18"/>
          <p:cNvSpPr/>
          <p:nvPr/>
        </p:nvSpPr>
        <p:spPr>
          <a:xfrm>
            <a:off x="3842446" y="2478553"/>
            <a:ext cx="842084" cy="2675515"/>
          </a:xfrm>
          <a:prstGeom prst="rect">
            <a:avLst/>
          </a:prstGeom>
          <a:solidFill>
            <a:schemeClr val="accent1">
              <a:lumMod val="40000"/>
              <a:lumOff val="60000"/>
            </a:schemeClr>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2</a:t>
            </a:r>
          </a:p>
        </p:txBody>
      </p:sp>
      <p:sp>
        <p:nvSpPr>
          <p:cNvPr id="20" name="Rectangle 19"/>
          <p:cNvSpPr/>
          <p:nvPr/>
        </p:nvSpPr>
        <p:spPr>
          <a:xfrm>
            <a:off x="4684530" y="2478553"/>
            <a:ext cx="849765" cy="2675515"/>
          </a:xfrm>
          <a:prstGeom prst="rect">
            <a:avLst/>
          </a:prstGeom>
          <a:solidFill>
            <a:srgbClr val="E6E06D"/>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Thread 3</a:t>
            </a:r>
          </a:p>
        </p:txBody>
      </p:sp>
      <p:sp>
        <p:nvSpPr>
          <p:cNvPr id="30" name="TextBox 29"/>
          <p:cNvSpPr txBox="1"/>
          <p:nvPr/>
        </p:nvSpPr>
        <p:spPr>
          <a:xfrm>
            <a:off x="1617307" y="2060578"/>
            <a:ext cx="748923" cy="369332"/>
          </a:xfrm>
          <a:prstGeom prst="rect">
            <a:avLst/>
          </a:prstGeom>
          <a:noFill/>
        </p:spPr>
        <p:txBody>
          <a:bodyPr wrap="none" rtlCol="0">
            <a:spAutoFit/>
          </a:bodyPr>
          <a:lstStyle/>
          <a:p>
            <a:r>
              <a:rPr lang="en-US"/>
              <a:t>m x n </a:t>
            </a:r>
          </a:p>
        </p:txBody>
      </p:sp>
      <p:sp>
        <p:nvSpPr>
          <p:cNvPr id="31" name="TextBox 30"/>
          <p:cNvSpPr txBox="1"/>
          <p:nvPr/>
        </p:nvSpPr>
        <p:spPr>
          <a:xfrm>
            <a:off x="5646750" y="2019623"/>
            <a:ext cx="681597" cy="369332"/>
          </a:xfrm>
          <a:prstGeom prst="rect">
            <a:avLst/>
          </a:prstGeom>
          <a:noFill/>
        </p:spPr>
        <p:txBody>
          <a:bodyPr wrap="none" rtlCol="0">
            <a:spAutoFit/>
          </a:bodyPr>
          <a:lstStyle/>
          <a:p>
            <a:r>
              <a:rPr lang="en-US" dirty="0"/>
              <a:t>n x 1 </a:t>
            </a:r>
          </a:p>
        </p:txBody>
      </p:sp>
      <p:sp>
        <p:nvSpPr>
          <p:cNvPr id="32" name="TextBox 31"/>
          <p:cNvSpPr txBox="1"/>
          <p:nvPr/>
        </p:nvSpPr>
        <p:spPr>
          <a:xfrm>
            <a:off x="7095669" y="2026296"/>
            <a:ext cx="744114" cy="369332"/>
          </a:xfrm>
          <a:prstGeom prst="rect">
            <a:avLst/>
          </a:prstGeom>
          <a:noFill/>
        </p:spPr>
        <p:txBody>
          <a:bodyPr wrap="none" rtlCol="0">
            <a:spAutoFit/>
          </a:bodyPr>
          <a:lstStyle/>
          <a:p>
            <a:r>
              <a:rPr lang="en-US" dirty="0"/>
              <a:t>m x 1 </a:t>
            </a:r>
          </a:p>
        </p:txBody>
      </p:sp>
      <p:sp>
        <p:nvSpPr>
          <p:cNvPr id="33" name="TextBox 32"/>
          <p:cNvSpPr txBox="1"/>
          <p:nvPr/>
        </p:nvSpPr>
        <p:spPr>
          <a:xfrm>
            <a:off x="1981201" y="5617030"/>
            <a:ext cx="7057445" cy="646331"/>
          </a:xfrm>
          <a:prstGeom prst="rect">
            <a:avLst/>
          </a:prstGeom>
          <a:noFill/>
        </p:spPr>
        <p:txBody>
          <a:bodyPr wrap="none" rtlCol="0">
            <a:spAutoFit/>
          </a:bodyPr>
          <a:lstStyle/>
          <a:p>
            <a:pPr marL="285750" indent="-285750">
              <a:buFont typeface="Wingdings" charset="2"/>
              <a:buChar char="Ø"/>
            </a:pPr>
            <a:r>
              <a:rPr lang="en-US" dirty="0"/>
              <a:t>Each thread gets n/p columns</a:t>
            </a:r>
          </a:p>
          <a:p>
            <a:pPr marL="285750" indent="-285750">
              <a:buFont typeface="Wingdings" charset="2"/>
              <a:buChar char="Ø"/>
            </a:pPr>
            <a:r>
              <a:rPr lang="en-US" dirty="0"/>
              <a:t>Time taken is proportional to: (</a:t>
            </a:r>
            <a:r>
              <a:rPr lang="en-US" dirty="0" err="1"/>
              <a:t>mn</a:t>
            </a:r>
            <a:r>
              <a:rPr lang="en-US" dirty="0"/>
              <a:t>)/p + time for reduction : per thread</a:t>
            </a:r>
          </a:p>
        </p:txBody>
      </p:sp>
      <p:grpSp>
        <p:nvGrpSpPr>
          <p:cNvPr id="28" name="Group 27"/>
          <p:cNvGrpSpPr/>
          <p:nvPr/>
        </p:nvGrpSpPr>
        <p:grpSpPr>
          <a:xfrm>
            <a:off x="2569029" y="1181115"/>
            <a:ext cx="7755466" cy="1300829"/>
            <a:chOff x="1045029" y="1181114"/>
            <a:chExt cx="7755466" cy="1300829"/>
          </a:xfrm>
        </p:grpSpPr>
        <p:sp>
          <p:nvSpPr>
            <p:cNvPr id="3" name="TextBox 2"/>
            <p:cNvSpPr txBox="1"/>
            <p:nvPr/>
          </p:nvSpPr>
          <p:spPr>
            <a:xfrm>
              <a:off x="6885214" y="1746462"/>
              <a:ext cx="1734770" cy="369332"/>
            </a:xfrm>
            <a:prstGeom prst="rect">
              <a:avLst/>
            </a:prstGeom>
            <a:noFill/>
          </p:spPr>
          <p:txBody>
            <a:bodyPr wrap="none" rtlCol="0">
              <a:spAutoFit/>
            </a:bodyPr>
            <a:lstStyle/>
            <a:p>
              <a:r>
                <a:rPr lang="en-US" dirty="0"/>
                <a:t>x0 + x1 + x2 + x3</a:t>
              </a:r>
            </a:p>
          </p:txBody>
        </p:sp>
        <p:sp>
          <p:nvSpPr>
            <p:cNvPr id="6" name="Freeform 5"/>
            <p:cNvSpPr/>
            <p:nvPr/>
          </p:nvSpPr>
          <p:spPr>
            <a:xfrm>
              <a:off x="1045029" y="1343920"/>
              <a:ext cx="5990253" cy="1100700"/>
            </a:xfrm>
            <a:custGeom>
              <a:avLst/>
              <a:gdLst>
                <a:gd name="connsiteX0" fmla="*/ 0 w 5990253"/>
                <a:gd name="connsiteY0" fmla="*/ 1100700 h 1100700"/>
                <a:gd name="connsiteX1" fmla="*/ 3769567 w 5990253"/>
                <a:gd name="connsiteY1" fmla="*/ 18349 h 1100700"/>
                <a:gd name="connsiteX2" fmla="*/ 5990253 w 5990253"/>
                <a:gd name="connsiteY2" fmla="*/ 391574 h 1100700"/>
              </a:gdLst>
              <a:ahLst/>
              <a:cxnLst>
                <a:cxn ang="0">
                  <a:pos x="connsiteX0" y="connsiteY0"/>
                </a:cxn>
                <a:cxn ang="0">
                  <a:pos x="connsiteX1" y="connsiteY1"/>
                </a:cxn>
                <a:cxn ang="0">
                  <a:pos x="connsiteX2" y="connsiteY2"/>
                </a:cxn>
              </a:cxnLst>
              <a:rect l="l" t="t" r="r" b="b"/>
              <a:pathLst>
                <a:path w="5990253" h="1100700">
                  <a:moveTo>
                    <a:pt x="0" y="1100700"/>
                  </a:moveTo>
                  <a:cubicBezTo>
                    <a:pt x="1385596" y="618618"/>
                    <a:pt x="2771192" y="136537"/>
                    <a:pt x="3769567" y="18349"/>
                  </a:cubicBezTo>
                  <a:cubicBezTo>
                    <a:pt x="4767942" y="-99839"/>
                    <a:pt x="5990253" y="391574"/>
                    <a:pt x="5990253" y="391574"/>
                  </a:cubicBez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12"/>
            <p:cNvSpPr/>
            <p:nvPr/>
          </p:nvSpPr>
          <p:spPr>
            <a:xfrm>
              <a:off x="1996751" y="1181114"/>
              <a:ext cx="5505326" cy="1263506"/>
            </a:xfrm>
            <a:custGeom>
              <a:avLst/>
              <a:gdLst>
                <a:gd name="connsiteX0" fmla="*/ 0 w 5505326"/>
                <a:gd name="connsiteY0" fmla="*/ 1263506 h 1263506"/>
                <a:gd name="connsiteX1" fmla="*/ 4627984 w 5505326"/>
                <a:gd name="connsiteY1" fmla="*/ 13204 h 1263506"/>
                <a:gd name="connsiteX2" fmla="*/ 5505061 w 5505326"/>
                <a:gd name="connsiteY2" fmla="*/ 573041 h 1263506"/>
              </a:gdLst>
              <a:ahLst/>
              <a:cxnLst>
                <a:cxn ang="0">
                  <a:pos x="connsiteX0" y="connsiteY0"/>
                </a:cxn>
                <a:cxn ang="0">
                  <a:pos x="connsiteX1" y="connsiteY1"/>
                </a:cxn>
                <a:cxn ang="0">
                  <a:pos x="connsiteX2" y="connsiteY2"/>
                </a:cxn>
              </a:cxnLst>
              <a:rect l="l" t="t" r="r" b="b"/>
              <a:pathLst>
                <a:path w="5505326" h="1263506">
                  <a:moveTo>
                    <a:pt x="0" y="1263506"/>
                  </a:moveTo>
                  <a:cubicBezTo>
                    <a:pt x="1855237" y="695893"/>
                    <a:pt x="3710474" y="128281"/>
                    <a:pt x="4627984" y="13204"/>
                  </a:cubicBezTo>
                  <a:cubicBezTo>
                    <a:pt x="5545494" y="-101873"/>
                    <a:pt x="5505061" y="573041"/>
                    <a:pt x="5505061" y="573041"/>
                  </a:cubicBez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Freeform 13"/>
            <p:cNvSpPr/>
            <p:nvPr/>
          </p:nvSpPr>
          <p:spPr>
            <a:xfrm>
              <a:off x="2911151" y="1329904"/>
              <a:ext cx="5192804" cy="1133378"/>
            </a:xfrm>
            <a:custGeom>
              <a:avLst/>
              <a:gdLst>
                <a:gd name="connsiteX0" fmla="*/ 0 w 5192804"/>
                <a:gd name="connsiteY0" fmla="*/ 1133378 h 1133378"/>
                <a:gd name="connsiteX1" fmla="*/ 4739951 w 5192804"/>
                <a:gd name="connsiteY1" fmla="*/ 13704 h 1133378"/>
                <a:gd name="connsiteX2" fmla="*/ 5001208 w 5192804"/>
                <a:gd name="connsiteY2" fmla="*/ 480235 h 1133378"/>
              </a:gdLst>
              <a:ahLst/>
              <a:cxnLst>
                <a:cxn ang="0">
                  <a:pos x="connsiteX0" y="connsiteY0"/>
                </a:cxn>
                <a:cxn ang="0">
                  <a:pos x="connsiteX1" y="connsiteY1"/>
                </a:cxn>
                <a:cxn ang="0">
                  <a:pos x="connsiteX2" y="connsiteY2"/>
                </a:cxn>
              </a:cxnLst>
              <a:rect l="l" t="t" r="r" b="b"/>
              <a:pathLst>
                <a:path w="5192804" h="1133378">
                  <a:moveTo>
                    <a:pt x="0" y="1133378"/>
                  </a:moveTo>
                  <a:cubicBezTo>
                    <a:pt x="1953208" y="627969"/>
                    <a:pt x="3906416" y="122561"/>
                    <a:pt x="4739951" y="13704"/>
                  </a:cubicBezTo>
                  <a:cubicBezTo>
                    <a:pt x="5573486" y="-95153"/>
                    <a:pt x="5001208" y="480235"/>
                    <a:pt x="5001208" y="480235"/>
                  </a:cubicBez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Freeform 15"/>
            <p:cNvSpPr/>
            <p:nvPr/>
          </p:nvSpPr>
          <p:spPr>
            <a:xfrm>
              <a:off x="3769567" y="1343717"/>
              <a:ext cx="5030928" cy="1138226"/>
            </a:xfrm>
            <a:custGeom>
              <a:avLst/>
              <a:gdLst>
                <a:gd name="connsiteX0" fmla="*/ 0 w 5030928"/>
                <a:gd name="connsiteY0" fmla="*/ 1138226 h 1138226"/>
                <a:gd name="connsiteX1" fmla="*/ 4683968 w 5030928"/>
                <a:gd name="connsiteY1" fmla="*/ 18552 h 1138226"/>
                <a:gd name="connsiteX2" fmla="*/ 4683968 w 5030928"/>
                <a:gd name="connsiteY2" fmla="*/ 410438 h 1138226"/>
              </a:gdLst>
              <a:ahLst/>
              <a:cxnLst>
                <a:cxn ang="0">
                  <a:pos x="connsiteX0" y="connsiteY0"/>
                </a:cxn>
                <a:cxn ang="0">
                  <a:pos x="connsiteX1" y="connsiteY1"/>
                </a:cxn>
                <a:cxn ang="0">
                  <a:pos x="connsiteX2" y="connsiteY2"/>
                </a:cxn>
              </a:cxnLst>
              <a:rect l="l" t="t" r="r" b="b"/>
              <a:pathLst>
                <a:path w="5030928" h="1138226">
                  <a:moveTo>
                    <a:pt x="0" y="1138226"/>
                  </a:moveTo>
                  <a:cubicBezTo>
                    <a:pt x="1951653" y="639038"/>
                    <a:pt x="3903307" y="139850"/>
                    <a:pt x="4683968" y="18552"/>
                  </a:cubicBezTo>
                  <a:cubicBezTo>
                    <a:pt x="5464629" y="-102746"/>
                    <a:pt x="4683968" y="410438"/>
                    <a:pt x="4683968" y="410438"/>
                  </a:cubicBezTo>
                </a:path>
              </a:pathLst>
            </a:custGeom>
            <a:noFill/>
            <a:ln>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7" name="TextBox 16"/>
          <p:cNvSpPr txBox="1"/>
          <p:nvPr/>
        </p:nvSpPr>
        <p:spPr>
          <a:xfrm>
            <a:off x="7812569" y="3521624"/>
            <a:ext cx="551754" cy="369332"/>
          </a:xfrm>
          <a:prstGeom prst="rect">
            <a:avLst/>
          </a:prstGeom>
          <a:noFill/>
        </p:spPr>
        <p:txBody>
          <a:bodyPr wrap="none" rtlCol="0">
            <a:spAutoFit/>
          </a:bodyPr>
          <a:lstStyle/>
          <a:p>
            <a:r>
              <a:rPr lang="en-US" dirty="0"/>
              <a:t>X [</a:t>
            </a:r>
            <a:r>
              <a:rPr lang="en-US" dirty="0" err="1"/>
              <a:t>i</a:t>
            </a:r>
            <a:r>
              <a:rPr lang="en-US" dirty="0"/>
              <a:t>]</a:t>
            </a:r>
          </a:p>
        </p:txBody>
      </p:sp>
      <p:sp>
        <p:nvSpPr>
          <p:cNvPr id="23" name="TextBox 22"/>
          <p:cNvSpPr txBox="1"/>
          <p:nvPr/>
        </p:nvSpPr>
        <p:spPr>
          <a:xfrm>
            <a:off x="8798782" y="2495756"/>
            <a:ext cx="1152880" cy="369332"/>
          </a:xfrm>
          <a:prstGeom prst="rect">
            <a:avLst/>
          </a:prstGeom>
          <a:noFill/>
        </p:spPr>
        <p:txBody>
          <a:bodyPr wrap="none" rtlCol="0">
            <a:spAutoFit/>
          </a:bodyPr>
          <a:lstStyle/>
          <a:p>
            <a:r>
              <a:rPr lang="en-US" b="1" i="1"/>
              <a:t>Reduction</a:t>
            </a:r>
          </a:p>
        </p:txBody>
      </p:sp>
      <p:sp>
        <p:nvSpPr>
          <p:cNvPr id="26" name="Down Arrow 25"/>
          <p:cNvSpPr/>
          <p:nvPr/>
        </p:nvSpPr>
        <p:spPr>
          <a:xfrm>
            <a:off x="9144000" y="2060578"/>
            <a:ext cx="336884" cy="39178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Bent-Up Arrow 26"/>
          <p:cNvSpPr/>
          <p:nvPr/>
        </p:nvSpPr>
        <p:spPr>
          <a:xfrm rot="16200000" flipH="1">
            <a:off x="8594180" y="3031847"/>
            <a:ext cx="933422" cy="791861"/>
          </a:xfrm>
          <a:prstGeom prst="ben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1C1B020-6E0D-DB4D-A60E-57B7E339B172}"/>
              </a:ext>
            </a:extLst>
          </p:cNvPr>
          <p:cNvSpPr txBox="1"/>
          <p:nvPr/>
        </p:nvSpPr>
        <p:spPr>
          <a:xfrm>
            <a:off x="4528796" y="6267974"/>
            <a:ext cx="1744618" cy="523220"/>
          </a:xfrm>
          <a:prstGeom prst="rect">
            <a:avLst/>
          </a:prstGeom>
          <a:noFill/>
        </p:spPr>
        <p:txBody>
          <a:bodyPr wrap="square" rtlCol="0">
            <a:spAutoFit/>
          </a:bodyPr>
          <a:lstStyle/>
          <a:p>
            <a:r>
              <a:rPr lang="en-US" sz="2800" dirty="0">
                <a:solidFill>
                  <a:srgbClr val="FF0000"/>
                </a:solidFill>
              </a:rPr>
              <a:t>Try that!</a:t>
            </a:r>
          </a:p>
        </p:txBody>
      </p:sp>
      <p:sp>
        <p:nvSpPr>
          <p:cNvPr id="34" name="TextBox 33">
            <a:extLst>
              <a:ext uri="{FF2B5EF4-FFF2-40B4-BE49-F238E27FC236}">
                <a16:creationId xmlns:a16="http://schemas.microsoft.com/office/drawing/2014/main" id="{1F886783-ED18-4046-9577-80DC58967325}"/>
              </a:ext>
            </a:extLst>
          </p:cNvPr>
          <p:cNvSpPr txBox="1"/>
          <p:nvPr/>
        </p:nvSpPr>
        <p:spPr>
          <a:xfrm>
            <a:off x="9060891" y="4438787"/>
            <a:ext cx="2936317" cy="461665"/>
          </a:xfrm>
          <a:prstGeom prst="rect">
            <a:avLst/>
          </a:prstGeom>
          <a:noFill/>
        </p:spPr>
        <p:txBody>
          <a:bodyPr wrap="none" rtlCol="0">
            <a:spAutoFit/>
          </a:bodyPr>
          <a:lstStyle/>
          <a:p>
            <a:r>
              <a:rPr lang="en-US" sz="2400" dirty="0">
                <a:solidFill>
                  <a:srgbClr val="FF0000"/>
                </a:solidFill>
              </a:rPr>
              <a:t>Parallelizes outer loop</a:t>
            </a:r>
          </a:p>
        </p:txBody>
      </p:sp>
    </p:spTree>
    <p:extLst>
      <p:ext uri="{BB962C8B-B14F-4D97-AF65-F5344CB8AC3E}">
        <p14:creationId xmlns:p14="http://schemas.microsoft.com/office/powerpoint/2010/main" val="351055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linds(horizontal)">
                                      <p:cBhvr>
                                        <p:cTn id="13" dur="500"/>
                                        <p:tgtEl>
                                          <p:spTgt spid="1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linds(horizontal)">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linds(horizontal)">
                                      <p:cBhvr>
                                        <p:cTn id="28" dur="500"/>
                                        <p:tgtEl>
                                          <p:spTgt spid="2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blinds(horizontal)">
                                      <p:cBhvr>
                                        <p:cTn id="31" dur="500"/>
                                        <p:tgtEl>
                                          <p:spTgt spid="2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linds(horizontal)">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animBg="1"/>
      <p:bldP spid="20" grpId="0" animBg="1"/>
      <p:bldP spid="17" grpId="0"/>
      <p:bldP spid="23" grpId="0"/>
      <p:bldP spid="26" grpId="0" animBg="1"/>
      <p:bldP spid="2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9F835B-0B32-C443-9227-C70E3B7A14D3}"/>
              </a:ext>
            </a:extLst>
          </p:cNvPr>
          <p:cNvPicPr>
            <a:picLocks noChangeAspect="1"/>
          </p:cNvPicPr>
          <p:nvPr/>
        </p:nvPicPr>
        <p:blipFill>
          <a:blip r:embed="rId2"/>
          <a:stretch>
            <a:fillRect/>
          </a:stretch>
        </p:blipFill>
        <p:spPr>
          <a:xfrm>
            <a:off x="4070350" y="0"/>
            <a:ext cx="3810000" cy="1320800"/>
          </a:xfrm>
          <a:prstGeom prst="rect">
            <a:avLst/>
          </a:prstGeom>
        </p:spPr>
      </p:pic>
      <p:pic>
        <p:nvPicPr>
          <p:cNvPr id="4" name="Picture 3">
            <a:extLst>
              <a:ext uri="{FF2B5EF4-FFF2-40B4-BE49-F238E27FC236}">
                <a16:creationId xmlns:a16="http://schemas.microsoft.com/office/drawing/2014/main" id="{666D1BDA-694F-C349-91FD-EA8F2AB91092}"/>
              </a:ext>
            </a:extLst>
          </p:cNvPr>
          <p:cNvPicPr>
            <a:picLocks noChangeAspect="1"/>
          </p:cNvPicPr>
          <p:nvPr/>
        </p:nvPicPr>
        <p:blipFill>
          <a:blip r:embed="rId3"/>
          <a:stretch>
            <a:fillRect/>
          </a:stretch>
        </p:blipFill>
        <p:spPr>
          <a:xfrm>
            <a:off x="2870200" y="1384735"/>
            <a:ext cx="6426200" cy="5473265"/>
          </a:xfrm>
          <a:prstGeom prst="rect">
            <a:avLst/>
          </a:prstGeom>
        </p:spPr>
      </p:pic>
    </p:spTree>
    <p:extLst>
      <p:ext uri="{BB962C8B-B14F-4D97-AF65-F5344CB8AC3E}">
        <p14:creationId xmlns:p14="http://schemas.microsoft.com/office/powerpoint/2010/main" val="26047492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A01B-7729-AD40-BD80-42463005DA7E}"/>
              </a:ext>
            </a:extLst>
          </p:cNvPr>
          <p:cNvSpPr>
            <a:spLocks noGrp="1"/>
          </p:cNvSpPr>
          <p:nvPr>
            <p:ph type="title"/>
          </p:nvPr>
        </p:nvSpPr>
        <p:spPr>
          <a:xfrm>
            <a:off x="838200" y="0"/>
            <a:ext cx="10515600" cy="1325563"/>
          </a:xfrm>
        </p:spPr>
        <p:txBody>
          <a:bodyPr/>
          <a:lstStyle/>
          <a:p>
            <a:r>
              <a:rPr lang="en-US" dirty="0"/>
              <a:t>MPI – Message Passing Interface</a:t>
            </a:r>
          </a:p>
        </p:txBody>
      </p:sp>
      <p:sp>
        <p:nvSpPr>
          <p:cNvPr id="3" name="Content Placeholder 2">
            <a:extLst>
              <a:ext uri="{FF2B5EF4-FFF2-40B4-BE49-F238E27FC236}">
                <a16:creationId xmlns:a16="http://schemas.microsoft.com/office/drawing/2014/main" id="{284C6057-0B96-C742-9598-DBD7F52509E0}"/>
              </a:ext>
            </a:extLst>
          </p:cNvPr>
          <p:cNvSpPr>
            <a:spLocks noGrp="1"/>
          </p:cNvSpPr>
          <p:nvPr>
            <p:ph idx="1"/>
          </p:nvPr>
        </p:nvSpPr>
        <p:spPr>
          <a:xfrm>
            <a:off x="838200" y="1373188"/>
            <a:ext cx="10515600" cy="5484812"/>
          </a:xfrm>
        </p:spPr>
        <p:txBody>
          <a:bodyPr>
            <a:normAutofit/>
          </a:bodyPr>
          <a:lstStyle/>
          <a:p>
            <a:r>
              <a:rPr lang="en-US" dirty="0"/>
              <a:t>A </a:t>
            </a:r>
            <a:r>
              <a:rPr lang="en-US" dirty="0">
                <a:solidFill>
                  <a:srgbClr val="FF0000"/>
                </a:solidFill>
              </a:rPr>
              <a:t>distributed memory </a:t>
            </a:r>
            <a:r>
              <a:rPr lang="en-US" dirty="0"/>
              <a:t>patronization communication protocol. </a:t>
            </a:r>
          </a:p>
          <a:p>
            <a:pPr lvl="1"/>
            <a:r>
              <a:rPr lang="en-US" dirty="0"/>
              <a:t>Each processor has its own memory and cannot access the memory of other processors </a:t>
            </a:r>
          </a:p>
          <a:p>
            <a:pPr lvl="1"/>
            <a:r>
              <a:rPr lang="en-US" dirty="0"/>
              <a:t>A copy of the same executable runs on each MPI process (processor core) </a:t>
            </a:r>
          </a:p>
          <a:p>
            <a:pPr lvl="1"/>
            <a:r>
              <a:rPr lang="en-US" dirty="0"/>
              <a:t>Any data to be shared must be explicitly transmitted from one to another</a:t>
            </a:r>
          </a:p>
          <a:p>
            <a:r>
              <a:rPr lang="en-US" dirty="0"/>
              <a:t>An MPI library exists on ALL parallel computing platforms so it is highly portable. </a:t>
            </a:r>
          </a:p>
          <a:p>
            <a:r>
              <a:rPr lang="en-US" dirty="0"/>
              <a:t>Uses a </a:t>
            </a:r>
            <a:r>
              <a:rPr lang="en-US" i="1" dirty="0"/>
              <a:t>single program multiple data </a:t>
            </a:r>
            <a:r>
              <a:rPr lang="en-US" dirty="0"/>
              <a:t>(SPMD) model </a:t>
            </a:r>
          </a:p>
          <a:p>
            <a:pPr lvl="1"/>
            <a:r>
              <a:rPr lang="en-US" dirty="0"/>
              <a:t>Each processor executes the same set of instructions </a:t>
            </a:r>
          </a:p>
          <a:p>
            <a:pPr lvl="1"/>
            <a:r>
              <a:rPr lang="en-US" dirty="0"/>
              <a:t>Parallelization is achieved by letting each processor operate on a different piece of data </a:t>
            </a:r>
          </a:p>
          <a:p>
            <a:pPr lvl="1"/>
            <a:r>
              <a:rPr lang="en-US" dirty="0"/>
              <a:t>Not to be confused with SIMD: Single Instruction Multiple Data </a:t>
            </a:r>
            <a:r>
              <a:rPr lang="en-US" i="1" dirty="0" err="1"/>
              <a:t>a.k.a</a:t>
            </a:r>
            <a:r>
              <a:rPr lang="en-US" i="1" dirty="0"/>
              <a:t> vector computing </a:t>
            </a:r>
            <a:endParaRPr lang="en-US" dirty="0"/>
          </a:p>
          <a:p>
            <a:pPr marL="0" indent="0">
              <a:buNone/>
            </a:pPr>
            <a:endParaRPr lang="en-US" dirty="0"/>
          </a:p>
        </p:txBody>
      </p:sp>
    </p:spTree>
    <p:extLst>
      <p:ext uri="{BB962C8B-B14F-4D97-AF65-F5344CB8AC3E}">
        <p14:creationId xmlns:p14="http://schemas.microsoft.com/office/powerpoint/2010/main" val="25902408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C8EF5-5F26-564B-BC7E-93EE88883579}"/>
              </a:ext>
            </a:extLst>
          </p:cNvPr>
          <p:cNvSpPr>
            <a:spLocks noGrp="1"/>
          </p:cNvSpPr>
          <p:nvPr>
            <p:ph type="title"/>
          </p:nvPr>
        </p:nvSpPr>
        <p:spPr>
          <a:xfrm>
            <a:off x="838200" y="0"/>
            <a:ext cx="10515600" cy="1325563"/>
          </a:xfrm>
        </p:spPr>
        <p:txBody>
          <a:bodyPr/>
          <a:lstStyle/>
          <a:p>
            <a:r>
              <a:rPr lang="en-US" dirty="0"/>
              <a:t>Usage: Domain decomposition</a:t>
            </a:r>
          </a:p>
        </p:txBody>
      </p:sp>
      <p:pic>
        <p:nvPicPr>
          <p:cNvPr id="5" name="Picture 4">
            <a:extLst>
              <a:ext uri="{FF2B5EF4-FFF2-40B4-BE49-F238E27FC236}">
                <a16:creationId xmlns:a16="http://schemas.microsoft.com/office/drawing/2014/main" id="{37241B4E-3B74-3940-B9D2-8E771CA8C008}"/>
              </a:ext>
            </a:extLst>
          </p:cNvPr>
          <p:cNvPicPr>
            <a:picLocks noChangeAspect="1"/>
          </p:cNvPicPr>
          <p:nvPr/>
        </p:nvPicPr>
        <p:blipFill>
          <a:blip r:embed="rId2"/>
          <a:stretch>
            <a:fillRect/>
          </a:stretch>
        </p:blipFill>
        <p:spPr>
          <a:xfrm>
            <a:off x="0" y="1247623"/>
            <a:ext cx="12192000" cy="5610377"/>
          </a:xfrm>
          <a:prstGeom prst="rect">
            <a:avLst/>
          </a:prstGeom>
        </p:spPr>
      </p:pic>
    </p:spTree>
    <p:extLst>
      <p:ext uri="{BB962C8B-B14F-4D97-AF65-F5344CB8AC3E}">
        <p14:creationId xmlns:p14="http://schemas.microsoft.com/office/powerpoint/2010/main" val="29316239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AD33-5962-3A47-AC1B-AC82DC4EFE88}"/>
              </a:ext>
            </a:extLst>
          </p:cNvPr>
          <p:cNvSpPr>
            <a:spLocks noGrp="1"/>
          </p:cNvSpPr>
          <p:nvPr>
            <p:ph type="title"/>
          </p:nvPr>
        </p:nvSpPr>
        <p:spPr>
          <a:xfrm>
            <a:off x="838200" y="0"/>
            <a:ext cx="10515600" cy="1325563"/>
          </a:xfrm>
        </p:spPr>
        <p:txBody>
          <a:bodyPr/>
          <a:lstStyle/>
          <a:p>
            <a:r>
              <a:rPr lang="en-US" dirty="0"/>
              <a:t>Usage: split matrix elements in PDE solvers</a:t>
            </a:r>
          </a:p>
        </p:txBody>
      </p:sp>
      <p:pic>
        <p:nvPicPr>
          <p:cNvPr id="5" name="Picture 4">
            <a:extLst>
              <a:ext uri="{FF2B5EF4-FFF2-40B4-BE49-F238E27FC236}">
                <a16:creationId xmlns:a16="http://schemas.microsoft.com/office/drawing/2014/main" id="{78456C8E-A57B-3F4A-BC38-14AB460EDC35}"/>
              </a:ext>
            </a:extLst>
          </p:cNvPr>
          <p:cNvPicPr>
            <a:picLocks noChangeAspect="1"/>
          </p:cNvPicPr>
          <p:nvPr/>
        </p:nvPicPr>
        <p:blipFill rotWithShape="1">
          <a:blip r:embed="rId2"/>
          <a:srcRect b="1586"/>
          <a:stretch/>
        </p:blipFill>
        <p:spPr>
          <a:xfrm>
            <a:off x="0" y="1325563"/>
            <a:ext cx="12192000" cy="5673319"/>
          </a:xfrm>
          <a:prstGeom prst="rect">
            <a:avLst/>
          </a:prstGeom>
        </p:spPr>
      </p:pic>
      <p:sp>
        <p:nvSpPr>
          <p:cNvPr id="7" name="TextBox 6">
            <a:extLst>
              <a:ext uri="{FF2B5EF4-FFF2-40B4-BE49-F238E27FC236}">
                <a16:creationId xmlns:a16="http://schemas.microsoft.com/office/drawing/2014/main" id="{BE9B3941-37D4-754B-8EF4-08ED4ACCD1BE}"/>
              </a:ext>
            </a:extLst>
          </p:cNvPr>
          <p:cNvSpPr txBox="1"/>
          <p:nvPr/>
        </p:nvSpPr>
        <p:spPr>
          <a:xfrm>
            <a:off x="423512" y="1325563"/>
            <a:ext cx="9040552" cy="584775"/>
          </a:xfrm>
          <a:prstGeom prst="rect">
            <a:avLst/>
          </a:prstGeom>
          <a:solidFill>
            <a:schemeClr val="bg1"/>
          </a:solidFill>
        </p:spPr>
        <p:txBody>
          <a:bodyPr wrap="none" rtlCol="0">
            <a:spAutoFit/>
          </a:bodyPr>
          <a:lstStyle/>
          <a:p>
            <a:pPr marL="285750" indent="-285750">
              <a:buFont typeface="Arial" panose="020B0604020202020204" pitchFamily="34" charset="0"/>
              <a:buChar char="•"/>
            </a:pPr>
            <a:r>
              <a:rPr lang="en-US" sz="3200" dirty="0"/>
              <a:t>See </a:t>
            </a:r>
            <a:r>
              <a:rPr lang="en-US" sz="3200" dirty="0" err="1"/>
              <a:t>PETSc</a:t>
            </a:r>
            <a:r>
              <a:rPr lang="en-US" sz="3200" dirty="0"/>
              <a:t> project: </a:t>
            </a:r>
            <a:r>
              <a:rPr lang="en-US" sz="3200" dirty="0">
                <a:hlinkClick r:id="rId3"/>
              </a:rPr>
              <a:t>https://www.mcs.anl.gov/petsc/</a:t>
            </a:r>
            <a:endParaRPr lang="en-US" sz="3200" dirty="0"/>
          </a:p>
        </p:txBody>
      </p:sp>
    </p:spTree>
    <p:extLst>
      <p:ext uri="{BB962C8B-B14F-4D97-AF65-F5344CB8AC3E}">
        <p14:creationId xmlns:p14="http://schemas.microsoft.com/office/powerpoint/2010/main" val="15884454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3507-F33D-374C-827E-97B73BB667C8}"/>
              </a:ext>
            </a:extLst>
          </p:cNvPr>
          <p:cNvSpPr>
            <a:spLocks noGrp="1"/>
          </p:cNvSpPr>
          <p:nvPr>
            <p:ph type="title"/>
          </p:nvPr>
        </p:nvSpPr>
        <p:spPr>
          <a:xfrm>
            <a:off x="838200" y="0"/>
            <a:ext cx="10515600" cy="1325563"/>
          </a:xfrm>
        </p:spPr>
        <p:txBody>
          <a:bodyPr/>
          <a:lstStyle/>
          <a:p>
            <a:r>
              <a:rPr lang="en-US" dirty="0"/>
              <a:t>Usage: Coloring</a:t>
            </a:r>
          </a:p>
        </p:txBody>
      </p:sp>
      <p:pic>
        <p:nvPicPr>
          <p:cNvPr id="5" name="Picture 4">
            <a:extLst>
              <a:ext uri="{FF2B5EF4-FFF2-40B4-BE49-F238E27FC236}">
                <a16:creationId xmlns:a16="http://schemas.microsoft.com/office/drawing/2014/main" id="{8531F7A6-93AA-FC4C-AEBC-9ACFFFC3DF5D}"/>
              </a:ext>
            </a:extLst>
          </p:cNvPr>
          <p:cNvPicPr>
            <a:picLocks noChangeAspect="1"/>
          </p:cNvPicPr>
          <p:nvPr/>
        </p:nvPicPr>
        <p:blipFill>
          <a:blip r:embed="rId3"/>
          <a:stretch>
            <a:fillRect/>
          </a:stretch>
        </p:blipFill>
        <p:spPr>
          <a:xfrm>
            <a:off x="0" y="1040421"/>
            <a:ext cx="12192000" cy="5681932"/>
          </a:xfrm>
          <a:prstGeom prst="rect">
            <a:avLst/>
          </a:prstGeom>
        </p:spPr>
      </p:pic>
    </p:spTree>
    <p:extLst>
      <p:ext uri="{BB962C8B-B14F-4D97-AF65-F5344CB8AC3E}">
        <p14:creationId xmlns:p14="http://schemas.microsoft.com/office/powerpoint/2010/main" val="12766730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86E4-C9ED-8949-B2FE-D80FF70AD40A}"/>
              </a:ext>
            </a:extLst>
          </p:cNvPr>
          <p:cNvSpPr>
            <a:spLocks noGrp="1"/>
          </p:cNvSpPr>
          <p:nvPr>
            <p:ph type="title"/>
          </p:nvPr>
        </p:nvSpPr>
        <p:spPr>
          <a:xfrm>
            <a:off x="838200" y="0"/>
            <a:ext cx="10515600" cy="1325563"/>
          </a:xfrm>
        </p:spPr>
        <p:txBody>
          <a:bodyPr/>
          <a:lstStyle/>
          <a:p>
            <a:r>
              <a:rPr lang="en-US" dirty="0"/>
              <a:t>MPI standard</a:t>
            </a:r>
          </a:p>
        </p:txBody>
      </p:sp>
      <p:sp>
        <p:nvSpPr>
          <p:cNvPr id="3" name="Content Placeholder 2">
            <a:extLst>
              <a:ext uri="{FF2B5EF4-FFF2-40B4-BE49-F238E27FC236}">
                <a16:creationId xmlns:a16="http://schemas.microsoft.com/office/drawing/2014/main" id="{50936F02-B662-9441-B7A3-5BE2B6652EE3}"/>
              </a:ext>
            </a:extLst>
          </p:cNvPr>
          <p:cNvSpPr>
            <a:spLocks noGrp="1"/>
          </p:cNvSpPr>
          <p:nvPr>
            <p:ph idx="1"/>
          </p:nvPr>
        </p:nvSpPr>
        <p:spPr>
          <a:xfrm>
            <a:off x="838200" y="1068404"/>
            <a:ext cx="10515600" cy="5108559"/>
          </a:xfrm>
        </p:spPr>
        <p:txBody>
          <a:bodyPr>
            <a:normAutofit fontScale="92500" lnSpcReduction="10000"/>
          </a:bodyPr>
          <a:lstStyle/>
          <a:p>
            <a:r>
              <a:rPr lang="en-US" dirty="0"/>
              <a:t>MPI standard is a specification of what MPI is and how it should behave. Vendors have some flexibility in the implementation (e.g. buffering, collectives, topology optimizations, etc.). </a:t>
            </a:r>
          </a:p>
          <a:p>
            <a:r>
              <a:rPr lang="en-US" dirty="0"/>
              <a:t>This tutorial focuses on the functionality introduced in the original MPI-1.</a:t>
            </a:r>
          </a:p>
          <a:p>
            <a:r>
              <a:rPr lang="en-US" dirty="0"/>
              <a:t>MPI-2 introduces additional support for </a:t>
            </a:r>
          </a:p>
          <a:p>
            <a:pPr lvl="1"/>
            <a:r>
              <a:rPr lang="en-US" dirty="0"/>
              <a:t>Parallel I/O (many processes writing to a single file). Requires a parallel filesystem to be efficient </a:t>
            </a:r>
          </a:p>
          <a:p>
            <a:pPr lvl="1"/>
            <a:r>
              <a:rPr lang="en-US" dirty="0"/>
              <a:t>One-sided communication: </a:t>
            </a:r>
            <a:r>
              <a:rPr lang="en-US" dirty="0" err="1"/>
              <a:t>MPI_Put</a:t>
            </a:r>
            <a:r>
              <a:rPr lang="en-US" dirty="0"/>
              <a:t>, </a:t>
            </a:r>
            <a:r>
              <a:rPr lang="en-US" dirty="0" err="1"/>
              <a:t>MPI_Get</a:t>
            </a:r>
            <a:r>
              <a:rPr lang="en-US" dirty="0"/>
              <a:t> </a:t>
            </a:r>
          </a:p>
          <a:p>
            <a:pPr lvl="1"/>
            <a:r>
              <a:rPr lang="en-US" dirty="0"/>
              <a:t>Dynamic Process Management </a:t>
            </a:r>
          </a:p>
          <a:p>
            <a:r>
              <a:rPr lang="en-US" dirty="0"/>
              <a:t>MPI-3 starting to be implemented by compilers vendors </a:t>
            </a:r>
          </a:p>
          <a:p>
            <a:pPr lvl="1"/>
            <a:r>
              <a:rPr lang="en-US" dirty="0"/>
              <a:t>Non-blocking collectives </a:t>
            </a:r>
          </a:p>
          <a:p>
            <a:pPr lvl="1"/>
            <a:r>
              <a:rPr lang="en-US" dirty="0"/>
              <a:t>Improved one-sided communications </a:t>
            </a:r>
          </a:p>
          <a:p>
            <a:pPr lvl="1"/>
            <a:r>
              <a:rPr lang="en-US" dirty="0"/>
              <a:t>Improved Fortran bindings for type check </a:t>
            </a:r>
          </a:p>
          <a:p>
            <a:pPr lvl="1"/>
            <a:r>
              <a:rPr lang="en-US" dirty="0"/>
              <a:t>And more (see http://</a:t>
            </a:r>
            <a:r>
              <a:rPr lang="en-US" dirty="0" err="1"/>
              <a:t>www.mpi-forum.org</a:t>
            </a:r>
            <a:r>
              <a:rPr lang="en-US" dirty="0"/>
              <a:t>/docs/mpi-3.0/mpi30-report.pdf) </a:t>
            </a:r>
          </a:p>
          <a:p>
            <a:endParaRPr lang="en-US" dirty="0"/>
          </a:p>
        </p:txBody>
      </p:sp>
    </p:spTree>
    <p:extLst>
      <p:ext uri="{BB962C8B-B14F-4D97-AF65-F5344CB8AC3E}">
        <p14:creationId xmlns:p14="http://schemas.microsoft.com/office/powerpoint/2010/main" val="23326084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6C3D7-7D2C-E74F-A9DD-B9D10BFA62A5}"/>
              </a:ext>
            </a:extLst>
          </p:cNvPr>
          <p:cNvSpPr>
            <a:spLocks noGrp="1"/>
          </p:cNvSpPr>
          <p:nvPr>
            <p:ph type="title"/>
          </p:nvPr>
        </p:nvSpPr>
        <p:spPr>
          <a:xfrm>
            <a:off x="838200" y="0"/>
            <a:ext cx="10515600" cy="1325563"/>
          </a:xfrm>
        </p:spPr>
        <p:txBody>
          <a:bodyPr/>
          <a:lstStyle/>
          <a:p>
            <a:r>
              <a:rPr lang="en-US" dirty="0"/>
              <a:t>How much should we know?</a:t>
            </a:r>
          </a:p>
        </p:txBody>
      </p:sp>
      <p:sp>
        <p:nvSpPr>
          <p:cNvPr id="3" name="Content Placeholder 2">
            <a:extLst>
              <a:ext uri="{FF2B5EF4-FFF2-40B4-BE49-F238E27FC236}">
                <a16:creationId xmlns:a16="http://schemas.microsoft.com/office/drawing/2014/main" id="{0D62A0F6-52B2-D441-A96C-E12EB7B3692D}"/>
              </a:ext>
            </a:extLst>
          </p:cNvPr>
          <p:cNvSpPr>
            <a:spLocks noGrp="1"/>
          </p:cNvSpPr>
          <p:nvPr>
            <p:ph idx="1"/>
          </p:nvPr>
        </p:nvSpPr>
        <p:spPr/>
        <p:txBody>
          <a:bodyPr/>
          <a:lstStyle/>
          <a:p>
            <a:r>
              <a:rPr lang="en-US" dirty="0"/>
              <a:t>MPI has over 125 functions/subroutines </a:t>
            </a:r>
          </a:p>
          <a:p>
            <a:r>
              <a:rPr lang="en-US" dirty="0"/>
              <a:t>Can actually do everything with about 6 of them although I would not recommend it </a:t>
            </a:r>
          </a:p>
          <a:p>
            <a:r>
              <a:rPr lang="en-US" dirty="0"/>
              <a:t>Collective functions are highly useful since they simplify the coding and vendors optimize them for their interconnect hardware </a:t>
            </a:r>
          </a:p>
          <a:p>
            <a:r>
              <a:rPr lang="en-US" dirty="0"/>
              <a:t>One can access flexibility when it is required. </a:t>
            </a:r>
          </a:p>
          <a:p>
            <a:r>
              <a:rPr lang="en-US" dirty="0"/>
              <a:t>One need not master all parts of MPI to use it. </a:t>
            </a:r>
          </a:p>
          <a:p>
            <a:endParaRPr lang="en-US" dirty="0"/>
          </a:p>
        </p:txBody>
      </p:sp>
    </p:spTree>
    <p:extLst>
      <p:ext uri="{BB962C8B-B14F-4D97-AF65-F5344CB8AC3E}">
        <p14:creationId xmlns:p14="http://schemas.microsoft.com/office/powerpoint/2010/main" val="9355453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6EE30-D83C-4147-940B-CDBCCBCFB601}"/>
              </a:ext>
            </a:extLst>
          </p:cNvPr>
          <p:cNvSpPr>
            <a:spLocks noGrp="1"/>
          </p:cNvSpPr>
          <p:nvPr>
            <p:ph type="title"/>
          </p:nvPr>
        </p:nvSpPr>
        <p:spPr>
          <a:xfrm>
            <a:off x="838200" y="0"/>
            <a:ext cx="10515600" cy="1325563"/>
          </a:xfrm>
        </p:spPr>
        <p:txBody>
          <a:bodyPr/>
          <a:lstStyle/>
          <a:p>
            <a:r>
              <a:rPr lang="en-US" dirty="0"/>
              <a:t>MPI Communicators</a:t>
            </a:r>
          </a:p>
        </p:txBody>
      </p:sp>
      <p:sp>
        <p:nvSpPr>
          <p:cNvPr id="3" name="Content Placeholder 2">
            <a:extLst>
              <a:ext uri="{FF2B5EF4-FFF2-40B4-BE49-F238E27FC236}">
                <a16:creationId xmlns:a16="http://schemas.microsoft.com/office/drawing/2014/main" id="{41D63BB3-F4AF-AC48-B34F-5F399DF37BDA}"/>
              </a:ext>
            </a:extLst>
          </p:cNvPr>
          <p:cNvSpPr>
            <a:spLocks noGrp="1"/>
          </p:cNvSpPr>
          <p:nvPr>
            <p:ph idx="1"/>
          </p:nvPr>
        </p:nvSpPr>
        <p:spPr>
          <a:xfrm>
            <a:off x="838200" y="1370965"/>
            <a:ext cx="10866120" cy="5385969"/>
          </a:xfrm>
        </p:spPr>
        <p:txBody>
          <a:bodyPr>
            <a:normAutofit/>
          </a:bodyPr>
          <a:lstStyle/>
          <a:p>
            <a:r>
              <a:rPr lang="en-US" dirty="0"/>
              <a:t>A communicator is an identifier associated with a group of processes </a:t>
            </a:r>
          </a:p>
          <a:p>
            <a:pPr lvl="1"/>
            <a:r>
              <a:rPr lang="en-US" dirty="0"/>
              <a:t>Each process has a unique rank within a specific communicator (the rank starts from 0 and has a maximum value of (nprocesses-1) ). </a:t>
            </a:r>
          </a:p>
          <a:p>
            <a:pPr lvl="1"/>
            <a:r>
              <a:rPr lang="en-US" dirty="0"/>
              <a:t>Internal mapping of processes to processing units </a:t>
            </a:r>
          </a:p>
          <a:p>
            <a:pPr lvl="1"/>
            <a:r>
              <a:rPr lang="en-US" dirty="0"/>
              <a:t>Always required when initiating a communication by calling an MPI function or routine. </a:t>
            </a:r>
          </a:p>
          <a:p>
            <a:r>
              <a:rPr lang="en-US" dirty="0"/>
              <a:t>Default communicator </a:t>
            </a:r>
            <a:r>
              <a:rPr lang="en-US" dirty="0">
                <a:solidFill>
                  <a:srgbClr val="0070C0"/>
                </a:solidFill>
              </a:rPr>
              <a:t>MPI_COMM_WORLD</a:t>
            </a:r>
            <a:r>
              <a:rPr lang="en-US" dirty="0"/>
              <a:t>, which contains all available processes. </a:t>
            </a:r>
          </a:p>
          <a:p>
            <a:r>
              <a:rPr lang="en-US" dirty="0"/>
              <a:t>Several communicators can coexist </a:t>
            </a:r>
          </a:p>
          <a:p>
            <a:r>
              <a:rPr lang="en-US" dirty="0"/>
              <a:t>A process can belong to different communicators at the same time, but has a unique rank in each communicator </a:t>
            </a:r>
            <a:endParaRPr lang="en-US" dirty="0">
              <a:effectLst/>
            </a:endParaRPr>
          </a:p>
        </p:txBody>
      </p:sp>
    </p:spTree>
    <p:extLst>
      <p:ext uri="{BB962C8B-B14F-4D97-AF65-F5344CB8AC3E}">
        <p14:creationId xmlns:p14="http://schemas.microsoft.com/office/powerpoint/2010/main" val="2422008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0859-A1CE-8E4F-926C-C0333BCE45D7}"/>
              </a:ext>
            </a:extLst>
          </p:cNvPr>
          <p:cNvSpPr>
            <a:spLocks noGrp="1"/>
          </p:cNvSpPr>
          <p:nvPr>
            <p:ph type="title"/>
          </p:nvPr>
        </p:nvSpPr>
        <p:spPr>
          <a:xfrm>
            <a:off x="838200" y="0"/>
            <a:ext cx="10515600" cy="1325563"/>
          </a:xfrm>
        </p:spPr>
        <p:txBody>
          <a:bodyPr/>
          <a:lstStyle/>
          <a:p>
            <a:r>
              <a:rPr lang="en-US" dirty="0"/>
              <a:t>Example for MPI program in C</a:t>
            </a:r>
          </a:p>
        </p:txBody>
      </p:sp>
      <p:sp>
        <p:nvSpPr>
          <p:cNvPr id="3" name="Content Placeholder 2">
            <a:extLst>
              <a:ext uri="{FF2B5EF4-FFF2-40B4-BE49-F238E27FC236}">
                <a16:creationId xmlns:a16="http://schemas.microsoft.com/office/drawing/2014/main" id="{917431B8-A4BD-A649-AE29-322127E4523F}"/>
              </a:ext>
            </a:extLst>
          </p:cNvPr>
          <p:cNvSpPr>
            <a:spLocks noGrp="1"/>
          </p:cNvSpPr>
          <p:nvPr>
            <p:ph idx="1"/>
          </p:nvPr>
        </p:nvSpPr>
        <p:spPr>
          <a:xfrm>
            <a:off x="838200" y="1152307"/>
            <a:ext cx="10515600" cy="5980013"/>
          </a:xfrm>
        </p:spPr>
        <p:txBody>
          <a:bodyPr>
            <a:normAutofit fontScale="70000" lnSpcReduction="20000"/>
          </a:bodyPr>
          <a:lstStyle/>
          <a:p>
            <a:pPr marL="0" indent="0">
              <a:buNone/>
            </a:pPr>
            <a:r>
              <a:rPr lang="en-US" dirty="0">
                <a:solidFill>
                  <a:srgbClr val="0070C0"/>
                </a:solidFill>
              </a:rPr>
              <a:t>#include "</a:t>
            </a:r>
            <a:r>
              <a:rPr lang="en-US" dirty="0" err="1">
                <a:solidFill>
                  <a:srgbClr val="0070C0"/>
                </a:solidFill>
              </a:rPr>
              <a:t>mpi.h</a:t>
            </a:r>
            <a:r>
              <a:rPr lang="en-US" dirty="0">
                <a:solidFill>
                  <a:srgbClr val="0070C0"/>
                </a:solidFill>
              </a:rPr>
              <a:t>" </a:t>
            </a:r>
          </a:p>
          <a:p>
            <a:pPr marL="0"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 ) </a:t>
            </a:r>
          </a:p>
          <a:p>
            <a:pPr marL="0" indent="0">
              <a:buNone/>
            </a:pPr>
            <a:r>
              <a:rPr lang="en-US" dirty="0"/>
              <a:t>{ </a:t>
            </a:r>
          </a:p>
          <a:p>
            <a:pPr marL="0" indent="0">
              <a:buNone/>
            </a:pPr>
            <a:r>
              <a:rPr lang="en-US" dirty="0"/>
              <a:t>    </a:t>
            </a:r>
            <a:r>
              <a:rPr lang="en-US" dirty="0" err="1"/>
              <a:t>int</a:t>
            </a:r>
            <a:r>
              <a:rPr lang="en-US" dirty="0"/>
              <a:t> </a:t>
            </a:r>
            <a:r>
              <a:rPr lang="en-US" dirty="0" err="1"/>
              <a:t>nproc</a:t>
            </a:r>
            <a:r>
              <a:rPr lang="en-US" dirty="0"/>
              <a:t>, </a:t>
            </a:r>
            <a:r>
              <a:rPr lang="en-US" dirty="0" err="1"/>
              <a:t>myrank</a:t>
            </a:r>
            <a:r>
              <a:rPr lang="en-US" dirty="0"/>
              <a:t>; </a:t>
            </a:r>
          </a:p>
          <a:p>
            <a:pPr marL="0" indent="0">
              <a:buNone/>
            </a:pPr>
            <a:r>
              <a:rPr lang="en-US" dirty="0"/>
              <a:t>   /* Initialize MPI */ </a:t>
            </a:r>
          </a:p>
          <a:p>
            <a:pPr marL="0" indent="0">
              <a:buNone/>
            </a:pPr>
            <a:r>
              <a:rPr lang="en-US" dirty="0">
                <a:solidFill>
                  <a:srgbClr val="0070C0"/>
                </a:solidFill>
              </a:rPr>
              <a:t>       </a:t>
            </a:r>
            <a:r>
              <a:rPr lang="en-US" dirty="0" err="1">
                <a:solidFill>
                  <a:srgbClr val="0070C0"/>
                </a:solidFill>
              </a:rPr>
              <a:t>MPI_Init</a:t>
            </a:r>
            <a:r>
              <a:rPr lang="en-US" dirty="0">
                <a:solidFill>
                  <a:srgbClr val="0070C0"/>
                </a:solidFill>
              </a:rPr>
              <a:t>(&amp;</a:t>
            </a:r>
            <a:r>
              <a:rPr lang="en-US" dirty="0" err="1">
                <a:solidFill>
                  <a:srgbClr val="0070C0"/>
                </a:solidFill>
              </a:rPr>
              <a:t>argc</a:t>
            </a:r>
            <a:r>
              <a:rPr lang="en-US" dirty="0">
                <a:solidFill>
                  <a:srgbClr val="0070C0"/>
                </a:solidFill>
              </a:rPr>
              <a:t>,&amp;</a:t>
            </a:r>
            <a:r>
              <a:rPr lang="en-US" dirty="0" err="1">
                <a:solidFill>
                  <a:srgbClr val="0070C0"/>
                </a:solidFill>
              </a:rPr>
              <a:t>argv</a:t>
            </a:r>
            <a:r>
              <a:rPr lang="en-US" dirty="0">
                <a:solidFill>
                  <a:srgbClr val="0070C0"/>
                </a:solidFill>
              </a:rPr>
              <a:t>); </a:t>
            </a:r>
          </a:p>
          <a:p>
            <a:pPr marL="0" indent="0">
              <a:buNone/>
            </a:pPr>
            <a:r>
              <a:rPr lang="en-US" dirty="0"/>
              <a:t>   /* Get the number of processes */        </a:t>
            </a:r>
          </a:p>
          <a:p>
            <a:pPr marL="0" indent="0">
              <a:buNone/>
            </a:pPr>
            <a:r>
              <a:rPr lang="en-US" dirty="0">
                <a:solidFill>
                  <a:srgbClr val="0070C0"/>
                </a:solidFill>
              </a:rPr>
              <a:t>       </a:t>
            </a:r>
            <a:r>
              <a:rPr lang="en-US" dirty="0" err="1">
                <a:solidFill>
                  <a:srgbClr val="0070C0"/>
                </a:solidFill>
              </a:rPr>
              <a:t>MPI_Comm_size</a:t>
            </a:r>
            <a:r>
              <a:rPr lang="en-US" dirty="0">
                <a:solidFill>
                  <a:srgbClr val="0070C0"/>
                </a:solidFill>
              </a:rPr>
              <a:t>(MPI_COMM_WORLD,&amp;</a:t>
            </a:r>
            <a:r>
              <a:rPr lang="en-US" dirty="0" err="1">
                <a:solidFill>
                  <a:srgbClr val="0070C0"/>
                </a:solidFill>
              </a:rPr>
              <a:t>nproc</a:t>
            </a:r>
            <a:r>
              <a:rPr lang="en-US" dirty="0">
                <a:solidFill>
                  <a:srgbClr val="0070C0"/>
                </a:solidFill>
              </a:rPr>
              <a:t>); </a:t>
            </a:r>
          </a:p>
          <a:p>
            <a:pPr marL="0" indent="0">
              <a:buNone/>
            </a:pPr>
            <a:r>
              <a:rPr lang="en-US" dirty="0"/>
              <a:t>   /* Get my process number (rank) */    </a:t>
            </a:r>
          </a:p>
          <a:p>
            <a:pPr marL="0" indent="0">
              <a:buNone/>
            </a:pPr>
            <a:r>
              <a:rPr lang="en-US" dirty="0">
                <a:solidFill>
                  <a:srgbClr val="0070C0"/>
                </a:solidFill>
              </a:rPr>
              <a:t>       </a:t>
            </a:r>
            <a:r>
              <a:rPr lang="en-US" dirty="0" err="1">
                <a:solidFill>
                  <a:srgbClr val="0070C0"/>
                </a:solidFill>
              </a:rPr>
              <a:t>MPI_Comm_rank</a:t>
            </a:r>
            <a:r>
              <a:rPr lang="en-US" dirty="0">
                <a:solidFill>
                  <a:srgbClr val="0070C0"/>
                </a:solidFill>
              </a:rPr>
              <a:t>(MPI_COMM_WORLD,&amp;</a:t>
            </a:r>
            <a:r>
              <a:rPr lang="en-US" dirty="0" err="1">
                <a:solidFill>
                  <a:srgbClr val="0070C0"/>
                </a:solidFill>
              </a:rPr>
              <a:t>myrank</a:t>
            </a:r>
            <a:r>
              <a:rPr lang="en-US" dirty="0">
                <a:solidFill>
                  <a:srgbClr val="0070C0"/>
                </a:solidFill>
              </a:rPr>
              <a:t>); </a:t>
            </a:r>
          </a:p>
          <a:p>
            <a:pPr marL="0" indent="0">
              <a:buNone/>
            </a:pPr>
            <a:endParaRPr lang="en-US" dirty="0"/>
          </a:p>
          <a:p>
            <a:pPr marL="0" indent="0">
              <a:buNone/>
            </a:pPr>
            <a:r>
              <a:rPr lang="en-US" dirty="0">
                <a:solidFill>
                  <a:srgbClr val="7030A0"/>
                </a:solidFill>
              </a:rPr>
              <a:t>       Do work and make message passing calls... </a:t>
            </a:r>
          </a:p>
          <a:p>
            <a:pPr marL="0" indent="0">
              <a:buNone/>
            </a:pPr>
            <a:endParaRPr lang="en-US" dirty="0">
              <a:solidFill>
                <a:srgbClr val="FF0000"/>
              </a:solidFill>
            </a:endParaRPr>
          </a:p>
          <a:p>
            <a:pPr marL="0" indent="0">
              <a:buNone/>
            </a:pPr>
            <a:r>
              <a:rPr lang="en-US" dirty="0"/>
              <a:t>   /* Finalize */ </a:t>
            </a:r>
          </a:p>
          <a:p>
            <a:pPr marL="0" indent="0">
              <a:buNone/>
            </a:pPr>
            <a:r>
              <a:rPr lang="en-US" dirty="0">
                <a:solidFill>
                  <a:srgbClr val="0070C0"/>
                </a:solidFill>
              </a:rPr>
              <a:t>       </a:t>
            </a:r>
            <a:r>
              <a:rPr lang="en-US" dirty="0" err="1">
                <a:solidFill>
                  <a:srgbClr val="0070C0"/>
                </a:solidFill>
              </a:rPr>
              <a:t>MPI_Finalize</a:t>
            </a:r>
            <a:r>
              <a:rPr lang="en-US" dirty="0">
                <a:solidFill>
                  <a:srgbClr val="0070C0"/>
                </a:solidFill>
              </a:rPr>
              <a:t>(); </a:t>
            </a:r>
          </a:p>
          <a:p>
            <a:pPr marL="0" indent="0">
              <a:buNone/>
            </a:pPr>
            <a:r>
              <a:rPr lang="en-US" dirty="0"/>
              <a:t>   return 0;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2464250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CE77391-5CC2-AE44-ABA5-41F9EE9AC6A0}"/>
              </a:ext>
            </a:extLst>
          </p:cNvPr>
          <p:cNvSpPr/>
          <p:nvPr/>
        </p:nvSpPr>
        <p:spPr>
          <a:xfrm>
            <a:off x="5909911" y="415636"/>
            <a:ext cx="5621029" cy="1816925"/>
          </a:xfrm>
          <a:prstGeom prst="rect">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900859-A1CE-8E4F-926C-C0333BCE45D7}"/>
              </a:ext>
            </a:extLst>
          </p:cNvPr>
          <p:cNvSpPr>
            <a:spLocks noGrp="1"/>
          </p:cNvSpPr>
          <p:nvPr>
            <p:ph type="title"/>
          </p:nvPr>
        </p:nvSpPr>
        <p:spPr>
          <a:xfrm>
            <a:off x="838200" y="0"/>
            <a:ext cx="10515600" cy="1325563"/>
          </a:xfrm>
        </p:spPr>
        <p:txBody>
          <a:bodyPr/>
          <a:lstStyle/>
          <a:p>
            <a:r>
              <a:rPr lang="en-US" dirty="0"/>
              <a:t>Header file</a:t>
            </a:r>
          </a:p>
        </p:txBody>
      </p:sp>
      <p:sp>
        <p:nvSpPr>
          <p:cNvPr id="3" name="Content Placeholder 2">
            <a:extLst>
              <a:ext uri="{FF2B5EF4-FFF2-40B4-BE49-F238E27FC236}">
                <a16:creationId xmlns:a16="http://schemas.microsoft.com/office/drawing/2014/main" id="{917431B8-A4BD-A649-AE29-322127E4523F}"/>
              </a:ext>
            </a:extLst>
          </p:cNvPr>
          <p:cNvSpPr>
            <a:spLocks noGrp="1"/>
          </p:cNvSpPr>
          <p:nvPr>
            <p:ph idx="1"/>
          </p:nvPr>
        </p:nvSpPr>
        <p:spPr>
          <a:xfrm>
            <a:off x="838200" y="1152307"/>
            <a:ext cx="10515600" cy="5980013"/>
          </a:xfrm>
        </p:spPr>
        <p:txBody>
          <a:bodyPr>
            <a:normAutofit fontScale="70000" lnSpcReduction="20000"/>
          </a:bodyPr>
          <a:lstStyle/>
          <a:p>
            <a:pPr marL="0" indent="0">
              <a:buNone/>
            </a:pPr>
            <a:r>
              <a:rPr lang="en-US" dirty="0">
                <a:solidFill>
                  <a:srgbClr val="FF0000"/>
                </a:solidFill>
              </a:rPr>
              <a:t>#include "</a:t>
            </a:r>
            <a:r>
              <a:rPr lang="en-US" dirty="0" err="1">
                <a:solidFill>
                  <a:srgbClr val="FF0000"/>
                </a:solidFill>
              </a:rPr>
              <a:t>mpi.h</a:t>
            </a:r>
            <a:r>
              <a:rPr lang="en-US" dirty="0">
                <a:solidFill>
                  <a:srgbClr val="FF0000"/>
                </a:solidFill>
              </a:rPr>
              <a:t>" </a:t>
            </a:r>
          </a:p>
          <a:p>
            <a:pPr marL="0"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 ) </a:t>
            </a:r>
          </a:p>
          <a:p>
            <a:pPr marL="0" indent="0">
              <a:buNone/>
            </a:pPr>
            <a:r>
              <a:rPr lang="en-US" dirty="0"/>
              <a:t>{ </a:t>
            </a:r>
          </a:p>
          <a:p>
            <a:pPr marL="0" indent="0">
              <a:buNone/>
            </a:pPr>
            <a:r>
              <a:rPr lang="en-US" dirty="0"/>
              <a:t>    </a:t>
            </a:r>
            <a:r>
              <a:rPr lang="en-US" dirty="0" err="1"/>
              <a:t>int</a:t>
            </a:r>
            <a:r>
              <a:rPr lang="en-US" dirty="0"/>
              <a:t> </a:t>
            </a:r>
            <a:r>
              <a:rPr lang="en-US" dirty="0" err="1"/>
              <a:t>nproc</a:t>
            </a:r>
            <a:r>
              <a:rPr lang="en-US" dirty="0"/>
              <a:t>, </a:t>
            </a:r>
            <a:r>
              <a:rPr lang="en-US" dirty="0" err="1"/>
              <a:t>myrank</a:t>
            </a:r>
            <a:r>
              <a:rPr lang="en-US" dirty="0"/>
              <a:t>; </a:t>
            </a:r>
          </a:p>
          <a:p>
            <a:pPr marL="0" indent="0">
              <a:buNone/>
            </a:pPr>
            <a:r>
              <a:rPr lang="en-US" dirty="0"/>
              <a:t>   /* Initialize MPI */ </a:t>
            </a:r>
          </a:p>
          <a:p>
            <a:pPr marL="0" indent="0">
              <a:buNone/>
            </a:pPr>
            <a:r>
              <a:rPr lang="en-US" dirty="0">
                <a:solidFill>
                  <a:srgbClr val="0070C0"/>
                </a:solidFill>
              </a:rPr>
              <a:t>       </a:t>
            </a:r>
            <a:r>
              <a:rPr lang="en-US" dirty="0" err="1">
                <a:solidFill>
                  <a:srgbClr val="0070C0"/>
                </a:solidFill>
              </a:rPr>
              <a:t>MPI_Init</a:t>
            </a:r>
            <a:r>
              <a:rPr lang="en-US" dirty="0">
                <a:solidFill>
                  <a:srgbClr val="0070C0"/>
                </a:solidFill>
              </a:rPr>
              <a:t>(&amp;</a:t>
            </a:r>
            <a:r>
              <a:rPr lang="en-US" dirty="0" err="1">
                <a:solidFill>
                  <a:srgbClr val="0070C0"/>
                </a:solidFill>
              </a:rPr>
              <a:t>argc</a:t>
            </a:r>
            <a:r>
              <a:rPr lang="en-US" dirty="0">
                <a:solidFill>
                  <a:srgbClr val="0070C0"/>
                </a:solidFill>
              </a:rPr>
              <a:t>,&amp;</a:t>
            </a:r>
            <a:r>
              <a:rPr lang="en-US" dirty="0" err="1">
                <a:solidFill>
                  <a:srgbClr val="0070C0"/>
                </a:solidFill>
              </a:rPr>
              <a:t>argv</a:t>
            </a:r>
            <a:r>
              <a:rPr lang="en-US" dirty="0">
                <a:solidFill>
                  <a:srgbClr val="0070C0"/>
                </a:solidFill>
              </a:rPr>
              <a:t>); </a:t>
            </a:r>
          </a:p>
          <a:p>
            <a:pPr marL="0" indent="0">
              <a:buNone/>
            </a:pPr>
            <a:r>
              <a:rPr lang="en-US" dirty="0"/>
              <a:t>   /* Get the number of processes */        </a:t>
            </a:r>
          </a:p>
          <a:p>
            <a:pPr marL="0" indent="0">
              <a:buNone/>
            </a:pPr>
            <a:r>
              <a:rPr lang="en-US" dirty="0">
                <a:solidFill>
                  <a:srgbClr val="0070C0"/>
                </a:solidFill>
              </a:rPr>
              <a:t>       </a:t>
            </a:r>
            <a:r>
              <a:rPr lang="en-US" dirty="0" err="1">
                <a:solidFill>
                  <a:srgbClr val="0070C0"/>
                </a:solidFill>
              </a:rPr>
              <a:t>MPI_Comm_size</a:t>
            </a:r>
            <a:r>
              <a:rPr lang="en-US" dirty="0">
                <a:solidFill>
                  <a:srgbClr val="0070C0"/>
                </a:solidFill>
              </a:rPr>
              <a:t>(MPI_COMM_WORLD,&amp;</a:t>
            </a:r>
            <a:r>
              <a:rPr lang="en-US" dirty="0" err="1">
                <a:solidFill>
                  <a:srgbClr val="0070C0"/>
                </a:solidFill>
              </a:rPr>
              <a:t>nproc</a:t>
            </a:r>
            <a:r>
              <a:rPr lang="en-US" dirty="0">
                <a:solidFill>
                  <a:srgbClr val="0070C0"/>
                </a:solidFill>
              </a:rPr>
              <a:t>); </a:t>
            </a:r>
          </a:p>
          <a:p>
            <a:pPr marL="0" indent="0">
              <a:buNone/>
            </a:pPr>
            <a:r>
              <a:rPr lang="en-US" dirty="0"/>
              <a:t>   /* Get my process number (rank) */    </a:t>
            </a:r>
          </a:p>
          <a:p>
            <a:pPr marL="0" indent="0">
              <a:buNone/>
            </a:pPr>
            <a:r>
              <a:rPr lang="en-US" dirty="0">
                <a:solidFill>
                  <a:srgbClr val="0070C0"/>
                </a:solidFill>
              </a:rPr>
              <a:t>       </a:t>
            </a:r>
            <a:r>
              <a:rPr lang="en-US" dirty="0" err="1">
                <a:solidFill>
                  <a:srgbClr val="0070C0"/>
                </a:solidFill>
              </a:rPr>
              <a:t>MPI_Comm_rank</a:t>
            </a:r>
            <a:r>
              <a:rPr lang="en-US" dirty="0">
                <a:solidFill>
                  <a:srgbClr val="0070C0"/>
                </a:solidFill>
              </a:rPr>
              <a:t>(MPI_COMM_WORLD,&amp;</a:t>
            </a:r>
            <a:r>
              <a:rPr lang="en-US" dirty="0" err="1">
                <a:solidFill>
                  <a:srgbClr val="0070C0"/>
                </a:solidFill>
              </a:rPr>
              <a:t>myrank</a:t>
            </a:r>
            <a:r>
              <a:rPr lang="en-US" dirty="0">
                <a:solidFill>
                  <a:srgbClr val="0070C0"/>
                </a:solidFill>
              </a:rPr>
              <a:t>); </a:t>
            </a:r>
          </a:p>
          <a:p>
            <a:pPr marL="0" indent="0">
              <a:buNone/>
            </a:pPr>
            <a:endParaRPr lang="en-US" dirty="0"/>
          </a:p>
          <a:p>
            <a:pPr marL="0" indent="0">
              <a:buNone/>
            </a:pPr>
            <a:r>
              <a:rPr lang="en-US" dirty="0">
                <a:solidFill>
                  <a:srgbClr val="FF0000"/>
                </a:solidFill>
              </a:rPr>
              <a:t>       Do work and make message passing calls... </a:t>
            </a:r>
          </a:p>
          <a:p>
            <a:pPr marL="0" indent="0">
              <a:buNone/>
            </a:pPr>
            <a:endParaRPr lang="en-US" dirty="0">
              <a:solidFill>
                <a:srgbClr val="FF0000"/>
              </a:solidFill>
            </a:endParaRPr>
          </a:p>
          <a:p>
            <a:pPr marL="0" indent="0">
              <a:buNone/>
            </a:pPr>
            <a:r>
              <a:rPr lang="en-US" dirty="0"/>
              <a:t>   /* Finalize */ </a:t>
            </a:r>
          </a:p>
          <a:p>
            <a:pPr marL="0" indent="0">
              <a:buNone/>
            </a:pPr>
            <a:r>
              <a:rPr lang="en-US" dirty="0">
                <a:solidFill>
                  <a:srgbClr val="0070C0"/>
                </a:solidFill>
              </a:rPr>
              <a:t>       </a:t>
            </a:r>
            <a:r>
              <a:rPr lang="en-US" dirty="0" err="1">
                <a:solidFill>
                  <a:srgbClr val="0070C0"/>
                </a:solidFill>
              </a:rPr>
              <a:t>MPI_Finalize</a:t>
            </a:r>
            <a:r>
              <a:rPr lang="en-US" dirty="0">
                <a:solidFill>
                  <a:srgbClr val="0070C0"/>
                </a:solidFill>
              </a:rPr>
              <a:t>(); </a:t>
            </a:r>
          </a:p>
          <a:p>
            <a:pPr marL="0" indent="0">
              <a:buNone/>
            </a:pPr>
            <a:r>
              <a:rPr lang="en-US" dirty="0"/>
              <a:t>   return 0; </a:t>
            </a:r>
          </a:p>
          <a:p>
            <a:pPr marL="0" indent="0">
              <a:buNone/>
            </a:pPr>
            <a:r>
              <a:rPr lang="en-US" dirty="0"/>
              <a:t>} </a:t>
            </a:r>
          </a:p>
          <a:p>
            <a:pPr marL="0" indent="0">
              <a:buNone/>
            </a:pPr>
            <a:endParaRPr lang="en-US" dirty="0"/>
          </a:p>
        </p:txBody>
      </p:sp>
      <p:grpSp>
        <p:nvGrpSpPr>
          <p:cNvPr id="8" name="Group 7">
            <a:extLst>
              <a:ext uri="{FF2B5EF4-FFF2-40B4-BE49-F238E27FC236}">
                <a16:creationId xmlns:a16="http://schemas.microsoft.com/office/drawing/2014/main" id="{5B5842A5-D071-FA47-B1B6-D1C5B41FC375}"/>
              </a:ext>
            </a:extLst>
          </p:cNvPr>
          <p:cNvGrpSpPr/>
          <p:nvPr/>
        </p:nvGrpSpPr>
        <p:grpSpPr>
          <a:xfrm>
            <a:off x="3234088" y="448400"/>
            <a:ext cx="8308728" cy="2123658"/>
            <a:chOff x="3234088" y="448400"/>
            <a:chExt cx="8308728" cy="2123658"/>
          </a:xfrm>
        </p:grpSpPr>
        <p:sp>
          <p:nvSpPr>
            <p:cNvPr id="5" name="TextBox 4">
              <a:extLst>
                <a:ext uri="{FF2B5EF4-FFF2-40B4-BE49-F238E27FC236}">
                  <a16:creationId xmlns:a16="http://schemas.microsoft.com/office/drawing/2014/main" id="{881508E3-78D1-8242-941F-7C548CB48BF2}"/>
                </a:ext>
              </a:extLst>
            </p:cNvPr>
            <p:cNvSpPr txBox="1"/>
            <p:nvPr/>
          </p:nvSpPr>
          <p:spPr>
            <a:xfrm>
              <a:off x="5909911" y="448400"/>
              <a:ext cx="5632905" cy="2123658"/>
            </a:xfrm>
            <a:prstGeom prst="rect">
              <a:avLst/>
            </a:prstGeom>
            <a:noFill/>
            <a:ln w="19050">
              <a:noFill/>
            </a:ln>
          </p:spPr>
          <p:txBody>
            <a:bodyPr wrap="square" rtlCol="0" anchor="ctr" anchorCtr="1">
              <a:spAutoFit/>
            </a:bodyPr>
            <a:lstStyle/>
            <a:p>
              <a:r>
                <a:rPr lang="en-US" sz="2200" dirty="0"/>
                <a:t>• Defines MPI-related parameters and functions</a:t>
              </a:r>
              <a:br>
                <a:rPr lang="en-US" sz="2200" dirty="0"/>
              </a:br>
              <a:r>
                <a:rPr lang="en-US" sz="2200" dirty="0"/>
                <a:t>• Must be included in all routines calling MPI  </a:t>
              </a:r>
            </a:p>
            <a:p>
              <a:r>
                <a:rPr lang="en-US" sz="2200" dirty="0"/>
                <a:t>   functions </a:t>
              </a:r>
            </a:p>
            <a:p>
              <a:r>
                <a:rPr lang="en-US" sz="2200" dirty="0"/>
                <a:t>• Can also use include file: </a:t>
              </a:r>
            </a:p>
            <a:p>
              <a:r>
                <a:rPr lang="en-US" sz="2200" dirty="0"/>
                <a:t>   #include </a:t>
              </a:r>
              <a:r>
                <a:rPr lang="en-US" sz="2200" dirty="0" err="1"/>
                <a:t>mpif.h</a:t>
              </a:r>
              <a:r>
                <a:rPr lang="en-US" sz="2200" dirty="0"/>
                <a:t> </a:t>
              </a:r>
            </a:p>
            <a:p>
              <a:endParaRPr lang="en-US" sz="2200" dirty="0"/>
            </a:p>
          </p:txBody>
        </p:sp>
        <p:sp>
          <p:nvSpPr>
            <p:cNvPr id="6" name="Left Arrow 5">
              <a:extLst>
                <a:ext uri="{FF2B5EF4-FFF2-40B4-BE49-F238E27FC236}">
                  <a16:creationId xmlns:a16="http://schemas.microsoft.com/office/drawing/2014/main" id="{3CC31B83-58BD-D642-B827-6542B2D70217}"/>
                </a:ext>
              </a:extLst>
            </p:cNvPr>
            <p:cNvSpPr/>
            <p:nvPr/>
          </p:nvSpPr>
          <p:spPr>
            <a:xfrm>
              <a:off x="3234088" y="1152307"/>
              <a:ext cx="2675823" cy="272232"/>
            </a:xfrm>
            <a:prstGeom prst="leftArrow">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436888-13BA-C141-AD96-7A2AE27C5E16}"/>
                </a:ext>
              </a:extLst>
            </p:cNvPr>
            <p:cNvSpPr/>
            <p:nvPr/>
          </p:nvSpPr>
          <p:spPr>
            <a:xfrm>
              <a:off x="5775158" y="1233377"/>
              <a:ext cx="202130" cy="11143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5282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0859-A1CE-8E4F-926C-C0333BCE45D7}"/>
              </a:ext>
            </a:extLst>
          </p:cNvPr>
          <p:cNvSpPr>
            <a:spLocks noGrp="1"/>
          </p:cNvSpPr>
          <p:nvPr>
            <p:ph type="title"/>
          </p:nvPr>
        </p:nvSpPr>
        <p:spPr>
          <a:xfrm>
            <a:off x="838200" y="0"/>
            <a:ext cx="10515600" cy="1325563"/>
          </a:xfrm>
        </p:spPr>
        <p:txBody>
          <a:bodyPr/>
          <a:lstStyle/>
          <a:p>
            <a:r>
              <a:rPr lang="en-US" dirty="0"/>
              <a:t>Initialization</a:t>
            </a:r>
          </a:p>
        </p:txBody>
      </p:sp>
      <p:sp>
        <p:nvSpPr>
          <p:cNvPr id="3" name="Content Placeholder 2">
            <a:extLst>
              <a:ext uri="{FF2B5EF4-FFF2-40B4-BE49-F238E27FC236}">
                <a16:creationId xmlns:a16="http://schemas.microsoft.com/office/drawing/2014/main" id="{917431B8-A4BD-A649-AE29-322127E4523F}"/>
              </a:ext>
            </a:extLst>
          </p:cNvPr>
          <p:cNvSpPr>
            <a:spLocks noGrp="1"/>
          </p:cNvSpPr>
          <p:nvPr>
            <p:ph idx="1"/>
          </p:nvPr>
        </p:nvSpPr>
        <p:spPr>
          <a:xfrm>
            <a:off x="838200" y="1152307"/>
            <a:ext cx="10515600" cy="5980013"/>
          </a:xfrm>
        </p:spPr>
        <p:txBody>
          <a:bodyPr>
            <a:normAutofit fontScale="70000" lnSpcReduction="20000"/>
          </a:bodyPr>
          <a:lstStyle/>
          <a:p>
            <a:pPr marL="0" indent="0">
              <a:buNone/>
            </a:pPr>
            <a:r>
              <a:rPr lang="en-US" dirty="0">
                <a:solidFill>
                  <a:srgbClr val="0070C0"/>
                </a:solidFill>
              </a:rPr>
              <a:t>#include "</a:t>
            </a:r>
            <a:r>
              <a:rPr lang="en-US" dirty="0" err="1">
                <a:solidFill>
                  <a:srgbClr val="0070C0"/>
                </a:solidFill>
              </a:rPr>
              <a:t>mpi.h</a:t>
            </a:r>
            <a:r>
              <a:rPr lang="en-US" dirty="0">
                <a:solidFill>
                  <a:srgbClr val="0070C0"/>
                </a:solidFill>
              </a:rPr>
              <a:t>" </a:t>
            </a:r>
          </a:p>
          <a:p>
            <a:pPr marL="0"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 ) </a:t>
            </a:r>
          </a:p>
          <a:p>
            <a:pPr marL="0" indent="0">
              <a:buNone/>
            </a:pPr>
            <a:r>
              <a:rPr lang="en-US" dirty="0"/>
              <a:t>{ </a:t>
            </a:r>
          </a:p>
          <a:p>
            <a:pPr marL="0" indent="0">
              <a:buNone/>
            </a:pPr>
            <a:r>
              <a:rPr lang="en-US" dirty="0"/>
              <a:t>    </a:t>
            </a:r>
            <a:r>
              <a:rPr lang="en-US" dirty="0" err="1"/>
              <a:t>int</a:t>
            </a:r>
            <a:r>
              <a:rPr lang="en-US" dirty="0"/>
              <a:t> </a:t>
            </a:r>
            <a:r>
              <a:rPr lang="en-US" dirty="0" err="1"/>
              <a:t>nproc</a:t>
            </a:r>
            <a:r>
              <a:rPr lang="en-US" dirty="0"/>
              <a:t>, </a:t>
            </a:r>
            <a:r>
              <a:rPr lang="en-US" dirty="0" err="1"/>
              <a:t>myrank</a:t>
            </a:r>
            <a:r>
              <a:rPr lang="en-US" dirty="0"/>
              <a:t>; </a:t>
            </a:r>
          </a:p>
          <a:p>
            <a:pPr marL="0" indent="0">
              <a:buNone/>
            </a:pPr>
            <a:r>
              <a:rPr lang="en-US" dirty="0"/>
              <a:t>   /* Initialize MPI */ </a:t>
            </a:r>
          </a:p>
          <a:p>
            <a:pPr marL="0" indent="0">
              <a:buNone/>
            </a:pPr>
            <a:r>
              <a:rPr lang="en-US" dirty="0">
                <a:solidFill>
                  <a:srgbClr val="FF0000"/>
                </a:solidFill>
              </a:rPr>
              <a:t>       </a:t>
            </a:r>
            <a:r>
              <a:rPr lang="en-US" dirty="0" err="1">
                <a:solidFill>
                  <a:srgbClr val="FF0000"/>
                </a:solidFill>
              </a:rPr>
              <a:t>MPI_Init</a:t>
            </a:r>
            <a:r>
              <a:rPr lang="en-US" dirty="0">
                <a:solidFill>
                  <a:srgbClr val="FF0000"/>
                </a:solidFill>
              </a:rPr>
              <a:t>(&amp;</a:t>
            </a:r>
            <a:r>
              <a:rPr lang="en-US" dirty="0" err="1">
                <a:solidFill>
                  <a:srgbClr val="FF0000"/>
                </a:solidFill>
              </a:rPr>
              <a:t>argc</a:t>
            </a:r>
            <a:r>
              <a:rPr lang="en-US" dirty="0">
                <a:solidFill>
                  <a:srgbClr val="FF0000"/>
                </a:solidFill>
              </a:rPr>
              <a:t>,&amp;</a:t>
            </a:r>
            <a:r>
              <a:rPr lang="en-US" dirty="0" err="1">
                <a:solidFill>
                  <a:srgbClr val="FF0000"/>
                </a:solidFill>
              </a:rPr>
              <a:t>argv</a:t>
            </a:r>
            <a:r>
              <a:rPr lang="en-US" dirty="0">
                <a:solidFill>
                  <a:srgbClr val="FF0000"/>
                </a:solidFill>
              </a:rPr>
              <a:t>); </a:t>
            </a:r>
          </a:p>
          <a:p>
            <a:pPr marL="0" indent="0">
              <a:buNone/>
            </a:pPr>
            <a:r>
              <a:rPr lang="en-US" dirty="0"/>
              <a:t>   /* Get the number of processes */        </a:t>
            </a:r>
          </a:p>
          <a:p>
            <a:pPr marL="0" indent="0">
              <a:buNone/>
            </a:pPr>
            <a:r>
              <a:rPr lang="en-US" dirty="0">
                <a:solidFill>
                  <a:srgbClr val="0070C0"/>
                </a:solidFill>
              </a:rPr>
              <a:t>       </a:t>
            </a:r>
            <a:r>
              <a:rPr lang="en-US" dirty="0" err="1">
                <a:solidFill>
                  <a:srgbClr val="0070C0"/>
                </a:solidFill>
              </a:rPr>
              <a:t>MPI_Comm_size</a:t>
            </a:r>
            <a:r>
              <a:rPr lang="en-US" dirty="0">
                <a:solidFill>
                  <a:srgbClr val="0070C0"/>
                </a:solidFill>
              </a:rPr>
              <a:t>(MPI_COMM_WORLD,&amp;</a:t>
            </a:r>
            <a:r>
              <a:rPr lang="en-US" dirty="0" err="1">
                <a:solidFill>
                  <a:srgbClr val="0070C0"/>
                </a:solidFill>
              </a:rPr>
              <a:t>nproc</a:t>
            </a:r>
            <a:r>
              <a:rPr lang="en-US" dirty="0">
                <a:solidFill>
                  <a:srgbClr val="0070C0"/>
                </a:solidFill>
              </a:rPr>
              <a:t>); </a:t>
            </a:r>
          </a:p>
          <a:p>
            <a:pPr marL="0" indent="0">
              <a:buNone/>
            </a:pPr>
            <a:r>
              <a:rPr lang="en-US" dirty="0"/>
              <a:t>   /* Get my process number (rank) */    </a:t>
            </a:r>
          </a:p>
          <a:p>
            <a:pPr marL="0" indent="0">
              <a:buNone/>
            </a:pPr>
            <a:r>
              <a:rPr lang="en-US" dirty="0">
                <a:solidFill>
                  <a:srgbClr val="0070C0"/>
                </a:solidFill>
              </a:rPr>
              <a:t>       </a:t>
            </a:r>
            <a:r>
              <a:rPr lang="en-US" dirty="0" err="1">
                <a:solidFill>
                  <a:srgbClr val="0070C0"/>
                </a:solidFill>
              </a:rPr>
              <a:t>MPI_Comm_rank</a:t>
            </a:r>
            <a:r>
              <a:rPr lang="en-US" dirty="0">
                <a:solidFill>
                  <a:srgbClr val="0070C0"/>
                </a:solidFill>
              </a:rPr>
              <a:t>(MPI_COMM_WORLD,&amp;</a:t>
            </a:r>
            <a:r>
              <a:rPr lang="en-US" dirty="0" err="1">
                <a:solidFill>
                  <a:srgbClr val="0070C0"/>
                </a:solidFill>
              </a:rPr>
              <a:t>myrank</a:t>
            </a:r>
            <a:r>
              <a:rPr lang="en-US" dirty="0">
                <a:solidFill>
                  <a:srgbClr val="0070C0"/>
                </a:solidFill>
              </a:rPr>
              <a:t>); </a:t>
            </a:r>
          </a:p>
          <a:p>
            <a:pPr marL="0" indent="0">
              <a:buNone/>
            </a:pPr>
            <a:endParaRPr lang="en-US" dirty="0"/>
          </a:p>
          <a:p>
            <a:pPr marL="0" indent="0">
              <a:buNone/>
            </a:pPr>
            <a:r>
              <a:rPr lang="en-US" dirty="0">
                <a:solidFill>
                  <a:srgbClr val="7030A0"/>
                </a:solidFill>
              </a:rPr>
              <a:t>       Do work and make message passing calls... </a:t>
            </a:r>
          </a:p>
          <a:p>
            <a:pPr marL="0" indent="0">
              <a:buNone/>
            </a:pPr>
            <a:endParaRPr lang="en-US" dirty="0">
              <a:solidFill>
                <a:srgbClr val="FF0000"/>
              </a:solidFill>
            </a:endParaRPr>
          </a:p>
          <a:p>
            <a:pPr marL="0" indent="0">
              <a:buNone/>
            </a:pPr>
            <a:r>
              <a:rPr lang="en-US" dirty="0"/>
              <a:t>   /* Finalize */ </a:t>
            </a:r>
          </a:p>
          <a:p>
            <a:pPr marL="0" indent="0">
              <a:buNone/>
            </a:pPr>
            <a:r>
              <a:rPr lang="en-US" dirty="0">
                <a:solidFill>
                  <a:srgbClr val="0070C0"/>
                </a:solidFill>
              </a:rPr>
              <a:t>       </a:t>
            </a:r>
            <a:r>
              <a:rPr lang="en-US" dirty="0" err="1">
                <a:solidFill>
                  <a:srgbClr val="0070C0"/>
                </a:solidFill>
              </a:rPr>
              <a:t>MPI_Finalize</a:t>
            </a:r>
            <a:r>
              <a:rPr lang="en-US" dirty="0">
                <a:solidFill>
                  <a:srgbClr val="0070C0"/>
                </a:solidFill>
              </a:rPr>
              <a:t>(); </a:t>
            </a:r>
          </a:p>
          <a:p>
            <a:pPr marL="0" indent="0">
              <a:buNone/>
            </a:pPr>
            <a:r>
              <a:rPr lang="en-US" dirty="0"/>
              <a:t>   return 0; </a:t>
            </a:r>
          </a:p>
          <a:p>
            <a:pPr marL="0" indent="0">
              <a:buNone/>
            </a:pPr>
            <a:r>
              <a:rPr lang="en-US" dirty="0"/>
              <a:t>} </a:t>
            </a:r>
          </a:p>
          <a:p>
            <a:pPr marL="0" indent="0">
              <a:buNone/>
            </a:pPr>
            <a:endParaRPr lang="en-US" dirty="0"/>
          </a:p>
        </p:txBody>
      </p:sp>
      <p:grpSp>
        <p:nvGrpSpPr>
          <p:cNvPr id="4" name="Group 3">
            <a:extLst>
              <a:ext uri="{FF2B5EF4-FFF2-40B4-BE49-F238E27FC236}">
                <a16:creationId xmlns:a16="http://schemas.microsoft.com/office/drawing/2014/main" id="{9F31D913-A521-6E4A-A381-0CAF7B216917}"/>
              </a:ext>
            </a:extLst>
          </p:cNvPr>
          <p:cNvGrpSpPr/>
          <p:nvPr/>
        </p:nvGrpSpPr>
        <p:grpSpPr>
          <a:xfrm>
            <a:off x="3888910" y="1985585"/>
            <a:ext cx="8250082" cy="1938992"/>
            <a:chOff x="3508899" y="328702"/>
            <a:chExt cx="8250082" cy="1938992"/>
          </a:xfrm>
        </p:grpSpPr>
        <p:sp>
          <p:nvSpPr>
            <p:cNvPr id="9" name="Rectangle 8">
              <a:extLst>
                <a:ext uri="{FF2B5EF4-FFF2-40B4-BE49-F238E27FC236}">
                  <a16:creationId xmlns:a16="http://schemas.microsoft.com/office/drawing/2014/main" id="{0CE77391-5CC2-AE44-ABA5-41F9EE9AC6A0}"/>
                </a:ext>
              </a:extLst>
            </p:cNvPr>
            <p:cNvSpPr/>
            <p:nvPr/>
          </p:nvSpPr>
          <p:spPr>
            <a:xfrm>
              <a:off x="5909911" y="415636"/>
              <a:ext cx="5849070" cy="1816925"/>
            </a:xfrm>
            <a:prstGeom prst="rect">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5B5842A5-D071-FA47-B1B6-D1C5B41FC375}"/>
                </a:ext>
              </a:extLst>
            </p:cNvPr>
            <p:cNvGrpSpPr/>
            <p:nvPr/>
          </p:nvGrpSpPr>
          <p:grpSpPr>
            <a:xfrm>
              <a:off x="3508899" y="328702"/>
              <a:ext cx="8250082" cy="1938992"/>
              <a:chOff x="3508899" y="328702"/>
              <a:chExt cx="8250082" cy="1938992"/>
            </a:xfrm>
          </p:grpSpPr>
          <p:sp>
            <p:nvSpPr>
              <p:cNvPr id="5" name="TextBox 4">
                <a:extLst>
                  <a:ext uri="{FF2B5EF4-FFF2-40B4-BE49-F238E27FC236}">
                    <a16:creationId xmlns:a16="http://schemas.microsoft.com/office/drawing/2014/main" id="{881508E3-78D1-8242-941F-7C548CB48BF2}"/>
                  </a:ext>
                </a:extLst>
              </p:cNvPr>
              <p:cNvSpPr txBox="1"/>
              <p:nvPr/>
            </p:nvSpPr>
            <p:spPr>
              <a:xfrm>
                <a:off x="5856903" y="328702"/>
                <a:ext cx="5902078" cy="1938992"/>
              </a:xfrm>
              <a:prstGeom prst="rect">
                <a:avLst/>
              </a:prstGeom>
              <a:noFill/>
              <a:ln w="19050">
                <a:noFill/>
              </a:ln>
            </p:spPr>
            <p:txBody>
              <a:bodyPr wrap="square" rtlCol="0" anchor="ctr" anchorCtr="1">
                <a:spAutoFit/>
              </a:bodyPr>
              <a:lstStyle/>
              <a:p>
                <a:pPr marL="285750" indent="-285750">
                  <a:buFont typeface="Arial" panose="020B0604020202020204" pitchFamily="34" charset="0"/>
                  <a:buChar char="•"/>
                </a:pPr>
                <a:r>
                  <a:rPr lang="en-US" sz="2400" dirty="0"/>
                  <a:t>Must be called at the beginning of the code before any other calls to MPI functions </a:t>
                </a:r>
              </a:p>
              <a:p>
                <a:pPr marL="285750" indent="-285750">
                  <a:buFont typeface="Arial" panose="020B0604020202020204" pitchFamily="34" charset="0"/>
                  <a:buChar char="•"/>
                </a:pPr>
                <a:r>
                  <a:rPr lang="en-US" sz="2400" dirty="0"/>
                  <a:t>Sets up the communication channels between the processes and gives each one a rank. </a:t>
                </a:r>
              </a:p>
            </p:txBody>
          </p:sp>
          <p:sp>
            <p:nvSpPr>
              <p:cNvPr id="6" name="Left Arrow 5">
                <a:extLst>
                  <a:ext uri="{FF2B5EF4-FFF2-40B4-BE49-F238E27FC236}">
                    <a16:creationId xmlns:a16="http://schemas.microsoft.com/office/drawing/2014/main" id="{3CC31B83-58BD-D642-B827-6542B2D70217}"/>
                  </a:ext>
                </a:extLst>
              </p:cNvPr>
              <p:cNvSpPr/>
              <p:nvPr/>
            </p:nvSpPr>
            <p:spPr>
              <a:xfrm>
                <a:off x="3508899" y="1148865"/>
                <a:ext cx="2389136" cy="280460"/>
              </a:xfrm>
              <a:prstGeom prst="leftArrow">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436888-13BA-C141-AD96-7A2AE27C5E16}"/>
                  </a:ext>
                </a:extLst>
              </p:cNvPr>
              <p:cNvSpPr/>
              <p:nvPr/>
            </p:nvSpPr>
            <p:spPr>
              <a:xfrm>
                <a:off x="5775158" y="1233377"/>
                <a:ext cx="202130" cy="11143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1375593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0859-A1CE-8E4F-926C-C0333BCE45D7}"/>
              </a:ext>
            </a:extLst>
          </p:cNvPr>
          <p:cNvSpPr>
            <a:spLocks noGrp="1"/>
          </p:cNvSpPr>
          <p:nvPr>
            <p:ph type="title"/>
          </p:nvPr>
        </p:nvSpPr>
        <p:spPr>
          <a:xfrm>
            <a:off x="838200" y="0"/>
            <a:ext cx="10515600" cy="1325563"/>
          </a:xfrm>
        </p:spPr>
        <p:txBody>
          <a:bodyPr/>
          <a:lstStyle/>
          <a:p>
            <a:r>
              <a:rPr lang="en-US" dirty="0"/>
              <a:t>Number of processors</a:t>
            </a:r>
          </a:p>
        </p:txBody>
      </p:sp>
      <p:sp>
        <p:nvSpPr>
          <p:cNvPr id="3" name="Content Placeholder 2">
            <a:extLst>
              <a:ext uri="{FF2B5EF4-FFF2-40B4-BE49-F238E27FC236}">
                <a16:creationId xmlns:a16="http://schemas.microsoft.com/office/drawing/2014/main" id="{917431B8-A4BD-A649-AE29-322127E4523F}"/>
              </a:ext>
            </a:extLst>
          </p:cNvPr>
          <p:cNvSpPr>
            <a:spLocks noGrp="1"/>
          </p:cNvSpPr>
          <p:nvPr>
            <p:ph idx="1"/>
          </p:nvPr>
        </p:nvSpPr>
        <p:spPr>
          <a:xfrm>
            <a:off x="838200" y="1152307"/>
            <a:ext cx="10515600" cy="5980013"/>
          </a:xfrm>
        </p:spPr>
        <p:txBody>
          <a:bodyPr>
            <a:normAutofit fontScale="70000" lnSpcReduction="20000"/>
          </a:bodyPr>
          <a:lstStyle/>
          <a:p>
            <a:pPr marL="0" indent="0">
              <a:buNone/>
            </a:pPr>
            <a:r>
              <a:rPr lang="en-US" dirty="0">
                <a:solidFill>
                  <a:srgbClr val="0070C0"/>
                </a:solidFill>
              </a:rPr>
              <a:t>#include "</a:t>
            </a:r>
            <a:r>
              <a:rPr lang="en-US" dirty="0" err="1">
                <a:solidFill>
                  <a:srgbClr val="0070C0"/>
                </a:solidFill>
              </a:rPr>
              <a:t>mpi.h</a:t>
            </a:r>
            <a:r>
              <a:rPr lang="en-US" dirty="0">
                <a:solidFill>
                  <a:srgbClr val="0070C0"/>
                </a:solidFill>
              </a:rPr>
              <a:t>" </a:t>
            </a:r>
          </a:p>
          <a:p>
            <a:pPr marL="0"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 ) </a:t>
            </a:r>
          </a:p>
          <a:p>
            <a:pPr marL="0" indent="0">
              <a:buNone/>
            </a:pPr>
            <a:r>
              <a:rPr lang="en-US" dirty="0"/>
              <a:t>{ </a:t>
            </a:r>
          </a:p>
          <a:p>
            <a:pPr marL="0" indent="0">
              <a:buNone/>
            </a:pPr>
            <a:r>
              <a:rPr lang="en-US" dirty="0"/>
              <a:t>    </a:t>
            </a:r>
            <a:r>
              <a:rPr lang="en-US" dirty="0" err="1"/>
              <a:t>int</a:t>
            </a:r>
            <a:r>
              <a:rPr lang="en-US" dirty="0"/>
              <a:t> </a:t>
            </a:r>
            <a:r>
              <a:rPr lang="en-US" dirty="0" err="1"/>
              <a:t>nproc</a:t>
            </a:r>
            <a:r>
              <a:rPr lang="en-US" dirty="0"/>
              <a:t>, </a:t>
            </a:r>
            <a:r>
              <a:rPr lang="en-US" dirty="0" err="1"/>
              <a:t>myrank</a:t>
            </a:r>
            <a:r>
              <a:rPr lang="en-US" dirty="0"/>
              <a:t>; </a:t>
            </a:r>
          </a:p>
          <a:p>
            <a:pPr marL="0" indent="0">
              <a:buNone/>
            </a:pPr>
            <a:r>
              <a:rPr lang="en-US" dirty="0"/>
              <a:t>   /* Initialize MPI */ </a:t>
            </a:r>
          </a:p>
          <a:p>
            <a:pPr marL="0" indent="0">
              <a:buNone/>
            </a:pPr>
            <a:r>
              <a:rPr lang="en-US" dirty="0">
                <a:solidFill>
                  <a:srgbClr val="0070C0"/>
                </a:solidFill>
              </a:rPr>
              <a:t>       </a:t>
            </a:r>
            <a:r>
              <a:rPr lang="en-US" dirty="0" err="1">
                <a:solidFill>
                  <a:srgbClr val="0070C0"/>
                </a:solidFill>
              </a:rPr>
              <a:t>MPI_Init</a:t>
            </a:r>
            <a:r>
              <a:rPr lang="en-US" dirty="0">
                <a:solidFill>
                  <a:srgbClr val="0070C0"/>
                </a:solidFill>
              </a:rPr>
              <a:t>(&amp;</a:t>
            </a:r>
            <a:r>
              <a:rPr lang="en-US" dirty="0" err="1">
                <a:solidFill>
                  <a:srgbClr val="0070C0"/>
                </a:solidFill>
              </a:rPr>
              <a:t>argc</a:t>
            </a:r>
            <a:r>
              <a:rPr lang="en-US" dirty="0">
                <a:solidFill>
                  <a:srgbClr val="0070C0"/>
                </a:solidFill>
              </a:rPr>
              <a:t>,&amp;</a:t>
            </a:r>
            <a:r>
              <a:rPr lang="en-US" dirty="0" err="1">
                <a:solidFill>
                  <a:srgbClr val="0070C0"/>
                </a:solidFill>
              </a:rPr>
              <a:t>argv</a:t>
            </a:r>
            <a:r>
              <a:rPr lang="en-US" dirty="0">
                <a:solidFill>
                  <a:srgbClr val="0070C0"/>
                </a:solidFill>
              </a:rPr>
              <a:t>); </a:t>
            </a:r>
          </a:p>
          <a:p>
            <a:pPr marL="0" indent="0">
              <a:buNone/>
            </a:pPr>
            <a:r>
              <a:rPr lang="en-US" dirty="0"/>
              <a:t>   /* Get the number of processes */        </a:t>
            </a:r>
          </a:p>
          <a:p>
            <a:pPr marL="0" indent="0">
              <a:buNone/>
            </a:pPr>
            <a:r>
              <a:rPr lang="en-US" dirty="0">
                <a:solidFill>
                  <a:srgbClr val="FF0000"/>
                </a:solidFill>
              </a:rPr>
              <a:t>       </a:t>
            </a:r>
            <a:r>
              <a:rPr lang="en-US" dirty="0" err="1">
                <a:solidFill>
                  <a:srgbClr val="FF0000"/>
                </a:solidFill>
              </a:rPr>
              <a:t>MPI_Comm_size</a:t>
            </a:r>
            <a:r>
              <a:rPr lang="en-US" dirty="0">
                <a:solidFill>
                  <a:srgbClr val="FF0000"/>
                </a:solidFill>
              </a:rPr>
              <a:t>(MPI_COMM_WORLD,&amp;</a:t>
            </a:r>
            <a:r>
              <a:rPr lang="en-US" dirty="0" err="1">
                <a:solidFill>
                  <a:srgbClr val="FF0000"/>
                </a:solidFill>
              </a:rPr>
              <a:t>nproc</a:t>
            </a:r>
            <a:r>
              <a:rPr lang="en-US" dirty="0">
                <a:solidFill>
                  <a:srgbClr val="FF0000"/>
                </a:solidFill>
              </a:rPr>
              <a:t>); </a:t>
            </a:r>
          </a:p>
          <a:p>
            <a:pPr marL="0" indent="0">
              <a:buNone/>
            </a:pPr>
            <a:r>
              <a:rPr lang="en-US" dirty="0"/>
              <a:t>   /* Get my process number (rank) */    </a:t>
            </a:r>
          </a:p>
          <a:p>
            <a:pPr marL="0" indent="0">
              <a:buNone/>
            </a:pPr>
            <a:r>
              <a:rPr lang="en-US" dirty="0">
                <a:solidFill>
                  <a:srgbClr val="0070C0"/>
                </a:solidFill>
              </a:rPr>
              <a:t>       </a:t>
            </a:r>
            <a:r>
              <a:rPr lang="en-US" dirty="0" err="1">
                <a:solidFill>
                  <a:srgbClr val="0070C0"/>
                </a:solidFill>
              </a:rPr>
              <a:t>MPI_Comm_rank</a:t>
            </a:r>
            <a:r>
              <a:rPr lang="en-US" dirty="0">
                <a:solidFill>
                  <a:srgbClr val="0070C0"/>
                </a:solidFill>
              </a:rPr>
              <a:t>(MPI_COMM_WORLD,&amp;</a:t>
            </a:r>
            <a:r>
              <a:rPr lang="en-US" dirty="0" err="1">
                <a:solidFill>
                  <a:srgbClr val="0070C0"/>
                </a:solidFill>
              </a:rPr>
              <a:t>myrank</a:t>
            </a:r>
            <a:r>
              <a:rPr lang="en-US" dirty="0">
                <a:solidFill>
                  <a:srgbClr val="0070C0"/>
                </a:solidFill>
              </a:rPr>
              <a:t>); </a:t>
            </a:r>
          </a:p>
          <a:p>
            <a:pPr marL="0" indent="0">
              <a:buNone/>
            </a:pPr>
            <a:endParaRPr lang="en-US" dirty="0"/>
          </a:p>
          <a:p>
            <a:pPr marL="0" indent="0">
              <a:buNone/>
            </a:pPr>
            <a:r>
              <a:rPr lang="en-US" dirty="0">
                <a:solidFill>
                  <a:srgbClr val="7030A0"/>
                </a:solidFill>
              </a:rPr>
              <a:t>       Do work and make message passing calls... </a:t>
            </a:r>
          </a:p>
          <a:p>
            <a:pPr marL="0" indent="0">
              <a:buNone/>
            </a:pPr>
            <a:endParaRPr lang="en-US" dirty="0">
              <a:solidFill>
                <a:srgbClr val="FF0000"/>
              </a:solidFill>
            </a:endParaRPr>
          </a:p>
          <a:p>
            <a:pPr marL="0" indent="0">
              <a:buNone/>
            </a:pPr>
            <a:r>
              <a:rPr lang="en-US" dirty="0"/>
              <a:t>   /* Finalize */ </a:t>
            </a:r>
          </a:p>
          <a:p>
            <a:pPr marL="0" indent="0">
              <a:buNone/>
            </a:pPr>
            <a:r>
              <a:rPr lang="en-US" dirty="0">
                <a:solidFill>
                  <a:srgbClr val="0070C0"/>
                </a:solidFill>
              </a:rPr>
              <a:t>       </a:t>
            </a:r>
            <a:r>
              <a:rPr lang="en-US" dirty="0" err="1">
                <a:solidFill>
                  <a:srgbClr val="0070C0"/>
                </a:solidFill>
              </a:rPr>
              <a:t>MPI_Finalize</a:t>
            </a:r>
            <a:r>
              <a:rPr lang="en-US" dirty="0">
                <a:solidFill>
                  <a:srgbClr val="0070C0"/>
                </a:solidFill>
              </a:rPr>
              <a:t>(); </a:t>
            </a:r>
          </a:p>
          <a:p>
            <a:pPr marL="0" indent="0">
              <a:buNone/>
            </a:pPr>
            <a:r>
              <a:rPr lang="en-US" dirty="0"/>
              <a:t>   return 0; </a:t>
            </a:r>
          </a:p>
          <a:p>
            <a:pPr marL="0" indent="0">
              <a:buNone/>
            </a:pPr>
            <a:r>
              <a:rPr lang="en-US" dirty="0"/>
              <a:t>} </a:t>
            </a:r>
          </a:p>
          <a:p>
            <a:pPr marL="0" indent="0">
              <a:buNone/>
            </a:pPr>
            <a:endParaRPr lang="en-US" dirty="0"/>
          </a:p>
        </p:txBody>
      </p:sp>
      <p:grpSp>
        <p:nvGrpSpPr>
          <p:cNvPr id="4" name="Group 3">
            <a:extLst>
              <a:ext uri="{FF2B5EF4-FFF2-40B4-BE49-F238E27FC236}">
                <a16:creationId xmlns:a16="http://schemas.microsoft.com/office/drawing/2014/main" id="{9F31D913-A521-6E4A-A381-0CAF7B216917}"/>
              </a:ext>
            </a:extLst>
          </p:cNvPr>
          <p:cNvGrpSpPr/>
          <p:nvPr/>
        </p:nvGrpSpPr>
        <p:grpSpPr>
          <a:xfrm>
            <a:off x="4558750" y="832646"/>
            <a:ext cx="7209183" cy="2731881"/>
            <a:chOff x="4549798" y="328702"/>
            <a:chExt cx="7209183" cy="2731881"/>
          </a:xfrm>
        </p:grpSpPr>
        <p:sp>
          <p:nvSpPr>
            <p:cNvPr id="9" name="Rectangle 8">
              <a:extLst>
                <a:ext uri="{FF2B5EF4-FFF2-40B4-BE49-F238E27FC236}">
                  <a16:creationId xmlns:a16="http://schemas.microsoft.com/office/drawing/2014/main" id="{0CE77391-5CC2-AE44-ABA5-41F9EE9AC6A0}"/>
                </a:ext>
              </a:extLst>
            </p:cNvPr>
            <p:cNvSpPr/>
            <p:nvPr/>
          </p:nvSpPr>
          <p:spPr>
            <a:xfrm>
              <a:off x="4708823" y="415636"/>
              <a:ext cx="7050158" cy="1816925"/>
            </a:xfrm>
            <a:prstGeom prst="rect">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5B5842A5-D071-FA47-B1B6-D1C5B41FC375}"/>
                </a:ext>
              </a:extLst>
            </p:cNvPr>
            <p:cNvGrpSpPr/>
            <p:nvPr/>
          </p:nvGrpSpPr>
          <p:grpSpPr>
            <a:xfrm>
              <a:off x="4549798" y="328702"/>
              <a:ext cx="7209183" cy="2731881"/>
              <a:chOff x="4549798" y="328702"/>
              <a:chExt cx="7209183" cy="2731881"/>
            </a:xfrm>
          </p:grpSpPr>
          <p:sp>
            <p:nvSpPr>
              <p:cNvPr id="5" name="TextBox 4">
                <a:extLst>
                  <a:ext uri="{FF2B5EF4-FFF2-40B4-BE49-F238E27FC236}">
                    <a16:creationId xmlns:a16="http://schemas.microsoft.com/office/drawing/2014/main" id="{881508E3-78D1-8242-941F-7C548CB48BF2}"/>
                  </a:ext>
                </a:extLst>
              </p:cNvPr>
              <p:cNvSpPr txBox="1"/>
              <p:nvPr/>
            </p:nvSpPr>
            <p:spPr>
              <a:xfrm>
                <a:off x="4549798" y="328702"/>
                <a:ext cx="7209183" cy="1938992"/>
              </a:xfrm>
              <a:prstGeom prst="rect">
                <a:avLst/>
              </a:prstGeom>
              <a:noFill/>
              <a:ln w="19050">
                <a:noFill/>
              </a:ln>
            </p:spPr>
            <p:txBody>
              <a:bodyPr wrap="square" rtlCol="0" anchor="ctr" anchorCtr="1">
                <a:spAutoFit/>
              </a:bodyPr>
              <a:lstStyle/>
              <a:p>
                <a:pPr marL="342900" indent="-342900">
                  <a:buFont typeface="Arial" panose="020B0604020202020204" pitchFamily="34" charset="0"/>
                  <a:buChar char="•"/>
                </a:pPr>
                <a:r>
                  <a:rPr lang="en-US" sz="2400" dirty="0"/>
                  <a:t>Returns the number of processes available under MPI_COMM_WORLD communicator </a:t>
                </a:r>
              </a:p>
              <a:p>
                <a:pPr marL="342900" indent="-342900">
                  <a:buFont typeface="Arial" panose="020B0604020202020204" pitchFamily="34" charset="0"/>
                  <a:buChar char="•"/>
                </a:pPr>
                <a:r>
                  <a:rPr lang="en-US" sz="2400" dirty="0"/>
                  <a:t>This is the number used on the </a:t>
                </a:r>
                <a:r>
                  <a:rPr lang="en-US" sz="2400" dirty="0" err="1"/>
                  <a:t>mpiexec</a:t>
                </a:r>
                <a:r>
                  <a:rPr lang="en-US" sz="2400" dirty="0"/>
                  <a:t> (or </a:t>
                </a:r>
                <a:r>
                  <a:rPr lang="en-US" sz="2400" dirty="0" err="1"/>
                  <a:t>mpirun</a:t>
                </a:r>
                <a:r>
                  <a:rPr lang="en-US" sz="2400" dirty="0"/>
                  <a:t>)</a:t>
                </a:r>
              </a:p>
              <a:p>
                <a:pPr marL="342900" indent="-342900">
                  <a:buFont typeface="Arial" panose="020B0604020202020204" pitchFamily="34" charset="0"/>
                  <a:buChar char="•"/>
                </a:pPr>
                <a:r>
                  <a:rPr lang="en-US" sz="2400" dirty="0"/>
                  <a:t>command:</a:t>
                </a:r>
                <a:br>
                  <a:rPr lang="en-US" sz="2400" dirty="0"/>
                </a:br>
                <a:r>
                  <a:rPr lang="en-US" sz="2400" dirty="0" err="1"/>
                  <a:t>mpiexec</a:t>
                </a:r>
                <a:r>
                  <a:rPr lang="en-US" sz="2400" dirty="0"/>
                  <a:t> –n </a:t>
                </a:r>
                <a:r>
                  <a:rPr lang="en-US" sz="2400" dirty="0" err="1"/>
                  <a:t>nproc</a:t>
                </a:r>
                <a:r>
                  <a:rPr lang="en-US" sz="2400" dirty="0"/>
                  <a:t> </a:t>
                </a:r>
                <a:r>
                  <a:rPr lang="en-US" sz="2400" dirty="0" err="1"/>
                  <a:t>a.out</a:t>
                </a:r>
                <a:r>
                  <a:rPr lang="en-US" sz="2400" dirty="0"/>
                  <a:t> </a:t>
                </a:r>
                <a:endParaRPr lang="en-US" sz="2400" dirty="0">
                  <a:effectLst/>
                </a:endParaRPr>
              </a:p>
            </p:txBody>
          </p:sp>
          <p:sp>
            <p:nvSpPr>
              <p:cNvPr id="6" name="Left Arrow 5">
                <a:extLst>
                  <a:ext uri="{FF2B5EF4-FFF2-40B4-BE49-F238E27FC236}">
                    <a16:creationId xmlns:a16="http://schemas.microsoft.com/office/drawing/2014/main" id="{3CC31B83-58BD-D642-B827-6542B2D70217}"/>
                  </a:ext>
                </a:extLst>
              </p:cNvPr>
              <p:cNvSpPr/>
              <p:nvPr/>
            </p:nvSpPr>
            <p:spPr>
              <a:xfrm rot="16200000">
                <a:off x="5220917" y="2506342"/>
                <a:ext cx="828022" cy="280460"/>
              </a:xfrm>
              <a:prstGeom prst="leftArrow">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436888-13BA-C141-AD96-7A2AE27C5E16}"/>
                  </a:ext>
                </a:extLst>
              </p:cNvPr>
              <p:cNvSpPr/>
              <p:nvPr/>
            </p:nvSpPr>
            <p:spPr>
              <a:xfrm rot="16200000">
                <a:off x="5533863" y="2277906"/>
                <a:ext cx="202130" cy="11143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1309366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0859-A1CE-8E4F-926C-C0333BCE45D7}"/>
              </a:ext>
            </a:extLst>
          </p:cNvPr>
          <p:cNvSpPr>
            <a:spLocks noGrp="1"/>
          </p:cNvSpPr>
          <p:nvPr>
            <p:ph type="title"/>
          </p:nvPr>
        </p:nvSpPr>
        <p:spPr>
          <a:xfrm>
            <a:off x="838200" y="0"/>
            <a:ext cx="10515600" cy="1325563"/>
          </a:xfrm>
        </p:spPr>
        <p:txBody>
          <a:bodyPr/>
          <a:lstStyle/>
          <a:p>
            <a:r>
              <a:rPr lang="en-US" dirty="0"/>
              <a:t>What’s my rank?</a:t>
            </a:r>
          </a:p>
        </p:txBody>
      </p:sp>
      <p:sp>
        <p:nvSpPr>
          <p:cNvPr id="3" name="Content Placeholder 2">
            <a:extLst>
              <a:ext uri="{FF2B5EF4-FFF2-40B4-BE49-F238E27FC236}">
                <a16:creationId xmlns:a16="http://schemas.microsoft.com/office/drawing/2014/main" id="{917431B8-A4BD-A649-AE29-322127E4523F}"/>
              </a:ext>
            </a:extLst>
          </p:cNvPr>
          <p:cNvSpPr>
            <a:spLocks noGrp="1"/>
          </p:cNvSpPr>
          <p:nvPr>
            <p:ph idx="1"/>
          </p:nvPr>
        </p:nvSpPr>
        <p:spPr>
          <a:xfrm>
            <a:off x="838200" y="1152307"/>
            <a:ext cx="10515600" cy="5980013"/>
          </a:xfrm>
        </p:spPr>
        <p:txBody>
          <a:bodyPr>
            <a:normAutofit fontScale="70000" lnSpcReduction="20000"/>
          </a:bodyPr>
          <a:lstStyle/>
          <a:p>
            <a:pPr marL="0" indent="0">
              <a:buNone/>
            </a:pPr>
            <a:r>
              <a:rPr lang="en-US" dirty="0">
                <a:solidFill>
                  <a:srgbClr val="0070C0"/>
                </a:solidFill>
              </a:rPr>
              <a:t>#include "</a:t>
            </a:r>
            <a:r>
              <a:rPr lang="en-US" dirty="0" err="1">
                <a:solidFill>
                  <a:srgbClr val="0070C0"/>
                </a:solidFill>
              </a:rPr>
              <a:t>mpi.h</a:t>
            </a:r>
            <a:r>
              <a:rPr lang="en-US" dirty="0">
                <a:solidFill>
                  <a:srgbClr val="0070C0"/>
                </a:solidFill>
              </a:rPr>
              <a:t>" </a:t>
            </a:r>
          </a:p>
          <a:p>
            <a:pPr marL="0"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 ) </a:t>
            </a:r>
          </a:p>
          <a:p>
            <a:pPr marL="0" indent="0">
              <a:buNone/>
            </a:pPr>
            <a:r>
              <a:rPr lang="en-US" dirty="0"/>
              <a:t>{ </a:t>
            </a:r>
          </a:p>
          <a:p>
            <a:pPr marL="0" indent="0">
              <a:buNone/>
            </a:pPr>
            <a:r>
              <a:rPr lang="en-US" dirty="0"/>
              <a:t>    </a:t>
            </a:r>
            <a:r>
              <a:rPr lang="en-US" dirty="0" err="1"/>
              <a:t>int</a:t>
            </a:r>
            <a:r>
              <a:rPr lang="en-US" dirty="0"/>
              <a:t> </a:t>
            </a:r>
            <a:r>
              <a:rPr lang="en-US" dirty="0" err="1"/>
              <a:t>nproc</a:t>
            </a:r>
            <a:r>
              <a:rPr lang="en-US" dirty="0"/>
              <a:t>, </a:t>
            </a:r>
            <a:r>
              <a:rPr lang="en-US" dirty="0" err="1"/>
              <a:t>myrank</a:t>
            </a:r>
            <a:r>
              <a:rPr lang="en-US" dirty="0"/>
              <a:t>; </a:t>
            </a:r>
          </a:p>
          <a:p>
            <a:pPr marL="0" indent="0">
              <a:buNone/>
            </a:pPr>
            <a:r>
              <a:rPr lang="en-US" dirty="0"/>
              <a:t>   /* Initialize MPI */ </a:t>
            </a:r>
          </a:p>
          <a:p>
            <a:pPr marL="0" indent="0">
              <a:buNone/>
            </a:pPr>
            <a:r>
              <a:rPr lang="en-US" dirty="0">
                <a:solidFill>
                  <a:srgbClr val="0070C0"/>
                </a:solidFill>
              </a:rPr>
              <a:t>       </a:t>
            </a:r>
            <a:r>
              <a:rPr lang="en-US" dirty="0" err="1">
                <a:solidFill>
                  <a:srgbClr val="0070C0"/>
                </a:solidFill>
              </a:rPr>
              <a:t>MPI_Init</a:t>
            </a:r>
            <a:r>
              <a:rPr lang="en-US" dirty="0">
                <a:solidFill>
                  <a:srgbClr val="0070C0"/>
                </a:solidFill>
              </a:rPr>
              <a:t>(&amp;</a:t>
            </a:r>
            <a:r>
              <a:rPr lang="en-US" dirty="0" err="1">
                <a:solidFill>
                  <a:srgbClr val="0070C0"/>
                </a:solidFill>
              </a:rPr>
              <a:t>argc</a:t>
            </a:r>
            <a:r>
              <a:rPr lang="en-US" dirty="0">
                <a:solidFill>
                  <a:srgbClr val="0070C0"/>
                </a:solidFill>
              </a:rPr>
              <a:t>,&amp;</a:t>
            </a:r>
            <a:r>
              <a:rPr lang="en-US" dirty="0" err="1">
                <a:solidFill>
                  <a:srgbClr val="0070C0"/>
                </a:solidFill>
              </a:rPr>
              <a:t>argv</a:t>
            </a:r>
            <a:r>
              <a:rPr lang="en-US" dirty="0">
                <a:solidFill>
                  <a:srgbClr val="0070C0"/>
                </a:solidFill>
              </a:rPr>
              <a:t>); </a:t>
            </a:r>
          </a:p>
          <a:p>
            <a:pPr marL="0" indent="0">
              <a:buNone/>
            </a:pPr>
            <a:r>
              <a:rPr lang="en-US" dirty="0"/>
              <a:t>   /* Get the number of processes */        </a:t>
            </a:r>
          </a:p>
          <a:p>
            <a:pPr marL="0" indent="0">
              <a:buNone/>
            </a:pPr>
            <a:r>
              <a:rPr lang="en-US" dirty="0">
                <a:solidFill>
                  <a:srgbClr val="0070C0"/>
                </a:solidFill>
              </a:rPr>
              <a:t>       </a:t>
            </a:r>
            <a:r>
              <a:rPr lang="en-US" dirty="0" err="1">
                <a:solidFill>
                  <a:srgbClr val="0070C0"/>
                </a:solidFill>
              </a:rPr>
              <a:t>MPI_Comm_size</a:t>
            </a:r>
            <a:r>
              <a:rPr lang="en-US" dirty="0">
                <a:solidFill>
                  <a:srgbClr val="0070C0"/>
                </a:solidFill>
              </a:rPr>
              <a:t>(MPI_COMM_WORLD,&amp;</a:t>
            </a:r>
            <a:r>
              <a:rPr lang="en-US" dirty="0" err="1">
                <a:solidFill>
                  <a:srgbClr val="0070C0"/>
                </a:solidFill>
              </a:rPr>
              <a:t>nproc</a:t>
            </a:r>
            <a:r>
              <a:rPr lang="en-US" dirty="0">
                <a:solidFill>
                  <a:srgbClr val="0070C0"/>
                </a:solidFill>
              </a:rPr>
              <a:t>); </a:t>
            </a:r>
          </a:p>
          <a:p>
            <a:pPr marL="0" indent="0">
              <a:buNone/>
            </a:pPr>
            <a:r>
              <a:rPr lang="en-US" dirty="0"/>
              <a:t>   /* Get my process number (rank) */    </a:t>
            </a:r>
          </a:p>
          <a:p>
            <a:pPr marL="0" indent="0">
              <a:buNone/>
            </a:pPr>
            <a:r>
              <a:rPr lang="en-US" dirty="0">
                <a:solidFill>
                  <a:srgbClr val="FF0000"/>
                </a:solidFill>
              </a:rPr>
              <a:t>       </a:t>
            </a:r>
            <a:r>
              <a:rPr lang="en-US" dirty="0" err="1">
                <a:solidFill>
                  <a:srgbClr val="FF0000"/>
                </a:solidFill>
              </a:rPr>
              <a:t>MPI_Comm_rank</a:t>
            </a:r>
            <a:r>
              <a:rPr lang="en-US" dirty="0">
                <a:solidFill>
                  <a:srgbClr val="FF0000"/>
                </a:solidFill>
              </a:rPr>
              <a:t>(MPI_COMM_WORLD,&amp;</a:t>
            </a:r>
            <a:r>
              <a:rPr lang="en-US" dirty="0" err="1">
                <a:solidFill>
                  <a:srgbClr val="FF0000"/>
                </a:solidFill>
              </a:rPr>
              <a:t>myrank</a:t>
            </a:r>
            <a:r>
              <a:rPr lang="en-US" dirty="0">
                <a:solidFill>
                  <a:srgbClr val="FF0000"/>
                </a:solidFill>
              </a:rPr>
              <a:t>); </a:t>
            </a:r>
          </a:p>
          <a:p>
            <a:pPr marL="0" indent="0">
              <a:buNone/>
            </a:pPr>
            <a:endParaRPr lang="en-US" dirty="0"/>
          </a:p>
          <a:p>
            <a:pPr marL="0" indent="0">
              <a:buNone/>
            </a:pPr>
            <a:r>
              <a:rPr lang="en-US" dirty="0">
                <a:solidFill>
                  <a:srgbClr val="7030A0"/>
                </a:solidFill>
              </a:rPr>
              <a:t>       Do work and make message passing calls... </a:t>
            </a:r>
          </a:p>
          <a:p>
            <a:pPr marL="0" indent="0">
              <a:buNone/>
            </a:pPr>
            <a:endParaRPr lang="en-US" dirty="0">
              <a:solidFill>
                <a:srgbClr val="FF0000"/>
              </a:solidFill>
            </a:endParaRPr>
          </a:p>
          <a:p>
            <a:pPr marL="0" indent="0">
              <a:buNone/>
            </a:pPr>
            <a:r>
              <a:rPr lang="en-US" dirty="0"/>
              <a:t>   /* Finalize */ </a:t>
            </a:r>
          </a:p>
          <a:p>
            <a:pPr marL="0" indent="0">
              <a:buNone/>
            </a:pPr>
            <a:r>
              <a:rPr lang="en-US" dirty="0">
                <a:solidFill>
                  <a:srgbClr val="0070C0"/>
                </a:solidFill>
              </a:rPr>
              <a:t>       </a:t>
            </a:r>
            <a:r>
              <a:rPr lang="en-US" dirty="0" err="1">
                <a:solidFill>
                  <a:srgbClr val="0070C0"/>
                </a:solidFill>
              </a:rPr>
              <a:t>MPI_Finalize</a:t>
            </a:r>
            <a:r>
              <a:rPr lang="en-US" dirty="0">
                <a:solidFill>
                  <a:srgbClr val="0070C0"/>
                </a:solidFill>
              </a:rPr>
              <a:t>(); </a:t>
            </a:r>
          </a:p>
          <a:p>
            <a:pPr marL="0" indent="0">
              <a:buNone/>
            </a:pPr>
            <a:r>
              <a:rPr lang="en-US" dirty="0"/>
              <a:t>   return 0; </a:t>
            </a:r>
          </a:p>
          <a:p>
            <a:pPr marL="0" indent="0">
              <a:buNone/>
            </a:pPr>
            <a:r>
              <a:rPr lang="en-US" dirty="0"/>
              <a:t>} </a:t>
            </a:r>
          </a:p>
          <a:p>
            <a:pPr marL="0" indent="0">
              <a:buNone/>
            </a:pPr>
            <a:endParaRPr lang="en-US" dirty="0"/>
          </a:p>
        </p:txBody>
      </p:sp>
      <p:grpSp>
        <p:nvGrpSpPr>
          <p:cNvPr id="4" name="Group 3">
            <a:extLst>
              <a:ext uri="{FF2B5EF4-FFF2-40B4-BE49-F238E27FC236}">
                <a16:creationId xmlns:a16="http://schemas.microsoft.com/office/drawing/2014/main" id="{9F31D913-A521-6E4A-A381-0CAF7B216917}"/>
              </a:ext>
            </a:extLst>
          </p:cNvPr>
          <p:cNvGrpSpPr/>
          <p:nvPr/>
        </p:nvGrpSpPr>
        <p:grpSpPr>
          <a:xfrm>
            <a:off x="4914901" y="951410"/>
            <a:ext cx="7209183" cy="3275207"/>
            <a:chOff x="4549798" y="415636"/>
            <a:chExt cx="7209183" cy="3275207"/>
          </a:xfrm>
        </p:grpSpPr>
        <p:sp>
          <p:nvSpPr>
            <p:cNvPr id="9" name="Rectangle 8">
              <a:extLst>
                <a:ext uri="{FF2B5EF4-FFF2-40B4-BE49-F238E27FC236}">
                  <a16:creationId xmlns:a16="http://schemas.microsoft.com/office/drawing/2014/main" id="{0CE77391-5CC2-AE44-ABA5-41F9EE9AC6A0}"/>
                </a:ext>
              </a:extLst>
            </p:cNvPr>
            <p:cNvSpPr/>
            <p:nvPr/>
          </p:nvSpPr>
          <p:spPr>
            <a:xfrm>
              <a:off x="4708823" y="415636"/>
              <a:ext cx="7050158" cy="1816925"/>
            </a:xfrm>
            <a:prstGeom prst="rect">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5B5842A5-D071-FA47-B1B6-D1C5B41FC375}"/>
                </a:ext>
              </a:extLst>
            </p:cNvPr>
            <p:cNvGrpSpPr/>
            <p:nvPr/>
          </p:nvGrpSpPr>
          <p:grpSpPr>
            <a:xfrm>
              <a:off x="4549798" y="513368"/>
              <a:ext cx="7209183" cy="3177475"/>
              <a:chOff x="4549798" y="513368"/>
              <a:chExt cx="7209183" cy="3177475"/>
            </a:xfrm>
          </p:grpSpPr>
          <p:sp>
            <p:nvSpPr>
              <p:cNvPr id="5" name="TextBox 4">
                <a:extLst>
                  <a:ext uri="{FF2B5EF4-FFF2-40B4-BE49-F238E27FC236}">
                    <a16:creationId xmlns:a16="http://schemas.microsoft.com/office/drawing/2014/main" id="{881508E3-78D1-8242-941F-7C548CB48BF2}"/>
                  </a:ext>
                </a:extLst>
              </p:cNvPr>
              <p:cNvSpPr txBox="1"/>
              <p:nvPr/>
            </p:nvSpPr>
            <p:spPr>
              <a:xfrm>
                <a:off x="4549798" y="513368"/>
                <a:ext cx="7209183" cy="1569660"/>
              </a:xfrm>
              <a:prstGeom prst="rect">
                <a:avLst/>
              </a:prstGeom>
              <a:noFill/>
              <a:ln w="19050">
                <a:noFill/>
              </a:ln>
            </p:spPr>
            <p:txBody>
              <a:bodyPr wrap="square" rtlCol="0" anchor="ctr" anchorCtr="1">
                <a:spAutoFit/>
              </a:bodyPr>
              <a:lstStyle/>
              <a:p>
                <a:pPr marL="285750" indent="-285750">
                  <a:buFont typeface="Arial" panose="020B0604020202020204" pitchFamily="34" charset="0"/>
                  <a:buChar char="•"/>
                </a:pPr>
                <a:r>
                  <a:rPr lang="en-US" sz="2400" dirty="0"/>
                  <a:t>Get my rank among all of the </a:t>
                </a:r>
                <a:r>
                  <a:rPr lang="en-US" sz="2400" dirty="0" err="1"/>
                  <a:t>nproc</a:t>
                </a:r>
                <a:r>
                  <a:rPr lang="en-US" sz="2400" dirty="0"/>
                  <a:t> processes under MPI_COMM_WORLD</a:t>
                </a:r>
              </a:p>
              <a:p>
                <a:pPr marL="285750" indent="-285750">
                  <a:buFont typeface="Arial" panose="020B0604020202020204" pitchFamily="34" charset="0"/>
                  <a:buChar char="•"/>
                </a:pPr>
                <a:r>
                  <a:rPr lang="en-US" sz="2400" dirty="0"/>
                  <a:t>This is a unique number that can be used to distinguish this process from the others</a:t>
                </a:r>
              </a:p>
            </p:txBody>
          </p:sp>
          <p:sp>
            <p:nvSpPr>
              <p:cNvPr id="6" name="Left Arrow 5">
                <a:extLst>
                  <a:ext uri="{FF2B5EF4-FFF2-40B4-BE49-F238E27FC236}">
                    <a16:creationId xmlns:a16="http://schemas.microsoft.com/office/drawing/2014/main" id="{3CC31B83-58BD-D642-B827-6542B2D70217}"/>
                  </a:ext>
                </a:extLst>
              </p:cNvPr>
              <p:cNvSpPr/>
              <p:nvPr/>
            </p:nvSpPr>
            <p:spPr>
              <a:xfrm rot="16200000">
                <a:off x="5353986" y="2819093"/>
                <a:ext cx="1463040" cy="280460"/>
              </a:xfrm>
              <a:prstGeom prst="leftArrow">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4436888-13BA-C141-AD96-7A2AE27C5E16}"/>
                  </a:ext>
                </a:extLst>
              </p:cNvPr>
              <p:cNvSpPr/>
              <p:nvPr/>
            </p:nvSpPr>
            <p:spPr>
              <a:xfrm rot="16200000">
                <a:off x="5984441" y="2277906"/>
                <a:ext cx="202130" cy="11143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772318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0859-A1CE-8E4F-926C-C0333BCE45D7}"/>
              </a:ext>
            </a:extLst>
          </p:cNvPr>
          <p:cNvSpPr>
            <a:spLocks noGrp="1"/>
          </p:cNvSpPr>
          <p:nvPr>
            <p:ph type="title"/>
          </p:nvPr>
        </p:nvSpPr>
        <p:spPr>
          <a:xfrm>
            <a:off x="838200" y="0"/>
            <a:ext cx="10515600" cy="1325563"/>
          </a:xfrm>
        </p:spPr>
        <p:txBody>
          <a:bodyPr/>
          <a:lstStyle/>
          <a:p>
            <a:r>
              <a:rPr lang="en-US" dirty="0"/>
              <a:t>Termination</a:t>
            </a:r>
          </a:p>
        </p:txBody>
      </p:sp>
      <p:sp>
        <p:nvSpPr>
          <p:cNvPr id="3" name="Content Placeholder 2">
            <a:extLst>
              <a:ext uri="{FF2B5EF4-FFF2-40B4-BE49-F238E27FC236}">
                <a16:creationId xmlns:a16="http://schemas.microsoft.com/office/drawing/2014/main" id="{917431B8-A4BD-A649-AE29-322127E4523F}"/>
              </a:ext>
            </a:extLst>
          </p:cNvPr>
          <p:cNvSpPr>
            <a:spLocks noGrp="1"/>
          </p:cNvSpPr>
          <p:nvPr>
            <p:ph idx="1"/>
          </p:nvPr>
        </p:nvSpPr>
        <p:spPr>
          <a:xfrm>
            <a:off x="838200" y="1152307"/>
            <a:ext cx="10515600" cy="5980013"/>
          </a:xfrm>
        </p:spPr>
        <p:txBody>
          <a:bodyPr>
            <a:normAutofit fontScale="70000" lnSpcReduction="20000"/>
          </a:bodyPr>
          <a:lstStyle/>
          <a:p>
            <a:pPr marL="0" indent="0">
              <a:buNone/>
            </a:pPr>
            <a:r>
              <a:rPr lang="en-US" dirty="0">
                <a:solidFill>
                  <a:srgbClr val="0070C0"/>
                </a:solidFill>
              </a:rPr>
              <a:t>#include "</a:t>
            </a:r>
            <a:r>
              <a:rPr lang="en-US" dirty="0" err="1">
                <a:solidFill>
                  <a:srgbClr val="0070C0"/>
                </a:solidFill>
              </a:rPr>
              <a:t>mpi.h</a:t>
            </a:r>
            <a:r>
              <a:rPr lang="en-US" dirty="0">
                <a:solidFill>
                  <a:srgbClr val="0070C0"/>
                </a:solidFill>
              </a:rPr>
              <a:t>" </a:t>
            </a:r>
          </a:p>
          <a:p>
            <a:pPr marL="0"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 ) </a:t>
            </a:r>
          </a:p>
          <a:p>
            <a:pPr marL="0" indent="0">
              <a:buNone/>
            </a:pPr>
            <a:r>
              <a:rPr lang="en-US" dirty="0"/>
              <a:t>{ </a:t>
            </a:r>
          </a:p>
          <a:p>
            <a:pPr marL="0" indent="0">
              <a:buNone/>
            </a:pPr>
            <a:r>
              <a:rPr lang="en-US" dirty="0"/>
              <a:t>    </a:t>
            </a:r>
            <a:r>
              <a:rPr lang="en-US" dirty="0" err="1"/>
              <a:t>int</a:t>
            </a:r>
            <a:r>
              <a:rPr lang="en-US" dirty="0"/>
              <a:t> </a:t>
            </a:r>
            <a:r>
              <a:rPr lang="en-US" dirty="0" err="1"/>
              <a:t>nproc</a:t>
            </a:r>
            <a:r>
              <a:rPr lang="en-US" dirty="0"/>
              <a:t>, </a:t>
            </a:r>
            <a:r>
              <a:rPr lang="en-US" dirty="0" err="1"/>
              <a:t>myrank</a:t>
            </a:r>
            <a:r>
              <a:rPr lang="en-US" dirty="0"/>
              <a:t>; </a:t>
            </a:r>
          </a:p>
          <a:p>
            <a:pPr marL="0" indent="0">
              <a:buNone/>
            </a:pPr>
            <a:r>
              <a:rPr lang="en-US" dirty="0"/>
              <a:t>   /* Initialize MPI */ </a:t>
            </a:r>
          </a:p>
          <a:p>
            <a:pPr marL="0" indent="0">
              <a:buNone/>
            </a:pPr>
            <a:r>
              <a:rPr lang="en-US" dirty="0">
                <a:solidFill>
                  <a:srgbClr val="0070C0"/>
                </a:solidFill>
              </a:rPr>
              <a:t>       </a:t>
            </a:r>
            <a:r>
              <a:rPr lang="en-US" dirty="0" err="1">
                <a:solidFill>
                  <a:srgbClr val="0070C0"/>
                </a:solidFill>
              </a:rPr>
              <a:t>MPI_Init</a:t>
            </a:r>
            <a:r>
              <a:rPr lang="en-US" dirty="0">
                <a:solidFill>
                  <a:srgbClr val="0070C0"/>
                </a:solidFill>
              </a:rPr>
              <a:t>(&amp;</a:t>
            </a:r>
            <a:r>
              <a:rPr lang="en-US" dirty="0" err="1">
                <a:solidFill>
                  <a:srgbClr val="0070C0"/>
                </a:solidFill>
              </a:rPr>
              <a:t>argc</a:t>
            </a:r>
            <a:r>
              <a:rPr lang="en-US" dirty="0">
                <a:solidFill>
                  <a:srgbClr val="0070C0"/>
                </a:solidFill>
              </a:rPr>
              <a:t>,&amp;</a:t>
            </a:r>
            <a:r>
              <a:rPr lang="en-US" dirty="0" err="1">
                <a:solidFill>
                  <a:srgbClr val="0070C0"/>
                </a:solidFill>
              </a:rPr>
              <a:t>argv</a:t>
            </a:r>
            <a:r>
              <a:rPr lang="en-US" dirty="0">
                <a:solidFill>
                  <a:srgbClr val="0070C0"/>
                </a:solidFill>
              </a:rPr>
              <a:t>); </a:t>
            </a:r>
          </a:p>
          <a:p>
            <a:pPr marL="0" indent="0">
              <a:buNone/>
            </a:pPr>
            <a:r>
              <a:rPr lang="en-US" dirty="0"/>
              <a:t>   /* Get the number of processes */        </a:t>
            </a:r>
          </a:p>
          <a:p>
            <a:pPr marL="0" indent="0">
              <a:buNone/>
            </a:pPr>
            <a:r>
              <a:rPr lang="en-US" dirty="0">
                <a:solidFill>
                  <a:srgbClr val="0070C0"/>
                </a:solidFill>
              </a:rPr>
              <a:t>       </a:t>
            </a:r>
            <a:r>
              <a:rPr lang="en-US" dirty="0" err="1">
                <a:solidFill>
                  <a:srgbClr val="0070C0"/>
                </a:solidFill>
              </a:rPr>
              <a:t>MPI_Comm_size</a:t>
            </a:r>
            <a:r>
              <a:rPr lang="en-US" dirty="0">
                <a:solidFill>
                  <a:srgbClr val="0070C0"/>
                </a:solidFill>
              </a:rPr>
              <a:t>(MPI_COMM_WORLD,&amp;</a:t>
            </a:r>
            <a:r>
              <a:rPr lang="en-US" dirty="0" err="1">
                <a:solidFill>
                  <a:srgbClr val="0070C0"/>
                </a:solidFill>
              </a:rPr>
              <a:t>nproc</a:t>
            </a:r>
            <a:r>
              <a:rPr lang="en-US" dirty="0">
                <a:solidFill>
                  <a:srgbClr val="0070C0"/>
                </a:solidFill>
              </a:rPr>
              <a:t>); </a:t>
            </a:r>
          </a:p>
          <a:p>
            <a:pPr marL="0" indent="0">
              <a:buNone/>
            </a:pPr>
            <a:r>
              <a:rPr lang="en-US" dirty="0"/>
              <a:t>   /* Get my process number (rank) */    </a:t>
            </a:r>
          </a:p>
          <a:p>
            <a:pPr marL="0" indent="0">
              <a:buNone/>
            </a:pPr>
            <a:r>
              <a:rPr lang="en-US" dirty="0">
                <a:solidFill>
                  <a:srgbClr val="0070C0"/>
                </a:solidFill>
              </a:rPr>
              <a:t>       </a:t>
            </a:r>
            <a:r>
              <a:rPr lang="en-US" dirty="0" err="1">
                <a:solidFill>
                  <a:srgbClr val="0070C0"/>
                </a:solidFill>
              </a:rPr>
              <a:t>MPI_Comm_rank</a:t>
            </a:r>
            <a:r>
              <a:rPr lang="en-US" dirty="0">
                <a:solidFill>
                  <a:srgbClr val="0070C0"/>
                </a:solidFill>
              </a:rPr>
              <a:t>(MPI_COMM_WORLD,&amp;</a:t>
            </a:r>
            <a:r>
              <a:rPr lang="en-US" dirty="0" err="1">
                <a:solidFill>
                  <a:srgbClr val="0070C0"/>
                </a:solidFill>
              </a:rPr>
              <a:t>myrank</a:t>
            </a:r>
            <a:r>
              <a:rPr lang="en-US" dirty="0">
                <a:solidFill>
                  <a:srgbClr val="0070C0"/>
                </a:solidFill>
              </a:rPr>
              <a:t>); </a:t>
            </a:r>
          </a:p>
          <a:p>
            <a:pPr marL="0" indent="0">
              <a:buNone/>
            </a:pPr>
            <a:endParaRPr lang="en-US" dirty="0"/>
          </a:p>
          <a:p>
            <a:pPr marL="0" indent="0">
              <a:buNone/>
            </a:pPr>
            <a:r>
              <a:rPr lang="en-US" dirty="0">
                <a:solidFill>
                  <a:srgbClr val="7030A0"/>
                </a:solidFill>
              </a:rPr>
              <a:t>       Do work and make message passing calls... </a:t>
            </a:r>
          </a:p>
          <a:p>
            <a:pPr marL="0" indent="0">
              <a:buNone/>
            </a:pPr>
            <a:endParaRPr lang="en-US" dirty="0">
              <a:solidFill>
                <a:srgbClr val="FF0000"/>
              </a:solidFill>
            </a:endParaRPr>
          </a:p>
          <a:p>
            <a:pPr marL="0" indent="0">
              <a:buNone/>
            </a:pPr>
            <a:r>
              <a:rPr lang="en-US" dirty="0"/>
              <a:t>   /* Finalize */ </a:t>
            </a:r>
          </a:p>
          <a:p>
            <a:pPr marL="0" indent="0">
              <a:buNone/>
            </a:pPr>
            <a:r>
              <a:rPr lang="en-US" dirty="0">
                <a:solidFill>
                  <a:srgbClr val="FF0000"/>
                </a:solidFill>
              </a:rPr>
              <a:t>       </a:t>
            </a:r>
            <a:r>
              <a:rPr lang="en-US" dirty="0" err="1">
                <a:solidFill>
                  <a:srgbClr val="FF0000"/>
                </a:solidFill>
              </a:rPr>
              <a:t>MPI_Finalize</a:t>
            </a:r>
            <a:r>
              <a:rPr lang="en-US" dirty="0">
                <a:solidFill>
                  <a:srgbClr val="FF0000"/>
                </a:solidFill>
              </a:rPr>
              <a:t>(); </a:t>
            </a:r>
          </a:p>
          <a:p>
            <a:pPr marL="0" indent="0">
              <a:buNone/>
            </a:pPr>
            <a:r>
              <a:rPr lang="en-US" dirty="0"/>
              <a:t>   return 0; </a:t>
            </a:r>
          </a:p>
          <a:p>
            <a:pPr marL="0" indent="0">
              <a:buNone/>
            </a:pPr>
            <a:r>
              <a:rPr lang="en-US" dirty="0"/>
              <a:t>} </a:t>
            </a:r>
          </a:p>
          <a:p>
            <a:pPr marL="0" indent="0">
              <a:buNone/>
            </a:pPr>
            <a:endParaRPr lang="en-US" dirty="0"/>
          </a:p>
        </p:txBody>
      </p:sp>
      <p:grpSp>
        <p:nvGrpSpPr>
          <p:cNvPr id="10" name="Group 9">
            <a:extLst>
              <a:ext uri="{FF2B5EF4-FFF2-40B4-BE49-F238E27FC236}">
                <a16:creationId xmlns:a16="http://schemas.microsoft.com/office/drawing/2014/main" id="{B9D7FF18-E872-334C-BA76-D9240869D167}"/>
              </a:ext>
            </a:extLst>
          </p:cNvPr>
          <p:cNvGrpSpPr/>
          <p:nvPr/>
        </p:nvGrpSpPr>
        <p:grpSpPr>
          <a:xfrm>
            <a:off x="3067276" y="5520484"/>
            <a:ext cx="8168337" cy="1200329"/>
            <a:chOff x="3508899" y="744648"/>
            <a:chExt cx="8168337" cy="1200329"/>
          </a:xfrm>
        </p:grpSpPr>
        <p:sp>
          <p:nvSpPr>
            <p:cNvPr id="11" name="Rectangle 10">
              <a:extLst>
                <a:ext uri="{FF2B5EF4-FFF2-40B4-BE49-F238E27FC236}">
                  <a16:creationId xmlns:a16="http://schemas.microsoft.com/office/drawing/2014/main" id="{145CC574-4648-B448-9127-918126CA5431}"/>
                </a:ext>
              </a:extLst>
            </p:cNvPr>
            <p:cNvSpPr/>
            <p:nvPr/>
          </p:nvSpPr>
          <p:spPr>
            <a:xfrm>
              <a:off x="5909911" y="744648"/>
              <a:ext cx="5597277" cy="1200329"/>
            </a:xfrm>
            <a:prstGeom prst="rect">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2119254-BB49-734D-912D-7A8F0086AFA3}"/>
                </a:ext>
              </a:extLst>
            </p:cNvPr>
            <p:cNvGrpSpPr/>
            <p:nvPr/>
          </p:nvGrpSpPr>
          <p:grpSpPr>
            <a:xfrm>
              <a:off x="3508899" y="744648"/>
              <a:ext cx="8168337" cy="1200329"/>
              <a:chOff x="3508899" y="744648"/>
              <a:chExt cx="8168337" cy="1200329"/>
            </a:xfrm>
          </p:grpSpPr>
          <p:sp>
            <p:nvSpPr>
              <p:cNvPr id="13" name="TextBox 12">
                <a:extLst>
                  <a:ext uri="{FF2B5EF4-FFF2-40B4-BE49-F238E27FC236}">
                    <a16:creationId xmlns:a16="http://schemas.microsoft.com/office/drawing/2014/main" id="{62490DEE-21A3-E549-9AA6-565AD15BC554}"/>
                  </a:ext>
                </a:extLst>
              </p:cNvPr>
              <p:cNvSpPr txBox="1"/>
              <p:nvPr/>
            </p:nvSpPr>
            <p:spPr>
              <a:xfrm>
                <a:off x="5775158" y="744648"/>
                <a:ext cx="5902078" cy="1200329"/>
              </a:xfrm>
              <a:prstGeom prst="rect">
                <a:avLst/>
              </a:prstGeom>
              <a:noFill/>
              <a:ln w="19050">
                <a:noFill/>
              </a:ln>
            </p:spPr>
            <p:txBody>
              <a:bodyPr wrap="square" rtlCol="0" anchor="ctr" anchorCtr="1">
                <a:spAutoFit/>
              </a:bodyPr>
              <a:lstStyle/>
              <a:p>
                <a:pPr marL="285750" indent="-285750">
                  <a:buFont typeface="Arial" panose="020B0604020202020204" pitchFamily="34" charset="0"/>
                  <a:buChar char="•"/>
                </a:pPr>
                <a:r>
                  <a:rPr lang="en-US" sz="2400" dirty="0"/>
                  <a:t>Must be called at the end of the properly close all communication channels </a:t>
                </a:r>
              </a:p>
              <a:p>
                <a:pPr marL="285750" indent="-285750">
                  <a:buFont typeface="Arial" panose="020B0604020202020204" pitchFamily="34" charset="0"/>
                  <a:buChar char="•"/>
                </a:pPr>
                <a:r>
                  <a:rPr lang="en-US" sz="2400" dirty="0"/>
                  <a:t>No more MPI calls after finalize </a:t>
                </a:r>
              </a:p>
            </p:txBody>
          </p:sp>
          <p:sp>
            <p:nvSpPr>
              <p:cNvPr id="14" name="Left Arrow 13">
                <a:extLst>
                  <a:ext uri="{FF2B5EF4-FFF2-40B4-BE49-F238E27FC236}">
                    <a16:creationId xmlns:a16="http://schemas.microsoft.com/office/drawing/2014/main" id="{68F0DD24-387C-A547-A88D-204F163B0053}"/>
                  </a:ext>
                </a:extLst>
              </p:cNvPr>
              <p:cNvSpPr/>
              <p:nvPr/>
            </p:nvSpPr>
            <p:spPr>
              <a:xfrm>
                <a:off x="3508899" y="1148865"/>
                <a:ext cx="2389136" cy="280460"/>
              </a:xfrm>
              <a:prstGeom prst="leftArrow">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688F6F-6B2F-6840-BAF1-44D84B253A9C}"/>
                  </a:ext>
                </a:extLst>
              </p:cNvPr>
              <p:cNvSpPr/>
              <p:nvPr/>
            </p:nvSpPr>
            <p:spPr>
              <a:xfrm>
                <a:off x="5775158" y="1233377"/>
                <a:ext cx="202130" cy="11143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0338221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D3295-7082-5849-93A3-DD96A8D407A7}"/>
              </a:ext>
            </a:extLst>
          </p:cNvPr>
          <p:cNvSpPr>
            <a:spLocks noGrp="1"/>
          </p:cNvSpPr>
          <p:nvPr>
            <p:ph type="title"/>
          </p:nvPr>
        </p:nvSpPr>
        <p:spPr>
          <a:xfrm>
            <a:off x="838200" y="0"/>
            <a:ext cx="10515600" cy="1325563"/>
          </a:xfrm>
        </p:spPr>
        <p:txBody>
          <a:bodyPr/>
          <a:lstStyle/>
          <a:p>
            <a:r>
              <a:rPr lang="en-US" dirty="0"/>
              <a:t>Point-to-point communication</a:t>
            </a:r>
          </a:p>
        </p:txBody>
      </p:sp>
      <p:sp>
        <p:nvSpPr>
          <p:cNvPr id="3" name="Content Placeholder 2">
            <a:extLst>
              <a:ext uri="{FF2B5EF4-FFF2-40B4-BE49-F238E27FC236}">
                <a16:creationId xmlns:a16="http://schemas.microsoft.com/office/drawing/2014/main" id="{11A720D1-C4D1-324E-BD79-67118F1DF474}"/>
              </a:ext>
            </a:extLst>
          </p:cNvPr>
          <p:cNvSpPr>
            <a:spLocks noGrp="1"/>
          </p:cNvSpPr>
          <p:nvPr>
            <p:ph idx="1"/>
          </p:nvPr>
        </p:nvSpPr>
        <p:spPr>
          <a:xfrm>
            <a:off x="838200" y="1335640"/>
            <a:ext cx="10515600" cy="5522360"/>
          </a:xfrm>
        </p:spPr>
        <p:txBody>
          <a:bodyPr>
            <a:normAutofit/>
          </a:bodyPr>
          <a:lstStyle/>
          <a:p>
            <a:r>
              <a:rPr lang="en-US" dirty="0"/>
              <a:t>communication between pairs of processes at a time.</a:t>
            </a:r>
          </a:p>
          <a:p>
            <a:pPr marL="0" indent="0">
              <a:buNone/>
            </a:pPr>
            <a:r>
              <a:rPr lang="en-US" dirty="0">
                <a:solidFill>
                  <a:srgbClr val="FF0000"/>
                </a:solidFill>
              </a:rPr>
              <a:t>   </a:t>
            </a:r>
            <a:r>
              <a:rPr lang="en-US" dirty="0" err="1">
                <a:solidFill>
                  <a:srgbClr val="FF0000"/>
                </a:solidFill>
              </a:rPr>
              <a:t>MPI_Send</a:t>
            </a:r>
            <a:r>
              <a:rPr lang="en-US" dirty="0">
                <a:solidFill>
                  <a:srgbClr val="FF0000"/>
                </a:solidFill>
              </a:rPr>
              <a:t>(</a:t>
            </a:r>
            <a:r>
              <a:rPr lang="en-US" dirty="0" err="1">
                <a:solidFill>
                  <a:srgbClr val="FF0000"/>
                </a:solidFill>
              </a:rPr>
              <a:t>buf</a:t>
            </a:r>
            <a:r>
              <a:rPr lang="en-US" dirty="0">
                <a:solidFill>
                  <a:srgbClr val="FF0000"/>
                </a:solidFill>
              </a:rPr>
              <a:t>, count, datatype, #</a:t>
            </a:r>
            <a:r>
              <a:rPr lang="en-US" dirty="0" err="1">
                <a:solidFill>
                  <a:srgbClr val="FF0000"/>
                </a:solidFill>
              </a:rPr>
              <a:t>dest</a:t>
            </a:r>
            <a:r>
              <a:rPr lang="en-US" dirty="0">
                <a:solidFill>
                  <a:srgbClr val="FF0000"/>
                </a:solidFill>
              </a:rPr>
              <a:t>, tag, </a:t>
            </a:r>
            <a:r>
              <a:rPr lang="en-US" dirty="0" err="1">
                <a:solidFill>
                  <a:srgbClr val="FF0000"/>
                </a:solidFill>
              </a:rPr>
              <a:t>comm</a:t>
            </a:r>
            <a:r>
              <a:rPr lang="en-US" dirty="0">
                <a:solidFill>
                  <a:srgbClr val="FF0000"/>
                </a:solidFill>
              </a:rPr>
              <a:t>, </a:t>
            </a:r>
            <a:r>
              <a:rPr lang="en-US" dirty="0" err="1">
                <a:solidFill>
                  <a:srgbClr val="FF0000"/>
                </a:solidFill>
              </a:rPr>
              <a:t>ierr</a:t>
            </a:r>
            <a:r>
              <a:rPr lang="en-US" dirty="0">
                <a:solidFill>
                  <a:srgbClr val="FF0000"/>
                </a:solidFill>
              </a:rPr>
              <a:t>)</a:t>
            </a:r>
          </a:p>
          <a:p>
            <a:pPr marL="0" indent="0">
              <a:buNone/>
            </a:pPr>
            <a:r>
              <a:rPr lang="en-US" dirty="0">
                <a:solidFill>
                  <a:srgbClr val="FF0000"/>
                </a:solidFill>
              </a:rPr>
              <a:t>   </a:t>
            </a:r>
            <a:r>
              <a:rPr lang="en-US" dirty="0" err="1">
                <a:solidFill>
                  <a:srgbClr val="FF0000"/>
                </a:solidFill>
              </a:rPr>
              <a:t>MPI_Recv</a:t>
            </a:r>
            <a:r>
              <a:rPr lang="en-US" dirty="0">
                <a:solidFill>
                  <a:srgbClr val="FF0000"/>
                </a:solidFill>
              </a:rPr>
              <a:t>(</a:t>
            </a:r>
            <a:r>
              <a:rPr lang="en-US" dirty="0" err="1">
                <a:solidFill>
                  <a:srgbClr val="FF0000"/>
                </a:solidFill>
              </a:rPr>
              <a:t>buf</a:t>
            </a:r>
            <a:r>
              <a:rPr lang="en-US" dirty="0">
                <a:solidFill>
                  <a:srgbClr val="FF0000"/>
                </a:solidFill>
              </a:rPr>
              <a:t>, count, datatype, #source, tag, </a:t>
            </a:r>
            <a:r>
              <a:rPr lang="en-US" dirty="0" err="1">
                <a:solidFill>
                  <a:srgbClr val="FF0000"/>
                </a:solidFill>
              </a:rPr>
              <a:t>comm</a:t>
            </a:r>
            <a:r>
              <a:rPr lang="en-US" dirty="0">
                <a:solidFill>
                  <a:srgbClr val="FF0000"/>
                </a:solidFill>
              </a:rPr>
              <a:t>, status, </a:t>
            </a:r>
            <a:r>
              <a:rPr lang="en-US" dirty="0" err="1">
                <a:solidFill>
                  <a:srgbClr val="FF0000"/>
                </a:solidFill>
              </a:rPr>
              <a:t>ierr</a:t>
            </a:r>
            <a:r>
              <a:rPr lang="en-US" dirty="0">
                <a:solidFill>
                  <a:srgbClr val="FF0000"/>
                </a:solidFill>
              </a:rPr>
              <a:t>) </a:t>
            </a:r>
          </a:p>
          <a:p>
            <a:pPr marL="0" indent="0">
              <a:buNone/>
            </a:pPr>
            <a:endParaRPr lang="en-US" dirty="0">
              <a:solidFill>
                <a:srgbClr val="FF0000"/>
              </a:solidFill>
            </a:endParaRPr>
          </a:p>
          <a:p>
            <a:pPr marL="0" indent="0">
              <a:spcBef>
                <a:spcPts val="0"/>
              </a:spcBef>
              <a:buNone/>
            </a:pPr>
            <a:r>
              <a:rPr lang="en-US" dirty="0">
                <a:solidFill>
                  <a:srgbClr val="00B050"/>
                </a:solidFill>
              </a:rPr>
              <a:t>   </a:t>
            </a:r>
            <a:r>
              <a:rPr lang="en-US" dirty="0" err="1">
                <a:solidFill>
                  <a:srgbClr val="00B050"/>
                </a:solidFill>
              </a:rPr>
              <a:t>MPI_Sendrecv</a:t>
            </a:r>
            <a:r>
              <a:rPr lang="en-US" dirty="0">
                <a:solidFill>
                  <a:srgbClr val="00B050"/>
                </a:solidFill>
              </a:rPr>
              <a:t>(</a:t>
            </a:r>
            <a:r>
              <a:rPr lang="en-US" dirty="0" err="1">
                <a:solidFill>
                  <a:srgbClr val="00B050"/>
                </a:solidFill>
              </a:rPr>
              <a:t>sendbuf,sendcount,sendtype,dest,sendtag</a:t>
            </a:r>
            <a:r>
              <a:rPr lang="en-US" dirty="0">
                <a:solidFill>
                  <a:srgbClr val="00B050"/>
                </a:solidFill>
              </a:rPr>
              <a:t>,   </a:t>
            </a:r>
          </a:p>
          <a:p>
            <a:pPr marL="0" indent="0">
              <a:spcBef>
                <a:spcPts val="0"/>
              </a:spcBef>
              <a:buNone/>
            </a:pPr>
            <a:r>
              <a:rPr lang="en-US" dirty="0">
                <a:solidFill>
                  <a:srgbClr val="00B050"/>
                </a:solidFill>
              </a:rPr>
              <a:t>            </a:t>
            </a:r>
            <a:r>
              <a:rPr lang="en-US" dirty="0" err="1">
                <a:solidFill>
                  <a:srgbClr val="00B050"/>
                </a:solidFill>
              </a:rPr>
              <a:t>recvbuf,recvcount,recvtype,source,recvtag,comm,status,ierr</a:t>
            </a:r>
            <a:r>
              <a:rPr lang="en-US" dirty="0">
                <a:solidFill>
                  <a:srgbClr val="00B050"/>
                </a:solidFill>
              </a:rPr>
              <a:t>) </a:t>
            </a:r>
          </a:p>
          <a:p>
            <a:pPr marL="0" indent="0">
              <a:buNone/>
            </a:pPr>
            <a:endParaRPr lang="en-US" dirty="0">
              <a:solidFill>
                <a:srgbClr val="0070C0"/>
              </a:solidFill>
            </a:endParaRPr>
          </a:p>
          <a:p>
            <a:r>
              <a:rPr lang="en-US" dirty="0"/>
              <a:t>data types:</a:t>
            </a:r>
          </a:p>
          <a:p>
            <a:pPr marL="0" indent="0">
              <a:buNone/>
            </a:pPr>
            <a:r>
              <a:rPr lang="en-US" dirty="0">
                <a:solidFill>
                  <a:srgbClr val="0070C0"/>
                </a:solidFill>
              </a:rPr>
              <a:t>   MPI_INT, MPI_LONG, MPI_SHORT, MPI_FLOAT, MPI_DOUBLE, etc... </a:t>
            </a:r>
          </a:p>
          <a:p>
            <a:r>
              <a:rPr lang="en-US" dirty="0"/>
              <a:t>Predefined Communicator: </a:t>
            </a:r>
          </a:p>
          <a:p>
            <a:pPr marL="0" indent="0">
              <a:buNone/>
            </a:pPr>
            <a:r>
              <a:rPr lang="en-US" dirty="0">
                <a:solidFill>
                  <a:srgbClr val="0070C0"/>
                </a:solidFill>
              </a:rPr>
              <a:t>   MPI_COMM_WORLD </a:t>
            </a:r>
          </a:p>
          <a:p>
            <a:endParaRPr lang="en-US" dirty="0"/>
          </a:p>
          <a:p>
            <a:endParaRPr lang="en-US" dirty="0"/>
          </a:p>
        </p:txBody>
      </p:sp>
    </p:spTree>
    <p:extLst>
      <p:ext uri="{BB962C8B-B14F-4D97-AF65-F5344CB8AC3E}">
        <p14:creationId xmlns:p14="http://schemas.microsoft.com/office/powerpoint/2010/main" val="36800969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04AA-0B58-3644-892F-1FF8EBD30AA7}"/>
              </a:ext>
            </a:extLst>
          </p:cNvPr>
          <p:cNvSpPr>
            <a:spLocks noGrp="1"/>
          </p:cNvSpPr>
          <p:nvPr>
            <p:ph type="title"/>
          </p:nvPr>
        </p:nvSpPr>
        <p:spPr/>
        <p:txBody>
          <a:bodyPr/>
          <a:lstStyle/>
          <a:p>
            <a:r>
              <a:rPr lang="en-US" dirty="0">
                <a:solidFill>
                  <a:srgbClr val="FF0000"/>
                </a:solidFill>
              </a:rPr>
              <a:t>Exercise – hello MPI world</a:t>
            </a:r>
          </a:p>
        </p:txBody>
      </p:sp>
      <p:sp>
        <p:nvSpPr>
          <p:cNvPr id="3" name="Content Placeholder 2">
            <a:extLst>
              <a:ext uri="{FF2B5EF4-FFF2-40B4-BE49-F238E27FC236}">
                <a16:creationId xmlns:a16="http://schemas.microsoft.com/office/drawing/2014/main" id="{90A7CA19-56F3-F245-8BF4-40B8FBD5B0A3}"/>
              </a:ext>
            </a:extLst>
          </p:cNvPr>
          <p:cNvSpPr>
            <a:spLocks noGrp="1"/>
          </p:cNvSpPr>
          <p:nvPr>
            <p:ph idx="1"/>
          </p:nvPr>
        </p:nvSpPr>
        <p:spPr/>
        <p:txBody>
          <a:bodyPr/>
          <a:lstStyle/>
          <a:p>
            <a:r>
              <a:rPr lang="en-US" dirty="0">
                <a:solidFill>
                  <a:srgbClr val="FF0000"/>
                </a:solidFill>
              </a:rPr>
              <a:t>Complete the code given in </a:t>
            </a:r>
          </a:p>
          <a:p>
            <a:pPr marL="0" indent="0">
              <a:buNone/>
            </a:pPr>
            <a:r>
              <a:rPr lang="en-US" dirty="0"/>
              <a:t> </a:t>
            </a:r>
            <a:r>
              <a:rPr lang="en-US" sz="2400" dirty="0">
                <a:hlinkClick r:id="rId2"/>
              </a:rPr>
              <a:t>https://www.codingame.com/playgrounds/349/introduction-to-mpi/hello-world</a:t>
            </a:r>
            <a:endParaRPr lang="en-US" sz="2400" dirty="0"/>
          </a:p>
          <a:p>
            <a:pPr marL="0" indent="0">
              <a:buNone/>
            </a:pPr>
            <a:r>
              <a:rPr lang="en-US" sz="2400" dirty="0">
                <a:solidFill>
                  <a:srgbClr val="FF0000"/>
                </a:solidFill>
              </a:rPr>
              <a:t>   </a:t>
            </a:r>
            <a:r>
              <a:rPr lang="en-US" dirty="0">
                <a:solidFill>
                  <a:srgbClr val="FF0000"/>
                </a:solidFill>
              </a:rPr>
              <a:t>run it so see what you get. </a:t>
            </a:r>
            <a:endParaRPr lang="en-US" sz="2000" dirty="0">
              <a:solidFill>
                <a:srgbClr val="FF0000"/>
              </a:solidFill>
            </a:endParaRPr>
          </a:p>
        </p:txBody>
      </p:sp>
    </p:spTree>
    <p:extLst>
      <p:ext uri="{BB962C8B-B14F-4D97-AF65-F5344CB8AC3E}">
        <p14:creationId xmlns:p14="http://schemas.microsoft.com/office/powerpoint/2010/main" val="6640244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1D2B1C-CA8F-2146-8F3E-49F1381E9082}"/>
              </a:ext>
            </a:extLst>
          </p:cNvPr>
          <p:cNvPicPr>
            <a:picLocks noChangeAspect="1"/>
          </p:cNvPicPr>
          <p:nvPr/>
        </p:nvPicPr>
        <p:blipFill rotWithShape="1">
          <a:blip r:embed="rId3"/>
          <a:srcRect r="1061"/>
          <a:stretch/>
        </p:blipFill>
        <p:spPr>
          <a:xfrm>
            <a:off x="0" y="1"/>
            <a:ext cx="9488557" cy="6858000"/>
          </a:xfrm>
          <a:prstGeom prst="rect">
            <a:avLst/>
          </a:prstGeom>
        </p:spPr>
      </p:pic>
      <p:sp>
        <p:nvSpPr>
          <p:cNvPr id="2" name="TextBox 1">
            <a:extLst>
              <a:ext uri="{FF2B5EF4-FFF2-40B4-BE49-F238E27FC236}">
                <a16:creationId xmlns:a16="http://schemas.microsoft.com/office/drawing/2014/main" id="{41D95C84-F554-8D47-9B8A-92DB8BFDC03A}"/>
              </a:ext>
            </a:extLst>
          </p:cNvPr>
          <p:cNvSpPr txBox="1"/>
          <p:nvPr/>
        </p:nvSpPr>
        <p:spPr>
          <a:xfrm>
            <a:off x="4000500" y="0"/>
            <a:ext cx="4719049" cy="523220"/>
          </a:xfrm>
          <a:prstGeom prst="rect">
            <a:avLst/>
          </a:prstGeom>
          <a:noFill/>
          <a:ln>
            <a:solidFill>
              <a:srgbClr val="FF0000"/>
            </a:solidFill>
          </a:ln>
        </p:spPr>
        <p:txBody>
          <a:bodyPr wrap="none" rtlCol="0">
            <a:spAutoFit/>
          </a:bodyPr>
          <a:lstStyle/>
          <a:p>
            <a:r>
              <a:rPr lang="en-US" sz="2800" dirty="0">
                <a:solidFill>
                  <a:srgbClr val="FF0000"/>
                </a:solidFill>
              </a:rPr>
              <a:t>Example: hello world from root</a:t>
            </a:r>
          </a:p>
        </p:txBody>
      </p:sp>
    </p:spTree>
    <p:extLst>
      <p:ext uri="{BB962C8B-B14F-4D97-AF65-F5344CB8AC3E}">
        <p14:creationId xmlns:p14="http://schemas.microsoft.com/office/powerpoint/2010/main" val="26828177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9D913-CED2-6B41-BBCD-63F66D79A5A0}"/>
              </a:ext>
            </a:extLst>
          </p:cNvPr>
          <p:cNvSpPr>
            <a:spLocks noGrp="1"/>
          </p:cNvSpPr>
          <p:nvPr>
            <p:ph type="title"/>
          </p:nvPr>
        </p:nvSpPr>
        <p:spPr>
          <a:xfrm>
            <a:off x="838200" y="0"/>
            <a:ext cx="10515600" cy="1325563"/>
          </a:xfrm>
        </p:spPr>
        <p:txBody>
          <a:bodyPr/>
          <a:lstStyle/>
          <a:p>
            <a:endParaRPr lang="en-US" dirty="0"/>
          </a:p>
        </p:txBody>
      </p:sp>
      <p:pic>
        <p:nvPicPr>
          <p:cNvPr id="8" name="Picture 7">
            <a:extLst>
              <a:ext uri="{FF2B5EF4-FFF2-40B4-BE49-F238E27FC236}">
                <a16:creationId xmlns:a16="http://schemas.microsoft.com/office/drawing/2014/main" id="{7E1D2B1C-CA8F-2146-8F3E-49F1381E9082}"/>
              </a:ext>
            </a:extLst>
          </p:cNvPr>
          <p:cNvPicPr>
            <a:picLocks noChangeAspect="1"/>
          </p:cNvPicPr>
          <p:nvPr/>
        </p:nvPicPr>
        <p:blipFill rotWithShape="1">
          <a:blip r:embed="rId3"/>
          <a:srcRect r="1061"/>
          <a:stretch/>
        </p:blipFill>
        <p:spPr>
          <a:xfrm>
            <a:off x="0" y="1"/>
            <a:ext cx="9488557" cy="6858000"/>
          </a:xfrm>
          <a:prstGeom prst="rect">
            <a:avLst/>
          </a:prstGeom>
        </p:spPr>
      </p:pic>
      <p:pic>
        <p:nvPicPr>
          <p:cNvPr id="11" name="Picture 10">
            <a:extLst>
              <a:ext uri="{FF2B5EF4-FFF2-40B4-BE49-F238E27FC236}">
                <a16:creationId xmlns:a16="http://schemas.microsoft.com/office/drawing/2014/main" id="{801FC988-58C3-224D-8AFF-F6F9FAE2254B}"/>
              </a:ext>
            </a:extLst>
          </p:cNvPr>
          <p:cNvPicPr>
            <a:picLocks noChangeAspect="1"/>
          </p:cNvPicPr>
          <p:nvPr/>
        </p:nvPicPr>
        <p:blipFill>
          <a:blip r:embed="rId4"/>
          <a:stretch>
            <a:fillRect/>
          </a:stretch>
        </p:blipFill>
        <p:spPr>
          <a:xfrm>
            <a:off x="6832738" y="838200"/>
            <a:ext cx="5311637" cy="2107096"/>
          </a:xfrm>
          <a:prstGeom prst="rect">
            <a:avLst/>
          </a:prstGeom>
          <a:ln w="19050">
            <a:solidFill>
              <a:schemeClr val="tx1"/>
            </a:solidFill>
          </a:ln>
        </p:spPr>
      </p:pic>
      <p:sp>
        <p:nvSpPr>
          <p:cNvPr id="5" name="TextBox 4">
            <a:extLst>
              <a:ext uri="{FF2B5EF4-FFF2-40B4-BE49-F238E27FC236}">
                <a16:creationId xmlns:a16="http://schemas.microsoft.com/office/drawing/2014/main" id="{881A2CC5-A861-9D47-A78D-DD558ADEA418}"/>
              </a:ext>
            </a:extLst>
          </p:cNvPr>
          <p:cNvSpPr txBox="1"/>
          <p:nvPr/>
        </p:nvSpPr>
        <p:spPr>
          <a:xfrm>
            <a:off x="4000500" y="0"/>
            <a:ext cx="4719049" cy="523220"/>
          </a:xfrm>
          <a:prstGeom prst="rect">
            <a:avLst/>
          </a:prstGeom>
          <a:noFill/>
          <a:ln>
            <a:solidFill>
              <a:srgbClr val="FF0000"/>
            </a:solidFill>
          </a:ln>
        </p:spPr>
        <p:txBody>
          <a:bodyPr wrap="none" rtlCol="0">
            <a:spAutoFit/>
          </a:bodyPr>
          <a:lstStyle/>
          <a:p>
            <a:r>
              <a:rPr lang="en-US" sz="2800" dirty="0">
                <a:solidFill>
                  <a:srgbClr val="FF0000"/>
                </a:solidFill>
              </a:rPr>
              <a:t>Example: hello world from root</a:t>
            </a:r>
          </a:p>
        </p:txBody>
      </p:sp>
    </p:spTree>
    <p:extLst>
      <p:ext uri="{BB962C8B-B14F-4D97-AF65-F5344CB8AC3E}">
        <p14:creationId xmlns:p14="http://schemas.microsoft.com/office/powerpoint/2010/main" val="5984285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826C9-29AA-4140-B0FD-2BD1D27F56C5}"/>
              </a:ext>
            </a:extLst>
          </p:cNvPr>
          <p:cNvSpPr>
            <a:spLocks noGrp="1"/>
          </p:cNvSpPr>
          <p:nvPr>
            <p:ph type="title"/>
          </p:nvPr>
        </p:nvSpPr>
        <p:spPr>
          <a:xfrm>
            <a:off x="838200" y="0"/>
            <a:ext cx="10515600" cy="1325563"/>
          </a:xfrm>
        </p:spPr>
        <p:txBody>
          <a:bodyPr/>
          <a:lstStyle/>
          <a:p>
            <a:r>
              <a:rPr lang="en-US" dirty="0"/>
              <a:t>Collective communication: Broadcast</a:t>
            </a:r>
          </a:p>
        </p:txBody>
      </p:sp>
      <p:pic>
        <p:nvPicPr>
          <p:cNvPr id="6" name="Picture 5">
            <a:extLst>
              <a:ext uri="{FF2B5EF4-FFF2-40B4-BE49-F238E27FC236}">
                <a16:creationId xmlns:a16="http://schemas.microsoft.com/office/drawing/2014/main" id="{280397CD-B483-7C4B-80D2-C07C37BFC046}"/>
              </a:ext>
            </a:extLst>
          </p:cNvPr>
          <p:cNvPicPr>
            <a:picLocks noChangeAspect="1"/>
          </p:cNvPicPr>
          <p:nvPr/>
        </p:nvPicPr>
        <p:blipFill>
          <a:blip r:embed="rId3"/>
          <a:stretch>
            <a:fillRect/>
          </a:stretch>
        </p:blipFill>
        <p:spPr>
          <a:xfrm>
            <a:off x="0" y="1254080"/>
            <a:ext cx="12192000" cy="5603920"/>
          </a:xfrm>
          <a:prstGeom prst="rect">
            <a:avLst/>
          </a:prstGeom>
        </p:spPr>
      </p:pic>
    </p:spTree>
    <p:extLst>
      <p:ext uri="{BB962C8B-B14F-4D97-AF65-F5344CB8AC3E}">
        <p14:creationId xmlns:p14="http://schemas.microsoft.com/office/powerpoint/2010/main" val="189277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94A4A4-2BF9-BC42-8A07-4ACE6119737E}"/>
              </a:ext>
            </a:extLst>
          </p:cNvPr>
          <p:cNvSpPr/>
          <p:nvPr/>
        </p:nvSpPr>
        <p:spPr>
          <a:xfrm>
            <a:off x="0" y="0"/>
            <a:ext cx="8812696" cy="6735177"/>
          </a:xfrm>
          <a:prstGeom prst="rect">
            <a:avLst/>
          </a:prstGeom>
          <a:solidFill>
            <a:schemeClr val="bg1"/>
          </a:solidFill>
        </p:spPr>
        <p:txBody>
          <a:bodyPr wrap="square">
            <a:spAutoFit/>
          </a:bodyPr>
          <a:lstStyle/>
          <a:p>
            <a:pPr>
              <a:spcBef>
                <a:spcPts val="400"/>
              </a:spcBef>
            </a:pPr>
            <a:r>
              <a:rPr lang="en-US" sz="2000" dirty="0">
                <a:latin typeface="inherit"/>
              </a:rPr>
              <a:t>#include &lt;</a:t>
            </a:r>
            <a:r>
              <a:rPr lang="en-US" sz="2000" dirty="0" err="1">
                <a:latin typeface="inherit"/>
              </a:rPr>
              <a:t>mpi.h</a:t>
            </a:r>
            <a:r>
              <a:rPr lang="en-US" sz="2000" dirty="0">
                <a:latin typeface="inherit"/>
              </a:rPr>
              <a:t>&gt;</a:t>
            </a:r>
            <a:r>
              <a:rPr lang="en-US" sz="2000" dirty="0"/>
              <a:t> </a:t>
            </a:r>
          </a:p>
          <a:p>
            <a:pPr>
              <a:spcBef>
                <a:spcPts val="400"/>
              </a:spcBef>
            </a:pPr>
            <a:r>
              <a:rPr lang="en-US" sz="2000" dirty="0">
                <a:latin typeface="inherit"/>
              </a:rPr>
              <a:t>#include &lt;</a:t>
            </a:r>
            <a:r>
              <a:rPr lang="en-US" sz="2000" dirty="0" err="1">
                <a:latin typeface="inherit"/>
              </a:rPr>
              <a:t>stdio.h</a:t>
            </a:r>
            <a:r>
              <a:rPr lang="en-US" sz="2000" dirty="0">
                <a:latin typeface="inherit"/>
              </a:rPr>
              <a:t>&gt;</a:t>
            </a:r>
            <a:r>
              <a:rPr lang="en-US" sz="2000" dirty="0"/>
              <a:t> </a:t>
            </a:r>
          </a:p>
          <a:p>
            <a:pPr>
              <a:spcBef>
                <a:spcPts val="400"/>
              </a:spcBef>
            </a:pPr>
            <a:r>
              <a:rPr lang="en-US" sz="2000" dirty="0" err="1">
                <a:latin typeface="inherit"/>
              </a:rPr>
              <a:t>int</a:t>
            </a:r>
            <a:r>
              <a:rPr lang="en-US" sz="2000" dirty="0"/>
              <a:t> </a:t>
            </a:r>
            <a:r>
              <a:rPr lang="en-US" sz="2000" dirty="0">
                <a:latin typeface="inherit"/>
              </a:rPr>
              <a:t>main(</a:t>
            </a:r>
            <a:r>
              <a:rPr lang="en-US" sz="2000" dirty="0" err="1">
                <a:latin typeface="inherit"/>
              </a:rPr>
              <a:t>int</a:t>
            </a:r>
            <a:r>
              <a:rPr lang="en-US" sz="2000" dirty="0">
                <a:latin typeface="inherit"/>
              </a:rPr>
              <a:t> </a:t>
            </a:r>
            <a:r>
              <a:rPr lang="en-US" sz="2000" dirty="0" err="1">
                <a:latin typeface="inherit"/>
              </a:rPr>
              <a:t>argc</a:t>
            </a:r>
            <a:r>
              <a:rPr lang="en-US" sz="2000" dirty="0">
                <a:latin typeface="inherit"/>
              </a:rPr>
              <a:t>, char** </a:t>
            </a:r>
            <a:r>
              <a:rPr lang="en-US" sz="2000" dirty="0" err="1">
                <a:latin typeface="inherit"/>
              </a:rPr>
              <a:t>argv</a:t>
            </a:r>
            <a:r>
              <a:rPr lang="en-US" sz="2000" dirty="0">
                <a:latin typeface="inherit"/>
              </a:rPr>
              <a:t>)</a:t>
            </a:r>
            <a:r>
              <a:rPr lang="en-US" sz="2000" dirty="0"/>
              <a:t> </a:t>
            </a:r>
          </a:p>
          <a:p>
            <a:pPr>
              <a:spcBef>
                <a:spcPts val="400"/>
              </a:spcBef>
            </a:pPr>
            <a:r>
              <a:rPr lang="en-US" sz="2000" dirty="0"/>
              <a:t>{ </a:t>
            </a:r>
          </a:p>
          <a:p>
            <a:pPr>
              <a:spcBef>
                <a:spcPts val="400"/>
              </a:spcBef>
            </a:pPr>
            <a:r>
              <a:rPr lang="en-US" sz="2000" dirty="0">
                <a:latin typeface="inherit"/>
              </a:rPr>
              <a:t>    </a:t>
            </a:r>
            <a:r>
              <a:rPr lang="en-US" sz="2000" dirty="0" err="1">
                <a:latin typeface="inherit"/>
              </a:rPr>
              <a:t>int</a:t>
            </a:r>
            <a:r>
              <a:rPr lang="en-US" sz="2000" dirty="0"/>
              <a:t> rank, </a:t>
            </a:r>
            <a:r>
              <a:rPr lang="en-US" sz="2000" dirty="0" err="1"/>
              <a:t>buf</a:t>
            </a:r>
            <a:r>
              <a:rPr lang="en-US" sz="2000" dirty="0"/>
              <a:t>=0;</a:t>
            </a:r>
          </a:p>
          <a:p>
            <a:pPr>
              <a:spcBef>
                <a:spcPts val="400"/>
              </a:spcBef>
            </a:pPr>
            <a:r>
              <a:rPr lang="en-US" sz="2000" dirty="0"/>
              <a:t>     </a:t>
            </a:r>
            <a:r>
              <a:rPr lang="en-US" sz="2000" dirty="0" err="1">
                <a:latin typeface="inherit"/>
              </a:rPr>
              <a:t>const</a:t>
            </a:r>
            <a:r>
              <a:rPr lang="en-US" sz="2000" dirty="0"/>
              <a:t> </a:t>
            </a:r>
            <a:r>
              <a:rPr lang="en-US" sz="2000" dirty="0" err="1">
                <a:latin typeface="inherit"/>
              </a:rPr>
              <a:t>int</a:t>
            </a:r>
            <a:r>
              <a:rPr lang="en-US" sz="2000" dirty="0"/>
              <a:t> root=</a:t>
            </a:r>
            <a:r>
              <a:rPr lang="en-US" sz="2000" dirty="0">
                <a:latin typeface="inherit"/>
              </a:rPr>
              <a:t>0</a:t>
            </a:r>
            <a:r>
              <a:rPr lang="en-US" sz="2000" dirty="0"/>
              <a:t>; </a:t>
            </a:r>
          </a:p>
          <a:p>
            <a:pPr>
              <a:spcBef>
                <a:spcPts val="400"/>
              </a:spcBef>
            </a:pPr>
            <a:r>
              <a:rPr lang="en-US" sz="2000" dirty="0"/>
              <a:t>     </a:t>
            </a:r>
            <a:r>
              <a:rPr lang="en-US" sz="2000" dirty="0" err="1">
                <a:solidFill>
                  <a:srgbClr val="FF0000"/>
                </a:solidFill>
              </a:rPr>
              <a:t>MPI_Init</a:t>
            </a:r>
            <a:r>
              <a:rPr lang="en-US" sz="2000" dirty="0">
                <a:solidFill>
                  <a:srgbClr val="FF0000"/>
                </a:solidFill>
              </a:rPr>
              <a:t>(&amp;</a:t>
            </a:r>
            <a:r>
              <a:rPr lang="en-US" sz="2000" dirty="0" err="1">
                <a:solidFill>
                  <a:srgbClr val="FF0000"/>
                </a:solidFill>
              </a:rPr>
              <a:t>argc</a:t>
            </a:r>
            <a:r>
              <a:rPr lang="en-US" sz="2000" dirty="0">
                <a:solidFill>
                  <a:srgbClr val="FF0000"/>
                </a:solidFill>
              </a:rPr>
              <a:t>, &amp;</a:t>
            </a:r>
            <a:r>
              <a:rPr lang="en-US" sz="2000" dirty="0" err="1">
                <a:solidFill>
                  <a:srgbClr val="FF0000"/>
                </a:solidFill>
              </a:rPr>
              <a:t>argv</a:t>
            </a:r>
            <a:r>
              <a:rPr lang="en-US" sz="2000" dirty="0">
                <a:solidFill>
                  <a:srgbClr val="FF0000"/>
                </a:solidFill>
              </a:rPr>
              <a:t>); </a:t>
            </a:r>
          </a:p>
          <a:p>
            <a:pPr>
              <a:spcBef>
                <a:spcPts val="400"/>
              </a:spcBef>
            </a:pPr>
            <a:r>
              <a:rPr lang="en-US" sz="2000" dirty="0"/>
              <a:t>     </a:t>
            </a:r>
            <a:r>
              <a:rPr lang="en-US" sz="2000" dirty="0" err="1">
                <a:solidFill>
                  <a:srgbClr val="FF0000"/>
                </a:solidFill>
              </a:rPr>
              <a:t>MPI_Comm_rank</a:t>
            </a:r>
            <a:r>
              <a:rPr lang="en-US" sz="2000" dirty="0">
                <a:solidFill>
                  <a:srgbClr val="FF0000"/>
                </a:solidFill>
              </a:rPr>
              <a:t>(MPI_COMM_WORLD, &amp;rank); </a:t>
            </a:r>
          </a:p>
          <a:p>
            <a:pPr>
              <a:spcBef>
                <a:spcPts val="1000"/>
              </a:spcBef>
            </a:pPr>
            <a:r>
              <a:rPr lang="en-US" sz="2000" dirty="0">
                <a:latin typeface="inherit"/>
              </a:rPr>
              <a:t>    if</a:t>
            </a:r>
            <a:r>
              <a:rPr lang="en-US" sz="2000" dirty="0"/>
              <a:t>(rank == root) { </a:t>
            </a:r>
          </a:p>
          <a:p>
            <a:pPr>
              <a:spcBef>
                <a:spcPts val="400"/>
              </a:spcBef>
            </a:pPr>
            <a:r>
              <a:rPr lang="en-US" sz="2000" dirty="0"/>
              <a:t>       </a:t>
            </a:r>
            <a:r>
              <a:rPr lang="en-US" sz="2000" dirty="0" err="1"/>
              <a:t>buf</a:t>
            </a:r>
            <a:r>
              <a:rPr lang="en-US" sz="2000" dirty="0"/>
              <a:t> = </a:t>
            </a:r>
            <a:r>
              <a:rPr lang="en-US" sz="2000" dirty="0">
                <a:latin typeface="inherit"/>
              </a:rPr>
              <a:t>777</a:t>
            </a:r>
            <a:r>
              <a:rPr lang="en-US" sz="2000" dirty="0"/>
              <a:t>; </a:t>
            </a:r>
          </a:p>
          <a:p>
            <a:pPr>
              <a:spcBef>
                <a:spcPts val="400"/>
              </a:spcBef>
            </a:pPr>
            <a:r>
              <a:rPr lang="en-US" sz="2000" dirty="0"/>
              <a:t>    } </a:t>
            </a:r>
          </a:p>
          <a:p>
            <a:pPr>
              <a:spcBef>
                <a:spcPts val="400"/>
              </a:spcBef>
            </a:pPr>
            <a:r>
              <a:rPr lang="en-US" sz="2000" dirty="0">
                <a:latin typeface="inherit"/>
              </a:rPr>
              <a:t>    </a:t>
            </a:r>
            <a:r>
              <a:rPr lang="en-US" sz="2000" dirty="0" err="1">
                <a:latin typeface="inherit"/>
              </a:rPr>
              <a:t>printf</a:t>
            </a:r>
            <a:r>
              <a:rPr lang="en-US" sz="2000" dirty="0"/>
              <a:t>(</a:t>
            </a:r>
            <a:r>
              <a:rPr lang="en-US" sz="2000" dirty="0">
                <a:latin typeface="inherit"/>
              </a:rPr>
              <a:t>"[%d]: Before </a:t>
            </a:r>
            <a:r>
              <a:rPr lang="en-US" sz="2000" dirty="0" err="1">
                <a:latin typeface="inherit"/>
              </a:rPr>
              <a:t>Bcast</a:t>
            </a:r>
            <a:r>
              <a:rPr lang="en-US" sz="2000" dirty="0">
                <a:latin typeface="inherit"/>
              </a:rPr>
              <a:t>, </a:t>
            </a:r>
            <a:r>
              <a:rPr lang="en-US" sz="2000" dirty="0" err="1">
                <a:latin typeface="inherit"/>
              </a:rPr>
              <a:t>buf</a:t>
            </a:r>
            <a:r>
              <a:rPr lang="en-US" sz="2000" dirty="0">
                <a:latin typeface="inherit"/>
              </a:rPr>
              <a:t> is %d\n"</a:t>
            </a:r>
            <a:r>
              <a:rPr lang="en-US" sz="2000" dirty="0"/>
              <a:t>, rank, </a:t>
            </a:r>
            <a:r>
              <a:rPr lang="en-US" sz="2000" dirty="0" err="1"/>
              <a:t>buf</a:t>
            </a:r>
            <a:r>
              <a:rPr lang="en-US" sz="2000" dirty="0"/>
              <a:t>); </a:t>
            </a:r>
          </a:p>
          <a:p>
            <a:pPr>
              <a:spcBef>
                <a:spcPts val="1000"/>
              </a:spcBef>
            </a:pPr>
            <a:r>
              <a:rPr lang="en-US" sz="2000" dirty="0">
                <a:latin typeface="inherit"/>
              </a:rPr>
              <a:t>    /* everyone calls </a:t>
            </a:r>
            <a:r>
              <a:rPr lang="en-US" sz="2000" dirty="0" err="1">
                <a:latin typeface="inherit"/>
              </a:rPr>
              <a:t>bcast</a:t>
            </a:r>
            <a:r>
              <a:rPr lang="en-US" sz="2000" dirty="0">
                <a:latin typeface="inherit"/>
              </a:rPr>
              <a:t>, data is taken from root and ends up in everyone's </a:t>
            </a:r>
            <a:r>
              <a:rPr lang="en-US" sz="2000" dirty="0" err="1">
                <a:latin typeface="inherit"/>
              </a:rPr>
              <a:t>buf</a:t>
            </a:r>
            <a:r>
              <a:rPr lang="en-US" sz="2000" dirty="0">
                <a:latin typeface="inherit"/>
              </a:rPr>
              <a:t> */</a:t>
            </a:r>
            <a:r>
              <a:rPr lang="en-US" sz="2000" dirty="0"/>
              <a:t>  </a:t>
            </a:r>
          </a:p>
          <a:p>
            <a:pPr>
              <a:spcBef>
                <a:spcPts val="400"/>
              </a:spcBef>
            </a:pPr>
            <a:r>
              <a:rPr lang="en-US" sz="2000" dirty="0"/>
              <a:t>    </a:t>
            </a:r>
            <a:r>
              <a:rPr lang="en-US" sz="2000" dirty="0" err="1">
                <a:solidFill>
                  <a:srgbClr val="FF0000"/>
                </a:solidFill>
              </a:rPr>
              <a:t>MPI_Bcast</a:t>
            </a:r>
            <a:r>
              <a:rPr lang="en-US" sz="2000" dirty="0">
                <a:solidFill>
                  <a:srgbClr val="FF0000"/>
                </a:solidFill>
              </a:rPr>
              <a:t>(&amp;</a:t>
            </a:r>
            <a:r>
              <a:rPr lang="en-US" sz="2000" dirty="0" err="1">
                <a:solidFill>
                  <a:srgbClr val="FF0000"/>
                </a:solidFill>
              </a:rPr>
              <a:t>buf</a:t>
            </a:r>
            <a:r>
              <a:rPr lang="en-US" sz="2000" dirty="0">
                <a:solidFill>
                  <a:srgbClr val="FF0000"/>
                </a:solidFill>
              </a:rPr>
              <a:t>, </a:t>
            </a:r>
            <a:r>
              <a:rPr lang="en-US" sz="2000" dirty="0">
                <a:solidFill>
                  <a:srgbClr val="FF0000"/>
                </a:solidFill>
                <a:latin typeface="inherit"/>
              </a:rPr>
              <a:t>1</a:t>
            </a:r>
            <a:r>
              <a:rPr lang="en-US" sz="2000" dirty="0">
                <a:solidFill>
                  <a:srgbClr val="FF0000"/>
                </a:solidFill>
              </a:rPr>
              <a:t>, MPI_INT, root, MPI_COMM_WORLD); </a:t>
            </a:r>
          </a:p>
          <a:p>
            <a:pPr>
              <a:spcBef>
                <a:spcPts val="1000"/>
              </a:spcBef>
            </a:pPr>
            <a:r>
              <a:rPr lang="en-US" sz="2000" dirty="0">
                <a:latin typeface="inherit"/>
              </a:rPr>
              <a:t>    </a:t>
            </a:r>
            <a:r>
              <a:rPr lang="en-US" sz="2000" dirty="0" err="1">
                <a:latin typeface="inherit"/>
              </a:rPr>
              <a:t>printf</a:t>
            </a:r>
            <a:r>
              <a:rPr lang="en-US" sz="2000" dirty="0"/>
              <a:t>(</a:t>
            </a:r>
            <a:r>
              <a:rPr lang="en-US" sz="2000" dirty="0">
                <a:latin typeface="inherit"/>
              </a:rPr>
              <a:t>"[%d]: After </a:t>
            </a:r>
            <a:r>
              <a:rPr lang="en-US" sz="2000" dirty="0" err="1">
                <a:latin typeface="inherit"/>
              </a:rPr>
              <a:t>Bcast</a:t>
            </a:r>
            <a:r>
              <a:rPr lang="en-US" sz="2000" dirty="0">
                <a:latin typeface="inherit"/>
              </a:rPr>
              <a:t>, </a:t>
            </a:r>
            <a:r>
              <a:rPr lang="en-US" sz="2000" dirty="0" err="1">
                <a:latin typeface="inherit"/>
              </a:rPr>
              <a:t>buf</a:t>
            </a:r>
            <a:r>
              <a:rPr lang="en-US" sz="2000" dirty="0">
                <a:latin typeface="inherit"/>
              </a:rPr>
              <a:t> is %d\n"</a:t>
            </a:r>
            <a:r>
              <a:rPr lang="en-US" sz="2000" dirty="0"/>
              <a:t>, rank, </a:t>
            </a:r>
            <a:r>
              <a:rPr lang="en-US" sz="2000" dirty="0" err="1"/>
              <a:t>buf</a:t>
            </a:r>
            <a:r>
              <a:rPr lang="en-US" sz="2000" dirty="0"/>
              <a:t>); </a:t>
            </a:r>
          </a:p>
          <a:p>
            <a:pPr>
              <a:spcBef>
                <a:spcPts val="400"/>
              </a:spcBef>
            </a:pPr>
            <a:r>
              <a:rPr lang="en-US" sz="2000" dirty="0"/>
              <a:t>    </a:t>
            </a:r>
            <a:r>
              <a:rPr lang="en-US" sz="2000" dirty="0" err="1">
                <a:solidFill>
                  <a:srgbClr val="FF0000"/>
                </a:solidFill>
              </a:rPr>
              <a:t>MPI_Finalize</a:t>
            </a:r>
            <a:r>
              <a:rPr lang="en-US" sz="2000" dirty="0">
                <a:solidFill>
                  <a:srgbClr val="FF0000"/>
                </a:solidFill>
              </a:rPr>
              <a:t>(); </a:t>
            </a:r>
          </a:p>
          <a:p>
            <a:pPr>
              <a:spcBef>
                <a:spcPts val="400"/>
              </a:spcBef>
            </a:pPr>
            <a:r>
              <a:rPr lang="en-US" sz="2000" dirty="0">
                <a:latin typeface="inherit"/>
              </a:rPr>
              <a:t>    return</a:t>
            </a:r>
            <a:r>
              <a:rPr lang="en-US" sz="2000" dirty="0"/>
              <a:t> </a:t>
            </a:r>
            <a:r>
              <a:rPr lang="en-US" sz="2000" dirty="0">
                <a:latin typeface="inherit"/>
              </a:rPr>
              <a:t>0</a:t>
            </a:r>
            <a:r>
              <a:rPr lang="en-US" sz="2000" dirty="0"/>
              <a:t>; </a:t>
            </a:r>
          </a:p>
          <a:p>
            <a:pPr>
              <a:spcBef>
                <a:spcPts val="400"/>
              </a:spcBef>
            </a:pPr>
            <a:r>
              <a:rPr lang="en-US" sz="2000" dirty="0"/>
              <a:t>}</a:t>
            </a:r>
          </a:p>
        </p:txBody>
      </p:sp>
      <p:sp>
        <p:nvSpPr>
          <p:cNvPr id="3" name="Rectangle 2">
            <a:extLst>
              <a:ext uri="{FF2B5EF4-FFF2-40B4-BE49-F238E27FC236}">
                <a16:creationId xmlns:a16="http://schemas.microsoft.com/office/drawing/2014/main" id="{D332F421-D94C-D54E-9F14-8B20C633EAB5}"/>
              </a:ext>
            </a:extLst>
          </p:cNvPr>
          <p:cNvSpPr/>
          <p:nvPr/>
        </p:nvSpPr>
        <p:spPr>
          <a:xfrm>
            <a:off x="6514645" y="6229147"/>
            <a:ext cx="5410201" cy="584775"/>
          </a:xfrm>
          <a:prstGeom prst="rect">
            <a:avLst/>
          </a:prstGeom>
        </p:spPr>
        <p:txBody>
          <a:bodyPr wrap="square">
            <a:spAutoFit/>
          </a:bodyPr>
          <a:lstStyle/>
          <a:p>
            <a:r>
              <a:rPr lang="en-US" sz="1600" dirty="0">
                <a:hlinkClick r:id="rId3"/>
              </a:rPr>
              <a:t>https://www.codingame.com/playgrounds/47058/have-fun-with-mpi-in-c/take-the-first-steps-hello-world</a:t>
            </a:r>
            <a:endParaRPr lang="en-US" sz="1600" dirty="0"/>
          </a:p>
        </p:txBody>
      </p:sp>
      <p:sp>
        <p:nvSpPr>
          <p:cNvPr id="4" name="Rectangle 3">
            <a:extLst>
              <a:ext uri="{FF2B5EF4-FFF2-40B4-BE49-F238E27FC236}">
                <a16:creationId xmlns:a16="http://schemas.microsoft.com/office/drawing/2014/main" id="{C3F18E8D-2E72-5B48-AC70-871F8706F980}"/>
              </a:ext>
            </a:extLst>
          </p:cNvPr>
          <p:cNvSpPr/>
          <p:nvPr/>
        </p:nvSpPr>
        <p:spPr>
          <a:xfrm>
            <a:off x="6514645" y="5859815"/>
            <a:ext cx="5040995" cy="369332"/>
          </a:xfrm>
          <a:prstGeom prst="rect">
            <a:avLst/>
          </a:prstGeom>
        </p:spPr>
        <p:txBody>
          <a:bodyPr wrap="none">
            <a:spAutoFit/>
          </a:bodyPr>
          <a:lstStyle/>
          <a:p>
            <a:r>
              <a:rPr lang="en-US" dirty="0">
                <a:solidFill>
                  <a:srgbClr val="FF0000"/>
                </a:solidFill>
              </a:rPr>
              <a:t>To program use the webpages in the following links:</a:t>
            </a:r>
          </a:p>
        </p:txBody>
      </p:sp>
    </p:spTree>
    <p:extLst>
      <p:ext uri="{BB962C8B-B14F-4D97-AF65-F5344CB8AC3E}">
        <p14:creationId xmlns:p14="http://schemas.microsoft.com/office/powerpoint/2010/main" val="19874745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94A4A4-2BF9-BC42-8A07-4ACE6119737E}"/>
              </a:ext>
            </a:extLst>
          </p:cNvPr>
          <p:cNvSpPr/>
          <p:nvPr/>
        </p:nvSpPr>
        <p:spPr>
          <a:xfrm>
            <a:off x="0" y="0"/>
            <a:ext cx="8812696" cy="6735177"/>
          </a:xfrm>
          <a:prstGeom prst="rect">
            <a:avLst/>
          </a:prstGeom>
          <a:solidFill>
            <a:schemeClr val="bg1"/>
          </a:solidFill>
        </p:spPr>
        <p:txBody>
          <a:bodyPr wrap="square">
            <a:spAutoFit/>
          </a:bodyPr>
          <a:lstStyle/>
          <a:p>
            <a:pPr>
              <a:spcBef>
                <a:spcPts val="400"/>
              </a:spcBef>
            </a:pPr>
            <a:r>
              <a:rPr lang="en-US" sz="2000" dirty="0">
                <a:latin typeface="inherit"/>
              </a:rPr>
              <a:t>#include &lt;</a:t>
            </a:r>
            <a:r>
              <a:rPr lang="en-US" sz="2000" dirty="0" err="1">
                <a:latin typeface="inherit"/>
              </a:rPr>
              <a:t>mpi.h</a:t>
            </a:r>
            <a:r>
              <a:rPr lang="en-US" sz="2000" dirty="0">
                <a:latin typeface="inherit"/>
              </a:rPr>
              <a:t>&gt;</a:t>
            </a:r>
            <a:r>
              <a:rPr lang="en-US" sz="2000" dirty="0"/>
              <a:t> </a:t>
            </a:r>
          </a:p>
          <a:p>
            <a:pPr>
              <a:spcBef>
                <a:spcPts val="400"/>
              </a:spcBef>
            </a:pPr>
            <a:r>
              <a:rPr lang="en-US" sz="2000" dirty="0">
                <a:latin typeface="inherit"/>
              </a:rPr>
              <a:t>#include &lt;</a:t>
            </a:r>
            <a:r>
              <a:rPr lang="en-US" sz="2000" dirty="0" err="1">
                <a:latin typeface="inherit"/>
              </a:rPr>
              <a:t>stdio.h</a:t>
            </a:r>
            <a:r>
              <a:rPr lang="en-US" sz="2000" dirty="0">
                <a:latin typeface="inherit"/>
              </a:rPr>
              <a:t>&gt;</a:t>
            </a:r>
            <a:r>
              <a:rPr lang="en-US" sz="2000" dirty="0"/>
              <a:t> </a:t>
            </a:r>
          </a:p>
          <a:p>
            <a:pPr>
              <a:spcBef>
                <a:spcPts val="400"/>
              </a:spcBef>
            </a:pPr>
            <a:r>
              <a:rPr lang="en-US" sz="2000" dirty="0" err="1">
                <a:latin typeface="inherit"/>
              </a:rPr>
              <a:t>int</a:t>
            </a:r>
            <a:r>
              <a:rPr lang="en-US" sz="2000" dirty="0"/>
              <a:t> </a:t>
            </a:r>
            <a:r>
              <a:rPr lang="en-US" sz="2000" dirty="0">
                <a:latin typeface="inherit"/>
              </a:rPr>
              <a:t>main(</a:t>
            </a:r>
            <a:r>
              <a:rPr lang="en-US" sz="2000" dirty="0" err="1">
                <a:latin typeface="inherit"/>
              </a:rPr>
              <a:t>int</a:t>
            </a:r>
            <a:r>
              <a:rPr lang="en-US" sz="2000" dirty="0">
                <a:latin typeface="inherit"/>
              </a:rPr>
              <a:t> </a:t>
            </a:r>
            <a:r>
              <a:rPr lang="en-US" sz="2000" dirty="0" err="1">
                <a:latin typeface="inherit"/>
              </a:rPr>
              <a:t>argc</a:t>
            </a:r>
            <a:r>
              <a:rPr lang="en-US" sz="2000" dirty="0">
                <a:latin typeface="inherit"/>
              </a:rPr>
              <a:t>, char** </a:t>
            </a:r>
            <a:r>
              <a:rPr lang="en-US" sz="2000" dirty="0" err="1">
                <a:latin typeface="inherit"/>
              </a:rPr>
              <a:t>argv</a:t>
            </a:r>
            <a:r>
              <a:rPr lang="en-US" sz="2000" dirty="0">
                <a:latin typeface="inherit"/>
              </a:rPr>
              <a:t>)</a:t>
            </a:r>
            <a:r>
              <a:rPr lang="en-US" sz="2000" dirty="0"/>
              <a:t> </a:t>
            </a:r>
          </a:p>
          <a:p>
            <a:pPr>
              <a:spcBef>
                <a:spcPts val="400"/>
              </a:spcBef>
            </a:pPr>
            <a:r>
              <a:rPr lang="en-US" sz="2000" dirty="0"/>
              <a:t>{ </a:t>
            </a:r>
          </a:p>
          <a:p>
            <a:pPr>
              <a:spcBef>
                <a:spcPts val="400"/>
              </a:spcBef>
            </a:pPr>
            <a:r>
              <a:rPr lang="en-US" sz="2000" dirty="0">
                <a:latin typeface="inherit"/>
              </a:rPr>
              <a:t>    </a:t>
            </a:r>
            <a:r>
              <a:rPr lang="en-US" sz="2000" dirty="0" err="1">
                <a:latin typeface="inherit"/>
              </a:rPr>
              <a:t>int</a:t>
            </a:r>
            <a:r>
              <a:rPr lang="en-US" sz="2000" dirty="0"/>
              <a:t> rank, </a:t>
            </a:r>
            <a:r>
              <a:rPr lang="en-US" sz="2000" dirty="0" err="1"/>
              <a:t>buf</a:t>
            </a:r>
            <a:r>
              <a:rPr lang="en-US" sz="2000" dirty="0"/>
              <a:t>=0;</a:t>
            </a:r>
          </a:p>
          <a:p>
            <a:pPr>
              <a:spcBef>
                <a:spcPts val="400"/>
              </a:spcBef>
            </a:pPr>
            <a:r>
              <a:rPr lang="en-US" sz="2000" dirty="0"/>
              <a:t>     </a:t>
            </a:r>
            <a:r>
              <a:rPr lang="en-US" sz="2000" dirty="0" err="1">
                <a:latin typeface="inherit"/>
              </a:rPr>
              <a:t>const</a:t>
            </a:r>
            <a:r>
              <a:rPr lang="en-US" sz="2000" dirty="0"/>
              <a:t> </a:t>
            </a:r>
            <a:r>
              <a:rPr lang="en-US" sz="2000" dirty="0" err="1">
                <a:latin typeface="inherit"/>
              </a:rPr>
              <a:t>int</a:t>
            </a:r>
            <a:r>
              <a:rPr lang="en-US" sz="2000" dirty="0"/>
              <a:t> root=</a:t>
            </a:r>
            <a:r>
              <a:rPr lang="en-US" sz="2000" dirty="0">
                <a:latin typeface="inherit"/>
              </a:rPr>
              <a:t>0</a:t>
            </a:r>
            <a:r>
              <a:rPr lang="en-US" sz="2000" dirty="0"/>
              <a:t>; </a:t>
            </a:r>
          </a:p>
          <a:p>
            <a:pPr>
              <a:spcBef>
                <a:spcPts val="400"/>
              </a:spcBef>
            </a:pPr>
            <a:r>
              <a:rPr lang="en-US" sz="2000" dirty="0"/>
              <a:t>     </a:t>
            </a:r>
            <a:r>
              <a:rPr lang="en-US" sz="2000" dirty="0" err="1">
                <a:solidFill>
                  <a:srgbClr val="FF0000"/>
                </a:solidFill>
              </a:rPr>
              <a:t>MPI_Init</a:t>
            </a:r>
            <a:r>
              <a:rPr lang="en-US" sz="2000" dirty="0">
                <a:solidFill>
                  <a:srgbClr val="FF0000"/>
                </a:solidFill>
              </a:rPr>
              <a:t>(&amp;</a:t>
            </a:r>
            <a:r>
              <a:rPr lang="en-US" sz="2000" dirty="0" err="1">
                <a:solidFill>
                  <a:srgbClr val="FF0000"/>
                </a:solidFill>
              </a:rPr>
              <a:t>argc</a:t>
            </a:r>
            <a:r>
              <a:rPr lang="en-US" sz="2000" dirty="0">
                <a:solidFill>
                  <a:srgbClr val="FF0000"/>
                </a:solidFill>
              </a:rPr>
              <a:t>, &amp;</a:t>
            </a:r>
            <a:r>
              <a:rPr lang="en-US" sz="2000" dirty="0" err="1">
                <a:solidFill>
                  <a:srgbClr val="FF0000"/>
                </a:solidFill>
              </a:rPr>
              <a:t>argv</a:t>
            </a:r>
            <a:r>
              <a:rPr lang="en-US" sz="2000" dirty="0">
                <a:solidFill>
                  <a:srgbClr val="FF0000"/>
                </a:solidFill>
              </a:rPr>
              <a:t>); </a:t>
            </a:r>
          </a:p>
          <a:p>
            <a:pPr>
              <a:spcBef>
                <a:spcPts val="400"/>
              </a:spcBef>
            </a:pPr>
            <a:r>
              <a:rPr lang="en-US" sz="2000" dirty="0"/>
              <a:t>     </a:t>
            </a:r>
            <a:r>
              <a:rPr lang="en-US" sz="2000" dirty="0" err="1">
                <a:solidFill>
                  <a:srgbClr val="FF0000"/>
                </a:solidFill>
              </a:rPr>
              <a:t>MPI_Comm_rank</a:t>
            </a:r>
            <a:r>
              <a:rPr lang="en-US" sz="2000" dirty="0">
                <a:solidFill>
                  <a:srgbClr val="FF0000"/>
                </a:solidFill>
              </a:rPr>
              <a:t>(MPI_COMM_WORLD, &amp;rank); </a:t>
            </a:r>
          </a:p>
          <a:p>
            <a:pPr>
              <a:spcBef>
                <a:spcPts val="1000"/>
              </a:spcBef>
            </a:pPr>
            <a:r>
              <a:rPr lang="en-US" sz="2000" dirty="0">
                <a:latin typeface="inherit"/>
              </a:rPr>
              <a:t>    if</a:t>
            </a:r>
            <a:r>
              <a:rPr lang="en-US" sz="2000" dirty="0"/>
              <a:t>(rank == root) { </a:t>
            </a:r>
          </a:p>
          <a:p>
            <a:pPr>
              <a:spcBef>
                <a:spcPts val="400"/>
              </a:spcBef>
            </a:pPr>
            <a:r>
              <a:rPr lang="en-US" sz="2000" dirty="0"/>
              <a:t>       </a:t>
            </a:r>
            <a:r>
              <a:rPr lang="en-US" sz="2000" dirty="0" err="1"/>
              <a:t>buf</a:t>
            </a:r>
            <a:r>
              <a:rPr lang="en-US" sz="2000" dirty="0"/>
              <a:t> = </a:t>
            </a:r>
            <a:r>
              <a:rPr lang="en-US" sz="2000" dirty="0">
                <a:latin typeface="inherit"/>
              </a:rPr>
              <a:t>777</a:t>
            </a:r>
            <a:r>
              <a:rPr lang="en-US" sz="2000" dirty="0"/>
              <a:t>; </a:t>
            </a:r>
          </a:p>
          <a:p>
            <a:pPr>
              <a:spcBef>
                <a:spcPts val="400"/>
              </a:spcBef>
            </a:pPr>
            <a:r>
              <a:rPr lang="en-US" sz="2000" dirty="0"/>
              <a:t>    } </a:t>
            </a:r>
          </a:p>
          <a:p>
            <a:pPr>
              <a:spcBef>
                <a:spcPts val="400"/>
              </a:spcBef>
            </a:pPr>
            <a:r>
              <a:rPr lang="en-US" sz="2000" dirty="0">
                <a:latin typeface="inherit"/>
              </a:rPr>
              <a:t>    </a:t>
            </a:r>
            <a:r>
              <a:rPr lang="en-US" sz="2000" dirty="0" err="1">
                <a:latin typeface="inherit"/>
              </a:rPr>
              <a:t>printf</a:t>
            </a:r>
            <a:r>
              <a:rPr lang="en-US" sz="2000" dirty="0"/>
              <a:t>(</a:t>
            </a:r>
            <a:r>
              <a:rPr lang="en-US" sz="2000" dirty="0">
                <a:latin typeface="inherit"/>
              </a:rPr>
              <a:t>"[%d]: Before </a:t>
            </a:r>
            <a:r>
              <a:rPr lang="en-US" sz="2000" dirty="0" err="1">
                <a:latin typeface="inherit"/>
              </a:rPr>
              <a:t>Bcast</a:t>
            </a:r>
            <a:r>
              <a:rPr lang="en-US" sz="2000" dirty="0">
                <a:latin typeface="inherit"/>
              </a:rPr>
              <a:t>, </a:t>
            </a:r>
            <a:r>
              <a:rPr lang="en-US" sz="2000" dirty="0" err="1">
                <a:latin typeface="inherit"/>
              </a:rPr>
              <a:t>buf</a:t>
            </a:r>
            <a:r>
              <a:rPr lang="en-US" sz="2000" dirty="0">
                <a:latin typeface="inherit"/>
              </a:rPr>
              <a:t> is %d\n"</a:t>
            </a:r>
            <a:r>
              <a:rPr lang="en-US" sz="2000" dirty="0"/>
              <a:t>, rank, </a:t>
            </a:r>
            <a:r>
              <a:rPr lang="en-US" sz="2000" dirty="0" err="1"/>
              <a:t>buf</a:t>
            </a:r>
            <a:r>
              <a:rPr lang="en-US" sz="2000" dirty="0"/>
              <a:t>); </a:t>
            </a:r>
          </a:p>
          <a:p>
            <a:pPr>
              <a:spcBef>
                <a:spcPts val="1000"/>
              </a:spcBef>
            </a:pPr>
            <a:r>
              <a:rPr lang="en-US" sz="2000" dirty="0">
                <a:latin typeface="inherit"/>
              </a:rPr>
              <a:t>    /* everyone calls </a:t>
            </a:r>
            <a:r>
              <a:rPr lang="en-US" sz="2000" dirty="0" err="1">
                <a:latin typeface="inherit"/>
              </a:rPr>
              <a:t>bcast</a:t>
            </a:r>
            <a:r>
              <a:rPr lang="en-US" sz="2000" dirty="0">
                <a:latin typeface="inherit"/>
              </a:rPr>
              <a:t>, data is taken from root and ends up in everyone's </a:t>
            </a:r>
            <a:r>
              <a:rPr lang="en-US" sz="2000" dirty="0" err="1">
                <a:latin typeface="inherit"/>
              </a:rPr>
              <a:t>buf</a:t>
            </a:r>
            <a:r>
              <a:rPr lang="en-US" sz="2000" dirty="0">
                <a:latin typeface="inherit"/>
              </a:rPr>
              <a:t> */</a:t>
            </a:r>
            <a:r>
              <a:rPr lang="en-US" sz="2000" dirty="0"/>
              <a:t>  </a:t>
            </a:r>
          </a:p>
          <a:p>
            <a:pPr>
              <a:spcBef>
                <a:spcPts val="400"/>
              </a:spcBef>
            </a:pPr>
            <a:r>
              <a:rPr lang="en-US" sz="2000" dirty="0"/>
              <a:t>    </a:t>
            </a:r>
            <a:r>
              <a:rPr lang="en-US" sz="2000" dirty="0" err="1">
                <a:solidFill>
                  <a:srgbClr val="FF0000"/>
                </a:solidFill>
              </a:rPr>
              <a:t>MPI_Bcast</a:t>
            </a:r>
            <a:r>
              <a:rPr lang="en-US" sz="2000" dirty="0">
                <a:solidFill>
                  <a:srgbClr val="FF0000"/>
                </a:solidFill>
              </a:rPr>
              <a:t>(&amp;</a:t>
            </a:r>
            <a:r>
              <a:rPr lang="en-US" sz="2000" dirty="0" err="1">
                <a:solidFill>
                  <a:srgbClr val="FF0000"/>
                </a:solidFill>
              </a:rPr>
              <a:t>buf</a:t>
            </a:r>
            <a:r>
              <a:rPr lang="en-US" sz="2000" dirty="0">
                <a:solidFill>
                  <a:srgbClr val="FF0000"/>
                </a:solidFill>
              </a:rPr>
              <a:t>, </a:t>
            </a:r>
            <a:r>
              <a:rPr lang="en-US" sz="2000" dirty="0">
                <a:solidFill>
                  <a:srgbClr val="FF0000"/>
                </a:solidFill>
                <a:latin typeface="inherit"/>
              </a:rPr>
              <a:t>1</a:t>
            </a:r>
            <a:r>
              <a:rPr lang="en-US" sz="2000" dirty="0">
                <a:solidFill>
                  <a:srgbClr val="FF0000"/>
                </a:solidFill>
              </a:rPr>
              <a:t>, MPI_INT, root, MPI_COMM_WORLD); </a:t>
            </a:r>
          </a:p>
          <a:p>
            <a:pPr>
              <a:spcBef>
                <a:spcPts val="1000"/>
              </a:spcBef>
            </a:pPr>
            <a:r>
              <a:rPr lang="en-US" sz="2000" dirty="0">
                <a:latin typeface="inherit"/>
              </a:rPr>
              <a:t>    </a:t>
            </a:r>
            <a:r>
              <a:rPr lang="en-US" sz="2000" dirty="0" err="1">
                <a:latin typeface="inherit"/>
              </a:rPr>
              <a:t>printf</a:t>
            </a:r>
            <a:r>
              <a:rPr lang="en-US" sz="2000" dirty="0"/>
              <a:t>(</a:t>
            </a:r>
            <a:r>
              <a:rPr lang="en-US" sz="2000" dirty="0">
                <a:latin typeface="inherit"/>
              </a:rPr>
              <a:t>"[%d]: After </a:t>
            </a:r>
            <a:r>
              <a:rPr lang="en-US" sz="2000" dirty="0" err="1">
                <a:latin typeface="inherit"/>
              </a:rPr>
              <a:t>Bcast</a:t>
            </a:r>
            <a:r>
              <a:rPr lang="en-US" sz="2000" dirty="0">
                <a:latin typeface="inherit"/>
              </a:rPr>
              <a:t>, </a:t>
            </a:r>
            <a:r>
              <a:rPr lang="en-US" sz="2000" dirty="0" err="1">
                <a:latin typeface="inherit"/>
              </a:rPr>
              <a:t>buf</a:t>
            </a:r>
            <a:r>
              <a:rPr lang="en-US" sz="2000" dirty="0">
                <a:latin typeface="inherit"/>
              </a:rPr>
              <a:t> is %d\n"</a:t>
            </a:r>
            <a:r>
              <a:rPr lang="en-US" sz="2000" dirty="0"/>
              <a:t>, rank, </a:t>
            </a:r>
            <a:r>
              <a:rPr lang="en-US" sz="2000" dirty="0" err="1"/>
              <a:t>buf</a:t>
            </a:r>
            <a:r>
              <a:rPr lang="en-US" sz="2000" dirty="0"/>
              <a:t>); </a:t>
            </a:r>
          </a:p>
          <a:p>
            <a:pPr>
              <a:spcBef>
                <a:spcPts val="400"/>
              </a:spcBef>
            </a:pPr>
            <a:r>
              <a:rPr lang="en-US" sz="2000" dirty="0"/>
              <a:t>    </a:t>
            </a:r>
            <a:r>
              <a:rPr lang="en-US" sz="2000" dirty="0" err="1">
                <a:solidFill>
                  <a:srgbClr val="FF0000"/>
                </a:solidFill>
              </a:rPr>
              <a:t>MPI_Finalize</a:t>
            </a:r>
            <a:r>
              <a:rPr lang="en-US" sz="2000" dirty="0">
                <a:solidFill>
                  <a:srgbClr val="FF0000"/>
                </a:solidFill>
              </a:rPr>
              <a:t>(); </a:t>
            </a:r>
          </a:p>
          <a:p>
            <a:pPr>
              <a:spcBef>
                <a:spcPts val="400"/>
              </a:spcBef>
            </a:pPr>
            <a:r>
              <a:rPr lang="en-US" sz="2000" dirty="0">
                <a:latin typeface="inherit"/>
              </a:rPr>
              <a:t>    return</a:t>
            </a:r>
            <a:r>
              <a:rPr lang="en-US" sz="2000" dirty="0"/>
              <a:t> </a:t>
            </a:r>
            <a:r>
              <a:rPr lang="en-US" sz="2000" dirty="0">
                <a:latin typeface="inherit"/>
              </a:rPr>
              <a:t>0</a:t>
            </a:r>
            <a:r>
              <a:rPr lang="en-US" sz="2000" dirty="0"/>
              <a:t>; </a:t>
            </a:r>
          </a:p>
          <a:p>
            <a:pPr>
              <a:spcBef>
                <a:spcPts val="400"/>
              </a:spcBef>
            </a:pPr>
            <a:r>
              <a:rPr lang="en-US" sz="2000" dirty="0"/>
              <a:t>}</a:t>
            </a:r>
          </a:p>
        </p:txBody>
      </p:sp>
      <p:sp>
        <p:nvSpPr>
          <p:cNvPr id="3" name="TextBox 2">
            <a:extLst>
              <a:ext uri="{FF2B5EF4-FFF2-40B4-BE49-F238E27FC236}">
                <a16:creationId xmlns:a16="http://schemas.microsoft.com/office/drawing/2014/main" id="{8DC48FF2-01AA-2B43-A2BC-8191608AE8E5}"/>
              </a:ext>
            </a:extLst>
          </p:cNvPr>
          <p:cNvSpPr txBox="1"/>
          <p:nvPr/>
        </p:nvSpPr>
        <p:spPr>
          <a:xfrm>
            <a:off x="8812696" y="214995"/>
            <a:ext cx="3090911" cy="2862322"/>
          </a:xfrm>
          <a:prstGeom prst="rect">
            <a:avLst/>
          </a:prstGeom>
          <a:noFill/>
          <a:ln>
            <a:solidFill>
              <a:schemeClr val="tx1"/>
            </a:solidFill>
          </a:ln>
        </p:spPr>
        <p:txBody>
          <a:bodyPr wrap="none" rtlCol="0">
            <a:spAutoFit/>
          </a:bodyPr>
          <a:lstStyle/>
          <a:p>
            <a:r>
              <a:rPr lang="en-US" sz="2000" dirty="0"/>
              <a:t>Output:</a:t>
            </a:r>
          </a:p>
          <a:p>
            <a:r>
              <a:rPr lang="en-US" sz="2000" dirty="0"/>
              <a:t>[0]: Before </a:t>
            </a:r>
            <a:r>
              <a:rPr lang="en-US" sz="2000" dirty="0" err="1"/>
              <a:t>Bcast</a:t>
            </a:r>
            <a:r>
              <a:rPr lang="en-US" sz="2000" dirty="0"/>
              <a:t>, </a:t>
            </a:r>
            <a:r>
              <a:rPr lang="en-US" sz="2000" dirty="0" err="1"/>
              <a:t>buf</a:t>
            </a:r>
            <a:r>
              <a:rPr lang="en-US" sz="2000" dirty="0"/>
              <a:t> is 777 </a:t>
            </a:r>
          </a:p>
          <a:p>
            <a:r>
              <a:rPr lang="en-US" sz="2000" dirty="0"/>
              <a:t>[0]: After </a:t>
            </a:r>
            <a:r>
              <a:rPr lang="en-US" sz="2000" dirty="0" err="1"/>
              <a:t>Bcast</a:t>
            </a:r>
            <a:r>
              <a:rPr lang="en-US" sz="2000" dirty="0"/>
              <a:t>, </a:t>
            </a:r>
            <a:r>
              <a:rPr lang="en-US" sz="2000" dirty="0" err="1"/>
              <a:t>buf</a:t>
            </a:r>
            <a:r>
              <a:rPr lang="en-US" sz="2000" dirty="0"/>
              <a:t> is 777 </a:t>
            </a:r>
          </a:p>
          <a:p>
            <a:r>
              <a:rPr lang="en-US" sz="2000" dirty="0"/>
              <a:t>[1]: Before </a:t>
            </a:r>
            <a:r>
              <a:rPr lang="en-US" sz="2000" dirty="0" err="1"/>
              <a:t>Bcast</a:t>
            </a:r>
            <a:r>
              <a:rPr lang="en-US" sz="2000" dirty="0"/>
              <a:t>, </a:t>
            </a:r>
            <a:r>
              <a:rPr lang="en-US" sz="2000" dirty="0" err="1"/>
              <a:t>buf</a:t>
            </a:r>
            <a:r>
              <a:rPr lang="en-US" sz="2000" dirty="0"/>
              <a:t> is 0 </a:t>
            </a:r>
          </a:p>
          <a:p>
            <a:r>
              <a:rPr lang="en-US" sz="2000" dirty="0"/>
              <a:t>[1]: After </a:t>
            </a:r>
            <a:r>
              <a:rPr lang="en-US" sz="2000" dirty="0" err="1"/>
              <a:t>Bcast</a:t>
            </a:r>
            <a:r>
              <a:rPr lang="en-US" sz="2000" dirty="0"/>
              <a:t>, </a:t>
            </a:r>
            <a:r>
              <a:rPr lang="en-US" sz="2000" dirty="0" err="1"/>
              <a:t>buf</a:t>
            </a:r>
            <a:r>
              <a:rPr lang="en-US" sz="2000" dirty="0"/>
              <a:t> is 777 </a:t>
            </a:r>
          </a:p>
          <a:p>
            <a:r>
              <a:rPr lang="en-US" sz="2000" dirty="0"/>
              <a:t>[2]: Before </a:t>
            </a:r>
            <a:r>
              <a:rPr lang="en-US" sz="2000" dirty="0" err="1"/>
              <a:t>Bcast</a:t>
            </a:r>
            <a:r>
              <a:rPr lang="en-US" sz="2000" dirty="0"/>
              <a:t>, </a:t>
            </a:r>
            <a:r>
              <a:rPr lang="en-US" sz="2000" dirty="0" err="1"/>
              <a:t>buf</a:t>
            </a:r>
            <a:r>
              <a:rPr lang="en-US" sz="2000" dirty="0"/>
              <a:t> is 0 </a:t>
            </a:r>
          </a:p>
          <a:p>
            <a:r>
              <a:rPr lang="en-US" sz="2000" dirty="0"/>
              <a:t>[2]: After </a:t>
            </a:r>
            <a:r>
              <a:rPr lang="en-US" sz="2000" dirty="0" err="1"/>
              <a:t>Bcast</a:t>
            </a:r>
            <a:r>
              <a:rPr lang="en-US" sz="2000" dirty="0"/>
              <a:t>, </a:t>
            </a:r>
            <a:r>
              <a:rPr lang="en-US" sz="2000" dirty="0" err="1"/>
              <a:t>buf</a:t>
            </a:r>
            <a:r>
              <a:rPr lang="en-US" sz="2000" dirty="0"/>
              <a:t> is 777 </a:t>
            </a:r>
          </a:p>
          <a:p>
            <a:r>
              <a:rPr lang="en-US" sz="2000" dirty="0"/>
              <a:t>[3]: Before </a:t>
            </a:r>
            <a:r>
              <a:rPr lang="en-US" sz="2000" dirty="0" err="1"/>
              <a:t>Bcast</a:t>
            </a:r>
            <a:r>
              <a:rPr lang="en-US" sz="2000" dirty="0"/>
              <a:t>, </a:t>
            </a:r>
            <a:r>
              <a:rPr lang="en-US" sz="2000" dirty="0" err="1"/>
              <a:t>buf</a:t>
            </a:r>
            <a:r>
              <a:rPr lang="en-US" sz="2000" dirty="0"/>
              <a:t> is 0 </a:t>
            </a:r>
          </a:p>
          <a:p>
            <a:r>
              <a:rPr lang="en-US" sz="2000" dirty="0"/>
              <a:t>[3]: After </a:t>
            </a:r>
            <a:r>
              <a:rPr lang="en-US" sz="2000" dirty="0" err="1"/>
              <a:t>Bcast</a:t>
            </a:r>
            <a:r>
              <a:rPr lang="en-US" sz="2000" dirty="0"/>
              <a:t>, </a:t>
            </a:r>
            <a:r>
              <a:rPr lang="en-US" sz="2000" dirty="0" err="1"/>
              <a:t>buf</a:t>
            </a:r>
            <a:r>
              <a:rPr lang="en-US" sz="2000" dirty="0"/>
              <a:t> is 777</a:t>
            </a:r>
          </a:p>
        </p:txBody>
      </p:sp>
      <p:sp>
        <p:nvSpPr>
          <p:cNvPr id="6" name="Rectangle 5">
            <a:extLst>
              <a:ext uri="{FF2B5EF4-FFF2-40B4-BE49-F238E27FC236}">
                <a16:creationId xmlns:a16="http://schemas.microsoft.com/office/drawing/2014/main" id="{6225D4BF-0EF2-5041-9C5C-6EA32ACA6F28}"/>
              </a:ext>
            </a:extLst>
          </p:cNvPr>
          <p:cNvSpPr/>
          <p:nvPr/>
        </p:nvSpPr>
        <p:spPr>
          <a:xfrm>
            <a:off x="6514645" y="6229147"/>
            <a:ext cx="5410201" cy="584775"/>
          </a:xfrm>
          <a:prstGeom prst="rect">
            <a:avLst/>
          </a:prstGeom>
        </p:spPr>
        <p:txBody>
          <a:bodyPr wrap="square">
            <a:spAutoFit/>
          </a:bodyPr>
          <a:lstStyle/>
          <a:p>
            <a:r>
              <a:rPr lang="en-US" sz="1600" dirty="0">
                <a:hlinkClick r:id="rId3"/>
              </a:rPr>
              <a:t>https://www.codingame.com/playgrounds/47058/have-fun-with-mpi-in-c/take-the-first-steps-hello-world</a:t>
            </a:r>
            <a:endParaRPr lang="en-US" sz="1600" dirty="0"/>
          </a:p>
        </p:txBody>
      </p:sp>
      <p:sp>
        <p:nvSpPr>
          <p:cNvPr id="7" name="Rectangle 6">
            <a:extLst>
              <a:ext uri="{FF2B5EF4-FFF2-40B4-BE49-F238E27FC236}">
                <a16:creationId xmlns:a16="http://schemas.microsoft.com/office/drawing/2014/main" id="{6B37C807-F52E-3C41-92B8-4E3B017509B4}"/>
              </a:ext>
            </a:extLst>
          </p:cNvPr>
          <p:cNvSpPr/>
          <p:nvPr/>
        </p:nvSpPr>
        <p:spPr>
          <a:xfrm>
            <a:off x="6514645" y="5859815"/>
            <a:ext cx="5040995" cy="369332"/>
          </a:xfrm>
          <a:prstGeom prst="rect">
            <a:avLst/>
          </a:prstGeom>
        </p:spPr>
        <p:txBody>
          <a:bodyPr wrap="none">
            <a:spAutoFit/>
          </a:bodyPr>
          <a:lstStyle/>
          <a:p>
            <a:r>
              <a:rPr lang="en-US" dirty="0">
                <a:solidFill>
                  <a:srgbClr val="FF0000"/>
                </a:solidFill>
              </a:rPr>
              <a:t>To program use the webpages in the following links:</a:t>
            </a:r>
          </a:p>
        </p:txBody>
      </p:sp>
    </p:spTree>
    <p:extLst>
      <p:ext uri="{BB962C8B-B14F-4D97-AF65-F5344CB8AC3E}">
        <p14:creationId xmlns:p14="http://schemas.microsoft.com/office/powerpoint/2010/main" val="17583523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C973-CF35-EF4C-A451-6229F96F7923}"/>
              </a:ext>
            </a:extLst>
          </p:cNvPr>
          <p:cNvSpPr>
            <a:spLocks noGrp="1"/>
          </p:cNvSpPr>
          <p:nvPr>
            <p:ph type="title"/>
          </p:nvPr>
        </p:nvSpPr>
        <p:spPr>
          <a:xfrm>
            <a:off x="838200" y="0"/>
            <a:ext cx="10515600" cy="1325563"/>
          </a:xfrm>
        </p:spPr>
        <p:txBody>
          <a:bodyPr/>
          <a:lstStyle/>
          <a:p>
            <a:r>
              <a:rPr lang="en-US" dirty="0"/>
              <a:t>Collective communication: Gather</a:t>
            </a:r>
          </a:p>
        </p:txBody>
      </p:sp>
      <p:pic>
        <p:nvPicPr>
          <p:cNvPr id="5" name="Picture 4">
            <a:extLst>
              <a:ext uri="{FF2B5EF4-FFF2-40B4-BE49-F238E27FC236}">
                <a16:creationId xmlns:a16="http://schemas.microsoft.com/office/drawing/2014/main" id="{0149E3DA-0577-714B-897A-6B4A11EAF609}"/>
              </a:ext>
            </a:extLst>
          </p:cNvPr>
          <p:cNvPicPr>
            <a:picLocks noChangeAspect="1"/>
          </p:cNvPicPr>
          <p:nvPr/>
        </p:nvPicPr>
        <p:blipFill>
          <a:blip r:embed="rId3"/>
          <a:stretch>
            <a:fillRect/>
          </a:stretch>
        </p:blipFill>
        <p:spPr>
          <a:xfrm>
            <a:off x="0" y="1200727"/>
            <a:ext cx="12192000" cy="5657273"/>
          </a:xfrm>
          <a:prstGeom prst="rect">
            <a:avLst/>
          </a:prstGeom>
        </p:spPr>
      </p:pic>
      <p:sp>
        <p:nvSpPr>
          <p:cNvPr id="3" name="TextBox 2">
            <a:extLst>
              <a:ext uri="{FF2B5EF4-FFF2-40B4-BE49-F238E27FC236}">
                <a16:creationId xmlns:a16="http://schemas.microsoft.com/office/drawing/2014/main" id="{AD3A81FD-D2C9-694A-ADC5-3881819BD3D6}"/>
              </a:ext>
            </a:extLst>
          </p:cNvPr>
          <p:cNvSpPr txBox="1"/>
          <p:nvPr/>
        </p:nvSpPr>
        <p:spPr>
          <a:xfrm>
            <a:off x="4838700" y="2034532"/>
            <a:ext cx="1796142" cy="677108"/>
          </a:xfrm>
          <a:prstGeom prst="rect">
            <a:avLst/>
          </a:prstGeom>
          <a:noFill/>
        </p:spPr>
        <p:txBody>
          <a:bodyPr wrap="square" rtlCol="0">
            <a:spAutoFit/>
          </a:bodyPr>
          <a:lstStyle/>
          <a:p>
            <a:pPr algn="ctr"/>
            <a:r>
              <a:rPr lang="en-US" dirty="0">
                <a:solidFill>
                  <a:srgbClr val="FF0000"/>
                </a:solidFill>
              </a:rPr>
              <a:t>Rank of the receiving </a:t>
            </a:r>
            <a:r>
              <a:rPr lang="en-US" sz="2000" dirty="0">
                <a:solidFill>
                  <a:srgbClr val="FF0000"/>
                </a:solidFill>
              </a:rPr>
              <a:t>proc</a:t>
            </a:r>
            <a:r>
              <a:rPr lang="en-US" dirty="0">
                <a:solidFill>
                  <a:srgbClr val="FF0000"/>
                </a:solidFill>
              </a:rPr>
              <a:t>.</a:t>
            </a:r>
          </a:p>
        </p:txBody>
      </p:sp>
      <p:cxnSp>
        <p:nvCxnSpPr>
          <p:cNvPr id="6" name="Straight Arrow Connector 5">
            <a:extLst>
              <a:ext uri="{FF2B5EF4-FFF2-40B4-BE49-F238E27FC236}">
                <a16:creationId xmlns:a16="http://schemas.microsoft.com/office/drawing/2014/main" id="{58A0F004-CD98-F74B-A11B-CD7B8316BCF9}"/>
              </a:ext>
            </a:extLst>
          </p:cNvPr>
          <p:cNvCxnSpPr>
            <a:cxnSpLocks/>
          </p:cNvCxnSpPr>
          <p:nvPr/>
        </p:nvCxnSpPr>
        <p:spPr>
          <a:xfrm flipV="1">
            <a:off x="6346371" y="1970315"/>
            <a:ext cx="576943" cy="402771"/>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84615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C973-CF35-EF4C-A451-6229F96F7923}"/>
              </a:ext>
            </a:extLst>
          </p:cNvPr>
          <p:cNvSpPr>
            <a:spLocks noGrp="1"/>
          </p:cNvSpPr>
          <p:nvPr>
            <p:ph type="title"/>
          </p:nvPr>
        </p:nvSpPr>
        <p:spPr>
          <a:xfrm>
            <a:off x="838200" y="0"/>
            <a:ext cx="10515600" cy="1325563"/>
          </a:xfrm>
        </p:spPr>
        <p:txBody>
          <a:bodyPr/>
          <a:lstStyle/>
          <a:p>
            <a:r>
              <a:rPr lang="en-US" dirty="0"/>
              <a:t>Collective communication: Gather to all </a:t>
            </a:r>
          </a:p>
        </p:txBody>
      </p:sp>
      <p:pic>
        <p:nvPicPr>
          <p:cNvPr id="4" name="Picture 3">
            <a:extLst>
              <a:ext uri="{FF2B5EF4-FFF2-40B4-BE49-F238E27FC236}">
                <a16:creationId xmlns:a16="http://schemas.microsoft.com/office/drawing/2014/main" id="{00DB422F-0ECB-5A42-A27E-80571E2AAFEC}"/>
              </a:ext>
            </a:extLst>
          </p:cNvPr>
          <p:cNvPicPr>
            <a:picLocks noChangeAspect="1"/>
          </p:cNvPicPr>
          <p:nvPr/>
        </p:nvPicPr>
        <p:blipFill>
          <a:blip r:embed="rId2"/>
          <a:stretch>
            <a:fillRect/>
          </a:stretch>
        </p:blipFill>
        <p:spPr>
          <a:xfrm>
            <a:off x="0" y="1040671"/>
            <a:ext cx="12192000" cy="5698059"/>
          </a:xfrm>
          <a:prstGeom prst="rect">
            <a:avLst/>
          </a:prstGeom>
        </p:spPr>
      </p:pic>
    </p:spTree>
    <p:extLst>
      <p:ext uri="{BB962C8B-B14F-4D97-AF65-F5344CB8AC3E}">
        <p14:creationId xmlns:p14="http://schemas.microsoft.com/office/powerpoint/2010/main" val="24197186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52F00-4D73-0F43-88F3-9DA28C311CBA}"/>
              </a:ext>
            </a:extLst>
          </p:cNvPr>
          <p:cNvSpPr/>
          <p:nvPr/>
        </p:nvSpPr>
        <p:spPr>
          <a:xfrm>
            <a:off x="0" y="332509"/>
            <a:ext cx="11513128" cy="6186309"/>
          </a:xfrm>
          <a:prstGeom prst="rect">
            <a:avLst/>
          </a:prstGeom>
        </p:spPr>
        <p:txBody>
          <a:bodyPr wrap="square">
            <a:spAutoFit/>
          </a:bodyPr>
          <a:lstStyle/>
          <a:p>
            <a:r>
              <a:rPr lang="en-US" dirty="0">
                <a:solidFill>
                  <a:srgbClr val="AF00DB"/>
                </a:solidFill>
                <a:latin typeface="Menlo" panose="020B0609030804020204" pitchFamily="49" charset="0"/>
              </a:rPr>
              <a:t>#include</a:t>
            </a:r>
            <a:r>
              <a:rPr lang="en-US" dirty="0">
                <a:solidFill>
                  <a:srgbClr val="0000FF"/>
                </a:solidFill>
                <a:latin typeface="Menlo" panose="020B0609030804020204" pitchFamily="49" charset="0"/>
              </a:rPr>
              <a:t>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stdio.h</a:t>
            </a:r>
            <a:r>
              <a:rPr lang="en-US" dirty="0">
                <a:solidFill>
                  <a:srgbClr val="A31515"/>
                </a:solidFill>
                <a:latin typeface="Menlo" panose="020B0609030804020204" pitchFamily="49" charset="0"/>
              </a:rPr>
              <a:t>&gt;</a:t>
            </a:r>
            <a:endParaRPr lang="en-US" dirty="0">
              <a:solidFill>
                <a:srgbClr val="3B3B3B"/>
              </a:solidFill>
              <a:latin typeface="Menlo" panose="020B0609030804020204" pitchFamily="49" charset="0"/>
            </a:endParaRPr>
          </a:p>
          <a:p>
            <a:r>
              <a:rPr lang="en-US" dirty="0">
                <a:solidFill>
                  <a:srgbClr val="AF00DB"/>
                </a:solidFill>
                <a:latin typeface="Menlo" panose="020B0609030804020204" pitchFamily="49" charset="0"/>
              </a:rPr>
              <a:t>#include</a:t>
            </a:r>
            <a:r>
              <a:rPr lang="en-US" dirty="0">
                <a:solidFill>
                  <a:srgbClr val="0000FF"/>
                </a:solidFill>
                <a:latin typeface="Menlo" panose="020B0609030804020204" pitchFamily="49" charset="0"/>
              </a:rPr>
              <a:t>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stdlib.h</a:t>
            </a:r>
            <a:r>
              <a:rPr lang="en-US" dirty="0">
                <a:solidFill>
                  <a:srgbClr val="A31515"/>
                </a:solidFill>
                <a:latin typeface="Menlo" panose="020B0609030804020204" pitchFamily="49" charset="0"/>
              </a:rPr>
              <a:t>&gt;</a:t>
            </a:r>
            <a:endParaRPr lang="en-US" dirty="0">
              <a:solidFill>
                <a:srgbClr val="3B3B3B"/>
              </a:solidFill>
              <a:latin typeface="Menlo" panose="020B0609030804020204" pitchFamily="49" charset="0"/>
            </a:endParaRPr>
          </a:p>
          <a:p>
            <a:r>
              <a:rPr lang="en-US" dirty="0">
                <a:solidFill>
                  <a:srgbClr val="AF00DB"/>
                </a:solidFill>
                <a:latin typeface="Menlo" panose="020B0609030804020204" pitchFamily="49" charset="0"/>
              </a:rPr>
              <a:t>#include</a:t>
            </a:r>
            <a:r>
              <a:rPr lang="en-US" dirty="0">
                <a:solidFill>
                  <a:srgbClr val="0000FF"/>
                </a:solidFill>
                <a:latin typeface="Menlo" panose="020B0609030804020204" pitchFamily="49" charset="0"/>
              </a:rPr>
              <a:t>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mpi.h</a:t>
            </a:r>
            <a:r>
              <a:rPr lang="en-US" dirty="0">
                <a:solidFill>
                  <a:srgbClr val="A31515"/>
                </a:solidFill>
                <a:latin typeface="Menlo" panose="020B0609030804020204" pitchFamily="49" charset="0"/>
              </a:rPr>
              <a:t>&gt;</a:t>
            </a:r>
            <a:endParaRPr lang="en-US" dirty="0">
              <a:solidFill>
                <a:srgbClr val="3B3B3B"/>
              </a:solidFill>
              <a:latin typeface="Menlo" panose="020B0609030804020204" pitchFamily="49" charset="0"/>
            </a:endParaRPr>
          </a:p>
          <a:p>
            <a:r>
              <a:rPr lang="en-US" dirty="0" err="1">
                <a:solidFill>
                  <a:srgbClr val="0000FF"/>
                </a:solidFill>
                <a:latin typeface="Menlo" panose="020B0609030804020204" pitchFamily="49" charset="0"/>
              </a:rPr>
              <a:t>int</a:t>
            </a:r>
            <a:r>
              <a:rPr lang="en-US" dirty="0">
                <a:solidFill>
                  <a:srgbClr val="3B3B3B"/>
                </a:solidFill>
                <a:latin typeface="Menlo" panose="020B0609030804020204" pitchFamily="49" charset="0"/>
              </a:rPr>
              <a:t> </a:t>
            </a:r>
            <a:r>
              <a:rPr lang="en-US" dirty="0">
                <a:solidFill>
                  <a:srgbClr val="795E26"/>
                </a:solidFill>
                <a:latin typeface="Menlo" panose="020B0609030804020204" pitchFamily="49" charset="0"/>
              </a:rPr>
              <a:t>main</a:t>
            </a:r>
            <a:r>
              <a:rPr lang="en-US" dirty="0">
                <a:solidFill>
                  <a:srgbClr val="3B3B3B"/>
                </a:solidFill>
                <a:latin typeface="Menlo" panose="020B0609030804020204" pitchFamily="49" charset="0"/>
              </a:rPr>
              <a:t>(</a:t>
            </a:r>
            <a:r>
              <a:rPr lang="en-US" dirty="0" err="1">
                <a:solidFill>
                  <a:srgbClr val="0000FF"/>
                </a:solidFill>
                <a:latin typeface="Menlo" panose="020B0609030804020204" pitchFamily="49" charset="0"/>
              </a:rPr>
              <a:t>int</a:t>
            </a:r>
            <a:r>
              <a:rPr lang="en-US" dirty="0">
                <a:solidFill>
                  <a:srgbClr val="3B3B3B"/>
                </a:solidFill>
                <a:latin typeface="Menlo" panose="020B0609030804020204" pitchFamily="49" charset="0"/>
              </a:rPr>
              <a:t> </a:t>
            </a:r>
            <a:r>
              <a:rPr lang="en-US" dirty="0" err="1">
                <a:solidFill>
                  <a:srgbClr val="001080"/>
                </a:solidFill>
                <a:latin typeface="Menlo" panose="020B0609030804020204" pitchFamily="49" charset="0"/>
              </a:rPr>
              <a:t>argc</a:t>
            </a:r>
            <a:r>
              <a:rPr lang="en-US" dirty="0">
                <a:solidFill>
                  <a:srgbClr val="3B3B3B"/>
                </a:solidFill>
                <a:latin typeface="Menlo" panose="020B0609030804020204" pitchFamily="49" charset="0"/>
              </a:rPr>
              <a:t>, </a:t>
            </a:r>
            <a:r>
              <a:rPr lang="en-US" dirty="0">
                <a:solidFill>
                  <a:srgbClr val="0000FF"/>
                </a:solidFill>
                <a:latin typeface="Menlo" panose="020B0609030804020204" pitchFamily="49" charset="0"/>
              </a:rPr>
              <a:t>char</a:t>
            </a:r>
            <a:r>
              <a:rPr lang="en-US" dirty="0">
                <a:solidFill>
                  <a:srgbClr val="000000"/>
                </a:solidFill>
                <a:latin typeface="Menlo" panose="020B0609030804020204" pitchFamily="49" charset="0"/>
              </a:rPr>
              <a:t>*</a:t>
            </a:r>
            <a:r>
              <a:rPr lang="en-US" dirty="0">
                <a:solidFill>
                  <a:srgbClr val="3B3B3B"/>
                </a:solidFill>
                <a:latin typeface="Menlo" panose="020B0609030804020204" pitchFamily="49" charset="0"/>
              </a:rPr>
              <a:t> </a:t>
            </a:r>
            <a:r>
              <a:rPr lang="en-US" dirty="0" err="1">
                <a:solidFill>
                  <a:srgbClr val="001080"/>
                </a:solidFill>
                <a:latin typeface="Menlo" panose="020B0609030804020204" pitchFamily="49" charset="0"/>
              </a:rPr>
              <a:t>argv</a:t>
            </a:r>
            <a:r>
              <a:rPr lang="en-US" dirty="0">
                <a:solidFill>
                  <a:srgbClr val="0000FF"/>
                </a:solidFill>
                <a:latin typeface="Menlo" panose="020B0609030804020204" pitchFamily="49" charset="0"/>
              </a:rPr>
              <a:t>[]</a:t>
            </a:r>
            <a:r>
              <a:rPr lang="en-US" dirty="0">
                <a:solidFill>
                  <a:srgbClr val="3B3B3B"/>
                </a:solidFill>
                <a:latin typeface="Menlo" panose="020B0609030804020204" pitchFamily="49" charset="0"/>
              </a:rPr>
              <a:t>)</a:t>
            </a:r>
          </a:p>
          <a:p>
            <a:r>
              <a:rPr lang="en-US" dirty="0">
                <a:solidFill>
                  <a:srgbClr val="3B3B3B"/>
                </a:solidFill>
                <a:latin typeface="Menlo" panose="020B0609030804020204" pitchFamily="49" charset="0"/>
              </a:rPr>
              <a:t>{</a:t>
            </a: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MPI_Init</a:t>
            </a:r>
            <a:r>
              <a:rPr lang="en-US" dirty="0">
                <a:solidFill>
                  <a:srgbClr val="3B3B3B"/>
                </a:solidFill>
                <a:latin typeface="Menlo" panose="020B0609030804020204" pitchFamily="49" charset="0"/>
              </a:rPr>
              <a:t>(</a:t>
            </a:r>
            <a:r>
              <a:rPr lang="en-US" dirty="0">
                <a:solidFill>
                  <a:srgbClr val="000000"/>
                </a:solidFill>
                <a:latin typeface="Menlo" panose="020B0609030804020204" pitchFamily="49" charset="0"/>
              </a:rPr>
              <a:t>&amp;</a:t>
            </a:r>
            <a:r>
              <a:rPr lang="en-US" dirty="0" err="1">
                <a:solidFill>
                  <a:srgbClr val="3B3B3B"/>
                </a:solidFill>
                <a:latin typeface="Menlo" panose="020B0609030804020204" pitchFamily="49" charset="0"/>
              </a:rPr>
              <a:t>argc</a:t>
            </a:r>
            <a:r>
              <a:rPr lang="en-US" dirty="0">
                <a:solidFill>
                  <a:srgbClr val="3B3B3B"/>
                </a:solidFill>
                <a:latin typeface="Menlo" panose="020B0609030804020204" pitchFamily="49" charset="0"/>
              </a:rPr>
              <a:t>, </a:t>
            </a:r>
            <a:r>
              <a:rPr lang="en-US" dirty="0">
                <a:solidFill>
                  <a:srgbClr val="000000"/>
                </a:solidFill>
                <a:latin typeface="Menlo" panose="020B0609030804020204" pitchFamily="49" charset="0"/>
              </a:rPr>
              <a:t>&amp;</a:t>
            </a:r>
            <a:r>
              <a:rPr lang="en-US" dirty="0" err="1">
                <a:solidFill>
                  <a:srgbClr val="3B3B3B"/>
                </a:solidFill>
                <a:latin typeface="Menlo" panose="020B0609030804020204" pitchFamily="49" charset="0"/>
              </a:rPr>
              <a:t>argv</a:t>
            </a:r>
            <a:r>
              <a:rPr lang="en-US" dirty="0">
                <a:solidFill>
                  <a:srgbClr val="3B3B3B"/>
                </a:solidFill>
                <a:latin typeface="Menlo" panose="020B0609030804020204" pitchFamily="49" charset="0"/>
              </a:rPr>
              <a:t>);</a:t>
            </a:r>
          </a:p>
          <a:p>
            <a:r>
              <a:rPr lang="he-IL" dirty="0">
                <a:solidFill>
                  <a:srgbClr val="008000"/>
                </a:solidFill>
                <a:latin typeface="Menlo" panose="020B0609030804020204" pitchFamily="49" charset="0"/>
              </a:rPr>
              <a:t>	</a:t>
            </a:r>
            <a:r>
              <a:rPr lang="en-US" dirty="0">
                <a:solidFill>
                  <a:srgbClr val="008000"/>
                </a:solidFill>
                <a:latin typeface="Menlo" panose="020B0609030804020204" pitchFamily="49" charset="0"/>
              </a:rPr>
              <a:t>// Get number of processes </a:t>
            </a:r>
            <a:r>
              <a:rPr lang="en-US" dirty="0" err="1">
                <a:solidFill>
                  <a:srgbClr val="0000FF"/>
                </a:solidFill>
                <a:latin typeface="Menlo" panose="020B0609030804020204" pitchFamily="49" charset="0"/>
              </a:rPr>
              <a:t>int</a:t>
            </a:r>
            <a:r>
              <a:rPr lang="en-US" dirty="0">
                <a:solidFill>
                  <a:srgbClr val="3B3B3B"/>
                </a:solidFill>
                <a:latin typeface="Menlo" panose="020B0609030804020204" pitchFamily="49" charset="0"/>
              </a:rPr>
              <a:t> size;</a:t>
            </a: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MPI_Comm_size</a:t>
            </a:r>
            <a:r>
              <a:rPr lang="en-US" dirty="0">
                <a:solidFill>
                  <a:srgbClr val="3B3B3B"/>
                </a:solidFill>
                <a:latin typeface="Menlo" panose="020B0609030804020204" pitchFamily="49" charset="0"/>
              </a:rPr>
              <a:t>(MPI_COMM_WORLD, </a:t>
            </a:r>
            <a:r>
              <a:rPr lang="en-US" dirty="0">
                <a:solidFill>
                  <a:srgbClr val="000000"/>
                </a:solidFill>
                <a:latin typeface="Menlo" panose="020B0609030804020204" pitchFamily="49" charset="0"/>
              </a:rPr>
              <a:t>&amp;</a:t>
            </a:r>
            <a:r>
              <a:rPr lang="en-US" dirty="0">
                <a:solidFill>
                  <a:srgbClr val="3B3B3B"/>
                </a:solidFill>
                <a:latin typeface="Menlo" panose="020B0609030804020204" pitchFamily="49" charset="0"/>
              </a:rPr>
              <a:t>size);</a:t>
            </a:r>
          </a:p>
          <a:p>
            <a:r>
              <a:rPr lang="he-IL" dirty="0">
                <a:solidFill>
                  <a:srgbClr val="008000"/>
                </a:solidFill>
                <a:latin typeface="Menlo" panose="020B0609030804020204" pitchFamily="49" charset="0"/>
              </a:rPr>
              <a:t>	</a:t>
            </a:r>
            <a:r>
              <a:rPr lang="en-US" dirty="0">
                <a:solidFill>
                  <a:srgbClr val="008000"/>
                </a:solidFill>
                <a:latin typeface="Menlo" panose="020B0609030804020204" pitchFamily="49" charset="0"/>
              </a:rPr>
              <a:t>// Get my rank</a:t>
            </a:r>
            <a:endParaRPr lang="en-US" dirty="0">
              <a:solidFill>
                <a:srgbClr val="3B3B3B"/>
              </a:solidFill>
              <a:latin typeface="Menlo" panose="020B0609030804020204" pitchFamily="49" charset="0"/>
            </a:endParaRPr>
          </a:p>
          <a:p>
            <a:r>
              <a:rPr lang="he-IL" dirty="0">
                <a:solidFill>
                  <a:srgbClr val="0000FF"/>
                </a:solidFill>
                <a:latin typeface="Menlo" panose="020B0609030804020204" pitchFamily="49" charset="0"/>
              </a:rPr>
              <a:t>	</a:t>
            </a:r>
            <a:r>
              <a:rPr lang="en-US" dirty="0" err="1">
                <a:solidFill>
                  <a:srgbClr val="0000FF"/>
                </a:solidFill>
                <a:latin typeface="Menlo" panose="020B0609030804020204" pitchFamily="49" charset="0"/>
              </a:rPr>
              <a:t>int</a:t>
            </a:r>
            <a:r>
              <a:rPr lang="en-US" dirty="0">
                <a:solidFill>
                  <a:srgbClr val="3B3B3B"/>
                </a:solidFill>
                <a:latin typeface="Menlo" panose="020B0609030804020204" pitchFamily="49" charset="0"/>
              </a:rPr>
              <a:t> </a:t>
            </a:r>
            <a:r>
              <a:rPr lang="en-US" dirty="0" err="1">
                <a:solidFill>
                  <a:srgbClr val="3B3B3B"/>
                </a:solidFill>
                <a:latin typeface="Menlo" panose="020B0609030804020204" pitchFamily="49" charset="0"/>
              </a:rPr>
              <a:t>my_rank</a:t>
            </a:r>
            <a:r>
              <a:rPr lang="en-US" dirty="0">
                <a:solidFill>
                  <a:srgbClr val="3B3B3B"/>
                </a:solidFill>
                <a:latin typeface="Menlo" panose="020B0609030804020204" pitchFamily="49" charset="0"/>
              </a:rPr>
              <a:t>;</a:t>
            </a: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MPI_Comm_rank</a:t>
            </a:r>
            <a:r>
              <a:rPr lang="en-US" dirty="0">
                <a:solidFill>
                  <a:srgbClr val="3B3B3B"/>
                </a:solidFill>
                <a:latin typeface="Menlo" panose="020B0609030804020204" pitchFamily="49" charset="0"/>
              </a:rPr>
              <a:t>(MPI_COMM_WORLD, </a:t>
            </a:r>
            <a:r>
              <a:rPr lang="en-US" dirty="0">
                <a:solidFill>
                  <a:srgbClr val="000000"/>
                </a:solidFill>
                <a:latin typeface="Menlo" panose="020B0609030804020204" pitchFamily="49" charset="0"/>
              </a:rPr>
              <a:t>&amp;</a:t>
            </a:r>
            <a:r>
              <a:rPr lang="en-US" dirty="0" err="1">
                <a:solidFill>
                  <a:srgbClr val="3B3B3B"/>
                </a:solidFill>
                <a:latin typeface="Menlo" panose="020B0609030804020204" pitchFamily="49" charset="0"/>
              </a:rPr>
              <a:t>my_rank</a:t>
            </a:r>
            <a:r>
              <a:rPr lang="en-US" dirty="0">
                <a:solidFill>
                  <a:srgbClr val="3B3B3B"/>
                </a:solidFill>
                <a:latin typeface="Menlo" panose="020B0609030804020204" pitchFamily="49" charset="0"/>
              </a:rPr>
              <a:t>);</a:t>
            </a:r>
          </a:p>
          <a:p>
            <a:r>
              <a:rPr lang="he-IL" dirty="0">
                <a:solidFill>
                  <a:srgbClr val="008000"/>
                </a:solidFill>
                <a:latin typeface="Menlo" panose="020B0609030804020204" pitchFamily="49" charset="0"/>
              </a:rPr>
              <a:t>	</a:t>
            </a:r>
          </a:p>
          <a:p>
            <a:r>
              <a:rPr lang="he-IL" dirty="0">
                <a:solidFill>
                  <a:srgbClr val="008000"/>
                </a:solidFill>
                <a:latin typeface="Menlo" panose="020B0609030804020204" pitchFamily="49" charset="0"/>
              </a:rPr>
              <a:t>	</a:t>
            </a:r>
            <a:r>
              <a:rPr lang="en-US" dirty="0">
                <a:solidFill>
                  <a:srgbClr val="008000"/>
                </a:solidFill>
                <a:latin typeface="Menlo" panose="020B0609030804020204" pitchFamily="49" charset="0"/>
              </a:rPr>
              <a:t>// Define my value</a:t>
            </a:r>
            <a:endParaRPr lang="en-US" dirty="0">
              <a:solidFill>
                <a:srgbClr val="3B3B3B"/>
              </a:solidFill>
              <a:latin typeface="Menlo" panose="020B0609030804020204" pitchFamily="49" charset="0"/>
            </a:endParaRPr>
          </a:p>
          <a:p>
            <a:r>
              <a:rPr lang="he-IL" dirty="0">
                <a:solidFill>
                  <a:srgbClr val="0000FF"/>
                </a:solidFill>
                <a:latin typeface="Menlo" panose="020B0609030804020204" pitchFamily="49" charset="0"/>
              </a:rPr>
              <a:t>	</a:t>
            </a:r>
            <a:r>
              <a:rPr lang="en-US" dirty="0" err="1">
                <a:solidFill>
                  <a:srgbClr val="0000FF"/>
                </a:solidFill>
                <a:latin typeface="Menlo" panose="020B0609030804020204" pitchFamily="49" charset="0"/>
              </a:rPr>
              <a:t>int</a:t>
            </a:r>
            <a:r>
              <a:rPr lang="en-US" dirty="0">
                <a:solidFill>
                  <a:srgbClr val="3B3B3B"/>
                </a:solidFill>
                <a:latin typeface="Menlo" panose="020B0609030804020204" pitchFamily="49" charset="0"/>
              </a:rPr>
              <a:t> </a:t>
            </a:r>
            <a:r>
              <a:rPr lang="en-US" dirty="0" err="1">
                <a:solidFill>
                  <a:srgbClr val="3B3B3B"/>
                </a:solidFill>
                <a:latin typeface="Menlo" panose="020B0609030804020204" pitchFamily="49" charset="0"/>
              </a:rPr>
              <a:t>my_value</a:t>
            </a:r>
            <a:r>
              <a:rPr lang="en-US" dirty="0">
                <a:solidFill>
                  <a:srgbClr val="3B3B3B"/>
                </a:solidFill>
                <a:latin typeface="Menlo" panose="020B0609030804020204" pitchFamily="49" charset="0"/>
              </a:rPr>
              <a:t> </a:t>
            </a:r>
            <a:r>
              <a:rPr lang="en-US" dirty="0">
                <a:solidFill>
                  <a:srgbClr val="000000"/>
                </a:solidFill>
                <a:latin typeface="Menlo" panose="020B0609030804020204" pitchFamily="49" charset="0"/>
              </a:rPr>
              <a:t>=</a:t>
            </a:r>
            <a:r>
              <a:rPr lang="en-US" dirty="0">
                <a:solidFill>
                  <a:srgbClr val="3B3B3B"/>
                </a:solidFill>
                <a:latin typeface="Menlo" panose="020B0609030804020204" pitchFamily="49" charset="0"/>
              </a:rPr>
              <a:t> </a:t>
            </a:r>
            <a:r>
              <a:rPr lang="en-US" dirty="0" err="1">
                <a:solidFill>
                  <a:srgbClr val="3B3B3B"/>
                </a:solidFill>
                <a:latin typeface="Menlo" panose="020B0609030804020204" pitchFamily="49" charset="0"/>
              </a:rPr>
              <a:t>my_rank</a:t>
            </a:r>
            <a:r>
              <a:rPr lang="en-US" dirty="0">
                <a:solidFill>
                  <a:srgbClr val="3B3B3B"/>
                </a:solidFill>
                <a:latin typeface="Menlo" panose="020B0609030804020204" pitchFamily="49" charset="0"/>
              </a:rPr>
              <a:t> </a:t>
            </a:r>
            <a:r>
              <a:rPr lang="en-US" dirty="0">
                <a:solidFill>
                  <a:srgbClr val="000000"/>
                </a:solidFill>
                <a:latin typeface="Menlo" panose="020B0609030804020204" pitchFamily="49" charset="0"/>
              </a:rPr>
              <a:t>*</a:t>
            </a:r>
            <a:r>
              <a:rPr lang="en-US" dirty="0">
                <a:solidFill>
                  <a:srgbClr val="3B3B3B"/>
                </a:solidFill>
                <a:latin typeface="Menlo" panose="020B0609030804020204" pitchFamily="49" charset="0"/>
              </a:rPr>
              <a:t> </a:t>
            </a:r>
            <a:r>
              <a:rPr lang="en-US" dirty="0">
                <a:solidFill>
                  <a:srgbClr val="098658"/>
                </a:solidFill>
                <a:latin typeface="Menlo" panose="020B0609030804020204" pitchFamily="49" charset="0"/>
              </a:rPr>
              <a:t>100</a:t>
            </a:r>
            <a:r>
              <a:rPr lang="en-US" dirty="0">
                <a:solidFill>
                  <a:srgbClr val="3B3B3B"/>
                </a:solidFill>
                <a:latin typeface="Menlo" panose="020B0609030804020204" pitchFamily="49" charset="0"/>
              </a:rPr>
              <a:t>;</a:t>
            </a: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printf</a:t>
            </a:r>
            <a:r>
              <a:rPr lang="en-US" dirty="0">
                <a:solidFill>
                  <a:srgbClr val="3B3B3B"/>
                </a:solidFill>
                <a:latin typeface="Menlo" panose="020B0609030804020204" pitchFamily="49" charset="0"/>
              </a:rPr>
              <a:t>(</a:t>
            </a:r>
            <a:r>
              <a:rPr lang="en-US" dirty="0">
                <a:solidFill>
                  <a:srgbClr val="A31515"/>
                </a:solidFill>
                <a:latin typeface="Menlo" panose="020B0609030804020204" pitchFamily="49" charset="0"/>
              </a:rPr>
              <a:t>"Process </a:t>
            </a:r>
            <a:r>
              <a:rPr lang="en-US" dirty="0">
                <a:solidFill>
                  <a:srgbClr val="001080"/>
                </a:solidFill>
                <a:latin typeface="Menlo" panose="020B0609030804020204" pitchFamily="49" charset="0"/>
              </a:rPr>
              <a:t>%d</a:t>
            </a:r>
            <a:r>
              <a:rPr lang="en-US" dirty="0">
                <a:solidFill>
                  <a:srgbClr val="A31515"/>
                </a:solidFill>
                <a:latin typeface="Menlo" panose="020B0609030804020204" pitchFamily="49" charset="0"/>
              </a:rPr>
              <a:t>, my value = </a:t>
            </a:r>
            <a:r>
              <a:rPr lang="en-US" dirty="0">
                <a:solidFill>
                  <a:srgbClr val="001080"/>
                </a:solidFill>
                <a:latin typeface="Menlo" panose="020B0609030804020204" pitchFamily="49" charset="0"/>
              </a:rPr>
              <a:t>%d</a:t>
            </a:r>
            <a:r>
              <a:rPr lang="en-US" dirty="0">
                <a:solidFill>
                  <a:srgbClr val="A31515"/>
                </a:solidFill>
                <a:latin typeface="Menlo" panose="020B0609030804020204" pitchFamily="49" charset="0"/>
              </a:rPr>
              <a:t>.</a:t>
            </a:r>
            <a:r>
              <a:rPr lang="en-US" dirty="0">
                <a:solidFill>
                  <a:srgbClr val="EE0000"/>
                </a:solidFill>
                <a:latin typeface="Menlo" panose="020B0609030804020204" pitchFamily="49" charset="0"/>
              </a:rPr>
              <a:t>\n</a:t>
            </a:r>
            <a:r>
              <a:rPr lang="en-US" dirty="0">
                <a:solidFill>
                  <a:srgbClr val="A31515"/>
                </a:solidFill>
                <a:latin typeface="Menlo" panose="020B0609030804020204" pitchFamily="49" charset="0"/>
              </a:rPr>
              <a:t>"</a:t>
            </a:r>
            <a:r>
              <a:rPr lang="en-US" dirty="0">
                <a:solidFill>
                  <a:srgbClr val="3B3B3B"/>
                </a:solidFill>
                <a:latin typeface="Menlo" panose="020B0609030804020204" pitchFamily="49" charset="0"/>
              </a:rPr>
              <a:t>, </a:t>
            </a:r>
            <a:r>
              <a:rPr lang="en-US" dirty="0" err="1">
                <a:solidFill>
                  <a:srgbClr val="3B3B3B"/>
                </a:solidFill>
                <a:latin typeface="Menlo" panose="020B0609030804020204" pitchFamily="49" charset="0"/>
              </a:rPr>
              <a:t>my_rank</a:t>
            </a:r>
            <a:r>
              <a:rPr lang="en-US" dirty="0">
                <a:solidFill>
                  <a:srgbClr val="3B3B3B"/>
                </a:solidFill>
                <a:latin typeface="Menlo" panose="020B0609030804020204" pitchFamily="49" charset="0"/>
              </a:rPr>
              <a:t>, </a:t>
            </a:r>
            <a:r>
              <a:rPr lang="en-US" dirty="0" err="1">
                <a:solidFill>
                  <a:srgbClr val="3B3B3B"/>
                </a:solidFill>
                <a:latin typeface="Menlo" panose="020B0609030804020204" pitchFamily="49" charset="0"/>
              </a:rPr>
              <a:t>my_value</a:t>
            </a:r>
            <a:r>
              <a:rPr lang="en-US" dirty="0">
                <a:solidFill>
                  <a:srgbClr val="3B3B3B"/>
                </a:solidFill>
                <a:latin typeface="Menlo" panose="020B0609030804020204" pitchFamily="49" charset="0"/>
              </a:rPr>
              <a:t>);</a:t>
            </a:r>
          </a:p>
          <a:p>
            <a:r>
              <a:rPr lang="he-IL" dirty="0">
                <a:solidFill>
                  <a:srgbClr val="0000FF"/>
                </a:solidFill>
                <a:latin typeface="Menlo" panose="020B0609030804020204" pitchFamily="49" charset="0"/>
              </a:rPr>
              <a:t>	</a:t>
            </a:r>
            <a:r>
              <a:rPr lang="en-US" dirty="0" err="1">
                <a:solidFill>
                  <a:srgbClr val="0000FF"/>
                </a:solidFill>
                <a:latin typeface="Menlo" panose="020B0609030804020204" pitchFamily="49" charset="0"/>
              </a:rPr>
              <a:t>int</a:t>
            </a:r>
            <a:r>
              <a:rPr lang="en-US" dirty="0">
                <a:solidFill>
                  <a:srgbClr val="3B3B3B"/>
                </a:solidFill>
                <a:latin typeface="Menlo" panose="020B0609030804020204" pitchFamily="49" charset="0"/>
              </a:rPr>
              <a:t> </a:t>
            </a:r>
            <a:r>
              <a:rPr lang="en-US" dirty="0">
                <a:solidFill>
                  <a:srgbClr val="001080"/>
                </a:solidFill>
                <a:latin typeface="Menlo" panose="020B0609030804020204" pitchFamily="49" charset="0"/>
              </a:rPr>
              <a:t>buffer</a:t>
            </a:r>
            <a:r>
              <a:rPr lang="en-US" dirty="0">
                <a:solidFill>
                  <a:srgbClr val="3B3B3B"/>
                </a:solidFill>
                <a:latin typeface="Menlo" panose="020B0609030804020204" pitchFamily="49" charset="0"/>
              </a:rPr>
              <a:t>[size];</a:t>
            </a:r>
            <a:r>
              <a:rPr lang="he-IL" dirty="0">
                <a:solidFill>
                  <a:srgbClr val="3B3B3B"/>
                </a:solidFill>
                <a:latin typeface="Menlo" panose="020B0609030804020204" pitchFamily="49" charset="0"/>
              </a:rPr>
              <a:t>	</a:t>
            </a:r>
            <a:endParaRPr lang="en-US" dirty="0">
              <a:solidFill>
                <a:srgbClr val="3B3B3B"/>
              </a:solidFill>
              <a:latin typeface="Menlo" panose="020B0609030804020204" pitchFamily="49" charset="0"/>
            </a:endParaRP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MPI_Allgather</a:t>
            </a:r>
            <a:r>
              <a:rPr lang="en-US" dirty="0">
                <a:solidFill>
                  <a:srgbClr val="3B3B3B"/>
                </a:solidFill>
                <a:latin typeface="Menlo" panose="020B0609030804020204" pitchFamily="49" charset="0"/>
              </a:rPr>
              <a:t>(</a:t>
            </a:r>
            <a:r>
              <a:rPr lang="en-US" dirty="0">
                <a:solidFill>
                  <a:srgbClr val="000000"/>
                </a:solidFill>
                <a:latin typeface="Menlo" panose="020B0609030804020204" pitchFamily="49" charset="0"/>
              </a:rPr>
              <a:t>&amp;</a:t>
            </a:r>
            <a:r>
              <a:rPr lang="en-US" dirty="0" err="1">
                <a:solidFill>
                  <a:srgbClr val="3B3B3B"/>
                </a:solidFill>
                <a:latin typeface="Menlo" panose="020B0609030804020204" pitchFamily="49" charset="0"/>
              </a:rPr>
              <a:t>my_value</a:t>
            </a:r>
            <a:r>
              <a:rPr lang="en-US" dirty="0">
                <a:solidFill>
                  <a:srgbClr val="3B3B3B"/>
                </a:solidFill>
                <a:latin typeface="Menlo" panose="020B0609030804020204" pitchFamily="49" charset="0"/>
              </a:rPr>
              <a:t>, </a:t>
            </a:r>
            <a:r>
              <a:rPr lang="en-US" dirty="0">
                <a:solidFill>
                  <a:srgbClr val="098658"/>
                </a:solidFill>
                <a:latin typeface="Menlo" panose="020B0609030804020204" pitchFamily="49" charset="0"/>
              </a:rPr>
              <a:t>1</a:t>
            </a:r>
            <a:r>
              <a:rPr lang="en-US" dirty="0">
                <a:solidFill>
                  <a:srgbClr val="3B3B3B"/>
                </a:solidFill>
                <a:latin typeface="Menlo" panose="020B0609030804020204" pitchFamily="49" charset="0"/>
              </a:rPr>
              <a:t>, MPI_INT, buffer, </a:t>
            </a:r>
            <a:r>
              <a:rPr lang="en-US" dirty="0">
                <a:solidFill>
                  <a:srgbClr val="098658"/>
                </a:solidFill>
                <a:latin typeface="Menlo" panose="020B0609030804020204" pitchFamily="49" charset="0"/>
              </a:rPr>
              <a:t>1</a:t>
            </a:r>
            <a:r>
              <a:rPr lang="en-US" dirty="0">
                <a:solidFill>
                  <a:srgbClr val="3B3B3B"/>
                </a:solidFill>
                <a:latin typeface="Menlo" panose="020B0609030804020204" pitchFamily="49" charset="0"/>
              </a:rPr>
              <a:t>, MPI_INT,MPI_COMM_WORLD);</a:t>
            </a: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printf</a:t>
            </a:r>
            <a:r>
              <a:rPr lang="en-US" dirty="0">
                <a:solidFill>
                  <a:srgbClr val="3B3B3B"/>
                </a:solidFill>
                <a:latin typeface="Menlo" panose="020B0609030804020204" pitchFamily="49" charset="0"/>
              </a:rPr>
              <a:t>(</a:t>
            </a:r>
            <a:r>
              <a:rPr lang="en-US" dirty="0">
                <a:solidFill>
                  <a:srgbClr val="A31515"/>
                </a:solidFill>
                <a:latin typeface="Menlo" panose="020B0609030804020204" pitchFamily="49" charset="0"/>
              </a:rPr>
              <a:t>"Values collected on process </a:t>
            </a:r>
            <a:r>
              <a:rPr lang="en-US" dirty="0">
                <a:solidFill>
                  <a:srgbClr val="001080"/>
                </a:solidFill>
                <a:latin typeface="Menlo" panose="020B0609030804020204" pitchFamily="49" charset="0"/>
              </a:rPr>
              <a:t>%d</a:t>
            </a:r>
            <a:r>
              <a:rPr lang="en-US" dirty="0">
                <a:solidFill>
                  <a:srgbClr val="A31515"/>
                </a:solidFill>
                <a:latin typeface="Menlo" panose="020B0609030804020204" pitchFamily="49" charset="0"/>
              </a:rPr>
              <a:t>: </a:t>
            </a:r>
            <a:r>
              <a:rPr lang="en-US" dirty="0">
                <a:solidFill>
                  <a:srgbClr val="001080"/>
                </a:solidFill>
                <a:latin typeface="Menlo" panose="020B0609030804020204" pitchFamily="49" charset="0"/>
              </a:rPr>
              <a:t>%d</a:t>
            </a:r>
            <a:r>
              <a:rPr lang="en-US" dirty="0">
                <a:solidFill>
                  <a:srgbClr val="A31515"/>
                </a:solidFill>
                <a:latin typeface="Menlo" panose="020B0609030804020204" pitchFamily="49" charset="0"/>
              </a:rPr>
              <a:t>, </a:t>
            </a:r>
            <a:r>
              <a:rPr lang="en-US" dirty="0">
                <a:solidFill>
                  <a:srgbClr val="001080"/>
                </a:solidFill>
                <a:latin typeface="Menlo" panose="020B0609030804020204" pitchFamily="49" charset="0"/>
              </a:rPr>
              <a:t>%d</a:t>
            </a:r>
            <a:r>
              <a:rPr lang="en-US" dirty="0">
                <a:solidFill>
                  <a:srgbClr val="A31515"/>
                </a:solidFill>
                <a:latin typeface="Menlo" panose="020B0609030804020204" pitchFamily="49" charset="0"/>
              </a:rPr>
              <a:t>, </a:t>
            </a:r>
            <a:r>
              <a:rPr lang="en-US" dirty="0">
                <a:solidFill>
                  <a:srgbClr val="001080"/>
                </a:solidFill>
                <a:latin typeface="Menlo" panose="020B0609030804020204" pitchFamily="49" charset="0"/>
              </a:rPr>
              <a:t>%d</a:t>
            </a:r>
            <a:r>
              <a:rPr lang="en-US" dirty="0">
                <a:solidFill>
                  <a:srgbClr val="A31515"/>
                </a:solidFill>
                <a:latin typeface="Menlo" panose="020B0609030804020204" pitchFamily="49" charset="0"/>
              </a:rPr>
              <a:t>.</a:t>
            </a:r>
            <a:r>
              <a:rPr lang="en-US" dirty="0">
                <a:solidFill>
                  <a:srgbClr val="EE0000"/>
                </a:solidFill>
                <a:latin typeface="Menlo" panose="020B0609030804020204" pitchFamily="49" charset="0"/>
              </a:rPr>
              <a:t>\n</a:t>
            </a:r>
            <a:r>
              <a:rPr lang="en-US" dirty="0">
                <a:solidFill>
                  <a:srgbClr val="A31515"/>
                </a:solidFill>
                <a:latin typeface="Menlo" panose="020B0609030804020204" pitchFamily="49" charset="0"/>
              </a:rPr>
              <a:t>"</a:t>
            </a:r>
            <a:r>
              <a:rPr lang="en-US" dirty="0">
                <a:solidFill>
                  <a:srgbClr val="3B3B3B"/>
                </a:solidFill>
                <a:latin typeface="Menlo" panose="020B0609030804020204" pitchFamily="49" charset="0"/>
              </a:rPr>
              <a:t>, </a:t>
            </a:r>
            <a:r>
              <a:rPr lang="en-US" dirty="0" err="1">
                <a:solidFill>
                  <a:srgbClr val="3B3B3B"/>
                </a:solidFill>
                <a:latin typeface="Menlo" panose="020B0609030804020204" pitchFamily="49" charset="0"/>
              </a:rPr>
              <a:t>my_rank</a:t>
            </a:r>
            <a:r>
              <a:rPr lang="en-US" dirty="0">
                <a:solidFill>
                  <a:srgbClr val="3B3B3B"/>
                </a:solidFill>
                <a:latin typeface="Menlo" panose="020B0609030804020204" pitchFamily="49" charset="0"/>
              </a:rPr>
              <a:t>, </a:t>
            </a:r>
            <a:r>
              <a:rPr lang="en-US" dirty="0">
                <a:solidFill>
                  <a:srgbClr val="001080"/>
                </a:solidFill>
                <a:latin typeface="Menlo" panose="020B0609030804020204" pitchFamily="49" charset="0"/>
              </a:rPr>
              <a:t>buffer</a:t>
            </a:r>
            <a:r>
              <a:rPr lang="en-US" dirty="0">
                <a:solidFill>
                  <a:srgbClr val="3B3B3B"/>
                </a:solidFill>
                <a:latin typeface="Menlo" panose="020B0609030804020204" pitchFamily="49" charset="0"/>
              </a:rPr>
              <a:t>[</a:t>
            </a:r>
            <a:r>
              <a:rPr lang="en-US" dirty="0">
                <a:solidFill>
                  <a:srgbClr val="098658"/>
                </a:solidFill>
                <a:latin typeface="Menlo" panose="020B0609030804020204" pitchFamily="49" charset="0"/>
              </a:rPr>
              <a:t>0</a:t>
            </a:r>
            <a:r>
              <a:rPr lang="en-US" dirty="0">
                <a:solidFill>
                  <a:srgbClr val="3B3B3B"/>
                </a:solidFill>
                <a:latin typeface="Menlo" panose="020B0609030804020204" pitchFamily="49" charset="0"/>
              </a:rPr>
              <a:t>], </a:t>
            </a:r>
            <a:r>
              <a:rPr lang="he-IL" dirty="0">
                <a:solidFill>
                  <a:srgbClr val="3B3B3B"/>
                </a:solidFill>
                <a:latin typeface="Menlo" panose="020B0609030804020204" pitchFamily="49" charset="0"/>
              </a:rPr>
              <a:t>	               </a:t>
            </a:r>
            <a:r>
              <a:rPr lang="en-US" dirty="0">
                <a:solidFill>
                  <a:srgbClr val="001080"/>
                </a:solidFill>
                <a:latin typeface="Menlo" panose="020B0609030804020204" pitchFamily="49" charset="0"/>
              </a:rPr>
              <a:t>buffer</a:t>
            </a:r>
            <a:r>
              <a:rPr lang="en-US" dirty="0">
                <a:solidFill>
                  <a:srgbClr val="3B3B3B"/>
                </a:solidFill>
                <a:latin typeface="Menlo" panose="020B0609030804020204" pitchFamily="49" charset="0"/>
              </a:rPr>
              <a:t>[</a:t>
            </a:r>
            <a:r>
              <a:rPr lang="en-US" dirty="0">
                <a:solidFill>
                  <a:srgbClr val="098658"/>
                </a:solidFill>
                <a:latin typeface="Menlo" panose="020B0609030804020204" pitchFamily="49" charset="0"/>
              </a:rPr>
              <a:t>1</a:t>
            </a:r>
            <a:r>
              <a:rPr lang="en-US" dirty="0">
                <a:solidFill>
                  <a:srgbClr val="3B3B3B"/>
                </a:solidFill>
                <a:latin typeface="Menlo" panose="020B0609030804020204" pitchFamily="49" charset="0"/>
              </a:rPr>
              <a:t>], </a:t>
            </a:r>
            <a:r>
              <a:rPr lang="en-US" dirty="0">
                <a:solidFill>
                  <a:srgbClr val="001080"/>
                </a:solidFill>
                <a:latin typeface="Menlo" panose="020B0609030804020204" pitchFamily="49" charset="0"/>
              </a:rPr>
              <a:t>buffer</a:t>
            </a:r>
            <a:r>
              <a:rPr lang="en-US" dirty="0">
                <a:solidFill>
                  <a:srgbClr val="3B3B3B"/>
                </a:solidFill>
                <a:latin typeface="Menlo" panose="020B0609030804020204" pitchFamily="49" charset="0"/>
              </a:rPr>
              <a:t>[</a:t>
            </a:r>
            <a:r>
              <a:rPr lang="en-US" dirty="0">
                <a:solidFill>
                  <a:srgbClr val="098658"/>
                </a:solidFill>
                <a:latin typeface="Menlo" panose="020B0609030804020204" pitchFamily="49" charset="0"/>
              </a:rPr>
              <a:t>2</a:t>
            </a:r>
            <a:r>
              <a:rPr lang="en-US" dirty="0">
                <a:solidFill>
                  <a:srgbClr val="3B3B3B"/>
                </a:solidFill>
                <a:latin typeface="Menlo" panose="020B0609030804020204" pitchFamily="49" charset="0"/>
              </a:rPr>
              <a:t>]);</a:t>
            </a:r>
          </a:p>
          <a:p>
            <a:r>
              <a:rPr lang="he-IL" dirty="0">
                <a:solidFill>
                  <a:srgbClr val="795E26"/>
                </a:solidFill>
                <a:latin typeface="Menlo" panose="020B0609030804020204" pitchFamily="49" charset="0"/>
              </a:rPr>
              <a:t>	</a:t>
            </a:r>
            <a:r>
              <a:rPr lang="en-US" dirty="0" err="1">
                <a:solidFill>
                  <a:srgbClr val="795E26"/>
                </a:solidFill>
                <a:latin typeface="Menlo" panose="020B0609030804020204" pitchFamily="49" charset="0"/>
              </a:rPr>
              <a:t>MPI_Finalize</a:t>
            </a:r>
            <a:r>
              <a:rPr lang="en-US" dirty="0">
                <a:solidFill>
                  <a:srgbClr val="3B3B3B"/>
                </a:solidFill>
                <a:latin typeface="Menlo" panose="020B0609030804020204" pitchFamily="49" charset="0"/>
              </a:rPr>
              <a:t>();</a:t>
            </a:r>
          </a:p>
          <a:p>
            <a:r>
              <a:rPr lang="he-IL" dirty="0">
                <a:solidFill>
                  <a:srgbClr val="AF00DB"/>
                </a:solidFill>
                <a:latin typeface="Menlo" panose="020B0609030804020204" pitchFamily="49" charset="0"/>
              </a:rPr>
              <a:t>	</a:t>
            </a:r>
            <a:r>
              <a:rPr lang="en-US" dirty="0">
                <a:solidFill>
                  <a:srgbClr val="AF00DB"/>
                </a:solidFill>
                <a:latin typeface="Menlo" panose="020B0609030804020204" pitchFamily="49" charset="0"/>
              </a:rPr>
              <a:t>return</a:t>
            </a:r>
            <a:r>
              <a:rPr lang="en-US" dirty="0">
                <a:solidFill>
                  <a:srgbClr val="3B3B3B"/>
                </a:solidFill>
                <a:latin typeface="Menlo" panose="020B0609030804020204" pitchFamily="49" charset="0"/>
              </a:rPr>
              <a:t> EXIT_SUCCESS;</a:t>
            </a:r>
          </a:p>
          <a:p>
            <a:r>
              <a:rPr lang="en-US" dirty="0">
                <a:solidFill>
                  <a:srgbClr val="3B3B3B"/>
                </a:solidFill>
                <a:latin typeface="Menlo" panose="020B0609030804020204" pitchFamily="49" charset="0"/>
              </a:rPr>
              <a:t>}</a:t>
            </a:r>
            <a:endParaRPr lang="en-US" b="0" dirty="0">
              <a:solidFill>
                <a:srgbClr val="3B3B3B"/>
              </a:solidFill>
              <a:effectLst/>
              <a:latin typeface="Menlo" panose="020B0609030804020204" pitchFamily="49" charset="0"/>
            </a:endParaRPr>
          </a:p>
        </p:txBody>
      </p:sp>
      <p:sp>
        <p:nvSpPr>
          <p:cNvPr id="6" name="Rectangle 5">
            <a:extLst>
              <a:ext uri="{FF2B5EF4-FFF2-40B4-BE49-F238E27FC236}">
                <a16:creationId xmlns:a16="http://schemas.microsoft.com/office/drawing/2014/main" id="{8C88063C-F825-D742-B31F-BE65AB9DBA80}"/>
              </a:ext>
            </a:extLst>
          </p:cNvPr>
          <p:cNvSpPr/>
          <p:nvPr/>
        </p:nvSpPr>
        <p:spPr>
          <a:xfrm>
            <a:off x="7412181" y="221673"/>
            <a:ext cx="4627420" cy="2554545"/>
          </a:xfrm>
          <a:prstGeom prst="rect">
            <a:avLst/>
          </a:prstGeom>
          <a:ln>
            <a:solidFill>
              <a:schemeClr val="tx1"/>
            </a:solidFill>
          </a:ln>
        </p:spPr>
        <p:txBody>
          <a:bodyPr wrap="square">
            <a:spAutoFit/>
          </a:bodyPr>
          <a:lstStyle/>
          <a:p>
            <a:r>
              <a:rPr lang="en-US" sz="2000" dirty="0"/>
              <a:t>Process 0, my value = 0. </a:t>
            </a:r>
            <a:endParaRPr lang="he-IL" sz="2000" dirty="0"/>
          </a:p>
          <a:p>
            <a:r>
              <a:rPr lang="en-US" sz="2000" dirty="0"/>
              <a:t>Values collected on process 0: 0, 100, 200. </a:t>
            </a:r>
            <a:endParaRPr lang="he-IL" sz="2000" dirty="0"/>
          </a:p>
          <a:p>
            <a:r>
              <a:rPr lang="en-US" sz="2000" dirty="0"/>
              <a:t>Process 1, my value = 100. </a:t>
            </a:r>
            <a:endParaRPr lang="he-IL" sz="2000" dirty="0"/>
          </a:p>
          <a:p>
            <a:r>
              <a:rPr lang="en-US" sz="2000" dirty="0"/>
              <a:t>Values collected on process 1: 0, 100, 200. </a:t>
            </a:r>
            <a:endParaRPr lang="he-IL" sz="2000" dirty="0"/>
          </a:p>
          <a:p>
            <a:r>
              <a:rPr lang="en-US" sz="2000" dirty="0"/>
              <a:t>Process 2, my value = 200. </a:t>
            </a:r>
            <a:endParaRPr lang="he-IL" sz="2000" dirty="0"/>
          </a:p>
          <a:p>
            <a:r>
              <a:rPr lang="en-US" sz="2000" dirty="0"/>
              <a:t>Values collected on process 2: 0, 100, 200</a:t>
            </a:r>
            <a:r>
              <a:rPr lang="he-IL" sz="2000" dirty="0" err="1"/>
              <a:t>ץ</a:t>
            </a:r>
            <a:endParaRPr lang="he-IL" sz="2000" dirty="0"/>
          </a:p>
          <a:p>
            <a:r>
              <a:rPr lang="en-US" sz="2000" dirty="0"/>
              <a:t>Process 3, my value = 300. </a:t>
            </a:r>
            <a:endParaRPr lang="he-IL" sz="2000" dirty="0"/>
          </a:p>
          <a:p>
            <a:r>
              <a:rPr lang="en-US" sz="2000" dirty="0"/>
              <a:t>Values collected on process 3: 0, 100, 200.</a:t>
            </a:r>
          </a:p>
        </p:txBody>
      </p:sp>
    </p:spTree>
    <p:extLst>
      <p:ext uri="{BB962C8B-B14F-4D97-AF65-F5344CB8AC3E}">
        <p14:creationId xmlns:p14="http://schemas.microsoft.com/office/powerpoint/2010/main" val="26384825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C973-CF35-EF4C-A451-6229F96F7923}"/>
              </a:ext>
            </a:extLst>
          </p:cNvPr>
          <p:cNvSpPr>
            <a:spLocks noGrp="1"/>
          </p:cNvSpPr>
          <p:nvPr>
            <p:ph type="title"/>
          </p:nvPr>
        </p:nvSpPr>
        <p:spPr>
          <a:xfrm>
            <a:off x="838200" y="0"/>
            <a:ext cx="10515600" cy="1325563"/>
          </a:xfrm>
        </p:spPr>
        <p:txBody>
          <a:bodyPr/>
          <a:lstStyle/>
          <a:p>
            <a:r>
              <a:rPr lang="en-US" dirty="0"/>
              <a:t>Collective communication: Reduction</a:t>
            </a:r>
          </a:p>
        </p:txBody>
      </p:sp>
      <p:pic>
        <p:nvPicPr>
          <p:cNvPr id="5" name="Picture 4">
            <a:extLst>
              <a:ext uri="{FF2B5EF4-FFF2-40B4-BE49-F238E27FC236}">
                <a16:creationId xmlns:a16="http://schemas.microsoft.com/office/drawing/2014/main" id="{C13DF034-2B84-5A4A-AD41-D6D1A24D10C8}"/>
              </a:ext>
            </a:extLst>
          </p:cNvPr>
          <p:cNvPicPr>
            <a:picLocks noChangeAspect="1"/>
          </p:cNvPicPr>
          <p:nvPr/>
        </p:nvPicPr>
        <p:blipFill>
          <a:blip r:embed="rId2"/>
          <a:stretch>
            <a:fillRect/>
          </a:stretch>
        </p:blipFill>
        <p:spPr>
          <a:xfrm>
            <a:off x="0" y="1077027"/>
            <a:ext cx="12192000" cy="5658102"/>
          </a:xfrm>
          <a:prstGeom prst="rect">
            <a:avLst/>
          </a:prstGeom>
        </p:spPr>
      </p:pic>
    </p:spTree>
    <p:extLst>
      <p:ext uri="{BB962C8B-B14F-4D97-AF65-F5344CB8AC3E}">
        <p14:creationId xmlns:p14="http://schemas.microsoft.com/office/powerpoint/2010/main" val="260599535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C973-CF35-EF4C-A451-6229F96F7923}"/>
              </a:ext>
            </a:extLst>
          </p:cNvPr>
          <p:cNvSpPr>
            <a:spLocks noGrp="1"/>
          </p:cNvSpPr>
          <p:nvPr>
            <p:ph type="title"/>
          </p:nvPr>
        </p:nvSpPr>
        <p:spPr>
          <a:xfrm>
            <a:off x="838200" y="0"/>
            <a:ext cx="10515600" cy="1325563"/>
          </a:xfrm>
        </p:spPr>
        <p:txBody>
          <a:bodyPr/>
          <a:lstStyle/>
          <a:p>
            <a:r>
              <a:rPr lang="en-US" dirty="0"/>
              <a:t>Collective communication: Reduction to all </a:t>
            </a:r>
          </a:p>
        </p:txBody>
      </p:sp>
      <p:pic>
        <p:nvPicPr>
          <p:cNvPr id="4" name="Picture 3">
            <a:extLst>
              <a:ext uri="{FF2B5EF4-FFF2-40B4-BE49-F238E27FC236}">
                <a16:creationId xmlns:a16="http://schemas.microsoft.com/office/drawing/2014/main" id="{222BB68E-E283-A841-8206-45360E0155FB}"/>
              </a:ext>
            </a:extLst>
          </p:cNvPr>
          <p:cNvPicPr>
            <a:picLocks noChangeAspect="1"/>
          </p:cNvPicPr>
          <p:nvPr/>
        </p:nvPicPr>
        <p:blipFill>
          <a:blip r:embed="rId2"/>
          <a:stretch>
            <a:fillRect/>
          </a:stretch>
        </p:blipFill>
        <p:spPr>
          <a:xfrm>
            <a:off x="0" y="1083716"/>
            <a:ext cx="12192000" cy="5618221"/>
          </a:xfrm>
          <a:prstGeom prst="rect">
            <a:avLst/>
          </a:prstGeom>
        </p:spPr>
      </p:pic>
    </p:spTree>
    <p:extLst>
      <p:ext uri="{BB962C8B-B14F-4D97-AF65-F5344CB8AC3E}">
        <p14:creationId xmlns:p14="http://schemas.microsoft.com/office/powerpoint/2010/main" val="12152279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0A38A8-3453-AA42-8996-33D95B3C6C8D}"/>
              </a:ext>
            </a:extLst>
          </p:cNvPr>
          <p:cNvSpPr/>
          <p:nvPr/>
        </p:nvSpPr>
        <p:spPr>
          <a:xfrm>
            <a:off x="0" y="0"/>
            <a:ext cx="9753600" cy="7201972"/>
          </a:xfrm>
          <a:prstGeom prst="rect">
            <a:avLst/>
          </a:prstGeom>
        </p:spPr>
        <p:txBody>
          <a:bodyPr wrap="square">
            <a:spAutoFit/>
          </a:bodyPr>
          <a:lstStyle/>
          <a:p>
            <a:r>
              <a:rPr lang="en-US" sz="1400" dirty="0">
                <a:solidFill>
                  <a:srgbClr val="AF00DB"/>
                </a:solidFill>
                <a:latin typeface="Menlo" panose="020B0609030804020204" pitchFamily="49" charset="0"/>
              </a:rPr>
              <a:t>#include</a:t>
            </a:r>
            <a:r>
              <a:rPr lang="en-US" sz="1400" dirty="0">
                <a:solidFill>
                  <a:srgbClr val="0000FF"/>
                </a:solidFill>
                <a:latin typeface="Menlo" panose="020B0609030804020204" pitchFamily="49" charset="0"/>
              </a:rPr>
              <a:t> </a:t>
            </a:r>
            <a:r>
              <a:rPr lang="en-US" sz="1400" dirty="0">
                <a:solidFill>
                  <a:srgbClr val="A31515"/>
                </a:solidFill>
                <a:latin typeface="Menlo" panose="020B0609030804020204" pitchFamily="49" charset="0"/>
              </a:rPr>
              <a:t>&lt;</a:t>
            </a:r>
            <a:r>
              <a:rPr lang="en-US" sz="1400" dirty="0" err="1">
                <a:solidFill>
                  <a:srgbClr val="A31515"/>
                </a:solidFill>
                <a:latin typeface="Menlo" panose="020B0609030804020204" pitchFamily="49" charset="0"/>
              </a:rPr>
              <a:t>stdio.h</a:t>
            </a:r>
            <a:r>
              <a:rPr lang="en-US" sz="1400" dirty="0">
                <a:solidFill>
                  <a:srgbClr val="A31515"/>
                </a:solidFill>
                <a:latin typeface="Menlo" panose="020B0609030804020204" pitchFamily="49" charset="0"/>
              </a:rPr>
              <a:t>&gt;</a:t>
            </a:r>
            <a:endParaRPr lang="en-US" sz="1400" dirty="0">
              <a:solidFill>
                <a:srgbClr val="3B3B3B"/>
              </a:solidFill>
              <a:latin typeface="Menlo" panose="020B0609030804020204" pitchFamily="49" charset="0"/>
            </a:endParaRPr>
          </a:p>
          <a:p>
            <a:r>
              <a:rPr lang="en-US" sz="1400" dirty="0">
                <a:solidFill>
                  <a:srgbClr val="AF00DB"/>
                </a:solidFill>
                <a:latin typeface="Menlo" panose="020B0609030804020204" pitchFamily="49" charset="0"/>
              </a:rPr>
              <a:t>#include</a:t>
            </a:r>
            <a:r>
              <a:rPr lang="en-US" sz="1400" dirty="0">
                <a:solidFill>
                  <a:srgbClr val="0000FF"/>
                </a:solidFill>
                <a:latin typeface="Menlo" panose="020B0609030804020204" pitchFamily="49" charset="0"/>
              </a:rPr>
              <a:t> </a:t>
            </a:r>
            <a:r>
              <a:rPr lang="en-US" sz="1400" dirty="0">
                <a:solidFill>
                  <a:srgbClr val="A31515"/>
                </a:solidFill>
                <a:latin typeface="Menlo" panose="020B0609030804020204" pitchFamily="49" charset="0"/>
              </a:rPr>
              <a:t>&lt;</a:t>
            </a:r>
            <a:r>
              <a:rPr lang="en-US" sz="1400" dirty="0" err="1">
                <a:solidFill>
                  <a:srgbClr val="A31515"/>
                </a:solidFill>
                <a:latin typeface="Menlo" panose="020B0609030804020204" pitchFamily="49" charset="0"/>
              </a:rPr>
              <a:t>stdlib.h</a:t>
            </a:r>
            <a:r>
              <a:rPr lang="en-US" sz="1400" dirty="0">
                <a:solidFill>
                  <a:srgbClr val="A31515"/>
                </a:solidFill>
                <a:latin typeface="Menlo" panose="020B0609030804020204" pitchFamily="49" charset="0"/>
              </a:rPr>
              <a:t>&gt;</a:t>
            </a:r>
            <a:endParaRPr lang="en-US" sz="1400" dirty="0">
              <a:solidFill>
                <a:srgbClr val="3B3B3B"/>
              </a:solidFill>
              <a:latin typeface="Menlo" panose="020B0609030804020204" pitchFamily="49" charset="0"/>
            </a:endParaRPr>
          </a:p>
          <a:p>
            <a:r>
              <a:rPr lang="en-US" sz="1400" dirty="0">
                <a:solidFill>
                  <a:srgbClr val="AF00DB"/>
                </a:solidFill>
                <a:latin typeface="Menlo" panose="020B0609030804020204" pitchFamily="49" charset="0"/>
              </a:rPr>
              <a:t>#include</a:t>
            </a:r>
            <a:r>
              <a:rPr lang="en-US" sz="1400" dirty="0">
                <a:solidFill>
                  <a:srgbClr val="0000FF"/>
                </a:solidFill>
                <a:latin typeface="Menlo" panose="020B0609030804020204" pitchFamily="49" charset="0"/>
              </a:rPr>
              <a:t> </a:t>
            </a:r>
            <a:r>
              <a:rPr lang="en-US" sz="1400" dirty="0">
                <a:solidFill>
                  <a:srgbClr val="A31515"/>
                </a:solidFill>
                <a:latin typeface="Menlo" panose="020B0609030804020204" pitchFamily="49" charset="0"/>
              </a:rPr>
              <a:t>&lt;</a:t>
            </a:r>
            <a:r>
              <a:rPr lang="en-US" sz="1400" dirty="0" err="1">
                <a:solidFill>
                  <a:srgbClr val="A31515"/>
                </a:solidFill>
                <a:latin typeface="Menlo" panose="020B0609030804020204" pitchFamily="49" charset="0"/>
              </a:rPr>
              <a:t>mpi.h</a:t>
            </a:r>
            <a:r>
              <a:rPr lang="en-US" sz="1400" dirty="0">
                <a:solidFill>
                  <a:srgbClr val="A31515"/>
                </a:solidFill>
                <a:latin typeface="Menlo" panose="020B0609030804020204" pitchFamily="49" charset="0"/>
              </a:rPr>
              <a:t>&gt;</a:t>
            </a:r>
            <a:endParaRPr lang="en-US" sz="1400" dirty="0">
              <a:solidFill>
                <a:srgbClr val="3B3B3B"/>
              </a:solidFill>
              <a:latin typeface="Menlo" panose="020B0609030804020204" pitchFamily="49" charset="0"/>
            </a:endParaRPr>
          </a:p>
          <a:p>
            <a:r>
              <a:rPr lang="en-US" sz="1400" dirty="0">
                <a:solidFill>
                  <a:srgbClr val="AF00DB"/>
                </a:solidFill>
                <a:latin typeface="Menlo" panose="020B0609030804020204" pitchFamily="49" charset="0"/>
              </a:rPr>
              <a:t>#include</a:t>
            </a:r>
            <a:r>
              <a:rPr lang="en-US" sz="1400" dirty="0">
                <a:solidFill>
                  <a:srgbClr val="0000FF"/>
                </a:solidFill>
                <a:latin typeface="Menlo" panose="020B0609030804020204" pitchFamily="49" charset="0"/>
              </a:rPr>
              <a:t> </a:t>
            </a:r>
            <a:r>
              <a:rPr lang="en-US" sz="1400" dirty="0">
                <a:solidFill>
                  <a:srgbClr val="A31515"/>
                </a:solidFill>
                <a:latin typeface="Menlo" panose="020B0609030804020204" pitchFamily="49" charset="0"/>
              </a:rPr>
              <a:t>&lt;</a:t>
            </a:r>
            <a:r>
              <a:rPr lang="en-US" sz="1400" dirty="0" err="1">
                <a:solidFill>
                  <a:srgbClr val="A31515"/>
                </a:solidFill>
                <a:latin typeface="Menlo" panose="020B0609030804020204" pitchFamily="49" charset="0"/>
              </a:rPr>
              <a:t>time.h</a:t>
            </a:r>
            <a:r>
              <a:rPr lang="en-US" sz="1400" dirty="0">
                <a:solidFill>
                  <a:srgbClr val="A31515"/>
                </a:solidFill>
                <a:latin typeface="Menlo" panose="020B0609030804020204" pitchFamily="49" charset="0"/>
              </a:rPr>
              <a:t>&gt;</a:t>
            </a:r>
            <a:endParaRPr lang="en-US" sz="1400" dirty="0">
              <a:solidFill>
                <a:srgbClr val="3B3B3B"/>
              </a:solidFill>
              <a:latin typeface="Menlo" panose="020B0609030804020204" pitchFamily="49" charset="0"/>
            </a:endParaRPr>
          </a:p>
          <a:p>
            <a:br>
              <a:rPr lang="en-US" sz="1400" dirty="0">
                <a:solidFill>
                  <a:srgbClr val="3B3B3B"/>
                </a:solidFill>
                <a:latin typeface="Menlo" panose="020B0609030804020204" pitchFamily="49" charset="0"/>
              </a:rPr>
            </a:br>
            <a:r>
              <a:rPr lang="en-US" sz="1400" dirty="0" err="1">
                <a:solidFill>
                  <a:srgbClr val="0000FF"/>
                </a:solidFill>
                <a:latin typeface="Menlo" panose="020B0609030804020204" pitchFamily="49" charset="0"/>
              </a:rPr>
              <a:t>int</a:t>
            </a:r>
            <a:r>
              <a:rPr lang="en-US" sz="1400" dirty="0">
                <a:solidFill>
                  <a:srgbClr val="3B3B3B"/>
                </a:solidFill>
                <a:latin typeface="Menlo" panose="020B0609030804020204" pitchFamily="49" charset="0"/>
              </a:rPr>
              <a:t> </a:t>
            </a:r>
            <a:r>
              <a:rPr lang="en-US" sz="1400" dirty="0">
                <a:solidFill>
                  <a:srgbClr val="795E26"/>
                </a:solidFill>
                <a:latin typeface="Menlo" panose="020B0609030804020204" pitchFamily="49" charset="0"/>
              </a:rPr>
              <a:t>main</a:t>
            </a:r>
            <a:r>
              <a:rPr lang="en-US" sz="1400" dirty="0">
                <a:solidFill>
                  <a:srgbClr val="3B3B3B"/>
                </a:solidFill>
                <a:latin typeface="Menlo" panose="020B0609030804020204" pitchFamily="49" charset="0"/>
              </a:rPr>
              <a:t>(</a:t>
            </a:r>
            <a:r>
              <a:rPr lang="en-US" sz="1400" dirty="0" err="1">
                <a:solidFill>
                  <a:srgbClr val="0000FF"/>
                </a:solidFill>
                <a:latin typeface="Menlo" panose="020B0609030804020204" pitchFamily="49" charset="0"/>
              </a:rPr>
              <a:t>int</a:t>
            </a:r>
            <a:r>
              <a:rPr lang="en-US" sz="1400" dirty="0">
                <a:solidFill>
                  <a:srgbClr val="3B3B3B"/>
                </a:solidFill>
                <a:latin typeface="Menlo" panose="020B0609030804020204" pitchFamily="49" charset="0"/>
              </a:rPr>
              <a:t> </a:t>
            </a:r>
            <a:r>
              <a:rPr lang="en-US" sz="1400" dirty="0" err="1">
                <a:solidFill>
                  <a:srgbClr val="001080"/>
                </a:solidFill>
                <a:latin typeface="Menlo" panose="020B0609030804020204" pitchFamily="49" charset="0"/>
              </a:rPr>
              <a:t>argc</a:t>
            </a:r>
            <a:r>
              <a:rPr lang="en-US" sz="1400" dirty="0">
                <a:solidFill>
                  <a:srgbClr val="3B3B3B"/>
                </a:solidFill>
                <a:latin typeface="Menlo" panose="020B0609030804020204" pitchFamily="49" charset="0"/>
              </a:rPr>
              <a:t>, </a:t>
            </a:r>
            <a:r>
              <a:rPr lang="en-US" sz="1400" dirty="0">
                <a:solidFill>
                  <a:srgbClr val="0000FF"/>
                </a:solidFill>
                <a:latin typeface="Menlo" panose="020B0609030804020204" pitchFamily="49" charset="0"/>
              </a:rPr>
              <a:t>char</a:t>
            </a:r>
            <a:r>
              <a:rPr lang="en-US" sz="1400" dirty="0">
                <a:solidFill>
                  <a:srgbClr val="000000"/>
                </a:solidFill>
                <a:latin typeface="Menlo" panose="020B0609030804020204" pitchFamily="49" charset="0"/>
              </a:rPr>
              <a:t>**</a:t>
            </a:r>
            <a:r>
              <a:rPr lang="en-US" sz="1400" dirty="0">
                <a:solidFill>
                  <a:srgbClr val="3B3B3B"/>
                </a:solidFill>
                <a:latin typeface="Menlo" panose="020B0609030804020204" pitchFamily="49" charset="0"/>
              </a:rPr>
              <a:t> </a:t>
            </a:r>
            <a:r>
              <a:rPr lang="en-US" sz="1400" dirty="0" err="1">
                <a:solidFill>
                  <a:srgbClr val="001080"/>
                </a:solidFill>
                <a:latin typeface="Menlo" panose="020B0609030804020204" pitchFamily="49" charset="0"/>
              </a:rPr>
              <a:t>argv</a:t>
            </a:r>
            <a:r>
              <a:rPr lang="en-US" sz="1400" dirty="0">
                <a:solidFill>
                  <a:srgbClr val="3B3B3B"/>
                </a:solidFill>
                <a:latin typeface="Menlo" panose="020B0609030804020204" pitchFamily="49" charset="0"/>
              </a:rPr>
              <a:t>) {</a:t>
            </a:r>
          </a:p>
          <a:p>
            <a:r>
              <a:rPr lang="en-US" sz="1400" dirty="0" err="1">
                <a:solidFill>
                  <a:srgbClr val="0000FF"/>
                </a:solidFill>
                <a:latin typeface="Menlo" panose="020B0609030804020204" pitchFamily="49" charset="0"/>
              </a:rPr>
              <a:t>int</a:t>
            </a:r>
            <a:r>
              <a:rPr lang="en-US" sz="1400" dirty="0">
                <a:solidFill>
                  <a:srgbClr val="3B3B3B"/>
                </a:solidFill>
                <a:latin typeface="Menlo" panose="020B0609030804020204" pitchFamily="49" charset="0"/>
              </a:rPr>
              <a:t> rank, size;</a:t>
            </a:r>
          </a:p>
          <a:p>
            <a:endParaRPr lang="en-US" sz="1400" dirty="0">
              <a:solidFill>
                <a:srgbClr val="795E26"/>
              </a:solidFill>
              <a:latin typeface="Menlo" panose="020B0609030804020204" pitchFamily="49" charset="0"/>
            </a:endParaRPr>
          </a:p>
          <a:p>
            <a:r>
              <a:rPr lang="en-US" sz="1400" dirty="0" err="1">
                <a:solidFill>
                  <a:srgbClr val="795E26"/>
                </a:solidFill>
                <a:latin typeface="Menlo" panose="020B0609030804020204" pitchFamily="49" charset="0"/>
              </a:rPr>
              <a:t>MPI_Init</a:t>
            </a:r>
            <a:r>
              <a:rPr lang="en-US" sz="1400" dirty="0">
                <a:solidFill>
                  <a:srgbClr val="3B3B3B"/>
                </a:solidFill>
                <a:latin typeface="Menlo" panose="020B0609030804020204" pitchFamily="49" charset="0"/>
              </a:rPr>
              <a:t>(</a:t>
            </a:r>
            <a:r>
              <a:rPr lang="en-US" sz="1400" dirty="0">
                <a:solidFill>
                  <a:srgbClr val="000000"/>
                </a:solidFill>
                <a:latin typeface="Menlo" panose="020B0609030804020204" pitchFamily="49" charset="0"/>
              </a:rPr>
              <a:t>&amp;</a:t>
            </a:r>
            <a:r>
              <a:rPr lang="en-US" sz="1400" dirty="0" err="1">
                <a:solidFill>
                  <a:srgbClr val="3B3B3B"/>
                </a:solidFill>
                <a:latin typeface="Menlo" panose="020B0609030804020204" pitchFamily="49" charset="0"/>
              </a:rPr>
              <a:t>argc</a:t>
            </a:r>
            <a:r>
              <a:rPr lang="en-US" sz="1400" dirty="0">
                <a:solidFill>
                  <a:srgbClr val="3B3B3B"/>
                </a:solidFill>
                <a:latin typeface="Menlo" panose="020B0609030804020204" pitchFamily="49" charset="0"/>
              </a:rPr>
              <a:t>, </a:t>
            </a:r>
            <a:r>
              <a:rPr lang="en-US" sz="1400" dirty="0">
                <a:solidFill>
                  <a:srgbClr val="000000"/>
                </a:solidFill>
                <a:latin typeface="Menlo" panose="020B0609030804020204" pitchFamily="49" charset="0"/>
              </a:rPr>
              <a:t>&amp;</a:t>
            </a:r>
            <a:r>
              <a:rPr lang="en-US" sz="1400" dirty="0" err="1">
                <a:solidFill>
                  <a:srgbClr val="3B3B3B"/>
                </a:solidFill>
                <a:latin typeface="Menlo" panose="020B0609030804020204" pitchFamily="49" charset="0"/>
              </a:rPr>
              <a:t>argv</a:t>
            </a:r>
            <a:r>
              <a:rPr lang="en-US" sz="1400" dirty="0">
                <a:solidFill>
                  <a:srgbClr val="3B3B3B"/>
                </a:solidFill>
                <a:latin typeface="Menlo" panose="020B0609030804020204" pitchFamily="49" charset="0"/>
              </a:rPr>
              <a:t>);</a:t>
            </a:r>
          </a:p>
          <a:p>
            <a:r>
              <a:rPr lang="en-US" sz="1400" dirty="0" err="1">
                <a:solidFill>
                  <a:srgbClr val="795E26"/>
                </a:solidFill>
                <a:latin typeface="Menlo" panose="020B0609030804020204" pitchFamily="49" charset="0"/>
              </a:rPr>
              <a:t>MPI_Comm_size</a:t>
            </a:r>
            <a:r>
              <a:rPr lang="en-US" sz="1400" dirty="0">
                <a:solidFill>
                  <a:srgbClr val="3B3B3B"/>
                </a:solidFill>
                <a:latin typeface="Menlo" panose="020B0609030804020204" pitchFamily="49" charset="0"/>
              </a:rPr>
              <a:t>(MPI_COMM_WORLD, </a:t>
            </a:r>
            <a:r>
              <a:rPr lang="en-US" sz="1400" dirty="0">
                <a:solidFill>
                  <a:srgbClr val="000000"/>
                </a:solidFill>
                <a:latin typeface="Menlo" panose="020B0609030804020204" pitchFamily="49" charset="0"/>
              </a:rPr>
              <a:t>&amp;</a:t>
            </a:r>
            <a:r>
              <a:rPr lang="en-US" sz="1400" dirty="0">
                <a:solidFill>
                  <a:srgbClr val="3B3B3B"/>
                </a:solidFill>
                <a:latin typeface="Menlo" panose="020B0609030804020204" pitchFamily="49" charset="0"/>
              </a:rPr>
              <a:t>size);</a:t>
            </a:r>
          </a:p>
          <a:p>
            <a:r>
              <a:rPr lang="en-US" sz="1400" dirty="0" err="1">
                <a:solidFill>
                  <a:srgbClr val="795E26"/>
                </a:solidFill>
                <a:latin typeface="Menlo" panose="020B0609030804020204" pitchFamily="49" charset="0"/>
              </a:rPr>
              <a:t>MPI_Comm_rank</a:t>
            </a:r>
            <a:r>
              <a:rPr lang="en-US" sz="1400" dirty="0">
                <a:solidFill>
                  <a:srgbClr val="3B3B3B"/>
                </a:solidFill>
                <a:latin typeface="Menlo" panose="020B0609030804020204" pitchFamily="49" charset="0"/>
              </a:rPr>
              <a:t>(MPI_COMM_WORLD, </a:t>
            </a:r>
            <a:r>
              <a:rPr lang="en-US" sz="1400" dirty="0">
                <a:solidFill>
                  <a:srgbClr val="000000"/>
                </a:solidFill>
                <a:latin typeface="Menlo" panose="020B0609030804020204" pitchFamily="49" charset="0"/>
              </a:rPr>
              <a:t>&amp;</a:t>
            </a:r>
            <a:r>
              <a:rPr lang="en-US" sz="1400" dirty="0">
                <a:solidFill>
                  <a:srgbClr val="3B3B3B"/>
                </a:solidFill>
                <a:latin typeface="Menlo" panose="020B0609030804020204" pitchFamily="49" charset="0"/>
              </a:rPr>
              <a:t>rank);</a:t>
            </a:r>
          </a:p>
          <a:p>
            <a:br>
              <a:rPr lang="en-US" sz="1400" dirty="0">
                <a:solidFill>
                  <a:srgbClr val="3B3B3B"/>
                </a:solidFill>
                <a:latin typeface="Menlo" panose="020B0609030804020204" pitchFamily="49" charset="0"/>
              </a:rPr>
            </a:br>
            <a:r>
              <a:rPr lang="en-US" sz="1400" dirty="0">
                <a:solidFill>
                  <a:srgbClr val="008000"/>
                </a:solidFill>
                <a:latin typeface="Menlo" panose="020B0609030804020204" pitchFamily="49" charset="0"/>
              </a:rPr>
              <a:t>// Seed the random number generator and  generate a number</a:t>
            </a:r>
            <a:endParaRPr lang="en-US" sz="1400" dirty="0">
              <a:solidFill>
                <a:srgbClr val="3B3B3B"/>
              </a:solidFill>
              <a:latin typeface="Menlo" panose="020B0609030804020204" pitchFamily="49" charset="0"/>
            </a:endParaRPr>
          </a:p>
          <a:p>
            <a:r>
              <a:rPr lang="en-US" sz="1400" dirty="0" err="1">
                <a:solidFill>
                  <a:srgbClr val="795E26"/>
                </a:solidFill>
                <a:latin typeface="Menlo" panose="020B0609030804020204" pitchFamily="49" charset="0"/>
              </a:rPr>
              <a:t>srand</a:t>
            </a:r>
            <a:r>
              <a:rPr lang="en-US" sz="1400" dirty="0">
                <a:solidFill>
                  <a:srgbClr val="3B3B3B"/>
                </a:solidFill>
                <a:latin typeface="Menlo" panose="020B0609030804020204" pitchFamily="49" charset="0"/>
              </a:rPr>
              <a:t>(</a:t>
            </a:r>
            <a:r>
              <a:rPr lang="en-US" sz="1400" dirty="0">
                <a:solidFill>
                  <a:srgbClr val="795E26"/>
                </a:solidFill>
                <a:latin typeface="Menlo" panose="020B0609030804020204" pitchFamily="49" charset="0"/>
              </a:rPr>
              <a:t>time</a:t>
            </a:r>
            <a:r>
              <a:rPr lang="en-US" sz="1400" dirty="0">
                <a:solidFill>
                  <a:srgbClr val="3B3B3B"/>
                </a:solidFill>
                <a:latin typeface="Menlo" panose="020B0609030804020204" pitchFamily="49" charset="0"/>
              </a:rPr>
              <a:t>(</a:t>
            </a:r>
            <a:r>
              <a:rPr lang="en-US" sz="1400" dirty="0">
                <a:solidFill>
                  <a:srgbClr val="0000FF"/>
                </a:solidFill>
                <a:latin typeface="Menlo" panose="020B0609030804020204" pitchFamily="49" charset="0"/>
              </a:rPr>
              <a:t>NULL</a:t>
            </a:r>
            <a:r>
              <a:rPr lang="en-US" sz="1400" dirty="0">
                <a:solidFill>
                  <a:srgbClr val="3B3B3B"/>
                </a:solidFill>
                <a:latin typeface="Menlo" panose="020B0609030804020204" pitchFamily="49" charset="0"/>
              </a:rPr>
              <a:t>) </a:t>
            </a:r>
            <a:r>
              <a:rPr lang="en-US" sz="1400" dirty="0">
                <a:solidFill>
                  <a:srgbClr val="000000"/>
                </a:solidFill>
                <a:latin typeface="Menlo" panose="020B0609030804020204" pitchFamily="49" charset="0"/>
              </a:rPr>
              <a:t>*</a:t>
            </a:r>
            <a:r>
              <a:rPr lang="en-US" sz="1400" dirty="0">
                <a:solidFill>
                  <a:srgbClr val="3B3B3B"/>
                </a:solidFill>
                <a:latin typeface="Menlo" panose="020B0609030804020204" pitchFamily="49" charset="0"/>
              </a:rPr>
              <a:t> rank);</a:t>
            </a:r>
          </a:p>
          <a:p>
            <a:r>
              <a:rPr lang="en-US" sz="1400" dirty="0" err="1">
                <a:solidFill>
                  <a:srgbClr val="0000FF"/>
                </a:solidFill>
                <a:latin typeface="Menlo" panose="020B0609030804020204" pitchFamily="49" charset="0"/>
              </a:rPr>
              <a:t>int</a:t>
            </a:r>
            <a:r>
              <a:rPr lang="en-US" sz="1400" dirty="0">
                <a:solidFill>
                  <a:srgbClr val="3B3B3B"/>
                </a:solidFill>
                <a:latin typeface="Menlo" panose="020B0609030804020204" pitchFamily="49" charset="0"/>
              </a:rPr>
              <a:t> </a:t>
            </a:r>
            <a:r>
              <a:rPr lang="en-US" sz="1400" dirty="0" err="1">
                <a:solidFill>
                  <a:srgbClr val="3B3B3B"/>
                </a:solidFill>
                <a:latin typeface="Menlo" panose="020B0609030804020204" pitchFamily="49" charset="0"/>
              </a:rPr>
              <a:t>local_value</a:t>
            </a:r>
            <a:r>
              <a:rPr lang="en-US" sz="1400" dirty="0">
                <a:solidFill>
                  <a:srgbClr val="3B3B3B"/>
                </a:solidFill>
                <a:latin typeface="Menlo" panose="020B0609030804020204" pitchFamily="49" charset="0"/>
              </a:rPr>
              <a:t> </a:t>
            </a:r>
            <a:r>
              <a:rPr lang="en-US" sz="1400" dirty="0">
                <a:solidFill>
                  <a:srgbClr val="000000"/>
                </a:solidFill>
                <a:latin typeface="Menlo" panose="020B0609030804020204" pitchFamily="49" charset="0"/>
              </a:rPr>
              <a:t>=</a:t>
            </a:r>
            <a:r>
              <a:rPr lang="en-US" sz="1400" dirty="0">
                <a:solidFill>
                  <a:srgbClr val="3B3B3B"/>
                </a:solidFill>
                <a:latin typeface="Menlo" panose="020B0609030804020204" pitchFamily="49" charset="0"/>
              </a:rPr>
              <a:t> </a:t>
            </a:r>
            <a:r>
              <a:rPr lang="en-US" sz="1400" dirty="0">
                <a:solidFill>
                  <a:srgbClr val="795E26"/>
                </a:solidFill>
                <a:latin typeface="Menlo" panose="020B0609030804020204" pitchFamily="49" charset="0"/>
              </a:rPr>
              <a:t>rand</a:t>
            </a:r>
            <a:r>
              <a:rPr lang="en-US" sz="1400" dirty="0">
                <a:solidFill>
                  <a:srgbClr val="3B3B3B"/>
                </a:solidFill>
                <a:latin typeface="Menlo" panose="020B0609030804020204" pitchFamily="49" charset="0"/>
              </a:rPr>
              <a:t>() </a:t>
            </a:r>
            <a:r>
              <a:rPr lang="en-US" sz="1400" dirty="0">
                <a:solidFill>
                  <a:srgbClr val="000000"/>
                </a:solidFill>
                <a:latin typeface="Menlo" panose="020B0609030804020204" pitchFamily="49" charset="0"/>
              </a:rPr>
              <a:t>%</a:t>
            </a:r>
            <a:r>
              <a:rPr lang="en-US" sz="1400" dirty="0">
                <a:solidFill>
                  <a:srgbClr val="3B3B3B"/>
                </a:solidFill>
                <a:latin typeface="Menlo" panose="020B0609030804020204" pitchFamily="49" charset="0"/>
              </a:rPr>
              <a:t> </a:t>
            </a:r>
            <a:r>
              <a:rPr lang="en-US" sz="1400" dirty="0">
                <a:solidFill>
                  <a:srgbClr val="098658"/>
                </a:solidFill>
                <a:latin typeface="Menlo" panose="020B0609030804020204" pitchFamily="49" charset="0"/>
              </a:rPr>
              <a:t>100</a:t>
            </a:r>
            <a:r>
              <a:rPr lang="en-US" sz="1400" dirty="0">
                <a:solidFill>
                  <a:srgbClr val="3B3B3B"/>
                </a:solidFill>
                <a:latin typeface="Menlo" panose="020B0609030804020204" pitchFamily="49" charset="0"/>
              </a:rPr>
              <a:t>;</a:t>
            </a:r>
          </a:p>
          <a:p>
            <a:br>
              <a:rPr lang="en-US" sz="1400" dirty="0">
                <a:solidFill>
                  <a:srgbClr val="3B3B3B"/>
                </a:solidFill>
                <a:latin typeface="Menlo" panose="020B0609030804020204" pitchFamily="49" charset="0"/>
              </a:rPr>
            </a:br>
            <a:r>
              <a:rPr lang="en-US" sz="1400" dirty="0">
                <a:solidFill>
                  <a:srgbClr val="008000"/>
                </a:solidFill>
                <a:latin typeface="Menlo" panose="020B0609030804020204" pitchFamily="49" charset="0"/>
              </a:rPr>
              <a:t>// Print the local value from each process</a:t>
            </a:r>
            <a:endParaRPr lang="en-US" sz="1400" dirty="0">
              <a:solidFill>
                <a:srgbClr val="3B3B3B"/>
              </a:solidFill>
              <a:latin typeface="Menlo" panose="020B0609030804020204" pitchFamily="49" charset="0"/>
            </a:endParaRPr>
          </a:p>
          <a:p>
            <a:r>
              <a:rPr lang="en-US" sz="1400" dirty="0" err="1">
                <a:solidFill>
                  <a:srgbClr val="795E26"/>
                </a:solidFill>
                <a:latin typeface="Menlo" panose="020B0609030804020204" pitchFamily="49" charset="0"/>
              </a:rPr>
              <a:t>printf</a:t>
            </a:r>
            <a:r>
              <a:rPr lang="en-US" sz="1400" dirty="0">
                <a:solidFill>
                  <a:srgbClr val="3B3B3B"/>
                </a:solidFill>
                <a:latin typeface="Menlo" panose="020B0609030804020204" pitchFamily="49" charset="0"/>
              </a:rPr>
              <a:t>(</a:t>
            </a:r>
            <a:r>
              <a:rPr lang="en-US" sz="1400" dirty="0">
                <a:solidFill>
                  <a:srgbClr val="A31515"/>
                </a:solidFill>
                <a:latin typeface="Menlo" panose="020B0609030804020204" pitchFamily="49" charset="0"/>
              </a:rPr>
              <a:t>"Process </a:t>
            </a:r>
            <a:r>
              <a:rPr lang="en-US" sz="1400" dirty="0">
                <a:solidFill>
                  <a:srgbClr val="001080"/>
                </a:solidFill>
                <a:latin typeface="Menlo" panose="020B0609030804020204" pitchFamily="49" charset="0"/>
              </a:rPr>
              <a:t>%d</a:t>
            </a:r>
            <a:r>
              <a:rPr lang="en-US" sz="1400" dirty="0">
                <a:solidFill>
                  <a:srgbClr val="A31515"/>
                </a:solidFill>
                <a:latin typeface="Menlo" panose="020B0609030804020204" pitchFamily="49" charset="0"/>
              </a:rPr>
              <a:t> has local value: </a:t>
            </a:r>
            <a:r>
              <a:rPr lang="en-US" sz="1400" dirty="0">
                <a:solidFill>
                  <a:srgbClr val="001080"/>
                </a:solidFill>
                <a:latin typeface="Menlo" panose="020B0609030804020204" pitchFamily="49" charset="0"/>
              </a:rPr>
              <a:t>%d</a:t>
            </a:r>
            <a:r>
              <a:rPr lang="en-US" sz="1400" dirty="0">
                <a:solidFill>
                  <a:srgbClr val="EE0000"/>
                </a:solidFill>
                <a:latin typeface="Menlo" panose="020B0609030804020204" pitchFamily="49" charset="0"/>
              </a:rPr>
              <a:t>\n</a:t>
            </a:r>
            <a:r>
              <a:rPr lang="en-US" sz="1400" dirty="0">
                <a:solidFill>
                  <a:srgbClr val="A31515"/>
                </a:solidFill>
                <a:latin typeface="Menlo" panose="020B0609030804020204" pitchFamily="49" charset="0"/>
              </a:rPr>
              <a:t>"</a:t>
            </a:r>
            <a:r>
              <a:rPr lang="en-US" sz="1400" dirty="0">
                <a:solidFill>
                  <a:srgbClr val="3B3B3B"/>
                </a:solidFill>
                <a:latin typeface="Menlo" panose="020B0609030804020204" pitchFamily="49" charset="0"/>
              </a:rPr>
              <a:t>, rank, </a:t>
            </a:r>
            <a:r>
              <a:rPr lang="en-US" sz="1400" dirty="0" err="1">
                <a:solidFill>
                  <a:srgbClr val="3B3B3B"/>
                </a:solidFill>
                <a:latin typeface="Menlo" panose="020B0609030804020204" pitchFamily="49" charset="0"/>
              </a:rPr>
              <a:t>local_value</a:t>
            </a:r>
            <a:r>
              <a:rPr lang="en-US" sz="1400" dirty="0">
                <a:solidFill>
                  <a:srgbClr val="3B3B3B"/>
                </a:solidFill>
                <a:latin typeface="Menlo" panose="020B0609030804020204" pitchFamily="49" charset="0"/>
              </a:rPr>
              <a:t>);</a:t>
            </a:r>
          </a:p>
          <a:p>
            <a:endParaRPr lang="en-US" sz="1400" dirty="0">
              <a:solidFill>
                <a:srgbClr val="0000FF"/>
              </a:solidFill>
              <a:latin typeface="Menlo" panose="020B0609030804020204" pitchFamily="49" charset="0"/>
            </a:endParaRPr>
          </a:p>
          <a:p>
            <a:r>
              <a:rPr lang="en-US" sz="1400" dirty="0" err="1">
                <a:solidFill>
                  <a:srgbClr val="0000FF"/>
                </a:solidFill>
                <a:latin typeface="Menlo" panose="020B0609030804020204" pitchFamily="49" charset="0"/>
              </a:rPr>
              <a:t>int</a:t>
            </a:r>
            <a:r>
              <a:rPr lang="en-US" sz="1400" dirty="0">
                <a:solidFill>
                  <a:srgbClr val="3B3B3B"/>
                </a:solidFill>
                <a:latin typeface="Menlo" panose="020B0609030804020204" pitchFamily="49" charset="0"/>
              </a:rPr>
              <a:t> </a:t>
            </a:r>
            <a:r>
              <a:rPr lang="en-US" sz="1400" dirty="0" err="1">
                <a:solidFill>
                  <a:srgbClr val="3B3B3B"/>
                </a:solidFill>
                <a:latin typeface="Menlo" panose="020B0609030804020204" pitchFamily="49" charset="0"/>
              </a:rPr>
              <a:t>global_sum</a:t>
            </a:r>
            <a:r>
              <a:rPr lang="en-US" sz="1400" dirty="0">
                <a:solidFill>
                  <a:srgbClr val="3B3B3B"/>
                </a:solidFill>
                <a:latin typeface="Menlo" panose="020B0609030804020204" pitchFamily="49" charset="0"/>
              </a:rPr>
              <a:t>;</a:t>
            </a:r>
          </a:p>
          <a:p>
            <a:r>
              <a:rPr lang="en-US" sz="1400" dirty="0" err="1">
                <a:solidFill>
                  <a:srgbClr val="0000FF"/>
                </a:solidFill>
                <a:latin typeface="Menlo" panose="020B0609030804020204" pitchFamily="49" charset="0"/>
              </a:rPr>
              <a:t>int</a:t>
            </a:r>
            <a:r>
              <a:rPr lang="en-US" sz="1400" dirty="0">
                <a:solidFill>
                  <a:srgbClr val="3B3B3B"/>
                </a:solidFill>
                <a:latin typeface="Menlo" panose="020B0609030804020204" pitchFamily="49" charset="0"/>
              </a:rPr>
              <a:t> </a:t>
            </a:r>
            <a:r>
              <a:rPr lang="en-US" sz="1400" dirty="0" err="1">
                <a:solidFill>
                  <a:srgbClr val="3B3B3B"/>
                </a:solidFill>
                <a:latin typeface="Menlo" panose="020B0609030804020204" pitchFamily="49" charset="0"/>
              </a:rPr>
              <a:t>root_process</a:t>
            </a:r>
            <a:r>
              <a:rPr lang="en-US" sz="1400" dirty="0">
                <a:solidFill>
                  <a:srgbClr val="3B3B3B"/>
                </a:solidFill>
                <a:latin typeface="Menlo" panose="020B0609030804020204" pitchFamily="49" charset="0"/>
              </a:rPr>
              <a:t> </a:t>
            </a:r>
            <a:r>
              <a:rPr lang="en-US" sz="1400" dirty="0">
                <a:solidFill>
                  <a:srgbClr val="000000"/>
                </a:solidFill>
                <a:latin typeface="Menlo" panose="020B0609030804020204" pitchFamily="49" charset="0"/>
              </a:rPr>
              <a:t>=</a:t>
            </a:r>
            <a:r>
              <a:rPr lang="en-US" sz="1400" dirty="0">
                <a:solidFill>
                  <a:srgbClr val="3B3B3B"/>
                </a:solidFill>
                <a:latin typeface="Menlo" panose="020B0609030804020204" pitchFamily="49" charset="0"/>
              </a:rPr>
              <a:t> </a:t>
            </a:r>
            <a:r>
              <a:rPr lang="en-US" sz="1400" dirty="0">
                <a:solidFill>
                  <a:srgbClr val="098658"/>
                </a:solidFill>
                <a:latin typeface="Menlo" panose="020B0609030804020204" pitchFamily="49" charset="0"/>
              </a:rPr>
              <a:t>0</a:t>
            </a:r>
            <a:r>
              <a:rPr lang="en-US" sz="1400" dirty="0">
                <a:solidFill>
                  <a:srgbClr val="3B3B3B"/>
                </a:solidFill>
                <a:latin typeface="Menlo" panose="020B0609030804020204" pitchFamily="49" charset="0"/>
              </a:rPr>
              <a:t>;</a:t>
            </a:r>
          </a:p>
          <a:p>
            <a:br>
              <a:rPr lang="en-US" sz="1400" dirty="0">
                <a:solidFill>
                  <a:srgbClr val="3B3B3B"/>
                </a:solidFill>
                <a:latin typeface="Menlo" panose="020B0609030804020204" pitchFamily="49" charset="0"/>
              </a:rPr>
            </a:br>
            <a:r>
              <a:rPr lang="en-US" sz="1400" dirty="0">
                <a:solidFill>
                  <a:srgbClr val="008000"/>
                </a:solidFill>
                <a:latin typeface="Menlo" panose="020B0609030804020204" pitchFamily="49" charset="0"/>
              </a:rPr>
              <a:t>// Reduce all local values into the </a:t>
            </a:r>
            <a:r>
              <a:rPr lang="en-US" sz="1400" dirty="0" err="1">
                <a:solidFill>
                  <a:srgbClr val="008000"/>
                </a:solidFill>
                <a:latin typeface="Menlo" panose="020B0609030804020204" pitchFamily="49" charset="0"/>
              </a:rPr>
              <a:t>global_sum</a:t>
            </a:r>
            <a:r>
              <a:rPr lang="en-US" sz="1400" dirty="0">
                <a:solidFill>
                  <a:srgbClr val="008000"/>
                </a:solidFill>
                <a:latin typeface="Menlo" panose="020B0609030804020204" pitchFamily="49" charset="0"/>
              </a:rPr>
              <a:t> on the root process</a:t>
            </a:r>
            <a:endParaRPr lang="en-US" sz="1400" dirty="0">
              <a:solidFill>
                <a:srgbClr val="3B3B3B"/>
              </a:solidFill>
              <a:latin typeface="Menlo" panose="020B0609030804020204" pitchFamily="49" charset="0"/>
            </a:endParaRPr>
          </a:p>
          <a:p>
            <a:r>
              <a:rPr lang="en-US" sz="1400" dirty="0" err="1">
                <a:solidFill>
                  <a:srgbClr val="795E26"/>
                </a:solidFill>
                <a:latin typeface="Menlo" panose="020B0609030804020204" pitchFamily="49" charset="0"/>
              </a:rPr>
              <a:t>MPI_Reduce</a:t>
            </a:r>
            <a:r>
              <a:rPr lang="en-US" sz="1400" dirty="0">
                <a:solidFill>
                  <a:srgbClr val="3B3B3B"/>
                </a:solidFill>
                <a:latin typeface="Menlo" panose="020B0609030804020204" pitchFamily="49" charset="0"/>
              </a:rPr>
              <a:t>(</a:t>
            </a:r>
            <a:r>
              <a:rPr lang="en-US" sz="1400" dirty="0">
                <a:solidFill>
                  <a:srgbClr val="000000"/>
                </a:solidFill>
                <a:latin typeface="Menlo" panose="020B0609030804020204" pitchFamily="49" charset="0"/>
              </a:rPr>
              <a:t>&amp;</a:t>
            </a:r>
            <a:r>
              <a:rPr lang="en-US" sz="1400" dirty="0" err="1">
                <a:solidFill>
                  <a:srgbClr val="3B3B3B"/>
                </a:solidFill>
                <a:latin typeface="Menlo" panose="020B0609030804020204" pitchFamily="49" charset="0"/>
              </a:rPr>
              <a:t>local_value</a:t>
            </a:r>
            <a:r>
              <a:rPr lang="en-US" sz="1400" dirty="0">
                <a:solidFill>
                  <a:srgbClr val="3B3B3B"/>
                </a:solidFill>
                <a:latin typeface="Menlo" panose="020B0609030804020204" pitchFamily="49" charset="0"/>
              </a:rPr>
              <a:t>, </a:t>
            </a:r>
            <a:r>
              <a:rPr lang="en-US" sz="1400" dirty="0">
                <a:solidFill>
                  <a:srgbClr val="000000"/>
                </a:solidFill>
                <a:latin typeface="Menlo" panose="020B0609030804020204" pitchFamily="49" charset="0"/>
              </a:rPr>
              <a:t>&amp;</a:t>
            </a:r>
            <a:r>
              <a:rPr lang="en-US" sz="1400" dirty="0" err="1">
                <a:solidFill>
                  <a:srgbClr val="3B3B3B"/>
                </a:solidFill>
                <a:latin typeface="Menlo" panose="020B0609030804020204" pitchFamily="49" charset="0"/>
              </a:rPr>
              <a:t>global_sum</a:t>
            </a:r>
            <a:r>
              <a:rPr lang="en-US" sz="1400" dirty="0">
                <a:solidFill>
                  <a:srgbClr val="3B3B3B"/>
                </a:solidFill>
                <a:latin typeface="Menlo" panose="020B0609030804020204" pitchFamily="49" charset="0"/>
              </a:rPr>
              <a:t>, </a:t>
            </a:r>
            <a:r>
              <a:rPr lang="en-US" sz="1400" dirty="0">
                <a:solidFill>
                  <a:srgbClr val="098658"/>
                </a:solidFill>
                <a:latin typeface="Menlo" panose="020B0609030804020204" pitchFamily="49" charset="0"/>
              </a:rPr>
              <a:t>1</a:t>
            </a:r>
            <a:r>
              <a:rPr lang="en-US" sz="1400" dirty="0">
                <a:solidFill>
                  <a:srgbClr val="3B3B3B"/>
                </a:solidFill>
                <a:latin typeface="Menlo" panose="020B0609030804020204" pitchFamily="49" charset="0"/>
              </a:rPr>
              <a:t>, MPI_INT, MPI_SUM, </a:t>
            </a:r>
            <a:r>
              <a:rPr lang="en-US" sz="1400" dirty="0" err="1">
                <a:solidFill>
                  <a:srgbClr val="3B3B3B"/>
                </a:solidFill>
                <a:latin typeface="Menlo" panose="020B0609030804020204" pitchFamily="49" charset="0"/>
              </a:rPr>
              <a:t>root_process</a:t>
            </a:r>
            <a:r>
              <a:rPr lang="en-US" sz="1400" dirty="0">
                <a:solidFill>
                  <a:srgbClr val="3B3B3B"/>
                </a:solidFill>
                <a:latin typeface="Menlo" panose="020B0609030804020204" pitchFamily="49" charset="0"/>
              </a:rPr>
              <a:t>, MPI_COMM_WORLD);</a:t>
            </a:r>
          </a:p>
          <a:p>
            <a:br>
              <a:rPr lang="en-US" sz="1400" dirty="0">
                <a:solidFill>
                  <a:srgbClr val="3B3B3B"/>
                </a:solidFill>
                <a:latin typeface="Menlo" panose="020B0609030804020204" pitchFamily="49" charset="0"/>
              </a:rPr>
            </a:br>
            <a:r>
              <a:rPr lang="en-US" sz="1400" dirty="0">
                <a:solidFill>
                  <a:srgbClr val="008000"/>
                </a:solidFill>
                <a:latin typeface="Menlo" panose="020B0609030804020204" pitchFamily="49" charset="0"/>
              </a:rPr>
              <a:t>// Only the root process will have the final, correct result</a:t>
            </a:r>
            <a:endParaRPr lang="en-US" sz="1400" dirty="0">
              <a:solidFill>
                <a:srgbClr val="3B3B3B"/>
              </a:solidFill>
              <a:latin typeface="Menlo" panose="020B0609030804020204" pitchFamily="49" charset="0"/>
            </a:endParaRPr>
          </a:p>
          <a:p>
            <a:r>
              <a:rPr lang="en-US" sz="1400" dirty="0">
                <a:solidFill>
                  <a:srgbClr val="AF00DB"/>
                </a:solidFill>
                <a:latin typeface="Menlo" panose="020B0609030804020204" pitchFamily="49" charset="0"/>
              </a:rPr>
              <a:t>if</a:t>
            </a:r>
            <a:r>
              <a:rPr lang="en-US" sz="1400" dirty="0">
                <a:solidFill>
                  <a:srgbClr val="3B3B3B"/>
                </a:solidFill>
                <a:latin typeface="Menlo" panose="020B0609030804020204" pitchFamily="49" charset="0"/>
              </a:rPr>
              <a:t> (rank </a:t>
            </a:r>
            <a:r>
              <a:rPr lang="en-US" sz="1400" dirty="0">
                <a:solidFill>
                  <a:srgbClr val="000000"/>
                </a:solidFill>
                <a:latin typeface="Menlo" panose="020B0609030804020204" pitchFamily="49" charset="0"/>
              </a:rPr>
              <a:t>==</a:t>
            </a:r>
            <a:r>
              <a:rPr lang="en-US" sz="1400" dirty="0">
                <a:solidFill>
                  <a:srgbClr val="3B3B3B"/>
                </a:solidFill>
                <a:latin typeface="Menlo" panose="020B0609030804020204" pitchFamily="49" charset="0"/>
              </a:rPr>
              <a:t> </a:t>
            </a:r>
            <a:r>
              <a:rPr lang="en-US" sz="1400" dirty="0" err="1">
                <a:solidFill>
                  <a:srgbClr val="3B3B3B"/>
                </a:solidFill>
                <a:latin typeface="Menlo" panose="020B0609030804020204" pitchFamily="49" charset="0"/>
              </a:rPr>
              <a:t>root_process</a:t>
            </a:r>
            <a:r>
              <a:rPr lang="en-US" sz="1400" dirty="0">
                <a:solidFill>
                  <a:srgbClr val="3B3B3B"/>
                </a:solidFill>
                <a:latin typeface="Menlo" panose="020B0609030804020204" pitchFamily="49" charset="0"/>
              </a:rPr>
              <a:t>) {</a:t>
            </a:r>
          </a:p>
          <a:p>
            <a:r>
              <a:rPr lang="en-US" sz="1400" dirty="0" err="1">
                <a:solidFill>
                  <a:srgbClr val="795E26"/>
                </a:solidFill>
                <a:latin typeface="Menlo" panose="020B0609030804020204" pitchFamily="49" charset="0"/>
              </a:rPr>
              <a:t>printf</a:t>
            </a:r>
            <a:r>
              <a:rPr lang="en-US" sz="1400" dirty="0">
                <a:solidFill>
                  <a:srgbClr val="3B3B3B"/>
                </a:solidFill>
                <a:latin typeface="Menlo" panose="020B0609030804020204" pitchFamily="49" charset="0"/>
              </a:rPr>
              <a:t>(</a:t>
            </a:r>
            <a:r>
              <a:rPr lang="en-US" sz="1400" dirty="0">
                <a:solidFill>
                  <a:srgbClr val="A31515"/>
                </a:solidFill>
                <a:latin typeface="Menlo" panose="020B0609030804020204" pitchFamily="49" charset="0"/>
              </a:rPr>
              <a:t>"</a:t>
            </a:r>
            <a:r>
              <a:rPr lang="en-US" sz="1400" dirty="0">
                <a:solidFill>
                  <a:srgbClr val="EE0000"/>
                </a:solidFill>
                <a:latin typeface="Menlo" panose="020B0609030804020204" pitchFamily="49" charset="0"/>
              </a:rPr>
              <a:t>\</a:t>
            </a:r>
            <a:r>
              <a:rPr lang="en-US" sz="1400" dirty="0" err="1">
                <a:solidFill>
                  <a:srgbClr val="EE0000"/>
                </a:solidFill>
                <a:latin typeface="Menlo" panose="020B0609030804020204" pitchFamily="49" charset="0"/>
              </a:rPr>
              <a:t>n</a:t>
            </a:r>
            <a:r>
              <a:rPr lang="en-US" sz="1400" dirty="0" err="1">
                <a:solidFill>
                  <a:srgbClr val="A31515"/>
                </a:solidFill>
                <a:latin typeface="Menlo" panose="020B0609030804020204" pitchFamily="49" charset="0"/>
              </a:rPr>
              <a:t>Root</a:t>
            </a:r>
            <a:r>
              <a:rPr lang="en-US" sz="1400" dirty="0">
                <a:solidFill>
                  <a:srgbClr val="A31515"/>
                </a:solidFill>
                <a:latin typeface="Menlo" panose="020B0609030804020204" pitchFamily="49" charset="0"/>
              </a:rPr>
              <a:t> process (</a:t>
            </a:r>
            <a:r>
              <a:rPr lang="en-US" sz="1400" dirty="0">
                <a:solidFill>
                  <a:srgbClr val="001080"/>
                </a:solidFill>
                <a:latin typeface="Menlo" panose="020B0609030804020204" pitchFamily="49" charset="0"/>
              </a:rPr>
              <a:t>%d</a:t>
            </a:r>
            <a:r>
              <a:rPr lang="en-US" sz="1400" dirty="0">
                <a:solidFill>
                  <a:srgbClr val="A31515"/>
                </a:solidFill>
                <a:latin typeface="Menlo" panose="020B0609030804020204" pitchFamily="49" charset="0"/>
              </a:rPr>
              <a:t>) calculated the global sum: </a:t>
            </a:r>
            <a:r>
              <a:rPr lang="en-US" sz="1400" dirty="0">
                <a:solidFill>
                  <a:srgbClr val="001080"/>
                </a:solidFill>
                <a:latin typeface="Menlo" panose="020B0609030804020204" pitchFamily="49" charset="0"/>
              </a:rPr>
              <a:t>%d</a:t>
            </a:r>
            <a:r>
              <a:rPr lang="en-US" sz="1400" dirty="0">
                <a:solidFill>
                  <a:srgbClr val="EE0000"/>
                </a:solidFill>
                <a:latin typeface="Menlo" panose="020B0609030804020204" pitchFamily="49" charset="0"/>
              </a:rPr>
              <a:t>\n</a:t>
            </a:r>
            <a:r>
              <a:rPr lang="en-US" sz="1400" dirty="0">
                <a:solidFill>
                  <a:srgbClr val="A31515"/>
                </a:solidFill>
                <a:latin typeface="Menlo" panose="020B0609030804020204" pitchFamily="49" charset="0"/>
              </a:rPr>
              <a:t>"</a:t>
            </a:r>
            <a:r>
              <a:rPr lang="en-US" sz="1400" dirty="0">
                <a:solidFill>
                  <a:srgbClr val="3B3B3B"/>
                </a:solidFill>
                <a:latin typeface="Menlo" panose="020B0609030804020204" pitchFamily="49" charset="0"/>
              </a:rPr>
              <a:t>, </a:t>
            </a:r>
            <a:r>
              <a:rPr lang="en-US" sz="1400" dirty="0" err="1">
                <a:solidFill>
                  <a:srgbClr val="3B3B3B"/>
                </a:solidFill>
                <a:latin typeface="Menlo" panose="020B0609030804020204" pitchFamily="49" charset="0"/>
              </a:rPr>
              <a:t>root_process</a:t>
            </a:r>
            <a:r>
              <a:rPr lang="en-US" sz="1400" dirty="0">
                <a:solidFill>
                  <a:srgbClr val="3B3B3B"/>
                </a:solidFill>
                <a:latin typeface="Menlo" panose="020B0609030804020204" pitchFamily="49" charset="0"/>
              </a:rPr>
              <a:t>, </a:t>
            </a:r>
            <a:r>
              <a:rPr lang="en-US" sz="1400" dirty="0" err="1">
                <a:solidFill>
                  <a:srgbClr val="3B3B3B"/>
                </a:solidFill>
                <a:latin typeface="Menlo" panose="020B0609030804020204" pitchFamily="49" charset="0"/>
              </a:rPr>
              <a:t>global_sum</a:t>
            </a:r>
            <a:r>
              <a:rPr lang="en-US" sz="1400" dirty="0">
                <a:solidFill>
                  <a:srgbClr val="3B3B3B"/>
                </a:solidFill>
                <a:latin typeface="Menlo" panose="020B0609030804020204" pitchFamily="49" charset="0"/>
              </a:rPr>
              <a:t>);</a:t>
            </a:r>
          </a:p>
          <a:p>
            <a:r>
              <a:rPr lang="en-US" sz="1400" dirty="0">
                <a:solidFill>
                  <a:srgbClr val="3B3B3B"/>
                </a:solidFill>
                <a:latin typeface="Menlo" panose="020B0609030804020204" pitchFamily="49" charset="0"/>
              </a:rPr>
              <a:t>}</a:t>
            </a:r>
          </a:p>
          <a:p>
            <a:r>
              <a:rPr lang="en-US" sz="1400" dirty="0" err="1">
                <a:solidFill>
                  <a:srgbClr val="795E26"/>
                </a:solidFill>
                <a:latin typeface="Menlo" panose="020B0609030804020204" pitchFamily="49" charset="0"/>
              </a:rPr>
              <a:t>MPI_Finalize</a:t>
            </a:r>
            <a:r>
              <a:rPr lang="en-US" sz="1400" dirty="0">
                <a:solidFill>
                  <a:srgbClr val="3B3B3B"/>
                </a:solidFill>
                <a:latin typeface="Menlo" panose="020B0609030804020204" pitchFamily="49" charset="0"/>
              </a:rPr>
              <a:t>();</a:t>
            </a:r>
            <a:br>
              <a:rPr lang="en-US" sz="1400" dirty="0">
                <a:solidFill>
                  <a:srgbClr val="3B3B3B"/>
                </a:solidFill>
                <a:latin typeface="Menlo" panose="020B0609030804020204" pitchFamily="49" charset="0"/>
              </a:rPr>
            </a:br>
            <a:r>
              <a:rPr lang="en-US" sz="1400" dirty="0">
                <a:solidFill>
                  <a:srgbClr val="AF00DB"/>
                </a:solidFill>
                <a:latin typeface="Menlo" panose="020B0609030804020204" pitchFamily="49" charset="0"/>
              </a:rPr>
              <a:t>return</a:t>
            </a:r>
            <a:r>
              <a:rPr lang="en-US" sz="1400" dirty="0">
                <a:solidFill>
                  <a:srgbClr val="3B3B3B"/>
                </a:solidFill>
                <a:latin typeface="Menlo" panose="020B0609030804020204" pitchFamily="49" charset="0"/>
              </a:rPr>
              <a:t> </a:t>
            </a:r>
            <a:r>
              <a:rPr lang="en-US" sz="1400" dirty="0">
                <a:solidFill>
                  <a:srgbClr val="098658"/>
                </a:solidFill>
                <a:latin typeface="Menlo" panose="020B0609030804020204" pitchFamily="49" charset="0"/>
              </a:rPr>
              <a:t>0</a:t>
            </a:r>
            <a:r>
              <a:rPr lang="en-US" sz="1400" dirty="0">
                <a:solidFill>
                  <a:srgbClr val="3B3B3B"/>
                </a:solidFill>
                <a:latin typeface="Menlo" panose="020B0609030804020204" pitchFamily="49" charset="0"/>
              </a:rPr>
              <a:t>;</a:t>
            </a:r>
          </a:p>
          <a:p>
            <a:r>
              <a:rPr lang="en-US" sz="1400" dirty="0">
                <a:solidFill>
                  <a:srgbClr val="3B3B3B"/>
                </a:solidFill>
                <a:latin typeface="Menlo" panose="020B0609030804020204" pitchFamily="49" charset="0"/>
              </a:rPr>
              <a:t>}</a:t>
            </a:r>
            <a:endParaRPr lang="en-US" sz="1400" b="0" dirty="0">
              <a:solidFill>
                <a:srgbClr val="3B3B3B"/>
              </a:solidFill>
              <a:effectLst/>
              <a:latin typeface="Menlo" panose="020B0609030804020204" pitchFamily="49" charset="0"/>
            </a:endParaRPr>
          </a:p>
        </p:txBody>
      </p:sp>
      <p:sp>
        <p:nvSpPr>
          <p:cNvPr id="5" name="Rectangle 4">
            <a:extLst>
              <a:ext uri="{FF2B5EF4-FFF2-40B4-BE49-F238E27FC236}">
                <a16:creationId xmlns:a16="http://schemas.microsoft.com/office/drawing/2014/main" id="{67A3F4CC-7213-8241-B20A-FDFC80C60B1D}"/>
              </a:ext>
            </a:extLst>
          </p:cNvPr>
          <p:cNvSpPr/>
          <p:nvPr/>
        </p:nvSpPr>
        <p:spPr>
          <a:xfrm>
            <a:off x="7302500" y="262235"/>
            <a:ext cx="4584700" cy="1754326"/>
          </a:xfrm>
          <a:prstGeom prst="rect">
            <a:avLst/>
          </a:prstGeom>
          <a:ln>
            <a:solidFill>
              <a:schemeClr val="tx1"/>
            </a:solidFill>
          </a:ln>
        </p:spPr>
        <p:txBody>
          <a:bodyPr wrap="square">
            <a:spAutoFit/>
          </a:bodyPr>
          <a:lstStyle/>
          <a:p>
            <a:r>
              <a:rPr lang="en-US" dirty="0"/>
              <a:t>Process 0 has local value: 83 </a:t>
            </a:r>
          </a:p>
          <a:p>
            <a:endParaRPr lang="en-US" dirty="0"/>
          </a:p>
          <a:p>
            <a:r>
              <a:rPr lang="en-US" dirty="0"/>
              <a:t>Root process (0) calculated the global sum: 133 </a:t>
            </a:r>
          </a:p>
          <a:p>
            <a:r>
              <a:rPr lang="en-US" dirty="0"/>
              <a:t>Process 1 has local value: 33 </a:t>
            </a:r>
          </a:p>
          <a:p>
            <a:r>
              <a:rPr lang="en-US" dirty="0"/>
              <a:t>Process 2 has local value: 5 </a:t>
            </a:r>
          </a:p>
          <a:p>
            <a:r>
              <a:rPr lang="en-US" dirty="0"/>
              <a:t>Process 3 has local value: 12</a:t>
            </a:r>
          </a:p>
        </p:txBody>
      </p:sp>
    </p:spTree>
    <p:extLst>
      <p:ext uri="{BB962C8B-B14F-4D97-AF65-F5344CB8AC3E}">
        <p14:creationId xmlns:p14="http://schemas.microsoft.com/office/powerpoint/2010/main" val="11815842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D9CDD-9D75-AA45-8FAB-CF907D9E238A}"/>
              </a:ext>
            </a:extLst>
          </p:cNvPr>
          <p:cNvSpPr>
            <a:spLocks noGrp="1"/>
          </p:cNvSpPr>
          <p:nvPr>
            <p:ph type="title"/>
          </p:nvPr>
        </p:nvSpPr>
        <p:spPr>
          <a:xfrm>
            <a:off x="838200" y="0"/>
            <a:ext cx="10515600" cy="1325563"/>
          </a:xfrm>
        </p:spPr>
        <p:txBody>
          <a:bodyPr/>
          <a:lstStyle/>
          <a:p>
            <a:r>
              <a:rPr lang="en-US" dirty="0"/>
              <a:t>Some more MPI calls</a:t>
            </a:r>
          </a:p>
        </p:txBody>
      </p:sp>
      <p:sp>
        <p:nvSpPr>
          <p:cNvPr id="3" name="Content Placeholder 2">
            <a:extLst>
              <a:ext uri="{FF2B5EF4-FFF2-40B4-BE49-F238E27FC236}">
                <a16:creationId xmlns:a16="http://schemas.microsoft.com/office/drawing/2014/main" id="{46729DF2-6856-D845-A2C5-03BB946599F6}"/>
              </a:ext>
            </a:extLst>
          </p:cNvPr>
          <p:cNvSpPr>
            <a:spLocks noGrp="1"/>
          </p:cNvSpPr>
          <p:nvPr>
            <p:ph idx="1"/>
          </p:nvPr>
        </p:nvSpPr>
        <p:spPr>
          <a:xfrm>
            <a:off x="838200" y="1325562"/>
            <a:ext cx="10515600" cy="5532437"/>
          </a:xfrm>
        </p:spPr>
        <p:txBody>
          <a:bodyPr>
            <a:normAutofit/>
          </a:bodyPr>
          <a:lstStyle/>
          <a:p>
            <a:r>
              <a:rPr lang="en-US" dirty="0"/>
              <a:t>One “root” process send a different piece of the data to each one of the other Processes (inverse of gather) </a:t>
            </a:r>
          </a:p>
          <a:p>
            <a:pPr marL="0" indent="0">
              <a:buNone/>
            </a:pPr>
            <a:r>
              <a:rPr lang="en-US" dirty="0">
                <a:solidFill>
                  <a:srgbClr val="0070C0"/>
                </a:solidFill>
              </a:rPr>
              <a:t>   </a:t>
            </a:r>
            <a:r>
              <a:rPr lang="en-US" dirty="0" err="1">
                <a:solidFill>
                  <a:srgbClr val="0070C0"/>
                </a:solidFill>
              </a:rPr>
              <a:t>MPI_Scatter</a:t>
            </a:r>
            <a:r>
              <a:rPr lang="en-US" dirty="0">
                <a:solidFill>
                  <a:srgbClr val="0070C0"/>
                </a:solidFill>
              </a:rPr>
              <a:t>(</a:t>
            </a:r>
            <a:r>
              <a:rPr lang="en-US" dirty="0" err="1">
                <a:solidFill>
                  <a:srgbClr val="0070C0"/>
                </a:solidFill>
              </a:rPr>
              <a:t>sendbuf</a:t>
            </a:r>
            <a:r>
              <a:rPr lang="en-US" dirty="0">
                <a:solidFill>
                  <a:srgbClr val="0070C0"/>
                </a:solidFill>
              </a:rPr>
              <a:t>, </a:t>
            </a:r>
            <a:r>
              <a:rPr lang="en-US" dirty="0" err="1">
                <a:solidFill>
                  <a:srgbClr val="0070C0"/>
                </a:solidFill>
              </a:rPr>
              <a:t>sendcnt</a:t>
            </a:r>
            <a:r>
              <a:rPr lang="en-US" dirty="0">
                <a:solidFill>
                  <a:srgbClr val="0070C0"/>
                </a:solidFill>
              </a:rPr>
              <a:t>, </a:t>
            </a:r>
            <a:r>
              <a:rPr lang="en-US" dirty="0" err="1">
                <a:solidFill>
                  <a:srgbClr val="0070C0"/>
                </a:solidFill>
              </a:rPr>
              <a:t>sendtype</a:t>
            </a:r>
            <a:r>
              <a:rPr lang="en-US" dirty="0">
                <a:solidFill>
                  <a:srgbClr val="0070C0"/>
                </a:solidFill>
              </a:rPr>
              <a:t>, </a:t>
            </a:r>
            <a:r>
              <a:rPr lang="en-US" dirty="0" err="1">
                <a:solidFill>
                  <a:srgbClr val="0070C0"/>
                </a:solidFill>
              </a:rPr>
              <a:t>recvbuf</a:t>
            </a:r>
            <a:r>
              <a:rPr lang="en-US" dirty="0">
                <a:solidFill>
                  <a:srgbClr val="0070C0"/>
                </a:solidFill>
              </a:rPr>
              <a:t>, </a:t>
            </a:r>
            <a:r>
              <a:rPr lang="en-US" dirty="0" err="1">
                <a:solidFill>
                  <a:srgbClr val="0070C0"/>
                </a:solidFill>
              </a:rPr>
              <a:t>recvcnt</a:t>
            </a:r>
            <a:r>
              <a:rPr lang="en-US" dirty="0">
                <a:solidFill>
                  <a:srgbClr val="0070C0"/>
                </a:solidFill>
              </a:rPr>
              <a:t>,</a:t>
            </a:r>
          </a:p>
          <a:p>
            <a:pPr marL="0" indent="0">
              <a:spcBef>
                <a:spcPts val="0"/>
              </a:spcBef>
              <a:buNone/>
            </a:pPr>
            <a:r>
              <a:rPr lang="en-US" dirty="0">
                <a:solidFill>
                  <a:srgbClr val="0070C0"/>
                </a:solidFill>
              </a:rPr>
              <a:t>                          </a:t>
            </a:r>
            <a:r>
              <a:rPr lang="en-US" dirty="0" err="1">
                <a:solidFill>
                  <a:srgbClr val="0070C0"/>
                </a:solidFill>
              </a:rPr>
              <a:t>recvtype</a:t>
            </a:r>
            <a:r>
              <a:rPr lang="en-US" dirty="0">
                <a:solidFill>
                  <a:srgbClr val="0070C0"/>
                </a:solidFill>
              </a:rPr>
              <a:t>, root, </a:t>
            </a:r>
            <a:r>
              <a:rPr lang="en-US" dirty="0" err="1">
                <a:solidFill>
                  <a:srgbClr val="0070C0"/>
                </a:solidFill>
              </a:rPr>
              <a:t>comm</a:t>
            </a:r>
            <a:r>
              <a:rPr lang="en-US" dirty="0">
                <a:solidFill>
                  <a:srgbClr val="0070C0"/>
                </a:solidFill>
              </a:rPr>
              <a:t>, </a:t>
            </a:r>
            <a:r>
              <a:rPr lang="en-US" dirty="0" err="1">
                <a:solidFill>
                  <a:srgbClr val="0070C0"/>
                </a:solidFill>
              </a:rPr>
              <a:t>ierr</a:t>
            </a:r>
            <a:r>
              <a:rPr lang="en-US" dirty="0">
                <a:solidFill>
                  <a:srgbClr val="0070C0"/>
                </a:solidFill>
              </a:rPr>
              <a:t>) </a:t>
            </a:r>
          </a:p>
          <a:p>
            <a:r>
              <a:rPr lang="en-US" dirty="0"/>
              <a:t>Each process performs a scatter operation, sending a distinct message to all the processes in the group in order by index. </a:t>
            </a:r>
          </a:p>
          <a:p>
            <a:pPr marL="0" indent="0">
              <a:buNone/>
            </a:pPr>
            <a:r>
              <a:rPr lang="en-US" dirty="0">
                <a:solidFill>
                  <a:srgbClr val="0070C0"/>
                </a:solidFill>
              </a:rPr>
              <a:t>   </a:t>
            </a:r>
            <a:r>
              <a:rPr lang="en-US" dirty="0" err="1">
                <a:solidFill>
                  <a:srgbClr val="0070C0"/>
                </a:solidFill>
              </a:rPr>
              <a:t>MPI_Alltoall</a:t>
            </a:r>
            <a:r>
              <a:rPr lang="en-US" dirty="0">
                <a:solidFill>
                  <a:srgbClr val="0070C0"/>
                </a:solidFill>
              </a:rPr>
              <a:t>(</a:t>
            </a:r>
            <a:r>
              <a:rPr lang="en-US" dirty="0" err="1">
                <a:solidFill>
                  <a:srgbClr val="0070C0"/>
                </a:solidFill>
              </a:rPr>
              <a:t>sendbuf</a:t>
            </a:r>
            <a:r>
              <a:rPr lang="en-US" dirty="0">
                <a:solidFill>
                  <a:srgbClr val="0070C0"/>
                </a:solidFill>
              </a:rPr>
              <a:t>, </a:t>
            </a:r>
            <a:r>
              <a:rPr lang="en-US" dirty="0" err="1">
                <a:solidFill>
                  <a:srgbClr val="0070C0"/>
                </a:solidFill>
              </a:rPr>
              <a:t>sendcount</a:t>
            </a:r>
            <a:r>
              <a:rPr lang="en-US" dirty="0">
                <a:solidFill>
                  <a:srgbClr val="0070C0"/>
                </a:solidFill>
              </a:rPr>
              <a:t>, </a:t>
            </a:r>
            <a:r>
              <a:rPr lang="en-US" dirty="0" err="1">
                <a:solidFill>
                  <a:srgbClr val="0070C0"/>
                </a:solidFill>
              </a:rPr>
              <a:t>sendtype</a:t>
            </a:r>
            <a:r>
              <a:rPr lang="en-US" dirty="0">
                <a:solidFill>
                  <a:srgbClr val="0070C0"/>
                </a:solidFill>
              </a:rPr>
              <a:t>, </a:t>
            </a:r>
            <a:r>
              <a:rPr lang="en-US" dirty="0" err="1">
                <a:solidFill>
                  <a:srgbClr val="0070C0"/>
                </a:solidFill>
              </a:rPr>
              <a:t>recvbuf</a:t>
            </a:r>
            <a:r>
              <a:rPr lang="en-US" dirty="0">
                <a:solidFill>
                  <a:srgbClr val="0070C0"/>
                </a:solidFill>
              </a:rPr>
              <a:t>, </a:t>
            </a:r>
            <a:r>
              <a:rPr lang="en-US" dirty="0" err="1">
                <a:solidFill>
                  <a:srgbClr val="0070C0"/>
                </a:solidFill>
              </a:rPr>
              <a:t>recvcnt</a:t>
            </a:r>
            <a:r>
              <a:rPr lang="en-US" dirty="0">
                <a:solidFill>
                  <a:srgbClr val="0070C0"/>
                </a:solidFill>
              </a:rPr>
              <a:t>,   </a:t>
            </a:r>
          </a:p>
          <a:p>
            <a:pPr marL="0" indent="0">
              <a:spcBef>
                <a:spcPts val="0"/>
              </a:spcBef>
              <a:buNone/>
            </a:pPr>
            <a:r>
              <a:rPr lang="en-US" dirty="0">
                <a:solidFill>
                  <a:srgbClr val="0070C0"/>
                </a:solidFill>
              </a:rPr>
              <a:t>                          </a:t>
            </a:r>
            <a:r>
              <a:rPr lang="en-US" dirty="0" err="1">
                <a:solidFill>
                  <a:srgbClr val="0070C0"/>
                </a:solidFill>
              </a:rPr>
              <a:t>recvtype</a:t>
            </a:r>
            <a:r>
              <a:rPr lang="en-US" dirty="0">
                <a:solidFill>
                  <a:srgbClr val="0070C0"/>
                </a:solidFill>
              </a:rPr>
              <a:t>, </a:t>
            </a:r>
            <a:r>
              <a:rPr lang="en-US" dirty="0" err="1">
                <a:solidFill>
                  <a:srgbClr val="0070C0"/>
                </a:solidFill>
              </a:rPr>
              <a:t>comm</a:t>
            </a:r>
            <a:r>
              <a:rPr lang="en-US" dirty="0">
                <a:solidFill>
                  <a:srgbClr val="0070C0"/>
                </a:solidFill>
              </a:rPr>
              <a:t>, </a:t>
            </a:r>
            <a:r>
              <a:rPr lang="en-US" dirty="0" err="1">
                <a:solidFill>
                  <a:srgbClr val="0070C0"/>
                </a:solidFill>
              </a:rPr>
              <a:t>ierr</a:t>
            </a:r>
            <a:r>
              <a:rPr lang="en-US" dirty="0">
                <a:solidFill>
                  <a:srgbClr val="0070C0"/>
                </a:solidFill>
              </a:rPr>
              <a:t>) </a:t>
            </a:r>
          </a:p>
          <a:p>
            <a:r>
              <a:rPr lang="en-US" dirty="0"/>
              <a:t>Synchronization: When necessary, all the processes within a communicator can be forced to wait for each other although this operation can be expensive </a:t>
            </a:r>
          </a:p>
          <a:p>
            <a:pPr marL="0" indent="0">
              <a:buNone/>
            </a:pPr>
            <a:r>
              <a:rPr lang="en-US" dirty="0">
                <a:solidFill>
                  <a:srgbClr val="0070C0"/>
                </a:solidFill>
              </a:rPr>
              <a:t>   </a:t>
            </a:r>
            <a:r>
              <a:rPr lang="en-US" dirty="0" err="1">
                <a:solidFill>
                  <a:srgbClr val="0070C0"/>
                </a:solidFill>
              </a:rPr>
              <a:t>MPI_Barrier</a:t>
            </a:r>
            <a:r>
              <a:rPr lang="en-US" dirty="0">
                <a:solidFill>
                  <a:srgbClr val="0070C0"/>
                </a:solidFill>
              </a:rPr>
              <a:t>(</a:t>
            </a:r>
            <a:r>
              <a:rPr lang="en-US" dirty="0" err="1">
                <a:solidFill>
                  <a:srgbClr val="0070C0"/>
                </a:solidFill>
              </a:rPr>
              <a:t>comm,ierr</a:t>
            </a:r>
            <a:r>
              <a:rPr lang="en-US" dirty="0">
                <a:solidFill>
                  <a:srgbClr val="0070C0"/>
                </a:solidFill>
              </a:rPr>
              <a:t>) </a:t>
            </a:r>
          </a:p>
          <a:p>
            <a:endParaRPr lang="en-US" dirty="0"/>
          </a:p>
        </p:txBody>
      </p:sp>
    </p:spTree>
    <p:extLst>
      <p:ext uri="{BB962C8B-B14F-4D97-AF65-F5344CB8AC3E}">
        <p14:creationId xmlns:p14="http://schemas.microsoft.com/office/powerpoint/2010/main" val="14256746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4EA7-5A2A-2E4E-9461-84E00AC9C13C}"/>
              </a:ext>
            </a:extLst>
          </p:cNvPr>
          <p:cNvSpPr>
            <a:spLocks noGrp="1"/>
          </p:cNvSpPr>
          <p:nvPr>
            <p:ph type="title"/>
          </p:nvPr>
        </p:nvSpPr>
        <p:spPr>
          <a:xfrm>
            <a:off x="838200" y="0"/>
            <a:ext cx="10515600" cy="1325563"/>
          </a:xfrm>
        </p:spPr>
        <p:txBody>
          <a:bodyPr/>
          <a:lstStyle/>
          <a:p>
            <a:r>
              <a:rPr lang="en-US" dirty="0"/>
              <a:t>MPI_SEND communication modes</a:t>
            </a:r>
          </a:p>
        </p:txBody>
      </p:sp>
      <p:sp>
        <p:nvSpPr>
          <p:cNvPr id="3" name="Content Placeholder 2">
            <a:extLst>
              <a:ext uri="{FF2B5EF4-FFF2-40B4-BE49-F238E27FC236}">
                <a16:creationId xmlns:a16="http://schemas.microsoft.com/office/drawing/2014/main" id="{31AB384E-3B63-474D-8BDA-4E82F99B3391}"/>
              </a:ext>
            </a:extLst>
          </p:cNvPr>
          <p:cNvSpPr>
            <a:spLocks noGrp="1"/>
          </p:cNvSpPr>
          <p:nvPr>
            <p:ph idx="1"/>
          </p:nvPr>
        </p:nvSpPr>
        <p:spPr>
          <a:xfrm>
            <a:off x="0" y="1325562"/>
            <a:ext cx="12192000" cy="5532437"/>
          </a:xfrm>
        </p:spPr>
        <p:txBody>
          <a:bodyPr>
            <a:normAutofit lnSpcReduction="10000"/>
          </a:bodyPr>
          <a:lstStyle/>
          <a:p>
            <a:r>
              <a:rPr lang="en-US" dirty="0"/>
              <a:t>The send call has several options of communication modes.</a:t>
            </a:r>
          </a:p>
          <a:p>
            <a:r>
              <a:rPr lang="en-US" dirty="0"/>
              <a:t>The communication mode is indicated by a one letter prefix: </a:t>
            </a:r>
            <a:r>
              <a:rPr lang="en-US" dirty="0">
                <a:solidFill>
                  <a:srgbClr val="FF0000"/>
                </a:solidFill>
              </a:rPr>
              <a:t>B</a:t>
            </a:r>
            <a:r>
              <a:rPr lang="en-US" dirty="0"/>
              <a:t> for buffered, </a:t>
            </a:r>
            <a:r>
              <a:rPr lang="en-US" dirty="0">
                <a:solidFill>
                  <a:srgbClr val="FF0000"/>
                </a:solidFill>
              </a:rPr>
              <a:t>R</a:t>
            </a:r>
            <a:r>
              <a:rPr lang="en-US" dirty="0"/>
              <a:t> for ready and </a:t>
            </a:r>
            <a:r>
              <a:rPr lang="en-US" dirty="0">
                <a:solidFill>
                  <a:srgbClr val="FF0000"/>
                </a:solidFill>
              </a:rPr>
              <a:t>S</a:t>
            </a:r>
            <a:r>
              <a:rPr lang="en-US" dirty="0"/>
              <a:t> for synchronous. </a:t>
            </a:r>
          </a:p>
          <a:p>
            <a:pPr marL="514350" indent="-514350">
              <a:buFont typeface="+mj-lt"/>
              <a:buAutoNum type="arabicPeriod"/>
            </a:pPr>
            <a:r>
              <a:rPr lang="en-US" dirty="0">
                <a:solidFill>
                  <a:srgbClr val="FF0000"/>
                </a:solidFill>
              </a:rPr>
              <a:t>MPI_SENS: </a:t>
            </a:r>
            <a:r>
              <a:rPr lang="en-US" dirty="0"/>
              <a:t>Message may be buffered or not. If buffered, the send call may complete before a matching receive is invoked (non-blocking). If not the send call will not complete until a matching receive has been posted (blocking).</a:t>
            </a:r>
            <a:endParaRPr lang="en-US" dirty="0">
              <a:solidFill>
                <a:srgbClr val="FF0000"/>
              </a:solidFill>
            </a:endParaRPr>
          </a:p>
          <a:p>
            <a:pPr marL="514350" indent="-514350">
              <a:buFont typeface="+mj-lt"/>
              <a:buAutoNum type="arabicPeriod"/>
            </a:pPr>
            <a:r>
              <a:rPr lang="en-US" dirty="0">
                <a:solidFill>
                  <a:srgbClr val="FF0000"/>
                </a:solidFill>
              </a:rPr>
              <a:t>MPI_BSEND: </a:t>
            </a:r>
            <a:r>
              <a:rPr lang="en-US" dirty="0"/>
              <a:t>The programmer can guarantee that space is available for messages by specifying a buffer space. This allows a send to complete without have to have a matching receive posted yet.</a:t>
            </a:r>
          </a:p>
          <a:p>
            <a:pPr marL="514350" indent="-514350">
              <a:buFont typeface="+mj-lt"/>
              <a:buAutoNum type="arabicPeriod"/>
            </a:pPr>
            <a:r>
              <a:rPr lang="en-US" dirty="0">
                <a:solidFill>
                  <a:srgbClr val="FF0000"/>
                </a:solidFill>
              </a:rPr>
              <a:t>MPI_RSEND: </a:t>
            </a:r>
            <a:r>
              <a:rPr lang="en-US" dirty="0"/>
              <a:t>The send will start </a:t>
            </a:r>
            <a:r>
              <a:rPr lang="en-US" i="1" dirty="0"/>
              <a:t>only</a:t>
            </a:r>
            <a:r>
              <a:rPr lang="en-US" dirty="0"/>
              <a:t> if the matching receive is already posted. Otherwise, the operation is erroneous and its outcome is undefined. </a:t>
            </a:r>
            <a:endParaRPr lang="en-US" dirty="0">
              <a:solidFill>
                <a:srgbClr val="FF0000"/>
              </a:solidFill>
            </a:endParaRPr>
          </a:p>
          <a:p>
            <a:pPr marL="514350" indent="-514350">
              <a:buFont typeface="+mj-lt"/>
              <a:buAutoNum type="arabicPeriod"/>
            </a:pPr>
            <a:r>
              <a:rPr lang="en-US" dirty="0">
                <a:solidFill>
                  <a:srgbClr val="FF0000"/>
                </a:solidFill>
              </a:rPr>
              <a:t>MPI_SSEND: </a:t>
            </a:r>
            <a:r>
              <a:rPr lang="en-US" dirty="0"/>
              <a:t>The send will complete successfully only if a matching receive is posted, and the receive operation has started to receive the message sent by the synchronous send. </a:t>
            </a:r>
            <a:endParaRPr lang="en-US" dirty="0">
              <a:solidFill>
                <a:srgbClr val="FF0000"/>
              </a:solidFill>
            </a:endParaRPr>
          </a:p>
        </p:txBody>
      </p:sp>
    </p:spTree>
    <p:extLst>
      <p:ext uri="{BB962C8B-B14F-4D97-AF65-F5344CB8AC3E}">
        <p14:creationId xmlns:p14="http://schemas.microsoft.com/office/powerpoint/2010/main" val="28423093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E4594-D340-1047-89C7-0B417AE8DCF0}"/>
              </a:ext>
            </a:extLst>
          </p:cNvPr>
          <p:cNvSpPr>
            <a:spLocks noGrp="1"/>
          </p:cNvSpPr>
          <p:nvPr>
            <p:ph type="title"/>
          </p:nvPr>
        </p:nvSpPr>
        <p:spPr>
          <a:xfrm>
            <a:off x="0" y="0"/>
            <a:ext cx="10515600" cy="1325563"/>
          </a:xfrm>
        </p:spPr>
        <p:txBody>
          <a:bodyPr/>
          <a:lstStyle/>
          <a:p>
            <a:r>
              <a:rPr lang="en-US" dirty="0"/>
              <a:t>Blocking communications</a:t>
            </a:r>
          </a:p>
        </p:txBody>
      </p:sp>
      <p:sp>
        <p:nvSpPr>
          <p:cNvPr id="3" name="Content Placeholder 2">
            <a:extLst>
              <a:ext uri="{FF2B5EF4-FFF2-40B4-BE49-F238E27FC236}">
                <a16:creationId xmlns:a16="http://schemas.microsoft.com/office/drawing/2014/main" id="{C74E0626-30F8-9249-BF46-6586064963EC}"/>
              </a:ext>
            </a:extLst>
          </p:cNvPr>
          <p:cNvSpPr>
            <a:spLocks noGrp="1"/>
          </p:cNvSpPr>
          <p:nvPr>
            <p:ph idx="1"/>
          </p:nvPr>
        </p:nvSpPr>
        <p:spPr>
          <a:xfrm>
            <a:off x="0" y="1325563"/>
            <a:ext cx="5867400" cy="4351338"/>
          </a:xfrm>
        </p:spPr>
        <p:txBody>
          <a:bodyPr/>
          <a:lstStyle/>
          <a:p>
            <a:r>
              <a:rPr lang="en-US" dirty="0"/>
              <a:t>The call waits until the data transfer is done </a:t>
            </a:r>
          </a:p>
          <a:p>
            <a:pPr lvl="1"/>
            <a:r>
              <a:rPr lang="en-US" dirty="0"/>
              <a:t>The sending process waits until all data are transferred to the system buffer</a:t>
            </a:r>
          </a:p>
          <a:p>
            <a:pPr lvl="1"/>
            <a:r>
              <a:rPr lang="en-US" dirty="0"/>
              <a:t>The receiving process waits until all data are transferred from the system buffer to the receive buffer </a:t>
            </a:r>
          </a:p>
          <a:p>
            <a:r>
              <a:rPr lang="en-US" dirty="0"/>
              <a:t>All collective communications are blocking </a:t>
            </a:r>
          </a:p>
          <a:p>
            <a:endParaRPr lang="en-US" dirty="0"/>
          </a:p>
        </p:txBody>
      </p:sp>
      <p:pic>
        <p:nvPicPr>
          <p:cNvPr id="5" name="Picture 4">
            <a:extLst>
              <a:ext uri="{FF2B5EF4-FFF2-40B4-BE49-F238E27FC236}">
                <a16:creationId xmlns:a16="http://schemas.microsoft.com/office/drawing/2014/main" id="{215D815D-2021-9B4B-BA98-39F3DF0C56E9}"/>
              </a:ext>
            </a:extLst>
          </p:cNvPr>
          <p:cNvPicPr>
            <a:picLocks noChangeAspect="1"/>
          </p:cNvPicPr>
          <p:nvPr/>
        </p:nvPicPr>
        <p:blipFill>
          <a:blip r:embed="rId2"/>
          <a:stretch>
            <a:fillRect/>
          </a:stretch>
        </p:blipFill>
        <p:spPr>
          <a:xfrm>
            <a:off x="5844702" y="0"/>
            <a:ext cx="6347298" cy="6858000"/>
          </a:xfrm>
          <a:prstGeom prst="rect">
            <a:avLst/>
          </a:prstGeom>
        </p:spPr>
      </p:pic>
    </p:spTree>
    <p:extLst>
      <p:ext uri="{BB962C8B-B14F-4D97-AF65-F5344CB8AC3E}">
        <p14:creationId xmlns:p14="http://schemas.microsoft.com/office/powerpoint/2010/main" val="37378970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344E-A01F-4A45-90F7-8E67811C418B}"/>
              </a:ext>
            </a:extLst>
          </p:cNvPr>
          <p:cNvSpPr>
            <a:spLocks noGrp="1"/>
          </p:cNvSpPr>
          <p:nvPr>
            <p:ph type="title"/>
          </p:nvPr>
        </p:nvSpPr>
        <p:spPr>
          <a:xfrm>
            <a:off x="0" y="0"/>
            <a:ext cx="10515600" cy="1325563"/>
          </a:xfrm>
        </p:spPr>
        <p:txBody>
          <a:bodyPr/>
          <a:lstStyle/>
          <a:p>
            <a:r>
              <a:rPr lang="en-US" dirty="0"/>
              <a:t>Non-blocking</a:t>
            </a:r>
          </a:p>
        </p:txBody>
      </p:sp>
      <p:sp>
        <p:nvSpPr>
          <p:cNvPr id="3" name="Content Placeholder 2">
            <a:extLst>
              <a:ext uri="{FF2B5EF4-FFF2-40B4-BE49-F238E27FC236}">
                <a16:creationId xmlns:a16="http://schemas.microsoft.com/office/drawing/2014/main" id="{25C2E85E-F20E-F24B-8F3A-A99F9A753BF4}"/>
              </a:ext>
            </a:extLst>
          </p:cNvPr>
          <p:cNvSpPr>
            <a:spLocks noGrp="1"/>
          </p:cNvSpPr>
          <p:nvPr>
            <p:ph idx="1"/>
          </p:nvPr>
        </p:nvSpPr>
        <p:spPr>
          <a:xfrm>
            <a:off x="0" y="1325563"/>
            <a:ext cx="5469835" cy="4351338"/>
          </a:xfrm>
        </p:spPr>
        <p:txBody>
          <a:bodyPr/>
          <a:lstStyle/>
          <a:p>
            <a:r>
              <a:rPr lang="en-US" dirty="0"/>
              <a:t>Returns immediately after the data transferred is initiated </a:t>
            </a:r>
          </a:p>
          <a:p>
            <a:r>
              <a:rPr lang="en-US" dirty="0"/>
              <a:t>Allows to overlap computation with communication </a:t>
            </a:r>
          </a:p>
          <a:p>
            <a:r>
              <a:rPr lang="en-US" dirty="0"/>
              <a:t>Need to be careful though </a:t>
            </a:r>
          </a:p>
          <a:p>
            <a:pPr lvl="1"/>
            <a:r>
              <a:rPr lang="en-US" dirty="0"/>
              <a:t>When send and receive buffers are updated before the transfer is over, the result will be wrong </a:t>
            </a:r>
          </a:p>
          <a:p>
            <a:endParaRPr lang="en-US" dirty="0"/>
          </a:p>
        </p:txBody>
      </p:sp>
      <p:pic>
        <p:nvPicPr>
          <p:cNvPr id="5" name="Picture 4">
            <a:extLst>
              <a:ext uri="{FF2B5EF4-FFF2-40B4-BE49-F238E27FC236}">
                <a16:creationId xmlns:a16="http://schemas.microsoft.com/office/drawing/2014/main" id="{9A0EF104-6985-7E4D-A8D7-12709A098A7A}"/>
              </a:ext>
            </a:extLst>
          </p:cNvPr>
          <p:cNvPicPr>
            <a:picLocks noChangeAspect="1"/>
          </p:cNvPicPr>
          <p:nvPr/>
        </p:nvPicPr>
        <p:blipFill>
          <a:blip r:embed="rId2"/>
          <a:stretch>
            <a:fillRect/>
          </a:stretch>
        </p:blipFill>
        <p:spPr>
          <a:xfrm>
            <a:off x="5853727" y="28506"/>
            <a:ext cx="6338273" cy="6928885"/>
          </a:xfrm>
          <a:prstGeom prst="rect">
            <a:avLst/>
          </a:prstGeom>
        </p:spPr>
      </p:pic>
    </p:spTree>
    <p:extLst>
      <p:ext uri="{BB962C8B-B14F-4D97-AF65-F5344CB8AC3E}">
        <p14:creationId xmlns:p14="http://schemas.microsoft.com/office/powerpoint/2010/main" val="7830232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8A441-7E28-094E-9591-E1DF9942546D}"/>
              </a:ext>
            </a:extLst>
          </p:cNvPr>
          <p:cNvSpPr>
            <a:spLocks noGrp="1"/>
          </p:cNvSpPr>
          <p:nvPr>
            <p:ph type="title"/>
          </p:nvPr>
        </p:nvSpPr>
        <p:spPr>
          <a:xfrm>
            <a:off x="838200" y="0"/>
            <a:ext cx="10515600" cy="1325563"/>
          </a:xfrm>
        </p:spPr>
        <p:txBody>
          <a:bodyPr/>
          <a:lstStyle/>
          <a:p>
            <a:r>
              <a:rPr lang="en-US" dirty="0"/>
              <a:t>Non-blocking send and receive</a:t>
            </a:r>
          </a:p>
        </p:txBody>
      </p:sp>
      <p:sp>
        <p:nvSpPr>
          <p:cNvPr id="3" name="Content Placeholder 2">
            <a:extLst>
              <a:ext uri="{FF2B5EF4-FFF2-40B4-BE49-F238E27FC236}">
                <a16:creationId xmlns:a16="http://schemas.microsoft.com/office/drawing/2014/main" id="{F5D54837-BF95-1441-88E0-5815FCAC0B45}"/>
              </a:ext>
            </a:extLst>
          </p:cNvPr>
          <p:cNvSpPr>
            <a:spLocks noGrp="1"/>
          </p:cNvSpPr>
          <p:nvPr>
            <p:ph idx="1"/>
          </p:nvPr>
        </p:nvSpPr>
        <p:spPr>
          <a:xfrm>
            <a:off x="490330" y="1335640"/>
            <a:ext cx="11370366" cy="5522360"/>
          </a:xfrm>
        </p:spPr>
        <p:txBody>
          <a:bodyPr/>
          <a:lstStyle/>
          <a:p>
            <a:r>
              <a:rPr lang="en-US" dirty="0"/>
              <a:t>Point-to-point</a:t>
            </a:r>
          </a:p>
          <a:p>
            <a:pPr marL="0" indent="0">
              <a:buNone/>
            </a:pPr>
            <a:r>
              <a:rPr lang="en-US" dirty="0">
                <a:solidFill>
                  <a:srgbClr val="0070C0"/>
                </a:solidFill>
              </a:rPr>
              <a:t>       </a:t>
            </a:r>
            <a:r>
              <a:rPr lang="en-US" dirty="0" err="1">
                <a:solidFill>
                  <a:srgbClr val="0070C0"/>
                </a:solidFill>
              </a:rPr>
              <a:t>MPI_Isend</a:t>
            </a:r>
            <a:r>
              <a:rPr lang="en-US" dirty="0">
                <a:solidFill>
                  <a:srgbClr val="0070C0"/>
                </a:solidFill>
              </a:rPr>
              <a:t>(</a:t>
            </a:r>
            <a:r>
              <a:rPr lang="en-US" dirty="0" err="1">
                <a:solidFill>
                  <a:srgbClr val="0070C0"/>
                </a:solidFill>
              </a:rPr>
              <a:t>buf,count,datatype,dest,tag,comm,request,ierr</a:t>
            </a:r>
            <a:r>
              <a:rPr lang="en-US" dirty="0">
                <a:solidFill>
                  <a:srgbClr val="0070C0"/>
                </a:solidFill>
              </a:rPr>
              <a:t>) </a:t>
            </a:r>
          </a:p>
          <a:p>
            <a:pPr marL="0" indent="0">
              <a:buNone/>
            </a:pPr>
            <a:r>
              <a:rPr lang="en-US" dirty="0">
                <a:solidFill>
                  <a:srgbClr val="0070C0"/>
                </a:solidFill>
              </a:rPr>
              <a:t>       </a:t>
            </a:r>
            <a:r>
              <a:rPr lang="en-US" dirty="0" err="1">
                <a:solidFill>
                  <a:srgbClr val="0070C0"/>
                </a:solidFill>
              </a:rPr>
              <a:t>MPI_Irecv</a:t>
            </a:r>
            <a:r>
              <a:rPr lang="en-US" dirty="0">
                <a:solidFill>
                  <a:srgbClr val="0070C0"/>
                </a:solidFill>
              </a:rPr>
              <a:t>(</a:t>
            </a:r>
            <a:r>
              <a:rPr lang="en-US" dirty="0" err="1">
                <a:solidFill>
                  <a:srgbClr val="0070C0"/>
                </a:solidFill>
              </a:rPr>
              <a:t>buf,count,datatype,source,tag,comm,request,ierr</a:t>
            </a:r>
            <a:r>
              <a:rPr lang="en-US" dirty="0">
                <a:solidFill>
                  <a:srgbClr val="0070C0"/>
                </a:solidFill>
              </a:rPr>
              <a:t>) </a:t>
            </a:r>
          </a:p>
          <a:p>
            <a:r>
              <a:rPr lang="en-US" dirty="0"/>
              <a:t>The functions </a:t>
            </a:r>
            <a:r>
              <a:rPr lang="en-US" dirty="0" err="1"/>
              <a:t>MPI_Wait</a:t>
            </a:r>
            <a:r>
              <a:rPr lang="en-US" dirty="0"/>
              <a:t> and </a:t>
            </a:r>
            <a:r>
              <a:rPr lang="en-US" dirty="0" err="1"/>
              <a:t>MPI_Test</a:t>
            </a:r>
            <a:r>
              <a:rPr lang="en-US" dirty="0"/>
              <a:t> are used to complete a nonblocking communication </a:t>
            </a:r>
          </a:p>
          <a:p>
            <a:pPr marL="0" indent="0">
              <a:buNone/>
            </a:pPr>
            <a:r>
              <a:rPr lang="en-US" dirty="0"/>
              <a:t>       </a:t>
            </a:r>
            <a:r>
              <a:rPr lang="en-US" dirty="0" err="1">
                <a:solidFill>
                  <a:srgbClr val="0070C0"/>
                </a:solidFill>
              </a:rPr>
              <a:t>MPI_Wait</a:t>
            </a:r>
            <a:r>
              <a:rPr lang="en-US" dirty="0">
                <a:solidFill>
                  <a:srgbClr val="0070C0"/>
                </a:solidFill>
              </a:rPr>
              <a:t>(</a:t>
            </a:r>
            <a:r>
              <a:rPr lang="en-US" dirty="0" err="1">
                <a:solidFill>
                  <a:srgbClr val="0070C0"/>
                </a:solidFill>
              </a:rPr>
              <a:t>request,status,ierr</a:t>
            </a:r>
            <a:r>
              <a:rPr lang="en-US" dirty="0">
                <a:solidFill>
                  <a:srgbClr val="0070C0"/>
                </a:solidFill>
              </a:rPr>
              <a:t>) </a:t>
            </a:r>
          </a:p>
          <a:p>
            <a:pPr marL="0" indent="0">
              <a:buNone/>
            </a:pPr>
            <a:r>
              <a:rPr lang="en-US" dirty="0">
                <a:solidFill>
                  <a:srgbClr val="0070C0"/>
                </a:solidFill>
              </a:rPr>
              <a:t>       </a:t>
            </a:r>
            <a:r>
              <a:rPr lang="en-US" dirty="0" err="1">
                <a:solidFill>
                  <a:srgbClr val="0070C0"/>
                </a:solidFill>
              </a:rPr>
              <a:t>MPI_Test</a:t>
            </a:r>
            <a:r>
              <a:rPr lang="en-US" dirty="0">
                <a:solidFill>
                  <a:srgbClr val="0070C0"/>
                </a:solidFill>
              </a:rPr>
              <a:t>(</a:t>
            </a:r>
            <a:r>
              <a:rPr lang="en-US" dirty="0" err="1">
                <a:solidFill>
                  <a:srgbClr val="0070C0"/>
                </a:solidFill>
              </a:rPr>
              <a:t>request,flag,status,ierr</a:t>
            </a:r>
            <a:r>
              <a:rPr lang="en-US" dirty="0">
                <a:solidFill>
                  <a:srgbClr val="0070C0"/>
                </a:solidFill>
              </a:rPr>
              <a:t>) </a:t>
            </a:r>
          </a:p>
          <a:p>
            <a:r>
              <a:rPr lang="en-US" dirty="0" err="1"/>
              <a:t>MPI_Wait</a:t>
            </a:r>
            <a:r>
              <a:rPr lang="en-US" dirty="0"/>
              <a:t> returns when the operation identified by “request” is complete. This is a non-local operation. </a:t>
            </a:r>
          </a:p>
          <a:p>
            <a:r>
              <a:rPr lang="en-US" dirty="0" err="1"/>
              <a:t>MPI_Test</a:t>
            </a:r>
            <a:r>
              <a:rPr lang="en-US" dirty="0"/>
              <a:t> returns “flag = true” if the operation identified by “request” is complete. Otherwise it returns “flag = false”. This is a local operation. </a:t>
            </a:r>
          </a:p>
          <a:p>
            <a:endParaRPr lang="en-US" dirty="0"/>
          </a:p>
          <a:p>
            <a:pPr marL="0" indent="0">
              <a:buNone/>
            </a:pPr>
            <a:endParaRPr lang="en-US" dirty="0"/>
          </a:p>
        </p:txBody>
      </p:sp>
    </p:spTree>
    <p:extLst>
      <p:ext uri="{BB962C8B-B14F-4D97-AF65-F5344CB8AC3E}">
        <p14:creationId xmlns:p14="http://schemas.microsoft.com/office/powerpoint/2010/main" val="17474199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AA5A1-8902-1F49-B5E4-AF316EB7203A}"/>
              </a:ext>
            </a:extLst>
          </p:cNvPr>
          <p:cNvSpPr>
            <a:spLocks noGrp="1"/>
          </p:cNvSpPr>
          <p:nvPr>
            <p:ph type="title"/>
          </p:nvPr>
        </p:nvSpPr>
        <p:spPr>
          <a:xfrm>
            <a:off x="838200" y="0"/>
            <a:ext cx="10515600" cy="1325563"/>
          </a:xfrm>
        </p:spPr>
        <p:txBody>
          <a:bodyPr/>
          <a:lstStyle/>
          <a:p>
            <a:r>
              <a:rPr lang="en-US" dirty="0"/>
              <a:t>Timing an MPI code</a:t>
            </a:r>
          </a:p>
        </p:txBody>
      </p:sp>
      <p:sp>
        <p:nvSpPr>
          <p:cNvPr id="3" name="Content Placeholder 2">
            <a:extLst>
              <a:ext uri="{FF2B5EF4-FFF2-40B4-BE49-F238E27FC236}">
                <a16:creationId xmlns:a16="http://schemas.microsoft.com/office/drawing/2014/main" id="{DFA20E44-10C8-0F46-8CD3-5702A6C2C54E}"/>
              </a:ext>
            </a:extLst>
          </p:cNvPr>
          <p:cNvSpPr>
            <a:spLocks noGrp="1"/>
          </p:cNvSpPr>
          <p:nvPr>
            <p:ph idx="1"/>
          </p:nvPr>
        </p:nvSpPr>
        <p:spPr>
          <a:xfrm>
            <a:off x="838200" y="1325562"/>
            <a:ext cx="10515600" cy="5532437"/>
          </a:xfrm>
        </p:spPr>
        <p:txBody>
          <a:bodyPr/>
          <a:lstStyle/>
          <a:p>
            <a:r>
              <a:rPr lang="en-US" dirty="0"/>
              <a:t>MPI provides an easy to use function called “</a:t>
            </a:r>
            <a:r>
              <a:rPr lang="en-US" dirty="0" err="1"/>
              <a:t>MPI_Wtime</a:t>
            </a:r>
            <a:r>
              <a:rPr lang="en-US" dirty="0"/>
              <a:t>()”. </a:t>
            </a:r>
          </a:p>
          <a:p>
            <a:pPr marL="0" indent="0">
              <a:spcBef>
                <a:spcPts val="400"/>
              </a:spcBef>
              <a:buNone/>
            </a:pPr>
            <a:r>
              <a:rPr lang="en-US" dirty="0"/>
              <a:t>   It returns the number of seconds since an arbitrary point of time in </a:t>
            </a:r>
          </a:p>
          <a:p>
            <a:pPr marL="0" indent="0">
              <a:spcBef>
                <a:spcPts val="400"/>
              </a:spcBef>
              <a:buNone/>
            </a:pPr>
            <a:r>
              <a:rPr lang="en-US" dirty="0"/>
              <a:t>   the past. </a:t>
            </a:r>
          </a:p>
          <a:p>
            <a:pPr>
              <a:spcBef>
                <a:spcPts val="400"/>
              </a:spcBef>
            </a:pPr>
            <a:r>
              <a:rPr lang="en-US" dirty="0"/>
              <a:t>Usage: </a:t>
            </a:r>
          </a:p>
          <a:p>
            <a:pPr marL="0" indent="0">
              <a:spcBef>
                <a:spcPts val="400"/>
              </a:spcBef>
              <a:buNone/>
            </a:pPr>
            <a:r>
              <a:rPr lang="en-US" dirty="0">
                <a:solidFill>
                  <a:srgbClr val="0070C0"/>
                </a:solidFill>
              </a:rPr>
              <a:t>          double </a:t>
            </a:r>
            <a:r>
              <a:rPr lang="en-US" dirty="0" err="1">
                <a:solidFill>
                  <a:srgbClr val="0070C0"/>
                </a:solidFill>
              </a:rPr>
              <a:t>MPI_Wtime</a:t>
            </a:r>
            <a:r>
              <a:rPr lang="en-US" dirty="0">
                <a:solidFill>
                  <a:srgbClr val="0070C0"/>
                </a:solidFill>
              </a:rPr>
              <a:t>() </a:t>
            </a:r>
          </a:p>
          <a:p>
            <a:pPr>
              <a:spcBef>
                <a:spcPts val="400"/>
              </a:spcBef>
            </a:pPr>
            <a:r>
              <a:rPr lang="en-US" dirty="0"/>
              <a:t>Example:</a:t>
            </a:r>
          </a:p>
          <a:p>
            <a:pPr marL="0" indent="0">
              <a:spcBef>
                <a:spcPts val="400"/>
              </a:spcBef>
              <a:buNone/>
            </a:pPr>
            <a:r>
              <a:rPr lang="en-US" b="1" dirty="0"/>
              <a:t>          </a:t>
            </a:r>
            <a:r>
              <a:rPr lang="en-US" b="1" dirty="0" err="1"/>
              <a:t>starttime</a:t>
            </a:r>
            <a:r>
              <a:rPr lang="en-US" b="1" dirty="0"/>
              <a:t>=MPI_WTIME() </a:t>
            </a:r>
          </a:p>
          <a:p>
            <a:pPr marL="0" indent="0">
              <a:spcBef>
                <a:spcPts val="400"/>
              </a:spcBef>
              <a:buNone/>
            </a:pPr>
            <a:r>
              <a:rPr lang="en-US" b="1" dirty="0"/>
              <a:t>          </a:t>
            </a:r>
            <a:r>
              <a:rPr lang="en-US" dirty="0"/>
              <a:t>... </a:t>
            </a:r>
            <a:r>
              <a:rPr lang="en-US" i="1" dirty="0"/>
              <a:t>program body </a:t>
            </a:r>
            <a:r>
              <a:rPr lang="en-US" dirty="0"/>
              <a:t>... </a:t>
            </a:r>
          </a:p>
          <a:p>
            <a:pPr marL="0" indent="0">
              <a:spcBef>
                <a:spcPts val="400"/>
              </a:spcBef>
              <a:buNone/>
            </a:pPr>
            <a:r>
              <a:rPr lang="en-US" b="1" dirty="0"/>
              <a:t>          </a:t>
            </a:r>
            <a:r>
              <a:rPr lang="en-US" b="1" dirty="0" err="1"/>
              <a:t>endtime</a:t>
            </a:r>
            <a:r>
              <a:rPr lang="en-US" b="1" dirty="0"/>
              <a:t>=MPI_WTIME() </a:t>
            </a:r>
          </a:p>
          <a:p>
            <a:pPr marL="0" indent="0">
              <a:spcBef>
                <a:spcPts val="400"/>
              </a:spcBef>
              <a:buNone/>
            </a:pPr>
            <a:r>
              <a:rPr lang="en-US" b="1" dirty="0"/>
              <a:t>          </a:t>
            </a:r>
            <a:r>
              <a:rPr lang="en-US" b="1" dirty="0" err="1"/>
              <a:t>elapsetime</a:t>
            </a:r>
            <a:r>
              <a:rPr lang="en-US" b="1" dirty="0"/>
              <a:t>=</a:t>
            </a:r>
            <a:r>
              <a:rPr lang="en-US" b="1" dirty="0" err="1"/>
              <a:t>endtime-starttime</a:t>
            </a:r>
            <a:r>
              <a:rPr lang="en-US" b="1" dirty="0"/>
              <a:t> </a:t>
            </a:r>
            <a:endParaRPr lang="en-US" dirty="0"/>
          </a:p>
          <a:p>
            <a:pPr marL="0" indent="0">
              <a:spcBef>
                <a:spcPts val="400"/>
              </a:spcBef>
              <a:buNone/>
            </a:pPr>
            <a:endParaRPr lang="en-US" dirty="0"/>
          </a:p>
          <a:p>
            <a:pPr marL="0" indent="0">
              <a:spcBef>
                <a:spcPts val="400"/>
              </a:spcBef>
              <a:buNone/>
            </a:pPr>
            <a:endParaRPr lang="en-US" dirty="0"/>
          </a:p>
          <a:p>
            <a:endParaRPr lang="en-US" dirty="0"/>
          </a:p>
        </p:txBody>
      </p:sp>
    </p:spTree>
    <p:extLst>
      <p:ext uri="{BB962C8B-B14F-4D97-AF65-F5344CB8AC3E}">
        <p14:creationId xmlns:p14="http://schemas.microsoft.com/office/powerpoint/2010/main" val="32682565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7895D-0FF7-F44C-8DA1-BB7A6DF36FC9}"/>
              </a:ext>
            </a:extLst>
          </p:cNvPr>
          <p:cNvSpPr>
            <a:spLocks noGrp="1"/>
          </p:cNvSpPr>
          <p:nvPr>
            <p:ph type="title"/>
          </p:nvPr>
        </p:nvSpPr>
        <p:spPr>
          <a:xfrm>
            <a:off x="838200" y="0"/>
            <a:ext cx="10515600" cy="1325563"/>
          </a:xfrm>
        </p:spPr>
        <p:txBody>
          <a:bodyPr/>
          <a:lstStyle/>
          <a:p>
            <a:r>
              <a:rPr lang="en-US" dirty="0"/>
              <a:t>Compiling and linking MPI code</a:t>
            </a:r>
          </a:p>
        </p:txBody>
      </p:sp>
      <p:sp>
        <p:nvSpPr>
          <p:cNvPr id="3" name="Content Placeholder 2">
            <a:extLst>
              <a:ext uri="{FF2B5EF4-FFF2-40B4-BE49-F238E27FC236}">
                <a16:creationId xmlns:a16="http://schemas.microsoft.com/office/drawing/2014/main" id="{4D95A1C1-BD79-4C4C-811F-A321AD24A88B}"/>
              </a:ext>
            </a:extLst>
          </p:cNvPr>
          <p:cNvSpPr>
            <a:spLocks noGrp="1"/>
          </p:cNvSpPr>
          <p:nvPr>
            <p:ph idx="1"/>
          </p:nvPr>
        </p:nvSpPr>
        <p:spPr>
          <a:xfrm>
            <a:off x="838200" y="1325563"/>
            <a:ext cx="11353800" cy="5645080"/>
          </a:xfrm>
        </p:spPr>
        <p:txBody>
          <a:bodyPr>
            <a:normAutofit/>
          </a:bodyPr>
          <a:lstStyle/>
          <a:p>
            <a:r>
              <a:rPr lang="en-US" dirty="0"/>
              <a:t>Need to download an MPI compiler. </a:t>
            </a:r>
          </a:p>
          <a:p>
            <a:r>
              <a:rPr lang="en-US" dirty="0"/>
              <a:t>In Linux clusters, two popular MPI implementations are:</a:t>
            </a:r>
          </a:p>
          <a:p>
            <a:pPr marL="0" indent="0">
              <a:buNone/>
            </a:pPr>
            <a:r>
              <a:rPr lang="en-US" dirty="0"/>
              <a:t>   MPICH(</a:t>
            </a:r>
            <a:r>
              <a:rPr lang="en-US" dirty="0">
                <a:hlinkClick r:id="rId2"/>
              </a:rPr>
              <a:t>http://www-unix.mcs.anl.gov/mpi/mpich</a:t>
            </a:r>
            <a:r>
              <a:rPr lang="en-US" dirty="0"/>
              <a:t>)</a:t>
            </a:r>
          </a:p>
          <a:p>
            <a:pPr marL="0" indent="0">
              <a:buNone/>
            </a:pPr>
            <a:r>
              <a:rPr lang="en-US" dirty="0"/>
              <a:t>   OPENMPI (</a:t>
            </a:r>
            <a:r>
              <a:rPr lang="en-US" dirty="0">
                <a:hlinkClick r:id="rId2"/>
              </a:rPr>
              <a:t>http://</a:t>
            </a:r>
            <a:r>
              <a:rPr lang="en-US" dirty="0" err="1">
                <a:hlinkClick r:id="rId2"/>
              </a:rPr>
              <a:t>www.openmpi.org</a:t>
            </a:r>
            <a:r>
              <a:rPr lang="en-US" dirty="0"/>
              <a:t>) </a:t>
            </a:r>
          </a:p>
          <a:p>
            <a:r>
              <a:rPr lang="en-US" dirty="0"/>
              <a:t>On  windows you can use the official Microsoft version MS-MPI</a:t>
            </a:r>
          </a:p>
          <a:p>
            <a:pPr marL="0" indent="0">
              <a:buNone/>
            </a:pPr>
            <a:r>
              <a:rPr lang="en-US" sz="2400" dirty="0"/>
              <a:t>   (</a:t>
            </a:r>
            <a:r>
              <a:rPr lang="en-US" sz="2400" dirty="0">
                <a:hlinkClick r:id="rId3"/>
              </a:rPr>
              <a:t>https://learn.microsoft.com/en-us/message-passing-interface/microsoft-mpi</a:t>
            </a:r>
            <a:r>
              <a:rPr lang="en-US" sz="2400" dirty="0"/>
              <a:t>)</a:t>
            </a:r>
          </a:p>
          <a:p>
            <a:pPr marL="0" indent="0">
              <a:buNone/>
            </a:pPr>
            <a:r>
              <a:rPr lang="en-US" dirty="0"/>
              <a:t>   or OPENMPI</a:t>
            </a:r>
          </a:p>
          <a:p>
            <a:r>
              <a:rPr lang="en-US" dirty="0"/>
              <a:t>On mac type:    </a:t>
            </a:r>
          </a:p>
          <a:p>
            <a:pPr marL="0" indent="0">
              <a:buNone/>
            </a:pPr>
            <a:r>
              <a:rPr lang="en-US" dirty="0"/>
              <a:t>   brew install open-</a:t>
            </a:r>
            <a:r>
              <a:rPr lang="en-US" dirty="0" err="1"/>
              <a:t>mpi</a:t>
            </a:r>
            <a:r>
              <a:rPr lang="en-US" dirty="0"/>
              <a:t> </a:t>
            </a:r>
          </a:p>
          <a:p>
            <a:r>
              <a:rPr lang="en-US" dirty="0"/>
              <a:t>To compile  (c code) just type:</a:t>
            </a:r>
          </a:p>
          <a:p>
            <a:pPr marL="0" indent="0">
              <a:buNone/>
            </a:pPr>
            <a:r>
              <a:rPr lang="en-US" dirty="0">
                <a:solidFill>
                  <a:srgbClr val="FF0000"/>
                </a:solidFill>
              </a:rPr>
              <a:t>                                          </a:t>
            </a:r>
            <a:r>
              <a:rPr lang="en-US" dirty="0" err="1">
                <a:solidFill>
                  <a:srgbClr val="FF0000"/>
                </a:solidFill>
              </a:rPr>
              <a:t>mpicc</a:t>
            </a:r>
            <a:r>
              <a:rPr lang="en-US" dirty="0">
                <a:solidFill>
                  <a:srgbClr val="FF0000"/>
                </a:solidFill>
              </a:rPr>
              <a:t> </a:t>
            </a:r>
            <a:r>
              <a:rPr lang="en-US" dirty="0" err="1">
                <a:solidFill>
                  <a:srgbClr val="FF0000"/>
                </a:solidFill>
              </a:rPr>
              <a:t>mpi_code.c</a:t>
            </a:r>
            <a:r>
              <a:rPr lang="en-US" dirty="0">
                <a:solidFill>
                  <a:srgbClr val="FF0000"/>
                </a:solidFill>
              </a:rPr>
              <a:t> –o </a:t>
            </a:r>
            <a:r>
              <a:rPr lang="en-US" dirty="0" err="1">
                <a:solidFill>
                  <a:srgbClr val="FF0000"/>
                </a:solidFill>
              </a:rPr>
              <a:t>a.out</a:t>
            </a:r>
            <a:r>
              <a:rPr lang="en-US" dirty="0">
                <a:solidFill>
                  <a:srgbClr val="FF0000"/>
                </a:solidFill>
              </a:rPr>
              <a:t> </a:t>
            </a:r>
          </a:p>
          <a:p>
            <a:pPr marL="0" indent="0">
              <a:buNone/>
            </a:pPr>
            <a:endParaRPr lang="en-US" dirty="0">
              <a:solidFill>
                <a:srgbClr val="FF0000"/>
              </a:solidFill>
            </a:endParaRPr>
          </a:p>
        </p:txBody>
      </p:sp>
    </p:spTree>
    <p:extLst>
      <p:ext uri="{BB962C8B-B14F-4D97-AF65-F5344CB8AC3E}">
        <p14:creationId xmlns:p14="http://schemas.microsoft.com/office/powerpoint/2010/main" val="24624557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A09CF-EED6-D34C-9449-4E67FFD1D9FC}"/>
              </a:ext>
            </a:extLst>
          </p:cNvPr>
          <p:cNvSpPr>
            <a:spLocks noGrp="1"/>
          </p:cNvSpPr>
          <p:nvPr>
            <p:ph type="title"/>
          </p:nvPr>
        </p:nvSpPr>
        <p:spPr/>
        <p:txBody>
          <a:bodyPr/>
          <a:lstStyle/>
          <a:p>
            <a:r>
              <a:rPr lang="en-US" dirty="0" err="1"/>
              <a:t>Makefile</a:t>
            </a:r>
            <a:endParaRPr lang="en-US" dirty="0"/>
          </a:p>
        </p:txBody>
      </p:sp>
      <p:sp>
        <p:nvSpPr>
          <p:cNvPr id="3" name="Content Placeholder 2">
            <a:extLst>
              <a:ext uri="{FF2B5EF4-FFF2-40B4-BE49-F238E27FC236}">
                <a16:creationId xmlns:a16="http://schemas.microsoft.com/office/drawing/2014/main" id="{64D521AC-3FE7-534B-993A-2926698774C8}"/>
              </a:ext>
            </a:extLst>
          </p:cNvPr>
          <p:cNvSpPr>
            <a:spLocks noGrp="1"/>
          </p:cNvSpPr>
          <p:nvPr>
            <p:ph idx="1"/>
          </p:nvPr>
        </p:nvSpPr>
        <p:spPr/>
        <p:txBody>
          <a:bodyPr/>
          <a:lstStyle/>
          <a:p>
            <a:r>
              <a:rPr lang="en-US" dirty="0"/>
              <a:t>It is always a good idea to have a </a:t>
            </a:r>
            <a:r>
              <a:rPr lang="en-US" dirty="0" err="1"/>
              <a:t>makefile</a:t>
            </a:r>
            <a:r>
              <a:rPr lang="en-US" dirty="0"/>
              <a:t> </a:t>
            </a:r>
          </a:p>
        </p:txBody>
      </p:sp>
      <p:pic>
        <p:nvPicPr>
          <p:cNvPr id="5" name="Picture 4">
            <a:extLst>
              <a:ext uri="{FF2B5EF4-FFF2-40B4-BE49-F238E27FC236}">
                <a16:creationId xmlns:a16="http://schemas.microsoft.com/office/drawing/2014/main" id="{BE1B258A-8647-9446-8A30-8DD0F08B5C35}"/>
              </a:ext>
            </a:extLst>
          </p:cNvPr>
          <p:cNvPicPr>
            <a:picLocks noChangeAspect="1"/>
          </p:cNvPicPr>
          <p:nvPr/>
        </p:nvPicPr>
        <p:blipFill>
          <a:blip r:embed="rId2"/>
          <a:stretch>
            <a:fillRect/>
          </a:stretch>
        </p:blipFill>
        <p:spPr>
          <a:xfrm>
            <a:off x="2522882" y="2413828"/>
            <a:ext cx="7543800" cy="3594100"/>
          </a:xfrm>
          <a:prstGeom prst="rect">
            <a:avLst/>
          </a:prstGeom>
        </p:spPr>
      </p:pic>
    </p:spTree>
    <p:extLst>
      <p:ext uri="{BB962C8B-B14F-4D97-AF65-F5344CB8AC3E}">
        <p14:creationId xmlns:p14="http://schemas.microsoft.com/office/powerpoint/2010/main" val="6576007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37E99-990A-9C4A-8A9B-732B9E71D5CF}"/>
              </a:ext>
            </a:extLst>
          </p:cNvPr>
          <p:cNvSpPr>
            <a:spLocks noGrp="1"/>
          </p:cNvSpPr>
          <p:nvPr>
            <p:ph type="title"/>
          </p:nvPr>
        </p:nvSpPr>
        <p:spPr>
          <a:xfrm>
            <a:off x="838200" y="0"/>
            <a:ext cx="10515600" cy="1325563"/>
          </a:xfrm>
        </p:spPr>
        <p:txBody>
          <a:bodyPr/>
          <a:lstStyle/>
          <a:p>
            <a:r>
              <a:rPr lang="en-US" dirty="0"/>
              <a:t>Running an MPI executable</a:t>
            </a:r>
          </a:p>
        </p:txBody>
      </p:sp>
      <p:sp>
        <p:nvSpPr>
          <p:cNvPr id="3" name="Content Placeholder 2">
            <a:extLst>
              <a:ext uri="{FF2B5EF4-FFF2-40B4-BE49-F238E27FC236}">
                <a16:creationId xmlns:a16="http://schemas.microsoft.com/office/drawing/2014/main" id="{9EC0301A-6D05-8144-89B4-03FEB87DE23F}"/>
              </a:ext>
            </a:extLst>
          </p:cNvPr>
          <p:cNvSpPr>
            <a:spLocks noGrp="1"/>
          </p:cNvSpPr>
          <p:nvPr>
            <p:ph idx="1"/>
          </p:nvPr>
        </p:nvSpPr>
        <p:spPr>
          <a:xfrm>
            <a:off x="838200" y="1335639"/>
            <a:ext cx="10515600" cy="5012151"/>
          </a:xfrm>
        </p:spPr>
        <p:txBody>
          <a:bodyPr>
            <a:normAutofit/>
          </a:bodyPr>
          <a:lstStyle/>
          <a:p>
            <a:r>
              <a:rPr lang="en-US" dirty="0"/>
              <a:t>The implementation supplies scripts to launch the MPI parallel calculation, for example (in MPICH and OPENMPI): </a:t>
            </a:r>
          </a:p>
          <a:p>
            <a:pPr marL="0" indent="0">
              <a:buNone/>
            </a:pPr>
            <a:r>
              <a:rPr lang="en-US" dirty="0"/>
              <a:t>   </a:t>
            </a:r>
            <a:r>
              <a:rPr lang="en-US" dirty="0" err="1">
                <a:solidFill>
                  <a:srgbClr val="FF0000"/>
                </a:solidFill>
              </a:rPr>
              <a:t>mpirun</a:t>
            </a:r>
            <a:r>
              <a:rPr lang="en-US" dirty="0">
                <a:solidFill>
                  <a:srgbClr val="FF0000"/>
                </a:solidFill>
              </a:rPr>
              <a:t> –np #proc </a:t>
            </a:r>
            <a:r>
              <a:rPr lang="en-US" dirty="0" err="1">
                <a:solidFill>
                  <a:srgbClr val="FF0000"/>
                </a:solidFill>
              </a:rPr>
              <a:t>a.out</a:t>
            </a:r>
            <a:r>
              <a:rPr lang="en-US" dirty="0">
                <a:solidFill>
                  <a:srgbClr val="FF0000"/>
                </a:solidFill>
              </a:rPr>
              <a:t> </a:t>
            </a:r>
          </a:p>
          <a:p>
            <a:pPr marL="0" indent="0">
              <a:buNone/>
            </a:pPr>
            <a:r>
              <a:rPr lang="en-US" dirty="0">
                <a:solidFill>
                  <a:srgbClr val="FF0000"/>
                </a:solidFill>
              </a:rPr>
              <a:t>   </a:t>
            </a:r>
            <a:r>
              <a:rPr lang="en-US" dirty="0" err="1">
                <a:solidFill>
                  <a:srgbClr val="FF0000"/>
                </a:solidFill>
              </a:rPr>
              <a:t>mpiexec</a:t>
            </a:r>
            <a:r>
              <a:rPr lang="en-US" dirty="0">
                <a:solidFill>
                  <a:srgbClr val="FF0000"/>
                </a:solidFill>
              </a:rPr>
              <a:t> –n #proc </a:t>
            </a:r>
            <a:r>
              <a:rPr lang="en-US" dirty="0" err="1">
                <a:solidFill>
                  <a:srgbClr val="FF0000"/>
                </a:solidFill>
              </a:rPr>
              <a:t>a.out</a:t>
            </a:r>
            <a:r>
              <a:rPr lang="en-US" dirty="0">
                <a:solidFill>
                  <a:srgbClr val="FF0000"/>
                </a:solidFill>
              </a:rPr>
              <a:t> </a:t>
            </a:r>
          </a:p>
          <a:p>
            <a:r>
              <a:rPr lang="en-US" dirty="0"/>
              <a:t>A copy of the same program runs on each processor core within its own process (private address space). </a:t>
            </a:r>
          </a:p>
          <a:p>
            <a:r>
              <a:rPr lang="en-US" dirty="0"/>
              <a:t>Each process works on a subset of the problem. </a:t>
            </a:r>
          </a:p>
          <a:p>
            <a:r>
              <a:rPr lang="en-US" dirty="0"/>
              <a:t>Exchange data when needed </a:t>
            </a:r>
          </a:p>
          <a:p>
            <a:pPr lvl="1"/>
            <a:r>
              <a:rPr lang="en-US" dirty="0"/>
              <a:t>Can be exchanged through the network interconnect </a:t>
            </a:r>
          </a:p>
          <a:p>
            <a:pPr lvl="1"/>
            <a:r>
              <a:rPr lang="en-US" dirty="0"/>
              <a:t>Or through the shared memory on SMP machines (Bus?) </a:t>
            </a:r>
          </a:p>
          <a:p>
            <a:endParaRPr lang="en-US" dirty="0"/>
          </a:p>
        </p:txBody>
      </p:sp>
    </p:spTree>
    <p:extLst>
      <p:ext uri="{BB962C8B-B14F-4D97-AF65-F5344CB8AC3E}">
        <p14:creationId xmlns:p14="http://schemas.microsoft.com/office/powerpoint/2010/main" val="336207772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2465" name="Title 1"/>
              <p:cNvSpPr>
                <a:spLocks noGrp="1"/>
              </p:cNvSpPr>
              <p:nvPr>
                <p:ph type="title"/>
              </p:nvPr>
            </p:nvSpPr>
            <p:spPr>
              <a:xfrm>
                <a:off x="2135189" y="109539"/>
                <a:ext cx="8281987" cy="708025"/>
              </a:xfrm>
            </p:spPr>
            <p:txBody>
              <a:bodyPr>
                <a:normAutofit/>
              </a:bodyPr>
              <a:lstStyle/>
              <a:p>
                <a:r>
                  <a:rPr lang="en-US" dirty="0">
                    <a:latin typeface="NimbusRomNo9L-Medi" charset="0"/>
                  </a:rPr>
                  <a:t>Exercise: Estimating </a:t>
                </a:r>
                <a14:m>
                  <m:oMath xmlns:m="http://schemas.openxmlformats.org/officeDocument/2006/math">
                    <m:r>
                      <a:rPr lang="el-GR" i="1" dirty="0">
                        <a:latin typeface="Cambria Math" panose="02040503050406030204" pitchFamily="18" charset="0"/>
                        <a:cs typeface="Arial" charset="0"/>
                      </a:rPr>
                      <m:t>𝜋</m:t>
                    </m:r>
                  </m:oMath>
                </a14:m>
                <a:r>
                  <a:rPr lang="en-US" dirty="0">
                    <a:latin typeface="Arial" charset="0"/>
                    <a:cs typeface="Arial" charset="0"/>
                  </a:rPr>
                  <a:t> with MPI</a:t>
                </a:r>
                <a:endParaRPr lang="en-US" dirty="0">
                  <a:latin typeface="Arial" charset="0"/>
                </a:endParaRPr>
              </a:p>
            </p:txBody>
          </p:sp>
        </mc:Choice>
        <mc:Fallback xmlns="">
          <p:sp>
            <p:nvSpPr>
              <p:cNvPr id="62465" name="Title 1"/>
              <p:cNvSpPr>
                <a:spLocks noGrp="1" noRot="1" noChangeAspect="1" noMove="1" noResize="1" noEditPoints="1" noAdjustHandles="1" noChangeArrowheads="1" noChangeShapeType="1" noTextEdit="1"/>
              </p:cNvSpPr>
              <p:nvPr>
                <p:ph type="title"/>
              </p:nvPr>
            </p:nvSpPr>
            <p:spPr>
              <a:xfrm>
                <a:off x="2135189" y="109539"/>
                <a:ext cx="8281987" cy="708025"/>
              </a:xfrm>
              <a:blipFill>
                <a:blip r:embed="rId2"/>
                <a:stretch>
                  <a:fillRect l="-3067" t="-26786" b="-41071"/>
                </a:stretch>
              </a:blipFill>
            </p:spPr>
            <p:txBody>
              <a:bodyPr/>
              <a:lstStyle/>
              <a:p>
                <a:r>
                  <a:rPr lang="en-US">
                    <a:noFill/>
                  </a:rPr>
                  <a:t> </a:t>
                </a:r>
              </a:p>
            </p:txBody>
          </p:sp>
        </mc:Fallback>
      </mc:AlternateContent>
      <p:sp>
        <p:nvSpPr>
          <p:cNvPr id="3" name="Footer Placeholder 2"/>
          <p:cNvSpPr>
            <a:spLocks noGrp="1"/>
          </p:cNvSpPr>
          <p:nvPr>
            <p:ph type="ftr" sz="quarter" idx="10"/>
          </p:nvPr>
        </p:nvSpPr>
        <p:spPr/>
        <p:txBody>
          <a:bodyPr/>
          <a:lstStyle>
            <a:lvl1pPr>
              <a:spcBef>
                <a:spcPct val="20000"/>
              </a:spcBef>
              <a:buClr>
                <a:schemeClr val="tx1"/>
              </a:buClr>
              <a:buSzPct val="60000"/>
              <a:buFont typeface="Wingdings" charset="0"/>
              <a:defRPr sz="3200">
                <a:solidFill>
                  <a:schemeClr val="tx1"/>
                </a:solidFill>
                <a:latin typeface="Arial Black" charset="0"/>
                <a:ea typeface="ＭＳ Ｐゴシック" charset="0"/>
              </a:defRPr>
            </a:lvl1pPr>
            <a:lvl2pPr marL="742950" indent="-285750">
              <a:spcBef>
                <a:spcPct val="20000"/>
              </a:spcBef>
              <a:buClr>
                <a:schemeClr val="tx1"/>
              </a:buClr>
              <a:buSzPct val="60000"/>
              <a:buFont typeface="Wingdings" charset="0"/>
              <a:defRPr sz="3200">
                <a:solidFill>
                  <a:schemeClr val="tx1"/>
                </a:solidFill>
                <a:latin typeface="Arial Black" charset="0"/>
                <a:ea typeface="ＭＳ Ｐゴシック" charset="0"/>
              </a:defRPr>
            </a:lvl2pPr>
            <a:lvl3pPr marL="11430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3pPr>
            <a:lvl4pPr marL="16002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4pPr>
            <a:lvl5pPr marL="2057400" indent="-228600">
              <a:spcBef>
                <a:spcPct val="20000"/>
              </a:spcBef>
              <a:buClr>
                <a:schemeClr val="tx1"/>
              </a:buClr>
              <a:buSzPct val="60000"/>
              <a:buFont typeface="Wingdings" charset="0"/>
              <a:defRPr sz="3200">
                <a:solidFill>
                  <a:schemeClr val="tx1"/>
                </a:solidFill>
                <a:latin typeface="Arial Black" charset="0"/>
                <a:ea typeface="ＭＳ Ｐゴシック" charset="0"/>
              </a:defRPr>
            </a:lvl5pPr>
            <a:lvl6pPr marL="25146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6pPr>
            <a:lvl7pPr marL="29718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7pPr>
            <a:lvl8pPr marL="34290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8pPr>
            <a:lvl9pPr marL="3886200" indent="-228600" fontAlgn="base">
              <a:spcBef>
                <a:spcPct val="20000"/>
              </a:spcBef>
              <a:spcAft>
                <a:spcPct val="0"/>
              </a:spcAft>
              <a:buClr>
                <a:schemeClr val="tx1"/>
              </a:buClr>
              <a:buSzPct val="60000"/>
              <a:buFont typeface="Wingdings" charset="0"/>
              <a:defRPr sz="3200">
                <a:solidFill>
                  <a:schemeClr val="tx1"/>
                </a:solidFill>
                <a:latin typeface="Arial Black" charset="0"/>
                <a:ea typeface="ＭＳ Ｐゴシック" charset="0"/>
              </a:defRPr>
            </a:lvl9pPr>
          </a:lstStyle>
          <a:p>
            <a:pPr>
              <a:spcBef>
                <a:spcPct val="0"/>
              </a:spcBef>
              <a:buClrTx/>
              <a:buSzTx/>
              <a:buFontTx/>
              <a:buNone/>
            </a:pPr>
            <a:r>
              <a:rPr lang="en-AU" sz="1200">
                <a:latin typeface="Arial" charset="0"/>
              </a:rPr>
              <a:t>Copyright © 2010, Elsevier Inc. All rights Reserved</a:t>
            </a:r>
          </a:p>
        </p:txBody>
      </p:sp>
      <p:pic>
        <p:nvPicPr>
          <p:cNvPr id="6246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 y="2474825"/>
            <a:ext cx="5124450" cy="3067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a:hlinkClick r:id="rId4"/>
            <a:extLst>
              <a:ext uri="{FF2B5EF4-FFF2-40B4-BE49-F238E27FC236}">
                <a16:creationId xmlns:a16="http://schemas.microsoft.com/office/drawing/2014/main" id="{1FFA32DD-6072-C544-9C6E-BA4E454893A5}"/>
              </a:ext>
            </a:extLst>
          </p:cNvPr>
          <p:cNvSpPr txBox="1"/>
          <p:nvPr/>
        </p:nvSpPr>
        <p:spPr>
          <a:xfrm>
            <a:off x="1228614" y="1596851"/>
            <a:ext cx="10095136" cy="369332"/>
          </a:xfrm>
          <a:prstGeom prst="rect">
            <a:avLst/>
          </a:prstGeom>
          <a:noFill/>
        </p:spPr>
        <p:txBody>
          <a:bodyPr wrap="none" rtlCol="0">
            <a:spAutoFit/>
          </a:bodyPr>
          <a:lstStyle/>
          <a:p>
            <a:r>
              <a:rPr lang="en-US" dirty="0">
                <a:hlinkClick r:id="rId4"/>
              </a:rPr>
              <a:t>https://</a:t>
            </a:r>
            <a:r>
              <a:rPr lang="en-US" dirty="0" err="1">
                <a:hlinkClick r:id="rId4"/>
              </a:rPr>
              <a:t>www.codingame.com</a:t>
            </a:r>
            <a:r>
              <a:rPr lang="en-US" dirty="0">
                <a:hlinkClick r:id="rId4"/>
              </a:rPr>
              <a:t>/playgrounds/47058/have-fun-with-</a:t>
            </a:r>
            <a:r>
              <a:rPr lang="en-US" dirty="0" err="1">
                <a:hlinkClick r:id="rId4"/>
              </a:rPr>
              <a:t>mpi</a:t>
            </a:r>
            <a:r>
              <a:rPr lang="en-US" dirty="0">
                <a:hlinkClick r:id="rId4"/>
              </a:rPr>
              <a:t>-in-c/take-the-first-steps-hello-world</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91C903-B142-904F-9477-65218B8E3AAD}"/>
                  </a:ext>
                </a:extLst>
              </p:cNvPr>
              <p:cNvSpPr txBox="1"/>
              <p:nvPr/>
            </p:nvSpPr>
            <p:spPr>
              <a:xfrm>
                <a:off x="1228614" y="1119136"/>
                <a:ext cx="10171246" cy="461665"/>
              </a:xfrm>
              <a:prstGeom prst="rect">
                <a:avLst/>
              </a:prstGeom>
              <a:noFill/>
            </p:spPr>
            <p:txBody>
              <a:bodyPr wrap="none" rtlCol="0">
                <a:spAutoFit/>
              </a:bodyPr>
              <a:lstStyle/>
              <a:p>
                <a:r>
                  <a:rPr lang="en-US" sz="2400" dirty="0">
                    <a:solidFill>
                      <a:srgbClr val="FF0000"/>
                    </a:solidFill>
                  </a:rPr>
                  <a:t>Using the following link, implement parallelize the series to calculate </a:t>
                </a:r>
                <a14:m>
                  <m:oMath xmlns:m="http://schemas.openxmlformats.org/officeDocument/2006/math">
                    <m:r>
                      <a:rPr lang="en-US" sz="2400" b="0" i="1" smtClean="0">
                        <a:solidFill>
                          <a:srgbClr val="FF0000"/>
                        </a:solidFill>
                        <a:latin typeface="Cambria Math" panose="02040503050406030204" pitchFamily="18" charset="0"/>
                      </a:rPr>
                      <m:t>𝜋</m:t>
                    </m:r>
                  </m:oMath>
                </a14:m>
                <a:r>
                  <a:rPr lang="en-US" sz="2400" dirty="0">
                    <a:solidFill>
                      <a:srgbClr val="FF0000"/>
                    </a:solidFill>
                  </a:rPr>
                  <a:t> with MPI</a:t>
                </a:r>
              </a:p>
            </p:txBody>
          </p:sp>
        </mc:Choice>
        <mc:Fallback xmlns="">
          <p:sp>
            <p:nvSpPr>
              <p:cNvPr id="4" name="TextBox 3">
                <a:extLst>
                  <a:ext uri="{FF2B5EF4-FFF2-40B4-BE49-F238E27FC236}">
                    <a16:creationId xmlns:a16="http://schemas.microsoft.com/office/drawing/2014/main" id="{7891C903-B142-904F-9477-65218B8E3AAD}"/>
                  </a:ext>
                </a:extLst>
              </p:cNvPr>
              <p:cNvSpPr txBox="1">
                <a:spLocks noRot="1" noChangeAspect="1" noMove="1" noResize="1" noEditPoints="1" noAdjustHandles="1" noChangeArrowheads="1" noChangeShapeType="1" noTextEdit="1"/>
              </p:cNvSpPr>
              <p:nvPr/>
            </p:nvSpPr>
            <p:spPr>
              <a:xfrm>
                <a:off x="1228614" y="1119136"/>
                <a:ext cx="10171246" cy="461665"/>
              </a:xfrm>
              <a:prstGeom prst="rect">
                <a:avLst/>
              </a:prstGeom>
              <a:blipFill>
                <a:blip r:embed="rId5"/>
                <a:stretch>
                  <a:fillRect l="-873" t="-5405" b="-2973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3C83077-92D3-F540-92F1-3B3DDBD2E648}"/>
              </a:ext>
            </a:extLst>
          </p:cNvPr>
          <p:cNvSpPr txBox="1"/>
          <p:nvPr/>
        </p:nvSpPr>
        <p:spPr>
          <a:xfrm>
            <a:off x="1228614" y="2072263"/>
            <a:ext cx="5334666" cy="369332"/>
          </a:xfrm>
          <a:prstGeom prst="rect">
            <a:avLst/>
          </a:prstGeom>
          <a:noFill/>
        </p:spPr>
        <p:txBody>
          <a:bodyPr wrap="none" rtlCol="0">
            <a:spAutoFit/>
          </a:bodyPr>
          <a:lstStyle/>
          <a:p>
            <a:r>
              <a:rPr lang="en-US" dirty="0">
                <a:solidFill>
                  <a:srgbClr val="00B050"/>
                </a:solidFill>
              </a:rPr>
              <a:t>hint: you will need to use </a:t>
            </a:r>
            <a:r>
              <a:rPr lang="en-US" dirty="0" err="1">
                <a:solidFill>
                  <a:srgbClr val="00B050"/>
                </a:solidFill>
              </a:rPr>
              <a:t>MPI_reduce</a:t>
            </a:r>
            <a:r>
              <a:rPr lang="en-US" dirty="0">
                <a:solidFill>
                  <a:srgbClr val="00B050"/>
                </a:solidFill>
              </a:rPr>
              <a:t> and </a:t>
            </a:r>
            <a:r>
              <a:rPr lang="en-US" dirty="0" err="1">
                <a:solidFill>
                  <a:srgbClr val="00B050"/>
                </a:solidFill>
              </a:rPr>
              <a:t>MPI_Barrier</a:t>
            </a:r>
            <a:endParaRPr lang="en-US" dirty="0">
              <a:solidFill>
                <a:srgbClr val="00B050"/>
              </a:solidFill>
            </a:endParaRPr>
          </a:p>
        </p:txBody>
      </p:sp>
      <p:pic>
        <p:nvPicPr>
          <p:cNvPr id="8" name="Picture 2">
            <a:extLst>
              <a:ext uri="{FF2B5EF4-FFF2-40B4-BE49-F238E27FC236}">
                <a16:creationId xmlns:a16="http://schemas.microsoft.com/office/drawing/2014/main" id="{8251C988-6331-504F-B63A-12BDD56124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66223" y="5541876"/>
            <a:ext cx="4567967" cy="974784"/>
          </a:xfrm>
          <a:prstGeom prst="rect">
            <a:avLst/>
          </a:prstGeom>
          <a:noFill/>
          <a:ln>
            <a:solidFill>
              <a:schemeClr val="tx1"/>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1804425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7F2AA8-9B5C-D641-9831-33EE177211BE}"/>
              </a:ext>
            </a:extLst>
          </p:cNvPr>
          <p:cNvSpPr/>
          <p:nvPr/>
        </p:nvSpPr>
        <p:spPr>
          <a:xfrm>
            <a:off x="-101600" y="-12700"/>
            <a:ext cx="6007100" cy="7571303"/>
          </a:xfrm>
          <a:prstGeom prst="rect">
            <a:avLst/>
          </a:prstGeom>
        </p:spPr>
        <p:txBody>
          <a:bodyPr wrap="square">
            <a:spAutoFit/>
          </a:bodyPr>
          <a:lstStyle/>
          <a:p>
            <a:r>
              <a:rPr lang="en-US" dirty="0">
                <a:solidFill>
                  <a:srgbClr val="0000FF"/>
                </a:solidFill>
                <a:latin typeface="Menlo" panose="020B0609030804020204" pitchFamily="49" charset="0"/>
              </a:rPr>
              <a:t>#include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mpi.h</a:t>
            </a:r>
            <a:r>
              <a:rPr lang="en-US" dirty="0">
                <a:solidFill>
                  <a:srgbClr val="A31515"/>
                </a:solidFill>
                <a:latin typeface="Menlo" panose="020B0609030804020204" pitchFamily="49" charset="0"/>
              </a:rPr>
              <a:t>&gt;</a:t>
            </a:r>
            <a:endParaRPr lang="en-US" dirty="0">
              <a:solidFill>
                <a:srgbClr val="000000"/>
              </a:solidFill>
              <a:latin typeface="Menlo" panose="020B0609030804020204" pitchFamily="49" charset="0"/>
            </a:endParaRPr>
          </a:p>
          <a:p>
            <a:r>
              <a:rPr lang="en-US" dirty="0">
                <a:solidFill>
                  <a:srgbClr val="0000FF"/>
                </a:solidFill>
                <a:latin typeface="Menlo" panose="020B0609030804020204" pitchFamily="49" charset="0"/>
              </a:rPr>
              <a:t>#include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stdio.h</a:t>
            </a:r>
            <a:r>
              <a:rPr lang="en-US" dirty="0">
                <a:solidFill>
                  <a:srgbClr val="A31515"/>
                </a:solidFill>
                <a:latin typeface="Menlo" panose="020B0609030804020204" pitchFamily="49" charset="0"/>
              </a:rPr>
              <a:t>&gt;</a:t>
            </a:r>
            <a:endParaRPr lang="en-US" dirty="0">
              <a:solidFill>
                <a:srgbClr val="000000"/>
              </a:solidFill>
              <a:latin typeface="Menlo" panose="020B0609030804020204" pitchFamily="49" charset="0"/>
            </a:endParaRPr>
          </a:p>
          <a:p>
            <a:br>
              <a:rPr lang="en-US" dirty="0">
                <a:solidFill>
                  <a:srgbClr val="000000"/>
                </a:solidFill>
                <a:latin typeface="Menlo" panose="020B0609030804020204" pitchFamily="49" charset="0"/>
              </a:rPr>
            </a:br>
            <a:r>
              <a:rPr lang="en-US" dirty="0" err="1">
                <a:solidFill>
                  <a:srgbClr val="0000FF"/>
                </a:solidFill>
                <a:latin typeface="Menlo" panose="020B0609030804020204" pitchFamily="49" charset="0"/>
              </a:rPr>
              <a:t>int</a:t>
            </a:r>
            <a:r>
              <a:rPr lang="en-US" dirty="0">
                <a:solidFill>
                  <a:srgbClr val="000000"/>
                </a:solidFill>
                <a:latin typeface="Menlo" panose="020B0609030804020204" pitchFamily="49" charset="0"/>
              </a:rPr>
              <a:t> main(</a:t>
            </a:r>
            <a:r>
              <a:rPr lang="en-US" dirty="0" err="1">
                <a:solidFill>
                  <a:srgbClr val="0000FF"/>
                </a:solidFill>
                <a:latin typeface="Menlo" panose="020B0609030804020204" pitchFamily="49" charset="0"/>
              </a:rPr>
              <a:t>int</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argc</a:t>
            </a:r>
            <a:r>
              <a:rPr lang="en-US" dirty="0">
                <a:solidFill>
                  <a:srgbClr val="000000"/>
                </a:solidFill>
                <a:latin typeface="Menlo" panose="020B0609030804020204" pitchFamily="49" charset="0"/>
              </a:rPr>
              <a:t>, </a:t>
            </a:r>
            <a:r>
              <a:rPr lang="en-US" dirty="0">
                <a:solidFill>
                  <a:srgbClr val="0000FF"/>
                </a:solidFill>
                <a:latin typeface="Menlo" panose="020B0609030804020204" pitchFamily="49" charset="0"/>
              </a:rPr>
              <a:t>char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argv</a:t>
            </a:r>
            <a:r>
              <a:rPr lang="en-US" dirty="0">
                <a:solidFill>
                  <a:srgbClr val="000000"/>
                </a:solidFill>
                <a:latin typeface="Menlo" panose="020B0609030804020204" pitchFamily="49" charset="0"/>
              </a:rPr>
              <a:t>) {</a:t>
            </a:r>
          </a:p>
          <a:p>
            <a:r>
              <a:rPr lang="en-US" dirty="0" err="1">
                <a:solidFill>
                  <a:srgbClr val="0000FF"/>
                </a:solidFill>
                <a:latin typeface="Menlo" panose="020B0609030804020204" pitchFamily="49" charset="0"/>
              </a:rPr>
              <a:t>int</a:t>
            </a:r>
            <a:r>
              <a:rPr lang="en-US" dirty="0">
                <a:solidFill>
                  <a:srgbClr val="000000"/>
                </a:solidFill>
                <a:latin typeface="Menlo" panose="020B0609030804020204" pitchFamily="49" charset="0"/>
              </a:rPr>
              <a:t> rank, size, factor,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N=</a:t>
            </a:r>
            <a:r>
              <a:rPr lang="en-US" dirty="0">
                <a:solidFill>
                  <a:srgbClr val="098658"/>
                </a:solidFill>
                <a:latin typeface="Menlo" panose="020B0609030804020204" pitchFamily="49" charset="0"/>
              </a:rPr>
              <a:t>20</a:t>
            </a:r>
            <a:r>
              <a:rPr lang="en-US" dirty="0">
                <a:solidFill>
                  <a:srgbClr val="000000"/>
                </a:solidFill>
                <a:latin typeface="Menlo" panose="020B0609030804020204" pitchFamily="49" charset="0"/>
              </a:rPr>
              <a:t>;</a:t>
            </a:r>
          </a:p>
          <a:p>
            <a:r>
              <a:rPr lang="en-US" dirty="0">
                <a:solidFill>
                  <a:srgbClr val="0000FF"/>
                </a:solidFill>
                <a:latin typeface="Menlo" panose="020B0609030804020204" pitchFamily="49" charset="0"/>
              </a:rPr>
              <a:t>double</a:t>
            </a:r>
            <a:r>
              <a:rPr lang="en-US" dirty="0">
                <a:solidFill>
                  <a:srgbClr val="000000"/>
                </a:solidFill>
                <a:latin typeface="Menlo" panose="020B0609030804020204" pitchFamily="49" charset="0"/>
              </a:rPr>
              <a:t> pi=</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begin=</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end=</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result=</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sum=</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8000"/>
                </a:solidFill>
                <a:latin typeface="Menlo" panose="020B0609030804020204" pitchFamily="49" charset="0"/>
              </a:rPr>
              <a:t>// </a:t>
            </a:r>
            <a:r>
              <a:rPr lang="en-US" dirty="0" err="1">
                <a:solidFill>
                  <a:srgbClr val="008000"/>
                </a:solidFill>
                <a:latin typeface="Menlo" panose="020B0609030804020204" pitchFamily="49" charset="0"/>
              </a:rPr>
              <a:t>Initialisation</a:t>
            </a:r>
            <a:r>
              <a:rPr lang="en-US" dirty="0">
                <a:solidFill>
                  <a:srgbClr val="008000"/>
                </a:solidFill>
                <a:latin typeface="Menlo" panose="020B0609030804020204" pitchFamily="49" charset="0"/>
              </a:rPr>
              <a:t>, Reading size and rank</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MPI_Init</a:t>
            </a:r>
            <a:r>
              <a:rPr lang="en-US" dirty="0">
                <a:solidFill>
                  <a:srgbClr val="000000"/>
                </a:solidFill>
                <a:latin typeface="Menlo" panose="020B0609030804020204" pitchFamily="49" charset="0"/>
              </a:rPr>
              <a:t>(&amp;</a:t>
            </a:r>
            <a:r>
              <a:rPr lang="en-US" dirty="0" err="1">
                <a:solidFill>
                  <a:srgbClr val="000000"/>
                </a:solidFill>
                <a:latin typeface="Menlo" panose="020B0609030804020204" pitchFamily="49" charset="0"/>
              </a:rPr>
              <a:t>argc</a:t>
            </a:r>
            <a:r>
              <a:rPr lang="en-US" dirty="0">
                <a:solidFill>
                  <a:srgbClr val="000000"/>
                </a:solidFill>
                <a:latin typeface="Menlo" panose="020B0609030804020204" pitchFamily="49" charset="0"/>
              </a:rPr>
              <a:t>,&amp;</a:t>
            </a:r>
            <a:r>
              <a:rPr lang="en-US" dirty="0" err="1">
                <a:solidFill>
                  <a:srgbClr val="000000"/>
                </a:solidFill>
                <a:latin typeface="Menlo" panose="020B0609030804020204" pitchFamily="49" charset="0"/>
              </a:rPr>
              <a:t>argv</a:t>
            </a:r>
            <a:r>
              <a:rPr lang="en-US" dirty="0">
                <a:solidFill>
                  <a:srgbClr val="000000"/>
                </a:solidFill>
                <a:latin typeface="Menlo" panose="020B0609030804020204" pitchFamily="49" charset="0"/>
              </a:rPr>
              <a:t>);</a:t>
            </a:r>
          </a:p>
          <a:p>
            <a:r>
              <a:rPr lang="en-US" dirty="0" err="1">
                <a:solidFill>
                  <a:srgbClr val="000000"/>
                </a:solidFill>
                <a:latin typeface="Menlo" panose="020B0609030804020204" pitchFamily="49" charset="0"/>
              </a:rPr>
              <a:t>MPI_Comm_size</a:t>
            </a:r>
            <a:r>
              <a:rPr lang="en-US" dirty="0">
                <a:solidFill>
                  <a:srgbClr val="000000"/>
                </a:solidFill>
                <a:latin typeface="Menlo" panose="020B0609030804020204" pitchFamily="49" charset="0"/>
              </a:rPr>
              <a:t>(MPI_COMM_WORLD, &amp;size);</a:t>
            </a:r>
          </a:p>
          <a:p>
            <a:r>
              <a:rPr lang="en-US" dirty="0" err="1">
                <a:solidFill>
                  <a:srgbClr val="000000"/>
                </a:solidFill>
                <a:latin typeface="Menlo" panose="020B0609030804020204" pitchFamily="49" charset="0"/>
              </a:rPr>
              <a:t>MPI_Comm_rank</a:t>
            </a:r>
            <a:r>
              <a:rPr lang="en-US" dirty="0">
                <a:solidFill>
                  <a:srgbClr val="000000"/>
                </a:solidFill>
                <a:latin typeface="Menlo" panose="020B0609030804020204" pitchFamily="49" charset="0"/>
              </a:rPr>
              <a:t>(MPI_COMM_WORLD, &amp;rank);</a:t>
            </a:r>
          </a:p>
          <a:p>
            <a:br>
              <a:rPr lang="en-US" dirty="0">
                <a:solidFill>
                  <a:srgbClr val="000000"/>
                </a:solidFill>
                <a:latin typeface="Menlo" panose="020B0609030804020204" pitchFamily="49" charset="0"/>
              </a:rPr>
            </a:br>
            <a:r>
              <a:rPr lang="en-US" dirty="0">
                <a:solidFill>
                  <a:srgbClr val="008000"/>
                </a:solidFill>
                <a:latin typeface="Menlo" panose="020B0609030804020204" pitchFamily="49" charset="0"/>
              </a:rPr>
              <a:t>//Synchronize all processes get start time </a:t>
            </a:r>
            <a:r>
              <a:rPr lang="en-US" dirty="0" err="1">
                <a:solidFill>
                  <a:srgbClr val="000000"/>
                </a:solidFill>
                <a:latin typeface="Menlo" panose="020B0609030804020204" pitchFamily="49" charset="0"/>
              </a:rPr>
              <a:t>MPI_Barrier</a:t>
            </a:r>
            <a:r>
              <a:rPr lang="en-US" dirty="0">
                <a:solidFill>
                  <a:srgbClr val="000000"/>
                </a:solidFill>
                <a:latin typeface="Menlo" panose="020B0609030804020204" pitchFamily="49" charset="0"/>
              </a:rPr>
              <a:t>(MPI_COMM_WORLD);</a:t>
            </a:r>
          </a:p>
          <a:p>
            <a:r>
              <a:rPr lang="en-US" dirty="0">
                <a:solidFill>
                  <a:srgbClr val="000000"/>
                </a:solidFill>
                <a:latin typeface="Menlo" panose="020B0609030804020204" pitchFamily="49" charset="0"/>
              </a:rPr>
              <a:t>begin = </a:t>
            </a:r>
            <a:r>
              <a:rPr lang="en-US" dirty="0" err="1">
                <a:solidFill>
                  <a:srgbClr val="000000"/>
                </a:solidFill>
                <a:latin typeface="Menlo" panose="020B0609030804020204" pitchFamily="49" charset="0"/>
              </a:rPr>
              <a:t>MPI_Wtime</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FF"/>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=rank;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&lt;N;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+=size)</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0000FF"/>
                </a:solidFill>
                <a:latin typeface="Menlo" panose="020B0609030804020204" pitchFamily="49" charset="0"/>
              </a:rPr>
              <a:t>if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a:solidFill>
                  <a:srgbClr val="098658"/>
                </a:solidFill>
                <a:latin typeface="Menlo" panose="020B0609030804020204" pitchFamily="49" charset="0"/>
              </a:rPr>
              <a:t>2</a:t>
            </a:r>
            <a:r>
              <a:rPr lang="en-US" dirty="0">
                <a:solidFill>
                  <a:srgbClr val="000000"/>
                </a:solidFill>
                <a:latin typeface="Menlo" panose="020B0609030804020204" pitchFamily="49" charset="0"/>
              </a:rPr>
              <a:t> ==</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factor = </a:t>
            </a:r>
            <a:r>
              <a:rPr lang="en-US" dirty="0">
                <a:solidFill>
                  <a:srgbClr val="098658"/>
                </a:solidFill>
                <a:latin typeface="Menlo" panose="020B0609030804020204" pitchFamily="49" charset="0"/>
              </a:rPr>
              <a:t>1.0</a:t>
            </a:r>
            <a:r>
              <a:rPr lang="en-US" dirty="0">
                <a:solidFill>
                  <a:srgbClr val="000000"/>
                </a:solidFill>
                <a:latin typeface="Menlo" panose="020B0609030804020204" pitchFamily="49" charset="0"/>
              </a:rPr>
              <a:t>;</a:t>
            </a:r>
          </a:p>
          <a:p>
            <a:r>
              <a:rPr lang="en-US" dirty="0">
                <a:solidFill>
                  <a:srgbClr val="0000FF"/>
                </a:solidFill>
                <a:latin typeface="Menlo" panose="020B0609030804020204" pitchFamily="49" charset="0"/>
              </a:rPr>
              <a:t>    else</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factor = -</a:t>
            </a:r>
            <a:r>
              <a:rPr lang="en-US" dirty="0">
                <a:solidFill>
                  <a:srgbClr val="098658"/>
                </a:solidFill>
                <a:latin typeface="Menlo" panose="020B0609030804020204" pitchFamily="49" charset="0"/>
              </a:rPr>
              <a:t>1.0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result+=factor/(</a:t>
            </a:r>
            <a:r>
              <a:rPr lang="en-US" dirty="0">
                <a:solidFill>
                  <a:srgbClr val="098658"/>
                </a:solidFill>
                <a:latin typeface="Menlo" panose="020B0609030804020204" pitchFamily="49" charset="0"/>
              </a:rPr>
              <a:t>2.0</a:t>
            </a:r>
            <a:r>
              <a:rPr lang="en-US" dirty="0">
                <a:solidFill>
                  <a:srgbClr val="000000"/>
                </a:solidFill>
                <a:latin typeface="Menlo" panose="020B0609030804020204" pitchFamily="49" charset="0"/>
              </a:rPr>
              <a:t>*i+</a:t>
            </a:r>
            <a:r>
              <a:rPr lang="en-US" dirty="0">
                <a:solidFill>
                  <a:srgbClr val="098658"/>
                </a:solidFill>
                <a:latin typeface="Menlo" panose="020B0609030804020204" pitchFamily="49" charset="0"/>
              </a:rPr>
              <a:t>1</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endParaRPr lang="en-US" b="0" dirty="0">
              <a:solidFill>
                <a:srgbClr val="000000"/>
              </a:solidFill>
              <a:effectLst/>
              <a:latin typeface="Menlo" panose="020B0609030804020204" pitchFamily="49" charset="0"/>
            </a:endParaRPr>
          </a:p>
        </p:txBody>
      </p:sp>
      <p:sp>
        <p:nvSpPr>
          <p:cNvPr id="4" name="Rectangle 3">
            <a:extLst>
              <a:ext uri="{FF2B5EF4-FFF2-40B4-BE49-F238E27FC236}">
                <a16:creationId xmlns:a16="http://schemas.microsoft.com/office/drawing/2014/main" id="{7E5F457F-D265-C748-9E22-D7EC8C66EF6B}"/>
              </a:ext>
            </a:extLst>
          </p:cNvPr>
          <p:cNvSpPr/>
          <p:nvPr/>
        </p:nvSpPr>
        <p:spPr>
          <a:xfrm>
            <a:off x="6096000" y="0"/>
            <a:ext cx="6096000" cy="5909310"/>
          </a:xfrm>
          <a:prstGeom prst="rect">
            <a:avLst/>
          </a:prstGeom>
        </p:spPr>
        <p:txBody>
          <a:bodyPr>
            <a:spAutoFit/>
          </a:bodyPr>
          <a:lstStyle/>
          <a:p>
            <a:r>
              <a:rPr lang="en-US" dirty="0">
                <a:solidFill>
                  <a:srgbClr val="008000"/>
                </a:solidFill>
                <a:latin typeface="Menlo" panose="020B0609030804020204" pitchFamily="49" charset="0"/>
              </a:rPr>
              <a:t>//Sum up all results</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MPI_Reduce</a:t>
            </a:r>
            <a:r>
              <a:rPr lang="en-US" dirty="0">
                <a:solidFill>
                  <a:srgbClr val="000000"/>
                </a:solidFill>
                <a:latin typeface="Menlo" panose="020B0609030804020204" pitchFamily="49" charset="0"/>
              </a:rPr>
              <a:t>(&amp;result, &amp;sum, </a:t>
            </a:r>
            <a:r>
              <a:rPr lang="en-US" dirty="0">
                <a:solidFill>
                  <a:srgbClr val="098658"/>
                </a:solidFill>
                <a:latin typeface="Menlo" panose="020B0609030804020204" pitchFamily="49" charset="0"/>
              </a:rPr>
              <a:t>1</a:t>
            </a:r>
            <a:r>
              <a:rPr lang="en-US" dirty="0">
                <a:solidFill>
                  <a:srgbClr val="000000"/>
                </a:solidFill>
                <a:latin typeface="Menlo" panose="020B0609030804020204" pitchFamily="49" charset="0"/>
              </a:rPr>
              <a:t>, MPI_DOUBLE, MPI_SUM, </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 MPI_COMM_WORLD);</a:t>
            </a:r>
          </a:p>
          <a:p>
            <a:endParaRPr lang="en-US" dirty="0">
              <a:solidFill>
                <a:srgbClr val="000000"/>
              </a:solidFill>
              <a:latin typeface="Menlo" panose="020B0609030804020204" pitchFamily="49" charset="0"/>
            </a:endParaRPr>
          </a:p>
          <a:p>
            <a:r>
              <a:rPr lang="en-US" dirty="0">
                <a:solidFill>
                  <a:srgbClr val="008000"/>
                </a:solidFill>
                <a:latin typeface="Menlo" panose="020B0609030804020204" pitchFamily="49" charset="0"/>
              </a:rPr>
              <a:t>//Synchronize all processes &amp; get end time</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MPI_Barrier</a:t>
            </a:r>
            <a:r>
              <a:rPr lang="en-US" dirty="0">
                <a:solidFill>
                  <a:srgbClr val="000000"/>
                </a:solidFill>
                <a:latin typeface="Menlo" panose="020B0609030804020204" pitchFamily="49" charset="0"/>
              </a:rPr>
              <a:t>(MPI_COMM_WORLD);</a:t>
            </a:r>
          </a:p>
          <a:p>
            <a:r>
              <a:rPr lang="en-US" dirty="0">
                <a:solidFill>
                  <a:srgbClr val="000000"/>
                </a:solidFill>
                <a:latin typeface="Menlo" panose="020B0609030804020204" pitchFamily="49" charset="0"/>
              </a:rPr>
              <a:t>end = </a:t>
            </a:r>
            <a:r>
              <a:rPr lang="en-US" dirty="0" err="1">
                <a:solidFill>
                  <a:srgbClr val="000000"/>
                </a:solidFill>
                <a:latin typeface="Menlo" panose="020B0609030804020204" pitchFamily="49" charset="0"/>
              </a:rPr>
              <a:t>MPI_Wtime</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8000"/>
                </a:solidFill>
                <a:latin typeface="Menlo" panose="020B0609030804020204" pitchFamily="49" charset="0"/>
              </a:rPr>
              <a:t>//</a:t>
            </a:r>
            <a:r>
              <a:rPr lang="en-US" dirty="0" err="1">
                <a:solidFill>
                  <a:srgbClr val="008000"/>
                </a:solidFill>
                <a:latin typeface="Menlo" panose="020B0609030804020204" pitchFamily="49" charset="0"/>
              </a:rPr>
              <a:t>Caculate</a:t>
            </a:r>
            <a:r>
              <a:rPr lang="en-US" dirty="0">
                <a:solidFill>
                  <a:srgbClr val="008000"/>
                </a:solidFill>
                <a:latin typeface="Menlo" panose="020B0609030804020204" pitchFamily="49" charset="0"/>
              </a:rPr>
              <a:t> and print PI</a:t>
            </a:r>
            <a:endParaRPr lang="en-US" dirty="0">
              <a:solidFill>
                <a:srgbClr val="000000"/>
              </a:solidFill>
              <a:latin typeface="Menlo" panose="020B0609030804020204" pitchFamily="49" charset="0"/>
            </a:endParaRPr>
          </a:p>
          <a:p>
            <a:r>
              <a:rPr lang="en-US" dirty="0">
                <a:solidFill>
                  <a:srgbClr val="0000FF"/>
                </a:solidFill>
                <a:latin typeface="Menlo" panose="020B0609030804020204" pitchFamily="49" charset="0"/>
              </a:rPr>
              <a:t>if</a:t>
            </a:r>
            <a:r>
              <a:rPr lang="en-US" dirty="0">
                <a:solidFill>
                  <a:srgbClr val="000000"/>
                </a:solidFill>
                <a:latin typeface="Menlo" panose="020B0609030804020204" pitchFamily="49" charset="0"/>
              </a:rPr>
              <a:t> (rank==</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pi=</a:t>
            </a:r>
            <a:r>
              <a:rPr lang="en-US" dirty="0">
                <a:solidFill>
                  <a:srgbClr val="098658"/>
                </a:solidFill>
                <a:latin typeface="Menlo" panose="020B0609030804020204" pitchFamily="49" charset="0"/>
              </a:rPr>
              <a:t>4</a:t>
            </a:r>
            <a:r>
              <a:rPr lang="en-US" dirty="0">
                <a:solidFill>
                  <a:srgbClr val="000000"/>
                </a:solidFill>
                <a:latin typeface="Menlo" panose="020B0609030804020204" pitchFamily="49" charset="0"/>
              </a:rPr>
              <a:t>*sum;</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printf</a:t>
            </a:r>
            <a:r>
              <a:rPr lang="en-US" dirty="0">
                <a:solidFill>
                  <a:srgbClr val="000000"/>
                </a:solidFill>
                <a:latin typeface="Menlo" panose="020B0609030804020204" pitchFamily="49" charset="0"/>
              </a:rPr>
              <a:t>(</a:t>
            </a:r>
            <a:r>
              <a:rPr lang="en-US" dirty="0">
                <a:solidFill>
                  <a:srgbClr val="A31515"/>
                </a:solidFill>
                <a:latin typeface="Menlo" panose="020B0609030804020204" pitchFamily="49" charset="0"/>
              </a:rPr>
              <a:t>”N=%d; np=%2d; Time=%fs; PI=%</a:t>
            </a:r>
            <a:r>
              <a:rPr lang="en-US" dirty="0" err="1">
                <a:solidFill>
                  <a:srgbClr val="A31515"/>
                </a:solidFill>
                <a:latin typeface="Menlo" panose="020B0609030804020204" pitchFamily="49" charset="0"/>
              </a:rPr>
              <a:t>lf</a:t>
            </a:r>
            <a:r>
              <a:rPr lang="en-US" dirty="0">
                <a:solidFill>
                  <a:srgbClr val="A31515"/>
                </a:solidFill>
                <a:latin typeface="Menlo" panose="020B0609030804020204" pitchFamily="49" charset="0"/>
              </a:rPr>
              <a:t>\n"</a:t>
            </a:r>
            <a:r>
              <a:rPr lang="en-US" dirty="0">
                <a:solidFill>
                  <a:srgbClr val="000000"/>
                </a:solidFill>
                <a:latin typeface="Menlo" panose="020B0609030804020204" pitchFamily="49" charset="0"/>
              </a:rPr>
              <a:t>, N, size, end-begin, pi);</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fflush</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stdout</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p>
          <a:p>
            <a:r>
              <a:rPr lang="en-US" dirty="0">
                <a:solidFill>
                  <a:srgbClr val="008000"/>
                </a:solidFill>
                <a:latin typeface="Menlo" panose="020B0609030804020204" pitchFamily="49" charset="0"/>
              </a:rPr>
              <a:t>// </a:t>
            </a:r>
            <a:r>
              <a:rPr lang="en-US" dirty="0" err="1">
                <a:solidFill>
                  <a:srgbClr val="008000"/>
                </a:solidFill>
                <a:latin typeface="Menlo" panose="020B0609030804020204" pitchFamily="49" charset="0"/>
              </a:rPr>
              <a:t>Finalisation</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MPI_Finalize</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FF"/>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endParaRPr lang="en-US" dirty="0"/>
          </a:p>
        </p:txBody>
      </p:sp>
      <p:cxnSp>
        <p:nvCxnSpPr>
          <p:cNvPr id="6" name="Straight Connector 5">
            <a:extLst>
              <a:ext uri="{FF2B5EF4-FFF2-40B4-BE49-F238E27FC236}">
                <a16:creationId xmlns:a16="http://schemas.microsoft.com/office/drawing/2014/main" id="{4E912C64-3EFA-9B49-A50A-DE280AEBA25B}"/>
              </a:ext>
            </a:extLst>
          </p:cNvPr>
          <p:cNvCxnSpPr/>
          <p:nvPr/>
        </p:nvCxnSpPr>
        <p:spPr>
          <a:xfrm>
            <a:off x="5905500" y="0"/>
            <a:ext cx="0" cy="6858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411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7F2AA8-9B5C-D641-9831-33EE177211BE}"/>
              </a:ext>
            </a:extLst>
          </p:cNvPr>
          <p:cNvSpPr/>
          <p:nvPr/>
        </p:nvSpPr>
        <p:spPr>
          <a:xfrm>
            <a:off x="-101600" y="-12700"/>
            <a:ext cx="6007100" cy="7571303"/>
          </a:xfrm>
          <a:prstGeom prst="rect">
            <a:avLst/>
          </a:prstGeom>
        </p:spPr>
        <p:txBody>
          <a:bodyPr wrap="square">
            <a:spAutoFit/>
          </a:bodyPr>
          <a:lstStyle/>
          <a:p>
            <a:r>
              <a:rPr lang="en-US" dirty="0">
                <a:solidFill>
                  <a:srgbClr val="0000FF"/>
                </a:solidFill>
                <a:latin typeface="Menlo" panose="020B0609030804020204" pitchFamily="49" charset="0"/>
              </a:rPr>
              <a:t>#include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mpi.h</a:t>
            </a:r>
            <a:r>
              <a:rPr lang="en-US" dirty="0">
                <a:solidFill>
                  <a:srgbClr val="A31515"/>
                </a:solidFill>
                <a:latin typeface="Menlo" panose="020B0609030804020204" pitchFamily="49" charset="0"/>
              </a:rPr>
              <a:t>&gt;</a:t>
            </a:r>
            <a:endParaRPr lang="en-US" dirty="0">
              <a:solidFill>
                <a:srgbClr val="000000"/>
              </a:solidFill>
              <a:latin typeface="Menlo" panose="020B0609030804020204" pitchFamily="49" charset="0"/>
            </a:endParaRPr>
          </a:p>
          <a:p>
            <a:r>
              <a:rPr lang="en-US" dirty="0">
                <a:solidFill>
                  <a:srgbClr val="0000FF"/>
                </a:solidFill>
                <a:latin typeface="Menlo" panose="020B0609030804020204" pitchFamily="49" charset="0"/>
              </a:rPr>
              <a:t>#include </a:t>
            </a:r>
            <a:r>
              <a:rPr lang="en-US" dirty="0">
                <a:solidFill>
                  <a:srgbClr val="A31515"/>
                </a:solidFill>
                <a:latin typeface="Menlo" panose="020B0609030804020204" pitchFamily="49" charset="0"/>
              </a:rPr>
              <a:t>&lt;</a:t>
            </a:r>
            <a:r>
              <a:rPr lang="en-US" dirty="0" err="1">
                <a:solidFill>
                  <a:srgbClr val="A31515"/>
                </a:solidFill>
                <a:latin typeface="Menlo" panose="020B0609030804020204" pitchFamily="49" charset="0"/>
              </a:rPr>
              <a:t>stdio.h</a:t>
            </a:r>
            <a:r>
              <a:rPr lang="en-US" dirty="0">
                <a:solidFill>
                  <a:srgbClr val="A31515"/>
                </a:solidFill>
                <a:latin typeface="Menlo" panose="020B0609030804020204" pitchFamily="49" charset="0"/>
              </a:rPr>
              <a:t>&gt;</a:t>
            </a:r>
            <a:endParaRPr lang="en-US" dirty="0">
              <a:solidFill>
                <a:srgbClr val="000000"/>
              </a:solidFill>
              <a:latin typeface="Menlo" panose="020B0609030804020204" pitchFamily="49" charset="0"/>
            </a:endParaRPr>
          </a:p>
          <a:p>
            <a:br>
              <a:rPr lang="en-US" dirty="0">
                <a:solidFill>
                  <a:srgbClr val="000000"/>
                </a:solidFill>
                <a:latin typeface="Menlo" panose="020B0609030804020204" pitchFamily="49" charset="0"/>
              </a:rPr>
            </a:br>
            <a:r>
              <a:rPr lang="en-US" dirty="0" err="1">
                <a:solidFill>
                  <a:srgbClr val="0000FF"/>
                </a:solidFill>
                <a:latin typeface="Menlo" panose="020B0609030804020204" pitchFamily="49" charset="0"/>
              </a:rPr>
              <a:t>int</a:t>
            </a:r>
            <a:r>
              <a:rPr lang="en-US" dirty="0">
                <a:solidFill>
                  <a:srgbClr val="000000"/>
                </a:solidFill>
                <a:latin typeface="Menlo" panose="020B0609030804020204" pitchFamily="49" charset="0"/>
              </a:rPr>
              <a:t> main(</a:t>
            </a:r>
            <a:r>
              <a:rPr lang="en-US" dirty="0" err="1">
                <a:solidFill>
                  <a:srgbClr val="0000FF"/>
                </a:solidFill>
                <a:latin typeface="Menlo" panose="020B0609030804020204" pitchFamily="49" charset="0"/>
              </a:rPr>
              <a:t>int</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argc</a:t>
            </a:r>
            <a:r>
              <a:rPr lang="en-US" dirty="0">
                <a:solidFill>
                  <a:srgbClr val="000000"/>
                </a:solidFill>
                <a:latin typeface="Menlo" panose="020B0609030804020204" pitchFamily="49" charset="0"/>
              </a:rPr>
              <a:t>, </a:t>
            </a:r>
            <a:r>
              <a:rPr lang="en-US" dirty="0">
                <a:solidFill>
                  <a:srgbClr val="0000FF"/>
                </a:solidFill>
                <a:latin typeface="Menlo" panose="020B0609030804020204" pitchFamily="49" charset="0"/>
              </a:rPr>
              <a:t>char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argv</a:t>
            </a:r>
            <a:r>
              <a:rPr lang="en-US" dirty="0">
                <a:solidFill>
                  <a:srgbClr val="000000"/>
                </a:solidFill>
                <a:latin typeface="Menlo" panose="020B0609030804020204" pitchFamily="49" charset="0"/>
              </a:rPr>
              <a:t>) {</a:t>
            </a:r>
          </a:p>
          <a:p>
            <a:r>
              <a:rPr lang="en-US" dirty="0" err="1">
                <a:solidFill>
                  <a:srgbClr val="0000FF"/>
                </a:solidFill>
                <a:latin typeface="Menlo" panose="020B0609030804020204" pitchFamily="49" charset="0"/>
              </a:rPr>
              <a:t>int</a:t>
            </a:r>
            <a:r>
              <a:rPr lang="en-US" dirty="0">
                <a:solidFill>
                  <a:srgbClr val="000000"/>
                </a:solidFill>
                <a:latin typeface="Menlo" panose="020B0609030804020204" pitchFamily="49" charset="0"/>
              </a:rPr>
              <a:t> rank, size, factor,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N=</a:t>
            </a:r>
            <a:r>
              <a:rPr lang="en-US" dirty="0">
                <a:solidFill>
                  <a:srgbClr val="098658"/>
                </a:solidFill>
                <a:latin typeface="Menlo" panose="020B0609030804020204" pitchFamily="49" charset="0"/>
              </a:rPr>
              <a:t>20</a:t>
            </a:r>
            <a:r>
              <a:rPr lang="en-US" dirty="0">
                <a:solidFill>
                  <a:srgbClr val="000000"/>
                </a:solidFill>
                <a:latin typeface="Menlo" panose="020B0609030804020204" pitchFamily="49" charset="0"/>
              </a:rPr>
              <a:t>;</a:t>
            </a:r>
          </a:p>
          <a:p>
            <a:r>
              <a:rPr lang="en-US" dirty="0">
                <a:solidFill>
                  <a:srgbClr val="0000FF"/>
                </a:solidFill>
                <a:latin typeface="Menlo" panose="020B0609030804020204" pitchFamily="49" charset="0"/>
              </a:rPr>
              <a:t>double</a:t>
            </a:r>
            <a:r>
              <a:rPr lang="en-US" dirty="0">
                <a:solidFill>
                  <a:srgbClr val="000000"/>
                </a:solidFill>
                <a:latin typeface="Menlo" panose="020B0609030804020204" pitchFamily="49" charset="0"/>
              </a:rPr>
              <a:t> pi=</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begin=</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end=</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result=</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 sum=</a:t>
            </a:r>
            <a:r>
              <a:rPr lang="en-US" dirty="0">
                <a:solidFill>
                  <a:srgbClr val="098658"/>
                </a:solidFill>
                <a:latin typeface="Menlo" panose="020B0609030804020204" pitchFamily="49" charset="0"/>
              </a:rPr>
              <a:t>0.0</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8000"/>
                </a:solidFill>
                <a:latin typeface="Menlo" panose="020B0609030804020204" pitchFamily="49" charset="0"/>
              </a:rPr>
              <a:t>// </a:t>
            </a:r>
            <a:r>
              <a:rPr lang="en-US" dirty="0" err="1">
                <a:solidFill>
                  <a:srgbClr val="008000"/>
                </a:solidFill>
                <a:latin typeface="Menlo" panose="020B0609030804020204" pitchFamily="49" charset="0"/>
              </a:rPr>
              <a:t>Initialisation</a:t>
            </a:r>
            <a:r>
              <a:rPr lang="en-US" dirty="0">
                <a:solidFill>
                  <a:srgbClr val="008000"/>
                </a:solidFill>
                <a:latin typeface="Menlo" panose="020B0609030804020204" pitchFamily="49" charset="0"/>
              </a:rPr>
              <a:t>, Reading size and rank</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MPI_Init</a:t>
            </a:r>
            <a:r>
              <a:rPr lang="en-US" dirty="0">
                <a:solidFill>
                  <a:srgbClr val="000000"/>
                </a:solidFill>
                <a:latin typeface="Menlo" panose="020B0609030804020204" pitchFamily="49" charset="0"/>
              </a:rPr>
              <a:t>(&amp;</a:t>
            </a:r>
            <a:r>
              <a:rPr lang="en-US" dirty="0" err="1">
                <a:solidFill>
                  <a:srgbClr val="000000"/>
                </a:solidFill>
                <a:latin typeface="Menlo" panose="020B0609030804020204" pitchFamily="49" charset="0"/>
              </a:rPr>
              <a:t>argc</a:t>
            </a:r>
            <a:r>
              <a:rPr lang="en-US" dirty="0">
                <a:solidFill>
                  <a:srgbClr val="000000"/>
                </a:solidFill>
                <a:latin typeface="Menlo" panose="020B0609030804020204" pitchFamily="49" charset="0"/>
              </a:rPr>
              <a:t>,&amp;</a:t>
            </a:r>
            <a:r>
              <a:rPr lang="en-US" dirty="0" err="1">
                <a:solidFill>
                  <a:srgbClr val="000000"/>
                </a:solidFill>
                <a:latin typeface="Menlo" panose="020B0609030804020204" pitchFamily="49" charset="0"/>
              </a:rPr>
              <a:t>argv</a:t>
            </a:r>
            <a:r>
              <a:rPr lang="en-US" dirty="0">
                <a:solidFill>
                  <a:srgbClr val="000000"/>
                </a:solidFill>
                <a:latin typeface="Menlo" panose="020B0609030804020204" pitchFamily="49" charset="0"/>
              </a:rPr>
              <a:t>);</a:t>
            </a:r>
          </a:p>
          <a:p>
            <a:r>
              <a:rPr lang="en-US" dirty="0" err="1">
                <a:solidFill>
                  <a:srgbClr val="000000"/>
                </a:solidFill>
                <a:latin typeface="Menlo" panose="020B0609030804020204" pitchFamily="49" charset="0"/>
              </a:rPr>
              <a:t>MPI_Comm_size</a:t>
            </a:r>
            <a:r>
              <a:rPr lang="en-US" dirty="0">
                <a:solidFill>
                  <a:srgbClr val="000000"/>
                </a:solidFill>
                <a:latin typeface="Menlo" panose="020B0609030804020204" pitchFamily="49" charset="0"/>
              </a:rPr>
              <a:t>(MPI_COMM_WORLD, &amp;size);</a:t>
            </a:r>
          </a:p>
          <a:p>
            <a:r>
              <a:rPr lang="en-US" dirty="0" err="1">
                <a:solidFill>
                  <a:srgbClr val="000000"/>
                </a:solidFill>
                <a:latin typeface="Menlo" panose="020B0609030804020204" pitchFamily="49" charset="0"/>
              </a:rPr>
              <a:t>MPI_Comm_rank</a:t>
            </a:r>
            <a:r>
              <a:rPr lang="en-US" dirty="0">
                <a:solidFill>
                  <a:srgbClr val="000000"/>
                </a:solidFill>
                <a:latin typeface="Menlo" panose="020B0609030804020204" pitchFamily="49" charset="0"/>
              </a:rPr>
              <a:t>(MPI_COMM_WORLD, &amp;rank);</a:t>
            </a:r>
          </a:p>
          <a:p>
            <a:br>
              <a:rPr lang="en-US" dirty="0">
                <a:solidFill>
                  <a:srgbClr val="000000"/>
                </a:solidFill>
                <a:latin typeface="Menlo" panose="020B0609030804020204" pitchFamily="49" charset="0"/>
              </a:rPr>
            </a:br>
            <a:r>
              <a:rPr lang="en-US" dirty="0">
                <a:solidFill>
                  <a:srgbClr val="008000"/>
                </a:solidFill>
                <a:latin typeface="Menlo" panose="020B0609030804020204" pitchFamily="49" charset="0"/>
              </a:rPr>
              <a:t>//Synchronize all processes get start time </a:t>
            </a:r>
            <a:r>
              <a:rPr lang="en-US" dirty="0" err="1">
                <a:solidFill>
                  <a:srgbClr val="000000"/>
                </a:solidFill>
                <a:latin typeface="Menlo" panose="020B0609030804020204" pitchFamily="49" charset="0"/>
              </a:rPr>
              <a:t>MPI_Barrier</a:t>
            </a:r>
            <a:r>
              <a:rPr lang="en-US" dirty="0">
                <a:solidFill>
                  <a:srgbClr val="000000"/>
                </a:solidFill>
                <a:latin typeface="Menlo" panose="020B0609030804020204" pitchFamily="49" charset="0"/>
              </a:rPr>
              <a:t>(MPI_COMM_WORLD);</a:t>
            </a:r>
          </a:p>
          <a:p>
            <a:r>
              <a:rPr lang="en-US" dirty="0">
                <a:solidFill>
                  <a:srgbClr val="000000"/>
                </a:solidFill>
                <a:latin typeface="Menlo" panose="020B0609030804020204" pitchFamily="49" charset="0"/>
              </a:rPr>
              <a:t>begin = </a:t>
            </a:r>
            <a:r>
              <a:rPr lang="en-US" dirty="0" err="1">
                <a:solidFill>
                  <a:srgbClr val="000000"/>
                </a:solidFill>
                <a:latin typeface="Menlo" panose="020B0609030804020204" pitchFamily="49" charset="0"/>
              </a:rPr>
              <a:t>MPI_Wtime</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FF"/>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=rank;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&lt;N;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+=size)</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0000FF"/>
                </a:solidFill>
                <a:latin typeface="Menlo" panose="020B0609030804020204" pitchFamily="49" charset="0"/>
              </a:rPr>
              <a:t>if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a:solidFill>
                  <a:srgbClr val="098658"/>
                </a:solidFill>
                <a:latin typeface="Menlo" panose="020B0609030804020204" pitchFamily="49" charset="0"/>
              </a:rPr>
              <a:t>2</a:t>
            </a:r>
            <a:r>
              <a:rPr lang="en-US" dirty="0">
                <a:solidFill>
                  <a:srgbClr val="000000"/>
                </a:solidFill>
                <a:latin typeface="Menlo" panose="020B0609030804020204" pitchFamily="49" charset="0"/>
              </a:rPr>
              <a:t> ==</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factor = </a:t>
            </a:r>
            <a:r>
              <a:rPr lang="en-US" dirty="0">
                <a:solidFill>
                  <a:srgbClr val="098658"/>
                </a:solidFill>
                <a:latin typeface="Menlo" panose="020B0609030804020204" pitchFamily="49" charset="0"/>
              </a:rPr>
              <a:t>1.0</a:t>
            </a:r>
            <a:r>
              <a:rPr lang="en-US" dirty="0">
                <a:solidFill>
                  <a:srgbClr val="000000"/>
                </a:solidFill>
                <a:latin typeface="Menlo" panose="020B0609030804020204" pitchFamily="49" charset="0"/>
              </a:rPr>
              <a:t>;</a:t>
            </a:r>
          </a:p>
          <a:p>
            <a:r>
              <a:rPr lang="en-US" dirty="0">
                <a:solidFill>
                  <a:srgbClr val="0000FF"/>
                </a:solidFill>
                <a:latin typeface="Menlo" panose="020B0609030804020204" pitchFamily="49" charset="0"/>
              </a:rPr>
              <a:t>    else</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factor = -</a:t>
            </a:r>
            <a:r>
              <a:rPr lang="en-US" dirty="0">
                <a:solidFill>
                  <a:srgbClr val="098658"/>
                </a:solidFill>
                <a:latin typeface="Menlo" panose="020B0609030804020204" pitchFamily="49" charset="0"/>
              </a:rPr>
              <a:t>1.0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result+=factor/(</a:t>
            </a:r>
            <a:r>
              <a:rPr lang="en-US" dirty="0">
                <a:solidFill>
                  <a:srgbClr val="098658"/>
                </a:solidFill>
                <a:latin typeface="Menlo" panose="020B0609030804020204" pitchFamily="49" charset="0"/>
              </a:rPr>
              <a:t>2.0</a:t>
            </a:r>
            <a:r>
              <a:rPr lang="en-US" dirty="0">
                <a:solidFill>
                  <a:srgbClr val="000000"/>
                </a:solidFill>
                <a:latin typeface="Menlo" panose="020B0609030804020204" pitchFamily="49" charset="0"/>
              </a:rPr>
              <a:t>*i+</a:t>
            </a:r>
            <a:r>
              <a:rPr lang="en-US" dirty="0">
                <a:solidFill>
                  <a:srgbClr val="098658"/>
                </a:solidFill>
                <a:latin typeface="Menlo" panose="020B0609030804020204" pitchFamily="49" charset="0"/>
              </a:rPr>
              <a:t>1</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endParaRPr lang="en-US" b="0" dirty="0">
              <a:solidFill>
                <a:srgbClr val="000000"/>
              </a:solidFill>
              <a:effectLst/>
              <a:latin typeface="Menlo" panose="020B0609030804020204" pitchFamily="49" charset="0"/>
            </a:endParaRPr>
          </a:p>
        </p:txBody>
      </p:sp>
      <p:sp>
        <p:nvSpPr>
          <p:cNvPr id="4" name="Rectangle 3">
            <a:extLst>
              <a:ext uri="{FF2B5EF4-FFF2-40B4-BE49-F238E27FC236}">
                <a16:creationId xmlns:a16="http://schemas.microsoft.com/office/drawing/2014/main" id="{7E5F457F-D265-C748-9E22-D7EC8C66EF6B}"/>
              </a:ext>
            </a:extLst>
          </p:cNvPr>
          <p:cNvSpPr/>
          <p:nvPr/>
        </p:nvSpPr>
        <p:spPr>
          <a:xfrm>
            <a:off x="6096000" y="0"/>
            <a:ext cx="6096000" cy="5909310"/>
          </a:xfrm>
          <a:prstGeom prst="rect">
            <a:avLst/>
          </a:prstGeom>
        </p:spPr>
        <p:txBody>
          <a:bodyPr>
            <a:spAutoFit/>
          </a:bodyPr>
          <a:lstStyle/>
          <a:p>
            <a:r>
              <a:rPr lang="en-US" dirty="0">
                <a:solidFill>
                  <a:srgbClr val="008000"/>
                </a:solidFill>
                <a:latin typeface="Menlo" panose="020B0609030804020204" pitchFamily="49" charset="0"/>
              </a:rPr>
              <a:t>//Sum up all results</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MPI_Reduce</a:t>
            </a:r>
            <a:r>
              <a:rPr lang="en-US" dirty="0">
                <a:solidFill>
                  <a:srgbClr val="000000"/>
                </a:solidFill>
                <a:latin typeface="Menlo" panose="020B0609030804020204" pitchFamily="49" charset="0"/>
              </a:rPr>
              <a:t>(&amp;result, &amp;sum, </a:t>
            </a:r>
            <a:r>
              <a:rPr lang="en-US" dirty="0">
                <a:solidFill>
                  <a:srgbClr val="098658"/>
                </a:solidFill>
                <a:latin typeface="Menlo" panose="020B0609030804020204" pitchFamily="49" charset="0"/>
              </a:rPr>
              <a:t>1</a:t>
            </a:r>
            <a:r>
              <a:rPr lang="en-US" dirty="0">
                <a:solidFill>
                  <a:srgbClr val="000000"/>
                </a:solidFill>
                <a:latin typeface="Menlo" panose="020B0609030804020204" pitchFamily="49" charset="0"/>
              </a:rPr>
              <a:t>, MPI_DOUBLE, MPI_SUM, </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 MPI_COMM_WORLD);</a:t>
            </a:r>
          </a:p>
          <a:p>
            <a:endParaRPr lang="en-US" dirty="0">
              <a:solidFill>
                <a:srgbClr val="000000"/>
              </a:solidFill>
              <a:latin typeface="Menlo" panose="020B0609030804020204" pitchFamily="49" charset="0"/>
            </a:endParaRPr>
          </a:p>
          <a:p>
            <a:r>
              <a:rPr lang="en-US" dirty="0">
                <a:solidFill>
                  <a:srgbClr val="008000"/>
                </a:solidFill>
                <a:latin typeface="Menlo" panose="020B0609030804020204" pitchFamily="49" charset="0"/>
              </a:rPr>
              <a:t>//Synchronize all processes &amp; get end time</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MPI_Barrier</a:t>
            </a:r>
            <a:r>
              <a:rPr lang="en-US" dirty="0">
                <a:solidFill>
                  <a:srgbClr val="000000"/>
                </a:solidFill>
                <a:latin typeface="Menlo" panose="020B0609030804020204" pitchFamily="49" charset="0"/>
              </a:rPr>
              <a:t>(MPI_COMM_WORLD);</a:t>
            </a:r>
          </a:p>
          <a:p>
            <a:r>
              <a:rPr lang="en-US" dirty="0">
                <a:solidFill>
                  <a:srgbClr val="000000"/>
                </a:solidFill>
                <a:latin typeface="Menlo" panose="020B0609030804020204" pitchFamily="49" charset="0"/>
              </a:rPr>
              <a:t>end = </a:t>
            </a:r>
            <a:r>
              <a:rPr lang="en-US" dirty="0" err="1">
                <a:solidFill>
                  <a:srgbClr val="000000"/>
                </a:solidFill>
                <a:latin typeface="Menlo" panose="020B0609030804020204" pitchFamily="49" charset="0"/>
              </a:rPr>
              <a:t>MPI_Wtime</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8000"/>
                </a:solidFill>
                <a:latin typeface="Menlo" panose="020B0609030804020204" pitchFamily="49" charset="0"/>
              </a:rPr>
              <a:t>//</a:t>
            </a:r>
            <a:r>
              <a:rPr lang="en-US" dirty="0" err="1">
                <a:solidFill>
                  <a:srgbClr val="008000"/>
                </a:solidFill>
                <a:latin typeface="Menlo" panose="020B0609030804020204" pitchFamily="49" charset="0"/>
              </a:rPr>
              <a:t>Caculate</a:t>
            </a:r>
            <a:r>
              <a:rPr lang="en-US" dirty="0">
                <a:solidFill>
                  <a:srgbClr val="008000"/>
                </a:solidFill>
                <a:latin typeface="Menlo" panose="020B0609030804020204" pitchFamily="49" charset="0"/>
              </a:rPr>
              <a:t> and print PI</a:t>
            </a:r>
            <a:endParaRPr lang="en-US" dirty="0">
              <a:solidFill>
                <a:srgbClr val="000000"/>
              </a:solidFill>
              <a:latin typeface="Menlo" panose="020B0609030804020204" pitchFamily="49" charset="0"/>
            </a:endParaRPr>
          </a:p>
          <a:p>
            <a:r>
              <a:rPr lang="en-US" dirty="0">
                <a:solidFill>
                  <a:srgbClr val="0000FF"/>
                </a:solidFill>
                <a:latin typeface="Menlo" panose="020B0609030804020204" pitchFamily="49" charset="0"/>
              </a:rPr>
              <a:t>if</a:t>
            </a:r>
            <a:r>
              <a:rPr lang="en-US" dirty="0">
                <a:solidFill>
                  <a:srgbClr val="000000"/>
                </a:solidFill>
                <a:latin typeface="Menlo" panose="020B0609030804020204" pitchFamily="49" charset="0"/>
              </a:rPr>
              <a:t> (rank==</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pi=</a:t>
            </a:r>
            <a:r>
              <a:rPr lang="en-US" dirty="0">
                <a:solidFill>
                  <a:srgbClr val="098658"/>
                </a:solidFill>
                <a:latin typeface="Menlo" panose="020B0609030804020204" pitchFamily="49" charset="0"/>
              </a:rPr>
              <a:t>4</a:t>
            </a:r>
            <a:r>
              <a:rPr lang="en-US" dirty="0">
                <a:solidFill>
                  <a:srgbClr val="000000"/>
                </a:solidFill>
                <a:latin typeface="Menlo" panose="020B0609030804020204" pitchFamily="49" charset="0"/>
              </a:rPr>
              <a:t>*sum;</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printf</a:t>
            </a:r>
            <a:r>
              <a:rPr lang="en-US" dirty="0">
                <a:solidFill>
                  <a:srgbClr val="000000"/>
                </a:solidFill>
                <a:latin typeface="Menlo" panose="020B0609030804020204" pitchFamily="49" charset="0"/>
              </a:rPr>
              <a:t>(</a:t>
            </a:r>
            <a:r>
              <a:rPr lang="en-US" dirty="0">
                <a:solidFill>
                  <a:srgbClr val="A31515"/>
                </a:solidFill>
                <a:latin typeface="Menlo" panose="020B0609030804020204" pitchFamily="49" charset="0"/>
              </a:rPr>
              <a:t>”N=%d; np=%2d; Time=%fs; PI=%</a:t>
            </a:r>
            <a:r>
              <a:rPr lang="en-US" dirty="0" err="1">
                <a:solidFill>
                  <a:srgbClr val="A31515"/>
                </a:solidFill>
                <a:latin typeface="Menlo" panose="020B0609030804020204" pitchFamily="49" charset="0"/>
              </a:rPr>
              <a:t>lf</a:t>
            </a:r>
            <a:r>
              <a:rPr lang="en-US" dirty="0">
                <a:solidFill>
                  <a:srgbClr val="A31515"/>
                </a:solidFill>
                <a:latin typeface="Menlo" panose="020B0609030804020204" pitchFamily="49" charset="0"/>
              </a:rPr>
              <a:t>\n"</a:t>
            </a:r>
            <a:r>
              <a:rPr lang="en-US" dirty="0">
                <a:solidFill>
                  <a:srgbClr val="000000"/>
                </a:solidFill>
                <a:latin typeface="Menlo" panose="020B0609030804020204" pitchFamily="49" charset="0"/>
              </a:rPr>
              <a:t>, N, size, end-begin, pi);</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fflush</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stdout</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p>
          <a:p>
            <a:r>
              <a:rPr lang="en-US" dirty="0">
                <a:solidFill>
                  <a:srgbClr val="008000"/>
                </a:solidFill>
                <a:latin typeface="Menlo" panose="020B0609030804020204" pitchFamily="49" charset="0"/>
              </a:rPr>
              <a:t>// </a:t>
            </a:r>
            <a:r>
              <a:rPr lang="en-US" dirty="0" err="1">
                <a:solidFill>
                  <a:srgbClr val="008000"/>
                </a:solidFill>
                <a:latin typeface="Menlo" panose="020B0609030804020204" pitchFamily="49" charset="0"/>
              </a:rPr>
              <a:t>Finalisation</a:t>
            </a:r>
            <a:endParaRPr lang="en-US" dirty="0">
              <a:solidFill>
                <a:srgbClr val="000000"/>
              </a:solidFill>
              <a:latin typeface="Menlo" panose="020B0609030804020204" pitchFamily="49" charset="0"/>
            </a:endParaRPr>
          </a:p>
          <a:p>
            <a:r>
              <a:rPr lang="en-US" dirty="0" err="1">
                <a:solidFill>
                  <a:srgbClr val="000000"/>
                </a:solidFill>
                <a:latin typeface="Menlo" panose="020B0609030804020204" pitchFamily="49" charset="0"/>
              </a:rPr>
              <a:t>MPI_Finalize</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FF"/>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098658"/>
                </a:solidFill>
                <a:latin typeface="Menlo" panose="020B0609030804020204" pitchFamily="49" charset="0"/>
              </a:rPr>
              <a:t>0</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a:t>
            </a:r>
            <a:endParaRPr lang="en-US" dirty="0"/>
          </a:p>
        </p:txBody>
      </p:sp>
      <p:cxnSp>
        <p:nvCxnSpPr>
          <p:cNvPr id="6" name="Straight Connector 5">
            <a:extLst>
              <a:ext uri="{FF2B5EF4-FFF2-40B4-BE49-F238E27FC236}">
                <a16:creationId xmlns:a16="http://schemas.microsoft.com/office/drawing/2014/main" id="{4E912C64-3EFA-9B49-A50A-DE280AEBA25B}"/>
              </a:ext>
            </a:extLst>
          </p:cNvPr>
          <p:cNvCxnSpPr/>
          <p:nvPr/>
        </p:nvCxnSpPr>
        <p:spPr>
          <a:xfrm>
            <a:off x="5905500" y="0"/>
            <a:ext cx="0" cy="6858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DE12012-61AE-9841-B5E1-54127B1C0ACC}"/>
              </a:ext>
            </a:extLst>
          </p:cNvPr>
          <p:cNvSpPr txBox="1"/>
          <p:nvPr/>
        </p:nvSpPr>
        <p:spPr>
          <a:xfrm>
            <a:off x="7211149" y="5534561"/>
            <a:ext cx="4980851" cy="1323439"/>
          </a:xfrm>
          <a:prstGeom prst="rect">
            <a:avLst/>
          </a:prstGeom>
          <a:noFill/>
          <a:ln>
            <a:solidFill>
              <a:schemeClr val="tx1"/>
            </a:solidFill>
          </a:ln>
        </p:spPr>
        <p:txBody>
          <a:bodyPr wrap="none" rtlCol="0">
            <a:spAutoFit/>
          </a:bodyPr>
          <a:lstStyle/>
          <a:p>
            <a:r>
              <a:rPr lang="en-US" sz="2000" dirty="0"/>
              <a:t>Result:</a:t>
            </a:r>
          </a:p>
          <a:p>
            <a:r>
              <a:rPr lang="en-US" sz="2000" dirty="0"/>
              <a:t>N=4; np= 4; Time=0.000615s; PI=3.091624</a:t>
            </a:r>
          </a:p>
          <a:p>
            <a:r>
              <a:rPr lang="en-US" sz="2000" dirty="0"/>
              <a:t>N=400; np= 4; Time=0.000582s; PI=3.139093</a:t>
            </a:r>
          </a:p>
          <a:p>
            <a:r>
              <a:rPr lang="en-US" sz="2000" dirty="0"/>
              <a:t>N=4000; np= 4; Time=0.000021s; PI=3.141343</a:t>
            </a:r>
          </a:p>
        </p:txBody>
      </p:sp>
    </p:spTree>
    <p:extLst>
      <p:ext uri="{BB962C8B-B14F-4D97-AF65-F5344CB8AC3E}">
        <p14:creationId xmlns:p14="http://schemas.microsoft.com/office/powerpoint/2010/main" val="1905286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2954</TotalTime>
  <Words>10425</Words>
  <Application>Microsoft Macintosh PowerPoint</Application>
  <PresentationFormat>Widescreen</PresentationFormat>
  <Paragraphs>1423</Paragraphs>
  <Slides>109</Slides>
  <Notes>36</Notes>
  <HiddenSlides>1</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109</vt:i4>
      </vt:variant>
    </vt:vector>
  </HeadingPairs>
  <TitlesOfParts>
    <vt:vector size="125" baseType="lpstr">
      <vt:lpstr>ＭＳ Ｐゴシック</vt:lpstr>
      <vt:lpstr>游ゴシック</vt:lpstr>
      <vt:lpstr>Arial</vt:lpstr>
      <vt:lpstr>Arial Black</vt:lpstr>
      <vt:lpstr>Calibri</vt:lpstr>
      <vt:lpstr>Calibri Light</vt:lpstr>
      <vt:lpstr>Cambria Math</vt:lpstr>
      <vt:lpstr>Courier New</vt:lpstr>
      <vt:lpstr>inherit</vt:lpstr>
      <vt:lpstr>Mangal</vt:lpstr>
      <vt:lpstr>Menlo</vt:lpstr>
      <vt:lpstr>NimbusRomNo9L-Medi</vt:lpstr>
      <vt:lpstr>Times</vt:lpstr>
      <vt:lpstr>Times New Roman</vt:lpstr>
      <vt:lpstr>Wingdings</vt:lpstr>
      <vt:lpstr>Office Theme</vt:lpstr>
      <vt:lpstr>Lecture 12 – Introduction to parallel computation,             MPI &amp; OpenMP</vt:lpstr>
      <vt:lpstr>Why parallelize? </vt:lpstr>
      <vt:lpstr>Example 1: Grading </vt:lpstr>
      <vt:lpstr>Three teaching assistants</vt:lpstr>
      <vt:lpstr>Division of work –  data parallelism</vt:lpstr>
      <vt:lpstr>PowerPoint Presentation</vt:lpstr>
      <vt:lpstr>Summary</vt:lpstr>
      <vt:lpstr>Challenges</vt:lpstr>
      <vt:lpstr>Basic system architecture and memory sharing</vt:lpstr>
      <vt:lpstr>Basic system architecture and memory sharing</vt:lpstr>
      <vt:lpstr>Basic system architecture and memory sharing</vt:lpstr>
      <vt:lpstr>Basic system architecture and memory sharing</vt:lpstr>
      <vt:lpstr>Basic system architecture and memory sharing</vt:lpstr>
      <vt:lpstr>Shared Memory Architecture</vt:lpstr>
      <vt:lpstr>Multi-Threading  (for shared memory architectures)</vt:lpstr>
      <vt:lpstr>A process and two threads</vt:lpstr>
      <vt:lpstr>Distributed Memory Architecture</vt:lpstr>
      <vt:lpstr>Distributed Memory System</vt:lpstr>
      <vt:lpstr>Single Program Models:  SIMD vs. MIMD</vt:lpstr>
      <vt:lpstr>Single Program Models:  SIMD vs. MIMD</vt:lpstr>
      <vt:lpstr>Example: summation</vt:lpstr>
      <vt:lpstr>Parallel Summation</vt:lpstr>
      <vt:lpstr>Express the Two Formulations</vt:lpstr>
      <vt:lpstr>How fast can my program get: Amdahl’s law</vt:lpstr>
      <vt:lpstr>How fast can my program get: Amdahl’s law</vt:lpstr>
      <vt:lpstr>Scalability of strong scaling</vt:lpstr>
      <vt:lpstr>Scalability of strong scaling</vt:lpstr>
      <vt:lpstr>Scalability of the parallel part</vt:lpstr>
      <vt:lpstr>Amdahl’s law</vt:lpstr>
      <vt:lpstr>Scalability of weak scaling</vt:lpstr>
      <vt:lpstr>Scalability of weak scaling</vt:lpstr>
      <vt:lpstr>Weak vs. strong scalability</vt:lpstr>
      <vt:lpstr>Studying Scalability </vt:lpstr>
      <vt:lpstr>Studying Scalability </vt:lpstr>
      <vt:lpstr>Studying Scalability </vt:lpstr>
      <vt:lpstr>PowerPoint Presentation</vt:lpstr>
      <vt:lpstr>OpenMP</vt:lpstr>
      <vt:lpstr>OpenMp programing: Pragmas</vt:lpstr>
      <vt:lpstr>OpenMp programing: Pragmas</vt:lpstr>
      <vt:lpstr>OpenMp programing: clause</vt:lpstr>
      <vt:lpstr>OpenMp programing: clause</vt:lpstr>
      <vt:lpstr>OpenMp programing: loading the omp lib</vt:lpstr>
      <vt:lpstr>OpenMp programing: getting the thread num </vt:lpstr>
      <vt:lpstr>PowerPoint Presentation</vt:lpstr>
      <vt:lpstr>PowerPoint Presentation</vt:lpstr>
      <vt:lpstr>PowerPoint Presentation</vt:lpstr>
      <vt:lpstr>PowerPoint Presentation</vt:lpstr>
      <vt:lpstr>Parallel Code Template (OpenMP)</vt:lpstr>
      <vt:lpstr>Parallel Region Construct </vt:lpstr>
      <vt:lpstr>Scope</vt:lpstr>
      <vt:lpstr>Scope in OpenMP</vt:lpstr>
      <vt:lpstr>Format of parallel construct </vt:lpstr>
      <vt:lpstr>Format of parallel construct </vt:lpstr>
      <vt:lpstr>Format of parallel construct </vt:lpstr>
      <vt:lpstr>loops: Format of for construct </vt:lpstr>
      <vt:lpstr>loops: Format of for construct </vt:lpstr>
      <vt:lpstr>loops: Format of for construct </vt:lpstr>
      <vt:lpstr>Loop.c example</vt:lpstr>
      <vt:lpstr>schedule types can prevent load imbalance</vt:lpstr>
      <vt:lpstr>PowerPoint Presentation</vt:lpstr>
      <vt:lpstr>PowerPoint Presentation</vt:lpstr>
      <vt:lpstr>PowerPoint Presentation</vt:lpstr>
      <vt:lpstr>Exercise: Estimating π </vt:lpstr>
      <vt:lpstr>Exercise: Estimating π </vt:lpstr>
      <vt:lpstr>OpenMP Solution #1</vt:lpstr>
      <vt:lpstr>OpenMP Solution #1</vt:lpstr>
      <vt:lpstr>OpenMP solution #2</vt:lpstr>
      <vt:lpstr>Matrix-vector multiplication</vt:lpstr>
      <vt:lpstr>M x V = X: Parallelization Strategies</vt:lpstr>
      <vt:lpstr>M x V = X: Parallelization Strategies</vt:lpstr>
      <vt:lpstr>PowerPoint Presentation</vt:lpstr>
      <vt:lpstr>MPI – Message Passing Interface</vt:lpstr>
      <vt:lpstr>Usage: Domain decomposition</vt:lpstr>
      <vt:lpstr>Usage: split matrix elements in PDE solvers</vt:lpstr>
      <vt:lpstr>Usage: Coloring</vt:lpstr>
      <vt:lpstr>MPI standard</vt:lpstr>
      <vt:lpstr>How much should we know?</vt:lpstr>
      <vt:lpstr>MPI Communicators</vt:lpstr>
      <vt:lpstr>Example for MPI program in C</vt:lpstr>
      <vt:lpstr>Header file</vt:lpstr>
      <vt:lpstr>Initialization</vt:lpstr>
      <vt:lpstr>Number of processors</vt:lpstr>
      <vt:lpstr>What’s my rank?</vt:lpstr>
      <vt:lpstr>Termination</vt:lpstr>
      <vt:lpstr>Point-to-point communication</vt:lpstr>
      <vt:lpstr>Exercise – hello MPI world</vt:lpstr>
      <vt:lpstr>PowerPoint Presentation</vt:lpstr>
      <vt:lpstr>PowerPoint Presentation</vt:lpstr>
      <vt:lpstr>Collective communication: Broadcast</vt:lpstr>
      <vt:lpstr>PowerPoint Presentation</vt:lpstr>
      <vt:lpstr>PowerPoint Presentation</vt:lpstr>
      <vt:lpstr>Collective communication: Gather</vt:lpstr>
      <vt:lpstr>Collective communication: Gather to all </vt:lpstr>
      <vt:lpstr>PowerPoint Presentation</vt:lpstr>
      <vt:lpstr>Collective communication: Reduction</vt:lpstr>
      <vt:lpstr>Collective communication: Reduction to all </vt:lpstr>
      <vt:lpstr>PowerPoint Presentation</vt:lpstr>
      <vt:lpstr>Some more MPI calls</vt:lpstr>
      <vt:lpstr>MPI_SEND communication modes</vt:lpstr>
      <vt:lpstr>Blocking communications</vt:lpstr>
      <vt:lpstr>Non-blocking</vt:lpstr>
      <vt:lpstr>Non-blocking send and receive</vt:lpstr>
      <vt:lpstr>Timing an MPI code</vt:lpstr>
      <vt:lpstr>Compiling and linking MPI code</vt:lpstr>
      <vt:lpstr>Makefile</vt:lpstr>
      <vt:lpstr>Running an MPI executable</vt:lpstr>
      <vt:lpstr>Exercise: Estimating π with MPI</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Omer Bromberg</dc:creator>
  <cp:lastModifiedBy>Omer Bromberg</cp:lastModifiedBy>
  <cp:revision>132</cp:revision>
  <dcterms:created xsi:type="dcterms:W3CDTF">2024-02-28T08:58:31Z</dcterms:created>
  <dcterms:modified xsi:type="dcterms:W3CDTF">2025-12-28T20:36:56Z</dcterms:modified>
</cp:coreProperties>
</file>